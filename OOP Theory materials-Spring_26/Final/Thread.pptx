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59" r:id="rId8"/>
    <p:sldId id="263" r:id="rId9"/>
    <p:sldId id="264" r:id="rId10"/>
    <p:sldId id="265" r:id="rId11"/>
    <p:sldId id="267" r:id="rId12"/>
    <p:sldId id="270" r:id="rId13"/>
    <p:sldId id="273" r:id="rId14"/>
    <p:sldId id="284" r:id="rId15"/>
    <p:sldId id="285" r:id="rId16"/>
    <p:sldId id="269"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96" y="13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47F0-9E5E-9772-39CF-26FBE46440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3ADCE1-B867-A9ED-F145-603B1BC5D7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B2C52F-B98E-082A-E873-6B679C357085}"/>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5" name="Footer Placeholder 4">
            <a:extLst>
              <a:ext uri="{FF2B5EF4-FFF2-40B4-BE49-F238E27FC236}">
                <a16:creationId xmlns:a16="http://schemas.microsoft.com/office/drawing/2014/main" id="{3E8D9E6B-A1CF-5577-4B83-C70C64E70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EDADF-7C8A-3875-C3CC-D621AAA9FEE4}"/>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3085452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2684-CE8B-2A68-DB8F-1701B62905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501D79-BD1E-58EF-03EA-CFAB4E22ED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91AFFB-2464-564F-D38D-72353057B885}"/>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5" name="Footer Placeholder 4">
            <a:extLst>
              <a:ext uri="{FF2B5EF4-FFF2-40B4-BE49-F238E27FC236}">
                <a16:creationId xmlns:a16="http://schemas.microsoft.com/office/drawing/2014/main" id="{B6CCC38B-0B8C-CBA1-A44C-9248668C3D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E8DC83-6A70-EA18-2089-B20DDA7C7A18}"/>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3285504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E5534-ECBE-9D19-79E8-C9C23B3712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CC8AD8-C5FF-7DD1-E034-74C05C8754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039901-84BD-7404-3CF1-C789B9621DC5}"/>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5" name="Footer Placeholder 4">
            <a:extLst>
              <a:ext uri="{FF2B5EF4-FFF2-40B4-BE49-F238E27FC236}">
                <a16:creationId xmlns:a16="http://schemas.microsoft.com/office/drawing/2014/main" id="{262D0AE6-5FB2-FA92-6491-1F469B4CC9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3D5A0E-DD3D-741D-5CFD-A3A56DA0BA1B}"/>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701326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B148-0AAD-AA11-D86B-2A02AD5883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4A1224-2533-D70E-5950-F51594E2C0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489544-5482-00BC-FD7F-5B3B1F084F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C49C66-2369-9426-E56C-5B4905808B12}"/>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6" name="Footer Placeholder 5">
            <a:extLst>
              <a:ext uri="{FF2B5EF4-FFF2-40B4-BE49-F238E27FC236}">
                <a16:creationId xmlns:a16="http://schemas.microsoft.com/office/drawing/2014/main" id="{B8A46B24-37E1-B96A-1C63-7C76C327F4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8DB731-584B-7EE1-5477-0E15A52B26FD}"/>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892213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B4612-C170-5FF1-477C-0EFF9D0E82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9058A2-E331-967B-DCDC-939B2B2EB3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98181F-2359-57BC-C12A-C4BEF5B210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AE9FE1-C725-F8CC-294C-C7A3078C89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D39852-7BE6-4651-4E37-786CE66EE0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214043-E661-EC7A-C535-3FAC1BBC5433}"/>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8" name="Footer Placeholder 7">
            <a:extLst>
              <a:ext uri="{FF2B5EF4-FFF2-40B4-BE49-F238E27FC236}">
                <a16:creationId xmlns:a16="http://schemas.microsoft.com/office/drawing/2014/main" id="{BBE6BE66-1F18-87A4-BCAD-329D8AC7D6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9BD8BD-0DFA-E474-C05C-A92644841A19}"/>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177652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5384-FDB4-A148-F78B-FF51292453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1EDE34-CE17-601E-4EC4-4A0767A76E22}"/>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4" name="Footer Placeholder 3">
            <a:extLst>
              <a:ext uri="{FF2B5EF4-FFF2-40B4-BE49-F238E27FC236}">
                <a16:creationId xmlns:a16="http://schemas.microsoft.com/office/drawing/2014/main" id="{031ADC7F-D224-98C8-2FD6-ADA55E49EA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950821-B3B7-D549-73C7-85BA1451FA66}"/>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227712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61C083-A729-1F53-52BF-B3A96B084E0E}"/>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3" name="Footer Placeholder 2">
            <a:extLst>
              <a:ext uri="{FF2B5EF4-FFF2-40B4-BE49-F238E27FC236}">
                <a16:creationId xmlns:a16="http://schemas.microsoft.com/office/drawing/2014/main" id="{199B0897-4302-7088-444F-64BC429839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24D016-6EBE-EE00-706A-C7309C59369C}"/>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2871265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700D5-2A6F-F821-825A-398BFEC8ED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38289B-A4EB-7324-23BE-376E95C2C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B9AB19-F850-70B2-0638-F515C83F7E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EE0EBC-35C7-0BB8-7810-B47555B1926D}"/>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6" name="Footer Placeholder 5">
            <a:extLst>
              <a:ext uri="{FF2B5EF4-FFF2-40B4-BE49-F238E27FC236}">
                <a16:creationId xmlns:a16="http://schemas.microsoft.com/office/drawing/2014/main" id="{0450DFFC-A91A-6C54-5A4A-EBDC6E89FD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5CD84B-012A-1BC6-CB3A-DACCDD095383}"/>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816500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4E475-1F38-01EE-9C95-E175E4F0A3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15E1BE-6A86-8CCD-E179-FB48084BCE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1AC135-17F3-D2EA-5762-5E41692F4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7C3E5-75E3-A82F-4B92-A415590CAB8E}"/>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6" name="Footer Placeholder 5">
            <a:extLst>
              <a:ext uri="{FF2B5EF4-FFF2-40B4-BE49-F238E27FC236}">
                <a16:creationId xmlns:a16="http://schemas.microsoft.com/office/drawing/2014/main" id="{A446223B-FC3C-E7C9-0DFB-0CB528D87E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CA2D02-82C0-95EB-1195-E27CD31FDA28}"/>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396078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90780-565B-9E79-C43E-319AF55487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E798C3-AFBA-B109-81D9-DD89BF4D06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0891E7-6C75-DD1C-34B1-8A25549EDCBB}"/>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5" name="Footer Placeholder 4">
            <a:extLst>
              <a:ext uri="{FF2B5EF4-FFF2-40B4-BE49-F238E27FC236}">
                <a16:creationId xmlns:a16="http://schemas.microsoft.com/office/drawing/2014/main" id="{19DF50C7-7898-FC6F-A5CE-67485175F5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E8EF60-A114-1839-7B4D-68F8251C708E}"/>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56755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DBDDCB-F6FD-84E6-5A88-950ECF6276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DBFA70-4431-2169-E4F1-209F70C1A8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3924EB-5B75-DC0E-125F-882F52D775A3}"/>
              </a:ext>
            </a:extLst>
          </p:cNvPr>
          <p:cNvSpPr>
            <a:spLocks noGrp="1"/>
          </p:cNvSpPr>
          <p:nvPr>
            <p:ph type="dt" sz="half" idx="10"/>
          </p:nvPr>
        </p:nvSpPr>
        <p:spPr/>
        <p:txBody>
          <a:bodyPr/>
          <a:lstStyle/>
          <a:p>
            <a:fld id="{D05EB33B-40FA-44C8-BFF9-CE3EC4D3CADD}" type="datetimeFigureOut">
              <a:rPr lang="en-US" smtClean="0"/>
              <a:t>10/16/2025</a:t>
            </a:fld>
            <a:endParaRPr lang="en-US"/>
          </a:p>
        </p:txBody>
      </p:sp>
      <p:sp>
        <p:nvSpPr>
          <p:cNvPr id="5" name="Footer Placeholder 4">
            <a:extLst>
              <a:ext uri="{FF2B5EF4-FFF2-40B4-BE49-F238E27FC236}">
                <a16:creationId xmlns:a16="http://schemas.microsoft.com/office/drawing/2014/main" id="{76F58C9C-15B8-48CC-2F26-4461CDED2A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56AA5-D343-7CA0-8CC7-EFFB16DBA6E3}"/>
              </a:ext>
            </a:extLst>
          </p:cNvPr>
          <p:cNvSpPr>
            <a:spLocks noGrp="1"/>
          </p:cNvSpPr>
          <p:nvPr>
            <p:ph type="sldNum" sz="quarter" idx="12"/>
          </p:nvPr>
        </p:nvSpPr>
        <p:spPr/>
        <p:txBody>
          <a:bodyPr/>
          <a:lstStyle/>
          <a:p>
            <a:fld id="{FCE49A25-78AD-429E-8D15-A264796055AB}" type="slidenum">
              <a:rPr lang="en-US" smtClean="0"/>
              <a:t>‹#›</a:t>
            </a:fld>
            <a:endParaRPr lang="en-US"/>
          </a:p>
        </p:txBody>
      </p:sp>
    </p:spTree>
    <p:extLst>
      <p:ext uri="{BB962C8B-B14F-4D97-AF65-F5344CB8AC3E}">
        <p14:creationId xmlns:p14="http://schemas.microsoft.com/office/powerpoint/2010/main" val="402125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26B072-3E5E-E8E1-C09D-6BF57C0BDC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C672C3-071A-5775-52AC-9477F267EA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E3B47D-9A73-94DA-E2BD-3B969F0D0A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5EB33B-40FA-44C8-BFF9-CE3EC4D3CADD}" type="datetimeFigureOut">
              <a:rPr lang="en-US" smtClean="0"/>
              <a:t>10/16/2025</a:t>
            </a:fld>
            <a:endParaRPr lang="en-US"/>
          </a:p>
        </p:txBody>
      </p:sp>
      <p:sp>
        <p:nvSpPr>
          <p:cNvPr id="5" name="Footer Placeholder 4">
            <a:extLst>
              <a:ext uri="{FF2B5EF4-FFF2-40B4-BE49-F238E27FC236}">
                <a16:creationId xmlns:a16="http://schemas.microsoft.com/office/drawing/2014/main" id="{4F178A69-ADF0-5828-D63F-383F603F21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73A2F1-54D6-2DAB-93CD-05EE77AD60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E49A25-78AD-429E-8D15-A264796055AB}" type="slidenum">
              <a:rPr lang="en-US" smtClean="0"/>
              <a:t>‹#›</a:t>
            </a:fld>
            <a:endParaRPr lang="en-US"/>
          </a:p>
        </p:txBody>
      </p:sp>
    </p:spTree>
    <p:extLst>
      <p:ext uri="{BB962C8B-B14F-4D97-AF65-F5344CB8AC3E}">
        <p14:creationId xmlns:p14="http://schemas.microsoft.com/office/powerpoint/2010/main" val="3085593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33FF4-9B76-5E3C-29CB-234B4D021073}"/>
              </a:ext>
            </a:extLst>
          </p:cNvPr>
          <p:cNvSpPr>
            <a:spLocks noGrp="1"/>
          </p:cNvSpPr>
          <p:nvPr>
            <p:ph type="ctrTitle"/>
          </p:nvPr>
        </p:nvSpPr>
        <p:spPr/>
        <p:txBody>
          <a:bodyPr/>
          <a:lstStyle/>
          <a:p>
            <a:r>
              <a:rPr lang="en-GB" dirty="0">
                <a:latin typeface="Lucida Sans Typewriter" panose="020B0509030504030204" pitchFamily="49" charset="0"/>
              </a:rPr>
              <a:t>THREAD</a:t>
            </a:r>
            <a:endParaRPr lang="en-US" dirty="0">
              <a:latin typeface="Lucida Sans Typewriter" panose="020B0509030504030204" pitchFamily="49" charset="0"/>
            </a:endParaRPr>
          </a:p>
        </p:txBody>
      </p:sp>
      <p:sp>
        <p:nvSpPr>
          <p:cNvPr id="3" name="Subtitle 2">
            <a:extLst>
              <a:ext uri="{FF2B5EF4-FFF2-40B4-BE49-F238E27FC236}">
                <a16:creationId xmlns:a16="http://schemas.microsoft.com/office/drawing/2014/main" id="{12CD5EE8-F253-1C79-0832-8B0E017E5455}"/>
              </a:ext>
            </a:extLst>
          </p:cNvPr>
          <p:cNvSpPr>
            <a:spLocks noGrp="1"/>
          </p:cNvSpPr>
          <p:nvPr>
            <p:ph type="subTitle" idx="1"/>
          </p:nvPr>
        </p:nvSpPr>
        <p:spPr/>
        <p:txBody>
          <a:bodyPr/>
          <a:lstStyle/>
          <a:p>
            <a:r>
              <a:rPr lang="en-GB" dirty="0">
                <a:latin typeface="Lucida Sans Typewriter" panose="020B0509030504030204" pitchFamily="49" charset="0"/>
              </a:rPr>
              <a:t>UMAMA RAHMAN</a:t>
            </a:r>
          </a:p>
          <a:p>
            <a:r>
              <a:rPr lang="en-GB" dirty="0">
                <a:latin typeface="Lucida Sans Typewriter" panose="020B0509030504030204" pitchFamily="49" charset="0"/>
              </a:rPr>
              <a:t>LECTURER,UIU</a:t>
            </a:r>
            <a:endParaRPr lang="en-US" dirty="0">
              <a:latin typeface="Lucida Sans Typewriter" panose="020B0509030504030204" pitchFamily="49" charset="0"/>
            </a:endParaRPr>
          </a:p>
        </p:txBody>
      </p:sp>
    </p:spTree>
    <p:extLst>
      <p:ext uri="{BB962C8B-B14F-4D97-AF65-F5344CB8AC3E}">
        <p14:creationId xmlns:p14="http://schemas.microsoft.com/office/powerpoint/2010/main" val="3057726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p:txBody>
          <a:bodyPr/>
          <a:lstStyle/>
          <a:p>
            <a:r>
              <a:rPr lang="en-GB" dirty="0">
                <a:latin typeface="Lucida Sans Typewriter" panose="020B0509030504030204" pitchFamily="49" charset="0"/>
              </a:rPr>
              <a:t>What is Thread?</a:t>
            </a:r>
            <a:endParaRPr lang="en-US" dirty="0">
              <a:latin typeface="Lucida Sans Typewriter" panose="020B0509030504030204" pitchFamily="49" charset="0"/>
            </a:endParaRPr>
          </a:p>
        </p:txBody>
      </p:sp>
      <p:sp>
        <p:nvSpPr>
          <p:cNvPr id="3" name="Content Placeholder 2">
            <a:extLst>
              <a:ext uri="{FF2B5EF4-FFF2-40B4-BE49-F238E27FC236}">
                <a16:creationId xmlns:a16="http://schemas.microsoft.com/office/drawing/2014/main" id="{1728AF4C-5B93-DB3B-091C-F566FB1B766D}"/>
              </a:ext>
            </a:extLst>
          </p:cNvPr>
          <p:cNvSpPr>
            <a:spLocks noGrp="1"/>
          </p:cNvSpPr>
          <p:nvPr>
            <p:ph idx="1"/>
          </p:nvPr>
        </p:nvSpPr>
        <p:spPr/>
        <p:txBody>
          <a:bodyPr>
            <a:normAutofit/>
          </a:bodyPr>
          <a:lstStyle/>
          <a:p>
            <a:r>
              <a:rPr lang="en-GB" sz="2000" b="0" i="0" dirty="0">
                <a:effectLst/>
                <a:latin typeface="Lucida Sans Typewriter" panose="020B0509030504030204" pitchFamily="49" charset="0"/>
              </a:rPr>
              <a:t>Threads allows a program to operate more efficiently by doing multiple things at the same time.</a:t>
            </a:r>
          </a:p>
          <a:p>
            <a:r>
              <a:rPr lang="en-GB" sz="2000" b="0" i="0" dirty="0">
                <a:effectLst/>
                <a:latin typeface="Lucida Sans Typewriter" panose="020B0509030504030204" pitchFamily="49" charset="0"/>
              </a:rPr>
              <a:t>Java supports multithreading, which means that multiple threads can run concurrently within a single Java program.</a:t>
            </a:r>
            <a:endParaRPr lang="en-US" sz="2000" dirty="0">
              <a:latin typeface="Lucida Sans Typewriter" panose="020B0509030504030204" pitchFamily="49" charset="0"/>
            </a:endParaRPr>
          </a:p>
        </p:txBody>
      </p:sp>
    </p:spTree>
    <p:extLst>
      <p:ext uri="{BB962C8B-B14F-4D97-AF65-F5344CB8AC3E}">
        <p14:creationId xmlns:p14="http://schemas.microsoft.com/office/powerpoint/2010/main" val="219299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p:txBody>
          <a:bodyPr/>
          <a:lstStyle/>
          <a:p>
            <a:r>
              <a:rPr lang="en-GB" dirty="0">
                <a:latin typeface="Lucida Sans Typewriter" panose="020B0509030504030204" pitchFamily="49" charset="0"/>
              </a:rPr>
              <a:t>Thread Creation</a:t>
            </a:r>
            <a:endParaRPr lang="en-US" dirty="0">
              <a:latin typeface="Lucida Sans Typewriter" panose="020B0509030504030204" pitchFamily="49" charset="0"/>
            </a:endParaRPr>
          </a:p>
        </p:txBody>
      </p:sp>
      <p:sp>
        <p:nvSpPr>
          <p:cNvPr id="3" name="Content Placeholder 2">
            <a:extLst>
              <a:ext uri="{FF2B5EF4-FFF2-40B4-BE49-F238E27FC236}">
                <a16:creationId xmlns:a16="http://schemas.microsoft.com/office/drawing/2014/main" id="{1728AF4C-5B93-DB3B-091C-F566FB1B766D}"/>
              </a:ext>
            </a:extLst>
          </p:cNvPr>
          <p:cNvSpPr>
            <a:spLocks noGrp="1"/>
          </p:cNvSpPr>
          <p:nvPr>
            <p:ph idx="1"/>
          </p:nvPr>
        </p:nvSpPr>
        <p:spPr/>
        <p:txBody>
          <a:bodyPr>
            <a:normAutofit/>
          </a:bodyPr>
          <a:lstStyle/>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accent2">
                    <a:lumMod val="75000"/>
                  </a:schemeClr>
                </a:solidFill>
                <a:effectLst/>
                <a:latin typeface="Lucida Sans Typewriter" panose="020B0509030504030204" pitchFamily="49" charset="0"/>
              </a:rPr>
              <a:t>Extending the Thread class:</a:t>
            </a:r>
            <a:r>
              <a:rPr kumimoji="0" lang="en-US" altLang="en-US" sz="2000" b="0" i="0" u="none" strike="noStrike" cap="none" normalizeH="0" baseline="0" dirty="0">
                <a:ln>
                  <a:noFill/>
                </a:ln>
                <a:solidFill>
                  <a:schemeClr val="accent2">
                    <a:lumMod val="75000"/>
                  </a:schemeClr>
                </a:solidFill>
                <a:effectLst/>
                <a:latin typeface="Lucida Sans Typewriter" panose="020B0509030504030204" pitchFamily="49" charset="0"/>
              </a:rPr>
              <a:t> </a:t>
            </a:r>
            <a:r>
              <a:rPr kumimoji="0" lang="en-US" altLang="en-US" sz="2000" b="0" i="0" u="none" strike="noStrike" cap="none" normalizeH="0" baseline="0" dirty="0">
                <a:ln>
                  <a:noFill/>
                </a:ln>
                <a:effectLst/>
                <a:latin typeface="Lucida Sans Typewriter" panose="020B0509030504030204" pitchFamily="49" charset="0"/>
              </a:rPr>
              <a:t>You can create a new class that extends the </a:t>
            </a:r>
            <a:r>
              <a:rPr kumimoji="0" lang="en-US" altLang="en-US" sz="2000" b="1" i="0" u="none" strike="noStrike" cap="none" normalizeH="0" baseline="0" dirty="0">
                <a:ln>
                  <a:noFill/>
                </a:ln>
                <a:effectLst/>
                <a:latin typeface="Lucida Sans Typewriter" panose="020B0509030504030204" pitchFamily="49" charset="0"/>
              </a:rPr>
              <a:t>Thread</a:t>
            </a:r>
            <a:r>
              <a:rPr kumimoji="0" lang="en-US" altLang="en-US" sz="2000" b="0" i="0" u="none" strike="noStrike" cap="none" normalizeH="0" baseline="0" dirty="0">
                <a:ln>
                  <a:noFill/>
                </a:ln>
                <a:effectLst/>
                <a:latin typeface="Lucida Sans Typewriter" panose="020B0509030504030204" pitchFamily="49" charset="0"/>
              </a:rPr>
              <a:t> class and override its </a:t>
            </a:r>
            <a:r>
              <a:rPr kumimoji="0" lang="en-US" altLang="en-US" sz="2000" b="1" i="0" u="none" strike="noStrike" cap="none" normalizeH="0" baseline="0" dirty="0">
                <a:ln>
                  <a:noFill/>
                </a:ln>
                <a:effectLst/>
                <a:latin typeface="Lucida Sans Typewriter" panose="020B0509030504030204" pitchFamily="49" charset="0"/>
              </a:rPr>
              <a:t>run()</a:t>
            </a:r>
            <a:r>
              <a:rPr kumimoji="0" lang="en-US" altLang="en-US" sz="2000" b="0" i="0" u="none" strike="noStrike" cap="none" normalizeH="0" baseline="0" dirty="0">
                <a:ln>
                  <a:noFill/>
                </a:ln>
                <a:effectLst/>
                <a:latin typeface="Lucida Sans Typewriter" panose="020B0509030504030204" pitchFamily="49" charset="0"/>
              </a:rPr>
              <a:t> method.</a:t>
            </a:r>
          </a:p>
          <a:p>
            <a:pPr eaLnBrk="0" fontAlgn="base" hangingPunct="0">
              <a:lnSpc>
                <a:spcPct val="150000"/>
              </a:lnSpc>
              <a:spcBef>
                <a:spcPct val="0"/>
              </a:spcBef>
              <a:spcAft>
                <a:spcPct val="0"/>
              </a:spcAft>
            </a:pPr>
            <a:endParaRPr kumimoji="0" lang="en-US" altLang="en-US" sz="2000" b="0" i="0" u="none" strike="noStrike" cap="none" normalizeH="0" baseline="0" dirty="0">
              <a:ln>
                <a:noFill/>
              </a:ln>
              <a:effectLst/>
              <a:latin typeface="Lucida Sans Typewriter" panose="020B0509030504030204" pitchFamily="49" charset="0"/>
            </a:endParaRP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accent2">
                    <a:lumMod val="75000"/>
                  </a:schemeClr>
                </a:solidFill>
                <a:effectLst/>
                <a:latin typeface="Lucida Sans Typewriter" panose="020B0509030504030204" pitchFamily="49" charset="0"/>
              </a:rPr>
              <a:t>Implementing the Runnable interface:</a:t>
            </a:r>
            <a:r>
              <a:rPr kumimoji="0" lang="en-US" altLang="en-US" sz="2000" b="0" i="0" u="none" strike="noStrike" cap="none" normalizeH="0" baseline="0" dirty="0">
                <a:ln>
                  <a:noFill/>
                </a:ln>
                <a:solidFill>
                  <a:schemeClr val="accent2">
                    <a:lumMod val="75000"/>
                  </a:schemeClr>
                </a:solidFill>
                <a:effectLst/>
                <a:latin typeface="Lucida Sans Typewriter" panose="020B0509030504030204" pitchFamily="49" charset="0"/>
              </a:rPr>
              <a:t> </a:t>
            </a:r>
            <a:r>
              <a:rPr kumimoji="0" lang="en-US" altLang="en-US" sz="2000" b="0" i="0" u="none" strike="noStrike" cap="none" normalizeH="0" baseline="0" dirty="0">
                <a:ln>
                  <a:noFill/>
                </a:ln>
                <a:effectLst/>
                <a:latin typeface="Lucida Sans Typewriter" panose="020B0509030504030204" pitchFamily="49" charset="0"/>
              </a:rPr>
              <a:t>You can create a class that implements the </a:t>
            </a:r>
            <a:r>
              <a:rPr kumimoji="0" lang="en-US" altLang="en-US" sz="2000" b="1" i="0" u="none" strike="noStrike" cap="none" normalizeH="0" baseline="0" dirty="0">
                <a:ln>
                  <a:noFill/>
                </a:ln>
                <a:effectLst/>
                <a:latin typeface="Lucida Sans Typewriter" panose="020B0509030504030204" pitchFamily="49" charset="0"/>
              </a:rPr>
              <a:t>Runnable</a:t>
            </a:r>
            <a:r>
              <a:rPr kumimoji="0" lang="en-US" altLang="en-US" sz="2000" b="0" i="0" u="none" strike="noStrike" cap="none" normalizeH="0" baseline="0" dirty="0">
                <a:ln>
                  <a:noFill/>
                </a:ln>
                <a:effectLst/>
                <a:latin typeface="Lucida Sans Typewriter" panose="020B0509030504030204" pitchFamily="49" charset="0"/>
              </a:rPr>
              <a:t> interface and then pass an instance of this class to the constructor of the </a:t>
            </a:r>
            <a:r>
              <a:rPr kumimoji="0" lang="en-US" altLang="en-US" sz="2000" b="1" i="0" u="none" strike="noStrike" cap="none" normalizeH="0" baseline="0" dirty="0">
                <a:ln>
                  <a:noFill/>
                </a:ln>
                <a:effectLst/>
                <a:latin typeface="Lucida Sans Typewriter" panose="020B0509030504030204" pitchFamily="49" charset="0"/>
              </a:rPr>
              <a:t>Thread</a:t>
            </a:r>
            <a:r>
              <a:rPr kumimoji="0" lang="en-US" altLang="en-US" sz="2000" b="0" i="0" u="none" strike="noStrike" cap="none" normalizeH="0" baseline="0" dirty="0">
                <a:ln>
                  <a:noFill/>
                </a:ln>
                <a:effectLst/>
                <a:latin typeface="Lucida Sans Typewriter" panose="020B0509030504030204" pitchFamily="49" charset="0"/>
              </a:rPr>
              <a:t> class.</a:t>
            </a:r>
          </a:p>
          <a:p>
            <a:pPr eaLnBrk="0" fontAlgn="base" hangingPunct="0">
              <a:lnSpc>
                <a:spcPct val="150000"/>
              </a:lnSpc>
              <a:spcBef>
                <a:spcPct val="0"/>
              </a:spcBef>
              <a:spcAft>
                <a:spcPct val="0"/>
              </a:spcAft>
            </a:pPr>
            <a:endParaRPr kumimoji="0" lang="en-US" altLang="en-US" sz="2000" b="0" i="0" u="none" strike="noStrike" cap="none" normalizeH="0" baseline="0" dirty="0">
              <a:ln>
                <a:noFill/>
              </a:ln>
              <a:effectLst/>
              <a:latin typeface="Lucida Sans Typewriter" panose="020B0509030504030204" pitchFamily="49" charset="0"/>
            </a:endParaRPr>
          </a:p>
        </p:txBody>
      </p:sp>
    </p:spTree>
    <p:extLst>
      <p:ext uri="{BB962C8B-B14F-4D97-AF65-F5344CB8AC3E}">
        <p14:creationId xmlns:p14="http://schemas.microsoft.com/office/powerpoint/2010/main" val="4134388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p:txBody>
          <a:bodyPr/>
          <a:lstStyle/>
          <a:p>
            <a:r>
              <a:rPr lang="en-GB" dirty="0">
                <a:latin typeface="Lucida Sans Typewriter" panose="020B0509030504030204" pitchFamily="49" charset="0"/>
              </a:rPr>
              <a:t>Thread Class</a:t>
            </a:r>
            <a:endParaRPr lang="en-US" dirty="0">
              <a:latin typeface="Lucida Sans Typewriter" panose="020B0509030504030204" pitchFamily="49" charset="0"/>
            </a:endParaRPr>
          </a:p>
        </p:txBody>
      </p:sp>
      <p:sp>
        <p:nvSpPr>
          <p:cNvPr id="3" name="Content Placeholder 2">
            <a:extLst>
              <a:ext uri="{FF2B5EF4-FFF2-40B4-BE49-F238E27FC236}">
                <a16:creationId xmlns:a16="http://schemas.microsoft.com/office/drawing/2014/main" id="{1728AF4C-5B93-DB3B-091C-F566FB1B766D}"/>
              </a:ext>
            </a:extLst>
          </p:cNvPr>
          <p:cNvSpPr>
            <a:spLocks noGrp="1"/>
          </p:cNvSpPr>
          <p:nvPr>
            <p:ph idx="1"/>
          </p:nvPr>
        </p:nvSpPr>
        <p:spPr/>
        <p:txBody>
          <a:bodyPr>
            <a:normAutofit/>
          </a:bodyPr>
          <a:lstStyle/>
          <a:p>
            <a:pPr algn="l"/>
            <a:r>
              <a:rPr lang="en-GB" sz="2000" b="0" i="0" u="none" strike="noStrike" baseline="0" dirty="0">
                <a:solidFill>
                  <a:srgbClr val="333333"/>
                </a:solidFill>
                <a:latin typeface="Lucida Sans Typewriter" panose="020B0509030504030204" pitchFamily="49" charset="0"/>
              </a:rPr>
              <a:t>Thread class provide constructors and methods to create and perform operations on a thread.</a:t>
            </a:r>
          </a:p>
          <a:p>
            <a:pPr algn="l"/>
            <a:r>
              <a:rPr lang="en-GB" sz="2000" b="0" i="0" u="none" strike="noStrike" baseline="0" dirty="0">
                <a:solidFill>
                  <a:srgbClr val="333333"/>
                </a:solidFill>
                <a:latin typeface="Lucida Sans Typewriter" panose="020B0509030504030204" pitchFamily="49" charset="0"/>
              </a:rPr>
              <a:t>Thread class extends Object class and implements Runnable interface.</a:t>
            </a:r>
          </a:p>
          <a:p>
            <a:pPr marL="0" indent="0" algn="l">
              <a:buNone/>
            </a:pPr>
            <a:endParaRPr lang="en-GB" sz="2000" b="0" i="0" u="none" strike="noStrike" baseline="0" dirty="0">
              <a:solidFill>
                <a:srgbClr val="333333"/>
              </a:solidFill>
              <a:latin typeface="Lucida Sans Typewriter" panose="020B0509030504030204" pitchFamily="49" charset="0"/>
            </a:endParaRPr>
          </a:p>
          <a:p>
            <a:pPr algn="l"/>
            <a:r>
              <a:rPr lang="en-GB" sz="2000" b="0" i="0" u="none" strike="noStrike" baseline="0" dirty="0">
                <a:solidFill>
                  <a:srgbClr val="610B4B"/>
                </a:solidFill>
                <a:latin typeface="Lucida Sans Typewriter" panose="020B0509030504030204" pitchFamily="49" charset="0"/>
              </a:rPr>
              <a:t>Commonly used Constructors of Thread class:</a:t>
            </a:r>
          </a:p>
          <a:p>
            <a:pPr marL="0" indent="0" algn="l">
              <a:buNone/>
            </a:pPr>
            <a:r>
              <a:rPr lang="en-US" sz="2000" b="0" i="0" u="none" strike="noStrike" baseline="0" dirty="0">
                <a:solidFill>
                  <a:srgbClr val="000000"/>
                </a:solidFill>
                <a:latin typeface="Lucida Sans Typewriter" panose="020B0509030504030204" pitchFamily="49" charset="0"/>
              </a:rPr>
              <a:t>○ Thread()</a:t>
            </a:r>
          </a:p>
          <a:p>
            <a:pPr marL="0" indent="0" algn="l">
              <a:buNone/>
            </a:pPr>
            <a:r>
              <a:rPr lang="en-US" sz="2000" b="0" i="0" u="none" strike="noStrike" baseline="0" dirty="0">
                <a:solidFill>
                  <a:srgbClr val="000000"/>
                </a:solidFill>
                <a:latin typeface="Lucida Sans Typewriter" panose="020B0509030504030204" pitchFamily="49" charset="0"/>
              </a:rPr>
              <a:t>○ Thread(String name)</a:t>
            </a:r>
          </a:p>
          <a:p>
            <a:pPr marL="0" indent="0" algn="l">
              <a:buNone/>
            </a:pPr>
            <a:r>
              <a:rPr lang="en-US" sz="2000" b="0" i="0" u="none" strike="noStrike" baseline="0" dirty="0">
                <a:solidFill>
                  <a:srgbClr val="000000"/>
                </a:solidFill>
                <a:latin typeface="Lucida Sans Typewriter" panose="020B0509030504030204" pitchFamily="49" charset="0"/>
              </a:rPr>
              <a:t>○ Thread(Runnable r)</a:t>
            </a:r>
          </a:p>
          <a:p>
            <a:pPr marL="0" indent="0" algn="l">
              <a:buNone/>
            </a:pPr>
            <a:r>
              <a:rPr lang="en-GB" sz="2000" b="0" i="0" u="none" strike="noStrike" baseline="0" dirty="0">
                <a:solidFill>
                  <a:srgbClr val="000000"/>
                </a:solidFill>
                <a:latin typeface="Lucida Sans Typewriter" panose="020B0509030504030204" pitchFamily="49" charset="0"/>
              </a:rPr>
              <a:t>○ Thread(Runnable </a:t>
            </a:r>
            <a:r>
              <a:rPr lang="en-GB" sz="2000" b="0" i="0" u="none" strike="noStrike" baseline="0" dirty="0" err="1">
                <a:solidFill>
                  <a:srgbClr val="000000"/>
                </a:solidFill>
                <a:latin typeface="Lucida Sans Typewriter" panose="020B0509030504030204" pitchFamily="49" charset="0"/>
              </a:rPr>
              <a:t>r,String</a:t>
            </a:r>
            <a:r>
              <a:rPr lang="en-GB" sz="2000" b="0" i="0" u="none" strike="noStrike" baseline="0" dirty="0">
                <a:solidFill>
                  <a:srgbClr val="000000"/>
                </a:solidFill>
                <a:latin typeface="Lucida Sans Typewriter" panose="020B0509030504030204" pitchFamily="49" charset="0"/>
              </a:rPr>
              <a:t> name)</a:t>
            </a:r>
            <a:endParaRPr kumimoji="0" lang="en-US" altLang="en-US" sz="2400" b="0" i="0" u="none" strike="noStrike" cap="none" normalizeH="0" baseline="0" dirty="0">
              <a:ln>
                <a:noFill/>
              </a:ln>
              <a:effectLst/>
              <a:latin typeface="Lucida Sans Typewriter" panose="020B0509030504030204" pitchFamily="49" charset="0"/>
            </a:endParaRPr>
          </a:p>
        </p:txBody>
      </p:sp>
    </p:spTree>
    <p:extLst>
      <p:ext uri="{BB962C8B-B14F-4D97-AF65-F5344CB8AC3E}">
        <p14:creationId xmlns:p14="http://schemas.microsoft.com/office/powerpoint/2010/main" val="1588517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838200" y="365126"/>
            <a:ext cx="10515600" cy="584786"/>
          </a:xfrm>
        </p:spPr>
        <p:txBody>
          <a:bodyPr>
            <a:normAutofit fontScale="90000"/>
          </a:bodyPr>
          <a:lstStyle/>
          <a:p>
            <a:r>
              <a:rPr lang="en-GB" sz="3600" dirty="0">
                <a:latin typeface="Lucida Sans Typewriter" panose="020B0509030504030204" pitchFamily="49" charset="0"/>
              </a:rPr>
              <a:t>Commonly used methods of Thread class</a:t>
            </a:r>
            <a:endParaRPr lang="en-US" sz="3600" dirty="0">
              <a:latin typeface="Lucida Sans Typewriter" panose="020B0509030504030204" pitchFamily="49" charset="0"/>
            </a:endParaRPr>
          </a:p>
        </p:txBody>
      </p:sp>
      <p:sp>
        <p:nvSpPr>
          <p:cNvPr id="3" name="Content Placeholder 2">
            <a:extLst>
              <a:ext uri="{FF2B5EF4-FFF2-40B4-BE49-F238E27FC236}">
                <a16:creationId xmlns:a16="http://schemas.microsoft.com/office/drawing/2014/main" id="{1728AF4C-5B93-DB3B-091C-F566FB1B766D}"/>
              </a:ext>
            </a:extLst>
          </p:cNvPr>
          <p:cNvSpPr>
            <a:spLocks noGrp="1"/>
          </p:cNvSpPr>
          <p:nvPr>
            <p:ph idx="1"/>
          </p:nvPr>
        </p:nvSpPr>
        <p:spPr>
          <a:xfrm>
            <a:off x="266331" y="1331650"/>
            <a:ext cx="11594236" cy="5388745"/>
          </a:xfrm>
        </p:spPr>
        <p:txBody>
          <a:bodyPr>
            <a:normAutofit/>
          </a:bodyPr>
          <a:lstStyle/>
          <a:p>
            <a:pPr marL="342900" indent="-342900" algn="l">
              <a:lnSpc>
                <a:spcPct val="100000"/>
              </a:lnSpc>
              <a:buFont typeface="+mj-lt"/>
              <a:buAutoNum type="arabicPeriod"/>
            </a:pPr>
            <a:r>
              <a:rPr lang="en-GB" sz="1800" b="1" i="0" u="none" strike="noStrike" baseline="0" dirty="0">
                <a:solidFill>
                  <a:srgbClr val="000000"/>
                </a:solidFill>
                <a:latin typeface="Lucida Sans Typewriter" panose="020B0509030504030204" pitchFamily="49" charset="0"/>
              </a:rPr>
              <a:t>public void run(): </a:t>
            </a:r>
            <a:r>
              <a:rPr lang="en-GB" sz="1800" b="0" i="0" u="none" strike="noStrike" baseline="0" dirty="0">
                <a:solidFill>
                  <a:srgbClr val="000000"/>
                </a:solidFill>
                <a:latin typeface="Lucida Sans Typewriter" panose="020B0509030504030204" pitchFamily="49" charset="0"/>
              </a:rPr>
              <a:t>is used to perform action for a thread.</a:t>
            </a:r>
          </a:p>
          <a:p>
            <a:pPr marL="342900" indent="-342900" algn="l">
              <a:lnSpc>
                <a:spcPct val="100000"/>
              </a:lnSpc>
              <a:buFont typeface="+mj-lt"/>
              <a:buAutoNum type="arabicPeriod"/>
            </a:pPr>
            <a:r>
              <a:rPr lang="en-GB" sz="1800" b="1" i="0" u="none" strike="noStrike" baseline="0" dirty="0">
                <a:solidFill>
                  <a:srgbClr val="000000"/>
                </a:solidFill>
                <a:latin typeface="Lucida Sans Typewriter" panose="020B0509030504030204" pitchFamily="49" charset="0"/>
              </a:rPr>
              <a:t>public void start(): </a:t>
            </a:r>
            <a:r>
              <a:rPr lang="en-GB" sz="1800" b="0" i="0" u="none" strike="noStrike" baseline="0" dirty="0">
                <a:solidFill>
                  <a:srgbClr val="000000"/>
                </a:solidFill>
                <a:latin typeface="Lucida Sans Typewriter" panose="020B0509030504030204" pitchFamily="49" charset="0"/>
              </a:rPr>
              <a:t>starts the execution of the thread. JVM calls the run() method </a:t>
            </a:r>
            <a:r>
              <a:rPr lang="en-US" sz="1800" b="0" i="0" u="none" strike="noStrike" baseline="0" dirty="0">
                <a:solidFill>
                  <a:srgbClr val="000000"/>
                </a:solidFill>
                <a:latin typeface="Lucida Sans Typewriter" panose="020B0509030504030204" pitchFamily="49" charset="0"/>
              </a:rPr>
              <a:t>on the thread.</a:t>
            </a:r>
          </a:p>
          <a:p>
            <a:pPr marL="342900" indent="-342900" algn="l">
              <a:lnSpc>
                <a:spcPct val="100000"/>
              </a:lnSpc>
              <a:buFont typeface="+mj-lt"/>
              <a:buAutoNum type="arabicPeriod"/>
            </a:pPr>
            <a:r>
              <a:rPr lang="en-GB" sz="1800" b="1" i="0" u="none" strike="noStrike" baseline="0" dirty="0">
                <a:solidFill>
                  <a:srgbClr val="000000"/>
                </a:solidFill>
                <a:latin typeface="Lucida Sans Typewriter" panose="020B0509030504030204" pitchFamily="49" charset="0"/>
              </a:rPr>
              <a:t>public void sleep(long </a:t>
            </a:r>
            <a:r>
              <a:rPr lang="en-GB" sz="1800" b="1" i="0" u="none" strike="noStrike" baseline="0" dirty="0" err="1">
                <a:solidFill>
                  <a:srgbClr val="000000"/>
                </a:solidFill>
                <a:latin typeface="Lucida Sans Typewriter" panose="020B0509030504030204" pitchFamily="49" charset="0"/>
              </a:rPr>
              <a:t>miliseconds</a:t>
            </a:r>
            <a:r>
              <a:rPr lang="en-GB" sz="1800" b="1" i="0" u="none" strike="noStrike" baseline="0" dirty="0">
                <a:solidFill>
                  <a:srgbClr val="000000"/>
                </a:solidFill>
                <a:latin typeface="Lucida Sans Typewriter" panose="020B0509030504030204" pitchFamily="49" charset="0"/>
              </a:rPr>
              <a:t>): </a:t>
            </a:r>
            <a:r>
              <a:rPr lang="en-GB" sz="1800" b="0" i="0" u="none" strike="noStrike" baseline="0" dirty="0">
                <a:solidFill>
                  <a:srgbClr val="000000"/>
                </a:solidFill>
                <a:latin typeface="Lucida Sans Typewriter" panose="020B0509030504030204" pitchFamily="49" charset="0"/>
              </a:rPr>
              <a:t>Causes the currently executing thread to sleep (temporarily cease execution) for the specified number of milliseconds.</a:t>
            </a:r>
          </a:p>
          <a:p>
            <a:pPr marL="342900" indent="-342900" algn="l">
              <a:lnSpc>
                <a:spcPct val="100000"/>
              </a:lnSpc>
              <a:buFont typeface="+mj-lt"/>
              <a:buAutoNum type="arabicPeriod"/>
            </a:pPr>
            <a:r>
              <a:rPr lang="en-GB" sz="1800" b="1" i="0" u="none" strike="noStrike" baseline="0" dirty="0">
                <a:solidFill>
                  <a:srgbClr val="000000"/>
                </a:solidFill>
                <a:latin typeface="Lucida Sans Typewriter" panose="020B0509030504030204" pitchFamily="49" charset="0"/>
              </a:rPr>
              <a:t>public void join(): </a:t>
            </a:r>
            <a:r>
              <a:rPr lang="en-GB" sz="1800" b="0" i="0" u="none" strike="noStrike" baseline="0" dirty="0">
                <a:solidFill>
                  <a:srgbClr val="000000"/>
                </a:solidFill>
                <a:latin typeface="Lucida Sans Typewriter" panose="020B0509030504030204" pitchFamily="49" charset="0"/>
              </a:rPr>
              <a:t>waits for a thread to die</a:t>
            </a:r>
          </a:p>
          <a:p>
            <a:pPr marL="342900" indent="-342900" algn="l">
              <a:lnSpc>
                <a:spcPct val="100000"/>
              </a:lnSpc>
              <a:buFont typeface="+mj-lt"/>
              <a:buAutoNum type="arabicPeriod"/>
            </a:pPr>
            <a:r>
              <a:rPr lang="en-GB" sz="1800" b="1" i="0" u="none" strike="noStrike" baseline="0" dirty="0">
                <a:latin typeface="Lucida Sans Typewriter" panose="020B0509030504030204" pitchFamily="49" charset="0"/>
              </a:rPr>
              <a:t>public String </a:t>
            </a:r>
            <a:r>
              <a:rPr lang="en-GB" sz="1800" b="1" i="0" u="none" strike="noStrike" baseline="0" dirty="0" err="1">
                <a:latin typeface="Lucida Sans Typewriter" panose="020B0509030504030204" pitchFamily="49" charset="0"/>
              </a:rPr>
              <a:t>getName</a:t>
            </a:r>
            <a:r>
              <a:rPr lang="en-GB" sz="1800" b="1" i="0" u="none" strike="noStrike" baseline="0" dirty="0">
                <a:latin typeface="Lucida Sans Typewriter" panose="020B0509030504030204" pitchFamily="49" charset="0"/>
              </a:rPr>
              <a:t>(): </a:t>
            </a:r>
            <a:r>
              <a:rPr lang="en-GB" sz="1800" b="0" i="0" u="none" strike="noStrike" baseline="0" dirty="0">
                <a:latin typeface="Lucida Sans Typewriter" panose="020B0509030504030204" pitchFamily="49" charset="0"/>
              </a:rPr>
              <a:t>returns the name of the thread.</a:t>
            </a:r>
          </a:p>
          <a:p>
            <a:pPr marL="342900" indent="-342900" algn="l">
              <a:lnSpc>
                <a:spcPct val="100000"/>
              </a:lnSpc>
              <a:buFont typeface="+mj-lt"/>
              <a:buAutoNum type="arabicPeriod"/>
            </a:pPr>
            <a:r>
              <a:rPr lang="en-GB" sz="1800" b="1" i="0" u="none" strike="noStrike" baseline="0" dirty="0">
                <a:latin typeface="Lucida Sans Typewriter" panose="020B0509030504030204" pitchFamily="49" charset="0"/>
              </a:rPr>
              <a:t>public void </a:t>
            </a:r>
            <a:r>
              <a:rPr lang="en-GB" sz="1800" b="1" i="0" u="none" strike="noStrike" baseline="0" dirty="0" err="1">
                <a:latin typeface="Lucida Sans Typewriter" panose="020B0509030504030204" pitchFamily="49" charset="0"/>
              </a:rPr>
              <a:t>setName</a:t>
            </a:r>
            <a:r>
              <a:rPr lang="en-GB" sz="1800" b="1" i="0" u="none" strike="noStrike" baseline="0" dirty="0">
                <a:latin typeface="Lucida Sans Typewriter" panose="020B0509030504030204" pitchFamily="49" charset="0"/>
              </a:rPr>
              <a:t>(String name): </a:t>
            </a:r>
            <a:r>
              <a:rPr lang="en-GB" sz="1800" b="0" i="0" u="none" strike="noStrike" baseline="0" dirty="0">
                <a:latin typeface="Lucida Sans Typewriter" panose="020B0509030504030204" pitchFamily="49" charset="0"/>
              </a:rPr>
              <a:t>changes the name of the thread.</a:t>
            </a:r>
          </a:p>
          <a:p>
            <a:pPr marL="342900" indent="-342900" algn="l">
              <a:lnSpc>
                <a:spcPct val="100000"/>
              </a:lnSpc>
              <a:buFont typeface="+mj-lt"/>
              <a:buAutoNum type="arabicPeriod"/>
            </a:pPr>
            <a:r>
              <a:rPr lang="en-GB" sz="1800" b="1" i="0" u="none" strike="noStrike" baseline="0" dirty="0">
                <a:latin typeface="Lucida Sans Typewriter" panose="020B0509030504030204" pitchFamily="49" charset="0"/>
              </a:rPr>
              <a:t>public Thread </a:t>
            </a:r>
            <a:r>
              <a:rPr lang="en-GB" sz="1800" b="1" i="0" u="none" strike="noStrike" baseline="0" dirty="0" err="1">
                <a:latin typeface="Lucida Sans Typewriter" panose="020B0509030504030204" pitchFamily="49" charset="0"/>
              </a:rPr>
              <a:t>currentThread</a:t>
            </a:r>
            <a:r>
              <a:rPr lang="en-GB" sz="1800" b="1" i="0" u="none" strike="noStrike" baseline="0" dirty="0">
                <a:latin typeface="Lucida Sans Typewriter" panose="020B0509030504030204" pitchFamily="49" charset="0"/>
              </a:rPr>
              <a:t>(): </a:t>
            </a:r>
            <a:r>
              <a:rPr lang="en-GB" sz="1800" b="0" i="0" u="none" strike="noStrike" baseline="0" dirty="0">
                <a:latin typeface="Lucida Sans Typewriter" panose="020B0509030504030204" pitchFamily="49" charset="0"/>
              </a:rPr>
              <a:t>returns the reference of currently executing </a:t>
            </a:r>
            <a:r>
              <a:rPr lang="en-US" sz="1800" b="0" i="0" u="none" strike="noStrike" baseline="0" dirty="0">
                <a:latin typeface="Lucida Sans Typewriter" panose="020B0509030504030204" pitchFamily="49" charset="0"/>
              </a:rPr>
              <a:t>thread.</a:t>
            </a:r>
          </a:p>
          <a:p>
            <a:pPr marL="342900" indent="-342900" algn="l">
              <a:lnSpc>
                <a:spcPct val="100000"/>
              </a:lnSpc>
              <a:buFont typeface="+mj-lt"/>
              <a:buAutoNum type="arabicPeriod"/>
            </a:pPr>
            <a:r>
              <a:rPr lang="en-GB" sz="1800" b="1" i="0" u="none" strike="noStrike" baseline="0" dirty="0">
                <a:latin typeface="Lucida Sans Typewriter" panose="020B0509030504030204" pitchFamily="49" charset="0"/>
              </a:rPr>
              <a:t>public int </a:t>
            </a:r>
            <a:r>
              <a:rPr lang="en-GB" sz="1800" b="1" i="0" u="none" strike="noStrike" baseline="0" dirty="0" err="1">
                <a:latin typeface="Lucida Sans Typewriter" panose="020B0509030504030204" pitchFamily="49" charset="0"/>
              </a:rPr>
              <a:t>getId</a:t>
            </a:r>
            <a:r>
              <a:rPr lang="en-GB" sz="1800" b="1" i="0" u="none" strike="noStrike" baseline="0" dirty="0">
                <a:latin typeface="Lucida Sans Typewriter" panose="020B0509030504030204" pitchFamily="49" charset="0"/>
              </a:rPr>
              <a:t>(): </a:t>
            </a:r>
            <a:r>
              <a:rPr lang="en-GB" sz="1800" b="0" i="0" u="none" strike="noStrike" baseline="0" dirty="0">
                <a:latin typeface="Lucida Sans Typewriter" panose="020B0509030504030204" pitchFamily="49" charset="0"/>
              </a:rPr>
              <a:t>returns the id of the thread.</a:t>
            </a:r>
          </a:p>
          <a:p>
            <a:pPr marL="342900" indent="-342900" algn="l">
              <a:lnSpc>
                <a:spcPct val="100000"/>
              </a:lnSpc>
              <a:buFont typeface="+mj-lt"/>
              <a:buAutoNum type="arabicPeriod"/>
            </a:pPr>
            <a:r>
              <a:rPr lang="en-GB" sz="1800" b="1" i="0" u="none" strike="noStrike" baseline="0" dirty="0">
                <a:latin typeface="Lucida Sans Typewriter" panose="020B0509030504030204" pitchFamily="49" charset="0"/>
              </a:rPr>
              <a:t>public </a:t>
            </a:r>
            <a:r>
              <a:rPr lang="en-GB" sz="1800" b="1" i="0" u="none" strike="noStrike" baseline="0" dirty="0" err="1">
                <a:latin typeface="Lucida Sans Typewriter" panose="020B0509030504030204" pitchFamily="49" charset="0"/>
              </a:rPr>
              <a:t>boolean</a:t>
            </a:r>
            <a:r>
              <a:rPr lang="en-GB" sz="1800" b="1" i="0" u="none" strike="noStrike" baseline="0" dirty="0">
                <a:latin typeface="Lucida Sans Typewriter" panose="020B0509030504030204" pitchFamily="49" charset="0"/>
              </a:rPr>
              <a:t> </a:t>
            </a:r>
            <a:r>
              <a:rPr lang="en-GB" sz="1800" b="1" i="0" u="none" strike="noStrike" baseline="0" dirty="0" err="1">
                <a:latin typeface="Lucida Sans Typewriter" panose="020B0509030504030204" pitchFamily="49" charset="0"/>
              </a:rPr>
              <a:t>isAlive</a:t>
            </a:r>
            <a:r>
              <a:rPr lang="en-GB" sz="1800" b="1" i="0" u="none" strike="noStrike" baseline="0" dirty="0">
                <a:latin typeface="Lucida Sans Typewriter" panose="020B0509030504030204" pitchFamily="49" charset="0"/>
              </a:rPr>
              <a:t>(): </a:t>
            </a:r>
            <a:r>
              <a:rPr lang="en-GB" sz="1800" b="0" i="0" u="none" strike="noStrike" baseline="0" dirty="0">
                <a:latin typeface="Lucida Sans Typewriter" panose="020B0509030504030204" pitchFamily="49" charset="0"/>
              </a:rPr>
              <a:t>tests if the thread is alive.</a:t>
            </a:r>
            <a:endParaRPr kumimoji="0" lang="en-US" altLang="en-US" sz="2400" b="0" i="0" u="none" strike="noStrike" cap="none" normalizeH="0" baseline="0" dirty="0">
              <a:ln>
                <a:noFill/>
              </a:ln>
              <a:effectLst/>
              <a:latin typeface="Lucida Sans Typewriter" panose="020B0509030504030204" pitchFamily="49" charset="0"/>
            </a:endParaRPr>
          </a:p>
        </p:txBody>
      </p:sp>
    </p:spTree>
    <p:extLst>
      <p:ext uri="{BB962C8B-B14F-4D97-AF65-F5344CB8AC3E}">
        <p14:creationId xmlns:p14="http://schemas.microsoft.com/office/powerpoint/2010/main" val="2100953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838200" y="365126"/>
            <a:ext cx="10515600" cy="584786"/>
          </a:xfrm>
        </p:spPr>
        <p:txBody>
          <a:bodyPr>
            <a:normAutofit fontScale="90000"/>
          </a:bodyPr>
          <a:lstStyle/>
          <a:p>
            <a:r>
              <a:rPr lang="en-GB" sz="3600" dirty="0">
                <a:latin typeface="Lucida Sans Typewriter" panose="020B0509030504030204" pitchFamily="49" charset="0"/>
              </a:rPr>
              <a:t>Runnable Interface</a:t>
            </a:r>
            <a:endParaRPr lang="en-US" sz="3600" dirty="0">
              <a:latin typeface="Lucida Sans Typewriter" panose="020B0509030504030204" pitchFamily="49" charset="0"/>
            </a:endParaRPr>
          </a:p>
        </p:txBody>
      </p:sp>
      <p:sp>
        <p:nvSpPr>
          <p:cNvPr id="3" name="Content Placeholder 2">
            <a:extLst>
              <a:ext uri="{FF2B5EF4-FFF2-40B4-BE49-F238E27FC236}">
                <a16:creationId xmlns:a16="http://schemas.microsoft.com/office/drawing/2014/main" id="{1728AF4C-5B93-DB3B-091C-F566FB1B766D}"/>
              </a:ext>
            </a:extLst>
          </p:cNvPr>
          <p:cNvSpPr>
            <a:spLocks noGrp="1"/>
          </p:cNvSpPr>
          <p:nvPr>
            <p:ph idx="1"/>
          </p:nvPr>
        </p:nvSpPr>
        <p:spPr>
          <a:xfrm>
            <a:off x="701335" y="1331651"/>
            <a:ext cx="9854215" cy="3018408"/>
          </a:xfrm>
        </p:spPr>
        <p:txBody>
          <a:bodyPr>
            <a:normAutofit/>
          </a:bodyPr>
          <a:lstStyle/>
          <a:p>
            <a:pPr marL="0" indent="0" algn="l">
              <a:buNone/>
            </a:pPr>
            <a:r>
              <a:rPr lang="en-GB" sz="2000" b="0" i="0" u="none" strike="noStrike" baseline="0" dirty="0">
                <a:solidFill>
                  <a:srgbClr val="333333"/>
                </a:solidFill>
                <a:latin typeface="Lucida Sans Typewriter" panose="020B0509030504030204" pitchFamily="49" charset="0"/>
              </a:rPr>
              <a:t>The Runnable interface should be implemented by any class whose instances are intended to be executed by a thread. Runnable interface have only one method named </a:t>
            </a:r>
            <a:r>
              <a:rPr lang="en-US" sz="2000" b="0" i="0" u="none" strike="noStrike" baseline="0" dirty="0">
                <a:solidFill>
                  <a:srgbClr val="333333"/>
                </a:solidFill>
                <a:latin typeface="Lucida Sans Typewriter" panose="020B0509030504030204" pitchFamily="49" charset="0"/>
              </a:rPr>
              <a:t>run().</a:t>
            </a:r>
            <a:r>
              <a:rPr lang="en-GB" sz="2000" b="0" i="0" u="none" strike="noStrike" baseline="0" dirty="0">
                <a:solidFill>
                  <a:srgbClr val="FFFFFF"/>
                </a:solidFill>
                <a:latin typeface="Lucida Sans Typewriter" panose="020B0509030504030204" pitchFamily="49" charset="0"/>
              </a:rPr>
              <a:t>Polymorphism in Java | Dynamic Method Dispatch</a:t>
            </a:r>
          </a:p>
          <a:p>
            <a:pPr marL="0" indent="0" algn="l">
              <a:buNone/>
            </a:pPr>
            <a:r>
              <a:rPr lang="en-GB" sz="2000" b="0" i="0" u="none" strike="noStrike" baseline="0" dirty="0">
                <a:solidFill>
                  <a:srgbClr val="000000"/>
                </a:solidFill>
                <a:latin typeface="Lucida Sans Typewriter" panose="020B0509030504030204" pitchFamily="49" charset="0"/>
              </a:rPr>
              <a:t>1. </a:t>
            </a:r>
            <a:r>
              <a:rPr lang="en-GB" sz="2000" b="1" i="0" u="none" strike="noStrike" baseline="0" dirty="0">
                <a:solidFill>
                  <a:srgbClr val="000000"/>
                </a:solidFill>
                <a:latin typeface="Lucida Sans Typewriter" panose="020B0509030504030204" pitchFamily="49" charset="0"/>
              </a:rPr>
              <a:t>public void run(): </a:t>
            </a:r>
            <a:r>
              <a:rPr lang="en-GB" sz="2000" b="0" i="0" u="none" strike="noStrike" baseline="0" dirty="0">
                <a:solidFill>
                  <a:srgbClr val="000000"/>
                </a:solidFill>
                <a:latin typeface="Lucida Sans Typewriter" panose="020B0509030504030204" pitchFamily="49" charset="0"/>
              </a:rPr>
              <a:t>is used to perform action for a thread.</a:t>
            </a:r>
            <a:endParaRPr kumimoji="0" lang="en-US" altLang="en-US" b="0" i="0" u="none" strike="noStrike" cap="none" normalizeH="0" baseline="0" dirty="0">
              <a:ln>
                <a:noFill/>
              </a:ln>
              <a:effectLst/>
              <a:latin typeface="Lucida Sans Typewriter" panose="020B0509030504030204" pitchFamily="49" charset="0"/>
            </a:endParaRPr>
          </a:p>
        </p:txBody>
      </p:sp>
    </p:spTree>
    <p:extLst>
      <p:ext uri="{BB962C8B-B14F-4D97-AF65-F5344CB8AC3E}">
        <p14:creationId xmlns:p14="http://schemas.microsoft.com/office/powerpoint/2010/main" val="3989525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p:txBody>
          <a:bodyPr/>
          <a:lstStyle/>
          <a:p>
            <a:r>
              <a:rPr lang="en-GB" dirty="0">
                <a:latin typeface="Lucida Sans Typewriter" panose="020B0509030504030204" pitchFamily="49" charset="0"/>
              </a:rPr>
              <a:t>Extending Thread class</a:t>
            </a:r>
            <a:endParaRPr lang="en-US" dirty="0">
              <a:latin typeface="Lucida Sans Typewriter" panose="020B0509030504030204" pitchFamily="49" charset="0"/>
            </a:endParaRPr>
          </a:p>
        </p:txBody>
      </p:sp>
      <p:sp>
        <p:nvSpPr>
          <p:cNvPr id="3" name="Content Placeholder 2">
            <a:extLst>
              <a:ext uri="{FF2B5EF4-FFF2-40B4-BE49-F238E27FC236}">
                <a16:creationId xmlns:a16="http://schemas.microsoft.com/office/drawing/2014/main" id="{1728AF4C-5B93-DB3B-091C-F566FB1B766D}"/>
              </a:ext>
            </a:extLst>
          </p:cNvPr>
          <p:cNvSpPr>
            <a:spLocks noGrp="1"/>
          </p:cNvSpPr>
          <p:nvPr>
            <p:ph idx="1"/>
          </p:nvPr>
        </p:nvSpPr>
        <p:spPr>
          <a:xfrm>
            <a:off x="497150" y="1825625"/>
            <a:ext cx="11398928" cy="695633"/>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Lucida Sans Typewriter" panose="020B0509030504030204" pitchFamily="49" charset="0"/>
              </a:rPr>
              <a:t>It can be created by extending the </a:t>
            </a:r>
            <a:r>
              <a:rPr kumimoji="0" lang="en-US" altLang="en-US" sz="1800" b="0" i="0" u="none" strike="noStrike" cap="none" normalizeH="0" baseline="0" dirty="0">
                <a:ln>
                  <a:noFill/>
                </a:ln>
                <a:solidFill>
                  <a:srgbClr val="DC143C"/>
                </a:solidFill>
                <a:effectLst/>
                <a:latin typeface="Lucida Sans Typewriter" panose="020B0509030504030204" pitchFamily="49" charset="0"/>
              </a:rPr>
              <a:t>Thread</a:t>
            </a:r>
            <a:r>
              <a:rPr kumimoji="0" lang="en-US" altLang="en-US" sz="1800" b="0" i="0" u="none" strike="noStrike" cap="none" normalizeH="0" baseline="0" dirty="0">
                <a:ln>
                  <a:noFill/>
                </a:ln>
                <a:solidFill>
                  <a:srgbClr val="000000"/>
                </a:solidFill>
                <a:effectLst/>
                <a:latin typeface="Lucida Sans Typewriter" panose="020B0509030504030204" pitchFamily="49" charset="0"/>
              </a:rPr>
              <a:t> class and overriding its </a:t>
            </a:r>
            <a:r>
              <a:rPr kumimoji="0" lang="en-US" altLang="en-US" sz="1800" b="0" i="0" u="none" strike="noStrike" cap="none" normalizeH="0" baseline="0" dirty="0">
                <a:ln>
                  <a:noFill/>
                </a:ln>
                <a:solidFill>
                  <a:srgbClr val="DC143C"/>
                </a:solidFill>
                <a:effectLst/>
                <a:latin typeface="Lucida Sans Typewriter" panose="020B0509030504030204" pitchFamily="49" charset="0"/>
              </a:rPr>
              <a:t>run()</a:t>
            </a:r>
            <a:r>
              <a:rPr kumimoji="0" lang="en-US" altLang="en-US" sz="1800" b="0" i="0" u="none" strike="noStrike" cap="none" normalizeH="0" baseline="0" dirty="0">
                <a:ln>
                  <a:noFill/>
                </a:ln>
                <a:solidFill>
                  <a:srgbClr val="000000"/>
                </a:solidFill>
                <a:effectLst/>
                <a:latin typeface="Lucida Sans Typewriter" panose="020B0509030504030204" pitchFamily="49" charset="0"/>
              </a:rPr>
              <a:t> method:</a:t>
            </a:r>
            <a:r>
              <a:rPr kumimoji="0" lang="en-US" altLang="en-US" sz="1800" b="0" i="0" u="none" strike="noStrike" cap="none" normalizeH="0" baseline="0" dirty="0">
                <a:ln>
                  <a:noFill/>
                </a:ln>
                <a:solidFill>
                  <a:schemeClr val="tx1"/>
                </a:solidFill>
                <a:effectLst/>
                <a:latin typeface="Lucida Sans Typewriter" panose="020B0509030504030204" pitchFamily="49" charset="0"/>
              </a:rPr>
              <a:t> </a:t>
            </a:r>
          </a:p>
        </p:txBody>
      </p:sp>
      <p:sp>
        <p:nvSpPr>
          <p:cNvPr id="5" name="TextBox 4">
            <a:extLst>
              <a:ext uri="{FF2B5EF4-FFF2-40B4-BE49-F238E27FC236}">
                <a16:creationId xmlns:a16="http://schemas.microsoft.com/office/drawing/2014/main" id="{0872B980-ED42-A5EA-472D-4F0F7C7DD7DB}"/>
              </a:ext>
            </a:extLst>
          </p:cNvPr>
          <p:cNvSpPr txBox="1"/>
          <p:nvPr/>
        </p:nvSpPr>
        <p:spPr>
          <a:xfrm>
            <a:off x="1109709" y="2831977"/>
            <a:ext cx="7039992" cy="2862322"/>
          </a:xfrm>
          <a:prstGeom prst="rect">
            <a:avLst/>
          </a:prstGeom>
          <a:noFill/>
        </p:spPr>
        <p:txBody>
          <a:bodyPr wrap="square" rtlCol="0">
            <a:spAutoFit/>
          </a:bodyPr>
          <a:lstStyle/>
          <a:p>
            <a:r>
              <a:rPr lang="en-GB" dirty="0">
                <a:latin typeface="Lucida Sans Typewriter" panose="020B0509030504030204" pitchFamily="49" charset="0"/>
              </a:rPr>
              <a:t>class </a:t>
            </a:r>
            <a:r>
              <a:rPr lang="en-GB" dirty="0" err="1">
                <a:latin typeface="Lucida Sans Typewriter" panose="020B0509030504030204" pitchFamily="49" charset="0"/>
              </a:rPr>
              <a:t>MyThread</a:t>
            </a:r>
            <a:r>
              <a:rPr lang="en-GB" dirty="0">
                <a:latin typeface="Lucida Sans Typewriter" panose="020B0509030504030204" pitchFamily="49" charset="0"/>
              </a:rPr>
              <a:t> extends Thread {</a:t>
            </a:r>
          </a:p>
          <a:p>
            <a:r>
              <a:rPr lang="en-GB" dirty="0">
                <a:latin typeface="Lucida Sans Typewriter" panose="020B0509030504030204" pitchFamily="49" charset="0"/>
              </a:rPr>
              <a:t>    public void run() {</a:t>
            </a:r>
          </a:p>
          <a:p>
            <a:r>
              <a:rPr lang="en-GB" dirty="0">
                <a:solidFill>
                  <a:schemeClr val="bg2">
                    <a:lumMod val="50000"/>
                  </a:schemeClr>
                </a:solidFill>
                <a:latin typeface="Lucida Sans Typewriter" panose="020B0509030504030204" pitchFamily="49" charset="0"/>
              </a:rPr>
              <a:t>        // Code to be executed in the thread</a:t>
            </a:r>
          </a:p>
          <a:p>
            <a:r>
              <a:rPr lang="en-GB" dirty="0">
                <a:latin typeface="Lucida Sans Typewriter" panose="020B0509030504030204" pitchFamily="49" charset="0"/>
              </a:rPr>
              <a:t>    }</a:t>
            </a:r>
          </a:p>
          <a:p>
            <a:r>
              <a:rPr lang="en-GB" dirty="0">
                <a:latin typeface="Lucida Sans Typewriter" panose="020B0509030504030204" pitchFamily="49" charset="0"/>
              </a:rPr>
              <a:t>}</a:t>
            </a:r>
          </a:p>
          <a:p>
            <a:endParaRPr lang="en-GB" dirty="0">
              <a:latin typeface="Lucida Sans Typewriter" panose="020B0509030504030204" pitchFamily="49" charset="0"/>
            </a:endParaRPr>
          </a:p>
          <a:p>
            <a:r>
              <a:rPr lang="en-GB" dirty="0">
                <a:solidFill>
                  <a:schemeClr val="bg2">
                    <a:lumMod val="50000"/>
                  </a:schemeClr>
                </a:solidFill>
                <a:latin typeface="Lucida Sans Typewriter" panose="020B0509030504030204" pitchFamily="49" charset="0"/>
              </a:rPr>
              <a:t>// Creating and starting a new thread</a:t>
            </a:r>
          </a:p>
          <a:p>
            <a:r>
              <a:rPr lang="en-GB" dirty="0" err="1">
                <a:latin typeface="Lucida Sans Typewriter" panose="020B0509030504030204" pitchFamily="49" charset="0"/>
              </a:rPr>
              <a:t>MyThread</a:t>
            </a:r>
            <a:r>
              <a:rPr lang="en-GB" dirty="0">
                <a:latin typeface="Lucida Sans Typewriter" panose="020B0509030504030204" pitchFamily="49" charset="0"/>
              </a:rPr>
              <a:t> </a:t>
            </a:r>
            <a:r>
              <a:rPr lang="en-GB" dirty="0" err="1">
                <a:latin typeface="Lucida Sans Typewriter" panose="020B0509030504030204" pitchFamily="49" charset="0"/>
              </a:rPr>
              <a:t>myThread</a:t>
            </a:r>
            <a:r>
              <a:rPr lang="en-GB" dirty="0">
                <a:latin typeface="Lucida Sans Typewriter" panose="020B0509030504030204" pitchFamily="49" charset="0"/>
              </a:rPr>
              <a:t> = new </a:t>
            </a:r>
            <a:r>
              <a:rPr lang="en-GB" dirty="0" err="1">
                <a:latin typeface="Lucida Sans Typewriter" panose="020B0509030504030204" pitchFamily="49" charset="0"/>
              </a:rPr>
              <a:t>MyThread</a:t>
            </a:r>
            <a:r>
              <a:rPr lang="en-GB" dirty="0">
                <a:latin typeface="Lucida Sans Typewriter" panose="020B0509030504030204" pitchFamily="49" charset="0"/>
              </a:rPr>
              <a:t>();</a:t>
            </a:r>
          </a:p>
          <a:p>
            <a:r>
              <a:rPr lang="en-GB" dirty="0" err="1">
                <a:latin typeface="Lucida Sans Typewriter" panose="020B0509030504030204" pitchFamily="49" charset="0"/>
              </a:rPr>
              <a:t>myThread.start</a:t>
            </a:r>
            <a:r>
              <a:rPr lang="en-GB" dirty="0">
                <a:latin typeface="Lucida Sans Typewriter" panose="020B0509030504030204" pitchFamily="49" charset="0"/>
              </a:rPr>
              <a:t>();</a:t>
            </a:r>
          </a:p>
          <a:p>
            <a:endParaRPr lang="en-US" dirty="0">
              <a:latin typeface="Lucida Sans Typewriter" panose="020B0509030504030204" pitchFamily="49" charset="0"/>
            </a:endParaRPr>
          </a:p>
        </p:txBody>
      </p:sp>
    </p:spTree>
    <p:extLst>
      <p:ext uri="{BB962C8B-B14F-4D97-AF65-F5344CB8AC3E}">
        <p14:creationId xmlns:p14="http://schemas.microsoft.com/office/powerpoint/2010/main" val="1839108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838200" y="365125"/>
            <a:ext cx="10515600" cy="975403"/>
          </a:xfrm>
        </p:spPr>
        <p:txBody>
          <a:bodyPr>
            <a:normAutofit/>
          </a:bodyPr>
          <a:lstStyle/>
          <a:p>
            <a:r>
              <a:rPr lang="en-GB" sz="4000" dirty="0">
                <a:latin typeface="Lucida Sans Typewriter" panose="020B0509030504030204" pitchFamily="49" charset="0"/>
              </a:rPr>
              <a:t>Implementing Runnable interface</a:t>
            </a:r>
            <a:endParaRPr lang="en-US" sz="4000" dirty="0">
              <a:latin typeface="Lucida Sans Typewriter" panose="020B0509030504030204" pitchFamily="49" charset="0"/>
            </a:endParaRPr>
          </a:p>
        </p:txBody>
      </p:sp>
      <p:sp>
        <p:nvSpPr>
          <p:cNvPr id="3" name="Content Placeholder 2">
            <a:extLst>
              <a:ext uri="{FF2B5EF4-FFF2-40B4-BE49-F238E27FC236}">
                <a16:creationId xmlns:a16="http://schemas.microsoft.com/office/drawing/2014/main" id="{1728AF4C-5B93-DB3B-091C-F566FB1B766D}"/>
              </a:ext>
            </a:extLst>
          </p:cNvPr>
          <p:cNvSpPr>
            <a:spLocks noGrp="1"/>
          </p:cNvSpPr>
          <p:nvPr>
            <p:ph idx="1"/>
          </p:nvPr>
        </p:nvSpPr>
        <p:spPr>
          <a:xfrm>
            <a:off x="396536" y="1565699"/>
            <a:ext cx="11398928" cy="695633"/>
          </a:xfrm>
        </p:spPr>
        <p:txBody>
          <a:bodyPr>
            <a:no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rgbClr val="0F0F0F"/>
                </a:solidFill>
                <a:effectLst/>
                <a:latin typeface="Lucida Sans Typewriter" panose="020B0509030504030204" pitchFamily="49" charset="0"/>
              </a:rPr>
              <a:t>you can implement the Runnable interface and provide the implementation for the run() method. Then, you can create an instance of Thread and pass an instance of your Runnable implementation to it.</a:t>
            </a:r>
            <a:endParaRPr kumimoji="0" lang="en-US" altLang="en-US" sz="1800" i="0" u="none" strike="noStrike" cap="none" normalizeH="0" baseline="0" dirty="0">
              <a:ln>
                <a:noFill/>
              </a:ln>
              <a:solidFill>
                <a:schemeClr val="tx1"/>
              </a:solidFill>
              <a:effectLst/>
              <a:latin typeface="Lucida Sans Typewriter" panose="020B0509030504030204" pitchFamily="49" charset="0"/>
            </a:endParaRPr>
          </a:p>
        </p:txBody>
      </p:sp>
      <p:sp>
        <p:nvSpPr>
          <p:cNvPr id="5" name="TextBox 4">
            <a:extLst>
              <a:ext uri="{FF2B5EF4-FFF2-40B4-BE49-F238E27FC236}">
                <a16:creationId xmlns:a16="http://schemas.microsoft.com/office/drawing/2014/main" id="{0872B980-ED42-A5EA-472D-4F0F7C7DD7DB}"/>
              </a:ext>
            </a:extLst>
          </p:cNvPr>
          <p:cNvSpPr txBox="1"/>
          <p:nvPr/>
        </p:nvSpPr>
        <p:spPr>
          <a:xfrm>
            <a:off x="1109709" y="2831977"/>
            <a:ext cx="7039992" cy="3416320"/>
          </a:xfrm>
          <a:prstGeom prst="rect">
            <a:avLst/>
          </a:prstGeom>
          <a:noFill/>
        </p:spPr>
        <p:txBody>
          <a:bodyPr wrap="square" rtlCol="0">
            <a:spAutoFit/>
          </a:bodyPr>
          <a:lstStyle/>
          <a:p>
            <a:r>
              <a:rPr lang="en-GB" dirty="0">
                <a:latin typeface="Lucida Sans Typewriter" panose="020B0509030504030204" pitchFamily="49" charset="0"/>
              </a:rPr>
              <a:t>class </a:t>
            </a:r>
            <a:r>
              <a:rPr lang="en-GB" dirty="0" err="1">
                <a:latin typeface="Lucida Sans Typewriter" panose="020B0509030504030204" pitchFamily="49" charset="0"/>
              </a:rPr>
              <a:t>MyRunnable</a:t>
            </a:r>
            <a:r>
              <a:rPr lang="en-GB" dirty="0">
                <a:latin typeface="Lucida Sans Typewriter" panose="020B0509030504030204" pitchFamily="49" charset="0"/>
              </a:rPr>
              <a:t> implements Runnable {</a:t>
            </a:r>
          </a:p>
          <a:p>
            <a:r>
              <a:rPr lang="en-GB" dirty="0">
                <a:latin typeface="Lucida Sans Typewriter" panose="020B0509030504030204" pitchFamily="49" charset="0"/>
              </a:rPr>
              <a:t>    public void run() {</a:t>
            </a:r>
          </a:p>
          <a:p>
            <a:r>
              <a:rPr lang="en-GB" dirty="0">
                <a:latin typeface="Lucida Sans Typewriter" panose="020B0509030504030204" pitchFamily="49" charset="0"/>
              </a:rPr>
              <a:t>        </a:t>
            </a:r>
            <a:r>
              <a:rPr lang="en-GB" dirty="0">
                <a:solidFill>
                  <a:schemeClr val="bg2">
                    <a:lumMod val="50000"/>
                  </a:schemeClr>
                </a:solidFill>
                <a:latin typeface="Lucida Sans Typewriter" panose="020B0509030504030204" pitchFamily="49" charset="0"/>
              </a:rPr>
              <a:t>// Code to be executed in the thread</a:t>
            </a:r>
          </a:p>
          <a:p>
            <a:r>
              <a:rPr lang="en-GB" dirty="0">
                <a:latin typeface="Lucida Sans Typewriter" panose="020B0509030504030204" pitchFamily="49" charset="0"/>
              </a:rPr>
              <a:t>    }</a:t>
            </a:r>
          </a:p>
          <a:p>
            <a:r>
              <a:rPr lang="en-GB" dirty="0">
                <a:latin typeface="Lucida Sans Typewriter" panose="020B0509030504030204" pitchFamily="49" charset="0"/>
              </a:rPr>
              <a:t>}</a:t>
            </a:r>
          </a:p>
          <a:p>
            <a:endParaRPr lang="en-GB" dirty="0">
              <a:latin typeface="Lucida Sans Typewriter" panose="020B0509030504030204" pitchFamily="49" charset="0"/>
            </a:endParaRPr>
          </a:p>
          <a:p>
            <a:r>
              <a:rPr lang="en-GB" dirty="0">
                <a:solidFill>
                  <a:schemeClr val="bg2">
                    <a:lumMod val="50000"/>
                  </a:schemeClr>
                </a:solidFill>
                <a:latin typeface="Lucida Sans Typewriter" panose="020B0509030504030204" pitchFamily="49" charset="0"/>
              </a:rPr>
              <a:t>// Creating a Runnable and a Thread</a:t>
            </a:r>
          </a:p>
          <a:p>
            <a:r>
              <a:rPr lang="en-GB" dirty="0" err="1">
                <a:latin typeface="Lucida Sans Typewriter" panose="020B0509030504030204" pitchFamily="49" charset="0"/>
              </a:rPr>
              <a:t>MyRunnable</a:t>
            </a:r>
            <a:r>
              <a:rPr lang="en-GB" dirty="0">
                <a:latin typeface="Lucida Sans Typewriter" panose="020B0509030504030204" pitchFamily="49" charset="0"/>
              </a:rPr>
              <a:t> </a:t>
            </a:r>
            <a:r>
              <a:rPr lang="en-GB" dirty="0" err="1">
                <a:solidFill>
                  <a:srgbClr val="FF0000"/>
                </a:solidFill>
                <a:latin typeface="Lucida Sans Typewriter" panose="020B0509030504030204" pitchFamily="49" charset="0"/>
              </a:rPr>
              <a:t>myRunnable</a:t>
            </a:r>
            <a:r>
              <a:rPr lang="en-GB" dirty="0">
                <a:latin typeface="Lucida Sans Typewriter" panose="020B0509030504030204" pitchFamily="49" charset="0"/>
              </a:rPr>
              <a:t> = new </a:t>
            </a:r>
            <a:r>
              <a:rPr lang="en-GB" dirty="0" err="1">
                <a:latin typeface="Lucida Sans Typewriter" panose="020B0509030504030204" pitchFamily="49" charset="0"/>
              </a:rPr>
              <a:t>MyRunnable</a:t>
            </a:r>
            <a:r>
              <a:rPr lang="en-GB" dirty="0">
                <a:latin typeface="Lucida Sans Typewriter" panose="020B0509030504030204" pitchFamily="49" charset="0"/>
              </a:rPr>
              <a:t>();</a:t>
            </a:r>
          </a:p>
          <a:p>
            <a:r>
              <a:rPr lang="en-GB" dirty="0">
                <a:latin typeface="Lucida Sans Typewriter" panose="020B0509030504030204" pitchFamily="49" charset="0"/>
              </a:rPr>
              <a:t>Thread </a:t>
            </a:r>
            <a:r>
              <a:rPr lang="en-GB" dirty="0" err="1">
                <a:latin typeface="Lucida Sans Typewriter" panose="020B0509030504030204" pitchFamily="49" charset="0"/>
              </a:rPr>
              <a:t>myThread</a:t>
            </a:r>
            <a:r>
              <a:rPr lang="en-GB" dirty="0">
                <a:latin typeface="Lucida Sans Typewriter" panose="020B0509030504030204" pitchFamily="49" charset="0"/>
              </a:rPr>
              <a:t> = new Thread(</a:t>
            </a:r>
            <a:r>
              <a:rPr lang="en-GB" dirty="0" err="1">
                <a:solidFill>
                  <a:srgbClr val="FF0000"/>
                </a:solidFill>
                <a:latin typeface="Lucida Sans Typewriter" panose="020B0509030504030204" pitchFamily="49" charset="0"/>
              </a:rPr>
              <a:t>myRunnable</a:t>
            </a:r>
            <a:r>
              <a:rPr lang="en-GB" dirty="0">
                <a:latin typeface="Lucida Sans Typewriter" panose="020B0509030504030204" pitchFamily="49" charset="0"/>
              </a:rPr>
              <a:t>);</a:t>
            </a:r>
          </a:p>
          <a:p>
            <a:endParaRPr lang="en-GB" dirty="0">
              <a:latin typeface="Lucida Sans Typewriter" panose="020B0509030504030204" pitchFamily="49" charset="0"/>
            </a:endParaRPr>
          </a:p>
          <a:p>
            <a:r>
              <a:rPr lang="en-GB" dirty="0">
                <a:solidFill>
                  <a:schemeClr val="bg2">
                    <a:lumMod val="50000"/>
                  </a:schemeClr>
                </a:solidFill>
                <a:latin typeface="Lucida Sans Typewriter" panose="020B0509030504030204" pitchFamily="49" charset="0"/>
              </a:rPr>
              <a:t>// Starting the thread</a:t>
            </a:r>
          </a:p>
          <a:p>
            <a:r>
              <a:rPr lang="en-GB" dirty="0" err="1">
                <a:latin typeface="Lucida Sans Typewriter" panose="020B0509030504030204" pitchFamily="49" charset="0"/>
              </a:rPr>
              <a:t>myThread.start</a:t>
            </a:r>
            <a:r>
              <a:rPr lang="en-GB" dirty="0">
                <a:latin typeface="Lucida Sans Typewriter" panose="020B0509030504030204" pitchFamily="49" charset="0"/>
              </a:rPr>
              <a:t>();</a:t>
            </a:r>
          </a:p>
        </p:txBody>
      </p:sp>
      <p:sp>
        <p:nvSpPr>
          <p:cNvPr id="6" name="TextBox 5">
            <a:extLst>
              <a:ext uri="{FF2B5EF4-FFF2-40B4-BE49-F238E27FC236}">
                <a16:creationId xmlns:a16="http://schemas.microsoft.com/office/drawing/2014/main" id="{029B82F0-DF25-1341-1F93-F7A8EFDE3471}"/>
              </a:ext>
            </a:extLst>
          </p:cNvPr>
          <p:cNvSpPr txBox="1"/>
          <p:nvPr/>
        </p:nvSpPr>
        <p:spPr>
          <a:xfrm>
            <a:off x="7856738" y="2725445"/>
            <a:ext cx="4128116" cy="2554545"/>
          </a:xfrm>
          <a:prstGeom prst="rect">
            <a:avLst/>
          </a:prstGeom>
          <a:noFill/>
        </p:spPr>
        <p:txBody>
          <a:bodyPr wrap="square" rtlCol="0">
            <a:spAutoFit/>
          </a:bodyPr>
          <a:lstStyle/>
          <a:p>
            <a:pPr algn="l"/>
            <a:r>
              <a:rPr lang="en-GB" sz="1600" b="0" i="0" u="none" strike="noStrike" baseline="0" dirty="0">
                <a:solidFill>
                  <a:srgbClr val="333333"/>
                </a:solidFill>
                <a:latin typeface="Lucida Sans Typewriter" panose="020B0509030504030204" pitchFamily="49" charset="0"/>
              </a:rPr>
              <a:t>If you are not extending the Thread class, your class object would not be treated as a</a:t>
            </a:r>
          </a:p>
          <a:p>
            <a:pPr algn="l"/>
            <a:r>
              <a:rPr lang="en-GB" sz="1600" b="0" i="0" u="none" strike="noStrike" baseline="0" dirty="0">
                <a:solidFill>
                  <a:srgbClr val="333333"/>
                </a:solidFill>
                <a:latin typeface="Lucida Sans Typewriter" panose="020B0509030504030204" pitchFamily="49" charset="0"/>
              </a:rPr>
              <a:t>thread object. So you need to explicitly create the Thread class object. We are passing</a:t>
            </a:r>
          </a:p>
          <a:p>
            <a:pPr algn="l"/>
            <a:r>
              <a:rPr lang="en-GB" sz="1600" b="0" i="0" u="none" strike="noStrike" baseline="0" dirty="0">
                <a:solidFill>
                  <a:srgbClr val="333333"/>
                </a:solidFill>
                <a:latin typeface="Lucida Sans Typewriter" panose="020B0509030504030204" pitchFamily="49" charset="0"/>
              </a:rPr>
              <a:t>the object of your class that implements Runnable so that your class run() method may</a:t>
            </a:r>
          </a:p>
          <a:p>
            <a:pPr algn="l"/>
            <a:r>
              <a:rPr lang="en-US" sz="1600" b="0" i="0" u="none" strike="noStrike" baseline="0" dirty="0">
                <a:solidFill>
                  <a:srgbClr val="333333"/>
                </a:solidFill>
                <a:latin typeface="Lucida Sans Typewriter" panose="020B0509030504030204" pitchFamily="49" charset="0"/>
              </a:rPr>
              <a:t>execute.</a:t>
            </a:r>
            <a:endParaRPr lang="en-US" sz="1600" dirty="0">
              <a:latin typeface="Lucida Sans Typewriter" panose="020B0509030504030204" pitchFamily="49" charset="0"/>
            </a:endParaRPr>
          </a:p>
        </p:txBody>
      </p:sp>
    </p:spTree>
    <p:extLst>
      <p:ext uri="{BB962C8B-B14F-4D97-AF65-F5344CB8AC3E}">
        <p14:creationId xmlns:p14="http://schemas.microsoft.com/office/powerpoint/2010/main" val="172800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642891" y="649210"/>
            <a:ext cx="10515600" cy="975403"/>
          </a:xfrm>
        </p:spPr>
        <p:txBody>
          <a:bodyPr>
            <a:normAutofit fontScale="90000"/>
          </a:bodyPr>
          <a:lstStyle/>
          <a:p>
            <a:pPr algn="ctr"/>
            <a:r>
              <a:rPr lang="en-GB" sz="4000" dirty="0">
                <a:latin typeface="Lucida Sans Typewriter" panose="020B0509030504030204" pitchFamily="49" charset="0"/>
              </a:rPr>
              <a:t>Differences between “extending” and “implementing” Thread</a:t>
            </a:r>
            <a:endParaRPr lang="en-US" sz="4000" dirty="0">
              <a:latin typeface="Lucida Sans Typewriter" panose="020B0509030504030204" pitchFamily="49" charset="0"/>
            </a:endParaRPr>
          </a:p>
        </p:txBody>
      </p:sp>
      <p:sp>
        <p:nvSpPr>
          <p:cNvPr id="3" name="Content Placeholder 2">
            <a:extLst>
              <a:ext uri="{FF2B5EF4-FFF2-40B4-BE49-F238E27FC236}">
                <a16:creationId xmlns:a16="http://schemas.microsoft.com/office/drawing/2014/main" id="{1728AF4C-5B93-DB3B-091C-F566FB1B766D}"/>
              </a:ext>
            </a:extLst>
          </p:cNvPr>
          <p:cNvSpPr>
            <a:spLocks noGrp="1"/>
          </p:cNvSpPr>
          <p:nvPr>
            <p:ph idx="1"/>
          </p:nvPr>
        </p:nvSpPr>
        <p:spPr>
          <a:xfrm>
            <a:off x="396536" y="2045698"/>
            <a:ext cx="11398928" cy="2766604"/>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Lucida Sans Typewriter" panose="020B0509030504030204" pitchFamily="49" charset="0"/>
              </a:rPr>
              <a:t>The major difference is that when a class extends the Thread class, you cannot extend any other class, but by implementing the Runnable interface, it is possible to extend from another class as well, like: class </a:t>
            </a:r>
            <a:r>
              <a:rPr kumimoji="0" lang="en-US" altLang="en-US" sz="2000" b="0" i="0" u="none" strike="noStrike" cap="none" normalizeH="0" baseline="0" dirty="0" err="1">
                <a:ln>
                  <a:noFill/>
                </a:ln>
                <a:solidFill>
                  <a:srgbClr val="DC143C"/>
                </a:solidFill>
                <a:effectLst/>
                <a:latin typeface="Lucida Sans Typewriter" panose="020B0509030504030204" pitchFamily="49" charset="0"/>
              </a:rPr>
              <a:t>MyClass</a:t>
            </a:r>
            <a:r>
              <a:rPr kumimoji="0" lang="en-US" altLang="en-US" sz="2000" b="0" i="0" u="none" strike="noStrike" cap="none" normalizeH="0" baseline="0" dirty="0">
                <a:ln>
                  <a:noFill/>
                </a:ln>
                <a:solidFill>
                  <a:srgbClr val="DC143C"/>
                </a:solidFill>
                <a:effectLst/>
                <a:latin typeface="Lucida Sans Typewriter" panose="020B0509030504030204" pitchFamily="49" charset="0"/>
              </a:rPr>
              <a:t> extends </a:t>
            </a:r>
            <a:r>
              <a:rPr kumimoji="0" lang="en-US" altLang="en-US" sz="2000" b="0" i="0" u="none" strike="noStrike" cap="none" normalizeH="0" baseline="0" dirty="0" err="1">
                <a:ln>
                  <a:noFill/>
                </a:ln>
                <a:solidFill>
                  <a:srgbClr val="DC143C"/>
                </a:solidFill>
                <a:effectLst/>
                <a:latin typeface="Lucida Sans Typewriter" panose="020B0509030504030204" pitchFamily="49" charset="0"/>
              </a:rPr>
              <a:t>OtherClass</a:t>
            </a:r>
            <a:r>
              <a:rPr kumimoji="0" lang="en-US" altLang="en-US" sz="2000" b="0" i="0" u="none" strike="noStrike" cap="none" normalizeH="0" baseline="0" dirty="0">
                <a:ln>
                  <a:noFill/>
                </a:ln>
                <a:solidFill>
                  <a:srgbClr val="DC143C"/>
                </a:solidFill>
                <a:effectLst/>
                <a:latin typeface="Lucida Sans Typewriter" panose="020B0509030504030204" pitchFamily="49" charset="0"/>
              </a:rPr>
              <a:t> implements Runnable</a:t>
            </a:r>
            <a:r>
              <a:rPr kumimoji="0" lang="en-US" altLang="en-US" sz="2000" b="0" i="0" u="none" strike="noStrike" cap="none" normalizeH="0" baseline="0" dirty="0">
                <a:ln>
                  <a:noFill/>
                </a:ln>
                <a:solidFill>
                  <a:srgbClr val="000000"/>
                </a:solidFill>
                <a:effectLst/>
                <a:latin typeface="Lucida Sans Typewriter" panose="020B0509030504030204" pitchFamily="49" charset="0"/>
              </a:rPr>
              <a:t>.</a:t>
            </a:r>
            <a:r>
              <a:rPr kumimoji="0" lang="en-US" altLang="en-US" sz="2000" b="0" i="0" u="none" strike="noStrike" cap="none" normalizeH="0" baseline="0" dirty="0">
                <a:ln>
                  <a:noFill/>
                </a:ln>
                <a:solidFill>
                  <a:schemeClr val="tx1"/>
                </a:solidFill>
                <a:effectLst/>
                <a:latin typeface="Lucida Sans Typewriter" panose="020B0509030504030204" pitchFamily="49" charset="0"/>
              </a:rPr>
              <a:t> </a:t>
            </a:r>
          </a:p>
        </p:txBody>
      </p:sp>
    </p:spTree>
    <p:extLst>
      <p:ext uri="{BB962C8B-B14F-4D97-AF65-F5344CB8AC3E}">
        <p14:creationId xmlns:p14="http://schemas.microsoft.com/office/powerpoint/2010/main" val="2632658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536359" y="134306"/>
            <a:ext cx="10515600" cy="584786"/>
          </a:xfrm>
        </p:spPr>
        <p:txBody>
          <a:bodyPr>
            <a:normAutofit/>
          </a:bodyPr>
          <a:lstStyle/>
          <a:p>
            <a:pPr algn="ctr"/>
            <a:r>
              <a:rPr lang="en-GB" sz="3200" dirty="0">
                <a:latin typeface="Lucida Sans Typewriter" panose="020B0509030504030204" pitchFamily="49" charset="0"/>
              </a:rPr>
              <a:t>Exercise-1</a:t>
            </a:r>
            <a:endParaRPr lang="en-US" sz="3200" dirty="0">
              <a:latin typeface="Lucida Sans Typewriter" panose="020B0509030504030204" pitchFamily="49" charset="0"/>
            </a:endParaRPr>
          </a:p>
        </p:txBody>
      </p:sp>
      <p:sp>
        <p:nvSpPr>
          <p:cNvPr id="10" name="TextBox 9">
            <a:extLst>
              <a:ext uri="{FF2B5EF4-FFF2-40B4-BE49-F238E27FC236}">
                <a16:creationId xmlns:a16="http://schemas.microsoft.com/office/drawing/2014/main" id="{326BB5A4-A2B3-5345-6E18-5AD074AA6663}"/>
              </a:ext>
            </a:extLst>
          </p:cNvPr>
          <p:cNvSpPr txBox="1"/>
          <p:nvPr/>
        </p:nvSpPr>
        <p:spPr>
          <a:xfrm>
            <a:off x="473845" y="1252892"/>
            <a:ext cx="10640627" cy="1200329"/>
          </a:xfrm>
          <a:prstGeom prst="rect">
            <a:avLst/>
          </a:prstGeom>
          <a:noFill/>
        </p:spPr>
        <p:txBody>
          <a:bodyPr wrap="square" rtlCol="0">
            <a:spAutoFit/>
          </a:bodyPr>
          <a:lstStyle/>
          <a:p>
            <a:pPr marL="342900" indent="-342900">
              <a:buFont typeface="Arial" panose="020B0604020202020204" pitchFamily="34" charset="0"/>
              <a:buChar char="•"/>
            </a:pPr>
            <a:r>
              <a:rPr lang="en-GB" dirty="0">
                <a:latin typeface="Lucida Sans Typewriter" panose="020B0509030504030204" pitchFamily="49" charset="0"/>
              </a:rPr>
              <a:t>Create a thread class and pass the name of the thread to its constructor </a:t>
            </a:r>
          </a:p>
          <a:p>
            <a:pPr marL="342900" indent="-342900">
              <a:buFont typeface="Arial" panose="020B0604020202020204" pitchFamily="34" charset="0"/>
              <a:buChar char="•"/>
            </a:pPr>
            <a:r>
              <a:rPr lang="en-GB" dirty="0">
                <a:latin typeface="Lucida Sans Typewriter" panose="020B0509030504030204" pitchFamily="49" charset="0"/>
              </a:rPr>
              <a:t>The thread will print “Hello from </a:t>
            </a:r>
            <a:r>
              <a:rPr lang="en-GB" dirty="0" err="1">
                <a:latin typeface="Lucida Sans Typewriter" panose="020B0509030504030204" pitchFamily="49" charset="0"/>
              </a:rPr>
              <a:t>thread_name</a:t>
            </a:r>
            <a:r>
              <a:rPr lang="en-GB" dirty="0">
                <a:latin typeface="Lucida Sans Typewriter" panose="020B0509030504030204" pitchFamily="49" charset="0"/>
              </a:rPr>
              <a:t>”</a:t>
            </a:r>
          </a:p>
          <a:p>
            <a:pPr marL="342900" indent="-342900">
              <a:buFont typeface="Arial" panose="020B0604020202020204" pitchFamily="34" charset="0"/>
              <a:buChar char="•"/>
            </a:pPr>
            <a:r>
              <a:rPr lang="en-GB" dirty="0">
                <a:latin typeface="Lucida Sans Typewriter" panose="020B0509030504030204" pitchFamily="49" charset="0"/>
              </a:rPr>
              <a:t>In main method, Create 2 objects of the thread class and after the threads have terminated print “main is terminating”</a:t>
            </a:r>
          </a:p>
        </p:txBody>
      </p:sp>
      <p:sp>
        <p:nvSpPr>
          <p:cNvPr id="11" name="TextBox 10">
            <a:extLst>
              <a:ext uri="{FF2B5EF4-FFF2-40B4-BE49-F238E27FC236}">
                <a16:creationId xmlns:a16="http://schemas.microsoft.com/office/drawing/2014/main" id="{76ACFA90-DACC-ADDA-592E-5DD3133675FA}"/>
              </a:ext>
            </a:extLst>
          </p:cNvPr>
          <p:cNvSpPr txBox="1"/>
          <p:nvPr/>
        </p:nvSpPr>
        <p:spPr>
          <a:xfrm>
            <a:off x="639192" y="3250618"/>
            <a:ext cx="9206143" cy="230832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33B3"/>
                </a:solidFill>
                <a:effectLst/>
                <a:latin typeface="Lucida Sans Typewriter" panose="020B0509030504030204" pitchFamily="49" charset="0"/>
              </a:rPr>
              <a:t>class </a:t>
            </a:r>
            <a:r>
              <a:rPr kumimoji="0" lang="en-US" altLang="en-US" b="0" i="0" u="none" strike="noStrike" cap="none" normalizeH="0" baseline="0" dirty="0" err="1">
                <a:ln>
                  <a:noFill/>
                </a:ln>
                <a:solidFill>
                  <a:srgbClr val="000000"/>
                </a:solidFill>
                <a:effectLst/>
                <a:latin typeface="Lucida Sans Typewriter" panose="020B0509030504030204" pitchFamily="49" charset="0"/>
              </a:rPr>
              <a:t>myThread</a:t>
            </a:r>
            <a:r>
              <a:rPr kumimoji="0" lang="en-US" altLang="en-US" b="0" i="0" u="none" strike="noStrike" cap="none" normalizeH="0" baseline="0" dirty="0">
                <a:ln>
                  <a:noFill/>
                </a:ln>
                <a:solidFill>
                  <a:srgbClr val="000000"/>
                </a:solidFill>
                <a:effectLst/>
                <a:latin typeface="Lucida Sans Typewriter" panose="020B0509030504030204" pitchFamily="49" charset="0"/>
              </a:rPr>
              <a:t> </a:t>
            </a:r>
            <a:r>
              <a:rPr kumimoji="0" lang="en-US" altLang="en-US" b="0" i="0" u="none" strike="noStrike" cap="none" normalizeH="0" baseline="0" dirty="0">
                <a:ln>
                  <a:noFill/>
                </a:ln>
                <a:solidFill>
                  <a:srgbClr val="0033B3"/>
                </a:solidFill>
                <a:effectLst/>
                <a:latin typeface="Lucida Sans Typewriter" panose="020B0509030504030204" pitchFamily="49" charset="0"/>
              </a:rPr>
              <a:t>extends </a:t>
            </a:r>
            <a:r>
              <a:rPr kumimoji="0" lang="en-US" altLang="en-US" b="0" i="0" u="none" strike="noStrike" cap="none" normalizeH="0" baseline="0" dirty="0">
                <a:ln>
                  <a:noFill/>
                </a:ln>
                <a:solidFill>
                  <a:srgbClr val="000000"/>
                </a:solidFill>
                <a:effectLst/>
                <a:latin typeface="Lucida Sans Typewriter" panose="020B0509030504030204" pitchFamily="49" charset="0"/>
              </a:rPr>
              <a:t>Thread</a:t>
            </a:r>
            <a:r>
              <a:rPr kumimoji="0" lang="en-US" altLang="en-US" b="0" i="0" u="none" strike="noStrike" cap="none" normalizeH="0" baseline="0" dirty="0">
                <a:ln>
                  <a:noFill/>
                </a:ln>
                <a:solidFill>
                  <a:srgbClr val="080808"/>
                </a:solidFill>
                <a:effectLst/>
                <a:latin typeface="Lucida Sans Typewriter" panose="020B0509030504030204" pitchFamily="49" charset="0"/>
              </a:rPr>
              <a:t>{</a:t>
            </a:r>
            <a:br>
              <a:rPr kumimoji="0" lang="en-US" altLang="en-US" b="0" i="0" u="none" strike="noStrike" cap="none" normalizeH="0" baseline="0" dirty="0">
                <a:ln>
                  <a:noFill/>
                </a:ln>
                <a:solidFill>
                  <a:srgbClr val="080808"/>
                </a:solidFill>
                <a:effectLst/>
                <a:latin typeface="Lucida Sans Typewriter" panose="020B0509030504030204" pitchFamily="49" charset="0"/>
              </a:rPr>
            </a:br>
            <a:r>
              <a:rPr kumimoji="0" lang="en-US" altLang="en-US" b="0" i="0" u="none" strike="noStrike" cap="none" normalizeH="0" baseline="0" dirty="0">
                <a:ln>
                  <a:noFill/>
                </a:ln>
                <a:solidFill>
                  <a:srgbClr val="080808"/>
                </a:solidFill>
                <a:effectLst/>
                <a:latin typeface="Lucida Sans Typewriter" panose="020B0509030504030204" pitchFamily="49" charset="0"/>
              </a:rPr>
              <a:t>    </a:t>
            </a:r>
            <a:r>
              <a:rPr kumimoji="0" lang="en-US" altLang="en-US" b="0" i="0" u="none" strike="noStrike" cap="none" normalizeH="0" baseline="0" dirty="0" err="1">
                <a:ln>
                  <a:noFill/>
                </a:ln>
                <a:solidFill>
                  <a:srgbClr val="00627A"/>
                </a:solidFill>
                <a:effectLst/>
                <a:latin typeface="Lucida Sans Typewriter" panose="020B0509030504030204" pitchFamily="49" charset="0"/>
              </a:rPr>
              <a:t>myThread</a:t>
            </a:r>
            <a:r>
              <a:rPr kumimoji="0" lang="en-US" altLang="en-US" b="0" i="0" u="none" strike="noStrike" cap="none" normalizeH="0" baseline="0" dirty="0">
                <a:ln>
                  <a:noFill/>
                </a:ln>
                <a:solidFill>
                  <a:srgbClr val="080808"/>
                </a:solidFill>
                <a:effectLst/>
                <a:latin typeface="Lucida Sans Typewriter" panose="020B0509030504030204" pitchFamily="49" charset="0"/>
              </a:rPr>
              <a:t>(</a:t>
            </a:r>
            <a:r>
              <a:rPr kumimoji="0" lang="en-US" altLang="en-US" b="0" i="0" u="none" strike="noStrike" cap="none" normalizeH="0" baseline="0" dirty="0">
                <a:ln>
                  <a:noFill/>
                </a:ln>
                <a:solidFill>
                  <a:srgbClr val="000000"/>
                </a:solidFill>
                <a:effectLst/>
                <a:latin typeface="Lucida Sans Typewriter" panose="020B0509030504030204" pitchFamily="49" charset="0"/>
              </a:rPr>
              <a:t>String </a:t>
            </a:r>
            <a:r>
              <a:rPr kumimoji="0" lang="en-US" altLang="en-US" b="0" i="0" u="none" strike="noStrike" cap="none" normalizeH="0" baseline="0" dirty="0">
                <a:ln>
                  <a:noFill/>
                </a:ln>
                <a:solidFill>
                  <a:srgbClr val="080808"/>
                </a:solidFill>
                <a:effectLst/>
                <a:latin typeface="Lucida Sans Typewriter" panose="020B0509030504030204" pitchFamily="49" charset="0"/>
              </a:rPr>
              <a:t>name){</a:t>
            </a:r>
            <a:br>
              <a:rPr kumimoji="0" lang="en-US" altLang="en-US" b="0" i="0" u="none" strike="noStrike" cap="none" normalizeH="0" baseline="0" dirty="0">
                <a:ln>
                  <a:noFill/>
                </a:ln>
                <a:solidFill>
                  <a:srgbClr val="080808"/>
                </a:solidFill>
                <a:effectLst/>
                <a:latin typeface="Lucida Sans Typewriter" panose="020B0509030504030204" pitchFamily="49" charset="0"/>
              </a:rPr>
            </a:br>
            <a:r>
              <a:rPr kumimoji="0" lang="en-US" altLang="en-US" b="0" i="0" u="none" strike="noStrike" cap="none" normalizeH="0" baseline="0" dirty="0">
                <a:ln>
                  <a:noFill/>
                </a:ln>
                <a:solidFill>
                  <a:srgbClr val="080808"/>
                </a:solidFill>
                <a:effectLst/>
                <a:latin typeface="Lucida Sans Typewriter" panose="020B0509030504030204" pitchFamily="49" charset="0"/>
              </a:rPr>
              <a:t>        </a:t>
            </a:r>
            <a:r>
              <a:rPr kumimoji="0" lang="en-US" altLang="en-US" b="0" i="0" u="none" strike="noStrike" cap="none" normalizeH="0" baseline="0" dirty="0">
                <a:ln>
                  <a:noFill/>
                </a:ln>
                <a:solidFill>
                  <a:srgbClr val="0033B3"/>
                </a:solidFill>
                <a:effectLst/>
                <a:latin typeface="Lucida Sans Typewriter" panose="020B0509030504030204" pitchFamily="49" charset="0"/>
              </a:rPr>
              <a:t>super</a:t>
            </a:r>
            <a:r>
              <a:rPr kumimoji="0" lang="en-US" altLang="en-US" b="0" i="0" u="none" strike="noStrike" cap="none" normalizeH="0" baseline="0" dirty="0">
                <a:ln>
                  <a:noFill/>
                </a:ln>
                <a:solidFill>
                  <a:srgbClr val="080808"/>
                </a:solidFill>
                <a:effectLst/>
                <a:latin typeface="Lucida Sans Typewriter" panose="020B0509030504030204" pitchFamily="49" charset="0"/>
              </a:rPr>
              <a:t>(name);</a:t>
            </a:r>
            <a:br>
              <a:rPr kumimoji="0" lang="en-US" altLang="en-US" b="0" i="0" u="none" strike="noStrike" cap="none" normalizeH="0" baseline="0" dirty="0">
                <a:ln>
                  <a:noFill/>
                </a:ln>
                <a:solidFill>
                  <a:srgbClr val="080808"/>
                </a:solidFill>
                <a:effectLst/>
                <a:latin typeface="Lucida Sans Typewriter" panose="020B0509030504030204" pitchFamily="49" charset="0"/>
              </a:rPr>
            </a:br>
            <a:r>
              <a:rPr kumimoji="0" lang="en-US" altLang="en-US" b="0" i="0" u="none" strike="noStrike" cap="none" normalizeH="0" baseline="0" dirty="0">
                <a:ln>
                  <a:noFill/>
                </a:ln>
                <a:solidFill>
                  <a:srgbClr val="080808"/>
                </a:solidFill>
                <a:effectLst/>
                <a:latin typeface="Lucida Sans Typewriter" panose="020B0509030504030204" pitchFamily="49" charset="0"/>
              </a:rPr>
              <a:t>    }</a:t>
            </a:r>
            <a:br>
              <a:rPr kumimoji="0" lang="en-US" altLang="en-US" b="0" i="0" u="none" strike="noStrike" cap="none" normalizeH="0" baseline="0" dirty="0">
                <a:ln>
                  <a:noFill/>
                </a:ln>
                <a:solidFill>
                  <a:srgbClr val="080808"/>
                </a:solidFill>
                <a:effectLst/>
                <a:latin typeface="Lucida Sans Typewriter" panose="020B0509030504030204" pitchFamily="49" charset="0"/>
              </a:rPr>
            </a:br>
            <a:r>
              <a:rPr kumimoji="0" lang="en-US" altLang="en-US" b="0" i="0" u="none" strike="noStrike" cap="none" normalizeH="0" baseline="0" dirty="0">
                <a:ln>
                  <a:noFill/>
                </a:ln>
                <a:solidFill>
                  <a:srgbClr val="080808"/>
                </a:solidFill>
                <a:effectLst/>
                <a:latin typeface="Lucida Sans Typewriter" panose="020B0509030504030204" pitchFamily="49" charset="0"/>
              </a:rPr>
              <a:t>    </a:t>
            </a:r>
            <a:r>
              <a:rPr kumimoji="0" lang="en-US" altLang="en-US" b="0" i="0" u="none" strike="noStrike" cap="none" normalizeH="0" baseline="0" dirty="0">
                <a:ln>
                  <a:noFill/>
                </a:ln>
                <a:solidFill>
                  <a:srgbClr val="0033B3"/>
                </a:solidFill>
                <a:effectLst/>
                <a:latin typeface="Lucida Sans Typewriter" panose="020B0509030504030204" pitchFamily="49" charset="0"/>
              </a:rPr>
              <a:t>public void </a:t>
            </a:r>
            <a:r>
              <a:rPr kumimoji="0" lang="en-US" altLang="en-US" b="0" i="0" u="none" strike="noStrike" cap="none" normalizeH="0" baseline="0" dirty="0">
                <a:ln>
                  <a:noFill/>
                </a:ln>
                <a:solidFill>
                  <a:srgbClr val="00627A"/>
                </a:solidFill>
                <a:effectLst/>
                <a:latin typeface="Lucida Sans Typewriter" panose="020B0509030504030204" pitchFamily="49" charset="0"/>
              </a:rPr>
              <a:t>run</a:t>
            </a:r>
            <a:r>
              <a:rPr kumimoji="0" lang="en-US" altLang="en-US" b="0" i="0" u="none" strike="noStrike" cap="none" normalizeH="0" baseline="0" dirty="0">
                <a:ln>
                  <a:noFill/>
                </a:ln>
                <a:solidFill>
                  <a:srgbClr val="080808"/>
                </a:solidFill>
                <a:effectLst/>
                <a:latin typeface="Lucida Sans Typewriter" panose="020B0509030504030204" pitchFamily="49" charset="0"/>
              </a:rPr>
              <a:t>(){</a:t>
            </a:r>
            <a:br>
              <a:rPr kumimoji="0" lang="en-US" altLang="en-US" b="0" i="0" u="none" strike="noStrike" cap="none" normalizeH="0" baseline="0" dirty="0">
                <a:ln>
                  <a:noFill/>
                </a:ln>
                <a:solidFill>
                  <a:srgbClr val="080808"/>
                </a:solidFill>
                <a:effectLst/>
                <a:latin typeface="Lucida Sans Typewriter" panose="020B0509030504030204" pitchFamily="49" charset="0"/>
              </a:rPr>
            </a:br>
            <a:r>
              <a:rPr kumimoji="0" lang="en-US" altLang="en-US" b="0" i="0" u="none" strike="noStrike" cap="none" normalizeH="0" baseline="0" dirty="0">
                <a:ln>
                  <a:noFill/>
                </a:ln>
                <a:solidFill>
                  <a:srgbClr val="080808"/>
                </a:solidFill>
                <a:effectLst/>
                <a:latin typeface="Lucida Sans Typewriter" panose="020B0509030504030204" pitchFamily="49" charset="0"/>
              </a:rPr>
              <a:t>        </a:t>
            </a:r>
            <a:r>
              <a:rPr kumimoji="0" lang="en-US" altLang="en-US" b="0" i="0" u="none" strike="noStrike" cap="none" normalizeH="0" baseline="0" dirty="0" err="1">
                <a:ln>
                  <a:noFill/>
                </a:ln>
                <a:solidFill>
                  <a:srgbClr val="000000"/>
                </a:solidFill>
                <a:effectLst/>
                <a:latin typeface="Lucida Sans Typewriter" panose="020B0509030504030204" pitchFamily="49" charset="0"/>
              </a:rPr>
              <a:t>System</a:t>
            </a:r>
            <a:r>
              <a:rPr kumimoji="0" lang="en-US" altLang="en-US" b="0" i="0" u="none" strike="noStrike" cap="none" normalizeH="0" baseline="0" dirty="0" err="1">
                <a:ln>
                  <a:noFill/>
                </a:ln>
                <a:solidFill>
                  <a:srgbClr val="080808"/>
                </a:solidFill>
                <a:effectLst/>
                <a:latin typeface="Lucida Sans Typewriter" panose="020B0509030504030204" pitchFamily="49" charset="0"/>
              </a:rPr>
              <a:t>.</a:t>
            </a:r>
            <a:r>
              <a:rPr kumimoji="0" lang="en-US" altLang="en-US" b="0" i="1" u="none" strike="noStrike" cap="none" normalizeH="0" baseline="0" dirty="0" err="1">
                <a:ln>
                  <a:noFill/>
                </a:ln>
                <a:solidFill>
                  <a:srgbClr val="871094"/>
                </a:solidFill>
                <a:effectLst/>
                <a:latin typeface="Lucida Sans Typewriter" panose="020B0509030504030204" pitchFamily="49" charset="0"/>
              </a:rPr>
              <a:t>out</a:t>
            </a:r>
            <a:r>
              <a:rPr kumimoji="0" lang="en-US" altLang="en-US" b="0" i="0" u="none" strike="noStrike" cap="none" normalizeH="0" baseline="0" dirty="0" err="1">
                <a:ln>
                  <a:noFill/>
                </a:ln>
                <a:solidFill>
                  <a:srgbClr val="080808"/>
                </a:solidFill>
                <a:effectLst/>
                <a:latin typeface="Lucida Sans Typewriter" panose="020B0509030504030204" pitchFamily="49" charset="0"/>
              </a:rPr>
              <a:t>.println</a:t>
            </a:r>
            <a:r>
              <a:rPr kumimoji="0" lang="en-US" altLang="en-US" b="0" i="0" u="none" strike="noStrike" cap="none" normalizeH="0" baseline="0" dirty="0">
                <a:ln>
                  <a:noFill/>
                </a:ln>
                <a:solidFill>
                  <a:srgbClr val="080808"/>
                </a:solidFill>
                <a:effectLst/>
                <a:latin typeface="Lucida Sans Typewriter" panose="020B0509030504030204" pitchFamily="49" charset="0"/>
              </a:rPr>
              <a:t>(</a:t>
            </a:r>
            <a:r>
              <a:rPr kumimoji="0" lang="en-US" altLang="en-US" b="0" i="0" u="none" strike="noStrike" cap="none" normalizeH="0" baseline="0" dirty="0">
                <a:ln>
                  <a:noFill/>
                </a:ln>
                <a:solidFill>
                  <a:srgbClr val="067D17"/>
                </a:solidFill>
                <a:effectLst/>
                <a:latin typeface="Lucida Sans Typewriter" panose="020B0509030504030204" pitchFamily="49" charset="0"/>
              </a:rPr>
              <a:t>"Hello from "</a:t>
            </a:r>
            <a:r>
              <a:rPr kumimoji="0" lang="en-US" altLang="en-US" b="0" i="0" u="none" strike="noStrike" cap="none" normalizeH="0" baseline="0" dirty="0">
                <a:ln>
                  <a:noFill/>
                </a:ln>
                <a:solidFill>
                  <a:srgbClr val="080808"/>
                </a:solidFill>
                <a:effectLst/>
                <a:latin typeface="Lucida Sans Typewriter" panose="020B0509030504030204" pitchFamily="49" charset="0"/>
              </a:rPr>
              <a:t>+</a:t>
            </a:r>
            <a:r>
              <a:rPr kumimoji="0" lang="en-US" altLang="en-US" b="0" i="0" u="none" strike="noStrike" cap="none" normalizeH="0" baseline="0" dirty="0" err="1">
                <a:ln>
                  <a:noFill/>
                </a:ln>
                <a:solidFill>
                  <a:srgbClr val="080808"/>
                </a:solidFill>
                <a:effectLst/>
                <a:latin typeface="Lucida Sans Typewriter" panose="020B0509030504030204" pitchFamily="49" charset="0"/>
              </a:rPr>
              <a:t>getName</a:t>
            </a:r>
            <a:r>
              <a:rPr kumimoji="0" lang="en-US" altLang="en-US" b="0" i="0" u="none" strike="noStrike" cap="none" normalizeH="0" baseline="0" dirty="0">
                <a:ln>
                  <a:noFill/>
                </a:ln>
                <a:solidFill>
                  <a:srgbClr val="080808"/>
                </a:solidFill>
                <a:effectLst/>
                <a:latin typeface="Lucida Sans Typewriter" panose="020B0509030504030204" pitchFamily="49" charset="0"/>
              </a:rPr>
              <a:t>());</a:t>
            </a:r>
            <a:br>
              <a:rPr kumimoji="0" lang="en-US" altLang="en-US" b="0" i="0" u="none" strike="noStrike" cap="none" normalizeH="0" baseline="0" dirty="0">
                <a:ln>
                  <a:noFill/>
                </a:ln>
                <a:solidFill>
                  <a:srgbClr val="080808"/>
                </a:solidFill>
                <a:effectLst/>
                <a:latin typeface="Lucida Sans Typewriter" panose="020B0509030504030204" pitchFamily="49" charset="0"/>
              </a:rPr>
            </a:br>
            <a:r>
              <a:rPr kumimoji="0" lang="en-US" altLang="en-US" b="0" i="0" u="none" strike="noStrike" cap="none" normalizeH="0" baseline="0" dirty="0">
                <a:ln>
                  <a:noFill/>
                </a:ln>
                <a:solidFill>
                  <a:srgbClr val="080808"/>
                </a:solidFill>
                <a:effectLst/>
                <a:latin typeface="Lucida Sans Typewriter" panose="020B0509030504030204" pitchFamily="49" charset="0"/>
              </a:rPr>
              <a:t>    }</a:t>
            </a:r>
            <a:br>
              <a:rPr kumimoji="0" lang="en-US" altLang="en-US" b="0" i="0" u="none" strike="noStrike" cap="none" normalizeH="0" baseline="0" dirty="0">
                <a:ln>
                  <a:noFill/>
                </a:ln>
                <a:solidFill>
                  <a:srgbClr val="080808"/>
                </a:solidFill>
                <a:effectLst/>
                <a:latin typeface="Lucida Sans Typewriter" panose="020B0509030504030204" pitchFamily="49" charset="0"/>
              </a:rPr>
            </a:br>
            <a:r>
              <a:rPr kumimoji="0" lang="en-US" altLang="en-US" b="0" i="0" u="none" strike="noStrike" cap="none" normalizeH="0" baseline="0" dirty="0">
                <a:ln>
                  <a:noFill/>
                </a:ln>
                <a:solidFill>
                  <a:srgbClr val="080808"/>
                </a:solidFill>
                <a:effectLst/>
                <a:latin typeface="Lucida Sans Typewriter" panose="020B0509030504030204" pitchFamily="49" charset="0"/>
              </a:rPr>
              <a:t>}</a:t>
            </a:r>
            <a:endParaRPr kumimoji="0" lang="en-US" altLang="en-US" sz="2400" b="0" i="0" u="none" strike="noStrike" cap="none" normalizeH="0" baseline="0" dirty="0">
              <a:ln>
                <a:noFill/>
              </a:ln>
              <a:solidFill>
                <a:schemeClr val="tx1"/>
              </a:solidFill>
              <a:effectLst/>
              <a:latin typeface="Lucida Sans Typewriter" panose="020B0509030504030204" pitchFamily="49" charset="0"/>
            </a:endParaRPr>
          </a:p>
        </p:txBody>
      </p:sp>
      <p:sp>
        <p:nvSpPr>
          <p:cNvPr id="12" name="Rectangle 1">
            <a:extLst>
              <a:ext uri="{FF2B5EF4-FFF2-40B4-BE49-F238E27FC236}">
                <a16:creationId xmlns:a16="http://schemas.microsoft.com/office/drawing/2014/main" id="{2566F54F-7EA4-A731-E3DA-CF13EEAD306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918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536359" y="294151"/>
            <a:ext cx="10515600" cy="584786"/>
          </a:xfrm>
        </p:spPr>
        <p:txBody>
          <a:bodyPr>
            <a:normAutofit/>
          </a:bodyPr>
          <a:lstStyle/>
          <a:p>
            <a:pPr algn="ctr"/>
            <a:r>
              <a:rPr lang="en-GB" sz="3200" dirty="0">
                <a:latin typeface="Lucida Sans Typewriter" panose="020B0509030504030204" pitchFamily="49" charset="0"/>
              </a:rPr>
              <a:t>Exercise-1(</a:t>
            </a:r>
            <a:r>
              <a:rPr lang="en-GB" sz="3200" dirty="0" err="1">
                <a:latin typeface="Lucida Sans Typewriter" panose="020B0509030504030204" pitchFamily="49" charset="0"/>
              </a:rPr>
              <a:t>cntd</a:t>
            </a:r>
            <a:r>
              <a:rPr lang="en-GB" sz="3200" dirty="0">
                <a:latin typeface="Lucida Sans Typewriter" panose="020B0509030504030204" pitchFamily="49" charset="0"/>
              </a:rPr>
              <a:t>)</a:t>
            </a:r>
            <a:endParaRPr lang="en-US" sz="3200" dirty="0">
              <a:latin typeface="Lucida Sans Typewriter" panose="020B0509030504030204" pitchFamily="49" charset="0"/>
            </a:endParaRPr>
          </a:p>
        </p:txBody>
      </p:sp>
      <p:sp>
        <p:nvSpPr>
          <p:cNvPr id="11" name="TextBox 10">
            <a:extLst>
              <a:ext uri="{FF2B5EF4-FFF2-40B4-BE49-F238E27FC236}">
                <a16:creationId xmlns:a16="http://schemas.microsoft.com/office/drawing/2014/main" id="{76ACFA90-DACC-ADDA-592E-5DD3133675FA}"/>
              </a:ext>
            </a:extLst>
          </p:cNvPr>
          <p:cNvSpPr txBox="1"/>
          <p:nvPr/>
        </p:nvSpPr>
        <p:spPr>
          <a:xfrm>
            <a:off x="1122287" y="2291964"/>
            <a:ext cx="10365420" cy="329320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33B3"/>
                </a:solidFill>
                <a:effectLst/>
                <a:latin typeface="Lucida Sans Typewriter" panose="020B0509030504030204" pitchFamily="49" charset="0"/>
              </a:rPr>
              <a:t>class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ThreadTest</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public static void </a:t>
            </a:r>
            <a:r>
              <a:rPr kumimoji="0" lang="en-US" altLang="en-US" sz="1600" b="0" i="0" u="none" strike="noStrike" cap="none" normalizeH="0" baseline="0" dirty="0">
                <a:ln>
                  <a:noFill/>
                </a:ln>
                <a:solidFill>
                  <a:srgbClr val="00627A"/>
                </a:solidFill>
                <a:effectLst/>
                <a:latin typeface="Lucida Sans Typewriter" panose="020B0509030504030204" pitchFamily="49" charset="0"/>
              </a:rPr>
              <a:t>main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0000"/>
                </a:solidFill>
                <a:effectLst/>
                <a:latin typeface="Lucida Sans Typewriter" panose="020B0509030504030204" pitchFamily="49" charset="0"/>
              </a:rPr>
              <a:t>String</a:t>
            </a: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args</a:t>
            </a: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throws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InterruptedException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myThread</a:t>
            </a:r>
            <a:r>
              <a:rPr kumimoji="0" lang="en-US" altLang="en-US" sz="1600" b="0" i="0" u="none" strike="noStrike" cap="none" normalizeH="0" baseline="0" dirty="0">
                <a:ln>
                  <a:noFill/>
                </a:ln>
                <a:solidFill>
                  <a:srgbClr val="000000"/>
                </a:solidFill>
                <a:effectLst/>
                <a:latin typeface="Lucida Sans Typewriter" panose="020B0509030504030204" pitchFamily="49" charset="0"/>
              </a:rPr>
              <a:t> thread1</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myThread</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67D17"/>
                </a:solidFill>
                <a:effectLst/>
                <a:latin typeface="Lucida Sans Typewriter" panose="020B0509030504030204" pitchFamily="49" charset="0"/>
              </a:rPr>
              <a:t>"thread 1"</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myThread</a:t>
            </a:r>
            <a:r>
              <a:rPr kumimoji="0" lang="en-US" altLang="en-US" sz="1600" b="0" i="0" u="none" strike="noStrike" cap="none" normalizeH="0" baseline="0" dirty="0">
                <a:ln>
                  <a:noFill/>
                </a:ln>
                <a:solidFill>
                  <a:srgbClr val="000000"/>
                </a:solidFill>
                <a:effectLst/>
                <a:latin typeface="Lucida Sans Typewriter" panose="020B0509030504030204" pitchFamily="49" charset="0"/>
              </a:rPr>
              <a:t> thread2</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myThread</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67D17"/>
                </a:solidFill>
                <a:effectLst/>
                <a:latin typeface="Lucida Sans Typewriter" panose="020B0509030504030204" pitchFamily="49" charset="0"/>
              </a:rPr>
              <a:t>"thread 2"</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1" u="none" strike="noStrike" cap="none" normalizeH="0" baseline="0" dirty="0">
                <a:ln>
                  <a:noFill/>
                </a:ln>
                <a:solidFill>
                  <a:srgbClr val="8C8C8C"/>
                </a:solidFill>
                <a:effectLst/>
                <a:latin typeface="Lucida Sans Typewriter" panose="020B0509030504030204" pitchFamily="49" charset="0"/>
              </a:rPr>
              <a:t>//start the threads</a:t>
            </a:r>
            <a:br>
              <a:rPr kumimoji="0" lang="en-US" altLang="en-US" sz="1600" b="0" i="1" u="none" strike="noStrike" cap="none" normalizeH="0" baseline="0" dirty="0">
                <a:ln>
                  <a:noFill/>
                </a:ln>
                <a:solidFill>
                  <a:srgbClr val="8C8C8C"/>
                </a:solidFill>
                <a:effectLst/>
                <a:latin typeface="Lucida Sans Typewriter" panose="020B0509030504030204" pitchFamily="49" charset="0"/>
              </a:rPr>
            </a:br>
            <a:r>
              <a:rPr kumimoji="0" lang="en-US" altLang="en-US" sz="1600" b="0" i="1" u="none" strike="noStrike" cap="none" normalizeH="0" baseline="0" dirty="0">
                <a:ln>
                  <a:noFill/>
                </a:ln>
                <a:solidFill>
                  <a:srgbClr val="8C8C8C"/>
                </a:solidFill>
                <a:effectLst/>
                <a:latin typeface="Lucida Sans Typewriter" panose="020B0509030504030204" pitchFamily="49" charset="0"/>
              </a:rPr>
              <a:t>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thread1</a:t>
            </a:r>
            <a:r>
              <a:rPr kumimoji="0" lang="en-US" altLang="en-US" sz="1600" b="0" i="0" u="none" strike="noStrike" cap="none" normalizeH="0" baseline="0" dirty="0">
                <a:ln>
                  <a:noFill/>
                </a:ln>
                <a:solidFill>
                  <a:srgbClr val="080808"/>
                </a:solidFill>
                <a:effectLst/>
                <a:latin typeface="Lucida Sans Typewriter" panose="020B0509030504030204" pitchFamily="49" charset="0"/>
              </a:rPr>
              <a:t>.start();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thread2</a:t>
            </a:r>
            <a:r>
              <a:rPr kumimoji="0" lang="en-US" altLang="en-US" sz="1600" b="0" i="0" u="none" strike="noStrike" cap="none" normalizeH="0" baseline="0" dirty="0">
                <a:ln>
                  <a:noFill/>
                </a:ln>
                <a:solidFill>
                  <a:srgbClr val="080808"/>
                </a:solidFill>
                <a:effectLst/>
                <a:latin typeface="Lucida Sans Typewriter" panose="020B0509030504030204" pitchFamily="49" charset="0"/>
              </a:rPr>
              <a:t>.start();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1" u="none" strike="noStrike" cap="none" normalizeH="0" baseline="0" dirty="0">
                <a:ln>
                  <a:noFill/>
                </a:ln>
                <a:solidFill>
                  <a:srgbClr val="8C8C8C"/>
                </a:solidFill>
                <a:effectLst/>
                <a:latin typeface="Lucida Sans Typewriter" panose="020B0509030504030204" pitchFamily="49" charset="0"/>
              </a:rPr>
              <a:t>//wait for the threads to terminate</a:t>
            </a:r>
            <a:br>
              <a:rPr kumimoji="0" lang="en-US" altLang="en-US" sz="1600" b="0" i="1" u="none" strike="noStrike" cap="none" normalizeH="0" baseline="0" dirty="0">
                <a:ln>
                  <a:noFill/>
                </a:ln>
                <a:solidFill>
                  <a:srgbClr val="8C8C8C"/>
                </a:solidFill>
                <a:effectLst/>
                <a:latin typeface="Lucida Sans Typewriter" panose="020B0509030504030204" pitchFamily="49" charset="0"/>
              </a:rPr>
            </a:br>
            <a:r>
              <a:rPr kumimoji="0" lang="en-US" altLang="en-US" sz="1600" b="0" i="1" u="none" strike="noStrike" cap="none" normalizeH="0" baseline="0" dirty="0">
                <a:ln>
                  <a:noFill/>
                </a:ln>
                <a:solidFill>
                  <a:srgbClr val="8C8C8C"/>
                </a:solidFill>
                <a:effectLst/>
                <a:latin typeface="Lucida Sans Typewriter" panose="020B0509030504030204" pitchFamily="49" charset="0"/>
              </a:rPr>
              <a:t>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thread1</a:t>
            </a:r>
            <a:r>
              <a:rPr kumimoji="0" lang="en-US" altLang="en-US" sz="1600" b="0" i="0" u="none" strike="noStrike" cap="none" normalizeH="0" baseline="0" dirty="0">
                <a:ln>
                  <a:noFill/>
                </a:ln>
                <a:solidFill>
                  <a:srgbClr val="080808"/>
                </a:solidFill>
                <a:effectLst/>
                <a:latin typeface="Lucida Sans Typewriter" panose="020B0509030504030204" pitchFamily="49" charset="0"/>
              </a:rPr>
              <a:t>.join();</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thread2</a:t>
            </a:r>
            <a:r>
              <a:rPr kumimoji="0" lang="en-US" altLang="en-US" sz="1600" b="0" i="0" u="none" strike="noStrike" cap="none" normalizeH="0" baseline="0" dirty="0">
                <a:ln>
                  <a:noFill/>
                </a:ln>
                <a:solidFill>
                  <a:srgbClr val="080808"/>
                </a:solidFill>
                <a:effectLst/>
                <a:latin typeface="Lucida Sans Typewriter" panose="020B0509030504030204" pitchFamily="49" charset="0"/>
              </a:rPr>
              <a:t>.join();</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System</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600" b="0" i="1" u="none" strike="noStrike" cap="none" normalizeH="0" baseline="0" dirty="0" err="1">
                <a:ln>
                  <a:noFill/>
                </a:ln>
                <a:solidFill>
                  <a:srgbClr val="871094"/>
                </a:solidFill>
                <a:effectLst/>
                <a:latin typeface="Lucida Sans Typewriter" panose="020B0509030504030204" pitchFamily="49" charset="0"/>
              </a:rPr>
              <a:t>out</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.println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67D17"/>
                </a:solidFill>
                <a:effectLst/>
                <a:latin typeface="Lucida Sans Typewriter" panose="020B0509030504030204" pitchFamily="49" charset="0"/>
              </a:rPr>
              <a:t>"main is terminating"</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endParaRPr kumimoji="0" lang="en-US" altLang="en-US" sz="2000" b="0" i="0" u="none" strike="noStrike" cap="none" normalizeH="0" baseline="0" dirty="0">
              <a:ln>
                <a:noFill/>
              </a:ln>
              <a:solidFill>
                <a:schemeClr val="tx1"/>
              </a:solidFill>
              <a:effectLst/>
              <a:latin typeface="Lucida Sans Typewriter" panose="020B0509030504030204" pitchFamily="49" charset="0"/>
            </a:endParaRPr>
          </a:p>
        </p:txBody>
      </p:sp>
      <p:sp>
        <p:nvSpPr>
          <p:cNvPr id="12" name="Rectangle 1">
            <a:extLst>
              <a:ext uri="{FF2B5EF4-FFF2-40B4-BE49-F238E27FC236}">
                <a16:creationId xmlns:a16="http://schemas.microsoft.com/office/drawing/2014/main" id="{2566F54F-7EA4-A731-E3DA-CF13EEAD306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2446BAAD-16CF-E83D-112D-5408A6A7FF1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700A5195-C6AD-438D-5E1F-753D4ECBCD90}"/>
              </a:ext>
            </a:extLst>
          </p:cNvPr>
          <p:cNvSpPr txBox="1"/>
          <p:nvPr/>
        </p:nvSpPr>
        <p:spPr>
          <a:xfrm>
            <a:off x="3169328" y="1002042"/>
            <a:ext cx="857508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1600" dirty="0">
                <a:latin typeface="Lucida Sans Typewriter" panose="020B0509030504030204" pitchFamily="49" charset="0"/>
              </a:rPr>
              <a:t>You must handle this exception for join method, because the thread(main) calling the join method may get interrupted while waiting for other threads to finish </a:t>
            </a:r>
            <a:endParaRPr lang="en-US" sz="1600" dirty="0">
              <a:latin typeface="Lucida Sans Typewriter" panose="020B0509030504030204" pitchFamily="49" charset="0"/>
            </a:endParaRPr>
          </a:p>
        </p:txBody>
      </p:sp>
      <p:cxnSp>
        <p:nvCxnSpPr>
          <p:cNvPr id="6" name="Straight Arrow Connector 5">
            <a:extLst>
              <a:ext uri="{FF2B5EF4-FFF2-40B4-BE49-F238E27FC236}">
                <a16:creationId xmlns:a16="http://schemas.microsoft.com/office/drawing/2014/main" id="{5D35EDDF-E5B1-7186-B61F-1584705A96D6}"/>
              </a:ext>
            </a:extLst>
          </p:cNvPr>
          <p:cNvCxnSpPr>
            <a:cxnSpLocks/>
          </p:cNvCxnSpPr>
          <p:nvPr/>
        </p:nvCxnSpPr>
        <p:spPr>
          <a:xfrm>
            <a:off x="9259409" y="1833039"/>
            <a:ext cx="0" cy="758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04799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536359" y="134306"/>
            <a:ext cx="10515600" cy="584786"/>
          </a:xfrm>
        </p:spPr>
        <p:txBody>
          <a:bodyPr>
            <a:normAutofit/>
          </a:bodyPr>
          <a:lstStyle/>
          <a:p>
            <a:pPr algn="ctr"/>
            <a:r>
              <a:rPr lang="en-GB" sz="3200" dirty="0">
                <a:latin typeface="Lucida Sans Typewriter" panose="020B0509030504030204" pitchFamily="49" charset="0"/>
              </a:rPr>
              <a:t>Exercise-2</a:t>
            </a:r>
            <a:endParaRPr lang="en-US" sz="3200" dirty="0">
              <a:latin typeface="Lucida Sans Typewriter" panose="020B0509030504030204" pitchFamily="49" charset="0"/>
            </a:endParaRPr>
          </a:p>
        </p:txBody>
      </p:sp>
      <p:sp>
        <p:nvSpPr>
          <p:cNvPr id="10" name="TextBox 9">
            <a:extLst>
              <a:ext uri="{FF2B5EF4-FFF2-40B4-BE49-F238E27FC236}">
                <a16:creationId xmlns:a16="http://schemas.microsoft.com/office/drawing/2014/main" id="{326BB5A4-A2B3-5345-6E18-5AD074AA6663}"/>
              </a:ext>
            </a:extLst>
          </p:cNvPr>
          <p:cNvSpPr txBox="1"/>
          <p:nvPr/>
        </p:nvSpPr>
        <p:spPr>
          <a:xfrm>
            <a:off x="536359" y="1267289"/>
            <a:ext cx="10640627" cy="1477328"/>
          </a:xfrm>
          <a:prstGeom prst="rect">
            <a:avLst/>
          </a:prstGeom>
          <a:noFill/>
        </p:spPr>
        <p:txBody>
          <a:bodyPr wrap="square" rtlCol="0">
            <a:spAutoFit/>
          </a:bodyPr>
          <a:lstStyle/>
          <a:p>
            <a:pPr marL="342900" indent="-342900">
              <a:buFont typeface="Arial" panose="020B0604020202020204" pitchFamily="34" charset="0"/>
              <a:buChar char="•"/>
            </a:pPr>
            <a:r>
              <a:rPr lang="en-GB" dirty="0">
                <a:latin typeface="Lucida Sans Typewriter" panose="020B0509030504030204" pitchFamily="49" charset="0"/>
              </a:rPr>
              <a:t>Create a thread class “</a:t>
            </a:r>
            <a:r>
              <a:rPr lang="en-GB" dirty="0" err="1">
                <a:latin typeface="Lucida Sans Typewriter" panose="020B0509030504030204" pitchFamily="49" charset="0"/>
              </a:rPr>
              <a:t>SumThread</a:t>
            </a:r>
            <a:r>
              <a:rPr lang="en-GB" dirty="0">
                <a:latin typeface="Lucida Sans Typewriter" panose="020B0509030504030204" pitchFamily="49" charset="0"/>
              </a:rPr>
              <a:t>” implementing runnable interface. It takes an array as an argument in the constructor. In its run method, it will compute the sum of the array.</a:t>
            </a:r>
          </a:p>
          <a:p>
            <a:pPr marL="342900" indent="-342900">
              <a:buFont typeface="Arial" panose="020B0604020202020204" pitchFamily="34" charset="0"/>
              <a:buChar char="•"/>
            </a:pPr>
            <a:r>
              <a:rPr lang="en-GB" dirty="0">
                <a:latin typeface="Lucida Sans Typewriter" panose="020B0509030504030204" pitchFamily="49" charset="0"/>
              </a:rPr>
              <a:t>In main method, create an object of the thread and start the thread. Finally, print the sum of array.</a:t>
            </a:r>
          </a:p>
        </p:txBody>
      </p:sp>
      <p:sp>
        <p:nvSpPr>
          <p:cNvPr id="11" name="TextBox 10">
            <a:extLst>
              <a:ext uri="{FF2B5EF4-FFF2-40B4-BE49-F238E27FC236}">
                <a16:creationId xmlns:a16="http://schemas.microsoft.com/office/drawing/2014/main" id="{76ACFA90-DACC-ADDA-592E-5DD3133675FA}"/>
              </a:ext>
            </a:extLst>
          </p:cNvPr>
          <p:cNvSpPr txBox="1"/>
          <p:nvPr/>
        </p:nvSpPr>
        <p:spPr>
          <a:xfrm>
            <a:off x="915139" y="3426779"/>
            <a:ext cx="10261847" cy="255454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33B3"/>
                </a:solidFill>
                <a:effectLst/>
                <a:latin typeface="Lucida Sans Typewriter" panose="020B0509030504030204" pitchFamily="49" charset="0"/>
              </a:rPr>
              <a:t>class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sumThread</a:t>
            </a:r>
            <a:r>
              <a:rPr kumimoji="0" lang="en-US" altLang="en-US" sz="1600" b="0" i="0" u="none" strike="noStrike" cap="none" normalizeH="0" baseline="0" dirty="0">
                <a:ln>
                  <a:noFill/>
                </a:ln>
                <a:solidFill>
                  <a:srgbClr val="000000"/>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implements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Runnable</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600" b="0" i="0" u="none" strike="noStrike" cap="none" normalizeH="0" baseline="0" dirty="0" err="1">
                <a:ln>
                  <a:noFill/>
                </a:ln>
                <a:solidFill>
                  <a:srgbClr val="871094"/>
                </a:solidFill>
                <a:effectLst/>
                <a:latin typeface="Lucida Sans Typewriter" panose="020B0509030504030204" pitchFamily="49" charset="0"/>
              </a:rPr>
              <a:t>arr</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600" b="0" i="0" u="none" strike="noStrike" cap="none" normalizeH="0" baseline="0" dirty="0">
                <a:ln>
                  <a:noFill/>
                </a:ln>
                <a:solidFill>
                  <a:srgbClr val="871094"/>
                </a:solidFill>
                <a:effectLst/>
                <a:latin typeface="Lucida Sans Typewriter" panose="020B0509030504030204" pitchFamily="49" charset="0"/>
              </a:rPr>
              <a:t>sum</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1750EB"/>
                </a:solidFill>
                <a:effectLst/>
                <a:latin typeface="Lucida Sans Typewriter" panose="020B0509030504030204" pitchFamily="49" charset="0"/>
              </a:rPr>
              <a:t>0</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627A"/>
                </a:solidFill>
                <a:effectLst/>
                <a:latin typeface="Lucida Sans Typewriter" panose="020B0509030504030204" pitchFamily="49" charset="0"/>
              </a:rPr>
              <a:t>sumThread</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871094"/>
                </a:solidFill>
                <a:effectLst/>
                <a:latin typeface="Lucida Sans Typewriter" panose="020B0509030504030204" pitchFamily="49" charset="0"/>
              </a:rPr>
              <a:t>arr</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public void </a:t>
            </a:r>
            <a:r>
              <a:rPr kumimoji="0" lang="en-US" altLang="en-US" sz="1600" b="0" i="0" u="none" strike="noStrike" cap="none" normalizeH="0" baseline="0" dirty="0">
                <a:ln>
                  <a:noFill/>
                </a:ln>
                <a:solidFill>
                  <a:srgbClr val="00627A"/>
                </a:solidFill>
                <a:effectLst/>
                <a:latin typeface="Lucida Sans Typewriter" panose="020B0509030504030204" pitchFamily="49" charset="0"/>
              </a:rPr>
              <a:t>run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for</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x</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871094"/>
                </a:solidFill>
                <a:effectLst/>
                <a:latin typeface="Lucida Sans Typewriter" panose="020B0509030504030204" pitchFamily="49" charset="0"/>
              </a:rPr>
              <a:t>arr</a:t>
            </a: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871094"/>
                </a:solidFill>
                <a:effectLst/>
                <a:latin typeface="Lucida Sans Typewriter" panose="020B0509030504030204" pitchFamily="49" charset="0"/>
              </a:rPr>
              <a:t>sum</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0000"/>
                </a:solidFill>
                <a:effectLst/>
                <a:latin typeface="Lucida Sans Typewriter" panose="020B0509030504030204" pitchFamily="49" charset="0"/>
              </a:rPr>
              <a:t>x</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endParaRPr kumimoji="0" lang="en-US" altLang="en-US" sz="2000" b="0" i="0" u="none" strike="noStrike" cap="none" normalizeH="0" baseline="0" dirty="0">
              <a:ln>
                <a:noFill/>
              </a:ln>
              <a:solidFill>
                <a:schemeClr val="tx1"/>
              </a:solidFill>
              <a:effectLst/>
              <a:latin typeface="Lucida Sans Typewriter" panose="020B0509030504030204" pitchFamily="49" charset="0"/>
            </a:endParaRPr>
          </a:p>
        </p:txBody>
      </p:sp>
      <p:sp>
        <p:nvSpPr>
          <p:cNvPr id="12" name="Rectangle 1">
            <a:extLst>
              <a:ext uri="{FF2B5EF4-FFF2-40B4-BE49-F238E27FC236}">
                <a16:creationId xmlns:a16="http://schemas.microsoft.com/office/drawing/2014/main" id="{2566F54F-7EA4-A731-E3DA-CF13EEAD306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68996749-F8BB-FFBA-4817-3865414CAF9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54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536359" y="134306"/>
            <a:ext cx="10515600" cy="584786"/>
          </a:xfrm>
        </p:spPr>
        <p:txBody>
          <a:bodyPr>
            <a:normAutofit/>
          </a:bodyPr>
          <a:lstStyle/>
          <a:p>
            <a:pPr algn="ctr"/>
            <a:r>
              <a:rPr lang="en-GB" sz="3200" dirty="0">
                <a:latin typeface="Lucida Sans Typewriter" panose="020B0509030504030204" pitchFamily="49" charset="0"/>
              </a:rPr>
              <a:t>Exercise-2(</a:t>
            </a:r>
            <a:r>
              <a:rPr lang="en-GB" sz="3200" dirty="0" err="1">
                <a:latin typeface="Lucida Sans Typewriter" panose="020B0509030504030204" pitchFamily="49" charset="0"/>
              </a:rPr>
              <a:t>cntd</a:t>
            </a:r>
            <a:r>
              <a:rPr lang="en-GB" sz="3200" dirty="0">
                <a:latin typeface="Lucida Sans Typewriter" panose="020B0509030504030204" pitchFamily="49" charset="0"/>
              </a:rPr>
              <a:t>)</a:t>
            </a:r>
            <a:endParaRPr lang="en-US" sz="3200" dirty="0">
              <a:latin typeface="Lucida Sans Typewriter" panose="020B0509030504030204" pitchFamily="49" charset="0"/>
            </a:endParaRPr>
          </a:p>
        </p:txBody>
      </p:sp>
      <p:sp>
        <p:nvSpPr>
          <p:cNvPr id="10" name="TextBox 9">
            <a:extLst>
              <a:ext uri="{FF2B5EF4-FFF2-40B4-BE49-F238E27FC236}">
                <a16:creationId xmlns:a16="http://schemas.microsoft.com/office/drawing/2014/main" id="{326BB5A4-A2B3-5345-6E18-5AD074AA6663}"/>
              </a:ext>
            </a:extLst>
          </p:cNvPr>
          <p:cNvSpPr txBox="1"/>
          <p:nvPr/>
        </p:nvSpPr>
        <p:spPr>
          <a:xfrm>
            <a:off x="536359" y="1078679"/>
            <a:ext cx="10640627" cy="1477328"/>
          </a:xfrm>
          <a:prstGeom prst="rect">
            <a:avLst/>
          </a:prstGeom>
          <a:noFill/>
        </p:spPr>
        <p:txBody>
          <a:bodyPr wrap="square" rtlCol="0">
            <a:spAutoFit/>
          </a:bodyPr>
          <a:lstStyle/>
          <a:p>
            <a:pPr marL="342900" indent="-342900">
              <a:buFont typeface="Arial" panose="020B0604020202020204" pitchFamily="34" charset="0"/>
              <a:buChar char="•"/>
            </a:pPr>
            <a:r>
              <a:rPr lang="en-GB" dirty="0">
                <a:latin typeface="Lucida Sans Typewriter" panose="020B0509030504030204" pitchFamily="49" charset="0"/>
              </a:rPr>
              <a:t>Create a thread class “</a:t>
            </a:r>
            <a:r>
              <a:rPr lang="en-GB" dirty="0" err="1">
                <a:latin typeface="Lucida Sans Typewriter" panose="020B0509030504030204" pitchFamily="49" charset="0"/>
              </a:rPr>
              <a:t>SumThread</a:t>
            </a:r>
            <a:r>
              <a:rPr lang="en-GB" dirty="0">
                <a:latin typeface="Lucida Sans Typewriter" panose="020B0509030504030204" pitchFamily="49" charset="0"/>
              </a:rPr>
              <a:t>” implementing runnable interface. It takes an array as an argument in the constructor. In its run method, it will compute the sum of the array.</a:t>
            </a:r>
          </a:p>
          <a:p>
            <a:pPr marL="342900" indent="-342900">
              <a:buFont typeface="Arial" panose="020B0604020202020204" pitchFamily="34" charset="0"/>
              <a:buChar char="•"/>
            </a:pPr>
            <a:r>
              <a:rPr lang="en-GB" dirty="0">
                <a:latin typeface="Lucida Sans Typewriter" panose="020B0509030504030204" pitchFamily="49" charset="0"/>
              </a:rPr>
              <a:t>In main method, create an object of the thread and start the thread. Finally, print the sum of array.</a:t>
            </a:r>
          </a:p>
        </p:txBody>
      </p:sp>
      <p:sp>
        <p:nvSpPr>
          <p:cNvPr id="11" name="TextBox 10">
            <a:extLst>
              <a:ext uri="{FF2B5EF4-FFF2-40B4-BE49-F238E27FC236}">
                <a16:creationId xmlns:a16="http://schemas.microsoft.com/office/drawing/2014/main" id="{76ACFA90-DACC-ADDA-592E-5DD3133675FA}"/>
              </a:ext>
            </a:extLst>
          </p:cNvPr>
          <p:cNvSpPr txBox="1"/>
          <p:nvPr/>
        </p:nvSpPr>
        <p:spPr>
          <a:xfrm>
            <a:off x="667304" y="3224776"/>
            <a:ext cx="10857391" cy="255454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33B3"/>
                </a:solidFill>
                <a:effectLst/>
                <a:latin typeface="Lucida Sans Typewriter" panose="020B0509030504030204" pitchFamily="49" charset="0"/>
              </a:rPr>
              <a:t>class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ArraySum</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public static void </a:t>
            </a:r>
            <a:r>
              <a:rPr kumimoji="0" lang="en-US" altLang="en-US" sz="1600" b="0" i="0" u="none" strike="noStrike" cap="none" normalizeH="0" baseline="0" dirty="0">
                <a:ln>
                  <a:noFill/>
                </a:ln>
                <a:solidFill>
                  <a:srgbClr val="00627A"/>
                </a:solidFill>
                <a:effectLst/>
                <a:latin typeface="Lucida Sans Typewriter" panose="020B0509030504030204" pitchFamily="49" charset="0"/>
              </a:rPr>
              <a:t>main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0000"/>
                </a:solidFill>
                <a:effectLst/>
                <a:latin typeface="Lucida Sans Typewriter" panose="020B0509030504030204" pitchFamily="49" charset="0"/>
              </a:rPr>
              <a:t>String</a:t>
            </a: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args</a:t>
            </a: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throws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InterruptedException</a:t>
            </a:r>
            <a:r>
              <a:rPr kumimoji="0" lang="en-US" altLang="en-US" sz="1600" b="0" i="0" u="none" strike="noStrike" cap="none" normalizeH="0" baseline="0" dirty="0">
                <a:ln>
                  <a:noFill/>
                </a:ln>
                <a:solidFill>
                  <a:srgbClr val="000000"/>
                </a:solidFill>
                <a:effectLst/>
                <a:latin typeface="Lucida Sans Typewriter" panose="020B0509030504030204" pitchFamily="49" charset="0"/>
              </a:rPr>
              <a:t> </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a</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1750EB"/>
                </a:solidFill>
                <a:effectLst/>
                <a:latin typeface="Lucida Sans Typewriter" panose="020B0509030504030204" pitchFamily="49" charset="0"/>
              </a:rPr>
              <a:t>1</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1750EB"/>
                </a:solidFill>
                <a:effectLst/>
                <a:latin typeface="Lucida Sans Typewriter" panose="020B0509030504030204" pitchFamily="49" charset="0"/>
              </a:rPr>
              <a:t>3</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1750EB"/>
                </a:solidFill>
                <a:effectLst/>
                <a:latin typeface="Lucida Sans Typewriter" panose="020B0509030504030204" pitchFamily="49" charset="0"/>
              </a:rPr>
              <a:t>4</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1750EB"/>
                </a:solidFill>
                <a:effectLst/>
                <a:latin typeface="Lucida Sans Typewriter" panose="020B0509030504030204" pitchFamily="49" charset="0"/>
              </a:rPr>
              <a:t>5</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1750EB"/>
                </a:solidFill>
                <a:effectLst/>
                <a:latin typeface="Lucida Sans Typewriter" panose="020B0509030504030204" pitchFamily="49" charset="0"/>
              </a:rPr>
              <a:t>7</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sumThread</a:t>
            </a:r>
            <a:r>
              <a:rPr kumimoji="0" lang="en-US" altLang="en-US" sz="1600" b="0" i="0" u="none" strike="noStrike" cap="none" normalizeH="0" baseline="0" dirty="0">
                <a:ln>
                  <a:noFill/>
                </a:ln>
                <a:solidFill>
                  <a:srgbClr val="000000"/>
                </a:solidFill>
                <a:effectLst/>
                <a:latin typeface="Lucida Sans Typewriter" panose="020B0509030504030204" pitchFamily="49" charset="0"/>
              </a:rPr>
              <a:t> s</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sumThread</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0000"/>
                </a:solidFill>
                <a:effectLst/>
                <a:latin typeface="Lucida Sans Typewriter" panose="020B0509030504030204" pitchFamily="49" charset="0"/>
              </a:rPr>
              <a:t>a</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Thread thread</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600" b="0" i="0" u="none" strike="noStrike" cap="none" normalizeH="0" baseline="0" dirty="0">
                <a:ln>
                  <a:noFill/>
                </a:ln>
                <a:solidFill>
                  <a:srgbClr val="080808"/>
                </a:solidFill>
                <a:effectLst/>
                <a:latin typeface="Lucida Sans Typewriter" panose="020B0509030504030204" pitchFamily="49" charset="0"/>
              </a:rPr>
              <a:t>Thread(</a:t>
            </a:r>
            <a:r>
              <a:rPr kumimoji="0" lang="en-US" altLang="en-US" sz="1600" b="0" i="0" u="none" strike="noStrike" cap="none" normalizeH="0" baseline="0" dirty="0">
                <a:ln>
                  <a:noFill/>
                </a:ln>
                <a:solidFill>
                  <a:srgbClr val="000000"/>
                </a:solidFill>
                <a:effectLst/>
                <a:latin typeface="Lucida Sans Typewriter" panose="020B0509030504030204" pitchFamily="49" charset="0"/>
              </a:rPr>
              <a:t>s</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thread</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.start</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thread</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.join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System</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600" b="0" i="1" u="none" strike="noStrike" cap="none" normalizeH="0" baseline="0" dirty="0" err="1">
                <a:ln>
                  <a:noFill/>
                </a:ln>
                <a:solidFill>
                  <a:srgbClr val="871094"/>
                </a:solidFill>
                <a:effectLst/>
                <a:latin typeface="Lucida Sans Typewriter" panose="020B0509030504030204" pitchFamily="49" charset="0"/>
              </a:rPr>
              <a:t>out</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.println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67D17"/>
                </a:solidFill>
                <a:effectLst/>
                <a:latin typeface="Lucida Sans Typewriter" panose="020B0509030504030204" pitchFamily="49" charset="0"/>
              </a:rPr>
              <a:t>"sum:"</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s</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err="1">
                <a:ln>
                  <a:noFill/>
                </a:ln>
                <a:solidFill>
                  <a:srgbClr val="871094"/>
                </a:solidFill>
                <a:effectLst/>
                <a:latin typeface="Lucida Sans Typewriter" panose="020B0509030504030204" pitchFamily="49" charset="0"/>
              </a:rPr>
              <a:t>sum</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endParaRPr kumimoji="0" lang="en-US" altLang="en-US" sz="2000" b="0" i="0" u="none" strike="noStrike" cap="none" normalizeH="0" baseline="0" dirty="0">
              <a:ln>
                <a:noFill/>
              </a:ln>
              <a:solidFill>
                <a:schemeClr val="tx1"/>
              </a:solidFill>
              <a:effectLst/>
              <a:latin typeface="Lucida Sans Typewriter" panose="020B0509030504030204" pitchFamily="49" charset="0"/>
            </a:endParaRPr>
          </a:p>
        </p:txBody>
      </p:sp>
      <p:sp>
        <p:nvSpPr>
          <p:cNvPr id="12" name="Rectangle 1">
            <a:extLst>
              <a:ext uri="{FF2B5EF4-FFF2-40B4-BE49-F238E27FC236}">
                <a16:creationId xmlns:a16="http://schemas.microsoft.com/office/drawing/2014/main" id="{2566F54F-7EA4-A731-E3DA-CF13EEAD306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68996749-F8BB-FFBA-4817-3865414CAF9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C8458767-06E7-BF27-B87B-39E96DC81144}"/>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272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536359" y="134306"/>
            <a:ext cx="10515600" cy="584786"/>
          </a:xfrm>
        </p:spPr>
        <p:txBody>
          <a:bodyPr>
            <a:normAutofit/>
          </a:bodyPr>
          <a:lstStyle/>
          <a:p>
            <a:pPr algn="ctr"/>
            <a:r>
              <a:rPr lang="en-GB" sz="3200" dirty="0">
                <a:latin typeface="Lucida Sans Typewriter" panose="020B0509030504030204" pitchFamily="49" charset="0"/>
              </a:rPr>
              <a:t>Exercise-3</a:t>
            </a:r>
            <a:endParaRPr lang="en-US" sz="3200" dirty="0">
              <a:latin typeface="Lucida Sans Typewriter" panose="020B0509030504030204" pitchFamily="49" charset="0"/>
            </a:endParaRPr>
          </a:p>
        </p:txBody>
      </p:sp>
      <p:sp>
        <p:nvSpPr>
          <p:cNvPr id="10" name="TextBox 9">
            <a:extLst>
              <a:ext uri="{FF2B5EF4-FFF2-40B4-BE49-F238E27FC236}">
                <a16:creationId xmlns:a16="http://schemas.microsoft.com/office/drawing/2014/main" id="{326BB5A4-A2B3-5345-6E18-5AD074AA6663}"/>
              </a:ext>
            </a:extLst>
          </p:cNvPr>
          <p:cNvSpPr txBox="1"/>
          <p:nvPr/>
        </p:nvSpPr>
        <p:spPr>
          <a:xfrm>
            <a:off x="517863" y="880029"/>
            <a:ext cx="10640627" cy="170059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dirty="0">
                <a:latin typeface="Lucida Sans Typewriter" panose="020B0509030504030204" pitchFamily="49" charset="0"/>
              </a:rPr>
              <a:t>Create a thread class “</a:t>
            </a:r>
            <a:r>
              <a:rPr lang="en-GB" dirty="0" err="1">
                <a:latin typeface="Lucida Sans Typewriter" panose="020B0509030504030204" pitchFamily="49" charset="0"/>
              </a:rPr>
              <a:t>ComputeArraySum</a:t>
            </a:r>
            <a:r>
              <a:rPr lang="en-GB" dirty="0">
                <a:latin typeface="Lucida Sans Typewriter" panose="020B0509030504030204" pitchFamily="49" charset="0"/>
              </a:rPr>
              <a:t>” extending Thread class.</a:t>
            </a:r>
          </a:p>
          <a:p>
            <a:pPr marL="342900" indent="-342900">
              <a:lnSpc>
                <a:spcPct val="150000"/>
              </a:lnSpc>
              <a:buFont typeface="Arial" panose="020B0604020202020204" pitchFamily="34" charset="0"/>
              <a:buChar char="•"/>
            </a:pPr>
            <a:r>
              <a:rPr lang="en-GB" dirty="0">
                <a:latin typeface="Lucida Sans Typewriter" panose="020B0509030504030204" pitchFamily="49" charset="0"/>
              </a:rPr>
              <a:t>In main method, create 2 objects of the thread class. Split the array equally and let the 2 threads compute the sum of half array separately and print the sum in main method.</a:t>
            </a:r>
          </a:p>
        </p:txBody>
      </p:sp>
      <p:sp>
        <p:nvSpPr>
          <p:cNvPr id="12" name="Rectangle 1">
            <a:extLst>
              <a:ext uri="{FF2B5EF4-FFF2-40B4-BE49-F238E27FC236}">
                <a16:creationId xmlns:a16="http://schemas.microsoft.com/office/drawing/2014/main" id="{2566F54F-7EA4-A731-E3DA-CF13EEAD306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BDB58EFF-428B-ABD1-239E-A7A16568BBC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B2F6FDC6-3611-BD78-73B1-D89A18045204}"/>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FECFA7D6-0DB3-6D1A-D917-E92627C08ECC}"/>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A89BD7E2-6048-5216-731C-486EA6245D46}"/>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E1E81556-E7B1-FCBA-B99A-F0996DD1AE46}"/>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134A1026-0FF8-EBB5-5EC4-1EECDB964C87}"/>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4430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A0D98E-4F20-58BA-F0B2-BF30F4035F0D}"/>
              </a:ext>
            </a:extLst>
          </p:cNvPr>
          <p:cNvSpPr txBox="1"/>
          <p:nvPr/>
        </p:nvSpPr>
        <p:spPr>
          <a:xfrm>
            <a:off x="1171852" y="499570"/>
            <a:ext cx="5326601" cy="246221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33B3"/>
                </a:solidFill>
                <a:effectLst/>
                <a:latin typeface="Lucida Sans Typewriter" panose="020B0509030504030204" pitchFamily="49" charset="0"/>
              </a:rPr>
              <a:t>class </a:t>
            </a:r>
            <a:r>
              <a:rPr kumimoji="0" lang="en-US" altLang="en-US" sz="1400" b="0" i="0" u="none" strike="noStrike" cap="none" normalizeH="0" baseline="0" dirty="0" err="1">
                <a:ln>
                  <a:noFill/>
                </a:ln>
                <a:solidFill>
                  <a:srgbClr val="000000"/>
                </a:solidFill>
                <a:effectLst/>
                <a:latin typeface="Lucida Sans Typewriter" panose="020B0509030504030204" pitchFamily="49" charset="0"/>
              </a:rPr>
              <a:t>ComputeArraySum</a:t>
            </a:r>
            <a:r>
              <a:rPr kumimoji="0" lang="en-US" altLang="en-US" sz="1400" b="0" i="0" u="none" strike="noStrike" cap="none" normalizeH="0" baseline="0" dirty="0">
                <a:ln>
                  <a:noFill/>
                </a:ln>
                <a:solidFill>
                  <a:srgbClr val="000000"/>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extends </a:t>
            </a:r>
            <a:r>
              <a:rPr kumimoji="0" lang="en-US" altLang="en-US" sz="1400" b="0" i="0" u="none" strike="noStrike" cap="none" normalizeH="0" baseline="0" dirty="0">
                <a:ln>
                  <a:noFill/>
                </a:ln>
                <a:solidFill>
                  <a:srgbClr val="000000"/>
                </a:solidFill>
                <a:effectLst/>
                <a:latin typeface="Lucida Sans Typewriter" panose="020B0509030504030204" pitchFamily="49" charset="0"/>
              </a:rPr>
              <a:t>Thread </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arr</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public int </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start</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end</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static int </a:t>
            </a:r>
            <a:r>
              <a:rPr kumimoji="0" lang="en-US" altLang="en-US" sz="1400" b="0" i="1" u="none" strike="noStrike" cap="none" normalizeH="0" baseline="0" dirty="0">
                <a:ln>
                  <a:noFill/>
                </a:ln>
                <a:solidFill>
                  <a:srgbClr val="871094"/>
                </a:solidFill>
                <a:effectLst/>
                <a:latin typeface="Lucida Sans Typewriter" panose="020B0509030504030204" pitchFamily="49" charset="0"/>
              </a:rPr>
              <a:t>sum</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0</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err="1">
                <a:ln>
                  <a:noFill/>
                </a:ln>
                <a:solidFill>
                  <a:srgbClr val="00627A"/>
                </a:solidFill>
                <a:effectLst/>
                <a:latin typeface="Lucida Sans Typewriter" panose="020B0509030504030204" pitchFamily="49" charset="0"/>
              </a:rPr>
              <a:t>ComputeArraySum</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a:t>
            </a:r>
            <a:r>
              <a:rPr kumimoji="0" lang="en-US" altLang="en-US" sz="14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s,</a:t>
            </a:r>
            <a:r>
              <a:rPr kumimoji="0" lang="en-US" altLang="en-US" sz="1400" b="0" i="0" u="none" strike="noStrike" cap="none" normalizeH="0" baseline="0" dirty="0" err="1">
                <a:ln>
                  <a:noFill/>
                </a:ln>
                <a:solidFill>
                  <a:srgbClr val="0033B3"/>
                </a:solidFill>
                <a:effectLst/>
                <a:latin typeface="Lucida Sans Typewriter" panose="020B0509030504030204" pitchFamily="49" charset="0"/>
              </a:rPr>
              <a:t>int</a:t>
            </a:r>
            <a:r>
              <a:rPr kumimoji="0" lang="en-US" altLang="en-US" sz="1400" b="0" i="0" u="none" strike="noStrike" cap="none" normalizeH="0" baseline="0" dirty="0">
                <a:ln>
                  <a:noFill/>
                </a:ln>
                <a:solidFill>
                  <a:srgbClr val="0033B3"/>
                </a:solidFill>
                <a:effectLst/>
                <a:latin typeface="Lucida Sans Typewriter" panose="020B0509030504030204" pitchFamily="49" charset="0"/>
              </a:rPr>
              <a:t> </a:t>
            </a:r>
            <a:r>
              <a:rPr kumimoji="0" lang="en-US" altLang="en-US" sz="1400" b="0" i="0" u="none" strike="noStrike" cap="none" normalizeH="0" baseline="0" dirty="0">
                <a:ln>
                  <a:noFill/>
                </a:ln>
                <a:solidFill>
                  <a:srgbClr val="080808"/>
                </a:solidFill>
                <a:effectLst/>
                <a:latin typeface="Lucida Sans Typewriter" panose="020B0509030504030204" pitchFamily="49" charset="0"/>
              </a:rPr>
              <a:t>e){</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arr</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a;</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start</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s;</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end</a:t>
            </a:r>
            <a:r>
              <a:rPr kumimoji="0" lang="en-US" altLang="en-US" sz="1400" b="0" i="0" u="none" strike="noStrike" cap="none" normalizeH="0" baseline="0" dirty="0">
                <a:ln>
                  <a:noFill/>
                </a:ln>
                <a:solidFill>
                  <a:srgbClr val="080808"/>
                </a:solidFill>
                <a:effectLst/>
                <a:latin typeface="Lucida Sans Typewriter" panose="020B0509030504030204" pitchFamily="49" charset="0"/>
              </a:rPr>
              <a:t>=e;</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public void </a:t>
            </a:r>
            <a:r>
              <a:rPr kumimoji="0" lang="en-US" altLang="en-US" sz="1400" b="0" i="0" u="none" strike="noStrike" cap="none" normalizeH="0" baseline="0" dirty="0">
                <a:ln>
                  <a:noFill/>
                </a:ln>
                <a:solidFill>
                  <a:srgbClr val="00627A"/>
                </a:solidFill>
                <a:effectLst/>
                <a:latin typeface="Lucida Sans Typewriter" panose="020B0509030504030204" pitchFamily="49" charset="0"/>
              </a:rPr>
              <a:t>run</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for</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i</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start</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;i</a:t>
            </a:r>
            <a:r>
              <a:rPr kumimoji="0" lang="en-US" altLang="en-US" sz="1400" b="0" i="0" u="none" strike="noStrike" cap="none" normalizeH="0" baseline="0" dirty="0">
                <a:ln>
                  <a:noFill/>
                </a:ln>
                <a:solidFill>
                  <a:srgbClr val="080808"/>
                </a:solidFill>
                <a:effectLst/>
                <a:latin typeface="Lucida Sans Typewriter" panose="020B0509030504030204" pitchFamily="49" charset="0"/>
              </a:rPr>
              <a:t>&lt;=</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end</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;i</a:t>
            </a: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1" u="none" strike="noStrike" cap="none" normalizeH="0" baseline="0" dirty="0">
                <a:ln>
                  <a:noFill/>
                </a:ln>
                <a:solidFill>
                  <a:srgbClr val="871094"/>
                </a:solidFill>
                <a:effectLst/>
                <a:latin typeface="Lucida Sans Typewriter" panose="020B0509030504030204" pitchFamily="49" charset="0"/>
              </a:rPr>
              <a:t>sum</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arr</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i</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endParaRPr kumimoji="0" lang="en-US" altLang="en-US" b="0" i="0" u="none" strike="noStrike" cap="none" normalizeH="0" baseline="0" dirty="0">
              <a:ln>
                <a:noFill/>
              </a:ln>
              <a:solidFill>
                <a:schemeClr val="tx1"/>
              </a:solidFill>
              <a:effectLst/>
              <a:latin typeface="Lucida Sans Typewriter" panose="020B0509030504030204" pitchFamily="49" charset="0"/>
            </a:endParaRPr>
          </a:p>
        </p:txBody>
      </p:sp>
      <p:sp>
        <p:nvSpPr>
          <p:cNvPr id="3" name="TextBox 2">
            <a:extLst>
              <a:ext uri="{FF2B5EF4-FFF2-40B4-BE49-F238E27FC236}">
                <a16:creationId xmlns:a16="http://schemas.microsoft.com/office/drawing/2014/main" id="{B039D1E8-1813-F8AC-120C-1A07D03CADB3}"/>
              </a:ext>
            </a:extLst>
          </p:cNvPr>
          <p:cNvSpPr txBox="1"/>
          <p:nvPr/>
        </p:nvSpPr>
        <p:spPr>
          <a:xfrm>
            <a:off x="1441143" y="3344988"/>
            <a:ext cx="9141040" cy="267765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33B3"/>
                </a:solidFill>
                <a:effectLst/>
                <a:latin typeface="Lucida Sans Typewriter" panose="020B0509030504030204" pitchFamily="49" charset="0"/>
              </a:rPr>
              <a:t>class </a:t>
            </a:r>
            <a:r>
              <a:rPr kumimoji="0" lang="en-US" altLang="en-US" sz="1400" b="0" i="0" u="none" strike="noStrike" cap="none" normalizeH="0" baseline="0" dirty="0" err="1">
                <a:ln>
                  <a:noFill/>
                </a:ln>
                <a:solidFill>
                  <a:srgbClr val="000000"/>
                </a:solidFill>
                <a:effectLst/>
                <a:latin typeface="Lucida Sans Typewriter" panose="020B0509030504030204" pitchFamily="49" charset="0"/>
              </a:rPr>
              <a:t>ComputeSum</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public static void </a:t>
            </a:r>
            <a:r>
              <a:rPr kumimoji="0" lang="en-US" altLang="en-US" sz="1400" b="0" i="0" u="none" strike="noStrike" cap="none" normalizeH="0" baseline="0" dirty="0">
                <a:ln>
                  <a:noFill/>
                </a:ln>
                <a:solidFill>
                  <a:srgbClr val="00627A"/>
                </a:solidFill>
                <a:effectLst/>
                <a:latin typeface="Lucida Sans Typewriter" panose="020B0509030504030204" pitchFamily="49" charset="0"/>
              </a:rPr>
              <a:t>main</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00000"/>
                </a:solidFill>
                <a:effectLst/>
                <a:latin typeface="Lucida Sans Typewriter" panose="020B0509030504030204" pitchFamily="49" charset="0"/>
              </a:rPr>
              <a:t>String</a:t>
            </a: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args</a:t>
            </a: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throws </a:t>
            </a:r>
            <a:r>
              <a:rPr kumimoji="0" lang="en-US" altLang="en-US" sz="1400" b="0" i="0" u="none" strike="noStrike" cap="none" normalizeH="0" baseline="0" dirty="0" err="1">
                <a:ln>
                  <a:noFill/>
                </a:ln>
                <a:solidFill>
                  <a:srgbClr val="000000"/>
                </a:solidFill>
                <a:effectLst/>
                <a:latin typeface="Lucida Sans Typewriter" panose="020B0509030504030204" pitchFamily="49" charset="0"/>
              </a:rPr>
              <a:t>InterruptedException</a:t>
            </a:r>
            <a:r>
              <a:rPr kumimoji="0" lang="en-US" altLang="en-US" sz="1400" b="0" i="0" u="none" strike="noStrike" cap="none" normalizeH="0" baseline="0" dirty="0">
                <a:ln>
                  <a:noFill/>
                </a:ln>
                <a:solidFill>
                  <a:srgbClr val="000000"/>
                </a:solidFill>
                <a:effectLst/>
                <a:latin typeface="Lucida Sans Typewriter" panose="020B0509030504030204" pitchFamily="49" charset="0"/>
              </a:rPr>
              <a:t> </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400" b="0" i="0" u="none" strike="noStrike" cap="none" normalizeH="0" baseline="0" dirty="0">
                <a:ln>
                  <a:noFill/>
                </a:ln>
                <a:solidFill>
                  <a:srgbClr val="000000"/>
                </a:solidFill>
                <a:effectLst/>
                <a:latin typeface="Lucida Sans Typewriter" panose="020B0509030504030204" pitchFamily="49" charset="0"/>
              </a:rPr>
              <a:t>a</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1</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3</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4</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4</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2</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5</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7</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err="1">
                <a:ln>
                  <a:noFill/>
                </a:ln>
                <a:solidFill>
                  <a:srgbClr val="000000"/>
                </a:solidFill>
                <a:effectLst/>
                <a:latin typeface="Lucida Sans Typewriter" panose="020B0509030504030204" pitchFamily="49" charset="0"/>
              </a:rPr>
              <a:t>ComputeArraySum</a:t>
            </a:r>
            <a:r>
              <a:rPr kumimoji="0" lang="en-US" altLang="en-US" sz="1400" b="0" i="0" u="none" strike="noStrike" cap="none" normalizeH="0" baseline="0" dirty="0">
                <a:ln>
                  <a:noFill/>
                </a:ln>
                <a:solidFill>
                  <a:srgbClr val="000000"/>
                </a:solidFill>
                <a:effectLst/>
                <a:latin typeface="Lucida Sans Typewriter" panose="020B0509030504030204" pitchFamily="49" charset="0"/>
              </a:rPr>
              <a:t> c1</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ComputeArraySum</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00000"/>
                </a:solidFill>
                <a:effectLst/>
                <a:latin typeface="Lucida Sans Typewriter" panose="020B0509030504030204" pitchFamily="49" charset="0"/>
              </a:rPr>
              <a:t>a</a:t>
            </a: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1750EB"/>
                </a:solidFill>
                <a:effectLst/>
                <a:latin typeface="Lucida Sans Typewriter" panose="020B0509030504030204" pitchFamily="49" charset="0"/>
              </a:rPr>
              <a:t>0</a:t>
            </a: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err="1">
                <a:ln>
                  <a:noFill/>
                </a:ln>
                <a:solidFill>
                  <a:srgbClr val="000000"/>
                </a:solidFill>
                <a:effectLst/>
                <a:latin typeface="Lucida Sans Typewriter" panose="020B0509030504030204" pitchFamily="49" charset="0"/>
              </a:rPr>
              <a:t>a</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length</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2</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err="1">
                <a:ln>
                  <a:noFill/>
                </a:ln>
                <a:solidFill>
                  <a:srgbClr val="000000"/>
                </a:solidFill>
                <a:effectLst/>
                <a:latin typeface="Lucida Sans Typewriter" panose="020B0509030504030204" pitchFamily="49" charset="0"/>
              </a:rPr>
              <a:t>ComputeArraySum</a:t>
            </a:r>
            <a:r>
              <a:rPr kumimoji="0" lang="en-US" altLang="en-US" sz="1400" b="0" i="0" u="none" strike="noStrike" cap="none" normalizeH="0" baseline="0" dirty="0">
                <a:ln>
                  <a:noFill/>
                </a:ln>
                <a:solidFill>
                  <a:srgbClr val="000000"/>
                </a:solidFill>
                <a:effectLst/>
                <a:latin typeface="Lucida Sans Typewriter" panose="020B0509030504030204" pitchFamily="49" charset="0"/>
              </a:rPr>
              <a:t> c2</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ComputeArraySum</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00000"/>
                </a:solidFill>
                <a:effectLst/>
                <a:latin typeface="Lucida Sans Typewriter" panose="020B0509030504030204" pitchFamily="49" charset="0"/>
              </a:rPr>
              <a:t>a</a:t>
            </a: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err="1">
                <a:ln>
                  <a:noFill/>
                </a:ln>
                <a:solidFill>
                  <a:srgbClr val="000000"/>
                </a:solidFill>
                <a:effectLst/>
                <a:latin typeface="Lucida Sans Typewriter" panose="020B0509030504030204" pitchFamily="49" charset="0"/>
              </a:rPr>
              <a:t>a</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err="1">
                <a:ln>
                  <a:noFill/>
                </a:ln>
                <a:solidFill>
                  <a:srgbClr val="871094"/>
                </a:solidFill>
                <a:effectLst/>
                <a:latin typeface="Lucida Sans Typewriter" panose="020B0509030504030204" pitchFamily="49" charset="0"/>
              </a:rPr>
              <a:t>length</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2</a:t>
            </a:r>
            <a:r>
              <a:rPr kumimoji="0" lang="en-US" altLang="en-US" sz="1400" b="0" i="0" u="none" strike="noStrike" cap="none" normalizeH="0" baseline="0" dirty="0">
                <a:ln>
                  <a:noFill/>
                </a:ln>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 </a:t>
            </a: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1750EB"/>
                </a:solidFill>
                <a:effectLst/>
                <a:latin typeface="Lucida Sans Typewriter" panose="020B0509030504030204" pitchFamily="49" charset="0"/>
              </a:rPr>
              <a:t>1 </a:t>
            </a: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0000"/>
                </a:solidFill>
                <a:effectLst/>
                <a:latin typeface="Lucida Sans Typewriter" panose="020B0509030504030204" pitchFamily="49" charset="0"/>
              </a:rPr>
              <a:t>a</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871094"/>
                </a:solidFill>
                <a:effectLst/>
                <a:latin typeface="Lucida Sans Typewriter" panose="020B0509030504030204" pitchFamily="49" charset="0"/>
              </a:rPr>
              <a:t>length</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1750EB"/>
                </a:solidFill>
                <a:effectLst/>
                <a:latin typeface="Lucida Sans Typewriter" panose="020B0509030504030204" pitchFamily="49" charset="0"/>
              </a:rPr>
              <a:t>1</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0000"/>
                </a:solidFill>
                <a:effectLst/>
                <a:latin typeface="Lucida Sans Typewriter" panose="020B0509030504030204" pitchFamily="49" charset="0"/>
              </a:rPr>
              <a:t>c1</a:t>
            </a:r>
            <a:r>
              <a:rPr kumimoji="0" lang="en-US" altLang="en-US" sz="1400" b="0" i="0" u="none" strike="noStrike" cap="none" normalizeH="0" baseline="0" dirty="0">
                <a:ln>
                  <a:noFill/>
                </a:ln>
                <a:solidFill>
                  <a:srgbClr val="080808"/>
                </a:solidFill>
                <a:effectLst/>
                <a:latin typeface="Lucida Sans Typewriter" panose="020B0509030504030204" pitchFamily="49" charset="0"/>
              </a:rPr>
              <a:t>.start();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0000"/>
                </a:solidFill>
                <a:effectLst/>
                <a:latin typeface="Lucida Sans Typewriter" panose="020B0509030504030204" pitchFamily="49" charset="0"/>
              </a:rPr>
              <a:t>c2</a:t>
            </a:r>
            <a:r>
              <a:rPr kumimoji="0" lang="en-US" altLang="en-US" sz="1400" b="0" i="0" u="none" strike="noStrike" cap="none" normalizeH="0" baseline="0" dirty="0">
                <a:ln>
                  <a:noFill/>
                </a:ln>
                <a:solidFill>
                  <a:srgbClr val="080808"/>
                </a:solidFill>
                <a:effectLst/>
                <a:latin typeface="Lucida Sans Typewriter" panose="020B0509030504030204" pitchFamily="49" charset="0"/>
              </a:rPr>
              <a:t>.start();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0000"/>
                </a:solidFill>
                <a:effectLst/>
                <a:latin typeface="Lucida Sans Typewriter" panose="020B0509030504030204" pitchFamily="49" charset="0"/>
              </a:rPr>
              <a:t>c1</a:t>
            </a:r>
            <a:r>
              <a:rPr kumimoji="0" lang="en-US" altLang="en-US" sz="1400" b="0" i="0" u="none" strike="noStrike" cap="none" normalizeH="0" baseline="0" dirty="0">
                <a:ln>
                  <a:noFill/>
                </a:ln>
                <a:solidFill>
                  <a:srgbClr val="080808"/>
                </a:solidFill>
                <a:effectLst/>
                <a:latin typeface="Lucida Sans Typewriter" panose="020B0509030504030204" pitchFamily="49" charset="0"/>
              </a:rPr>
              <a:t>.join();</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a:ln>
                  <a:noFill/>
                </a:ln>
                <a:solidFill>
                  <a:srgbClr val="000000"/>
                </a:solidFill>
                <a:effectLst/>
                <a:latin typeface="Lucida Sans Typewriter" panose="020B0509030504030204" pitchFamily="49" charset="0"/>
              </a:rPr>
              <a:t>c2</a:t>
            </a:r>
            <a:r>
              <a:rPr kumimoji="0" lang="en-US" altLang="en-US" sz="1400" b="0" i="0" u="none" strike="noStrike" cap="none" normalizeH="0" baseline="0" dirty="0">
                <a:ln>
                  <a:noFill/>
                </a:ln>
                <a:solidFill>
                  <a:srgbClr val="080808"/>
                </a:solidFill>
                <a:effectLst/>
                <a:latin typeface="Lucida Sans Typewriter" panose="020B0509030504030204" pitchFamily="49" charset="0"/>
              </a:rPr>
              <a:t>.join();</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r>
              <a:rPr kumimoji="0" lang="en-US" altLang="en-US" sz="1400" b="0" i="0" u="none" strike="noStrike" cap="none" normalizeH="0" baseline="0" dirty="0" err="1">
                <a:ln>
                  <a:noFill/>
                </a:ln>
                <a:solidFill>
                  <a:srgbClr val="000000"/>
                </a:solidFill>
                <a:effectLst/>
                <a:latin typeface="Lucida Sans Typewriter" panose="020B0509030504030204" pitchFamily="49" charset="0"/>
              </a:rPr>
              <a:t>System</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400" b="0" i="1" u="none" strike="noStrike" cap="none" normalizeH="0" baseline="0" dirty="0" err="1">
                <a:ln>
                  <a:noFill/>
                </a:ln>
                <a:solidFill>
                  <a:srgbClr val="871094"/>
                </a:solidFill>
                <a:effectLst/>
                <a:latin typeface="Lucida Sans Typewriter" panose="020B0509030504030204" pitchFamily="49" charset="0"/>
              </a:rPr>
              <a:t>out</a:t>
            </a:r>
            <a:r>
              <a:rPr kumimoji="0" lang="en-US" altLang="en-US" sz="1400" b="0" i="0" u="none" strike="noStrike" cap="none" normalizeH="0" baseline="0" dirty="0" err="1">
                <a:ln>
                  <a:noFill/>
                </a:ln>
                <a:solidFill>
                  <a:srgbClr val="080808"/>
                </a:solidFill>
                <a:effectLst/>
                <a:latin typeface="Lucida Sans Typewriter" panose="020B0509030504030204" pitchFamily="49" charset="0"/>
              </a:rPr>
              <a:t>.println</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67D17"/>
                </a:solidFill>
                <a:effectLst/>
                <a:latin typeface="Lucida Sans Typewriter" panose="020B0509030504030204" pitchFamily="49" charset="0"/>
              </a:rPr>
              <a:t>"sum: "</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0" u="none" strike="noStrike" cap="none" normalizeH="0" baseline="0" dirty="0">
                <a:ln>
                  <a:noFill/>
                </a:ln>
                <a:solidFill>
                  <a:srgbClr val="000000"/>
                </a:solidFill>
                <a:effectLst/>
                <a:latin typeface="Lucida Sans Typewriter" panose="020B0509030504030204" pitchFamily="49" charset="0"/>
              </a:rPr>
              <a:t>c1</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r>
              <a:rPr kumimoji="0" lang="en-US" altLang="en-US" sz="1400" b="0" i="1" u="none" strike="noStrike" cap="none" normalizeH="0" baseline="0" dirty="0">
                <a:ln>
                  <a:noFill/>
                </a:ln>
                <a:solidFill>
                  <a:srgbClr val="871094"/>
                </a:solidFill>
                <a:effectLst/>
                <a:latin typeface="Lucida Sans Typewriter" panose="020B0509030504030204" pitchFamily="49" charset="0"/>
              </a:rPr>
              <a:t>sum</a:t>
            </a: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400" b="0" i="0" u="none" strike="noStrike" cap="none" normalizeH="0" baseline="0" dirty="0">
                <a:ln>
                  <a:noFill/>
                </a:ln>
                <a:solidFill>
                  <a:srgbClr val="080808"/>
                </a:solidFill>
                <a:effectLst/>
                <a:latin typeface="Lucida Sans Typewriter" panose="020B0509030504030204" pitchFamily="49" charset="0"/>
              </a:rPr>
            </a:br>
            <a:r>
              <a:rPr kumimoji="0" lang="en-US" altLang="en-US" sz="1400" b="0" i="0" u="none" strike="noStrike" cap="none" normalizeH="0" baseline="0" dirty="0">
                <a:ln>
                  <a:noFill/>
                </a:ln>
                <a:solidFill>
                  <a:srgbClr val="080808"/>
                </a:solidFill>
                <a:effectLst/>
                <a:latin typeface="Lucida Sans Typewriter" panose="020B0509030504030204" pitchFamily="49" charset="0"/>
              </a:rPr>
              <a:t>}</a:t>
            </a:r>
            <a:endParaRPr kumimoji="0" lang="en-US" altLang="en-US" b="0" i="0" u="none" strike="noStrike" cap="none" normalizeH="0" baseline="0" dirty="0">
              <a:ln>
                <a:noFill/>
              </a:ln>
              <a:solidFill>
                <a:schemeClr val="tx1"/>
              </a:solidFill>
              <a:effectLst/>
              <a:latin typeface="Lucida Sans Typewriter" panose="020B0509030504030204" pitchFamily="49" charset="0"/>
            </a:endParaRPr>
          </a:p>
        </p:txBody>
      </p:sp>
      <p:sp>
        <p:nvSpPr>
          <p:cNvPr id="4" name="TextBox 3">
            <a:extLst>
              <a:ext uri="{FF2B5EF4-FFF2-40B4-BE49-F238E27FC236}">
                <a16:creationId xmlns:a16="http://schemas.microsoft.com/office/drawing/2014/main" id="{E1BCEE99-6507-A391-1529-298A8BCA28A4}"/>
              </a:ext>
            </a:extLst>
          </p:cNvPr>
          <p:cNvSpPr txBox="1"/>
          <p:nvPr/>
        </p:nvSpPr>
        <p:spPr>
          <a:xfrm>
            <a:off x="7617041" y="763480"/>
            <a:ext cx="4119239" cy="523220"/>
          </a:xfrm>
          <a:prstGeom prst="rect">
            <a:avLst/>
          </a:prstGeom>
          <a:noFill/>
          <a:ln w="3175">
            <a:solidFill>
              <a:schemeClr val="tx1"/>
            </a:solidFill>
          </a:ln>
        </p:spPr>
        <p:txBody>
          <a:bodyPr wrap="square" rtlCol="0">
            <a:spAutoFit/>
          </a:bodyPr>
          <a:lstStyle/>
          <a:p>
            <a:r>
              <a:rPr lang="en-GB" sz="1400" dirty="0">
                <a:latin typeface="Lucida Sans Typewriter" panose="020B0509030504030204" pitchFamily="49" charset="0"/>
              </a:rPr>
              <a:t>Passing the start and end index to the constructor</a:t>
            </a:r>
            <a:endParaRPr lang="en-US" sz="1400" dirty="0">
              <a:latin typeface="Lucida Sans Typewriter" panose="020B0509030504030204" pitchFamily="49" charset="0"/>
            </a:endParaRPr>
          </a:p>
        </p:txBody>
      </p:sp>
      <p:sp>
        <p:nvSpPr>
          <p:cNvPr id="5" name="TextBox 4">
            <a:extLst>
              <a:ext uri="{FF2B5EF4-FFF2-40B4-BE49-F238E27FC236}">
                <a16:creationId xmlns:a16="http://schemas.microsoft.com/office/drawing/2014/main" id="{0F53F9E7-6403-D81F-C33E-596F63B59AC3}"/>
              </a:ext>
            </a:extLst>
          </p:cNvPr>
          <p:cNvSpPr txBox="1"/>
          <p:nvPr/>
        </p:nvSpPr>
        <p:spPr>
          <a:xfrm>
            <a:off x="7617041" y="4804300"/>
            <a:ext cx="4119239" cy="523220"/>
          </a:xfrm>
          <a:prstGeom prst="rect">
            <a:avLst/>
          </a:prstGeom>
          <a:noFill/>
          <a:ln w="3175">
            <a:solidFill>
              <a:schemeClr val="tx1"/>
            </a:solidFill>
          </a:ln>
        </p:spPr>
        <p:txBody>
          <a:bodyPr wrap="square" rtlCol="0">
            <a:spAutoFit/>
          </a:bodyPr>
          <a:lstStyle/>
          <a:p>
            <a:r>
              <a:rPr lang="en-GB" sz="1400" dirty="0">
                <a:latin typeface="Lucida Sans Typewriter" panose="020B0509030504030204" pitchFamily="49" charset="0"/>
              </a:rPr>
              <a:t>Splitting the array into 2 equal portion</a:t>
            </a:r>
            <a:endParaRPr lang="en-US" sz="1400" dirty="0">
              <a:latin typeface="Lucida Sans Typewriter" panose="020B0509030504030204" pitchFamily="49" charset="0"/>
            </a:endParaRPr>
          </a:p>
        </p:txBody>
      </p:sp>
      <p:cxnSp>
        <p:nvCxnSpPr>
          <p:cNvPr id="7" name="Straight Arrow Connector 6">
            <a:extLst>
              <a:ext uri="{FF2B5EF4-FFF2-40B4-BE49-F238E27FC236}">
                <a16:creationId xmlns:a16="http://schemas.microsoft.com/office/drawing/2014/main" id="{B2225843-5F6D-45C7-D2DF-D74C51925D15}"/>
              </a:ext>
            </a:extLst>
          </p:cNvPr>
          <p:cNvCxnSpPr>
            <a:stCxn id="4" idx="1"/>
          </p:cNvCxnSpPr>
          <p:nvPr/>
        </p:nvCxnSpPr>
        <p:spPr>
          <a:xfrm flipH="1">
            <a:off x="4474346" y="1025090"/>
            <a:ext cx="3142695" cy="3509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EB5849CA-F5AF-B65A-E96A-6FF3368C98A9}"/>
              </a:ext>
            </a:extLst>
          </p:cNvPr>
          <p:cNvCxnSpPr>
            <a:stCxn id="5" idx="1"/>
          </p:cNvCxnSpPr>
          <p:nvPr/>
        </p:nvCxnSpPr>
        <p:spPr>
          <a:xfrm flipH="1" flipV="1">
            <a:off x="6915705" y="4527612"/>
            <a:ext cx="701336" cy="5382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Left Brace 9">
            <a:extLst>
              <a:ext uri="{FF2B5EF4-FFF2-40B4-BE49-F238E27FC236}">
                <a16:creationId xmlns:a16="http://schemas.microsoft.com/office/drawing/2014/main" id="{8400840F-05B1-2ECD-4B9C-B0EAED887B7F}"/>
              </a:ext>
            </a:extLst>
          </p:cNvPr>
          <p:cNvSpPr/>
          <p:nvPr/>
        </p:nvSpPr>
        <p:spPr>
          <a:xfrm>
            <a:off x="2246050" y="4953740"/>
            <a:ext cx="150921" cy="373780"/>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033ED01A-B9C4-71B2-8906-77CFA4A89648}"/>
              </a:ext>
            </a:extLst>
          </p:cNvPr>
          <p:cNvSpPr txBox="1"/>
          <p:nvPr/>
        </p:nvSpPr>
        <p:spPr>
          <a:xfrm>
            <a:off x="261890" y="6096820"/>
            <a:ext cx="3431222" cy="523220"/>
          </a:xfrm>
          <a:prstGeom prst="rect">
            <a:avLst/>
          </a:prstGeom>
          <a:noFill/>
          <a:ln w="3175">
            <a:solidFill>
              <a:schemeClr val="tx1"/>
            </a:solidFill>
          </a:ln>
        </p:spPr>
        <p:txBody>
          <a:bodyPr wrap="square" rtlCol="0">
            <a:spAutoFit/>
          </a:bodyPr>
          <a:lstStyle/>
          <a:p>
            <a:r>
              <a:rPr lang="en-GB" sz="1400" dirty="0">
                <a:latin typeface="Lucida Sans Typewriter" panose="020B0509030504030204" pitchFamily="49" charset="0"/>
              </a:rPr>
              <a:t>Waiting for the threads to complete the computation</a:t>
            </a:r>
            <a:endParaRPr lang="en-US" sz="1400" dirty="0">
              <a:latin typeface="Lucida Sans Typewriter" panose="020B0509030504030204" pitchFamily="49" charset="0"/>
            </a:endParaRPr>
          </a:p>
        </p:txBody>
      </p:sp>
      <p:cxnSp>
        <p:nvCxnSpPr>
          <p:cNvPr id="15" name="Straight Arrow Connector 14">
            <a:extLst>
              <a:ext uri="{FF2B5EF4-FFF2-40B4-BE49-F238E27FC236}">
                <a16:creationId xmlns:a16="http://schemas.microsoft.com/office/drawing/2014/main" id="{C32EFE1D-3051-7E18-BDB5-43A55E312497}"/>
              </a:ext>
            </a:extLst>
          </p:cNvPr>
          <p:cNvCxnSpPr/>
          <p:nvPr/>
        </p:nvCxnSpPr>
        <p:spPr>
          <a:xfrm flipV="1">
            <a:off x="585926" y="5140630"/>
            <a:ext cx="1660124" cy="8820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14623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536359" y="134306"/>
            <a:ext cx="10515600" cy="584786"/>
          </a:xfrm>
        </p:spPr>
        <p:txBody>
          <a:bodyPr>
            <a:normAutofit/>
          </a:bodyPr>
          <a:lstStyle/>
          <a:p>
            <a:pPr algn="ctr"/>
            <a:r>
              <a:rPr lang="en-GB" sz="3200" dirty="0">
                <a:latin typeface="Lucida Sans Typewriter" panose="020B0509030504030204" pitchFamily="49" charset="0"/>
              </a:rPr>
              <a:t>Exercise-4</a:t>
            </a:r>
            <a:endParaRPr lang="en-US" sz="3200" dirty="0">
              <a:latin typeface="Lucida Sans Typewriter" panose="020B0509030504030204" pitchFamily="49" charset="0"/>
            </a:endParaRPr>
          </a:p>
        </p:txBody>
      </p:sp>
      <p:sp>
        <p:nvSpPr>
          <p:cNvPr id="10" name="TextBox 9">
            <a:extLst>
              <a:ext uri="{FF2B5EF4-FFF2-40B4-BE49-F238E27FC236}">
                <a16:creationId xmlns:a16="http://schemas.microsoft.com/office/drawing/2014/main" id="{326BB5A4-A2B3-5345-6E18-5AD074AA6663}"/>
              </a:ext>
            </a:extLst>
          </p:cNvPr>
          <p:cNvSpPr txBox="1"/>
          <p:nvPr/>
        </p:nvSpPr>
        <p:spPr>
          <a:xfrm>
            <a:off x="517863" y="880029"/>
            <a:ext cx="10640627" cy="923330"/>
          </a:xfrm>
          <a:prstGeom prst="rect">
            <a:avLst/>
          </a:prstGeom>
          <a:noFill/>
        </p:spPr>
        <p:txBody>
          <a:bodyPr wrap="square" rtlCol="0">
            <a:spAutoFit/>
          </a:bodyPr>
          <a:lstStyle/>
          <a:p>
            <a:pPr marL="342900" indent="-342900">
              <a:buFont typeface="Arial" panose="020B0604020202020204" pitchFamily="34" charset="0"/>
              <a:buChar char="•"/>
            </a:pPr>
            <a:r>
              <a:rPr lang="en-GB" dirty="0">
                <a:latin typeface="Lucida Sans Typewriter" panose="020B0509030504030204" pitchFamily="49" charset="0"/>
              </a:rPr>
              <a:t>Create a thread class “</a:t>
            </a:r>
            <a:r>
              <a:rPr lang="en-GB" dirty="0" err="1">
                <a:latin typeface="Lucida Sans Typewriter" panose="020B0509030504030204" pitchFamily="49" charset="0"/>
              </a:rPr>
              <a:t>countNumbers</a:t>
            </a:r>
            <a:r>
              <a:rPr lang="en-GB" dirty="0">
                <a:latin typeface="Lucida Sans Typewriter" panose="020B0509030504030204" pitchFamily="49" charset="0"/>
              </a:rPr>
              <a:t>” implementing runnable interface. </a:t>
            </a:r>
          </a:p>
          <a:p>
            <a:pPr marL="342900" indent="-342900">
              <a:buFont typeface="Arial" panose="020B0604020202020204" pitchFamily="34" charset="0"/>
              <a:buChar char="•"/>
            </a:pPr>
            <a:r>
              <a:rPr lang="en-GB" dirty="0">
                <a:latin typeface="Lucida Sans Typewriter" panose="020B0509030504030204" pitchFamily="49" charset="0"/>
              </a:rPr>
              <a:t>In main method, create 2 objects of the thread to implement a shared counter that will count from 1 to n.</a:t>
            </a:r>
          </a:p>
        </p:txBody>
      </p:sp>
      <p:sp>
        <p:nvSpPr>
          <p:cNvPr id="11" name="TextBox 10">
            <a:extLst>
              <a:ext uri="{FF2B5EF4-FFF2-40B4-BE49-F238E27FC236}">
                <a16:creationId xmlns:a16="http://schemas.microsoft.com/office/drawing/2014/main" id="{76ACFA90-DACC-ADDA-592E-5DD3133675FA}"/>
              </a:ext>
            </a:extLst>
          </p:cNvPr>
          <p:cNvSpPr txBox="1"/>
          <p:nvPr/>
        </p:nvSpPr>
        <p:spPr>
          <a:xfrm>
            <a:off x="1033510" y="2203468"/>
            <a:ext cx="9206143" cy="403187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33B3"/>
                </a:solidFill>
                <a:effectLst/>
                <a:latin typeface="Lucida Sans Typewriter" panose="020B0509030504030204" pitchFamily="49" charset="0"/>
              </a:rPr>
              <a:t>class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countNumber</a:t>
            </a:r>
            <a:r>
              <a:rPr kumimoji="0" lang="en-US" altLang="en-US" sz="1600" b="0" i="0" u="none" strike="noStrike" cap="none" normalizeH="0" baseline="0" dirty="0">
                <a:ln>
                  <a:noFill/>
                </a:ln>
                <a:solidFill>
                  <a:srgbClr val="000000"/>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implements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Runnable</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public static int </a:t>
            </a:r>
            <a:r>
              <a:rPr kumimoji="0" lang="en-US" altLang="en-US" sz="1600" b="0" i="1" u="none" strike="noStrike" cap="none" normalizeH="0" baseline="0" dirty="0">
                <a:ln>
                  <a:noFill/>
                </a:ln>
                <a:solidFill>
                  <a:srgbClr val="871094"/>
                </a:solidFill>
                <a:effectLst/>
                <a:latin typeface="Lucida Sans Typewriter" panose="020B0509030504030204" pitchFamily="49" charset="0"/>
              </a:rPr>
              <a:t>counter</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1750EB"/>
                </a:solidFill>
                <a:effectLst/>
                <a:latin typeface="Lucida Sans Typewriter" panose="020B0509030504030204" pitchFamily="49" charset="0"/>
              </a:rPr>
              <a:t>1</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600" b="0" i="0" u="none" strike="noStrike" cap="none" normalizeH="0" baseline="0" dirty="0">
                <a:ln>
                  <a:noFill/>
                </a:ln>
                <a:solidFill>
                  <a:srgbClr val="871094"/>
                </a:solidFill>
                <a:effectLst/>
                <a:latin typeface="Lucida Sans Typewriter" panose="020B0509030504030204" pitchFamily="49" charset="0"/>
              </a:rPr>
              <a:t>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0000"/>
                </a:solidFill>
                <a:effectLst/>
                <a:latin typeface="Lucida Sans Typewriter" panose="020B0509030504030204" pitchFamily="49" charset="0"/>
              </a:rPr>
              <a:t>Thread </a:t>
            </a:r>
            <a:r>
              <a:rPr kumimoji="0" lang="en-US" altLang="en-US" sz="1600" b="0" i="0" u="none" strike="noStrike" cap="none" normalizeH="0" baseline="0" dirty="0">
                <a:ln>
                  <a:noFill/>
                </a:ln>
                <a:solidFill>
                  <a:srgbClr val="871094"/>
                </a:solidFill>
                <a:effectLst/>
                <a:latin typeface="Lucida Sans Typewriter" panose="020B0509030504030204" pitchFamily="49" charset="0"/>
              </a:rPr>
              <a:t>t</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627A"/>
                </a:solidFill>
                <a:effectLst/>
                <a:latin typeface="Lucida Sans Typewriter" panose="020B0509030504030204" pitchFamily="49" charset="0"/>
              </a:rPr>
              <a:t>countNumber</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int </a:t>
            </a:r>
            <a:r>
              <a:rPr kumimoji="0" lang="en-US" altLang="en-US" sz="1600" b="0" i="0" u="none" strike="noStrike" cap="none" normalizeH="0" baseline="0" dirty="0">
                <a:ln>
                  <a:noFill/>
                </a:ln>
                <a:solidFill>
                  <a:srgbClr val="080808"/>
                </a:solidFill>
                <a:effectLst/>
                <a:latin typeface="Lucida Sans Typewriter" panose="020B0509030504030204" pitchFamily="49" charset="0"/>
              </a:rPr>
              <a:t>n){</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33B3"/>
                </a:solidFill>
                <a:effectLst/>
                <a:latin typeface="Lucida Sans Typewriter" panose="020B0509030504030204" pitchFamily="49" charset="0"/>
              </a:rPr>
              <a:t>this</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err="1">
                <a:ln>
                  <a:noFill/>
                </a:ln>
                <a:solidFill>
                  <a:srgbClr val="871094"/>
                </a:solidFill>
                <a:effectLst/>
                <a:latin typeface="Lucida Sans Typewriter" panose="020B0509030504030204" pitchFamily="49" charset="0"/>
              </a:rPr>
              <a:t>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=n;</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871094"/>
                </a:solidFill>
                <a:effectLst/>
                <a:latin typeface="Lucida Sans Typewriter" panose="020B0509030504030204" pitchFamily="49" charset="0"/>
              </a:rPr>
              <a:t>t</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600" b="0" i="0" u="none" strike="noStrike" cap="none" normalizeH="0" baseline="0" dirty="0">
                <a:ln>
                  <a:noFill/>
                </a:ln>
                <a:solidFill>
                  <a:srgbClr val="080808"/>
                </a:solidFill>
                <a:effectLst/>
                <a:latin typeface="Lucida Sans Typewriter" panose="020B0509030504030204" pitchFamily="49" charset="0"/>
              </a:rPr>
              <a:t>Thread(</a:t>
            </a:r>
            <a:r>
              <a:rPr kumimoji="0" lang="en-US" altLang="en-US" sz="1600" b="0" i="0" u="none" strike="noStrike" cap="none" normalizeH="0" baseline="0" dirty="0">
                <a:ln>
                  <a:noFill/>
                </a:ln>
                <a:solidFill>
                  <a:srgbClr val="0033B3"/>
                </a:solidFill>
                <a:effectLst/>
                <a:latin typeface="Lucida Sans Typewriter" panose="020B0509030504030204" pitchFamily="49" charset="0"/>
              </a:rPr>
              <a:t>this</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871094"/>
                </a:solidFill>
                <a:effectLst/>
                <a:latin typeface="Lucida Sans Typewriter" panose="020B0509030504030204" pitchFamily="49" charset="0"/>
              </a:rPr>
              <a:t>t</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.start</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public void </a:t>
            </a:r>
            <a:r>
              <a:rPr kumimoji="0" lang="en-US" altLang="en-US" sz="1600" b="0" i="0" u="none" strike="noStrike" cap="none" normalizeH="0" baseline="0" dirty="0">
                <a:ln>
                  <a:noFill/>
                </a:ln>
                <a:solidFill>
                  <a:srgbClr val="00627A"/>
                </a:solidFill>
                <a:effectLst/>
                <a:latin typeface="Lucida Sans Typewriter" panose="020B0509030504030204" pitchFamily="49" charset="0"/>
              </a:rPr>
              <a:t>run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while</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0" u="none" strike="noStrike" cap="none" normalizeH="0" baseline="0" dirty="0">
                <a:ln>
                  <a:noFill/>
                </a:ln>
                <a:solidFill>
                  <a:srgbClr val="0033B3"/>
                </a:solidFill>
                <a:effectLst/>
                <a:latin typeface="Lucida Sans Typewriter" panose="020B0509030504030204" pitchFamily="49" charset="0"/>
              </a:rPr>
              <a:t>true</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if</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1" u="none" strike="noStrike" cap="none" normalizeH="0" baseline="0" dirty="0">
                <a:ln>
                  <a:noFill/>
                </a:ln>
                <a:solidFill>
                  <a:srgbClr val="871094"/>
                </a:solidFill>
                <a:effectLst/>
                <a:latin typeface="Lucida Sans Typewriter" panose="020B0509030504030204" pitchFamily="49" charset="0"/>
              </a:rPr>
              <a:t>counter</a:t>
            </a:r>
            <a:r>
              <a:rPr kumimoji="0" lang="en-US" altLang="en-US" sz="1600" b="0" i="0" u="none" strike="noStrike" cap="none" normalizeH="0" baseline="0" dirty="0">
                <a:ln>
                  <a:noFill/>
                </a:ln>
                <a:solidFill>
                  <a:srgbClr val="080808"/>
                </a:solidFill>
                <a:effectLst/>
                <a:latin typeface="Lucida Sans Typewriter" panose="020B0509030504030204" pitchFamily="49" charset="0"/>
              </a:rPr>
              <a:t>&gt;</a:t>
            </a:r>
            <a:r>
              <a:rPr kumimoji="0" lang="en-US" altLang="en-US" sz="1600" b="0" i="0" u="none" strike="noStrike" cap="none" normalizeH="0" baseline="0" dirty="0">
                <a:ln>
                  <a:noFill/>
                </a:ln>
                <a:solidFill>
                  <a:srgbClr val="871094"/>
                </a:solidFill>
                <a:effectLst/>
                <a:latin typeface="Lucida Sans Typewriter" panose="020B0509030504030204" pitchFamily="49" charset="0"/>
              </a:rPr>
              <a:t>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a:ln>
                  <a:noFill/>
                </a:ln>
                <a:solidFill>
                  <a:srgbClr val="0033B3"/>
                </a:solidFill>
                <a:effectLst/>
                <a:latin typeface="Lucida Sans Typewriter" panose="020B0509030504030204" pitchFamily="49" charset="0"/>
              </a:rPr>
              <a:t>break</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r>
              <a:rPr kumimoji="0" lang="en-US" altLang="en-US" sz="1600" b="0" i="0" u="none" strike="noStrike" cap="none" normalizeH="0" baseline="0" dirty="0" err="1">
                <a:ln>
                  <a:noFill/>
                </a:ln>
                <a:solidFill>
                  <a:srgbClr val="000000"/>
                </a:solidFill>
                <a:effectLst/>
                <a:latin typeface="Lucida Sans Typewriter" panose="020B0509030504030204" pitchFamily="49" charset="0"/>
              </a:rPr>
              <a:t>System</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600" b="0" i="1" u="none" strike="noStrike" cap="none" normalizeH="0" baseline="0" dirty="0" err="1">
                <a:ln>
                  <a:noFill/>
                </a:ln>
                <a:solidFill>
                  <a:srgbClr val="871094"/>
                </a:solidFill>
                <a:effectLst/>
                <a:latin typeface="Lucida Sans Typewriter" panose="020B0509030504030204" pitchFamily="49" charset="0"/>
              </a:rPr>
              <a:t>out</a:t>
            </a:r>
            <a:r>
              <a:rPr kumimoji="0" lang="en-US" altLang="en-US" sz="1600" b="0" i="0" u="none" strike="noStrike" cap="none" normalizeH="0" baseline="0" dirty="0" err="1">
                <a:ln>
                  <a:noFill/>
                </a:ln>
                <a:solidFill>
                  <a:srgbClr val="080808"/>
                </a:solidFill>
                <a:effectLst/>
                <a:latin typeface="Lucida Sans Typewriter" panose="020B0509030504030204" pitchFamily="49" charset="0"/>
              </a:rPr>
              <a:t>.println</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r>
              <a:rPr kumimoji="0" lang="en-US" altLang="en-US" sz="1600" b="0" i="1" u="none" strike="noStrike" cap="none" normalizeH="0" baseline="0" dirty="0">
                <a:ln>
                  <a:noFill/>
                </a:ln>
                <a:solidFill>
                  <a:srgbClr val="871094"/>
                </a:solidFill>
                <a:effectLst/>
                <a:latin typeface="Lucida Sans Typewriter" panose="020B0509030504030204" pitchFamily="49" charset="0"/>
              </a:rPr>
              <a:t>counter</a:t>
            </a: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600" b="0" i="0" u="none" strike="noStrike" cap="none" normalizeH="0" baseline="0" dirty="0">
                <a:ln>
                  <a:noFill/>
                </a:ln>
                <a:solidFill>
                  <a:srgbClr val="080808"/>
                </a:solidFill>
                <a:effectLst/>
                <a:latin typeface="Lucida Sans Typewriter" panose="020B0509030504030204" pitchFamily="49" charset="0"/>
              </a:rPr>
            </a:br>
            <a:r>
              <a:rPr kumimoji="0" lang="en-US" altLang="en-US" sz="1600" b="0" i="0" u="none" strike="noStrike" cap="none" normalizeH="0" baseline="0" dirty="0">
                <a:ln>
                  <a:noFill/>
                </a:ln>
                <a:solidFill>
                  <a:srgbClr val="080808"/>
                </a:solidFill>
                <a:effectLst/>
                <a:latin typeface="Lucida Sans Typewriter" panose="020B0509030504030204" pitchFamily="49" charset="0"/>
              </a:rPr>
              <a:t>}</a:t>
            </a:r>
            <a:endParaRPr kumimoji="0" lang="en-US" altLang="en-US" sz="2000" b="0" i="0" u="none" strike="noStrike" cap="none" normalizeH="0" baseline="0" dirty="0">
              <a:ln>
                <a:noFill/>
              </a:ln>
              <a:solidFill>
                <a:schemeClr val="tx1"/>
              </a:solidFill>
              <a:effectLst/>
              <a:latin typeface="Lucida Sans Typewriter" panose="020B0509030504030204" pitchFamily="49" charset="0"/>
            </a:endParaRPr>
          </a:p>
        </p:txBody>
      </p:sp>
      <p:sp>
        <p:nvSpPr>
          <p:cNvPr id="12" name="Rectangle 1">
            <a:extLst>
              <a:ext uri="{FF2B5EF4-FFF2-40B4-BE49-F238E27FC236}">
                <a16:creationId xmlns:a16="http://schemas.microsoft.com/office/drawing/2014/main" id="{2566F54F-7EA4-A731-E3DA-CF13EEAD306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BDB58EFF-428B-ABD1-239E-A7A16568BBC8}"/>
              </a:ext>
            </a:extLst>
          </p:cNvPr>
          <p:cNvSpPr>
            <a:spLocks noChangeArrowheads="1"/>
          </p:cNvSpPr>
          <p:nvPr/>
        </p:nvSpPr>
        <p:spPr bwMode="auto">
          <a:xfrm>
            <a:off x="0" y="59323"/>
            <a:ext cx="184731"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676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536359" y="134306"/>
            <a:ext cx="10515600" cy="584786"/>
          </a:xfrm>
        </p:spPr>
        <p:txBody>
          <a:bodyPr>
            <a:normAutofit fontScale="90000"/>
          </a:bodyPr>
          <a:lstStyle/>
          <a:p>
            <a:pPr algn="ctr"/>
            <a:r>
              <a:rPr lang="en-GB" sz="4000" dirty="0">
                <a:latin typeface="Lucida Sans Typewriter" panose="020B0509030504030204" pitchFamily="49" charset="0"/>
              </a:rPr>
              <a:t>Exercise-4(</a:t>
            </a:r>
            <a:r>
              <a:rPr lang="en-GB" sz="4000" dirty="0" err="1">
                <a:latin typeface="Lucida Sans Typewriter" panose="020B0509030504030204" pitchFamily="49" charset="0"/>
              </a:rPr>
              <a:t>cntd</a:t>
            </a:r>
            <a:r>
              <a:rPr lang="en-GB" sz="4000" dirty="0">
                <a:latin typeface="Lucida Sans Typewriter" panose="020B0509030504030204" pitchFamily="49" charset="0"/>
              </a:rPr>
              <a:t>)</a:t>
            </a:r>
            <a:endParaRPr lang="en-US" sz="4000" dirty="0">
              <a:latin typeface="Lucida Sans Typewriter" panose="020B0509030504030204" pitchFamily="49" charset="0"/>
            </a:endParaRPr>
          </a:p>
        </p:txBody>
      </p:sp>
      <p:sp>
        <p:nvSpPr>
          <p:cNvPr id="10" name="TextBox 9">
            <a:extLst>
              <a:ext uri="{FF2B5EF4-FFF2-40B4-BE49-F238E27FC236}">
                <a16:creationId xmlns:a16="http://schemas.microsoft.com/office/drawing/2014/main" id="{326BB5A4-A2B3-5345-6E18-5AD074AA6663}"/>
              </a:ext>
            </a:extLst>
          </p:cNvPr>
          <p:cNvSpPr txBox="1"/>
          <p:nvPr/>
        </p:nvSpPr>
        <p:spPr>
          <a:xfrm>
            <a:off x="517863" y="880029"/>
            <a:ext cx="10640627" cy="1323439"/>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Lucida Sans Typewriter" panose="020B0509030504030204" pitchFamily="49" charset="0"/>
              </a:rPr>
              <a:t>Create a thread class “</a:t>
            </a:r>
            <a:r>
              <a:rPr lang="en-GB" sz="2000" dirty="0" err="1">
                <a:latin typeface="Lucida Sans Typewriter" panose="020B0509030504030204" pitchFamily="49" charset="0"/>
              </a:rPr>
              <a:t>countNumbers</a:t>
            </a:r>
            <a:r>
              <a:rPr lang="en-GB" sz="2000" dirty="0">
                <a:latin typeface="Lucida Sans Typewriter" panose="020B0509030504030204" pitchFamily="49" charset="0"/>
              </a:rPr>
              <a:t>” implementing runnable interface. </a:t>
            </a:r>
          </a:p>
          <a:p>
            <a:pPr marL="342900" indent="-342900">
              <a:buFont typeface="Arial" panose="020B0604020202020204" pitchFamily="34" charset="0"/>
              <a:buChar char="•"/>
            </a:pPr>
            <a:r>
              <a:rPr lang="en-GB" sz="2000" dirty="0">
                <a:latin typeface="Lucida Sans Typewriter" panose="020B0509030504030204" pitchFamily="49" charset="0"/>
              </a:rPr>
              <a:t>In main method, create 2 objects of the thread to implement a shared counter that will count from 1 to n.</a:t>
            </a:r>
          </a:p>
        </p:txBody>
      </p:sp>
      <p:sp>
        <p:nvSpPr>
          <p:cNvPr id="12" name="Rectangle 1">
            <a:extLst>
              <a:ext uri="{FF2B5EF4-FFF2-40B4-BE49-F238E27FC236}">
                <a16:creationId xmlns:a16="http://schemas.microsoft.com/office/drawing/2014/main" id="{2566F54F-7EA4-A731-E3DA-CF13EEAD3068}"/>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BDB58EFF-428B-ABD1-239E-A7A16568BBC8}"/>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B2F6FDC6-3611-BD78-73B1-D89A18045204}"/>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A4EE7C2-2325-BEC8-DD2A-59922C6FBECE}"/>
              </a:ext>
            </a:extLst>
          </p:cNvPr>
          <p:cNvSpPr txBox="1"/>
          <p:nvPr/>
        </p:nvSpPr>
        <p:spPr>
          <a:xfrm>
            <a:off x="1511423" y="2808822"/>
            <a:ext cx="10295878"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33B3"/>
                </a:solidFill>
                <a:effectLst/>
                <a:latin typeface="Lucida Sans Typewriter" panose="020B0509030504030204" pitchFamily="49" charset="0"/>
              </a:rPr>
              <a:t>class </a:t>
            </a:r>
            <a:r>
              <a:rPr kumimoji="0" lang="en-US" altLang="en-US" sz="1800" b="0" i="0" u="none" strike="noStrike" cap="none" normalizeH="0" baseline="0" dirty="0">
                <a:ln>
                  <a:noFill/>
                </a:ln>
                <a:solidFill>
                  <a:srgbClr val="000000"/>
                </a:solidFill>
                <a:effectLst/>
                <a:latin typeface="Lucida Sans Typewriter" panose="020B0509030504030204" pitchFamily="49" charset="0"/>
              </a:rPr>
              <a:t>Count</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a:ln>
                  <a:noFill/>
                </a:ln>
                <a:solidFill>
                  <a:srgbClr val="0033B3"/>
                </a:solidFill>
                <a:effectLst/>
                <a:latin typeface="Lucida Sans Typewriter" panose="020B0509030504030204" pitchFamily="49" charset="0"/>
              </a:rPr>
              <a:t>public static void </a:t>
            </a:r>
            <a:r>
              <a:rPr kumimoji="0" lang="en-US" altLang="en-US" sz="1800" b="0" i="0" u="none" strike="noStrike" cap="none" normalizeH="0" baseline="0" dirty="0">
                <a:ln>
                  <a:noFill/>
                </a:ln>
                <a:solidFill>
                  <a:srgbClr val="00627A"/>
                </a:solidFill>
                <a:effectLst/>
                <a:latin typeface="Lucida Sans Typewriter" panose="020B0509030504030204" pitchFamily="49" charset="0"/>
              </a:rPr>
              <a:t>main</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000000"/>
                </a:solidFill>
                <a:effectLst/>
                <a:latin typeface="Lucida Sans Typewriter" panose="020B0509030504030204" pitchFamily="49" charset="0"/>
              </a:rPr>
              <a:t>String</a:t>
            </a: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err="1">
                <a:ln>
                  <a:noFill/>
                </a:ln>
                <a:solidFill>
                  <a:srgbClr val="080808"/>
                </a:solidFill>
                <a:effectLst/>
                <a:latin typeface="Lucida Sans Typewriter" panose="020B0509030504030204" pitchFamily="49" charset="0"/>
              </a:rPr>
              <a:t>args</a:t>
            </a: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a:ln>
                  <a:noFill/>
                </a:ln>
                <a:solidFill>
                  <a:srgbClr val="0033B3"/>
                </a:solidFill>
                <a:effectLst/>
                <a:latin typeface="Lucida Sans Typewriter" panose="020B0509030504030204" pitchFamily="49" charset="0"/>
              </a:rPr>
              <a:t>throws </a:t>
            </a:r>
            <a:r>
              <a:rPr kumimoji="0" lang="en-US" altLang="en-US" sz="1800" b="0" i="0" u="none" strike="noStrike" cap="none" normalizeH="0" baseline="0" dirty="0" err="1">
                <a:ln>
                  <a:noFill/>
                </a:ln>
                <a:solidFill>
                  <a:srgbClr val="000000"/>
                </a:solidFill>
                <a:effectLst/>
                <a:latin typeface="Lucida Sans Typewriter" panose="020B0509030504030204" pitchFamily="49" charset="0"/>
              </a:rPr>
              <a:t>InterruptedException</a:t>
            </a:r>
            <a:r>
              <a:rPr kumimoji="0" lang="en-US" altLang="en-US" sz="1800" b="0" i="0" u="none" strike="noStrike" cap="none" normalizeH="0" baseline="0" dirty="0">
                <a:ln>
                  <a:noFill/>
                </a:ln>
                <a:solidFill>
                  <a:srgbClr val="000000"/>
                </a:solidFill>
                <a:effectLst/>
                <a:latin typeface="Lucida Sans Typewriter" panose="020B0509030504030204" pitchFamily="49" charset="0"/>
              </a:rPr>
              <a:t> </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err="1">
                <a:ln>
                  <a:noFill/>
                </a:ln>
                <a:solidFill>
                  <a:srgbClr val="000000"/>
                </a:solidFill>
                <a:effectLst/>
                <a:latin typeface="Lucida Sans Typewriter" panose="020B0509030504030204" pitchFamily="49" charset="0"/>
              </a:rPr>
              <a:t>countNumber</a:t>
            </a:r>
            <a:r>
              <a:rPr kumimoji="0" lang="en-US" altLang="en-US" sz="1800" b="0" i="0" u="none" strike="noStrike" cap="none" normalizeH="0" baseline="0" dirty="0">
                <a:ln>
                  <a:noFill/>
                </a:ln>
                <a:solidFill>
                  <a:srgbClr val="000000"/>
                </a:solidFill>
                <a:effectLst/>
                <a:latin typeface="Lucida Sans Typewriter" panose="020B0509030504030204" pitchFamily="49" charset="0"/>
              </a:rPr>
              <a:t> t1</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800" b="0" i="0" u="none" strike="noStrike" cap="none" normalizeH="0" baseline="0" dirty="0" err="1">
                <a:ln>
                  <a:noFill/>
                </a:ln>
                <a:solidFill>
                  <a:srgbClr val="080808"/>
                </a:solidFill>
                <a:effectLst/>
                <a:latin typeface="Lucida Sans Typewriter" panose="020B0509030504030204" pitchFamily="49" charset="0"/>
              </a:rPr>
              <a:t>countNumber</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1750EB"/>
                </a:solidFill>
                <a:effectLst/>
                <a:latin typeface="Lucida Sans Typewriter" panose="020B0509030504030204" pitchFamily="49" charset="0"/>
              </a:rPr>
              <a:t>10</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err="1">
                <a:ln>
                  <a:noFill/>
                </a:ln>
                <a:solidFill>
                  <a:srgbClr val="000000"/>
                </a:solidFill>
                <a:effectLst/>
                <a:latin typeface="Lucida Sans Typewriter" panose="020B0509030504030204" pitchFamily="49" charset="0"/>
              </a:rPr>
              <a:t>countNumber</a:t>
            </a:r>
            <a:r>
              <a:rPr kumimoji="0" lang="en-US" altLang="en-US" sz="1800" b="0" i="0" u="none" strike="noStrike" cap="none" normalizeH="0" baseline="0" dirty="0">
                <a:ln>
                  <a:noFill/>
                </a:ln>
                <a:solidFill>
                  <a:srgbClr val="000000"/>
                </a:solidFill>
                <a:effectLst/>
                <a:latin typeface="Lucida Sans Typewriter" panose="020B0509030504030204" pitchFamily="49" charset="0"/>
              </a:rPr>
              <a:t> t2</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800" b="0" i="0" u="none" strike="noStrike" cap="none" normalizeH="0" baseline="0" dirty="0" err="1">
                <a:ln>
                  <a:noFill/>
                </a:ln>
                <a:solidFill>
                  <a:srgbClr val="080808"/>
                </a:solidFill>
                <a:effectLst/>
                <a:latin typeface="Lucida Sans Typewriter" panose="020B0509030504030204" pitchFamily="49" charset="0"/>
              </a:rPr>
              <a:t>countNumber</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1750EB"/>
                </a:solidFill>
                <a:effectLst/>
                <a:latin typeface="Lucida Sans Typewriter" panose="020B0509030504030204" pitchFamily="49" charset="0"/>
              </a:rPr>
              <a:t>5</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endParaRPr kumimoji="0" lang="en-US" altLang="en-US" sz="2400" b="0" i="0" u="none" strike="noStrike" cap="none" normalizeH="0" baseline="0" dirty="0">
              <a:ln>
                <a:noFill/>
              </a:ln>
              <a:solidFill>
                <a:schemeClr val="tx1"/>
              </a:solidFill>
              <a:effectLst/>
              <a:latin typeface="Lucida Sans Typewriter" panose="020B0509030504030204" pitchFamily="49" charset="0"/>
            </a:endParaRPr>
          </a:p>
        </p:txBody>
      </p:sp>
    </p:spTree>
    <p:extLst>
      <p:ext uri="{BB962C8B-B14F-4D97-AF65-F5344CB8AC3E}">
        <p14:creationId xmlns:p14="http://schemas.microsoft.com/office/powerpoint/2010/main" val="1295076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8CC5-3EEF-252D-8B93-A41A4B5A7A41}"/>
              </a:ext>
            </a:extLst>
          </p:cNvPr>
          <p:cNvSpPr>
            <a:spLocks noGrp="1"/>
          </p:cNvSpPr>
          <p:nvPr>
            <p:ph type="title"/>
          </p:nvPr>
        </p:nvSpPr>
        <p:spPr>
          <a:xfrm>
            <a:off x="536359" y="134306"/>
            <a:ext cx="10515600" cy="584786"/>
          </a:xfrm>
        </p:spPr>
        <p:txBody>
          <a:bodyPr>
            <a:normAutofit fontScale="90000"/>
          </a:bodyPr>
          <a:lstStyle/>
          <a:p>
            <a:pPr algn="ctr"/>
            <a:r>
              <a:rPr lang="en-GB" sz="4000" dirty="0">
                <a:latin typeface="Lucida Sans Typewriter" panose="020B0509030504030204" pitchFamily="49" charset="0"/>
              </a:rPr>
              <a:t>Exercise-4(</a:t>
            </a:r>
            <a:r>
              <a:rPr lang="en-GB" sz="4000" dirty="0" err="1">
                <a:latin typeface="Lucida Sans Typewriter" panose="020B0509030504030204" pitchFamily="49" charset="0"/>
              </a:rPr>
              <a:t>cntd</a:t>
            </a:r>
            <a:r>
              <a:rPr lang="en-GB" sz="4000" dirty="0">
                <a:latin typeface="Lucida Sans Typewriter" panose="020B0509030504030204" pitchFamily="49" charset="0"/>
              </a:rPr>
              <a:t>)</a:t>
            </a:r>
            <a:endParaRPr lang="en-US" sz="4000" dirty="0">
              <a:latin typeface="Lucida Sans Typewriter" panose="020B0509030504030204" pitchFamily="49" charset="0"/>
            </a:endParaRPr>
          </a:p>
        </p:txBody>
      </p:sp>
      <p:sp>
        <p:nvSpPr>
          <p:cNvPr id="10" name="TextBox 9">
            <a:extLst>
              <a:ext uri="{FF2B5EF4-FFF2-40B4-BE49-F238E27FC236}">
                <a16:creationId xmlns:a16="http://schemas.microsoft.com/office/drawing/2014/main" id="{326BB5A4-A2B3-5345-6E18-5AD074AA6663}"/>
              </a:ext>
            </a:extLst>
          </p:cNvPr>
          <p:cNvSpPr txBox="1"/>
          <p:nvPr/>
        </p:nvSpPr>
        <p:spPr>
          <a:xfrm>
            <a:off x="517863" y="880029"/>
            <a:ext cx="10640627" cy="400110"/>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Lucida Sans Typewriter" panose="020B0509030504030204" pitchFamily="49" charset="0"/>
              </a:rPr>
              <a:t>If main waits for the threads, then we have to invoke join method.</a:t>
            </a:r>
          </a:p>
        </p:txBody>
      </p:sp>
      <p:sp>
        <p:nvSpPr>
          <p:cNvPr id="12" name="Rectangle 1">
            <a:extLst>
              <a:ext uri="{FF2B5EF4-FFF2-40B4-BE49-F238E27FC236}">
                <a16:creationId xmlns:a16="http://schemas.microsoft.com/office/drawing/2014/main" id="{2566F54F-7EA4-A731-E3DA-CF13EEAD3068}"/>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BDB58EFF-428B-ABD1-239E-A7A16568BBC8}"/>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B2F6FDC6-3611-BD78-73B1-D89A18045204}"/>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FECFA7D6-0DB3-6D1A-D917-E92627C08ECC}"/>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A89BD7E2-6048-5216-731C-486EA6245D46}"/>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9584CCD0-C8EC-C487-51B4-3B273A8B55F1}"/>
              </a:ext>
            </a:extLst>
          </p:cNvPr>
          <p:cNvSpPr txBox="1"/>
          <p:nvPr/>
        </p:nvSpPr>
        <p:spPr>
          <a:xfrm>
            <a:off x="911069" y="1997839"/>
            <a:ext cx="9854213"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33B3"/>
                </a:solidFill>
                <a:effectLst/>
                <a:latin typeface="Lucida Sans Typewriter" panose="020B0509030504030204" pitchFamily="49" charset="0"/>
              </a:rPr>
              <a:t>class </a:t>
            </a:r>
            <a:r>
              <a:rPr kumimoji="0" lang="en-US" altLang="en-US" sz="1800" b="0" i="0" u="none" strike="noStrike" cap="none" normalizeH="0" baseline="0" dirty="0">
                <a:ln>
                  <a:noFill/>
                </a:ln>
                <a:solidFill>
                  <a:srgbClr val="000000"/>
                </a:solidFill>
                <a:effectLst/>
                <a:latin typeface="Lucida Sans Typewriter" panose="020B0509030504030204" pitchFamily="49" charset="0"/>
              </a:rPr>
              <a:t>Count</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a:ln>
                  <a:noFill/>
                </a:ln>
                <a:solidFill>
                  <a:srgbClr val="0033B3"/>
                </a:solidFill>
                <a:effectLst/>
                <a:latin typeface="Lucida Sans Typewriter" panose="020B0509030504030204" pitchFamily="49" charset="0"/>
              </a:rPr>
              <a:t>public static void </a:t>
            </a:r>
            <a:r>
              <a:rPr kumimoji="0" lang="en-US" altLang="en-US" sz="1800" b="0" i="0" u="none" strike="noStrike" cap="none" normalizeH="0" baseline="0" dirty="0">
                <a:ln>
                  <a:noFill/>
                </a:ln>
                <a:solidFill>
                  <a:srgbClr val="00627A"/>
                </a:solidFill>
                <a:effectLst/>
                <a:latin typeface="Lucida Sans Typewriter" panose="020B0509030504030204" pitchFamily="49" charset="0"/>
              </a:rPr>
              <a:t>main</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000000"/>
                </a:solidFill>
                <a:effectLst/>
                <a:latin typeface="Lucida Sans Typewriter" panose="020B0509030504030204" pitchFamily="49" charset="0"/>
              </a:rPr>
              <a:t>String</a:t>
            </a: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err="1">
                <a:ln>
                  <a:noFill/>
                </a:ln>
                <a:solidFill>
                  <a:srgbClr val="080808"/>
                </a:solidFill>
                <a:effectLst/>
                <a:latin typeface="Lucida Sans Typewriter" panose="020B0509030504030204" pitchFamily="49" charset="0"/>
              </a:rPr>
              <a:t>args</a:t>
            </a: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a:ln>
                  <a:noFill/>
                </a:ln>
                <a:solidFill>
                  <a:srgbClr val="0033B3"/>
                </a:solidFill>
                <a:effectLst/>
                <a:latin typeface="Lucida Sans Typewriter" panose="020B0509030504030204" pitchFamily="49" charset="0"/>
              </a:rPr>
              <a:t>throws </a:t>
            </a:r>
            <a:r>
              <a:rPr kumimoji="0" lang="en-US" altLang="en-US" sz="1800" b="0" i="0" u="none" strike="noStrike" cap="none" normalizeH="0" baseline="0" dirty="0" err="1">
                <a:ln>
                  <a:noFill/>
                </a:ln>
                <a:solidFill>
                  <a:srgbClr val="000000"/>
                </a:solidFill>
                <a:effectLst/>
                <a:latin typeface="Lucida Sans Typewriter" panose="020B0509030504030204" pitchFamily="49" charset="0"/>
              </a:rPr>
              <a:t>InterruptedException</a:t>
            </a:r>
            <a:r>
              <a:rPr kumimoji="0" lang="en-US" altLang="en-US" sz="1800" b="0" i="0" u="none" strike="noStrike" cap="none" normalizeH="0" baseline="0" dirty="0">
                <a:ln>
                  <a:noFill/>
                </a:ln>
                <a:solidFill>
                  <a:srgbClr val="000000"/>
                </a:solidFill>
                <a:effectLst/>
                <a:latin typeface="Lucida Sans Typewriter" panose="020B0509030504030204" pitchFamily="49" charset="0"/>
              </a:rPr>
              <a:t> </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err="1">
                <a:ln>
                  <a:noFill/>
                </a:ln>
                <a:solidFill>
                  <a:srgbClr val="000000"/>
                </a:solidFill>
                <a:effectLst/>
                <a:latin typeface="Lucida Sans Typewriter" panose="020B0509030504030204" pitchFamily="49" charset="0"/>
              </a:rPr>
              <a:t>countNumber</a:t>
            </a:r>
            <a:r>
              <a:rPr kumimoji="0" lang="en-US" altLang="en-US" sz="1800" b="0" i="0" u="none" strike="noStrike" cap="none" normalizeH="0" baseline="0" dirty="0">
                <a:ln>
                  <a:noFill/>
                </a:ln>
                <a:solidFill>
                  <a:srgbClr val="000000"/>
                </a:solidFill>
                <a:effectLst/>
                <a:latin typeface="Lucida Sans Typewriter" panose="020B0509030504030204" pitchFamily="49" charset="0"/>
              </a:rPr>
              <a:t> t1</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800" b="0" i="0" u="none" strike="noStrike" cap="none" normalizeH="0" baseline="0" dirty="0" err="1">
                <a:ln>
                  <a:noFill/>
                </a:ln>
                <a:solidFill>
                  <a:srgbClr val="080808"/>
                </a:solidFill>
                <a:effectLst/>
                <a:latin typeface="Lucida Sans Typewriter" panose="020B0509030504030204" pitchFamily="49" charset="0"/>
              </a:rPr>
              <a:t>countNumber</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1750EB"/>
                </a:solidFill>
                <a:effectLst/>
                <a:latin typeface="Lucida Sans Typewriter" panose="020B0509030504030204" pitchFamily="49" charset="0"/>
              </a:rPr>
              <a:t>10</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err="1">
                <a:ln>
                  <a:noFill/>
                </a:ln>
                <a:solidFill>
                  <a:srgbClr val="000000"/>
                </a:solidFill>
                <a:effectLst/>
                <a:latin typeface="Lucida Sans Typewriter" panose="020B0509030504030204" pitchFamily="49" charset="0"/>
              </a:rPr>
              <a:t>countNumber</a:t>
            </a:r>
            <a:r>
              <a:rPr kumimoji="0" lang="en-US" altLang="en-US" sz="1800" b="0" i="0" u="none" strike="noStrike" cap="none" normalizeH="0" baseline="0" dirty="0">
                <a:ln>
                  <a:noFill/>
                </a:ln>
                <a:solidFill>
                  <a:srgbClr val="000000"/>
                </a:solidFill>
                <a:effectLst/>
                <a:latin typeface="Lucida Sans Typewriter" panose="020B0509030504030204" pitchFamily="49" charset="0"/>
              </a:rPr>
              <a:t> t2</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0033B3"/>
                </a:solidFill>
                <a:effectLst/>
                <a:latin typeface="Lucida Sans Typewriter" panose="020B0509030504030204" pitchFamily="49" charset="0"/>
              </a:rPr>
              <a:t>new </a:t>
            </a:r>
            <a:r>
              <a:rPr kumimoji="0" lang="en-US" altLang="en-US" sz="1800" b="0" i="0" u="none" strike="noStrike" cap="none" normalizeH="0" baseline="0" dirty="0" err="1">
                <a:ln>
                  <a:noFill/>
                </a:ln>
                <a:solidFill>
                  <a:srgbClr val="080808"/>
                </a:solidFill>
                <a:effectLst/>
                <a:latin typeface="Lucida Sans Typewriter" panose="020B0509030504030204" pitchFamily="49" charset="0"/>
              </a:rPr>
              <a:t>countNumber</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1750EB"/>
                </a:solidFill>
                <a:effectLst/>
                <a:latin typeface="Lucida Sans Typewriter" panose="020B0509030504030204" pitchFamily="49" charset="0"/>
              </a:rPr>
              <a:t>5</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a:ln>
                  <a:noFill/>
                </a:ln>
                <a:solidFill>
                  <a:srgbClr val="000000"/>
                </a:solidFill>
                <a:effectLst/>
                <a:latin typeface="Lucida Sans Typewriter" panose="020B0509030504030204" pitchFamily="49" charset="0"/>
              </a:rPr>
              <a:t>t1</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871094"/>
                </a:solidFill>
                <a:effectLst/>
                <a:latin typeface="Lucida Sans Typewriter" panose="020B0509030504030204" pitchFamily="49" charset="0"/>
              </a:rPr>
              <a:t>t</a:t>
            </a:r>
            <a:r>
              <a:rPr kumimoji="0" lang="en-US" altLang="en-US" sz="1800" b="0" i="0" u="none" strike="noStrike" cap="none" normalizeH="0" baseline="0" dirty="0">
                <a:ln>
                  <a:noFill/>
                </a:ln>
                <a:solidFill>
                  <a:srgbClr val="080808"/>
                </a:solidFill>
                <a:effectLst/>
                <a:latin typeface="Lucida Sans Typewriter" panose="020B0509030504030204" pitchFamily="49" charset="0"/>
              </a:rPr>
              <a:t>.join();</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a:ln>
                  <a:noFill/>
                </a:ln>
                <a:solidFill>
                  <a:srgbClr val="000000"/>
                </a:solidFill>
                <a:effectLst/>
                <a:latin typeface="Lucida Sans Typewriter" panose="020B0509030504030204" pitchFamily="49" charset="0"/>
              </a:rPr>
              <a:t>t2</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871094"/>
                </a:solidFill>
                <a:effectLst/>
                <a:latin typeface="Lucida Sans Typewriter" panose="020B0509030504030204" pitchFamily="49" charset="0"/>
              </a:rPr>
              <a:t>t</a:t>
            </a:r>
            <a:r>
              <a:rPr kumimoji="0" lang="en-US" altLang="en-US" sz="1800" b="0" i="0" u="none" strike="noStrike" cap="none" normalizeH="0" baseline="0" dirty="0">
                <a:ln>
                  <a:noFill/>
                </a:ln>
                <a:solidFill>
                  <a:srgbClr val="080808"/>
                </a:solidFill>
                <a:effectLst/>
                <a:latin typeface="Lucida Sans Typewriter" panose="020B0509030504030204" pitchFamily="49" charset="0"/>
              </a:rPr>
              <a:t>.join();</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r>
              <a:rPr kumimoji="0" lang="en-US" altLang="en-US" sz="1800" b="0" i="0" u="none" strike="noStrike" cap="none" normalizeH="0" baseline="0" dirty="0" err="1">
                <a:ln>
                  <a:noFill/>
                </a:ln>
                <a:solidFill>
                  <a:srgbClr val="000000"/>
                </a:solidFill>
                <a:effectLst/>
                <a:latin typeface="Lucida Sans Typewriter" panose="020B0509030504030204" pitchFamily="49" charset="0"/>
              </a:rPr>
              <a:t>System</a:t>
            </a:r>
            <a:r>
              <a:rPr kumimoji="0" lang="en-US" altLang="en-US" sz="1800" b="0" i="0" u="none" strike="noStrike" cap="none" normalizeH="0" baseline="0" dirty="0" err="1">
                <a:ln>
                  <a:noFill/>
                </a:ln>
                <a:solidFill>
                  <a:srgbClr val="080808"/>
                </a:solidFill>
                <a:effectLst/>
                <a:latin typeface="Lucida Sans Typewriter" panose="020B0509030504030204" pitchFamily="49" charset="0"/>
              </a:rPr>
              <a:t>.</a:t>
            </a:r>
            <a:r>
              <a:rPr kumimoji="0" lang="en-US" altLang="en-US" sz="1800" b="0" i="1" u="none" strike="noStrike" cap="none" normalizeH="0" baseline="0" dirty="0" err="1">
                <a:ln>
                  <a:noFill/>
                </a:ln>
                <a:solidFill>
                  <a:srgbClr val="871094"/>
                </a:solidFill>
                <a:effectLst/>
                <a:latin typeface="Lucida Sans Typewriter" panose="020B0509030504030204" pitchFamily="49" charset="0"/>
              </a:rPr>
              <a:t>out</a:t>
            </a:r>
            <a:r>
              <a:rPr kumimoji="0" lang="en-US" altLang="en-US" sz="1800" b="0" i="0" u="none" strike="noStrike" cap="none" normalizeH="0" baseline="0" dirty="0" err="1">
                <a:ln>
                  <a:noFill/>
                </a:ln>
                <a:solidFill>
                  <a:srgbClr val="080808"/>
                </a:solidFill>
                <a:effectLst/>
                <a:latin typeface="Lucida Sans Typewriter" panose="020B0509030504030204" pitchFamily="49" charset="0"/>
              </a:rPr>
              <a:t>.println</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r>
              <a:rPr kumimoji="0" lang="en-US" altLang="en-US" sz="1800" b="0" i="0" u="none" strike="noStrike" cap="none" normalizeH="0" baseline="0" dirty="0">
                <a:ln>
                  <a:noFill/>
                </a:ln>
                <a:solidFill>
                  <a:srgbClr val="067D17"/>
                </a:solidFill>
                <a:effectLst/>
                <a:latin typeface="Lucida Sans Typewriter" panose="020B0509030504030204" pitchFamily="49" charset="0"/>
              </a:rPr>
              <a:t>"Count completed"</a:t>
            </a: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    }</a:t>
            </a:r>
            <a:br>
              <a:rPr kumimoji="0" lang="en-US" altLang="en-US" sz="1800" b="0" i="0" u="none" strike="noStrike" cap="none" normalizeH="0" baseline="0" dirty="0">
                <a:ln>
                  <a:noFill/>
                </a:ln>
                <a:solidFill>
                  <a:srgbClr val="080808"/>
                </a:solidFill>
                <a:effectLst/>
                <a:latin typeface="Lucida Sans Typewriter" panose="020B0509030504030204" pitchFamily="49" charset="0"/>
              </a:rPr>
            </a:br>
            <a:r>
              <a:rPr kumimoji="0" lang="en-US" altLang="en-US" sz="1800" b="0" i="0" u="none" strike="noStrike" cap="none" normalizeH="0" baseline="0" dirty="0">
                <a:ln>
                  <a:noFill/>
                </a:ln>
                <a:solidFill>
                  <a:srgbClr val="080808"/>
                </a:solidFill>
                <a:effectLst/>
                <a:latin typeface="Lucida Sans Typewriter" panose="020B0509030504030204" pitchFamily="49" charset="0"/>
              </a:rPr>
              <a:t>}</a:t>
            </a:r>
            <a:endParaRPr kumimoji="0" lang="en-US" altLang="en-US" sz="2400" b="0" i="0" u="none" strike="noStrike" cap="none" normalizeH="0" baseline="0" dirty="0">
              <a:ln>
                <a:noFill/>
              </a:ln>
              <a:solidFill>
                <a:schemeClr val="tx1"/>
              </a:solidFill>
              <a:effectLst/>
              <a:latin typeface="Lucida Sans Typewriter" panose="020B0509030504030204" pitchFamily="49" charset="0"/>
            </a:endParaRPr>
          </a:p>
        </p:txBody>
      </p:sp>
    </p:spTree>
    <p:extLst>
      <p:ext uri="{BB962C8B-B14F-4D97-AF65-F5344CB8AC3E}">
        <p14:creationId xmlns:p14="http://schemas.microsoft.com/office/powerpoint/2010/main" val="970856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689</TotalTime>
  <Words>1659</Words>
  <Application>Microsoft Office PowerPoint</Application>
  <PresentationFormat>Widescreen</PresentationFormat>
  <Paragraphs>98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Lucida Sans Typewriter</vt:lpstr>
      <vt:lpstr>Office Theme</vt:lpstr>
      <vt:lpstr>THREAD</vt:lpstr>
      <vt:lpstr>What is Thread?</vt:lpstr>
      <vt:lpstr>Thread Creation</vt:lpstr>
      <vt:lpstr>Thread Class</vt:lpstr>
      <vt:lpstr>Commonly used methods of Thread class</vt:lpstr>
      <vt:lpstr>Runnable Interface</vt:lpstr>
      <vt:lpstr>Extending Thread class</vt:lpstr>
      <vt:lpstr>Implementing Runnable interface</vt:lpstr>
      <vt:lpstr>Differences between “extending” and “implementing” Thread</vt:lpstr>
      <vt:lpstr>Exercise-1</vt:lpstr>
      <vt:lpstr>Exercise-1(cntd)</vt:lpstr>
      <vt:lpstr>Exercise-2</vt:lpstr>
      <vt:lpstr>Exercise-2(cntd)</vt:lpstr>
      <vt:lpstr>Exercise-3</vt:lpstr>
      <vt:lpstr>PowerPoint Presentation</vt:lpstr>
      <vt:lpstr>Exercise-4</vt:lpstr>
      <vt:lpstr>Exercise-4(cntd)</vt:lpstr>
      <vt:lpstr>Exercise-4(cntd)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dc:title>
  <dc:creator>1705040 - Umama Rahman</dc:creator>
  <cp:lastModifiedBy> </cp:lastModifiedBy>
  <cp:revision>13</cp:revision>
  <dcterms:created xsi:type="dcterms:W3CDTF">2023-12-12T06:36:24Z</dcterms:created>
  <dcterms:modified xsi:type="dcterms:W3CDTF">2025-10-16T12:25:41Z</dcterms:modified>
</cp:coreProperties>
</file>