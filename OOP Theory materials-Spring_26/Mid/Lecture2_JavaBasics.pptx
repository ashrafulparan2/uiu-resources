
<file path=[Content_Types].xml><?xml version="1.0" encoding="utf-8"?>
<Types xmlns="http://schemas.openxmlformats.org/package/2006/content-types">
  <Default Extension="png" ContentType="image/png"/>
  <Default Extension="webp" ContentType="image/webp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9" r:id="rId19"/>
    <p:sldId id="272" r:id="rId20"/>
    <p:sldId id="273" r:id="rId21"/>
    <p:sldId id="282" r:id="rId22"/>
    <p:sldId id="274" r:id="rId23"/>
    <p:sldId id="275" r:id="rId24"/>
    <p:sldId id="276" r:id="rId25"/>
    <p:sldId id="281" r:id="rId26"/>
    <p:sldId id="277" r:id="rId2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155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0"/>
            <a:ext cx="444500" cy="6858000"/>
          </a:xfrm>
          <a:custGeom>
            <a:avLst/>
            <a:gdLst/>
            <a:ahLst/>
            <a:cxnLst/>
            <a:rect l="l" t="t" r="r" b="b"/>
            <a:pathLst>
              <a:path w="444500" h="6858000">
                <a:moveTo>
                  <a:pt x="0" y="6858000"/>
                </a:moveTo>
                <a:lnTo>
                  <a:pt x="444500" y="6858000"/>
                </a:lnTo>
                <a:lnTo>
                  <a:pt x="4445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775" y="0"/>
                </a:moveTo>
                <a:lnTo>
                  <a:pt x="0" y="0"/>
                </a:lnTo>
                <a:lnTo>
                  <a:pt x="0" y="6858000"/>
                </a:lnTo>
                <a:lnTo>
                  <a:pt x="104775" y="6858000"/>
                </a:lnTo>
                <a:lnTo>
                  <a:pt x="104775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562" y="0"/>
                </a:moveTo>
                <a:lnTo>
                  <a:pt x="0" y="0"/>
                </a:lnTo>
                <a:lnTo>
                  <a:pt x="0" y="6858000"/>
                </a:lnTo>
                <a:lnTo>
                  <a:pt x="182562" y="6858000"/>
                </a:lnTo>
                <a:lnTo>
                  <a:pt x="182562" y="0"/>
                </a:lnTo>
                <a:close/>
              </a:path>
            </a:pathLst>
          </a:custGeom>
          <a:solidFill>
            <a:srgbClr val="FFD9C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41412" y="0"/>
            <a:ext cx="230504" cy="6858000"/>
          </a:xfrm>
          <a:custGeom>
            <a:avLst/>
            <a:gdLst/>
            <a:ahLst/>
            <a:cxnLst/>
            <a:rect l="l" t="t" r="r" b="b"/>
            <a:pathLst>
              <a:path w="230505" h="6858000">
                <a:moveTo>
                  <a:pt x="230187" y="0"/>
                </a:moveTo>
                <a:lnTo>
                  <a:pt x="0" y="0"/>
                </a:lnTo>
                <a:lnTo>
                  <a:pt x="0" y="6858000"/>
                </a:lnTo>
                <a:lnTo>
                  <a:pt x="230187" y="6858000"/>
                </a:lnTo>
                <a:lnTo>
                  <a:pt x="230187" y="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636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14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FEC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5407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085199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2192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DC3AD">
              <a:alpha val="5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09600" y="3428999"/>
            <a:ext cx="1341755" cy="2079625"/>
          </a:xfrm>
          <a:custGeom>
            <a:avLst/>
            <a:gdLst/>
            <a:ahLst/>
            <a:cxnLst/>
            <a:rect l="l" t="t" r="r" b="b"/>
            <a:pathLst>
              <a:path w="1341755" h="2079625">
                <a:moveTo>
                  <a:pt x="1295400" y="647700"/>
                </a:moveTo>
                <a:lnTo>
                  <a:pt x="1293622" y="599363"/>
                </a:lnTo>
                <a:lnTo>
                  <a:pt x="1288376" y="551980"/>
                </a:lnTo>
                <a:lnTo>
                  <a:pt x="1279779" y="505701"/>
                </a:lnTo>
                <a:lnTo>
                  <a:pt x="1267968" y="460629"/>
                </a:lnTo>
                <a:lnTo>
                  <a:pt x="1253070" y="416890"/>
                </a:lnTo>
                <a:lnTo>
                  <a:pt x="1235202" y="374637"/>
                </a:lnTo>
                <a:lnTo>
                  <a:pt x="1214488" y="333959"/>
                </a:lnTo>
                <a:lnTo>
                  <a:pt x="1191056" y="295008"/>
                </a:lnTo>
                <a:lnTo>
                  <a:pt x="1165034" y="257898"/>
                </a:lnTo>
                <a:lnTo>
                  <a:pt x="1136535" y="222745"/>
                </a:lnTo>
                <a:lnTo>
                  <a:pt x="1105700" y="189699"/>
                </a:lnTo>
                <a:lnTo>
                  <a:pt x="1072654" y="158864"/>
                </a:lnTo>
                <a:lnTo>
                  <a:pt x="1037501" y="130365"/>
                </a:lnTo>
                <a:lnTo>
                  <a:pt x="1000391" y="104343"/>
                </a:lnTo>
                <a:lnTo>
                  <a:pt x="961440" y="80911"/>
                </a:lnTo>
                <a:lnTo>
                  <a:pt x="920762" y="60198"/>
                </a:lnTo>
                <a:lnTo>
                  <a:pt x="878509" y="42329"/>
                </a:lnTo>
                <a:lnTo>
                  <a:pt x="834771" y="27432"/>
                </a:lnTo>
                <a:lnTo>
                  <a:pt x="789698" y="15621"/>
                </a:lnTo>
                <a:lnTo>
                  <a:pt x="743419" y="7023"/>
                </a:lnTo>
                <a:lnTo>
                  <a:pt x="696036" y="1778"/>
                </a:lnTo>
                <a:lnTo>
                  <a:pt x="647700" y="0"/>
                </a:lnTo>
                <a:lnTo>
                  <a:pt x="599351" y="1778"/>
                </a:lnTo>
                <a:lnTo>
                  <a:pt x="551980" y="7023"/>
                </a:lnTo>
                <a:lnTo>
                  <a:pt x="505701" y="15621"/>
                </a:lnTo>
                <a:lnTo>
                  <a:pt x="460629" y="27432"/>
                </a:lnTo>
                <a:lnTo>
                  <a:pt x="416902" y="42329"/>
                </a:lnTo>
                <a:lnTo>
                  <a:pt x="374637" y="60198"/>
                </a:lnTo>
                <a:lnTo>
                  <a:pt x="333971" y="80911"/>
                </a:lnTo>
                <a:lnTo>
                  <a:pt x="295008" y="104343"/>
                </a:lnTo>
                <a:lnTo>
                  <a:pt x="257898" y="130365"/>
                </a:lnTo>
                <a:lnTo>
                  <a:pt x="222758" y="158864"/>
                </a:lnTo>
                <a:lnTo>
                  <a:pt x="189699" y="189699"/>
                </a:lnTo>
                <a:lnTo>
                  <a:pt x="158864" y="222745"/>
                </a:lnTo>
                <a:lnTo>
                  <a:pt x="130365" y="257898"/>
                </a:lnTo>
                <a:lnTo>
                  <a:pt x="104343" y="295008"/>
                </a:lnTo>
                <a:lnTo>
                  <a:pt x="80911" y="333959"/>
                </a:lnTo>
                <a:lnTo>
                  <a:pt x="60185" y="374637"/>
                </a:lnTo>
                <a:lnTo>
                  <a:pt x="42316" y="416890"/>
                </a:lnTo>
                <a:lnTo>
                  <a:pt x="27419" y="460629"/>
                </a:lnTo>
                <a:lnTo>
                  <a:pt x="15608" y="505701"/>
                </a:lnTo>
                <a:lnTo>
                  <a:pt x="7010" y="551980"/>
                </a:lnTo>
                <a:lnTo>
                  <a:pt x="1765" y="599363"/>
                </a:lnTo>
                <a:lnTo>
                  <a:pt x="0" y="647700"/>
                </a:lnTo>
                <a:lnTo>
                  <a:pt x="1765" y="696048"/>
                </a:lnTo>
                <a:lnTo>
                  <a:pt x="7010" y="743432"/>
                </a:lnTo>
                <a:lnTo>
                  <a:pt x="15608" y="789711"/>
                </a:lnTo>
                <a:lnTo>
                  <a:pt x="27419" y="834783"/>
                </a:lnTo>
                <a:lnTo>
                  <a:pt x="42316" y="878522"/>
                </a:lnTo>
                <a:lnTo>
                  <a:pt x="60185" y="920775"/>
                </a:lnTo>
                <a:lnTo>
                  <a:pt x="80911" y="961453"/>
                </a:lnTo>
                <a:lnTo>
                  <a:pt x="104343" y="1000404"/>
                </a:lnTo>
                <a:lnTo>
                  <a:pt x="130365" y="1037513"/>
                </a:lnTo>
                <a:lnTo>
                  <a:pt x="158864" y="1072667"/>
                </a:lnTo>
                <a:lnTo>
                  <a:pt x="189699" y="1105712"/>
                </a:lnTo>
                <a:lnTo>
                  <a:pt x="222758" y="1136548"/>
                </a:lnTo>
                <a:lnTo>
                  <a:pt x="257898" y="1165047"/>
                </a:lnTo>
                <a:lnTo>
                  <a:pt x="295008" y="1191069"/>
                </a:lnTo>
                <a:lnTo>
                  <a:pt x="333971" y="1214501"/>
                </a:lnTo>
                <a:lnTo>
                  <a:pt x="374637" y="1235214"/>
                </a:lnTo>
                <a:lnTo>
                  <a:pt x="416902" y="1253083"/>
                </a:lnTo>
                <a:lnTo>
                  <a:pt x="460629" y="1267980"/>
                </a:lnTo>
                <a:lnTo>
                  <a:pt x="505701" y="1279791"/>
                </a:lnTo>
                <a:lnTo>
                  <a:pt x="551980" y="1288389"/>
                </a:lnTo>
                <a:lnTo>
                  <a:pt x="599351" y="1293634"/>
                </a:lnTo>
                <a:lnTo>
                  <a:pt x="647700" y="1295400"/>
                </a:lnTo>
                <a:lnTo>
                  <a:pt x="696036" y="1293634"/>
                </a:lnTo>
                <a:lnTo>
                  <a:pt x="743419" y="1288389"/>
                </a:lnTo>
                <a:lnTo>
                  <a:pt x="789698" y="1279791"/>
                </a:lnTo>
                <a:lnTo>
                  <a:pt x="834771" y="1267980"/>
                </a:lnTo>
                <a:lnTo>
                  <a:pt x="878509" y="1253083"/>
                </a:lnTo>
                <a:lnTo>
                  <a:pt x="920762" y="1235214"/>
                </a:lnTo>
                <a:lnTo>
                  <a:pt x="961440" y="1214501"/>
                </a:lnTo>
                <a:lnTo>
                  <a:pt x="1000391" y="1191069"/>
                </a:lnTo>
                <a:lnTo>
                  <a:pt x="1037501" y="1165047"/>
                </a:lnTo>
                <a:lnTo>
                  <a:pt x="1072654" y="1136548"/>
                </a:lnTo>
                <a:lnTo>
                  <a:pt x="1105700" y="1105712"/>
                </a:lnTo>
                <a:lnTo>
                  <a:pt x="1136535" y="1072667"/>
                </a:lnTo>
                <a:lnTo>
                  <a:pt x="1165034" y="1037513"/>
                </a:lnTo>
                <a:lnTo>
                  <a:pt x="1191056" y="1000404"/>
                </a:lnTo>
                <a:lnTo>
                  <a:pt x="1214488" y="961453"/>
                </a:lnTo>
                <a:lnTo>
                  <a:pt x="1235202" y="920775"/>
                </a:lnTo>
                <a:lnTo>
                  <a:pt x="1253070" y="878522"/>
                </a:lnTo>
                <a:lnTo>
                  <a:pt x="1267968" y="834783"/>
                </a:lnTo>
                <a:lnTo>
                  <a:pt x="1279779" y="789711"/>
                </a:lnTo>
                <a:lnTo>
                  <a:pt x="1288376" y="743432"/>
                </a:lnTo>
                <a:lnTo>
                  <a:pt x="1293622" y="696048"/>
                </a:lnTo>
                <a:lnTo>
                  <a:pt x="1295400" y="647700"/>
                </a:lnTo>
                <a:close/>
              </a:path>
              <a:path w="1341755" h="2079625">
                <a:moveTo>
                  <a:pt x="1341501" y="1758950"/>
                </a:moveTo>
                <a:lnTo>
                  <a:pt x="1338021" y="1711553"/>
                </a:lnTo>
                <a:lnTo>
                  <a:pt x="1327912" y="1666316"/>
                </a:lnTo>
                <a:lnTo>
                  <a:pt x="1311681" y="1623745"/>
                </a:lnTo>
                <a:lnTo>
                  <a:pt x="1289812" y="1584312"/>
                </a:lnTo>
                <a:lnTo>
                  <a:pt x="1262811" y="1548549"/>
                </a:lnTo>
                <a:lnTo>
                  <a:pt x="1231176" y="1516913"/>
                </a:lnTo>
                <a:lnTo>
                  <a:pt x="1195400" y="1489925"/>
                </a:lnTo>
                <a:lnTo>
                  <a:pt x="1155979" y="1468081"/>
                </a:lnTo>
                <a:lnTo>
                  <a:pt x="1113409" y="1451851"/>
                </a:lnTo>
                <a:lnTo>
                  <a:pt x="1068197" y="1441754"/>
                </a:lnTo>
                <a:lnTo>
                  <a:pt x="1020826" y="1438275"/>
                </a:lnTo>
                <a:lnTo>
                  <a:pt x="973416" y="1441754"/>
                </a:lnTo>
                <a:lnTo>
                  <a:pt x="928179" y="1451851"/>
                </a:lnTo>
                <a:lnTo>
                  <a:pt x="885609" y="1468081"/>
                </a:lnTo>
                <a:lnTo>
                  <a:pt x="846175" y="1489925"/>
                </a:lnTo>
                <a:lnTo>
                  <a:pt x="810412" y="1516913"/>
                </a:lnTo>
                <a:lnTo>
                  <a:pt x="778776" y="1548549"/>
                </a:lnTo>
                <a:lnTo>
                  <a:pt x="751789" y="1584312"/>
                </a:lnTo>
                <a:lnTo>
                  <a:pt x="729945" y="1623745"/>
                </a:lnTo>
                <a:lnTo>
                  <a:pt x="713714" y="1666316"/>
                </a:lnTo>
                <a:lnTo>
                  <a:pt x="703618" y="1711553"/>
                </a:lnTo>
                <a:lnTo>
                  <a:pt x="700151" y="1758950"/>
                </a:lnTo>
                <a:lnTo>
                  <a:pt x="703618" y="1806359"/>
                </a:lnTo>
                <a:lnTo>
                  <a:pt x="713714" y="1851596"/>
                </a:lnTo>
                <a:lnTo>
                  <a:pt x="729945" y="1894166"/>
                </a:lnTo>
                <a:lnTo>
                  <a:pt x="751789" y="1933600"/>
                </a:lnTo>
                <a:lnTo>
                  <a:pt x="778776" y="1969363"/>
                </a:lnTo>
                <a:lnTo>
                  <a:pt x="810412" y="2000999"/>
                </a:lnTo>
                <a:lnTo>
                  <a:pt x="846175" y="2027986"/>
                </a:lnTo>
                <a:lnTo>
                  <a:pt x="885609" y="2049830"/>
                </a:lnTo>
                <a:lnTo>
                  <a:pt x="928179" y="2066061"/>
                </a:lnTo>
                <a:lnTo>
                  <a:pt x="973416" y="2076157"/>
                </a:lnTo>
                <a:lnTo>
                  <a:pt x="1020826" y="2079625"/>
                </a:lnTo>
                <a:lnTo>
                  <a:pt x="1068197" y="2076157"/>
                </a:lnTo>
                <a:lnTo>
                  <a:pt x="1113409" y="2066061"/>
                </a:lnTo>
                <a:lnTo>
                  <a:pt x="1155979" y="2049830"/>
                </a:lnTo>
                <a:lnTo>
                  <a:pt x="1195400" y="2027986"/>
                </a:lnTo>
                <a:lnTo>
                  <a:pt x="1231176" y="2000999"/>
                </a:lnTo>
                <a:lnTo>
                  <a:pt x="1262811" y="1969363"/>
                </a:lnTo>
                <a:lnTo>
                  <a:pt x="1289812" y="1933600"/>
                </a:lnTo>
                <a:lnTo>
                  <a:pt x="1311681" y="1894166"/>
                </a:lnTo>
                <a:lnTo>
                  <a:pt x="1327912" y="1851596"/>
                </a:lnTo>
                <a:lnTo>
                  <a:pt x="1338021" y="1806359"/>
                </a:lnTo>
                <a:lnTo>
                  <a:pt x="1341501" y="175895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" y="5500750"/>
            <a:ext cx="138112" cy="136461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1663700" y="4495799"/>
            <a:ext cx="606425" cy="1567180"/>
          </a:xfrm>
          <a:custGeom>
            <a:avLst/>
            <a:gdLst/>
            <a:ahLst/>
            <a:cxnLst/>
            <a:rect l="l" t="t" r="r" b="b"/>
            <a:pathLst>
              <a:path w="606425" h="1567179">
                <a:moveTo>
                  <a:pt x="274701" y="1429537"/>
                </a:moveTo>
                <a:lnTo>
                  <a:pt x="267677" y="1386141"/>
                </a:lnTo>
                <a:lnTo>
                  <a:pt x="248158" y="1348447"/>
                </a:lnTo>
                <a:lnTo>
                  <a:pt x="218401" y="1318729"/>
                </a:lnTo>
                <a:lnTo>
                  <a:pt x="180682" y="1299235"/>
                </a:lnTo>
                <a:lnTo>
                  <a:pt x="137287" y="1292225"/>
                </a:lnTo>
                <a:lnTo>
                  <a:pt x="93891" y="1299235"/>
                </a:lnTo>
                <a:lnTo>
                  <a:pt x="56197" y="1318729"/>
                </a:lnTo>
                <a:lnTo>
                  <a:pt x="26479" y="1348447"/>
                </a:lnTo>
                <a:lnTo>
                  <a:pt x="6997" y="1386141"/>
                </a:lnTo>
                <a:lnTo>
                  <a:pt x="0" y="1429537"/>
                </a:lnTo>
                <a:lnTo>
                  <a:pt x="6997" y="1472946"/>
                </a:lnTo>
                <a:lnTo>
                  <a:pt x="26479" y="1510652"/>
                </a:lnTo>
                <a:lnTo>
                  <a:pt x="56197" y="1540370"/>
                </a:lnTo>
                <a:lnTo>
                  <a:pt x="93891" y="1559864"/>
                </a:lnTo>
                <a:lnTo>
                  <a:pt x="137287" y="1566862"/>
                </a:lnTo>
                <a:lnTo>
                  <a:pt x="180682" y="1559864"/>
                </a:lnTo>
                <a:lnTo>
                  <a:pt x="218401" y="1540370"/>
                </a:lnTo>
                <a:lnTo>
                  <a:pt x="248158" y="1510652"/>
                </a:lnTo>
                <a:lnTo>
                  <a:pt x="267677" y="1472946"/>
                </a:lnTo>
                <a:lnTo>
                  <a:pt x="274701" y="1429537"/>
                </a:lnTo>
                <a:close/>
              </a:path>
              <a:path w="606425" h="1567179">
                <a:moveTo>
                  <a:pt x="606425" y="182499"/>
                </a:moveTo>
                <a:lnTo>
                  <a:pt x="599897" y="134023"/>
                </a:lnTo>
                <a:lnTo>
                  <a:pt x="581482" y="90424"/>
                </a:lnTo>
                <a:lnTo>
                  <a:pt x="552932" y="53492"/>
                </a:lnTo>
                <a:lnTo>
                  <a:pt x="516001" y="24942"/>
                </a:lnTo>
                <a:lnTo>
                  <a:pt x="472401" y="6527"/>
                </a:lnTo>
                <a:lnTo>
                  <a:pt x="423926" y="0"/>
                </a:lnTo>
                <a:lnTo>
                  <a:pt x="375373" y="6527"/>
                </a:lnTo>
                <a:lnTo>
                  <a:pt x="331749" y="24942"/>
                </a:lnTo>
                <a:lnTo>
                  <a:pt x="294792" y="53492"/>
                </a:lnTo>
                <a:lnTo>
                  <a:pt x="266230" y="90424"/>
                </a:lnTo>
                <a:lnTo>
                  <a:pt x="247815" y="134023"/>
                </a:lnTo>
                <a:lnTo>
                  <a:pt x="241300" y="182499"/>
                </a:lnTo>
                <a:lnTo>
                  <a:pt x="247815" y="231051"/>
                </a:lnTo>
                <a:lnTo>
                  <a:pt x="266230" y="274675"/>
                </a:lnTo>
                <a:lnTo>
                  <a:pt x="294792" y="311632"/>
                </a:lnTo>
                <a:lnTo>
                  <a:pt x="331749" y="340194"/>
                </a:lnTo>
                <a:lnTo>
                  <a:pt x="375373" y="358609"/>
                </a:lnTo>
                <a:lnTo>
                  <a:pt x="423926" y="365125"/>
                </a:lnTo>
                <a:lnTo>
                  <a:pt x="472401" y="358609"/>
                </a:lnTo>
                <a:lnTo>
                  <a:pt x="516001" y="340194"/>
                </a:lnTo>
                <a:lnTo>
                  <a:pt x="552932" y="311632"/>
                </a:lnTo>
                <a:lnTo>
                  <a:pt x="581482" y="274675"/>
                </a:lnTo>
                <a:lnTo>
                  <a:pt x="599897" y="231051"/>
                </a:lnTo>
                <a:lnTo>
                  <a:pt x="606425" y="182499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64994" y="4361941"/>
            <a:ext cx="4414011" cy="97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575" y="5715000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6011" y="3363848"/>
            <a:ext cx="2871977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5650" y="3346450"/>
            <a:ext cx="7562850" cy="30562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oracle.com/technetwork/java/javase/downloads/index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racle.com/technetwork/java/javase/downloads/index.html" TargetMode="External"/><Relationship Id="rId2" Type="http://schemas.openxmlformats.org/officeDocument/2006/relationships/hyperlink" Target="http://www.eclipse.org/downloads/packages/eclipse-ide-java-developers/mars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etbrains.com/idea/download/#section%3Dwindows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9800" y="3352800"/>
            <a:ext cx="4340606" cy="1486946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3000" b="1" spc="430" dirty="0">
                <a:solidFill>
                  <a:srgbClr val="565F6C"/>
                </a:solidFill>
                <a:latin typeface="Cambria"/>
                <a:cs typeface="Cambria"/>
              </a:rPr>
              <a:t>J</a:t>
            </a:r>
            <a:r>
              <a:rPr sz="2400" b="1" spc="430" dirty="0">
                <a:solidFill>
                  <a:srgbClr val="565F6C"/>
                </a:solidFill>
                <a:latin typeface="Cambria"/>
                <a:cs typeface="Cambria"/>
              </a:rPr>
              <a:t>AVA</a:t>
            </a:r>
            <a:r>
              <a:rPr sz="2400" b="1" spc="28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b="1" spc="345" dirty="0">
                <a:solidFill>
                  <a:srgbClr val="565F6C"/>
                </a:solidFill>
                <a:latin typeface="Cambria"/>
                <a:cs typeface="Cambria"/>
              </a:rPr>
              <a:t>B</a:t>
            </a:r>
            <a:r>
              <a:rPr sz="2400" b="1" spc="345" dirty="0">
                <a:solidFill>
                  <a:srgbClr val="565F6C"/>
                </a:solidFill>
                <a:latin typeface="Cambria"/>
                <a:cs typeface="Cambria"/>
              </a:rPr>
              <a:t>ASICS</a:t>
            </a:r>
            <a:endParaRPr lang="en-GB" sz="2400" b="1" spc="345" dirty="0">
              <a:solidFill>
                <a:srgbClr val="565F6C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US" sz="2400" b="1" spc="345" dirty="0">
                <a:solidFill>
                  <a:srgbClr val="565F6C"/>
                </a:solidFill>
                <a:latin typeface="Cambria"/>
                <a:cs typeface="Cambria"/>
              </a:rPr>
              <a:t>Md. Tanvir Raihan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lang="en-GB" sz="1800" b="1" spc="125" dirty="0">
                <a:solidFill>
                  <a:srgbClr val="565F6C"/>
                </a:solidFill>
                <a:latin typeface="Cambria"/>
                <a:cs typeface="Cambria"/>
              </a:rPr>
              <a:t>Acknowledged: </a:t>
            </a:r>
            <a:r>
              <a:rPr sz="1800" b="1" spc="125" dirty="0" err="1">
                <a:solidFill>
                  <a:srgbClr val="565F6C"/>
                </a:solidFill>
                <a:latin typeface="Cambria"/>
                <a:cs typeface="Cambria"/>
              </a:rPr>
              <a:t>Tanjina</a:t>
            </a:r>
            <a:r>
              <a:rPr sz="1800" b="1" spc="7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125" dirty="0">
                <a:solidFill>
                  <a:srgbClr val="565F6C"/>
                </a:solidFill>
                <a:latin typeface="Cambria"/>
                <a:cs typeface="Cambria"/>
              </a:rPr>
              <a:t>Helaly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sz="3000" spc="250" dirty="0"/>
              <a:t>T</a:t>
            </a:r>
            <a:r>
              <a:rPr spc="330" dirty="0"/>
              <a:t>O</a:t>
            </a:r>
            <a:r>
              <a:rPr spc="335" dirty="0"/>
              <a:t>O</a:t>
            </a:r>
            <a:r>
              <a:rPr spc="395" dirty="0"/>
              <a:t>L</a:t>
            </a:r>
            <a:r>
              <a:rPr spc="365" dirty="0"/>
              <a:t>S</a:t>
            </a:r>
            <a:r>
              <a:rPr sz="3000" spc="-120" dirty="0"/>
              <a:t>/</a:t>
            </a:r>
            <a:r>
              <a:rPr sz="3000" spc="-110" dirty="0"/>
              <a:t>S</a:t>
            </a:r>
            <a:r>
              <a:rPr spc="300" dirty="0"/>
              <a:t>E</a:t>
            </a:r>
            <a:r>
              <a:rPr spc="320" dirty="0"/>
              <a:t>T</a:t>
            </a:r>
            <a:r>
              <a:rPr sz="3000" spc="-20" dirty="0"/>
              <a:t>-</a:t>
            </a:r>
            <a:r>
              <a:rPr sz="3000" spc="465" dirty="0"/>
              <a:t>U</a:t>
            </a:r>
            <a:r>
              <a:rPr spc="345" dirty="0"/>
              <a:t>P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9176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195" dirty="0">
                <a:latin typeface="Cambria"/>
                <a:cs typeface="Cambria"/>
              </a:rPr>
              <a:t>S</a:t>
            </a:r>
            <a:r>
              <a:rPr b="0" spc="195" dirty="0">
                <a:latin typeface="Cambria"/>
                <a:cs typeface="Cambria"/>
              </a:rPr>
              <a:t>TEP</a:t>
            </a:r>
            <a:r>
              <a:rPr sz="3000" b="0" spc="195" dirty="0">
                <a:latin typeface="Cambria"/>
                <a:cs typeface="Cambria"/>
              </a:rPr>
              <a:t>1:</a:t>
            </a:r>
            <a:r>
              <a:rPr sz="3000" b="0" spc="180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I</a:t>
            </a:r>
            <a:r>
              <a:rPr b="0" spc="275" dirty="0">
                <a:latin typeface="Cambria"/>
                <a:cs typeface="Cambria"/>
              </a:rPr>
              <a:t>NSTALL</a:t>
            </a:r>
            <a:r>
              <a:rPr b="0" spc="305" dirty="0">
                <a:latin typeface="Cambria"/>
                <a:cs typeface="Cambria"/>
              </a:rPr>
              <a:t> </a:t>
            </a:r>
            <a:r>
              <a:rPr sz="3000" b="0" spc="370" dirty="0">
                <a:latin typeface="Cambria"/>
                <a:cs typeface="Cambria"/>
              </a:rPr>
              <a:t>J</a:t>
            </a:r>
            <a:r>
              <a:rPr b="0" spc="370" dirty="0">
                <a:latin typeface="Cambria"/>
                <a:cs typeface="Cambria"/>
              </a:rPr>
              <a:t>AVA</a:t>
            </a:r>
            <a:r>
              <a:rPr b="0" spc="320" dirty="0">
                <a:latin typeface="Cambria"/>
                <a:cs typeface="Cambria"/>
              </a:rPr>
              <a:t> </a:t>
            </a:r>
            <a:r>
              <a:rPr b="0" spc="275" dirty="0">
                <a:latin typeface="Cambria"/>
                <a:cs typeface="Cambria"/>
              </a:rPr>
              <a:t>AND</a:t>
            </a:r>
            <a:r>
              <a:rPr b="0" spc="290" dirty="0">
                <a:latin typeface="Cambria"/>
                <a:cs typeface="Cambria"/>
              </a:rPr>
              <a:t> </a:t>
            </a:r>
            <a:r>
              <a:rPr sz="3000" b="0" spc="260" dirty="0">
                <a:latin typeface="Cambria"/>
                <a:cs typeface="Cambria"/>
              </a:rPr>
              <a:t>P</a:t>
            </a:r>
            <a:r>
              <a:rPr b="0" spc="260" dirty="0">
                <a:latin typeface="Cambria"/>
                <a:cs typeface="Cambria"/>
              </a:rPr>
              <a:t>ATH</a:t>
            </a:r>
            <a:r>
              <a:rPr b="0" spc="305" dirty="0">
                <a:latin typeface="Cambria"/>
                <a:cs typeface="Cambria"/>
              </a:rPr>
              <a:t> </a:t>
            </a:r>
            <a:r>
              <a:rPr sz="3000" b="0" spc="254" dirty="0">
                <a:latin typeface="Cambria"/>
                <a:cs typeface="Cambria"/>
              </a:rPr>
              <a:t>S</a:t>
            </a:r>
            <a:r>
              <a:rPr b="0" spc="254" dirty="0">
                <a:latin typeface="Cambria"/>
                <a:cs typeface="Cambria"/>
              </a:rPr>
              <a:t>ET</a:t>
            </a:r>
            <a:r>
              <a:rPr sz="3000" b="0" spc="254" dirty="0">
                <a:latin typeface="Cambria"/>
                <a:cs typeface="Cambria"/>
              </a:rPr>
              <a:t>-</a:t>
            </a:r>
            <a:r>
              <a:rPr b="0" spc="254" dirty="0">
                <a:latin typeface="Cambria"/>
                <a:cs typeface="Cambria"/>
              </a:rPr>
              <a:t>UP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72209"/>
            <a:ext cx="4228465" cy="437007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86385" marR="5080" indent="-274320">
              <a:lnSpc>
                <a:spcPct val="80000"/>
              </a:lnSpc>
              <a:spcBef>
                <a:spcPts val="555"/>
              </a:spcBef>
              <a:buClr>
                <a:srgbClr val="FD8537"/>
              </a:buClr>
              <a:buSzPct val="68421"/>
              <a:buFont typeface="Wingdings"/>
              <a:buChar char=""/>
              <a:tabLst>
                <a:tab pos="287020" algn="l"/>
              </a:tabLst>
            </a:pPr>
            <a:r>
              <a:rPr sz="1900" spc="80" dirty="0">
                <a:latin typeface="Cambria"/>
                <a:cs typeface="Cambria"/>
              </a:rPr>
              <a:t>Need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15" dirty="0">
                <a:latin typeface="Cambria"/>
                <a:cs typeface="Cambria"/>
              </a:rPr>
              <a:t>to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install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204" dirty="0">
                <a:latin typeface="Cambria"/>
                <a:cs typeface="Cambria"/>
              </a:rPr>
              <a:t>Java(JDK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and 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spc="190" dirty="0">
                <a:latin typeface="Cambria"/>
                <a:cs typeface="Cambria"/>
              </a:rPr>
              <a:t>JRE).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140" dirty="0">
                <a:latin typeface="Cambria"/>
                <a:cs typeface="Cambria"/>
              </a:rPr>
              <a:t>Get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latest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version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from 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spc="190" dirty="0">
                <a:latin typeface="Cambria"/>
                <a:cs typeface="Cambria"/>
              </a:rPr>
              <a:t>Java </a:t>
            </a:r>
            <a:r>
              <a:rPr sz="1900" spc="100" dirty="0">
                <a:latin typeface="Cambria"/>
                <a:cs typeface="Cambria"/>
              </a:rPr>
              <a:t>Standard </a:t>
            </a:r>
            <a:r>
              <a:rPr sz="1900" spc="80" dirty="0">
                <a:latin typeface="Cambria"/>
                <a:cs typeface="Cambria"/>
              </a:rPr>
              <a:t>Edition(SE) </a:t>
            </a:r>
            <a:r>
              <a:rPr sz="1900" spc="35" dirty="0">
                <a:latin typeface="Cambria"/>
                <a:cs typeface="Cambria"/>
              </a:rPr>
              <a:t>from </a:t>
            </a:r>
            <a:r>
              <a:rPr sz="1900" spc="40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1900" u="sng" spc="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2"/>
              </a:rPr>
              <a:t>http://www.oracle.com/technetwork</a:t>
            </a:r>
            <a:endParaRPr sz="1900">
              <a:latin typeface="Cambria"/>
              <a:cs typeface="Cambria"/>
            </a:endParaRPr>
          </a:p>
          <a:p>
            <a:pPr marL="286385">
              <a:lnSpc>
                <a:spcPts val="1825"/>
              </a:lnSpc>
            </a:pPr>
            <a:r>
              <a:rPr sz="1900" u="sng" spc="1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2"/>
              </a:rPr>
              <a:t>/java/javase/downloads/index.html</a:t>
            </a:r>
            <a:endParaRPr sz="1900">
              <a:latin typeface="Cambria"/>
              <a:cs typeface="Cambria"/>
            </a:endParaRPr>
          </a:p>
          <a:p>
            <a:pPr marL="652780" marR="177800" lvl="1" indent="-274955">
              <a:lnSpc>
                <a:spcPct val="80000"/>
              </a:lnSpc>
              <a:spcBef>
                <a:spcPts val="45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75" dirty="0">
                <a:latin typeface="Cambria"/>
                <a:cs typeface="Cambria"/>
              </a:rPr>
              <a:t>After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installing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90" dirty="0">
                <a:latin typeface="Cambria"/>
                <a:cs typeface="Cambria"/>
              </a:rPr>
              <a:t>Java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you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need </a:t>
            </a:r>
            <a:r>
              <a:rPr sz="1900" spc="-405" dirty="0">
                <a:latin typeface="Cambria"/>
                <a:cs typeface="Cambria"/>
              </a:rPr>
              <a:t> </a:t>
            </a:r>
            <a:r>
              <a:rPr sz="1900" spc="10" dirty="0">
                <a:latin typeface="Cambria"/>
                <a:cs typeface="Cambria"/>
              </a:rPr>
              <a:t>to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set-up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20" dirty="0">
                <a:latin typeface="Cambria"/>
                <a:cs typeface="Cambria"/>
              </a:rPr>
              <a:t>“</a:t>
            </a:r>
            <a:r>
              <a:rPr sz="1900" b="1" spc="120" dirty="0">
                <a:latin typeface="Cambria"/>
                <a:cs typeface="Cambria"/>
              </a:rPr>
              <a:t>Path</a:t>
            </a:r>
            <a:r>
              <a:rPr sz="1900" spc="120" dirty="0">
                <a:latin typeface="Cambria"/>
                <a:cs typeface="Cambria"/>
              </a:rPr>
              <a:t>” 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environment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variable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which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is </a:t>
            </a:r>
            <a:r>
              <a:rPr sz="1900" spc="-405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available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from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b="1" spc="200" dirty="0">
                <a:latin typeface="Cambria"/>
                <a:cs typeface="Cambria"/>
              </a:rPr>
              <a:t>My</a:t>
            </a:r>
            <a:r>
              <a:rPr sz="1900" b="1" spc="130" dirty="0">
                <a:latin typeface="Cambria"/>
                <a:cs typeface="Cambria"/>
              </a:rPr>
              <a:t> </a:t>
            </a:r>
            <a:r>
              <a:rPr sz="1900" b="1" spc="140" dirty="0">
                <a:latin typeface="Cambria"/>
                <a:cs typeface="Cambria"/>
              </a:rPr>
              <a:t>Computer </a:t>
            </a:r>
            <a:r>
              <a:rPr sz="1900" b="1" spc="-40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under </a:t>
            </a:r>
            <a:r>
              <a:rPr sz="1900" b="1" spc="140" dirty="0">
                <a:latin typeface="Cambria"/>
                <a:cs typeface="Cambria"/>
              </a:rPr>
              <a:t>Advanced </a:t>
            </a:r>
            <a:r>
              <a:rPr sz="1900" b="1" spc="110" dirty="0">
                <a:latin typeface="Cambria"/>
                <a:cs typeface="Cambria"/>
              </a:rPr>
              <a:t>Properties </a:t>
            </a:r>
            <a:r>
              <a:rPr sz="1900" b="1" spc="-40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tab.</a:t>
            </a:r>
            <a:endParaRPr sz="1900">
              <a:latin typeface="Cambria"/>
              <a:cs typeface="Cambria"/>
            </a:endParaRPr>
          </a:p>
          <a:p>
            <a:pPr marL="652780" marR="5715" lvl="1" indent="-274955">
              <a:lnSpc>
                <a:spcPct val="80100"/>
              </a:lnSpc>
              <a:spcBef>
                <a:spcPts val="44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b="1" spc="114" dirty="0">
                <a:latin typeface="Cambria"/>
                <a:cs typeface="Cambria"/>
              </a:rPr>
              <a:t>Note</a:t>
            </a:r>
            <a:r>
              <a:rPr sz="1900" spc="114" dirty="0">
                <a:latin typeface="Cambria"/>
                <a:cs typeface="Cambria"/>
              </a:rPr>
              <a:t>: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Do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not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delete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90" dirty="0">
                <a:latin typeface="Cambria"/>
                <a:cs typeface="Cambria"/>
              </a:rPr>
              <a:t>anything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in </a:t>
            </a:r>
            <a:r>
              <a:rPr sz="1900" spc="-40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“Path”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variable.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180" dirty="0">
                <a:latin typeface="Cambria"/>
                <a:cs typeface="Cambria"/>
              </a:rPr>
              <a:t>Just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add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your </a:t>
            </a:r>
            <a:r>
              <a:rPr sz="1900" spc="4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path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95" dirty="0">
                <a:latin typeface="Cambria"/>
                <a:cs typeface="Cambria"/>
              </a:rPr>
              <a:t>“C:\Program </a:t>
            </a:r>
            <a:r>
              <a:rPr sz="1900" spc="100" dirty="0">
                <a:latin typeface="Cambria"/>
                <a:cs typeface="Cambria"/>
              </a:rPr>
              <a:t> Files\Java\jdk1.8.0_31\bin;” 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(Depending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15" dirty="0">
                <a:latin typeface="Cambria"/>
                <a:cs typeface="Cambria"/>
              </a:rPr>
              <a:t>on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your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version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 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path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will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change)</a:t>
            </a:r>
            <a:r>
              <a:rPr sz="1900" spc="105" dirty="0">
                <a:latin typeface="Cambria"/>
                <a:cs typeface="Cambria"/>
              </a:rPr>
              <a:t> at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 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beginning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-5" dirty="0">
                <a:latin typeface="Cambria"/>
                <a:cs typeface="Cambria"/>
              </a:rPr>
              <a:t>of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existing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value.</a:t>
            </a:r>
            <a:endParaRPr sz="19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0" y="1600200"/>
            <a:ext cx="3790950" cy="3981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68172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85" dirty="0">
                <a:latin typeface="Cambria"/>
                <a:cs typeface="Cambria"/>
              </a:rPr>
              <a:t>S</a:t>
            </a:r>
            <a:r>
              <a:rPr b="0" spc="285" dirty="0">
                <a:latin typeface="Cambria"/>
                <a:cs typeface="Cambria"/>
              </a:rPr>
              <a:t>TEP</a:t>
            </a:r>
            <a:r>
              <a:rPr b="0" spc="310" dirty="0">
                <a:latin typeface="Cambria"/>
                <a:cs typeface="Cambria"/>
              </a:rPr>
              <a:t> </a:t>
            </a:r>
            <a:r>
              <a:rPr sz="3000" b="0" spc="20" dirty="0">
                <a:latin typeface="Cambria"/>
                <a:cs typeface="Cambria"/>
              </a:rPr>
              <a:t>2:</a:t>
            </a:r>
            <a:r>
              <a:rPr sz="3000" b="0" spc="155" dirty="0">
                <a:latin typeface="Cambria"/>
                <a:cs typeface="Cambria"/>
              </a:rPr>
              <a:t> </a:t>
            </a:r>
            <a:r>
              <a:rPr sz="3000" b="0" spc="270" dirty="0">
                <a:latin typeface="Cambria"/>
                <a:cs typeface="Cambria"/>
              </a:rPr>
              <a:t>I</a:t>
            </a:r>
            <a:r>
              <a:rPr b="0" spc="270" dirty="0">
                <a:latin typeface="Cambria"/>
                <a:cs typeface="Cambria"/>
              </a:rPr>
              <a:t>NSTALL</a:t>
            </a:r>
            <a:r>
              <a:rPr b="0" spc="300" dirty="0">
                <a:latin typeface="Cambria"/>
                <a:cs typeface="Cambria"/>
              </a:rPr>
              <a:t> </a:t>
            </a:r>
            <a:r>
              <a:rPr sz="3000" b="0" spc="340" dirty="0">
                <a:latin typeface="Cambria"/>
                <a:cs typeface="Cambria"/>
              </a:rPr>
              <a:t>IDE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182"/>
            <a:ext cx="7283450" cy="469646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39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95" dirty="0">
                <a:latin typeface="Cambria"/>
                <a:cs typeface="Cambria"/>
              </a:rPr>
              <a:t>Need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an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190" dirty="0">
                <a:latin typeface="Cambria"/>
                <a:cs typeface="Cambria"/>
              </a:rPr>
              <a:t>IDE: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Eclipse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or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NetBeans </a:t>
            </a:r>
            <a:r>
              <a:rPr sz="2200" spc="-5" dirty="0">
                <a:latin typeface="Cambria"/>
                <a:cs typeface="Cambria"/>
              </a:rPr>
              <a:t>or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50" dirty="0">
                <a:latin typeface="Cambria"/>
                <a:cs typeface="Cambria"/>
              </a:rPr>
              <a:t>IntelliJ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220" dirty="0">
                <a:latin typeface="Cambria"/>
                <a:cs typeface="Cambria"/>
              </a:rPr>
              <a:t>IDEA.</a:t>
            </a:r>
            <a:endParaRPr sz="22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2200" spc="165" dirty="0">
                <a:latin typeface="Cambria"/>
                <a:cs typeface="Cambria"/>
              </a:rPr>
              <a:t>Or</a:t>
            </a:r>
            <a:endParaRPr sz="22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3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215" dirty="0">
                <a:latin typeface="Cambria"/>
                <a:cs typeface="Cambria"/>
              </a:rPr>
              <a:t>A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Text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Editor</a:t>
            </a:r>
            <a:r>
              <a:rPr sz="2200" spc="105" dirty="0">
                <a:latin typeface="Cambria"/>
                <a:cs typeface="Cambria"/>
              </a:rPr>
              <a:t> e.g.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TextPad</a:t>
            </a:r>
            <a:endParaRPr sz="22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3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b="1" i="1" spc="185" dirty="0">
                <a:latin typeface="Cambria"/>
                <a:cs typeface="Cambria"/>
              </a:rPr>
              <a:t>You</a:t>
            </a:r>
            <a:r>
              <a:rPr sz="2200" b="1" i="1" spc="135" dirty="0">
                <a:latin typeface="Cambria"/>
                <a:cs typeface="Cambria"/>
              </a:rPr>
              <a:t> </a:t>
            </a:r>
            <a:r>
              <a:rPr sz="2200" b="1" i="1" spc="200" dirty="0">
                <a:latin typeface="Cambria"/>
                <a:cs typeface="Cambria"/>
              </a:rPr>
              <a:t>can</a:t>
            </a:r>
            <a:r>
              <a:rPr sz="2200" b="1" i="1" spc="135" dirty="0">
                <a:latin typeface="Cambria"/>
                <a:cs typeface="Cambria"/>
              </a:rPr>
              <a:t> </a:t>
            </a:r>
            <a:r>
              <a:rPr sz="2200" b="1" i="1" spc="165" dirty="0">
                <a:latin typeface="Cambria"/>
                <a:cs typeface="Cambria"/>
              </a:rPr>
              <a:t>install</a:t>
            </a:r>
            <a:endParaRPr sz="2200">
              <a:latin typeface="Cambria"/>
              <a:cs typeface="Cambria"/>
            </a:endParaRPr>
          </a:p>
          <a:p>
            <a:pPr marL="652780" marR="504190" lvl="1" indent="-274955">
              <a:lnSpc>
                <a:spcPts val="2050"/>
              </a:lnSpc>
              <a:spcBef>
                <a:spcPts val="50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40" dirty="0">
                <a:latin typeface="Cambria"/>
                <a:cs typeface="Cambria"/>
              </a:rPr>
              <a:t>eclipse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from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25" dirty="0">
                <a:latin typeface="Cambria"/>
                <a:cs typeface="Cambria"/>
              </a:rPr>
              <a:t>: </a:t>
            </a:r>
            <a:r>
              <a:rPr sz="1900" spc="30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1900" u="sng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2"/>
              </a:rPr>
              <a:t>http://www.eclipse.org/downloads/packages/eclipse-ide- </a:t>
            </a:r>
            <a:r>
              <a:rPr sz="1900" spc="-405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1900" u="sng" spc="2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2"/>
              </a:rPr>
              <a:t>java-developers/mars1</a:t>
            </a:r>
            <a:endParaRPr sz="19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FD8537"/>
              </a:buClr>
              <a:buFont typeface="Segoe UI Symbol"/>
              <a:buChar char="⚫"/>
            </a:pPr>
            <a:endParaRPr sz="2500">
              <a:latin typeface="Cambria"/>
              <a:cs typeface="Cambria"/>
            </a:endParaRPr>
          </a:p>
          <a:p>
            <a:pPr marL="652780" marR="5080" lvl="1" indent="-274955">
              <a:lnSpc>
                <a:spcPts val="205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95" dirty="0">
                <a:latin typeface="Cambria"/>
                <a:cs typeface="Cambria"/>
              </a:rPr>
              <a:t>NetBeans: </a:t>
            </a:r>
            <a:r>
              <a:rPr sz="1900" spc="100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1900" u="sng" spc="-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3"/>
              </a:rPr>
              <a:t>http://www.oracle.com/technetwork/java/javase/downloads/i </a:t>
            </a:r>
            <a:r>
              <a:rPr sz="1900" spc="-405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1900" u="sng" spc="8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3"/>
              </a:rPr>
              <a:t>ndex.html</a:t>
            </a:r>
            <a:endParaRPr sz="19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FD8537"/>
              </a:buClr>
              <a:buFont typeface="Segoe UI Symbol"/>
              <a:buChar char="⚫"/>
            </a:pPr>
            <a:endParaRPr sz="2500">
              <a:latin typeface="Cambria"/>
              <a:cs typeface="Cambria"/>
            </a:endParaRPr>
          </a:p>
          <a:p>
            <a:pPr marL="652780" marR="57785" lvl="1" indent="-274955">
              <a:lnSpc>
                <a:spcPts val="205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130" dirty="0">
                <a:latin typeface="Cambria"/>
                <a:cs typeface="Cambria"/>
              </a:rPr>
              <a:t>IntelliJ </a:t>
            </a:r>
            <a:r>
              <a:rPr sz="1900" spc="165" dirty="0">
                <a:latin typeface="Cambria"/>
                <a:cs typeface="Cambria"/>
              </a:rPr>
              <a:t>IDEA: </a:t>
            </a:r>
            <a:r>
              <a:rPr sz="1900" spc="170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1900" u="sng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4"/>
              </a:rPr>
              <a:t>https://www.jetbrains.com/idea/download/#section=window </a:t>
            </a:r>
            <a:r>
              <a:rPr sz="1900" spc="-405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1900" u="sng" spc="6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4"/>
              </a:rPr>
              <a:t>s</a:t>
            </a:r>
            <a:endParaRPr sz="1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3970" y="3259073"/>
            <a:ext cx="6216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10" dirty="0">
                <a:latin typeface="Cambria"/>
                <a:cs typeface="Cambria"/>
              </a:rPr>
              <a:t>C</a:t>
            </a:r>
            <a:r>
              <a:rPr b="0" spc="310" dirty="0">
                <a:latin typeface="Cambria"/>
                <a:cs typeface="Cambria"/>
              </a:rPr>
              <a:t>OMPILE</a:t>
            </a:r>
            <a:r>
              <a:rPr b="0" spc="270" dirty="0">
                <a:latin typeface="Cambria"/>
                <a:cs typeface="Cambria"/>
              </a:rPr>
              <a:t> </a:t>
            </a:r>
            <a:r>
              <a:rPr sz="3000" b="0" spc="380" dirty="0">
                <a:latin typeface="Cambria"/>
                <a:cs typeface="Cambria"/>
              </a:rPr>
              <a:t>&amp;</a:t>
            </a:r>
            <a:r>
              <a:rPr sz="3000" b="0" spc="170" dirty="0">
                <a:latin typeface="Cambria"/>
                <a:cs typeface="Cambria"/>
              </a:rPr>
              <a:t> </a:t>
            </a:r>
            <a:r>
              <a:rPr sz="3000" b="0" spc="340" dirty="0">
                <a:latin typeface="Cambria"/>
                <a:cs typeface="Cambria"/>
              </a:rPr>
              <a:t>R</a:t>
            </a:r>
            <a:r>
              <a:rPr b="0" spc="340" dirty="0">
                <a:latin typeface="Cambria"/>
                <a:cs typeface="Cambria"/>
              </a:rPr>
              <a:t>UN</a:t>
            </a:r>
            <a:r>
              <a:rPr b="0" spc="275" dirty="0">
                <a:latin typeface="Cambria"/>
                <a:cs typeface="Cambria"/>
              </a:rPr>
              <a:t> </a:t>
            </a:r>
            <a:r>
              <a:rPr sz="3000" b="0" spc="370" dirty="0">
                <a:latin typeface="Cambria"/>
                <a:cs typeface="Cambria"/>
              </a:rPr>
              <a:t>J</a:t>
            </a:r>
            <a:r>
              <a:rPr b="0" spc="370" dirty="0">
                <a:latin typeface="Cambria"/>
                <a:cs typeface="Cambria"/>
              </a:rPr>
              <a:t>AVA</a:t>
            </a:r>
            <a:r>
              <a:rPr b="0" spc="315" dirty="0">
                <a:latin typeface="Cambria"/>
                <a:cs typeface="Cambria"/>
              </a:rPr>
              <a:t> </a:t>
            </a: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PPLICATION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5006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50" dirty="0">
                <a:latin typeface="Cambria"/>
                <a:cs typeface="Cambria"/>
              </a:rPr>
              <a:t>W</a:t>
            </a:r>
            <a:r>
              <a:rPr b="0" spc="250" dirty="0">
                <a:latin typeface="Cambria"/>
                <a:cs typeface="Cambria"/>
              </a:rPr>
              <a:t>ITHOUT</a:t>
            </a:r>
            <a:r>
              <a:rPr b="0" spc="225" dirty="0">
                <a:latin typeface="Cambria"/>
                <a:cs typeface="Cambria"/>
              </a:rPr>
              <a:t> </a:t>
            </a:r>
            <a:r>
              <a:rPr sz="3000" b="0" spc="340" dirty="0">
                <a:latin typeface="Cambria"/>
                <a:cs typeface="Cambria"/>
              </a:rPr>
              <a:t>IDE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061710" cy="251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Using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405" dirty="0">
                <a:latin typeface="Cambria"/>
                <a:cs typeface="Cambria"/>
              </a:rPr>
              <a:t>JDK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compile</a:t>
            </a:r>
            <a:r>
              <a:rPr sz="2400" spc="105" dirty="0">
                <a:latin typeface="Cambria"/>
                <a:cs typeface="Cambria"/>
              </a:rPr>
              <a:t> 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run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java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65" dirty="0">
                <a:latin typeface="Cambria"/>
                <a:cs typeface="Cambria"/>
              </a:rPr>
              <a:t>program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command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line.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50" dirty="0">
                <a:latin typeface="Cambria"/>
                <a:cs typeface="Cambria"/>
              </a:rPr>
              <a:t>c:&gt;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javac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HelloWorld.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210" dirty="0">
                <a:latin typeface="Cambria"/>
                <a:cs typeface="Cambria"/>
              </a:rPr>
              <a:t>Java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50" dirty="0">
                <a:latin typeface="Cambria"/>
                <a:cs typeface="Cambria"/>
              </a:rPr>
              <a:t>compiling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here</a:t>
            </a:r>
            <a:r>
              <a:rPr sz="1800" spc="75" dirty="0">
                <a:latin typeface="Cambria"/>
                <a:cs typeface="Cambria"/>
              </a:rPr>
              <a:t> and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75" dirty="0">
                <a:latin typeface="Cambria"/>
                <a:cs typeface="Cambria"/>
              </a:rPr>
              <a:t>it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will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produce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HelloWorld.class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i.e.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bytecode.</a:t>
            </a:r>
            <a:endParaRPr sz="18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9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c:&gt;java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HelloWorld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14" dirty="0">
                <a:latin typeface="Cambria"/>
                <a:cs typeface="Cambria"/>
              </a:rPr>
              <a:t>It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runs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java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byte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code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on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native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machine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9540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20" dirty="0">
                <a:latin typeface="Cambria"/>
                <a:cs typeface="Cambria"/>
              </a:rPr>
              <a:t>W</a:t>
            </a:r>
            <a:r>
              <a:rPr b="0" spc="220" dirty="0">
                <a:latin typeface="Cambria"/>
                <a:cs typeface="Cambria"/>
              </a:rPr>
              <a:t>ITH</a:t>
            </a:r>
            <a:r>
              <a:rPr b="0" spc="280" dirty="0">
                <a:latin typeface="Cambria"/>
                <a:cs typeface="Cambria"/>
              </a:rPr>
              <a:t> </a:t>
            </a:r>
            <a:r>
              <a:rPr sz="3000" b="0" spc="420" dirty="0">
                <a:latin typeface="Cambria"/>
                <a:cs typeface="Cambria"/>
              </a:rPr>
              <a:t>JAVA</a:t>
            </a:r>
            <a:r>
              <a:rPr sz="3000" b="0" spc="110" dirty="0">
                <a:latin typeface="Cambria"/>
                <a:cs typeface="Cambria"/>
              </a:rPr>
              <a:t> </a:t>
            </a:r>
            <a:r>
              <a:rPr sz="3000" b="0" spc="340" dirty="0">
                <a:latin typeface="Cambria"/>
                <a:cs typeface="Cambria"/>
              </a:rPr>
              <a:t>IDE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16140" cy="227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Creating,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Compiling, </a:t>
            </a:r>
            <a:r>
              <a:rPr sz="2400" spc="105" dirty="0">
                <a:latin typeface="Cambria"/>
                <a:cs typeface="Cambria"/>
              </a:rPr>
              <a:t>Debugging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Execution 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these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four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steps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05" dirty="0">
                <a:latin typeface="Cambria"/>
                <a:cs typeface="Cambria"/>
              </a:rPr>
              <a:t>JDK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friendly.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270" dirty="0">
                <a:latin typeface="Cambria"/>
                <a:cs typeface="Cambria"/>
              </a:rPr>
              <a:t>IDE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provided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that.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list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25" dirty="0">
                <a:latin typeface="Cambria"/>
                <a:cs typeface="Cambria"/>
              </a:rPr>
              <a:t>IDEs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are: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Eclipse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Netbeans.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5" dirty="0">
                <a:latin typeface="Cambria"/>
                <a:cs typeface="Cambria"/>
              </a:rPr>
              <a:t>IntelliJ</a:t>
            </a:r>
            <a:r>
              <a:rPr sz="2100" spc="80" dirty="0">
                <a:latin typeface="Cambria"/>
                <a:cs typeface="Cambria"/>
              </a:rPr>
              <a:t> </a:t>
            </a:r>
            <a:r>
              <a:rPr sz="2100" spc="225" dirty="0">
                <a:latin typeface="Cambria"/>
                <a:cs typeface="Cambria"/>
              </a:rPr>
              <a:t>IDEA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1570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40" dirty="0">
                <a:latin typeface="Cambria"/>
                <a:cs typeface="Cambria"/>
              </a:rPr>
              <a:t>D</a:t>
            </a:r>
            <a:r>
              <a:rPr b="0" spc="240" dirty="0">
                <a:latin typeface="Cambria"/>
                <a:cs typeface="Cambria"/>
              </a:rPr>
              <a:t>ATA</a:t>
            </a:r>
            <a:r>
              <a:rPr b="0" spc="260" dirty="0">
                <a:latin typeface="Cambria"/>
                <a:cs typeface="Cambria"/>
              </a:rPr>
              <a:t> </a:t>
            </a:r>
            <a:r>
              <a:rPr sz="3000" b="0" spc="285" dirty="0">
                <a:latin typeface="Cambria"/>
                <a:cs typeface="Cambria"/>
              </a:rPr>
              <a:t>T</a:t>
            </a:r>
            <a:r>
              <a:rPr b="0" spc="285" dirty="0">
                <a:latin typeface="Cambria"/>
                <a:cs typeface="Cambria"/>
              </a:rPr>
              <a:t>YPES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6163"/>
            <a:ext cx="7293609" cy="483362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5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80" dirty="0">
                <a:latin typeface="Cambria"/>
                <a:cs typeface="Cambria"/>
              </a:rPr>
              <a:t>Divided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into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two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broad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categories:</a:t>
            </a:r>
            <a:endParaRPr sz="2000">
              <a:latin typeface="Cambria"/>
              <a:cs typeface="Cambria"/>
            </a:endParaRPr>
          </a:p>
          <a:p>
            <a:pPr marL="654050" lvl="1" indent="-274955">
              <a:lnSpc>
                <a:spcPct val="100000"/>
              </a:lnSpc>
              <a:spcBef>
                <a:spcPts val="229"/>
              </a:spcBef>
              <a:buClr>
                <a:srgbClr val="FD8537"/>
              </a:buClr>
              <a:buSzPct val="80555"/>
              <a:buFont typeface="Wingdings"/>
              <a:buChar char=""/>
              <a:tabLst>
                <a:tab pos="654685" algn="l"/>
              </a:tabLst>
            </a:pPr>
            <a:r>
              <a:rPr sz="1800" spc="55" dirty="0">
                <a:latin typeface="Cambria"/>
                <a:cs typeface="Cambria"/>
              </a:rPr>
              <a:t>primitive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types</a:t>
            </a:r>
            <a:endParaRPr sz="1800">
              <a:latin typeface="Cambria"/>
              <a:cs typeface="Cambria"/>
            </a:endParaRPr>
          </a:p>
          <a:p>
            <a:pPr marL="654050" lvl="1" indent="-274955">
              <a:lnSpc>
                <a:spcPct val="100000"/>
              </a:lnSpc>
              <a:spcBef>
                <a:spcPts val="215"/>
              </a:spcBef>
              <a:buClr>
                <a:srgbClr val="FD8537"/>
              </a:buClr>
              <a:buSzPct val="80555"/>
              <a:buFont typeface="Wingdings"/>
              <a:buChar char=""/>
              <a:tabLst>
                <a:tab pos="654685" algn="l"/>
              </a:tabLst>
            </a:pPr>
            <a:r>
              <a:rPr sz="1800" spc="15" dirty="0">
                <a:latin typeface="Cambria"/>
                <a:cs typeface="Cambria"/>
              </a:rPr>
              <a:t>class/reference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types.</a:t>
            </a:r>
            <a:endParaRPr sz="18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FD8537"/>
              </a:buClr>
              <a:buFont typeface="Wingdings"/>
              <a:buChar char=""/>
            </a:pPr>
            <a:endParaRPr sz="23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85" dirty="0">
                <a:latin typeface="Cambria"/>
                <a:cs typeface="Cambria"/>
              </a:rPr>
              <a:t>Primitive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data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: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eight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types</a:t>
            </a:r>
            <a:endParaRPr sz="2000">
              <a:latin typeface="Cambria"/>
              <a:cs typeface="Cambria"/>
            </a:endParaRPr>
          </a:p>
          <a:p>
            <a:pPr marL="652780" indent="-275590">
              <a:lnSpc>
                <a:spcPct val="100000"/>
              </a:lnSpc>
              <a:spcBef>
                <a:spcPts val="220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65" dirty="0">
                <a:latin typeface="Cambria"/>
                <a:cs typeface="Cambria"/>
              </a:rPr>
              <a:t>Logical: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boolean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(true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or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false)</a:t>
            </a:r>
            <a:endParaRPr sz="1800">
              <a:latin typeface="Cambria"/>
              <a:cs typeface="Cambria"/>
            </a:endParaRPr>
          </a:p>
          <a:p>
            <a:pPr marL="1200150" lvl="1" indent="-274955">
              <a:lnSpc>
                <a:spcPct val="100000"/>
              </a:lnSpc>
              <a:spcBef>
                <a:spcPts val="180"/>
              </a:spcBef>
              <a:buClr>
                <a:srgbClr val="FDC3AD"/>
              </a:buClr>
              <a:buSzPct val="60000"/>
              <a:buFont typeface="Segoe UI Symbol"/>
              <a:buChar char="⚫"/>
              <a:tabLst>
                <a:tab pos="1199515" algn="l"/>
                <a:tab pos="1200150" algn="l"/>
              </a:tabLst>
            </a:pPr>
            <a:r>
              <a:rPr sz="1500" spc="25" dirty="0">
                <a:latin typeface="Cambria"/>
                <a:cs typeface="Cambria"/>
              </a:rPr>
              <a:t>doesn’t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hold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integer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(unlike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C)</a:t>
            </a:r>
            <a:endParaRPr sz="1500">
              <a:latin typeface="Cambria"/>
              <a:cs typeface="Cambria"/>
            </a:endParaRPr>
          </a:p>
          <a:p>
            <a:pPr marL="652780" indent="-275590">
              <a:lnSpc>
                <a:spcPct val="100000"/>
              </a:lnSpc>
              <a:spcBef>
                <a:spcPts val="219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80" dirty="0">
                <a:latin typeface="Cambria"/>
                <a:cs typeface="Cambria"/>
              </a:rPr>
              <a:t>Textual: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char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(16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bits)</a:t>
            </a:r>
            <a:endParaRPr sz="1800">
              <a:latin typeface="Cambria"/>
              <a:cs typeface="Cambria"/>
            </a:endParaRPr>
          </a:p>
          <a:p>
            <a:pPr marL="1200150" lvl="1" indent="-274955">
              <a:lnSpc>
                <a:spcPct val="100000"/>
              </a:lnSpc>
              <a:spcBef>
                <a:spcPts val="180"/>
              </a:spcBef>
              <a:buClr>
                <a:srgbClr val="FDC3AD"/>
              </a:buClr>
              <a:buSzPct val="60000"/>
              <a:buFont typeface="Segoe UI Symbol"/>
              <a:buChar char="⚫"/>
              <a:tabLst>
                <a:tab pos="1199515" algn="l"/>
                <a:tab pos="1200150" algn="l"/>
              </a:tabLst>
            </a:pPr>
            <a:r>
              <a:rPr sz="1500" spc="50" dirty="0">
                <a:latin typeface="Cambria"/>
                <a:cs typeface="Cambria"/>
              </a:rPr>
              <a:t>use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the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Unicode(International: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0-255)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not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05" dirty="0">
                <a:latin typeface="Cambria"/>
                <a:cs typeface="Cambria"/>
              </a:rPr>
              <a:t>ASCII(1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byte: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5" dirty="0">
                <a:latin typeface="Cambria"/>
                <a:cs typeface="Cambria"/>
              </a:rPr>
              <a:t>0-127)</a:t>
            </a:r>
            <a:endParaRPr sz="1500">
              <a:latin typeface="Cambria"/>
              <a:cs typeface="Cambria"/>
            </a:endParaRPr>
          </a:p>
          <a:p>
            <a:pPr marL="652780" indent="-275590">
              <a:lnSpc>
                <a:spcPts val="2050"/>
              </a:lnSpc>
              <a:spcBef>
                <a:spcPts val="215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75" dirty="0">
                <a:latin typeface="Cambria"/>
                <a:cs typeface="Cambria"/>
              </a:rPr>
              <a:t>Integral: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byte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-45" dirty="0">
                <a:latin typeface="Cambria"/>
                <a:cs typeface="Cambria"/>
              </a:rPr>
              <a:t>(8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bits),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short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(16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bits),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int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(32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bits),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long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(64</a:t>
            </a:r>
            <a:endParaRPr sz="1800">
              <a:latin typeface="Cambria"/>
              <a:cs typeface="Cambria"/>
            </a:endParaRPr>
          </a:p>
          <a:p>
            <a:pPr marL="652780">
              <a:lnSpc>
                <a:spcPts val="2050"/>
              </a:lnSpc>
            </a:pPr>
            <a:r>
              <a:rPr sz="1800" spc="20" dirty="0">
                <a:latin typeface="Cambria"/>
                <a:cs typeface="Cambria"/>
              </a:rPr>
              <a:t>bits)</a:t>
            </a:r>
            <a:endParaRPr sz="1800">
              <a:latin typeface="Cambria"/>
              <a:cs typeface="Cambria"/>
            </a:endParaRPr>
          </a:p>
          <a:p>
            <a:pPr marL="652780" indent="-275590">
              <a:lnSpc>
                <a:spcPct val="100000"/>
              </a:lnSpc>
              <a:spcBef>
                <a:spcPts val="219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85" dirty="0">
                <a:latin typeface="Cambria"/>
                <a:cs typeface="Cambria"/>
              </a:rPr>
              <a:t>Floating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point: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float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(32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bits)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double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(64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bits)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135" dirty="0">
                <a:latin typeface="Cambria"/>
                <a:cs typeface="Cambria"/>
              </a:rPr>
              <a:t>Class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reference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data: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two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types</a:t>
            </a:r>
            <a:endParaRPr sz="20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25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80" dirty="0">
                <a:latin typeface="Cambria"/>
                <a:cs typeface="Cambria"/>
              </a:rPr>
              <a:t>Textual: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String</a:t>
            </a:r>
            <a:endParaRPr sz="18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15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105" dirty="0">
                <a:latin typeface="Cambria"/>
                <a:cs typeface="Cambria"/>
              </a:rPr>
              <a:t>All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classes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that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declare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by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yourself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5252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80" dirty="0">
                <a:latin typeface="Cambria"/>
                <a:cs typeface="Cambria"/>
              </a:rPr>
              <a:t>C</a:t>
            </a:r>
            <a:r>
              <a:rPr b="0" spc="235" dirty="0">
                <a:latin typeface="Cambria"/>
                <a:cs typeface="Cambria"/>
              </a:rPr>
              <a:t>AS</a:t>
            </a:r>
            <a:r>
              <a:rPr b="0" spc="245" dirty="0">
                <a:latin typeface="Cambria"/>
                <a:cs typeface="Cambria"/>
              </a:rPr>
              <a:t>T</a:t>
            </a:r>
            <a:r>
              <a:rPr b="0" spc="300" dirty="0">
                <a:latin typeface="Cambria"/>
                <a:cs typeface="Cambria"/>
              </a:rPr>
              <a:t>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49713"/>
            <a:ext cx="6889115" cy="1438214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90" dirty="0">
                <a:latin typeface="Cambria"/>
                <a:cs typeface="Cambria"/>
              </a:rPr>
              <a:t>Converting</a:t>
            </a:r>
            <a:r>
              <a:rPr sz="2400" b="1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one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data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type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to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5" dirty="0">
                <a:latin typeface="Cambria"/>
                <a:cs typeface="Cambria"/>
              </a:rPr>
              <a:t>another</a:t>
            </a:r>
            <a:r>
              <a:rPr sz="2400" spc="155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e.g.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assigning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int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value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long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variable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</a:pPr>
            <a:endParaRPr sz="3450" dirty="0">
              <a:latin typeface="Cambria"/>
              <a:cs typeface="Cambr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F892D-A5BF-BA4C-53FA-070544446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667000"/>
            <a:ext cx="5367655" cy="2809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5252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80" dirty="0">
                <a:latin typeface="Cambria"/>
                <a:cs typeface="Cambria"/>
              </a:rPr>
              <a:t>C</a:t>
            </a:r>
            <a:r>
              <a:rPr b="0" spc="235" dirty="0">
                <a:latin typeface="Cambria"/>
                <a:cs typeface="Cambria"/>
              </a:rPr>
              <a:t>AS</a:t>
            </a:r>
            <a:r>
              <a:rPr b="0" spc="245" dirty="0">
                <a:latin typeface="Cambria"/>
                <a:cs typeface="Cambria"/>
              </a:rPr>
              <a:t>T</a:t>
            </a:r>
            <a:r>
              <a:rPr b="0" spc="300" dirty="0">
                <a:latin typeface="Cambria"/>
                <a:cs typeface="Cambria"/>
              </a:rPr>
              <a:t>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49713"/>
            <a:ext cx="6889115" cy="496887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90" dirty="0">
                <a:latin typeface="Cambria"/>
                <a:cs typeface="Cambria"/>
              </a:rPr>
              <a:t>Converting</a:t>
            </a:r>
            <a:r>
              <a:rPr sz="2400" b="1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one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data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type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to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5" dirty="0">
                <a:latin typeface="Cambria"/>
                <a:cs typeface="Cambria"/>
              </a:rPr>
              <a:t>another</a:t>
            </a:r>
            <a:r>
              <a:rPr sz="2400" spc="155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e.g.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assigning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int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value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long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variable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Wingdings"/>
              <a:buChar char=""/>
            </a:pPr>
            <a:endParaRPr sz="34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Example</a:t>
            </a:r>
            <a:endParaRPr sz="2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0"/>
              </a:spcBef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TestCast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017269" marR="2546350" indent="-273050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main(String[]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args)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byte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b=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5;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b</a:t>
            </a:r>
            <a:r>
              <a:rPr sz="1600" spc="10" dirty="0">
                <a:latin typeface="Cambria"/>
                <a:cs typeface="Cambria"/>
              </a:rPr>
              <a:t>;</a:t>
            </a:r>
            <a:r>
              <a:rPr sz="1600" dirty="0">
                <a:latin typeface="Cambria"/>
                <a:cs typeface="Cambria"/>
              </a:rPr>
              <a:t>  </a:t>
            </a:r>
            <a:r>
              <a:rPr sz="1600" spc="-16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185" dirty="0">
                <a:latin typeface="Cambria"/>
                <a:cs typeface="Cambria"/>
              </a:rPr>
              <a:t>O</a:t>
            </a:r>
            <a:r>
              <a:rPr sz="1600" spc="220" dirty="0">
                <a:latin typeface="Cambria"/>
                <a:cs typeface="Cambria"/>
              </a:rPr>
              <a:t>K</a:t>
            </a:r>
            <a:r>
              <a:rPr sz="1600" spc="114" dirty="0">
                <a:latin typeface="Cambria"/>
                <a:cs typeface="Cambria"/>
              </a:rPr>
              <a:t>.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b="1" spc="114" dirty="0">
                <a:latin typeface="Cambria"/>
                <a:cs typeface="Cambria"/>
              </a:rPr>
              <a:t>Auto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310" dirty="0">
                <a:latin typeface="Cambria"/>
                <a:cs typeface="Cambria"/>
              </a:rPr>
              <a:t>C</a:t>
            </a:r>
            <a:r>
              <a:rPr sz="1600" b="1" spc="100" dirty="0">
                <a:latin typeface="Cambria"/>
                <a:cs typeface="Cambria"/>
              </a:rPr>
              <a:t>as</a:t>
            </a:r>
            <a:r>
              <a:rPr sz="1600" b="1" spc="75" dirty="0">
                <a:latin typeface="Cambria"/>
                <a:cs typeface="Cambria"/>
              </a:rPr>
              <a:t>t</a:t>
            </a:r>
            <a:r>
              <a:rPr sz="1600" b="1" spc="110" dirty="0">
                <a:latin typeface="Cambria"/>
                <a:cs typeface="Cambria"/>
              </a:rPr>
              <a:t>ing</a:t>
            </a:r>
            <a:endParaRPr sz="1600">
              <a:latin typeface="Cambria"/>
              <a:cs typeface="Cambria"/>
            </a:endParaRPr>
          </a:p>
          <a:p>
            <a:pPr marL="1017269" marR="1896110">
              <a:lnSpc>
                <a:spcPct val="100000"/>
              </a:lnSpc>
              <a:spcBef>
                <a:spcPts val="5"/>
              </a:spcBef>
            </a:pPr>
            <a:r>
              <a:rPr sz="1600" spc="30" dirty="0">
                <a:latin typeface="Cambria"/>
                <a:cs typeface="Cambria"/>
              </a:rPr>
              <a:t>byt</a:t>
            </a:r>
            <a:r>
              <a:rPr sz="1600" spc="40" dirty="0">
                <a:latin typeface="Cambria"/>
                <a:cs typeface="Cambria"/>
              </a:rPr>
              <a:t>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a</a:t>
            </a:r>
            <a:r>
              <a:rPr sz="1600" spc="40" dirty="0">
                <a:latin typeface="Cambria"/>
                <a:cs typeface="Cambria"/>
              </a:rPr>
              <a:t>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Co</a:t>
            </a:r>
            <a:r>
              <a:rPr sz="1600" spc="60" dirty="0">
                <a:latin typeface="Cambria"/>
                <a:cs typeface="Cambria"/>
              </a:rPr>
              <a:t>m</a:t>
            </a:r>
            <a:r>
              <a:rPr sz="1600" spc="35" dirty="0">
                <a:latin typeface="Cambria"/>
                <a:cs typeface="Cambria"/>
              </a:rPr>
              <a:t>pil</a:t>
            </a:r>
            <a:r>
              <a:rPr sz="1600" spc="70" dirty="0">
                <a:latin typeface="Cambria"/>
                <a:cs typeface="Cambria"/>
              </a:rPr>
              <a:t>e</a:t>
            </a:r>
            <a:r>
              <a:rPr sz="1600" spc="45" dirty="0">
                <a:latin typeface="Cambria"/>
                <a:cs typeface="Cambria"/>
              </a:rPr>
              <a:t>r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40" dirty="0">
                <a:latin typeface="Cambria"/>
                <a:cs typeface="Cambria"/>
              </a:rPr>
              <a:t>rror.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Ne</a:t>
            </a:r>
            <a:r>
              <a:rPr sz="1600" spc="75" dirty="0">
                <a:latin typeface="Cambria"/>
                <a:cs typeface="Cambria"/>
              </a:rPr>
              <a:t>e</a:t>
            </a:r>
            <a:r>
              <a:rPr sz="1600" spc="25" dirty="0">
                <a:latin typeface="Cambria"/>
                <a:cs typeface="Cambria"/>
              </a:rPr>
              <a:t>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140" dirty="0">
                <a:latin typeface="Cambria"/>
                <a:cs typeface="Cambria"/>
              </a:rPr>
              <a:t>Ca</a:t>
            </a:r>
            <a:r>
              <a:rPr sz="1600" spc="114" dirty="0">
                <a:latin typeface="Cambria"/>
                <a:cs typeface="Cambria"/>
              </a:rPr>
              <a:t>s</a:t>
            </a:r>
            <a:r>
              <a:rPr sz="1600" spc="55" dirty="0">
                <a:latin typeface="Cambria"/>
                <a:cs typeface="Cambria"/>
              </a:rPr>
              <a:t>ting  </a:t>
            </a:r>
            <a:r>
              <a:rPr sz="1600" dirty="0">
                <a:latin typeface="Cambria"/>
                <a:cs typeface="Cambria"/>
              </a:rPr>
              <a:t>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(b</a:t>
            </a:r>
            <a:r>
              <a:rPr sz="1600" spc="-20" dirty="0">
                <a:latin typeface="Cambria"/>
                <a:cs typeface="Cambria"/>
              </a:rPr>
              <a:t>y</a:t>
            </a:r>
            <a:r>
              <a:rPr sz="1600" spc="30" dirty="0">
                <a:latin typeface="Cambria"/>
                <a:cs typeface="Cambria"/>
              </a:rPr>
              <a:t>t</a:t>
            </a:r>
            <a:r>
              <a:rPr sz="1600" spc="60" dirty="0">
                <a:latin typeface="Cambria"/>
                <a:cs typeface="Cambria"/>
              </a:rPr>
              <a:t>e</a:t>
            </a:r>
            <a:r>
              <a:rPr sz="1600" spc="15" dirty="0">
                <a:latin typeface="Cambria"/>
                <a:cs typeface="Cambria"/>
              </a:rPr>
              <a:t>)a;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b="1" spc="310" dirty="0">
                <a:latin typeface="Cambria"/>
                <a:cs typeface="Cambria"/>
              </a:rPr>
              <a:t>C</a:t>
            </a:r>
            <a:r>
              <a:rPr sz="1600" b="1" spc="100" dirty="0">
                <a:latin typeface="Cambria"/>
                <a:cs typeface="Cambria"/>
              </a:rPr>
              <a:t>as</a:t>
            </a:r>
            <a:r>
              <a:rPr sz="1600" b="1" spc="75" dirty="0">
                <a:latin typeface="Cambria"/>
                <a:cs typeface="Cambria"/>
              </a:rPr>
              <a:t>t</a:t>
            </a:r>
            <a:r>
              <a:rPr sz="1600" b="1" spc="110" dirty="0">
                <a:latin typeface="Cambria"/>
                <a:cs typeface="Cambria"/>
              </a:rPr>
              <a:t>ing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  <a:spcBef>
                <a:spcPts val="5"/>
              </a:spcBef>
            </a:pPr>
            <a:r>
              <a:rPr sz="1600" spc="50" dirty="0">
                <a:latin typeface="Cambria"/>
                <a:cs typeface="Cambria"/>
              </a:rPr>
              <a:t>float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f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1.2f;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80" dirty="0">
                <a:latin typeface="Cambria"/>
                <a:cs typeface="Cambria"/>
              </a:rPr>
              <a:t>a</a:t>
            </a:r>
            <a:r>
              <a:rPr sz="1600" spc="95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f;</a:t>
            </a:r>
            <a:r>
              <a:rPr sz="1600" dirty="0">
                <a:latin typeface="Cambria"/>
                <a:cs typeface="Cambria"/>
              </a:rPr>
              <a:t>  </a:t>
            </a:r>
            <a:r>
              <a:rPr sz="1600" spc="-155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Co</a:t>
            </a:r>
            <a:r>
              <a:rPr sz="1600" spc="60" dirty="0">
                <a:latin typeface="Cambria"/>
                <a:cs typeface="Cambria"/>
              </a:rPr>
              <a:t>m</a:t>
            </a:r>
            <a:r>
              <a:rPr sz="1600" spc="35" dirty="0">
                <a:latin typeface="Cambria"/>
                <a:cs typeface="Cambria"/>
              </a:rPr>
              <a:t>pil</a:t>
            </a:r>
            <a:r>
              <a:rPr sz="1600" spc="70" dirty="0">
                <a:latin typeface="Cambria"/>
                <a:cs typeface="Cambria"/>
              </a:rPr>
              <a:t>e</a:t>
            </a:r>
            <a:r>
              <a:rPr sz="1600" spc="45" dirty="0">
                <a:latin typeface="Cambria"/>
                <a:cs typeface="Cambria"/>
              </a:rPr>
              <a:t>r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40" dirty="0">
                <a:latin typeface="Cambria"/>
                <a:cs typeface="Cambria"/>
              </a:rPr>
              <a:t>rror.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Ne</a:t>
            </a:r>
            <a:r>
              <a:rPr sz="1600" spc="75" dirty="0">
                <a:latin typeface="Cambria"/>
                <a:cs typeface="Cambria"/>
              </a:rPr>
              <a:t>e</a:t>
            </a:r>
            <a:r>
              <a:rPr sz="1600" spc="25" dirty="0">
                <a:latin typeface="Cambria"/>
                <a:cs typeface="Cambria"/>
              </a:rPr>
              <a:t>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140" dirty="0">
                <a:latin typeface="Cambria"/>
                <a:cs typeface="Cambria"/>
              </a:rPr>
              <a:t>Ca</a:t>
            </a:r>
            <a:r>
              <a:rPr sz="1600" spc="114" dirty="0">
                <a:latin typeface="Cambria"/>
                <a:cs typeface="Cambria"/>
              </a:rPr>
              <a:t>s</a:t>
            </a:r>
            <a:r>
              <a:rPr sz="1600" spc="75" dirty="0">
                <a:latin typeface="Cambria"/>
                <a:cs typeface="Cambria"/>
              </a:rPr>
              <a:t>t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(in</a:t>
            </a:r>
            <a:r>
              <a:rPr sz="1600" spc="10" dirty="0">
                <a:latin typeface="Cambria"/>
                <a:cs typeface="Cambria"/>
              </a:rPr>
              <a:t>t)</a:t>
            </a:r>
            <a:r>
              <a:rPr sz="1600" dirty="0">
                <a:latin typeface="Cambria"/>
                <a:cs typeface="Cambria"/>
              </a:rPr>
              <a:t>f</a:t>
            </a:r>
            <a:r>
              <a:rPr sz="1600" spc="20" dirty="0">
                <a:latin typeface="Cambria"/>
                <a:cs typeface="Cambria"/>
              </a:rPr>
              <a:t>;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b="1" spc="220" dirty="0">
                <a:latin typeface="Cambria"/>
                <a:cs typeface="Cambria"/>
              </a:rPr>
              <a:t>E</a:t>
            </a:r>
            <a:r>
              <a:rPr sz="1600" b="1" spc="190" dirty="0">
                <a:latin typeface="Cambria"/>
                <a:cs typeface="Cambria"/>
              </a:rPr>
              <a:t>x</a:t>
            </a:r>
            <a:r>
              <a:rPr sz="1600" b="1" spc="95" dirty="0">
                <a:latin typeface="Cambria"/>
                <a:cs typeface="Cambria"/>
              </a:rPr>
              <a:t>plicit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315" dirty="0">
                <a:latin typeface="Cambria"/>
                <a:cs typeface="Cambria"/>
              </a:rPr>
              <a:t>C</a:t>
            </a:r>
            <a:r>
              <a:rPr sz="1600" b="1" spc="90" dirty="0">
                <a:latin typeface="Cambria"/>
                <a:cs typeface="Cambria"/>
              </a:rPr>
              <a:t>ast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45" dirty="0">
                <a:latin typeface="Cambria"/>
                <a:cs typeface="Cambria"/>
              </a:rPr>
              <a:t>f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a;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605342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8427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60" dirty="0">
                <a:latin typeface="Cambria"/>
                <a:cs typeface="Cambria"/>
              </a:rPr>
              <a:t>O</a:t>
            </a:r>
            <a:r>
              <a:rPr b="0" spc="290" dirty="0">
                <a:latin typeface="Cambria"/>
                <a:cs typeface="Cambria"/>
              </a:rPr>
              <a:t>P</a:t>
            </a:r>
            <a:r>
              <a:rPr b="0" spc="285" dirty="0">
                <a:latin typeface="Cambria"/>
                <a:cs typeface="Cambria"/>
              </a:rPr>
              <a:t>E</a:t>
            </a:r>
            <a:r>
              <a:rPr b="0" spc="229" dirty="0">
                <a:latin typeface="Cambria"/>
                <a:cs typeface="Cambria"/>
              </a:rPr>
              <a:t>RA</a:t>
            </a:r>
            <a:r>
              <a:rPr b="0" spc="235" dirty="0">
                <a:latin typeface="Cambria"/>
                <a:cs typeface="Cambria"/>
              </a:rPr>
              <a:t>TOR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4034154" cy="31203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Assignment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=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Arithmetic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+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70" dirty="0">
                <a:latin typeface="Cambria"/>
                <a:cs typeface="Cambria"/>
              </a:rPr>
              <a:t>*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09" dirty="0">
                <a:latin typeface="Cambria"/>
                <a:cs typeface="Cambria"/>
              </a:rPr>
              <a:t>/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140" dirty="0">
                <a:latin typeface="Cambria"/>
                <a:cs typeface="Cambria"/>
              </a:rPr>
              <a:t>%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  <a:tab pos="2125980" algn="l"/>
              </a:tabLst>
            </a:pPr>
            <a:r>
              <a:rPr sz="2400" spc="130" dirty="0">
                <a:latin typeface="Cambria"/>
                <a:cs typeface="Cambria"/>
              </a:rPr>
              <a:t>Equality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==	</a:t>
            </a:r>
            <a:r>
              <a:rPr sz="2400" spc="75" dirty="0">
                <a:latin typeface="Cambria"/>
                <a:cs typeface="Cambria"/>
              </a:rPr>
              <a:t>!=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Relational </a:t>
            </a:r>
            <a:r>
              <a:rPr sz="2400" spc="125" dirty="0">
                <a:latin typeface="Cambria"/>
                <a:cs typeface="Cambria"/>
              </a:rPr>
              <a:t>&lt;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&lt;=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&gt;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&gt;=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Logical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60" dirty="0">
                <a:latin typeface="Cambria"/>
                <a:cs typeface="Cambria"/>
              </a:rPr>
              <a:t>&amp;&amp;,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690" dirty="0">
                <a:latin typeface="Cambria"/>
                <a:cs typeface="Cambria"/>
              </a:rPr>
              <a:t>||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40" dirty="0">
                <a:latin typeface="Cambria"/>
                <a:cs typeface="Cambria"/>
              </a:rPr>
              <a:t>increment/decrement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++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--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50" dirty="0">
                <a:latin typeface="Cambria"/>
                <a:cs typeface="Cambria"/>
              </a:rPr>
              <a:t>Shift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&lt;&lt;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&gt;&gt;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3671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00" dirty="0">
                <a:latin typeface="Cambria"/>
                <a:cs typeface="Cambria"/>
              </a:rPr>
              <a:t>A</a:t>
            </a:r>
            <a:r>
              <a:rPr b="0" spc="235" dirty="0">
                <a:latin typeface="Cambria"/>
                <a:cs typeface="Cambria"/>
              </a:rPr>
              <a:t>R</a:t>
            </a:r>
            <a:r>
              <a:rPr b="0" spc="229" dirty="0">
                <a:latin typeface="Cambria"/>
                <a:cs typeface="Cambria"/>
              </a:rPr>
              <a:t>R</a:t>
            </a:r>
            <a:r>
              <a:rPr b="0" spc="285" dirty="0">
                <a:latin typeface="Cambria"/>
                <a:cs typeface="Cambria"/>
              </a:rPr>
              <a:t>AYS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204075" cy="430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80" dirty="0">
                <a:latin typeface="Cambria"/>
                <a:cs typeface="Cambria"/>
              </a:rPr>
              <a:t>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array</a:t>
            </a:r>
            <a:r>
              <a:rPr sz="2400" b="1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collection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data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items,</a:t>
            </a:r>
            <a:r>
              <a:rPr sz="2400" spc="120" dirty="0">
                <a:latin typeface="Cambria"/>
                <a:cs typeface="Cambria"/>
              </a:rPr>
              <a:t> all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b="1" spc="135" dirty="0">
                <a:latin typeface="Cambria"/>
                <a:cs typeface="Cambria"/>
              </a:rPr>
              <a:t>same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type</a:t>
            </a:r>
            <a:r>
              <a:rPr sz="2400" spc="150" dirty="0">
                <a:latin typeface="Cambria"/>
                <a:cs typeface="Cambria"/>
              </a:rPr>
              <a:t>,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accessed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using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common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name</a:t>
            </a:r>
            <a:r>
              <a:rPr sz="2400" spc="165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285115" marR="5137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The data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either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primitive</a:t>
            </a:r>
            <a:r>
              <a:rPr sz="2400" b="1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data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reference </a:t>
            </a:r>
            <a:r>
              <a:rPr sz="2400" spc="80" dirty="0">
                <a:latin typeface="Cambria"/>
                <a:cs typeface="Cambria"/>
              </a:rPr>
              <a:t>type.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8537"/>
              </a:buClr>
              <a:buFont typeface="Wingdings"/>
              <a:buChar char=""/>
            </a:pPr>
            <a:endParaRPr sz="34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Major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differences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with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C/C++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arrays: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10" dirty="0">
                <a:latin typeface="Cambria"/>
                <a:cs typeface="Cambria"/>
              </a:rPr>
              <a:t>Java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arrays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are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references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10" dirty="0">
                <a:latin typeface="Cambria"/>
                <a:cs typeface="Cambria"/>
              </a:rPr>
              <a:t>Java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arrays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know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their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size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(length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property)</a:t>
            </a:r>
            <a:endParaRPr sz="2100">
              <a:latin typeface="Cambria"/>
              <a:cs typeface="Cambria"/>
            </a:endParaRPr>
          </a:p>
          <a:p>
            <a:pPr marL="652780" marR="134239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10" dirty="0">
                <a:latin typeface="Cambria"/>
                <a:cs typeface="Cambria"/>
              </a:rPr>
              <a:t>Java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multidimensional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arrays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need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not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rectangular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10" dirty="0">
                <a:latin typeface="Cambria"/>
                <a:cs typeface="Cambria"/>
              </a:rPr>
              <a:t>Java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array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elements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are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initialized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838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RRAY</a:t>
            </a:r>
            <a:r>
              <a:rPr b="0" spc="315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D</a:t>
            </a:r>
            <a:r>
              <a:rPr b="0" spc="275" dirty="0">
                <a:latin typeface="Cambria"/>
                <a:cs typeface="Cambria"/>
              </a:rPr>
              <a:t>ECLARATION</a:t>
            </a:r>
            <a:r>
              <a:rPr b="0" spc="345" dirty="0">
                <a:latin typeface="Cambria"/>
                <a:cs typeface="Cambria"/>
              </a:rPr>
              <a:t> </a:t>
            </a:r>
            <a:r>
              <a:rPr sz="3000" b="0" spc="380" dirty="0">
                <a:latin typeface="Cambria"/>
                <a:cs typeface="Cambria"/>
              </a:rPr>
              <a:t>&amp;</a:t>
            </a:r>
            <a:r>
              <a:rPr sz="3000" b="0" spc="165" dirty="0">
                <a:latin typeface="Cambria"/>
                <a:cs typeface="Cambria"/>
              </a:rPr>
              <a:t> </a:t>
            </a:r>
            <a:r>
              <a:rPr sz="3000" b="0" spc="229" dirty="0">
                <a:latin typeface="Cambria"/>
                <a:cs typeface="Cambria"/>
              </a:rPr>
              <a:t>I</a:t>
            </a:r>
            <a:r>
              <a:rPr b="0" spc="229" dirty="0">
                <a:latin typeface="Cambria"/>
                <a:cs typeface="Cambria"/>
              </a:rPr>
              <a:t>NITIALIZATION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21633"/>
            <a:ext cx="4951095" cy="508190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944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Declaration</a:t>
            </a:r>
            <a:endParaRPr sz="2400">
              <a:latin typeface="Cambria"/>
              <a:cs typeface="Cambria"/>
            </a:endParaRPr>
          </a:p>
          <a:p>
            <a:pPr marL="927100" marR="1271270">
              <a:lnSpc>
                <a:spcPct val="129400"/>
              </a:lnSpc>
              <a:spcBef>
                <a:spcPts val="5"/>
              </a:spcBef>
            </a:pPr>
            <a:r>
              <a:rPr sz="1700" spc="35" dirty="0">
                <a:latin typeface="Cambria"/>
                <a:cs typeface="Cambria"/>
              </a:rPr>
              <a:t>int[]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sampleArray; </a:t>
            </a:r>
            <a:r>
              <a:rPr sz="1700" spc="75" dirty="0">
                <a:latin typeface="Cambria"/>
                <a:cs typeface="Cambria"/>
              </a:rPr>
              <a:t> sampleArray</a:t>
            </a:r>
            <a:r>
              <a:rPr sz="1700" spc="5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25" dirty="0">
                <a:latin typeface="Cambria"/>
                <a:cs typeface="Cambria"/>
              </a:rPr>
              <a:t>int[10];</a:t>
            </a:r>
            <a:endParaRPr sz="17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1700" spc="120" dirty="0">
                <a:latin typeface="Cambria"/>
                <a:cs typeface="Cambria"/>
              </a:rPr>
              <a:t>Or</a:t>
            </a:r>
            <a:endParaRPr sz="17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1700" spc="35" dirty="0">
                <a:latin typeface="Cambria"/>
                <a:cs typeface="Cambria"/>
              </a:rPr>
              <a:t>int[]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sampleArray</a:t>
            </a:r>
            <a:r>
              <a:rPr sz="1700" spc="4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25" dirty="0">
                <a:latin typeface="Cambria"/>
                <a:cs typeface="Cambria"/>
              </a:rPr>
              <a:t>int[10];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Initialization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4" dirty="0">
                <a:latin typeface="Cambria"/>
                <a:cs typeface="Cambria"/>
              </a:rPr>
              <a:t>During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declaration</a:t>
            </a:r>
            <a:endParaRPr sz="21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705"/>
              </a:spcBef>
            </a:pPr>
            <a:r>
              <a:rPr sz="1600" spc="30" dirty="0">
                <a:latin typeface="Cambria"/>
                <a:cs typeface="Cambria"/>
              </a:rPr>
              <a:t>int[]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sampleArray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 </a:t>
            </a:r>
            <a:r>
              <a:rPr sz="1600" spc="25" dirty="0">
                <a:latin typeface="Cambria"/>
                <a:cs typeface="Cambria"/>
              </a:rPr>
              <a:t>{1,2,3,4,5};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13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After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declaration</a:t>
            </a:r>
            <a:endParaRPr sz="21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10"/>
              </a:spcBef>
            </a:pPr>
            <a:r>
              <a:rPr sz="1600" spc="30" dirty="0">
                <a:latin typeface="Cambria"/>
                <a:cs typeface="Cambria"/>
              </a:rPr>
              <a:t>int[]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sampleArray;</a:t>
            </a:r>
            <a:endParaRPr sz="1600">
              <a:latin typeface="Cambria"/>
              <a:cs typeface="Cambria"/>
            </a:endParaRPr>
          </a:p>
          <a:p>
            <a:pPr marL="927100" marR="5080">
              <a:lnSpc>
                <a:spcPct val="131200"/>
              </a:lnSpc>
            </a:pPr>
            <a:r>
              <a:rPr sz="1600" spc="65" dirty="0">
                <a:latin typeface="Cambria"/>
                <a:cs typeface="Cambria"/>
              </a:rPr>
              <a:t>sampleArray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new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int[]{1,2,3,4,5}; 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70" dirty="0">
                <a:latin typeface="Cambria"/>
                <a:cs typeface="Cambria"/>
              </a:rPr>
              <a:t>am</a:t>
            </a:r>
            <a:r>
              <a:rPr sz="1600" spc="55" dirty="0">
                <a:latin typeface="Cambria"/>
                <a:cs typeface="Cambria"/>
              </a:rPr>
              <a:t>p</a:t>
            </a:r>
            <a:r>
              <a:rPr sz="1600" spc="30" dirty="0">
                <a:latin typeface="Cambria"/>
                <a:cs typeface="Cambria"/>
              </a:rPr>
              <a:t>l</a:t>
            </a:r>
            <a:r>
              <a:rPr sz="1600" spc="60" dirty="0">
                <a:latin typeface="Cambria"/>
                <a:cs typeface="Cambria"/>
              </a:rPr>
              <a:t>e</a:t>
            </a:r>
            <a:r>
              <a:rPr sz="1600" spc="75" dirty="0">
                <a:latin typeface="Cambria"/>
                <a:cs typeface="Cambria"/>
              </a:rPr>
              <a:t>Arra</a:t>
            </a:r>
            <a:r>
              <a:rPr sz="1600" spc="80" dirty="0">
                <a:latin typeface="Cambria"/>
                <a:cs typeface="Cambria"/>
              </a:rPr>
              <a:t>y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{1,2,3,4,5};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co</a:t>
            </a:r>
            <a:r>
              <a:rPr sz="1600" spc="60" dirty="0">
                <a:latin typeface="Cambria"/>
                <a:cs typeface="Cambria"/>
              </a:rPr>
              <a:t>m</a:t>
            </a:r>
            <a:r>
              <a:rPr sz="1600" spc="35" dirty="0">
                <a:latin typeface="Cambria"/>
                <a:cs typeface="Cambria"/>
              </a:rPr>
              <a:t>pil</a:t>
            </a:r>
            <a:r>
              <a:rPr sz="1600" spc="70" dirty="0">
                <a:latin typeface="Cambria"/>
                <a:cs typeface="Cambria"/>
              </a:rPr>
              <a:t>e</a:t>
            </a:r>
            <a:r>
              <a:rPr sz="1600" spc="45" dirty="0">
                <a:latin typeface="Cambria"/>
                <a:cs typeface="Cambria"/>
              </a:rPr>
              <a:t>r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20" dirty="0">
                <a:latin typeface="Cambria"/>
                <a:cs typeface="Cambria"/>
              </a:rPr>
              <a:t>rror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4446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RRAY</a:t>
            </a:r>
            <a:r>
              <a:rPr b="0" spc="320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IZE</a:t>
            </a:r>
            <a:r>
              <a:rPr b="0" spc="310" dirty="0">
                <a:latin typeface="Cambria"/>
                <a:cs typeface="Cambria"/>
              </a:rPr>
              <a:t> </a:t>
            </a:r>
            <a:r>
              <a:rPr sz="3000" b="0" spc="380" dirty="0">
                <a:latin typeface="Cambria"/>
                <a:cs typeface="Cambria"/>
              </a:rPr>
              <a:t>&amp;</a:t>
            </a:r>
            <a:r>
              <a:rPr sz="3000" b="0" spc="170" dirty="0">
                <a:latin typeface="Cambria"/>
                <a:cs typeface="Cambria"/>
              </a:rPr>
              <a:t> </a:t>
            </a:r>
            <a:r>
              <a:rPr sz="3000" b="0" spc="325" dirty="0">
                <a:latin typeface="Cambria"/>
                <a:cs typeface="Cambria"/>
              </a:rPr>
              <a:t>A</a:t>
            </a:r>
            <a:r>
              <a:rPr b="0" spc="325" dirty="0">
                <a:latin typeface="Cambria"/>
                <a:cs typeface="Cambria"/>
              </a:rPr>
              <a:t>CCESSING</a:t>
            </a:r>
            <a:r>
              <a:rPr b="0" spc="305" dirty="0">
                <a:latin typeface="Cambria"/>
                <a:cs typeface="Cambria"/>
              </a:rPr>
              <a:t> </a:t>
            </a:r>
            <a:r>
              <a:rPr b="0" spc="235" dirty="0">
                <a:latin typeface="Cambria"/>
                <a:cs typeface="Cambria"/>
              </a:rPr>
              <a:t>A</a:t>
            </a:r>
            <a:r>
              <a:rPr b="0" spc="315" dirty="0">
                <a:latin typeface="Cambria"/>
                <a:cs typeface="Cambria"/>
              </a:rPr>
              <a:t> </a:t>
            </a:r>
            <a:r>
              <a:rPr b="0" spc="290" dirty="0">
                <a:latin typeface="Cambria"/>
                <a:cs typeface="Cambria"/>
              </a:rPr>
              <a:t>SPECIFIC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972439"/>
            <a:ext cx="7183755" cy="509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5" dirty="0">
                <a:solidFill>
                  <a:srgbClr val="565F6C"/>
                </a:solidFill>
                <a:latin typeface="Cambria"/>
                <a:cs typeface="Cambria"/>
              </a:rPr>
              <a:t>INDEX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22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0" dirty="0">
                <a:latin typeface="Cambria"/>
                <a:cs typeface="Cambria"/>
              </a:rPr>
              <a:t>Getting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size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05" dirty="0">
                <a:latin typeface="Cambria"/>
                <a:cs typeface="Cambria"/>
              </a:rPr>
              <a:t> array</a:t>
            </a:r>
            <a:endParaRPr sz="24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1700" spc="35" dirty="0">
                <a:latin typeface="Cambria"/>
                <a:cs typeface="Cambria"/>
              </a:rPr>
              <a:t>int[]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sampleArray</a:t>
            </a:r>
            <a:r>
              <a:rPr sz="1700" spc="5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5" dirty="0">
                <a:latin typeface="Cambria"/>
                <a:cs typeface="Cambria"/>
              </a:rPr>
              <a:t>int[10];</a:t>
            </a:r>
            <a:endParaRPr sz="1700">
              <a:latin typeface="Cambria"/>
              <a:cs typeface="Cambria"/>
            </a:endParaRPr>
          </a:p>
          <a:p>
            <a:pPr marL="285115" marR="5080" indent="641350">
              <a:lnSpc>
                <a:spcPct val="100000"/>
              </a:lnSpc>
              <a:spcBef>
                <a:spcPts val="600"/>
              </a:spcBef>
            </a:pPr>
            <a:r>
              <a:rPr sz="1700" spc="80" dirty="0">
                <a:latin typeface="Cambria"/>
                <a:cs typeface="Cambria"/>
              </a:rPr>
              <a:t>int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size</a:t>
            </a:r>
            <a:r>
              <a:rPr sz="1700" spc="90" dirty="0">
                <a:latin typeface="Cambria"/>
                <a:cs typeface="Cambria"/>
              </a:rPr>
              <a:t> = </a:t>
            </a:r>
            <a:r>
              <a:rPr sz="1700" spc="75" dirty="0">
                <a:latin typeface="Cambria"/>
                <a:cs typeface="Cambria"/>
              </a:rPr>
              <a:t>sampleArray.length;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-75" dirty="0">
                <a:latin typeface="Cambria"/>
                <a:cs typeface="Cambria"/>
              </a:rPr>
              <a:t>//this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will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return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size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 </a:t>
            </a:r>
            <a:r>
              <a:rPr sz="1700" spc="-360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array,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here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10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Accessing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specific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item</a:t>
            </a:r>
            <a:endParaRPr sz="2400">
              <a:latin typeface="Cambria"/>
              <a:cs typeface="Cambria"/>
            </a:endParaRPr>
          </a:p>
          <a:p>
            <a:pPr marL="983615" lvl="1" indent="-6038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5" dirty="0">
                <a:latin typeface="Cambria"/>
                <a:cs typeface="Cambria"/>
              </a:rPr>
              <a:t>Assigning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value</a:t>
            </a:r>
            <a:endParaRPr sz="2100">
              <a:latin typeface="Cambria"/>
              <a:cs typeface="Cambria"/>
            </a:endParaRPr>
          </a:p>
          <a:p>
            <a:pPr marL="983615">
              <a:lnSpc>
                <a:spcPct val="100000"/>
              </a:lnSpc>
              <a:spcBef>
                <a:spcPts val="705"/>
              </a:spcBef>
            </a:pPr>
            <a:r>
              <a:rPr sz="1600" spc="45" dirty="0">
                <a:latin typeface="Cambria"/>
                <a:cs typeface="Cambria"/>
              </a:rPr>
              <a:t>sampleArray[0]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5;</a:t>
            </a:r>
            <a:endParaRPr sz="1600">
              <a:latin typeface="Cambria"/>
              <a:cs typeface="Cambria"/>
            </a:endParaRPr>
          </a:p>
          <a:p>
            <a:pPr marL="983615">
              <a:lnSpc>
                <a:spcPct val="100000"/>
              </a:lnSpc>
              <a:spcBef>
                <a:spcPts val="120"/>
              </a:spcBef>
            </a:pPr>
            <a:r>
              <a:rPr sz="1600" spc="45" dirty="0">
                <a:latin typeface="Cambria"/>
                <a:cs typeface="Cambria"/>
              </a:rPr>
              <a:t>sampleArray[1]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2;</a:t>
            </a:r>
            <a:endParaRPr sz="1600">
              <a:latin typeface="Cambria"/>
              <a:cs typeface="Cambria"/>
            </a:endParaRPr>
          </a:p>
          <a:p>
            <a:pPr marL="983615">
              <a:lnSpc>
                <a:spcPct val="100000"/>
              </a:lnSpc>
              <a:spcBef>
                <a:spcPts val="120"/>
              </a:spcBef>
            </a:pPr>
            <a:r>
              <a:rPr sz="1600" spc="45" dirty="0">
                <a:latin typeface="Cambria"/>
                <a:cs typeface="Cambria"/>
              </a:rPr>
              <a:t>sampleArray[2]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3;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132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0" dirty="0">
                <a:latin typeface="Cambria"/>
                <a:cs typeface="Cambria"/>
              </a:rPr>
              <a:t>Getting/Reading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value</a:t>
            </a:r>
            <a:endParaRPr sz="21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10"/>
              </a:spcBef>
            </a:pPr>
            <a:r>
              <a:rPr sz="1600" spc="70" dirty="0">
                <a:latin typeface="Cambria"/>
                <a:cs typeface="Cambria"/>
              </a:rPr>
              <a:t>int </a:t>
            </a:r>
            <a:r>
              <a:rPr sz="1600" spc="60" dirty="0">
                <a:latin typeface="Cambria"/>
                <a:cs typeface="Cambria"/>
              </a:rPr>
              <a:t>value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sampleArray[2];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958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70" dirty="0">
                <a:latin typeface="Cambria"/>
                <a:cs typeface="Cambria"/>
              </a:rPr>
              <a:t>A</a:t>
            </a:r>
            <a:r>
              <a:rPr b="0" spc="270" dirty="0">
                <a:latin typeface="Cambria"/>
                <a:cs typeface="Cambria"/>
              </a:rPr>
              <a:t>RRAYS</a:t>
            </a:r>
            <a:r>
              <a:rPr b="0" spc="305" dirty="0">
                <a:latin typeface="Cambria"/>
                <a:cs typeface="Cambria"/>
              </a:rPr>
              <a:t> </a:t>
            </a:r>
            <a:r>
              <a:rPr sz="3000" b="0" spc="165" dirty="0">
                <a:latin typeface="Cambria"/>
                <a:cs typeface="Cambria"/>
              </a:rPr>
              <a:t>–</a:t>
            </a:r>
            <a:r>
              <a:rPr sz="3000" b="0" spc="150" dirty="0">
                <a:latin typeface="Cambria"/>
                <a:cs typeface="Cambria"/>
              </a:rPr>
              <a:t> </a:t>
            </a:r>
            <a:r>
              <a:rPr sz="3000" b="0" spc="310" dirty="0">
                <a:latin typeface="Cambria"/>
                <a:cs typeface="Cambria"/>
              </a:rPr>
              <a:t>E</a:t>
            </a:r>
            <a:r>
              <a:rPr b="0" spc="310" dirty="0">
                <a:latin typeface="Cambria"/>
                <a:cs typeface="Cambria"/>
              </a:rPr>
              <a:t>XAMPLE</a:t>
            </a:r>
            <a:r>
              <a:rPr b="0" spc="300" dirty="0">
                <a:latin typeface="Cambria"/>
                <a:cs typeface="Cambria"/>
              </a:rPr>
              <a:t> </a:t>
            </a:r>
            <a:r>
              <a:rPr sz="3000" b="0" spc="355" dirty="0">
                <a:latin typeface="Cambria"/>
                <a:cs typeface="Cambria"/>
              </a:rPr>
              <a:t>C</a:t>
            </a:r>
            <a:r>
              <a:rPr b="0" spc="355" dirty="0">
                <a:latin typeface="Cambria"/>
                <a:cs typeface="Cambria"/>
              </a:rPr>
              <a:t>ODE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7056120" cy="4690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50" dirty="0">
                <a:latin typeface="Cambria"/>
                <a:cs typeface="Cambria"/>
              </a:rPr>
              <a:t>public</a:t>
            </a:r>
            <a:r>
              <a:rPr sz="1700" spc="5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class </a:t>
            </a:r>
            <a:r>
              <a:rPr sz="1700" spc="95" dirty="0">
                <a:latin typeface="Cambria"/>
                <a:cs typeface="Cambria"/>
              </a:rPr>
              <a:t>ArrayExample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spc="-95" dirty="0">
                <a:latin typeface="Cambria"/>
                <a:cs typeface="Cambria"/>
              </a:rPr>
              <a:t>{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700" spc="50" dirty="0">
                <a:latin typeface="Cambria"/>
                <a:cs typeface="Cambria"/>
              </a:rPr>
              <a:t>public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static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void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main(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95" dirty="0">
                <a:latin typeface="Cambria"/>
                <a:cs typeface="Cambria"/>
              </a:rPr>
              <a:t>String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35" dirty="0">
                <a:latin typeface="Cambria"/>
                <a:cs typeface="Cambria"/>
              </a:rPr>
              <a:t>args[]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-85" dirty="0">
                <a:latin typeface="Cambria"/>
                <a:cs typeface="Cambria"/>
              </a:rPr>
              <a:t>)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700" spc="-95" dirty="0">
                <a:latin typeface="Cambria"/>
                <a:cs typeface="Cambria"/>
              </a:rPr>
              <a:t>{</a:t>
            </a: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700" spc="-365" dirty="0">
                <a:latin typeface="Cambria"/>
                <a:cs typeface="Cambria"/>
              </a:rPr>
              <a:t>//</a:t>
            </a:r>
            <a:r>
              <a:rPr sz="1700" spc="1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space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15" dirty="0">
                <a:latin typeface="Cambria"/>
                <a:cs typeface="Cambria"/>
              </a:rPr>
              <a:t>to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30" dirty="0">
                <a:latin typeface="Cambria"/>
                <a:cs typeface="Cambria"/>
              </a:rPr>
              <a:t>store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Reference</a:t>
            </a:r>
            <a:r>
              <a:rPr sz="1700" spc="5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is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allocated,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no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array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space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allocated</a:t>
            </a: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700" spc="15" dirty="0">
                <a:latin typeface="Cambria"/>
                <a:cs typeface="Cambria"/>
              </a:rPr>
              <a:t>double[]</a:t>
            </a:r>
            <a:r>
              <a:rPr sz="1700" spc="4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sampleArray;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Cambria"/>
              <a:cs typeface="Cambria"/>
            </a:endParaRPr>
          </a:p>
          <a:p>
            <a:pPr marL="744220" marR="3011170">
              <a:lnSpc>
                <a:spcPct val="100000"/>
              </a:lnSpc>
            </a:pPr>
            <a:r>
              <a:rPr sz="1700" spc="-30" dirty="0">
                <a:latin typeface="Cambria"/>
                <a:cs typeface="Cambria"/>
              </a:rPr>
              <a:t>//allocate</a:t>
            </a:r>
            <a:r>
              <a:rPr sz="1700" spc="75" dirty="0">
                <a:latin typeface="Cambria"/>
                <a:cs typeface="Cambria"/>
              </a:rPr>
              <a:t> array </a:t>
            </a:r>
            <a:r>
              <a:rPr sz="1700" spc="45" dirty="0">
                <a:latin typeface="Cambria"/>
                <a:cs typeface="Cambria"/>
              </a:rPr>
              <a:t>locations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on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heap </a:t>
            </a:r>
            <a:r>
              <a:rPr sz="1700" spc="-35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sampleArray</a:t>
            </a:r>
            <a:r>
              <a:rPr sz="1700" spc="6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25" dirty="0">
                <a:latin typeface="Cambria"/>
                <a:cs typeface="Cambria"/>
              </a:rPr>
              <a:t>double[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10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];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700" spc="-370" dirty="0">
                <a:latin typeface="Cambria"/>
                <a:cs typeface="Cambria"/>
              </a:rPr>
              <a:t>/</a:t>
            </a:r>
            <a:r>
              <a:rPr sz="1700" spc="-360" dirty="0">
                <a:latin typeface="Cambria"/>
                <a:cs typeface="Cambria"/>
              </a:rPr>
              <a:t>/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In</a:t>
            </a:r>
            <a:r>
              <a:rPr sz="1700" spc="105" dirty="0">
                <a:latin typeface="Cambria"/>
                <a:cs typeface="Cambria"/>
              </a:rPr>
              <a:t>d</a:t>
            </a:r>
            <a:r>
              <a:rPr sz="1700" spc="55" dirty="0">
                <a:latin typeface="Cambria"/>
                <a:cs typeface="Cambria"/>
              </a:rPr>
              <a:t>e</a:t>
            </a:r>
            <a:r>
              <a:rPr sz="1700" spc="45" dirty="0">
                <a:latin typeface="Cambria"/>
                <a:cs typeface="Cambria"/>
              </a:rPr>
              <a:t>x</a:t>
            </a:r>
            <a:r>
              <a:rPr sz="1700" spc="75" dirty="0">
                <a:latin typeface="Cambria"/>
                <a:cs typeface="Cambria"/>
              </a:rPr>
              <a:t>ing</a:t>
            </a:r>
            <a:r>
              <a:rPr sz="1700" spc="55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star</a:t>
            </a:r>
            <a:r>
              <a:rPr sz="1700" spc="55" dirty="0">
                <a:latin typeface="Cambria"/>
                <a:cs typeface="Cambria"/>
              </a:rPr>
              <a:t>ts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105" dirty="0">
                <a:latin typeface="Cambria"/>
                <a:cs typeface="Cambria"/>
              </a:rPr>
              <a:t>a</a:t>
            </a:r>
            <a:r>
              <a:rPr sz="1700" spc="85" dirty="0">
                <a:latin typeface="Cambria"/>
                <a:cs typeface="Cambria"/>
              </a:rPr>
              <a:t>t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5" dirty="0">
                <a:latin typeface="Cambria"/>
                <a:cs typeface="Cambria"/>
              </a:rPr>
              <a:t>0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like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C/C++</a:t>
            </a: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700" spc="70" dirty="0">
                <a:latin typeface="Cambria"/>
                <a:cs typeface="Cambria"/>
              </a:rPr>
              <a:t>sampleArray[</a:t>
            </a:r>
            <a:r>
              <a:rPr sz="1700" spc="35" dirty="0">
                <a:latin typeface="Cambria"/>
                <a:cs typeface="Cambria"/>
              </a:rPr>
              <a:t> </a:t>
            </a:r>
            <a:r>
              <a:rPr sz="1700" spc="5" dirty="0">
                <a:latin typeface="Cambria"/>
                <a:cs typeface="Cambria"/>
              </a:rPr>
              <a:t>0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]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30" dirty="0">
                <a:latin typeface="Cambria"/>
                <a:cs typeface="Cambria"/>
              </a:rPr>
              <a:t>5.5;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700" spc="-365" dirty="0">
                <a:latin typeface="Cambria"/>
                <a:cs typeface="Cambria"/>
              </a:rPr>
              <a:t>/</a:t>
            </a:r>
            <a:r>
              <a:rPr sz="1700" spc="-360" dirty="0">
                <a:latin typeface="Cambria"/>
                <a:cs typeface="Cambria"/>
              </a:rPr>
              <a:t>/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170" dirty="0">
                <a:latin typeface="Cambria"/>
                <a:cs typeface="Cambria"/>
              </a:rPr>
              <a:t>R</a:t>
            </a:r>
            <a:r>
              <a:rPr sz="1700" spc="35" dirty="0">
                <a:latin typeface="Cambria"/>
                <a:cs typeface="Cambria"/>
              </a:rPr>
              <a:t>eference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refers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5" dirty="0">
                <a:latin typeface="Cambria"/>
                <a:cs typeface="Cambria"/>
              </a:rPr>
              <a:t>t</a:t>
            </a:r>
            <a:r>
              <a:rPr sz="1700" spc="20" dirty="0">
                <a:latin typeface="Cambria"/>
                <a:cs typeface="Cambria"/>
              </a:rPr>
              <a:t>o</a:t>
            </a:r>
            <a:r>
              <a:rPr sz="1700" spc="6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array.</a:t>
            </a: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700" spc="-365" dirty="0">
                <a:latin typeface="Cambria"/>
                <a:cs typeface="Cambria"/>
              </a:rPr>
              <a:t>/</a:t>
            </a:r>
            <a:r>
              <a:rPr sz="1700" spc="-360" dirty="0">
                <a:latin typeface="Cambria"/>
                <a:cs typeface="Cambria"/>
              </a:rPr>
              <a:t>/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204" dirty="0">
                <a:latin typeface="Cambria"/>
                <a:cs typeface="Cambria"/>
              </a:rPr>
              <a:t>O</a:t>
            </a:r>
            <a:r>
              <a:rPr sz="1700" spc="55" dirty="0">
                <a:latin typeface="Cambria"/>
                <a:cs typeface="Cambria"/>
              </a:rPr>
              <a:t>ld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arra</a:t>
            </a:r>
            <a:r>
              <a:rPr sz="1700" spc="85" dirty="0">
                <a:latin typeface="Cambria"/>
                <a:cs typeface="Cambria"/>
              </a:rPr>
              <a:t>y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avail</a:t>
            </a:r>
            <a:r>
              <a:rPr sz="1700" spc="105" dirty="0">
                <a:latin typeface="Cambria"/>
                <a:cs typeface="Cambria"/>
              </a:rPr>
              <a:t>a</a:t>
            </a:r>
            <a:r>
              <a:rPr sz="1700" spc="30" dirty="0">
                <a:latin typeface="Cambria"/>
                <a:cs typeface="Cambria"/>
              </a:rPr>
              <a:t>bl</a:t>
            </a:r>
            <a:r>
              <a:rPr sz="1700" spc="40" dirty="0">
                <a:latin typeface="Cambria"/>
                <a:cs typeface="Cambria"/>
              </a:rPr>
              <a:t>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f</a:t>
            </a:r>
            <a:r>
              <a:rPr sz="1700" dirty="0">
                <a:latin typeface="Cambria"/>
                <a:cs typeface="Cambria"/>
              </a:rPr>
              <a:t>or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garbag</a:t>
            </a:r>
            <a:r>
              <a:rPr sz="1700" spc="65" dirty="0">
                <a:latin typeface="Cambria"/>
                <a:cs typeface="Cambria"/>
              </a:rPr>
              <a:t>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5" dirty="0">
                <a:latin typeface="Cambria"/>
                <a:cs typeface="Cambria"/>
              </a:rPr>
              <a:t>col</a:t>
            </a:r>
            <a:r>
              <a:rPr sz="1700" spc="20" dirty="0">
                <a:latin typeface="Cambria"/>
                <a:cs typeface="Cambria"/>
              </a:rPr>
              <a:t>l</a:t>
            </a:r>
            <a:r>
              <a:rPr sz="1700" spc="35" dirty="0">
                <a:latin typeface="Cambria"/>
                <a:cs typeface="Cambria"/>
              </a:rPr>
              <a:t>ection</a:t>
            </a: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700" spc="80" dirty="0">
                <a:latin typeface="Cambria"/>
                <a:cs typeface="Cambria"/>
              </a:rPr>
              <a:t>sampleArray</a:t>
            </a:r>
            <a:r>
              <a:rPr sz="1700" spc="5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double[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spc="5" dirty="0">
                <a:latin typeface="Cambria"/>
                <a:cs typeface="Cambria"/>
              </a:rPr>
              <a:t>2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];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700" spc="-95" dirty="0">
                <a:latin typeface="Cambria"/>
                <a:cs typeface="Cambria"/>
              </a:rPr>
              <a:t>}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spc="-95" dirty="0">
                <a:latin typeface="Cambria"/>
                <a:cs typeface="Cambria"/>
              </a:rPr>
              <a:t>}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946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70" dirty="0">
                <a:latin typeface="Cambria"/>
                <a:cs typeface="Cambria"/>
              </a:rPr>
              <a:t>M</a:t>
            </a:r>
            <a:r>
              <a:rPr b="0" spc="270" dirty="0">
                <a:latin typeface="Cambria"/>
                <a:cs typeface="Cambria"/>
              </a:rPr>
              <a:t>ULTI</a:t>
            </a:r>
            <a:r>
              <a:rPr sz="3000" b="0" spc="270" dirty="0">
                <a:latin typeface="Cambria"/>
                <a:cs typeface="Cambria"/>
              </a:rPr>
              <a:t>-D</a:t>
            </a:r>
            <a:r>
              <a:rPr b="0" spc="270" dirty="0">
                <a:latin typeface="Cambria"/>
                <a:cs typeface="Cambria"/>
              </a:rPr>
              <a:t>IMENSIONAL</a:t>
            </a:r>
            <a:r>
              <a:rPr b="0" spc="290" dirty="0">
                <a:latin typeface="Cambria"/>
                <a:cs typeface="Cambria"/>
              </a:rPr>
              <a:t> </a:t>
            </a: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RRAY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145020" cy="325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130" dirty="0">
                <a:latin typeface="Cambria"/>
                <a:cs typeface="Cambria"/>
              </a:rPr>
              <a:t>multidimensional</a:t>
            </a:r>
            <a:r>
              <a:rPr sz="2400" i="1" spc="100" dirty="0">
                <a:latin typeface="Cambria"/>
                <a:cs typeface="Cambria"/>
              </a:rPr>
              <a:t> </a:t>
            </a:r>
            <a:r>
              <a:rPr sz="2400" i="1" spc="105" dirty="0">
                <a:latin typeface="Cambria"/>
                <a:cs typeface="Cambria"/>
              </a:rPr>
              <a:t>arrays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are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actually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arrays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15"/>
              </a:spcBef>
            </a:pPr>
            <a:r>
              <a:rPr sz="2400" spc="110" dirty="0">
                <a:latin typeface="Cambria"/>
                <a:cs typeface="Cambria"/>
              </a:rPr>
              <a:t>arrays.</a:t>
            </a:r>
            <a:endParaRPr sz="24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400" spc="110" dirty="0">
                <a:latin typeface="Cambria"/>
                <a:cs typeface="Cambria"/>
              </a:rPr>
              <a:t>int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twoD[][]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=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new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int[4][5];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Do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rectangular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During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creation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it’s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required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specify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size 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first/leftmost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dimension.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You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allocate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remaining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dimensions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separately.</a:t>
            </a:r>
            <a:endParaRPr sz="24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2400" spc="110" dirty="0">
                <a:latin typeface="Cambria"/>
                <a:cs typeface="Cambria"/>
              </a:rPr>
              <a:t>int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twoD[][]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=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new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int[4][];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946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70" dirty="0">
                <a:latin typeface="Cambria"/>
                <a:cs typeface="Cambria"/>
              </a:rPr>
              <a:t>M</a:t>
            </a:r>
            <a:r>
              <a:rPr b="0" spc="270" dirty="0">
                <a:latin typeface="Cambria"/>
                <a:cs typeface="Cambria"/>
              </a:rPr>
              <a:t>ULTI</a:t>
            </a:r>
            <a:r>
              <a:rPr sz="3000" b="0" spc="270" dirty="0">
                <a:latin typeface="Cambria"/>
                <a:cs typeface="Cambria"/>
              </a:rPr>
              <a:t>-D</a:t>
            </a:r>
            <a:r>
              <a:rPr b="0" spc="270" dirty="0">
                <a:latin typeface="Cambria"/>
                <a:cs typeface="Cambria"/>
              </a:rPr>
              <a:t>IMENSIONAL</a:t>
            </a:r>
            <a:r>
              <a:rPr b="0" spc="290" dirty="0">
                <a:latin typeface="Cambria"/>
                <a:cs typeface="Cambria"/>
              </a:rPr>
              <a:t> </a:t>
            </a: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RRAY</a:t>
            </a:r>
            <a:endParaRPr sz="30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5650" y="1746250"/>
          <a:ext cx="7620000" cy="32357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Rectangular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Irregular</a:t>
                      </a:r>
                      <a:r>
                        <a:rPr sz="1600" b="1" spc="9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spc="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Array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320">
                <a:tc>
                  <a:txBody>
                    <a:bodyPr/>
                    <a:lstStyle/>
                    <a:p>
                      <a:pPr marL="91440" marR="3721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spc="55" dirty="0">
                          <a:latin typeface="Cambria"/>
                          <a:cs typeface="Cambria"/>
                        </a:rPr>
                        <a:t>Declarion</a:t>
                      </a:r>
                      <a:r>
                        <a:rPr sz="160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00" dirty="0">
                          <a:latin typeface="Cambria"/>
                          <a:cs typeface="Cambria"/>
                        </a:rPr>
                        <a:t>&amp; </a:t>
                      </a:r>
                      <a:r>
                        <a:rPr sz="1600" spc="-3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Array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Creation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1350645" marR="203200" indent="-12592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spc="70" dirty="0">
                          <a:latin typeface="Cambria"/>
                          <a:cs typeface="Cambria"/>
                        </a:rPr>
                        <a:t>int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" dirty="0">
                          <a:latin typeface="Cambria"/>
                          <a:cs typeface="Cambria"/>
                        </a:rPr>
                        <a:t>twoD[][]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0" dirty="0">
                          <a:latin typeface="Cambria"/>
                          <a:cs typeface="Cambria"/>
                        </a:rPr>
                        <a:t>int[4][5]; </a:t>
                      </a:r>
                      <a:r>
                        <a:rPr sz="1600" spc="-3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or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1440" marR="316230">
                        <a:lnSpc>
                          <a:spcPct val="100000"/>
                        </a:lnSpc>
                      </a:pPr>
                      <a:r>
                        <a:rPr sz="1600" spc="70" dirty="0">
                          <a:latin typeface="Cambria"/>
                          <a:cs typeface="Cambria"/>
                        </a:rPr>
                        <a:t>int</a:t>
                      </a:r>
                      <a:r>
                        <a:rPr sz="16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" dirty="0">
                          <a:latin typeface="Cambria"/>
                          <a:cs typeface="Cambria"/>
                        </a:rPr>
                        <a:t>twoD[][]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0" dirty="0">
                          <a:latin typeface="Cambria"/>
                          <a:cs typeface="Cambria"/>
                        </a:rPr>
                        <a:t>int[4][]; </a:t>
                      </a:r>
                      <a:r>
                        <a:rPr sz="1600" spc="-3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0" dirty="0">
                          <a:latin typeface="Cambria"/>
                          <a:cs typeface="Cambria"/>
                        </a:rPr>
                        <a:t>twoD[0]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int[5];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0" dirty="0">
                          <a:latin typeface="Cambria"/>
                          <a:cs typeface="Cambria"/>
                        </a:rPr>
                        <a:t>twoD[1]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int[5];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0" dirty="0">
                          <a:latin typeface="Cambria"/>
                          <a:cs typeface="Cambria"/>
                        </a:rPr>
                        <a:t>twoD[2]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int[5];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0" dirty="0">
                          <a:latin typeface="Cambria"/>
                          <a:cs typeface="Cambria"/>
                        </a:rPr>
                        <a:t>twoD[3]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int[5];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44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spc="70" dirty="0">
                          <a:latin typeface="Cambria"/>
                          <a:cs typeface="Cambria"/>
                        </a:rPr>
                        <a:t>int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" dirty="0">
                          <a:latin typeface="Cambria"/>
                          <a:cs typeface="Cambria"/>
                        </a:rPr>
                        <a:t>twoD[][]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0" dirty="0">
                          <a:latin typeface="Cambria"/>
                          <a:cs typeface="Cambria"/>
                        </a:rPr>
                        <a:t>int[4][]; </a:t>
                      </a:r>
                      <a:r>
                        <a:rPr sz="1600" spc="-3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5" dirty="0">
                          <a:latin typeface="Cambria"/>
                          <a:cs typeface="Cambria"/>
                        </a:rPr>
                        <a:t>twoD[0]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int[1];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5" dirty="0">
                          <a:latin typeface="Cambria"/>
                          <a:cs typeface="Cambria"/>
                        </a:rPr>
                        <a:t>twoD[1]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int[2];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5" dirty="0">
                          <a:latin typeface="Cambria"/>
                          <a:cs typeface="Cambria"/>
                        </a:rPr>
                        <a:t>twoD[2]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int[3];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5" dirty="0">
                          <a:latin typeface="Cambria"/>
                          <a:cs typeface="Cambria"/>
                        </a:rPr>
                        <a:t>twoD[3]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int[4];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673">
                <a:tc>
                  <a:txBody>
                    <a:bodyPr/>
                    <a:lstStyle/>
                    <a:p>
                      <a:pPr marL="91440" marR="4425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spc="80" dirty="0">
                          <a:latin typeface="Cambria"/>
                          <a:cs typeface="Cambria"/>
                        </a:rPr>
                        <a:t>Example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1600" spc="-3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Array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2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3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4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5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6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7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8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9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3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4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5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6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7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8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9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0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2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3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4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5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6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7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8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9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946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70" dirty="0">
                <a:latin typeface="Cambria"/>
                <a:cs typeface="Cambria"/>
              </a:rPr>
              <a:t>M</a:t>
            </a:r>
            <a:r>
              <a:rPr b="0" spc="270" dirty="0">
                <a:latin typeface="Cambria"/>
                <a:cs typeface="Cambria"/>
              </a:rPr>
              <a:t>ULTI</a:t>
            </a:r>
            <a:r>
              <a:rPr sz="3000" b="0" spc="270" dirty="0">
                <a:latin typeface="Cambria"/>
                <a:cs typeface="Cambria"/>
              </a:rPr>
              <a:t>-D</a:t>
            </a:r>
            <a:r>
              <a:rPr b="0" spc="270" dirty="0">
                <a:latin typeface="Cambria"/>
                <a:cs typeface="Cambria"/>
              </a:rPr>
              <a:t>IMENSIONAL</a:t>
            </a:r>
            <a:r>
              <a:rPr b="0" spc="290" dirty="0">
                <a:latin typeface="Cambria"/>
                <a:cs typeface="Cambria"/>
              </a:rPr>
              <a:t> </a:t>
            </a: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RRAY</a:t>
            </a:r>
            <a:endParaRPr sz="30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01066"/>
              </p:ext>
            </p:extLst>
          </p:nvPr>
        </p:nvGraphicFramePr>
        <p:xfrm>
          <a:off x="755650" y="1746251"/>
          <a:ext cx="6102350" cy="3937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0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02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spc="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Irregular</a:t>
                      </a:r>
                      <a:r>
                        <a:rPr sz="2400" b="1" spc="9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b="1" spc="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Array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2943">
                <a:tc>
                  <a:txBody>
                    <a:bodyPr/>
                    <a:lstStyle/>
                    <a:p>
                      <a:pPr marL="92075" marR="544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70" dirty="0">
                          <a:latin typeface="Cambria"/>
                          <a:cs typeface="Cambria"/>
                        </a:rPr>
                        <a:t>int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5" dirty="0">
                          <a:latin typeface="Cambria"/>
                          <a:cs typeface="Cambria"/>
                        </a:rPr>
                        <a:t>twoD[][]</a:t>
                      </a:r>
                      <a:r>
                        <a:rPr sz="24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24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10" dirty="0">
                          <a:latin typeface="Cambria"/>
                          <a:cs typeface="Cambria"/>
                        </a:rPr>
                        <a:t>int[4][]; </a:t>
                      </a:r>
                      <a:r>
                        <a:rPr sz="2400" spc="-340" dirty="0">
                          <a:latin typeface="Cambria"/>
                          <a:cs typeface="Cambria"/>
                        </a:rPr>
                        <a:t> </a:t>
                      </a:r>
                      <a:endParaRPr lang="en-GB" sz="2400" spc="-340" dirty="0">
                        <a:latin typeface="Cambria"/>
                        <a:cs typeface="Cambria"/>
                      </a:endParaRPr>
                    </a:p>
                    <a:p>
                      <a:pPr marL="92075" marR="544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15" dirty="0" err="1">
                          <a:latin typeface="Cambria"/>
                          <a:cs typeface="Cambria"/>
                        </a:rPr>
                        <a:t>twoD</a:t>
                      </a:r>
                      <a:r>
                        <a:rPr sz="2400" spc="15" dirty="0">
                          <a:latin typeface="Cambria"/>
                          <a:cs typeface="Cambria"/>
                        </a:rPr>
                        <a:t>[0]</a:t>
                      </a:r>
                      <a:r>
                        <a:rPr sz="24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lang="en-GB" sz="2400" spc="80" dirty="0">
                          <a:latin typeface="Cambria"/>
                          <a:cs typeface="Cambria"/>
                        </a:rPr>
                        <a:t> new int[]{0};</a:t>
                      </a:r>
                      <a:endParaRPr lang="en-GB" sz="2400" spc="25" dirty="0">
                        <a:latin typeface="Cambria"/>
                        <a:cs typeface="Cambria"/>
                      </a:endParaRPr>
                    </a:p>
                    <a:p>
                      <a:pPr marL="92075" marR="544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15" dirty="0" err="1">
                          <a:latin typeface="Cambria"/>
                          <a:cs typeface="Cambria"/>
                        </a:rPr>
                        <a:t>twoD</a:t>
                      </a:r>
                      <a:r>
                        <a:rPr sz="2400" spc="15" dirty="0">
                          <a:latin typeface="Cambria"/>
                          <a:cs typeface="Cambria"/>
                        </a:rPr>
                        <a:t>[1]</a:t>
                      </a:r>
                      <a:r>
                        <a:rPr sz="24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int[]</a:t>
                      </a:r>
                      <a:r>
                        <a:rPr lang="en-GB" sz="2400" spc="25" dirty="0">
                          <a:latin typeface="Cambria"/>
                          <a:cs typeface="Cambria"/>
                        </a:rPr>
                        <a:t>{1,2}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; 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 </a:t>
                      </a:r>
                      <a:endParaRPr lang="en-GB" sz="2400" spc="30" dirty="0">
                        <a:latin typeface="Cambria"/>
                        <a:cs typeface="Cambria"/>
                      </a:endParaRPr>
                    </a:p>
                    <a:p>
                      <a:pPr marL="92075" marR="544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15" dirty="0" err="1">
                          <a:latin typeface="Cambria"/>
                          <a:cs typeface="Cambria"/>
                        </a:rPr>
                        <a:t>twoD</a:t>
                      </a:r>
                      <a:r>
                        <a:rPr sz="2400" spc="15" dirty="0">
                          <a:latin typeface="Cambria"/>
                          <a:cs typeface="Cambria"/>
                        </a:rPr>
                        <a:t>[2]</a:t>
                      </a:r>
                      <a:r>
                        <a:rPr sz="24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int[</a:t>
                      </a:r>
                      <a:r>
                        <a:rPr lang="en-GB" sz="2400" spc="25" dirty="0">
                          <a:latin typeface="Cambria"/>
                          <a:cs typeface="Cambria"/>
                        </a:rPr>
                        <a:t>3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]</a:t>
                      </a:r>
                      <a:r>
                        <a:rPr lang="en-GB" sz="2400" spc="25" dirty="0">
                          <a:latin typeface="Cambria"/>
                          <a:cs typeface="Cambria"/>
                        </a:rPr>
                        <a:t>{3,4,5}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; 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lang="en-GB" sz="2400" spc="30" dirty="0">
                          <a:latin typeface="Cambria"/>
                          <a:cs typeface="Cambria"/>
                        </a:rPr>
                        <a:t>//error</a:t>
                      </a:r>
                    </a:p>
                    <a:p>
                      <a:pPr marL="92075" marR="544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15" dirty="0" err="1">
                          <a:latin typeface="Cambria"/>
                          <a:cs typeface="Cambria"/>
                        </a:rPr>
                        <a:t>twoD</a:t>
                      </a:r>
                      <a:r>
                        <a:rPr sz="2400" spc="15" dirty="0">
                          <a:latin typeface="Cambria"/>
                          <a:cs typeface="Cambria"/>
                        </a:rPr>
                        <a:t>[3]</a:t>
                      </a:r>
                      <a:r>
                        <a:rPr sz="24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int[]</a:t>
                      </a:r>
                      <a:r>
                        <a:rPr lang="en-GB" sz="2400" spc="25" dirty="0">
                          <a:latin typeface="Cambria"/>
                          <a:cs typeface="Cambria"/>
                        </a:rPr>
                        <a:t>{6,7,8,9}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;</a:t>
                      </a:r>
                      <a:endParaRPr sz="2400" dirty="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98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0</a:t>
                      </a: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24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2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3</a:t>
                      </a:r>
                      <a:r>
                        <a:rPr sz="2400" spc="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4</a:t>
                      </a:r>
                      <a:r>
                        <a:rPr sz="24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5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6</a:t>
                      </a:r>
                      <a:r>
                        <a:rPr sz="24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7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8</a:t>
                      </a:r>
                      <a:r>
                        <a:rPr sz="24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9</a:t>
                      </a: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637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797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05" dirty="0">
                <a:latin typeface="Cambria"/>
                <a:cs typeface="Cambria"/>
              </a:rPr>
              <a:t>C</a:t>
            </a:r>
            <a:r>
              <a:rPr b="0" spc="305" dirty="0">
                <a:latin typeface="Cambria"/>
                <a:cs typeface="Cambria"/>
              </a:rPr>
              <a:t>ONTROL</a:t>
            </a:r>
            <a:r>
              <a:rPr b="0" spc="195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1712595" cy="25044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if </a:t>
            </a:r>
            <a:r>
              <a:rPr sz="2400" spc="75" dirty="0">
                <a:latin typeface="Cambria"/>
                <a:cs typeface="Cambria"/>
              </a:rPr>
              <a:t>–else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75" dirty="0">
                <a:latin typeface="Cambria"/>
                <a:cs typeface="Cambria"/>
              </a:rPr>
              <a:t>switch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0" dirty="0">
                <a:latin typeface="Cambria"/>
                <a:cs typeface="Cambria"/>
              </a:rPr>
              <a:t>Loop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0" dirty="0">
                <a:latin typeface="Cambria"/>
                <a:cs typeface="Cambria"/>
              </a:rPr>
              <a:t>for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65" dirty="0">
                <a:latin typeface="Cambria"/>
                <a:cs typeface="Cambria"/>
              </a:rPr>
              <a:t>while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-25" dirty="0">
                <a:latin typeface="Cambria"/>
                <a:cs typeface="Cambria"/>
              </a:rPr>
              <a:t>d</a:t>
            </a:r>
            <a:r>
              <a:rPr sz="2100" spc="-10" dirty="0">
                <a:latin typeface="Cambria"/>
                <a:cs typeface="Cambria"/>
              </a:rPr>
              <a:t>o</a:t>
            </a:r>
            <a:r>
              <a:rPr sz="2100" spc="-5" dirty="0">
                <a:latin typeface="Cambria"/>
                <a:cs typeface="Cambria"/>
              </a:rPr>
              <a:t>-</a:t>
            </a:r>
            <a:r>
              <a:rPr sz="2100" spc="65" dirty="0">
                <a:latin typeface="Cambria"/>
                <a:cs typeface="Cambria"/>
              </a:rPr>
              <a:t>while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797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05" dirty="0">
                <a:latin typeface="Cambria"/>
                <a:cs typeface="Cambria"/>
              </a:rPr>
              <a:t>C</a:t>
            </a:r>
            <a:r>
              <a:rPr b="0" spc="305" dirty="0">
                <a:latin typeface="Cambria"/>
                <a:cs typeface="Cambria"/>
              </a:rPr>
              <a:t>ONTROL</a:t>
            </a:r>
            <a:r>
              <a:rPr b="0" spc="195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7922260" cy="364138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“Enhance </a:t>
            </a:r>
            <a:r>
              <a:rPr sz="2400" spc="25" dirty="0">
                <a:latin typeface="Cambria"/>
                <a:cs typeface="Cambria"/>
              </a:rPr>
              <a:t>for”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“for-each”</a:t>
            </a:r>
            <a:endParaRPr sz="2400" dirty="0">
              <a:latin typeface="Cambria"/>
              <a:cs typeface="Cambria"/>
            </a:endParaRPr>
          </a:p>
          <a:p>
            <a:pPr marL="652780" marR="147955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automatically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cycles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through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an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array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sequence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from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lowest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index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95" dirty="0">
                <a:latin typeface="Cambria"/>
                <a:cs typeface="Cambria"/>
              </a:rPr>
              <a:t>highest.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35" dirty="0">
                <a:latin typeface="Cambria"/>
                <a:cs typeface="Cambria"/>
              </a:rPr>
              <a:t>Syntax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: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for(</a:t>
            </a:r>
            <a:r>
              <a:rPr sz="2100" i="1" spc="15" dirty="0">
                <a:latin typeface="Cambria"/>
                <a:cs typeface="Cambria"/>
              </a:rPr>
              <a:t>type</a:t>
            </a:r>
            <a:r>
              <a:rPr sz="2100" i="1" spc="110" dirty="0">
                <a:latin typeface="Cambria"/>
                <a:cs typeface="Cambria"/>
              </a:rPr>
              <a:t> </a:t>
            </a:r>
            <a:r>
              <a:rPr sz="2100" i="1" spc="75" dirty="0">
                <a:latin typeface="Cambria"/>
                <a:cs typeface="Cambria"/>
              </a:rPr>
              <a:t>itr-var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40" dirty="0">
                <a:latin typeface="Cambria"/>
                <a:cs typeface="Cambria"/>
              </a:rPr>
              <a:t>:</a:t>
            </a:r>
            <a:r>
              <a:rPr sz="2100" i="1" spc="130" dirty="0">
                <a:latin typeface="Cambria"/>
                <a:cs typeface="Cambria"/>
              </a:rPr>
              <a:t> </a:t>
            </a:r>
            <a:r>
              <a:rPr sz="2100" i="1" spc="40" dirty="0">
                <a:latin typeface="Cambria"/>
                <a:cs typeface="Cambria"/>
              </a:rPr>
              <a:t>collection)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60" dirty="0">
                <a:latin typeface="Cambria"/>
                <a:cs typeface="Cambria"/>
              </a:rPr>
              <a:t>statement-block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i="1" spc="114" dirty="0">
                <a:latin typeface="Cambria"/>
                <a:cs typeface="Cambria"/>
              </a:rPr>
              <a:t>Example:</a:t>
            </a:r>
            <a:endParaRPr sz="2100" dirty="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445"/>
              </a:spcBef>
            </a:pPr>
            <a:r>
              <a:rPr sz="1800" spc="80" dirty="0">
                <a:latin typeface="Lucida Sans Typewriter" panose="020B0509030504030204" pitchFamily="49" charset="0"/>
                <a:cs typeface="Cambria"/>
              </a:rPr>
              <a:t>int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45" dirty="0">
                <a:latin typeface="Lucida Sans Typewriter" panose="020B0509030504030204" pitchFamily="49" charset="0"/>
                <a:cs typeface="Cambria"/>
              </a:rPr>
              <a:t>nums[]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90" dirty="0">
                <a:latin typeface="Lucida Sans Typewriter" panose="020B0509030504030204" pitchFamily="49" charset="0"/>
                <a:cs typeface="Cambria"/>
              </a:rPr>
              <a:t>=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-100" dirty="0">
                <a:latin typeface="Lucida Sans Typewriter" panose="020B0509030504030204" pitchFamily="49" charset="0"/>
                <a:cs typeface="Cambria"/>
              </a:rPr>
              <a:t>{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1,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2,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3,</a:t>
            </a:r>
            <a:r>
              <a:rPr sz="1800"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4,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0" dirty="0">
                <a:latin typeface="Lucida Sans Typewriter" panose="020B0509030504030204" pitchFamily="49" charset="0"/>
                <a:cs typeface="Cambria"/>
              </a:rPr>
              <a:t>5,</a:t>
            </a:r>
            <a:r>
              <a:rPr sz="1800" spc="11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6,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7,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8,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9,</a:t>
            </a:r>
            <a:r>
              <a:rPr sz="1800"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dirty="0">
                <a:latin typeface="Lucida Sans Typewriter" panose="020B0509030504030204" pitchFamily="49" charset="0"/>
                <a:cs typeface="Cambria"/>
              </a:rPr>
              <a:t>10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-40" dirty="0">
                <a:latin typeface="Lucida Sans Typewriter" panose="020B0509030504030204" pitchFamily="49" charset="0"/>
                <a:cs typeface="Cambria"/>
              </a:rPr>
              <a:t>};</a:t>
            </a:r>
            <a:endParaRPr sz="1800" dirty="0">
              <a:latin typeface="Lucida Sans Typewriter" panose="020B0509030504030204" pitchFamily="49" charset="0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430"/>
              </a:spcBef>
            </a:pPr>
            <a:r>
              <a:rPr sz="1800" spc="80" dirty="0">
                <a:latin typeface="Lucida Sans Typewriter" panose="020B0509030504030204" pitchFamily="49" charset="0"/>
                <a:cs typeface="Cambria"/>
              </a:rPr>
              <a:t>int</a:t>
            </a:r>
            <a:r>
              <a:rPr sz="1800" spc="85" dirty="0">
                <a:latin typeface="Lucida Sans Typewriter" panose="020B0509030504030204" pitchFamily="49" charset="0"/>
                <a:cs typeface="Cambria"/>
              </a:rPr>
              <a:t> sum </a:t>
            </a:r>
            <a:r>
              <a:rPr sz="1800" spc="90" dirty="0">
                <a:latin typeface="Lucida Sans Typewriter" panose="020B0509030504030204" pitchFamily="49" charset="0"/>
                <a:cs typeface="Cambria"/>
              </a:rPr>
              <a:t>=</a:t>
            </a:r>
            <a:r>
              <a:rPr sz="1800" spc="8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5" dirty="0">
                <a:latin typeface="Lucida Sans Typewriter" panose="020B0509030504030204" pitchFamily="49" charset="0"/>
                <a:cs typeface="Cambria"/>
              </a:rPr>
              <a:t>0;</a:t>
            </a:r>
            <a:endParaRPr sz="1800" dirty="0">
              <a:latin typeface="Lucida Sans Typewriter" panose="020B0509030504030204" pitchFamily="49" charset="0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434"/>
              </a:spcBef>
            </a:pPr>
            <a:r>
              <a:rPr sz="1800" spc="30" dirty="0">
                <a:latin typeface="Lucida Sans Typewriter" panose="020B0509030504030204" pitchFamily="49" charset="0"/>
                <a:cs typeface="Cambria"/>
              </a:rPr>
              <a:t>for(int</a:t>
            </a:r>
            <a:r>
              <a:rPr sz="1800" spc="7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55" dirty="0">
                <a:latin typeface="Lucida Sans Typewriter" panose="020B0509030504030204" pitchFamily="49" charset="0"/>
                <a:cs typeface="Cambria"/>
              </a:rPr>
              <a:t>x:</a:t>
            </a:r>
            <a:r>
              <a:rPr sz="1800" spc="8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50" dirty="0">
                <a:latin typeface="Lucida Sans Typewriter" panose="020B0509030504030204" pitchFamily="49" charset="0"/>
                <a:cs typeface="Cambria"/>
              </a:rPr>
              <a:t>nums)</a:t>
            </a:r>
            <a:endParaRPr sz="1800" dirty="0">
              <a:latin typeface="Lucida Sans Typewriter" panose="020B0509030504030204" pitchFamily="49" charset="0"/>
              <a:cs typeface="Cambria"/>
            </a:endParaRPr>
          </a:p>
          <a:p>
            <a:pPr marL="991235">
              <a:lnSpc>
                <a:spcPct val="100000"/>
              </a:lnSpc>
              <a:spcBef>
                <a:spcPts val="434"/>
              </a:spcBef>
            </a:pPr>
            <a:r>
              <a:rPr sz="1800" spc="85" dirty="0">
                <a:latin typeface="Lucida Sans Typewriter" panose="020B0509030504030204" pitchFamily="49" charset="0"/>
                <a:cs typeface="Cambria"/>
              </a:rPr>
              <a:t>sum</a:t>
            </a:r>
            <a:r>
              <a:rPr sz="1800" spc="7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90" dirty="0">
                <a:latin typeface="Lucida Sans Typewriter" panose="020B0509030504030204" pitchFamily="49" charset="0"/>
                <a:cs typeface="Cambria"/>
              </a:rPr>
              <a:t>+=</a:t>
            </a:r>
            <a:r>
              <a:rPr sz="1800" spc="7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0" dirty="0">
                <a:latin typeface="Lucida Sans Typewriter" panose="020B0509030504030204" pitchFamily="49" charset="0"/>
                <a:cs typeface="Cambria"/>
              </a:rPr>
              <a:t>x;</a:t>
            </a:r>
            <a:endParaRPr sz="1800" dirty="0">
              <a:latin typeface="Lucida Sans Typewriter" panose="020B0509030504030204" pitchFamily="49" charset="0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9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Advantage: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Avoid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boundary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error</a:t>
            </a:r>
            <a:endParaRPr sz="21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16026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000" b="0" spc="270" dirty="0">
                <a:latin typeface="Cambria"/>
                <a:cs typeface="Cambria"/>
              </a:rPr>
              <a:t>Printing </a:t>
            </a:r>
            <a:r>
              <a:rPr sz="3000" b="0" spc="270" dirty="0">
                <a:latin typeface="Cambria"/>
                <a:cs typeface="Cambria"/>
              </a:rPr>
              <a:t>M</a:t>
            </a:r>
            <a:r>
              <a:rPr b="0" spc="270" dirty="0">
                <a:latin typeface="Cambria"/>
                <a:cs typeface="Cambria"/>
              </a:rPr>
              <a:t>ULTI</a:t>
            </a:r>
            <a:r>
              <a:rPr sz="3000" b="0" spc="270" dirty="0">
                <a:latin typeface="Cambria"/>
                <a:cs typeface="Cambria"/>
              </a:rPr>
              <a:t>-D</a:t>
            </a:r>
            <a:r>
              <a:rPr b="0" spc="270" dirty="0">
                <a:latin typeface="Cambria"/>
                <a:cs typeface="Cambria"/>
              </a:rPr>
              <a:t>IMENSIONAL</a:t>
            </a:r>
            <a:r>
              <a:rPr b="0" spc="290" dirty="0">
                <a:latin typeface="Cambria"/>
                <a:cs typeface="Cambria"/>
              </a:rPr>
              <a:t> </a:t>
            </a: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RRAY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CD416E9-6DEA-CD34-0A74-5AAEB3670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870" y="1905000"/>
            <a:ext cx="7160260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static void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Lucida Sans Typewriter" panose="020B0509030504030204" pitchFamily="49" charset="0"/>
              </a:rPr>
              <a:t>main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String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[] 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twoD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[][]={{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},{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}};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[]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oneD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twoD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element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oneD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element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 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363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1254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20" dirty="0">
                <a:latin typeface="Cambria"/>
                <a:cs typeface="Cambria"/>
              </a:rPr>
              <a:t>J</a:t>
            </a:r>
            <a:r>
              <a:rPr b="0" spc="420" dirty="0">
                <a:latin typeface="Cambria"/>
                <a:cs typeface="Cambria"/>
              </a:rPr>
              <a:t>UMP</a:t>
            </a:r>
            <a:r>
              <a:rPr b="0" spc="220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555"/>
            <a:ext cx="7285355" cy="2976456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45" dirty="0">
                <a:latin typeface="Cambria"/>
                <a:cs typeface="Cambria"/>
              </a:rPr>
              <a:t>break</a:t>
            </a:r>
            <a:endParaRPr sz="24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30" dirty="0">
                <a:latin typeface="Cambria"/>
                <a:cs typeface="Cambria"/>
              </a:rPr>
              <a:t>Exits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out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loop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switch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statement</a:t>
            </a:r>
            <a:endParaRPr sz="2100" dirty="0">
              <a:latin typeface="Cambria"/>
              <a:cs typeface="Cambria"/>
            </a:endParaRPr>
          </a:p>
          <a:p>
            <a:pPr marL="652780" marR="43434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5" dirty="0">
                <a:latin typeface="Cambria"/>
                <a:cs typeface="Cambria"/>
              </a:rPr>
              <a:t>Unlabeled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break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exits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out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innermost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loop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switch</a:t>
            </a:r>
            <a:endParaRPr sz="2100" dirty="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5" dirty="0">
                <a:latin typeface="Cambria"/>
                <a:cs typeface="Cambria"/>
              </a:rPr>
              <a:t>Use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labeled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break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exit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out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nested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0" dirty="0">
                <a:latin typeface="Cambria"/>
                <a:cs typeface="Cambria"/>
              </a:rPr>
              <a:t>loops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switch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block.</a:t>
            </a:r>
            <a:endParaRPr lang="en-GB" sz="2100" spc="55" dirty="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lang="en-US" sz="2100" spc="55" dirty="0">
                <a:latin typeface="Cambria"/>
                <a:cs typeface="Cambria"/>
              </a:rPr>
              <a:t>In case of labeled break program exits from that particular labeled block</a:t>
            </a:r>
            <a:endParaRPr sz="21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1254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20" dirty="0">
                <a:latin typeface="Cambria"/>
                <a:cs typeface="Cambria"/>
              </a:rPr>
              <a:t>J</a:t>
            </a:r>
            <a:r>
              <a:rPr b="0" spc="420" dirty="0">
                <a:latin typeface="Cambria"/>
                <a:cs typeface="Cambria"/>
              </a:rPr>
              <a:t>UMP</a:t>
            </a:r>
            <a:r>
              <a:rPr b="0" spc="220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7617460" cy="38901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5" dirty="0">
                <a:latin typeface="Lucida Sans Typewriter" panose="020B0509030504030204" pitchFamily="49" charset="0"/>
                <a:cs typeface="Cambria"/>
              </a:rPr>
              <a:t>public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55" dirty="0">
                <a:latin typeface="Lucida Sans Typewriter" panose="020B0509030504030204" pitchFamily="49" charset="0"/>
                <a:cs typeface="Cambria"/>
              </a:rPr>
              <a:t>class</a:t>
            </a:r>
            <a:r>
              <a:rPr spc="7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5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cs typeface="Cambria"/>
              </a:rPr>
              <a:t>BreakExample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90" dirty="0">
                <a:latin typeface="Lucida Sans Typewriter" panose="020B0509030504030204" pitchFamily="49" charset="0"/>
                <a:cs typeface="Cambria"/>
              </a:rPr>
              <a:t>{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744220" marR="264160" indent="-364490">
              <a:lnSpc>
                <a:spcPct val="100000"/>
              </a:lnSpc>
              <a:spcBef>
                <a:spcPts val="5"/>
              </a:spcBef>
            </a:pPr>
            <a:r>
              <a:rPr spc="35" dirty="0">
                <a:latin typeface="Lucida Sans Typewriter" panose="020B0509030504030204" pitchFamily="49" charset="0"/>
                <a:cs typeface="Cambria"/>
              </a:rPr>
              <a:t>public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60" dirty="0">
                <a:latin typeface="Lucida Sans Typewriter" panose="020B0509030504030204" pitchFamily="49" charset="0"/>
                <a:cs typeface="Cambria"/>
              </a:rPr>
              <a:t>static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20" dirty="0">
                <a:latin typeface="Lucida Sans Typewriter" panose="020B0509030504030204" pitchFamily="49" charset="0"/>
                <a:cs typeface="Cambria"/>
              </a:rPr>
              <a:t>void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45" dirty="0">
                <a:solidFill>
                  <a:srgbClr val="FF0000"/>
                </a:solidFill>
                <a:latin typeface="Lucida Sans Typewriter" panose="020B0509030504030204" pitchFamily="49" charset="0"/>
                <a:cs typeface="Cambria"/>
              </a:rPr>
              <a:t>main</a:t>
            </a:r>
            <a:r>
              <a:rPr spc="45" dirty="0">
                <a:latin typeface="Lucida Sans Typewriter" panose="020B0509030504030204" pitchFamily="49" charset="0"/>
                <a:cs typeface="Cambria"/>
              </a:rPr>
              <a:t>(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String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30" dirty="0">
                <a:latin typeface="Lucida Sans Typewriter" panose="020B0509030504030204" pitchFamily="49" charset="0"/>
                <a:cs typeface="Cambria"/>
              </a:rPr>
              <a:t>args[]</a:t>
            </a:r>
            <a:r>
              <a:rPr spc="114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)</a:t>
            </a:r>
            <a:r>
              <a:rPr spc="11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90" dirty="0">
                <a:latin typeface="Lucida Sans Typewriter" panose="020B0509030504030204" pitchFamily="49" charset="0"/>
                <a:cs typeface="Cambria"/>
              </a:rPr>
              <a:t>{ </a:t>
            </a:r>
            <a:r>
              <a:rPr spc="-340" dirty="0">
                <a:latin typeface="Lucida Sans Typewriter" panose="020B0509030504030204" pitchFamily="49" charset="0"/>
                <a:cs typeface="Cambria"/>
              </a:rPr>
              <a:t> </a:t>
            </a:r>
            <a:endParaRPr lang="en-GB" spc="-340" dirty="0">
              <a:latin typeface="Lucida Sans Typewriter" panose="020B0509030504030204" pitchFamily="49" charset="0"/>
              <a:cs typeface="Cambria"/>
            </a:endParaRPr>
          </a:p>
          <a:p>
            <a:pPr marL="744220" marR="264160" indent="-364490">
              <a:lnSpc>
                <a:spcPct val="100000"/>
              </a:lnSpc>
              <a:spcBef>
                <a:spcPts val="5"/>
              </a:spcBef>
            </a:pPr>
            <a:r>
              <a:rPr lang="en-US" spc="-340" dirty="0">
                <a:latin typeface="Lucida Sans Typewriter" panose="020B0509030504030204" pitchFamily="49" charset="0"/>
                <a:cs typeface="Cambria"/>
              </a:rPr>
              <a:t>	</a:t>
            </a:r>
            <a:r>
              <a:rPr spc="10" dirty="0">
                <a:latin typeface="Lucida Sans Typewriter" panose="020B0509030504030204" pitchFamily="49" charset="0"/>
                <a:cs typeface="Cambria"/>
              </a:rPr>
              <a:t>for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(</a:t>
            </a:r>
            <a:r>
              <a:rPr spc="10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70" dirty="0">
                <a:latin typeface="Lucida Sans Typewriter" panose="020B0509030504030204" pitchFamily="49" charset="0"/>
                <a:cs typeface="Cambria"/>
              </a:rPr>
              <a:t>int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dirty="0">
                <a:latin typeface="Lucida Sans Typewriter" panose="020B0509030504030204" pitchFamily="49" charset="0"/>
                <a:cs typeface="Cambria"/>
              </a:rPr>
              <a:t>row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=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5" dirty="0">
                <a:latin typeface="Lucida Sans Typewriter" panose="020B0509030504030204" pitchFamily="49" charset="0"/>
                <a:cs typeface="Cambria"/>
              </a:rPr>
              <a:t>0;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5" dirty="0">
                <a:latin typeface="Lucida Sans Typewriter" panose="020B0509030504030204" pitchFamily="49" charset="0"/>
                <a:cs typeface="Cambria"/>
              </a:rPr>
              <a:t>row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&lt;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5" dirty="0">
                <a:latin typeface="Lucida Sans Typewriter" panose="020B0509030504030204" pitchFamily="49" charset="0"/>
                <a:cs typeface="Cambria"/>
              </a:rPr>
              <a:t>5;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30" dirty="0">
                <a:latin typeface="Lucida Sans Typewriter" panose="020B0509030504030204" pitchFamily="49" charset="0"/>
                <a:cs typeface="Cambria"/>
              </a:rPr>
              <a:t>row++</a:t>
            </a:r>
            <a:r>
              <a:rPr spc="11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)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90" dirty="0">
                <a:latin typeface="Lucida Sans Typewriter" panose="020B0509030504030204" pitchFamily="49" charset="0"/>
                <a:cs typeface="Cambria"/>
              </a:rPr>
              <a:t>{</a:t>
            </a:r>
            <a:endParaRPr lang="en-US" dirty="0">
              <a:latin typeface="Lucida Sans Typewriter" panose="020B0509030504030204" pitchFamily="49" charset="0"/>
              <a:cs typeface="Cambria"/>
            </a:endParaRPr>
          </a:p>
          <a:p>
            <a:pPr marL="927100" marR="17145" indent="114300">
              <a:lnSpc>
                <a:spcPct val="100000"/>
              </a:lnSpc>
            </a:pPr>
            <a:r>
              <a:rPr lang="en-US" spc="60" dirty="0">
                <a:solidFill>
                  <a:schemeClr val="accent5">
                    <a:lumMod val="75000"/>
                  </a:schemeClr>
                </a:solidFill>
                <a:latin typeface="Lucida Sans Typewriter" panose="020B0509030504030204" pitchFamily="49" charset="0"/>
                <a:cs typeface="Cambria"/>
              </a:rPr>
              <a:t>System.out.println</a:t>
            </a:r>
            <a:r>
              <a:rPr lang="en-US" spc="60" dirty="0">
                <a:latin typeface="Lucida Sans Typewriter" panose="020B0509030504030204" pitchFamily="49" charset="0"/>
                <a:cs typeface="Cambria"/>
              </a:rPr>
              <a:t>("Outer</a:t>
            </a:r>
            <a:r>
              <a:rPr lang="en-US" spc="15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lang="en-US" dirty="0">
                <a:latin typeface="Lucida Sans Typewriter" panose="020B0509030504030204" pitchFamily="49" charset="0"/>
                <a:cs typeface="Cambria"/>
              </a:rPr>
              <a:t>loop:</a:t>
            </a:r>
            <a:r>
              <a:rPr lang="en-US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lang="en-US" spc="-10" dirty="0">
                <a:latin typeface="Lucida Sans Typewriter" panose="020B0509030504030204" pitchFamily="49" charset="0"/>
                <a:cs typeface="Cambria"/>
              </a:rPr>
              <a:t>"</a:t>
            </a:r>
            <a:r>
              <a:rPr lang="en-US" spc="8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lang="en-US" spc="80" dirty="0">
                <a:latin typeface="Lucida Sans Typewriter" panose="020B0509030504030204" pitchFamily="49" charset="0"/>
                <a:cs typeface="Cambria"/>
              </a:rPr>
              <a:t>+ </a:t>
            </a:r>
            <a:r>
              <a:rPr lang="en-US" spc="-33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lang="en-US" spc="-15" dirty="0">
                <a:latin typeface="Lucida Sans Typewriter" panose="020B0509030504030204" pitchFamily="49" charset="0"/>
                <a:cs typeface="Cambria"/>
              </a:rPr>
              <a:t>row);</a:t>
            </a:r>
            <a:endParaRPr lang="en-US" dirty="0">
              <a:latin typeface="Lucida Sans Typewriter" panose="020B0509030504030204" pitchFamily="49" charset="0"/>
              <a:cs typeface="Cambria"/>
            </a:endParaRPr>
          </a:p>
          <a:p>
            <a:pPr marL="1199515" marR="17780" indent="-182880">
              <a:lnSpc>
                <a:spcPct val="100000"/>
              </a:lnSpc>
            </a:pPr>
            <a:r>
              <a:rPr spc="10" dirty="0">
                <a:latin typeface="Lucida Sans Typewriter" panose="020B0509030504030204" pitchFamily="49" charset="0"/>
                <a:cs typeface="Cambria"/>
              </a:rPr>
              <a:t>for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(</a:t>
            </a:r>
            <a:r>
              <a:rPr spc="70" dirty="0">
                <a:latin typeface="Lucida Sans Typewriter" panose="020B0509030504030204" pitchFamily="49" charset="0"/>
                <a:cs typeface="Cambria"/>
              </a:rPr>
              <a:t>int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45" dirty="0">
                <a:latin typeface="Lucida Sans Typewriter" panose="020B0509030504030204" pitchFamily="49" charset="0"/>
                <a:cs typeface="Cambria"/>
              </a:rPr>
              <a:t>column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=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5" dirty="0">
                <a:latin typeface="Lucida Sans Typewriter" panose="020B0509030504030204" pitchFamily="49" charset="0"/>
                <a:cs typeface="Cambria"/>
              </a:rPr>
              <a:t>0;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45" dirty="0">
                <a:latin typeface="Lucida Sans Typewriter" panose="020B0509030504030204" pitchFamily="49" charset="0"/>
                <a:cs typeface="Cambria"/>
              </a:rPr>
              <a:t>column</a:t>
            </a:r>
            <a:r>
              <a:rPr spc="10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&lt;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dirty="0">
                <a:latin typeface="Lucida Sans Typewriter" panose="020B0509030504030204" pitchFamily="49" charset="0"/>
                <a:cs typeface="Cambria"/>
              </a:rPr>
              <a:t>4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20" dirty="0">
                <a:latin typeface="Lucida Sans Typewriter" panose="020B0509030504030204" pitchFamily="49" charset="0"/>
                <a:cs typeface="Cambria"/>
              </a:rPr>
              <a:t>; </a:t>
            </a:r>
            <a:r>
              <a:rPr spc="50" dirty="0">
                <a:latin typeface="Lucida Sans Typewriter" panose="020B0509030504030204" pitchFamily="49" charset="0"/>
                <a:cs typeface="Cambria"/>
              </a:rPr>
              <a:t>column++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)</a:t>
            </a:r>
            <a:r>
              <a:rPr spc="-7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90" dirty="0">
                <a:latin typeface="Lucida Sans Typewriter" panose="020B0509030504030204" pitchFamily="49" charset="0"/>
                <a:cs typeface="Cambria"/>
              </a:rPr>
              <a:t>{ </a:t>
            </a:r>
            <a:r>
              <a:rPr spc="-8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lang="en-GB" spc="-85" dirty="0">
                <a:latin typeface="Lucida Sans Typewriter" panose="020B0509030504030204" pitchFamily="49" charset="0"/>
                <a:cs typeface="Cambria"/>
              </a:rPr>
              <a:t>         </a:t>
            </a:r>
            <a:r>
              <a:rPr spc="50" dirty="0">
                <a:solidFill>
                  <a:schemeClr val="accent5">
                    <a:lumMod val="75000"/>
                  </a:schemeClr>
                </a:solidFill>
                <a:latin typeface="Lucida Sans Typewriter" panose="020B0509030504030204" pitchFamily="49" charset="0"/>
                <a:cs typeface="Cambria"/>
              </a:rPr>
              <a:t>System.out.print</a:t>
            </a:r>
            <a:r>
              <a:rPr spc="50" dirty="0">
                <a:latin typeface="Lucida Sans Typewriter" panose="020B0509030504030204" pitchFamily="49" charset="0"/>
                <a:cs typeface="Cambria"/>
              </a:rPr>
              <a:t>(column   </a:t>
            </a:r>
            <a:r>
              <a:rPr spc="35" dirty="0">
                <a:latin typeface="Lucida Sans Typewriter" panose="020B0509030504030204" pitchFamily="49" charset="0"/>
                <a:cs typeface="Cambria"/>
              </a:rPr>
              <a:t>+" </a:t>
            </a:r>
            <a:r>
              <a:rPr spc="-10" dirty="0">
                <a:latin typeface="Lucida Sans Typewriter" panose="020B0509030504030204" pitchFamily="49" charset="0"/>
                <a:cs typeface="Cambria"/>
              </a:rPr>
              <a:t>"</a:t>
            </a:r>
            <a:r>
              <a:rPr spc="-30" dirty="0">
                <a:latin typeface="Lucida Sans Typewriter" panose="020B0509030504030204" pitchFamily="49" charset="0"/>
                <a:cs typeface="Cambria"/>
              </a:rPr>
              <a:t>); </a:t>
            </a:r>
            <a:r>
              <a:rPr spc="-25" dirty="0">
                <a:latin typeface="Lucida Sans Typewriter" panose="020B0509030504030204" pitchFamily="49" charset="0"/>
                <a:cs typeface="Cambria"/>
              </a:rPr>
              <a:t> </a:t>
            </a:r>
            <a:endParaRPr lang="en-GB" spc="-25" dirty="0">
              <a:latin typeface="Lucida Sans Typewriter" panose="020B0509030504030204" pitchFamily="49" charset="0"/>
              <a:cs typeface="Cambria"/>
            </a:endParaRPr>
          </a:p>
          <a:p>
            <a:pPr marL="1199515" marR="17780" indent="-182880">
              <a:lnSpc>
                <a:spcPct val="100000"/>
              </a:lnSpc>
            </a:pPr>
            <a:r>
              <a:rPr lang="en-US" spc="-25" dirty="0">
                <a:latin typeface="Lucida Sans Typewriter" panose="020B0509030504030204" pitchFamily="49" charset="0"/>
                <a:cs typeface="Cambria"/>
              </a:rPr>
              <a:t>  </a:t>
            </a:r>
            <a:r>
              <a:rPr spc="50" dirty="0">
                <a:latin typeface="Lucida Sans Typewriter" panose="020B0509030504030204" pitchFamily="49" charset="0"/>
                <a:cs typeface="Cambria"/>
              </a:rPr>
              <a:t>if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(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35" dirty="0">
                <a:latin typeface="Lucida Sans Typewriter" panose="020B0509030504030204" pitchFamily="49" charset="0"/>
                <a:cs typeface="Cambria"/>
              </a:rPr>
              <a:t>((row</a:t>
            </a:r>
            <a:r>
              <a:rPr spc="12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+</a:t>
            </a:r>
            <a:r>
              <a:rPr spc="8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25" dirty="0">
                <a:latin typeface="Lucida Sans Typewriter" panose="020B0509030504030204" pitchFamily="49" charset="0"/>
                <a:cs typeface="Cambria"/>
              </a:rPr>
              <a:t>column)</a:t>
            </a:r>
            <a:r>
              <a:rPr spc="114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95" dirty="0">
                <a:latin typeface="Lucida Sans Typewriter" panose="020B0509030504030204" pitchFamily="49" charset="0"/>
                <a:cs typeface="Cambria"/>
              </a:rPr>
              <a:t>%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dirty="0">
                <a:latin typeface="Lucida Sans Typewriter" panose="020B0509030504030204" pitchFamily="49" charset="0"/>
                <a:cs typeface="Cambria"/>
              </a:rPr>
              <a:t>2</a:t>
            </a:r>
            <a:r>
              <a:rPr spc="8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)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==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dirty="0">
                <a:latin typeface="Lucida Sans Typewriter" panose="020B0509030504030204" pitchFamily="49" charset="0"/>
                <a:cs typeface="Cambria"/>
              </a:rPr>
              <a:t>0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)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90" dirty="0">
                <a:latin typeface="Lucida Sans Typewriter" panose="020B0509030504030204" pitchFamily="49" charset="0"/>
                <a:cs typeface="Cambria"/>
              </a:rPr>
              <a:t>{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1475740" marR="5080" indent="55880">
              <a:lnSpc>
                <a:spcPct val="100000"/>
              </a:lnSpc>
            </a:pPr>
            <a:r>
              <a:rPr spc="60" dirty="0">
                <a:solidFill>
                  <a:schemeClr val="accent5">
                    <a:lumMod val="75000"/>
                  </a:schemeClr>
                </a:solidFill>
                <a:latin typeface="Lucida Sans Typewriter" panose="020B0509030504030204" pitchFamily="49" charset="0"/>
                <a:cs typeface="Cambria"/>
              </a:rPr>
              <a:t>System.out.println</a:t>
            </a:r>
            <a:r>
              <a:rPr spc="60" dirty="0">
                <a:latin typeface="Lucida Sans Typewriter" panose="020B0509030504030204" pitchFamily="49" charset="0"/>
                <a:cs typeface="Cambria"/>
              </a:rPr>
              <a:t>("Break</a:t>
            </a:r>
            <a:r>
              <a:rPr spc="14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10" dirty="0">
                <a:latin typeface="Lucida Sans Typewriter" panose="020B0509030504030204" pitchFamily="49" charset="0"/>
                <a:cs typeface="Cambria"/>
              </a:rPr>
              <a:t>"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30" dirty="0">
                <a:latin typeface="Lucida Sans Typewriter" panose="020B0509030504030204" pitchFamily="49" charset="0"/>
                <a:cs typeface="Cambria"/>
              </a:rPr>
              <a:t>); </a:t>
            </a:r>
            <a:r>
              <a:rPr spc="-335" dirty="0">
                <a:latin typeface="Lucida Sans Typewriter" panose="020B0509030504030204" pitchFamily="49" charset="0"/>
                <a:cs typeface="Cambria"/>
              </a:rPr>
              <a:t> </a:t>
            </a:r>
            <a:endParaRPr lang="en-GB" spc="-335" dirty="0">
              <a:latin typeface="Lucida Sans Typewriter" panose="020B0509030504030204" pitchFamily="49" charset="0"/>
              <a:cs typeface="Cambria"/>
            </a:endParaRPr>
          </a:p>
          <a:p>
            <a:pPr marL="1475740" marR="5080" indent="55880">
              <a:lnSpc>
                <a:spcPct val="100000"/>
              </a:lnSpc>
            </a:pPr>
            <a:r>
              <a:rPr spc="45" dirty="0">
                <a:latin typeface="Lucida Sans Typewriter" panose="020B0509030504030204" pitchFamily="49" charset="0"/>
                <a:cs typeface="Cambria"/>
              </a:rPr>
              <a:t>break;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1292860">
              <a:lnSpc>
                <a:spcPct val="100000"/>
              </a:lnSpc>
            </a:pPr>
            <a:r>
              <a:rPr spc="-90" dirty="0">
                <a:latin typeface="Lucida Sans Typewriter" panose="020B0509030504030204" pitchFamily="49" charset="0"/>
                <a:cs typeface="Cambria"/>
              </a:rPr>
              <a:t>}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1017269">
              <a:lnSpc>
                <a:spcPct val="100000"/>
              </a:lnSpc>
              <a:spcBef>
                <a:spcPts val="5"/>
              </a:spcBef>
            </a:pPr>
            <a:r>
              <a:rPr spc="-90" dirty="0">
                <a:latin typeface="Lucida Sans Typewriter" panose="020B0509030504030204" pitchFamily="49" charset="0"/>
                <a:cs typeface="Cambria"/>
              </a:rPr>
              <a:t>}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pc="-90" dirty="0">
                <a:latin typeface="Lucida Sans Typewriter" panose="020B0509030504030204" pitchFamily="49" charset="0"/>
                <a:cs typeface="Cambria"/>
              </a:rPr>
              <a:t>}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pc="-90" dirty="0">
                <a:latin typeface="Lucida Sans Typewriter" panose="020B0509030504030204" pitchFamily="49" charset="0"/>
                <a:cs typeface="Cambria"/>
              </a:rPr>
              <a:t>}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pc="-90" dirty="0">
                <a:latin typeface="Lucida Sans Typewriter" panose="020B0509030504030204" pitchFamily="49" charset="0"/>
                <a:cs typeface="Cambria"/>
              </a:rPr>
              <a:t>}</a:t>
            </a:r>
            <a:endParaRPr dirty="0">
              <a:latin typeface="Lucida Sans Typewriter" panose="020B0509030504030204" pitchFamily="49" charset="0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1800" y="3741675"/>
            <a:ext cx="2060575" cy="297180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25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sz="1800" spc="95" dirty="0">
                <a:latin typeface="Cambria"/>
                <a:cs typeface="Cambria"/>
              </a:rPr>
              <a:t>Output:</a:t>
            </a:r>
            <a:endParaRPr sz="18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45"/>
              </a:spcBef>
            </a:pPr>
            <a:r>
              <a:rPr sz="1400" spc="75" dirty="0">
                <a:latin typeface="Cambria"/>
                <a:cs typeface="Cambria"/>
              </a:rPr>
              <a:t>Outer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loop: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0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Break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75" dirty="0">
                <a:latin typeface="Cambria"/>
                <a:cs typeface="Cambria"/>
              </a:rPr>
              <a:t>Outer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loop: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1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1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Break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75" dirty="0">
                <a:latin typeface="Cambria"/>
                <a:cs typeface="Cambria"/>
              </a:rPr>
              <a:t>Outer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loop: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2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Break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75" dirty="0">
                <a:latin typeface="Cambria"/>
                <a:cs typeface="Cambria"/>
              </a:rPr>
              <a:t>Outer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loop: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3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1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Break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75" dirty="0">
                <a:latin typeface="Cambria"/>
                <a:cs typeface="Cambria"/>
              </a:rPr>
              <a:t>Outer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loop: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4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Break</a:t>
            </a:r>
            <a:endParaRPr sz="1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186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20" dirty="0">
                <a:latin typeface="Cambria"/>
                <a:cs typeface="Cambria"/>
              </a:rPr>
              <a:t>J</a:t>
            </a:r>
            <a:r>
              <a:rPr b="0" spc="420" dirty="0">
                <a:latin typeface="Cambria"/>
                <a:cs typeface="Cambria"/>
              </a:rPr>
              <a:t>UMP</a:t>
            </a:r>
            <a:r>
              <a:rPr b="0" spc="280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TATEMENT</a:t>
            </a:r>
            <a:r>
              <a:rPr b="0" spc="315" dirty="0">
                <a:latin typeface="Cambria"/>
                <a:cs typeface="Cambria"/>
              </a:rPr>
              <a:t> </a:t>
            </a:r>
            <a:r>
              <a:rPr sz="3000" b="0" spc="165" dirty="0">
                <a:latin typeface="Cambria"/>
                <a:cs typeface="Cambria"/>
              </a:rPr>
              <a:t>–</a:t>
            </a:r>
            <a:r>
              <a:rPr sz="3000" b="0" spc="160" dirty="0">
                <a:latin typeface="Cambria"/>
                <a:cs typeface="Cambria"/>
              </a:rPr>
              <a:t> </a:t>
            </a:r>
            <a:r>
              <a:rPr sz="3000" b="0" spc="305" dirty="0">
                <a:latin typeface="Cambria"/>
                <a:cs typeface="Cambria"/>
              </a:rPr>
              <a:t>L</a:t>
            </a:r>
            <a:r>
              <a:rPr b="0" spc="305" dirty="0">
                <a:latin typeface="Cambria"/>
                <a:cs typeface="Cambria"/>
              </a:rPr>
              <a:t>ABELED</a:t>
            </a:r>
            <a:r>
              <a:rPr b="0" spc="320" dirty="0">
                <a:latin typeface="Cambria"/>
                <a:cs typeface="Cambria"/>
              </a:rPr>
              <a:t> </a:t>
            </a:r>
            <a:r>
              <a:rPr sz="3000" b="0" spc="420" dirty="0">
                <a:latin typeface="Cambria"/>
                <a:cs typeface="Cambria"/>
              </a:rPr>
              <a:t>J</a:t>
            </a:r>
            <a:r>
              <a:rPr b="0" spc="420" dirty="0">
                <a:latin typeface="Cambria"/>
                <a:cs typeface="Cambria"/>
              </a:rPr>
              <a:t>UMP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8643" y="4495800"/>
            <a:ext cx="1679575" cy="129540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800" spc="95" dirty="0">
                <a:latin typeface="Cambria"/>
                <a:cs typeface="Cambria"/>
              </a:rPr>
              <a:t>Output:</a:t>
            </a:r>
            <a:endParaRPr sz="18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sz="1400" spc="75" dirty="0">
                <a:latin typeface="Cambria"/>
                <a:cs typeface="Cambria"/>
              </a:rPr>
              <a:t>Outer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loop: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0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Break</a:t>
            </a:r>
            <a:endParaRPr sz="1400" dirty="0">
              <a:latin typeface="Cambria"/>
              <a:cs typeface="Cambr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ABDF82-4369-E27D-A8D8-5CE8957F7CF2}"/>
              </a:ext>
            </a:extLst>
          </p:cNvPr>
          <p:cNvSpPr txBox="1"/>
          <p:nvPr/>
        </p:nvSpPr>
        <p:spPr>
          <a:xfrm>
            <a:off x="558774" y="5980422"/>
            <a:ext cx="6172200" cy="646331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Program will exit from the labelled block of Outer which contains a nested loop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9B7043E-9D99-40D2-BD75-103A18B2B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8" y="1394146"/>
            <a:ext cx="8229600" cy="45243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class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BreakExample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Lucida Sans Typewriter" panose="020B0509030504030204" pitchFamily="49" charset="0"/>
              </a:rPr>
              <a:t>main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[] 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Outer: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row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row &lt;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row++ 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"Outer loop: 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 row);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column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column &lt;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;column++){           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.println(column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Lucida Sans Typewriter" panose="020B0509030504030204" pitchFamily="49" charset="0"/>
              </a:rPr>
              <a:t>\t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 ((row + column) %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2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 ==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0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"Break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           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break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Outer;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F3A7AFA-2B6E-6C50-2F64-4C8E37032F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31395"/>
            <a:ext cx="7417415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static void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Lucida Sans Typewriter" panose="020B0509030504030204" pitchFamily="49" charset="0"/>
              </a:rPr>
              <a:t>main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[]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Outer: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Lucida Sans Typewriter" panose="020B0509030504030204" pitchFamily="49" charset="0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"hello"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&lt;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++)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j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j &lt;=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j++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+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 "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 j);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if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== j)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"break 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break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Outer;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x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Lucida Sans Typewriter" panose="020B0509030504030204" pitchFamily="49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"out"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E2FFDFAB-D288-B0DF-4D58-EA9BCCFCC22B}"/>
              </a:ext>
            </a:extLst>
          </p:cNvPr>
          <p:cNvSpPr txBox="1"/>
          <p:nvPr/>
        </p:nvSpPr>
        <p:spPr>
          <a:xfrm>
            <a:off x="6705600" y="4719667"/>
            <a:ext cx="1679575" cy="1336263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800" spc="95" dirty="0">
                <a:latin typeface="Cambria"/>
                <a:cs typeface="Cambria"/>
              </a:rPr>
              <a:t>Output:</a:t>
            </a:r>
            <a:endParaRPr sz="18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lang="en-GB" sz="1400" spc="75" dirty="0">
                <a:latin typeface="Cambria"/>
                <a:cs typeface="Cambria"/>
              </a:rPr>
              <a:t>Hello</a:t>
            </a: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lang="en-GB" sz="1400" spc="75" dirty="0">
                <a:latin typeface="Cambria"/>
                <a:cs typeface="Cambria"/>
              </a:rPr>
              <a:t>1 1</a:t>
            </a: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lang="en-GB" sz="1400" spc="75" dirty="0">
                <a:latin typeface="Cambria"/>
                <a:cs typeface="Cambria"/>
              </a:rPr>
              <a:t>break</a:t>
            </a: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lang="en-GB" sz="1400" spc="75" dirty="0">
                <a:latin typeface="Cambria"/>
                <a:cs typeface="Cambria"/>
              </a:rPr>
              <a:t>out</a:t>
            </a:r>
            <a:endParaRPr sz="1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5179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1254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20" dirty="0">
                <a:latin typeface="Cambria"/>
                <a:cs typeface="Cambria"/>
              </a:rPr>
              <a:t>J</a:t>
            </a:r>
            <a:r>
              <a:rPr b="0" spc="420" dirty="0">
                <a:latin typeface="Cambria"/>
                <a:cs typeface="Cambria"/>
              </a:rPr>
              <a:t>UMP</a:t>
            </a:r>
            <a:r>
              <a:rPr b="0" spc="220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555"/>
            <a:ext cx="7110730" cy="15563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55" dirty="0">
                <a:latin typeface="Cambria"/>
                <a:cs typeface="Cambria"/>
              </a:rPr>
              <a:t>continue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04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continue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statement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skips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end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current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loop's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body.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loop's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boolean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expression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then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evaluated.</a:t>
            </a:r>
            <a:endParaRPr sz="2100">
              <a:latin typeface="Cambria"/>
              <a:cs typeface="Cambr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622271"/>
              </p:ext>
            </p:extLst>
          </p:nvPr>
        </p:nvGraphicFramePr>
        <p:xfrm>
          <a:off x="755650" y="3346450"/>
          <a:ext cx="7543165" cy="30432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7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16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6591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1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Output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63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45" dirty="0">
                          <a:latin typeface="Cambria"/>
                          <a:cs typeface="Cambria"/>
                        </a:rPr>
                        <a:t>public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class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TestContinue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0" dirty="0">
                          <a:latin typeface="Cambria"/>
                          <a:cs typeface="Cambria"/>
                        </a:rPr>
                        <a:t>{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marL="1005840" marR="785495" indent="-457200">
                        <a:lnSpc>
                          <a:spcPct val="100000"/>
                        </a:lnSpc>
                      </a:pPr>
                      <a:r>
                        <a:rPr sz="1800" spc="45" dirty="0">
                          <a:latin typeface="Cambria"/>
                          <a:cs typeface="Cambria"/>
                        </a:rPr>
                        <a:t>public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static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5" dirty="0">
                          <a:latin typeface="Cambria"/>
                          <a:cs typeface="Cambria"/>
                        </a:rPr>
                        <a:t>void</a:t>
                      </a:r>
                      <a:r>
                        <a:rPr sz="18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main(String</a:t>
                      </a:r>
                      <a:r>
                        <a:rPr sz="18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0" dirty="0">
                          <a:latin typeface="Cambria"/>
                          <a:cs typeface="Cambria"/>
                        </a:rPr>
                        <a:t>args[])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0" dirty="0">
                          <a:latin typeface="Cambria"/>
                          <a:cs typeface="Cambria"/>
                        </a:rPr>
                        <a:t>{ </a:t>
                      </a:r>
                      <a:r>
                        <a:rPr sz="1800" spc="-3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30" dirty="0">
                          <a:latin typeface="Cambria"/>
                          <a:cs typeface="Cambria"/>
                        </a:rPr>
                        <a:t>for(int</a:t>
                      </a:r>
                      <a:r>
                        <a:rPr sz="18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i=0;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i&lt;10;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i++)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0" dirty="0">
                          <a:latin typeface="Cambria"/>
                          <a:cs typeface="Cambria"/>
                        </a:rPr>
                        <a:t>{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marL="1463040" marR="1325880">
                        <a:lnSpc>
                          <a:spcPct val="100000"/>
                        </a:lnSpc>
                      </a:pPr>
                      <a:r>
                        <a:rPr sz="1800" spc="70" dirty="0">
                          <a:latin typeface="Cambria"/>
                          <a:cs typeface="Cambria"/>
                        </a:rPr>
                        <a:t>System.out.print(i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"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"); </a:t>
                      </a:r>
                      <a:r>
                        <a:rPr sz="1800" spc="-3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if 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(i%2 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==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0)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continue;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lang="en-GB" sz="1800" spc="5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System.out.println("");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marL="10058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}</a:t>
                      </a:r>
                    </a:p>
                    <a:p>
                      <a:pPr marL="5486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}</a:t>
                      </a: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}</a:t>
                      </a: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1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2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3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4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5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6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7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5" dirty="0">
                          <a:latin typeface="Cambria"/>
                          <a:cs typeface="Cambria"/>
                        </a:rPr>
                        <a:t>8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9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260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1879</Words>
  <Application>Microsoft Office PowerPoint</Application>
  <PresentationFormat>On-screen Show (4:3)</PresentationFormat>
  <Paragraphs>245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Calibri</vt:lpstr>
      <vt:lpstr>Cambria</vt:lpstr>
      <vt:lpstr>Lucida Sans Typewriter</vt:lpstr>
      <vt:lpstr>Segoe UI Symbol</vt:lpstr>
      <vt:lpstr>Times New Roman</vt:lpstr>
      <vt:lpstr>Wingdings</vt:lpstr>
      <vt:lpstr>Office Theme</vt:lpstr>
      <vt:lpstr>PowerPoint Presentation</vt:lpstr>
      <vt:lpstr>TOOLS/SET-UP</vt:lpstr>
      <vt:lpstr>STEP1: INSTALL JAVA AND PATH SET-UP</vt:lpstr>
      <vt:lpstr>STEP 2: INSTALL IDE</vt:lpstr>
      <vt:lpstr>COMPILE &amp; RUN JAVA APPLICATION</vt:lpstr>
      <vt:lpstr>WITHOUT IDE</vt:lpstr>
      <vt:lpstr>WITH JAVA IDE</vt:lpstr>
      <vt:lpstr>DATA TYPES</vt:lpstr>
      <vt:lpstr>CASTING</vt:lpstr>
      <vt:lpstr>CASTING</vt:lpstr>
      <vt:lpstr>OPERATOR</vt:lpstr>
      <vt:lpstr>ARRAYS</vt:lpstr>
      <vt:lpstr>ARRAY DECLARATION &amp; INITIALIZATION</vt:lpstr>
      <vt:lpstr>ARRAY SIZE &amp; ACCESSING A SPECIFIC</vt:lpstr>
      <vt:lpstr>ARRAYS – EXAMPLE CODE</vt:lpstr>
      <vt:lpstr>MULTI-DIMENSIONAL ARRAY</vt:lpstr>
      <vt:lpstr>MULTI-DIMENSIONAL ARRAY</vt:lpstr>
      <vt:lpstr>MULTI-DIMENSIONAL ARRAY</vt:lpstr>
      <vt:lpstr>CONTROL STATEMENT</vt:lpstr>
      <vt:lpstr>CONTROL STATEMENT</vt:lpstr>
      <vt:lpstr>Printing MULTI-DIMENSIONAL ARRAY</vt:lpstr>
      <vt:lpstr>JUMP STATEMENT</vt:lpstr>
      <vt:lpstr>JUMP STATEMENT</vt:lpstr>
      <vt:lpstr>JUMP STATEMENT – LABELED JUMP</vt:lpstr>
      <vt:lpstr>PowerPoint Presentation</vt:lpstr>
      <vt:lpstr>JUMP 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OOP Java</dc:title>
  <dc:creator>user</dc:creator>
  <cp:lastModifiedBy> </cp:lastModifiedBy>
  <cp:revision>8</cp:revision>
  <dcterms:created xsi:type="dcterms:W3CDTF">2023-09-19T16:28:29Z</dcterms:created>
  <dcterms:modified xsi:type="dcterms:W3CDTF">2024-06-03T16:40:09Z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2023-09-19T00:00:00Z</vt:filetime>
  </property>
</Properties>
</file>