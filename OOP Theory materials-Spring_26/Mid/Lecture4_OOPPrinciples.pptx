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6" r:id="rId61"/>
    <p:sldId id="317" r:id="rId62"/>
    <p:sldId id="318" r:id="rId63"/>
    <p:sldId id="319" r:id="rId64"/>
    <p:sldId id="320" r:id="rId65"/>
    <p:sldId id="321" r:id="rId66"/>
    <p:sldId id="315" r:id="rId6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9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3255" y="3733927"/>
            <a:ext cx="6317488" cy="791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13255" y="3733927"/>
            <a:ext cx="6317488" cy="791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928242"/>
            <a:ext cx="76536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8901"/>
            <a:ext cx="4399280" cy="1948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java/" TargetMode="External"/><Relationship Id="rId2" Type="http://schemas.openxmlformats.org/officeDocument/2006/relationships/hyperlink" Target="http://www.javatpoint.com/super-keywor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sz="3000" spc="420" dirty="0"/>
              <a:t>OOP</a:t>
            </a:r>
            <a:r>
              <a:rPr sz="3000" spc="170" dirty="0"/>
              <a:t> </a:t>
            </a:r>
            <a:r>
              <a:rPr sz="3000" spc="365" dirty="0"/>
              <a:t>P</a:t>
            </a:r>
            <a:r>
              <a:rPr spc="365" dirty="0"/>
              <a:t>RINCIPLES</a:t>
            </a:r>
            <a:endParaRPr sz="3000"/>
          </a:p>
          <a:p>
            <a:pPr marL="963930">
              <a:lnSpc>
                <a:spcPct val="100000"/>
              </a:lnSpc>
              <a:spcBef>
                <a:spcPts val="25"/>
              </a:spcBef>
            </a:pPr>
            <a:r>
              <a:rPr sz="2000" spc="300" dirty="0"/>
              <a:t>CSI</a:t>
            </a:r>
            <a:r>
              <a:rPr sz="2000" spc="100" dirty="0"/>
              <a:t> </a:t>
            </a:r>
            <a:r>
              <a:rPr sz="2000" spc="-30" dirty="0"/>
              <a:t>211:</a:t>
            </a:r>
            <a:r>
              <a:rPr sz="2000" spc="120" dirty="0"/>
              <a:t> </a:t>
            </a:r>
            <a:r>
              <a:rPr sz="2000" spc="280" dirty="0"/>
              <a:t>O</a:t>
            </a:r>
            <a:r>
              <a:rPr sz="1600" spc="280" dirty="0"/>
              <a:t>BJECT</a:t>
            </a:r>
            <a:r>
              <a:rPr sz="1600" spc="235" dirty="0"/>
              <a:t> </a:t>
            </a:r>
            <a:r>
              <a:rPr sz="2000" spc="225" dirty="0"/>
              <a:t>O</a:t>
            </a:r>
            <a:r>
              <a:rPr sz="1600" spc="225" dirty="0"/>
              <a:t>RIENTED </a:t>
            </a:r>
            <a:r>
              <a:rPr sz="2000" spc="229" dirty="0"/>
              <a:t>P</a:t>
            </a:r>
            <a:r>
              <a:rPr sz="1600" spc="229" dirty="0"/>
              <a:t>ROGRAMMING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2364994" y="5033517"/>
            <a:ext cx="1784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49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" dirty="0"/>
              <a:t>3</a:t>
            </a:r>
            <a:r>
              <a:rPr sz="3000" spc="100" dirty="0"/>
              <a:t> </a:t>
            </a:r>
            <a:r>
              <a:rPr sz="3000" spc="280" dirty="0"/>
              <a:t>P</a:t>
            </a:r>
            <a:r>
              <a:rPr sz="2400" spc="280" dirty="0"/>
              <a:t>RINCIPLES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76465" cy="227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All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object-oriented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programming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languages 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provide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mechanisms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help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implement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object-oriented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model.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Inheritance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Encapsulation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Polymorphism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3710" y="3136772"/>
            <a:ext cx="2359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57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6567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Inheritance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process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which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70" dirty="0">
                <a:latin typeface="Cambria"/>
                <a:cs typeface="Cambria"/>
              </a:rPr>
              <a:t>acquires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properties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another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  <a:tab pos="697230" algn="l"/>
              </a:tabLst>
            </a:pPr>
            <a:r>
              <a:rPr sz="2400" spc="155" dirty="0">
                <a:latin typeface="Cambria"/>
                <a:cs typeface="Cambria"/>
              </a:rPr>
              <a:t>It	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form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classes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using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classes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already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been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defined.</a:t>
            </a:r>
            <a:endParaRPr sz="2400">
              <a:latin typeface="Cambria"/>
              <a:cs typeface="Cambria"/>
            </a:endParaRPr>
          </a:p>
          <a:p>
            <a:pPr marL="285115" marR="60007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classes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(child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classes),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take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over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(or 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inherit)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attributes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behavior</a:t>
            </a:r>
            <a:r>
              <a:rPr sz="2400" b="1" spc="1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pre-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existing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classes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(parent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classes).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57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89165" cy="402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“extends”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keyword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show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inheritance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5" dirty="0">
                <a:latin typeface="Cambria"/>
                <a:cs typeface="Cambria"/>
              </a:rPr>
              <a:t>relationship.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Example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600"/>
              </a:spcBef>
            </a:pP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Child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extends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Parent{}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extended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superclass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Other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terms: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class,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base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class,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ancestor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endParaRPr sz="2100">
              <a:latin typeface="Cambria"/>
              <a:cs typeface="Cambria"/>
            </a:endParaRPr>
          </a:p>
          <a:p>
            <a:pPr marL="285115" marR="5080" indent="-285750" algn="r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extended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subclass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superclass</a:t>
            </a:r>
            <a:endParaRPr sz="2400">
              <a:latin typeface="Cambria"/>
              <a:cs typeface="Cambria"/>
            </a:endParaRPr>
          </a:p>
          <a:p>
            <a:pPr marL="272415" marR="8890" lvl="1" indent="-272415" algn="r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272415" algn="l"/>
                <a:tab pos="273685" algn="l"/>
              </a:tabLst>
            </a:pPr>
            <a:r>
              <a:rPr sz="2100" spc="114" dirty="0">
                <a:latin typeface="Cambria"/>
                <a:cs typeface="Cambria"/>
              </a:rPr>
              <a:t>Other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terms: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child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class,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extended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class,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derived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endParaRPr sz="2100">
              <a:latin typeface="Cambria"/>
              <a:cs typeface="Cambria"/>
            </a:endParaRPr>
          </a:p>
          <a:p>
            <a:pPr marL="285115" marR="241300" indent="-273050">
              <a:lnSpc>
                <a:spcPct val="100200"/>
              </a:lnSpc>
              <a:spcBef>
                <a:spcPts val="58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75" dirty="0">
                <a:latin typeface="Cambria"/>
                <a:cs typeface="Cambria"/>
              </a:rPr>
              <a:t>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created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subclass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has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own </a:t>
            </a: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copy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nonstatic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fields</a:t>
            </a:r>
            <a:r>
              <a:rPr sz="2400" b="1" spc="14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defined</a:t>
            </a:r>
            <a:r>
              <a:rPr sz="2400" spc="105" dirty="0">
                <a:latin typeface="Cambria"/>
                <a:cs typeface="Cambria"/>
              </a:rPr>
              <a:t> 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 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superclass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57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30109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This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important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because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supports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concept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hierarchical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classification.</a:t>
            </a:r>
            <a:endParaRPr sz="2400">
              <a:latin typeface="Cambria"/>
              <a:cs typeface="Cambria"/>
            </a:endParaRPr>
          </a:p>
          <a:p>
            <a:pPr marL="285115" marR="259079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Inheritance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provides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powerful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25" dirty="0">
                <a:latin typeface="Cambria"/>
                <a:cs typeface="Cambria"/>
              </a:rPr>
              <a:t> natural 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mechanism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organizing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structuring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your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software</a:t>
            </a:r>
            <a:endParaRPr sz="2400">
              <a:latin typeface="Cambria"/>
              <a:cs typeface="Cambria"/>
            </a:endParaRPr>
          </a:p>
          <a:p>
            <a:pPr marL="285115" marR="52895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5" dirty="0">
                <a:latin typeface="Cambria"/>
                <a:cs typeface="Cambria"/>
              </a:rPr>
              <a:t>It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intended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help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reuse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existing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little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modification.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24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r>
              <a:rPr sz="2400" spc="310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6783070" cy="3455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Parent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379730" marR="3676015">
              <a:lnSpc>
                <a:spcPct val="100000"/>
              </a:lnSpc>
            </a:pP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parentVariable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 </a:t>
            </a:r>
            <a:r>
              <a:rPr sz="1500" spc="5" dirty="0">
                <a:latin typeface="Cambria"/>
                <a:cs typeface="Cambria"/>
              </a:rPr>
              <a:t>10;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void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parentMethod()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500" spc="55" dirty="0">
                <a:latin typeface="Cambria"/>
                <a:cs typeface="Cambria"/>
              </a:rPr>
              <a:t>System.out.println(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"Parent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Method"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-30" dirty="0">
                <a:latin typeface="Cambria"/>
                <a:cs typeface="Cambria"/>
              </a:rPr>
              <a:t>);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105" dirty="0">
                <a:latin typeface="Cambria"/>
                <a:cs typeface="Cambria"/>
              </a:rPr>
              <a:t> Child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extends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Parent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379730" marR="3903979" indent="31750">
              <a:lnSpc>
                <a:spcPct val="103299"/>
              </a:lnSpc>
              <a:spcBef>
                <a:spcPts val="240"/>
              </a:spcBef>
            </a:pP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childVariable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5;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void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childMethod()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500" spc="35" dirty="0">
                <a:latin typeface="Cambria"/>
                <a:cs typeface="Cambria"/>
              </a:rPr>
              <a:t>parentMethod();</a:t>
            </a:r>
            <a:endParaRPr sz="1500">
              <a:latin typeface="Cambria"/>
              <a:cs typeface="Cambria"/>
            </a:endParaRPr>
          </a:p>
          <a:p>
            <a:pPr marL="652780" marR="5080">
              <a:lnSpc>
                <a:spcPct val="100000"/>
              </a:lnSpc>
            </a:pPr>
            <a:r>
              <a:rPr sz="1500" spc="55" dirty="0">
                <a:latin typeface="Cambria"/>
                <a:cs typeface="Cambria"/>
              </a:rPr>
              <a:t>System.out.printf(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"In</a:t>
            </a:r>
            <a:r>
              <a:rPr sz="1500" spc="90" dirty="0">
                <a:latin typeface="Cambria"/>
                <a:cs typeface="Cambria"/>
              </a:rPr>
              <a:t> Child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ParentVariable=%d,</a:t>
            </a:r>
            <a:r>
              <a:rPr sz="1500" spc="11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ChildVariable=%d“,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parentVariable,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childVariable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spc="-30" dirty="0">
                <a:latin typeface="Cambria"/>
                <a:cs typeface="Cambria"/>
              </a:rPr>
              <a:t>);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060441"/>
            <a:ext cx="401637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Inheritance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10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744220" marR="163830" indent="-364490">
              <a:lnSpc>
                <a:spcPct val="100000"/>
              </a:lnSpc>
            </a:pP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static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main(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String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args[]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)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200" spc="70" dirty="0">
                <a:latin typeface="Cambria"/>
                <a:cs typeface="Cambria"/>
              </a:rPr>
              <a:t>Child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example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spc="25" dirty="0">
                <a:latin typeface="Cambria"/>
                <a:cs typeface="Cambria"/>
              </a:rPr>
              <a:t>new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Child(); </a:t>
            </a:r>
            <a:r>
              <a:rPr sz="1200" spc="3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example.childMethod(); </a:t>
            </a:r>
            <a:r>
              <a:rPr sz="1200" spc="35" dirty="0">
                <a:latin typeface="Cambria"/>
                <a:cs typeface="Cambria"/>
              </a:rPr>
              <a:t> example.parentMethod();</a:t>
            </a:r>
            <a:endParaRPr sz="12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200" spc="45" dirty="0">
                <a:latin typeface="Cambria"/>
                <a:cs typeface="Cambria"/>
              </a:rPr>
              <a:t>System.out.println( </a:t>
            </a:r>
            <a:r>
              <a:rPr sz="1200" spc="50" dirty="0">
                <a:latin typeface="Cambria"/>
                <a:cs typeface="Cambria"/>
              </a:rPr>
              <a:t>example.parentVariable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);</a:t>
            </a:r>
            <a:endParaRPr sz="12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000" y="5170487"/>
            <a:ext cx="3733800" cy="123063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Parent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ethod</a:t>
            </a:r>
            <a:endParaRPr sz="1400">
              <a:latin typeface="Arial MT"/>
              <a:cs typeface="Arial MT"/>
            </a:endParaRPr>
          </a:p>
          <a:p>
            <a:pPr marL="92075" marR="17589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In </a:t>
            </a:r>
            <a:r>
              <a:rPr sz="1400" spc="-5" dirty="0">
                <a:latin typeface="Arial MT"/>
                <a:cs typeface="Arial MT"/>
              </a:rPr>
              <a:t>Child </a:t>
            </a:r>
            <a:r>
              <a:rPr sz="1400" spc="-10" dirty="0">
                <a:latin typeface="Arial MT"/>
                <a:cs typeface="Arial MT"/>
              </a:rPr>
              <a:t>ParentVariable=10, ChildVariable=5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Parent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Method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839336"/>
            <a:ext cx="1109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4" dirty="0">
                <a:latin typeface="Cambria"/>
                <a:cs typeface="Cambria"/>
              </a:rPr>
              <a:t>Act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like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324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r>
              <a:rPr sz="2400" spc="310" dirty="0"/>
              <a:t> </a:t>
            </a:r>
            <a:r>
              <a:rPr sz="3000" dirty="0"/>
              <a:t>-</a:t>
            </a:r>
            <a:r>
              <a:rPr sz="3000" spc="155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9450" y="2233676"/>
          <a:ext cx="2590800" cy="1112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1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Parent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parentVariable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parentMethod()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184650" y="2233676"/>
          <a:ext cx="2590800" cy="1112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16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Child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childVariable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35" dirty="0">
                          <a:latin typeface="Cambria"/>
                          <a:cs typeface="Cambria"/>
                        </a:rPr>
                        <a:t>childMethod()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276600" y="2386838"/>
            <a:ext cx="838200" cy="103505"/>
          </a:xfrm>
          <a:custGeom>
            <a:avLst/>
            <a:gdLst/>
            <a:ahLst/>
            <a:cxnLst/>
            <a:rect l="l" t="t" r="r" b="b"/>
            <a:pathLst>
              <a:path w="838200" h="103505">
                <a:moveTo>
                  <a:pt x="88646" y="0"/>
                </a:moveTo>
                <a:lnTo>
                  <a:pt x="85725" y="1777"/>
                </a:lnTo>
                <a:lnTo>
                  <a:pt x="0" y="51562"/>
                </a:lnTo>
                <a:lnTo>
                  <a:pt x="88519" y="103377"/>
                </a:lnTo>
                <a:lnTo>
                  <a:pt x="92455" y="102362"/>
                </a:lnTo>
                <a:lnTo>
                  <a:pt x="94107" y="99440"/>
                </a:lnTo>
                <a:lnTo>
                  <a:pt x="95885" y="96392"/>
                </a:lnTo>
                <a:lnTo>
                  <a:pt x="94869" y="92456"/>
                </a:lnTo>
                <a:lnTo>
                  <a:pt x="91948" y="90677"/>
                </a:lnTo>
                <a:lnTo>
                  <a:pt x="36017" y="57958"/>
                </a:lnTo>
                <a:lnTo>
                  <a:pt x="12573" y="57912"/>
                </a:lnTo>
                <a:lnTo>
                  <a:pt x="12573" y="45212"/>
                </a:lnTo>
                <a:lnTo>
                  <a:pt x="36139" y="45212"/>
                </a:lnTo>
                <a:lnTo>
                  <a:pt x="95123" y="11049"/>
                </a:lnTo>
                <a:lnTo>
                  <a:pt x="96138" y="7112"/>
                </a:lnTo>
                <a:lnTo>
                  <a:pt x="92583" y="1015"/>
                </a:lnTo>
                <a:lnTo>
                  <a:pt x="88646" y="0"/>
                </a:lnTo>
                <a:close/>
              </a:path>
              <a:path w="838200" h="103505">
                <a:moveTo>
                  <a:pt x="36058" y="45258"/>
                </a:moveTo>
                <a:lnTo>
                  <a:pt x="25129" y="51589"/>
                </a:lnTo>
                <a:lnTo>
                  <a:pt x="36017" y="57958"/>
                </a:lnTo>
                <a:lnTo>
                  <a:pt x="838200" y="59562"/>
                </a:lnTo>
                <a:lnTo>
                  <a:pt x="838200" y="46862"/>
                </a:lnTo>
                <a:lnTo>
                  <a:pt x="36058" y="45258"/>
                </a:lnTo>
                <a:close/>
              </a:path>
              <a:path w="838200" h="103505">
                <a:moveTo>
                  <a:pt x="12573" y="45212"/>
                </a:moveTo>
                <a:lnTo>
                  <a:pt x="12573" y="57912"/>
                </a:lnTo>
                <a:lnTo>
                  <a:pt x="36017" y="57958"/>
                </a:lnTo>
                <a:lnTo>
                  <a:pt x="34418" y="57023"/>
                </a:lnTo>
                <a:lnTo>
                  <a:pt x="15748" y="57023"/>
                </a:lnTo>
                <a:lnTo>
                  <a:pt x="15748" y="46100"/>
                </a:lnTo>
                <a:lnTo>
                  <a:pt x="34605" y="46100"/>
                </a:lnTo>
                <a:lnTo>
                  <a:pt x="36058" y="45258"/>
                </a:lnTo>
                <a:lnTo>
                  <a:pt x="12573" y="45212"/>
                </a:lnTo>
                <a:close/>
              </a:path>
              <a:path w="838200" h="103505">
                <a:moveTo>
                  <a:pt x="15748" y="46100"/>
                </a:moveTo>
                <a:lnTo>
                  <a:pt x="15748" y="57023"/>
                </a:lnTo>
                <a:lnTo>
                  <a:pt x="25129" y="51589"/>
                </a:lnTo>
                <a:lnTo>
                  <a:pt x="15748" y="46100"/>
                </a:lnTo>
                <a:close/>
              </a:path>
              <a:path w="838200" h="103505">
                <a:moveTo>
                  <a:pt x="25129" y="51589"/>
                </a:moveTo>
                <a:lnTo>
                  <a:pt x="15748" y="57023"/>
                </a:lnTo>
                <a:lnTo>
                  <a:pt x="34418" y="57023"/>
                </a:lnTo>
                <a:lnTo>
                  <a:pt x="25129" y="51589"/>
                </a:lnTo>
                <a:close/>
              </a:path>
              <a:path w="838200" h="103505">
                <a:moveTo>
                  <a:pt x="34605" y="46100"/>
                </a:moveTo>
                <a:lnTo>
                  <a:pt x="15748" y="46100"/>
                </a:lnTo>
                <a:lnTo>
                  <a:pt x="25129" y="51589"/>
                </a:lnTo>
                <a:lnTo>
                  <a:pt x="34605" y="46100"/>
                </a:lnTo>
                <a:close/>
              </a:path>
              <a:path w="838200" h="103505">
                <a:moveTo>
                  <a:pt x="36139" y="45212"/>
                </a:moveTo>
                <a:lnTo>
                  <a:pt x="12573" y="45212"/>
                </a:lnTo>
                <a:lnTo>
                  <a:pt x="36058" y="45258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5650" y="4367276"/>
          <a:ext cx="2590800" cy="11127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Parent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75" dirty="0">
                          <a:latin typeface="Cambria"/>
                          <a:cs typeface="Cambria"/>
                        </a:rPr>
                        <a:t>parentVariable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40" dirty="0">
                          <a:latin typeface="Cambria"/>
                          <a:cs typeface="Cambria"/>
                        </a:rPr>
                        <a:t>parentMethod()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337050" y="4286250"/>
          <a:ext cx="2590800" cy="165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6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Child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 marR="8845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parentVariable </a:t>
                      </a:r>
                      <a:r>
                        <a:rPr sz="1800" spc="-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childVariable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 marR="8312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Cambria"/>
                          <a:cs typeface="Cambria"/>
                        </a:rPr>
                        <a:t>p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re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n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tMetho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d() 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childMethod()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5350" y="5029200"/>
            <a:ext cx="1685925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95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T</a:t>
            </a:r>
            <a:r>
              <a:rPr sz="2400" spc="285" dirty="0"/>
              <a:t>YPES</a:t>
            </a:r>
            <a:r>
              <a:rPr sz="2400" spc="280" dirty="0"/>
              <a:t> </a:t>
            </a:r>
            <a:r>
              <a:rPr sz="2400" spc="305" dirty="0"/>
              <a:t>OF</a:t>
            </a:r>
            <a:r>
              <a:rPr sz="2400" spc="285" dirty="0"/>
              <a:t> </a:t>
            </a:r>
            <a:r>
              <a:rPr sz="3000" spc="285" dirty="0"/>
              <a:t>I</a:t>
            </a:r>
            <a:r>
              <a:rPr sz="2400" spc="285" dirty="0"/>
              <a:t>NHERITANCE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535940" y="1568616"/>
            <a:ext cx="6842759" cy="36537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10" dirty="0">
                <a:latin typeface="Cambria"/>
                <a:cs typeface="Cambria"/>
              </a:rPr>
              <a:t>Single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25" dirty="0">
                <a:latin typeface="Cambria"/>
                <a:cs typeface="Cambria"/>
              </a:rPr>
              <a:t>One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parent-&gt; </a:t>
            </a:r>
            <a:r>
              <a:rPr sz="2000" spc="125" dirty="0">
                <a:latin typeface="Cambria"/>
                <a:cs typeface="Cambria"/>
              </a:rPr>
              <a:t>One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child</a:t>
            </a:r>
            <a:endParaRPr sz="20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Segoe UI Symbol"/>
              <a:buChar char="⚫"/>
            </a:pPr>
            <a:endParaRPr sz="29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Multi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level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20" dirty="0">
                <a:latin typeface="Cambria"/>
                <a:cs typeface="Cambria"/>
              </a:rPr>
              <a:t>one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inherit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from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derived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class,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thereby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making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this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derived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for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new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class.</a:t>
            </a:r>
            <a:endParaRPr sz="20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FD8537"/>
              </a:buClr>
              <a:buFont typeface="Segoe UI Symbol"/>
              <a:buChar char="⚫"/>
            </a:pP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  <a:buFont typeface="Segoe UI Symbol"/>
              <a:buChar char="⚫"/>
            </a:pPr>
            <a:endParaRPr sz="3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0" dirty="0">
                <a:latin typeface="Cambria"/>
                <a:cs typeface="Cambria"/>
              </a:rPr>
              <a:t>Hierarchical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25" dirty="0">
                <a:latin typeface="Cambria"/>
                <a:cs typeface="Cambria"/>
              </a:rPr>
              <a:t>One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parent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–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multiple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children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1600200"/>
            <a:ext cx="466725" cy="6667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77125" y="2790825"/>
            <a:ext cx="63817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95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T</a:t>
            </a:r>
            <a:r>
              <a:rPr sz="2400" spc="285" dirty="0"/>
              <a:t>YPES</a:t>
            </a:r>
            <a:r>
              <a:rPr sz="2400" spc="280" dirty="0"/>
              <a:t> </a:t>
            </a:r>
            <a:r>
              <a:rPr sz="2400" spc="305" dirty="0"/>
              <a:t>OF</a:t>
            </a:r>
            <a:r>
              <a:rPr sz="2400" spc="285" dirty="0"/>
              <a:t> </a:t>
            </a:r>
            <a:r>
              <a:rPr sz="3000" spc="285" dirty="0"/>
              <a:t>I</a:t>
            </a:r>
            <a:r>
              <a:rPr sz="2400" spc="285" dirty="0"/>
              <a:t>NHERITANCE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68616"/>
            <a:ext cx="6703695" cy="1870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Multiple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95" dirty="0">
                <a:latin typeface="Cambria"/>
                <a:cs typeface="Cambria"/>
              </a:rPr>
              <a:t>Multiple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parents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-&gt;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one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child</a:t>
            </a:r>
            <a:endParaRPr sz="20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Segoe UI Symbol"/>
              <a:buChar char="⚫"/>
            </a:pPr>
            <a:endParaRPr sz="29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0" dirty="0">
                <a:latin typeface="Cambria"/>
                <a:cs typeface="Cambria"/>
              </a:rPr>
              <a:t>Hybrid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14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combination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Single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Multiple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348732"/>
            <a:ext cx="5348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210" dirty="0">
                <a:solidFill>
                  <a:srgbClr val="FF0000"/>
                </a:solidFill>
                <a:latin typeface="Cambria"/>
                <a:cs typeface="Cambria"/>
              </a:rPr>
              <a:t>Java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15" dirty="0">
                <a:solidFill>
                  <a:srgbClr val="FF0000"/>
                </a:solidFill>
                <a:latin typeface="Cambria"/>
                <a:cs typeface="Cambria"/>
              </a:rPr>
              <a:t>does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not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support</a:t>
            </a: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multiple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inheritance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3950" y="1714500"/>
            <a:ext cx="1619250" cy="952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0775" y="3429000"/>
            <a:ext cx="1990725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641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z="2400" spc="285" dirty="0"/>
              <a:t>NHERITANCE</a:t>
            </a:r>
            <a:r>
              <a:rPr sz="2400" spc="330" dirty="0"/>
              <a:t> </a:t>
            </a:r>
            <a:r>
              <a:rPr sz="3000" spc="165" dirty="0"/>
              <a:t>–</a:t>
            </a:r>
            <a:r>
              <a:rPr sz="3000" spc="160" dirty="0"/>
              <a:t> </a:t>
            </a:r>
            <a:r>
              <a:rPr sz="2400" spc="305" dirty="0"/>
              <a:t>SUPER</a:t>
            </a:r>
            <a:r>
              <a:rPr sz="2400" spc="330" dirty="0"/>
              <a:t> </a:t>
            </a:r>
            <a:r>
              <a:rPr sz="2400" spc="280" dirty="0"/>
              <a:t>KEYWORD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98970" cy="3349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 algn="just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super</a:t>
            </a:r>
            <a:r>
              <a:rPr sz="2000" b="1" spc="10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keyword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0" dirty="0">
                <a:latin typeface="Cambria"/>
                <a:cs typeface="Cambria"/>
              </a:rPr>
              <a:t> java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variable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endParaRPr sz="2000">
              <a:latin typeface="Cambria"/>
              <a:cs typeface="Cambria"/>
            </a:endParaRPr>
          </a:p>
          <a:p>
            <a:pPr marL="285115" algn="just">
              <a:lnSpc>
                <a:spcPct val="100000"/>
              </a:lnSpc>
            </a:pPr>
            <a:r>
              <a:rPr sz="2000" spc="60" dirty="0">
                <a:latin typeface="Cambria"/>
                <a:cs typeface="Cambria"/>
              </a:rPr>
              <a:t>used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immediate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parent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object.</a:t>
            </a:r>
            <a:endParaRPr sz="2000">
              <a:latin typeface="Cambria"/>
              <a:cs typeface="Cambria"/>
            </a:endParaRPr>
          </a:p>
          <a:p>
            <a:pPr marL="285115" marR="449580" indent="-273050" algn="just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Whenever </a:t>
            </a:r>
            <a:r>
              <a:rPr sz="2000" spc="40" dirty="0">
                <a:latin typeface="Cambria"/>
                <a:cs typeface="Cambria"/>
              </a:rPr>
              <a:t>you </a:t>
            </a:r>
            <a:r>
              <a:rPr sz="2000" b="1" spc="120" dirty="0">
                <a:latin typeface="Cambria"/>
                <a:cs typeface="Cambria"/>
              </a:rPr>
              <a:t>create </a:t>
            </a:r>
            <a:r>
              <a:rPr sz="2000" b="1" spc="125" dirty="0">
                <a:latin typeface="Cambria"/>
                <a:cs typeface="Cambria"/>
              </a:rPr>
              <a:t>the </a:t>
            </a:r>
            <a:r>
              <a:rPr sz="2000" b="1" spc="130" dirty="0">
                <a:latin typeface="Cambria"/>
                <a:cs typeface="Cambria"/>
              </a:rPr>
              <a:t>instance </a:t>
            </a:r>
            <a:r>
              <a:rPr sz="2000" b="1" spc="105" dirty="0">
                <a:latin typeface="Cambria"/>
                <a:cs typeface="Cambria"/>
              </a:rPr>
              <a:t>of </a:t>
            </a:r>
            <a:r>
              <a:rPr sz="2000" b="1" spc="110" dirty="0">
                <a:latin typeface="Cambria"/>
                <a:cs typeface="Cambria"/>
              </a:rPr>
              <a:t>subclass, </a:t>
            </a:r>
            <a:r>
              <a:rPr sz="2000" b="1" spc="155" dirty="0">
                <a:latin typeface="Cambria"/>
                <a:cs typeface="Cambria"/>
              </a:rPr>
              <a:t>an </a:t>
            </a:r>
            <a:r>
              <a:rPr sz="2000" b="1" spc="-43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instance </a:t>
            </a:r>
            <a:r>
              <a:rPr sz="2000" b="1" spc="105" dirty="0">
                <a:latin typeface="Cambria"/>
                <a:cs typeface="Cambria"/>
              </a:rPr>
              <a:t>of </a:t>
            </a:r>
            <a:r>
              <a:rPr sz="2000" b="1" spc="130" dirty="0">
                <a:latin typeface="Cambria"/>
                <a:cs typeface="Cambria"/>
              </a:rPr>
              <a:t>parent </a:t>
            </a:r>
            <a:r>
              <a:rPr sz="2000" b="1" spc="110" dirty="0">
                <a:latin typeface="Cambria"/>
                <a:cs typeface="Cambria"/>
              </a:rPr>
              <a:t>class </a:t>
            </a:r>
            <a:r>
              <a:rPr sz="2000" b="1" spc="95" dirty="0">
                <a:latin typeface="Cambria"/>
                <a:cs typeface="Cambria"/>
              </a:rPr>
              <a:t>is </a:t>
            </a:r>
            <a:r>
              <a:rPr sz="2000" b="1" spc="125" dirty="0">
                <a:latin typeface="Cambria"/>
                <a:cs typeface="Cambria"/>
              </a:rPr>
              <a:t>created </a:t>
            </a:r>
            <a:r>
              <a:rPr sz="2000" b="1" spc="120" dirty="0">
                <a:latin typeface="Cambria"/>
                <a:cs typeface="Cambria"/>
              </a:rPr>
              <a:t>implicitly </a:t>
            </a:r>
            <a:r>
              <a:rPr sz="2000" spc="95" dirty="0">
                <a:latin typeface="Cambria"/>
                <a:cs typeface="Cambria"/>
              </a:rPr>
              <a:t>i.e.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referred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by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super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variable.</a:t>
            </a:r>
            <a:endParaRPr sz="2000">
              <a:latin typeface="Cambria"/>
              <a:cs typeface="Cambria"/>
            </a:endParaRPr>
          </a:p>
          <a:p>
            <a:pPr marL="285115" indent="-273050" algn="just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30" dirty="0">
                <a:latin typeface="Cambria"/>
                <a:cs typeface="Cambria"/>
              </a:rPr>
              <a:t>Usage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java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super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Keyword</a:t>
            </a:r>
            <a:endParaRPr sz="2000">
              <a:latin typeface="Cambria"/>
              <a:cs typeface="Cambria"/>
            </a:endParaRPr>
          </a:p>
          <a:p>
            <a:pPr marL="652780" marR="1057275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60" dirty="0">
                <a:latin typeface="Cambria"/>
                <a:cs typeface="Cambria"/>
              </a:rPr>
              <a:t>super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used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immediate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parent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 </a:t>
            </a:r>
            <a:r>
              <a:rPr sz="2000" spc="-43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member(instance </a:t>
            </a:r>
            <a:r>
              <a:rPr sz="2000" spc="75" dirty="0">
                <a:latin typeface="Cambria"/>
                <a:cs typeface="Cambria"/>
              </a:rPr>
              <a:t>variable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54" dirty="0">
                <a:latin typeface="Cambria"/>
                <a:cs typeface="Cambria"/>
              </a:rPr>
              <a:t>&amp;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method).</a:t>
            </a:r>
            <a:endParaRPr sz="2000">
              <a:latin typeface="Cambria"/>
              <a:cs typeface="Cambria"/>
            </a:endParaRPr>
          </a:p>
          <a:p>
            <a:pPr marL="652780" marR="676910" lvl="1" indent="-273685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5" dirty="0">
                <a:latin typeface="Cambria"/>
                <a:cs typeface="Cambria"/>
              </a:rPr>
              <a:t>super()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used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invoke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immediate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parent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constructor.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8242"/>
            <a:ext cx="7653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85" dirty="0"/>
              <a:t>SUPER</a:t>
            </a:r>
            <a:r>
              <a:rPr spc="265" dirty="0"/>
              <a:t> </a:t>
            </a:r>
            <a:r>
              <a:rPr sz="2800" spc="155" dirty="0"/>
              <a:t>–</a:t>
            </a:r>
            <a:r>
              <a:rPr sz="2800" spc="170" dirty="0"/>
              <a:t> </a:t>
            </a:r>
            <a:r>
              <a:rPr spc="210" dirty="0"/>
              <a:t>PARENT</a:t>
            </a:r>
            <a:r>
              <a:rPr sz="2800" spc="210" dirty="0"/>
              <a:t>’</a:t>
            </a:r>
            <a:r>
              <a:rPr spc="210" dirty="0"/>
              <a:t>S</a:t>
            </a:r>
            <a:r>
              <a:rPr spc="254" dirty="0"/>
              <a:t> </a:t>
            </a:r>
            <a:r>
              <a:rPr spc="260" dirty="0"/>
              <a:t>INSTANCE </a:t>
            </a:r>
            <a:r>
              <a:rPr spc="190" dirty="0"/>
              <a:t>VARIABLE</a:t>
            </a:r>
            <a:r>
              <a:rPr sz="2800" spc="190" dirty="0"/>
              <a:t>/</a:t>
            </a:r>
            <a:r>
              <a:rPr spc="190" dirty="0"/>
              <a:t>METHOD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476502"/>
            <a:ext cx="7217409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 </a:t>
            </a:r>
            <a:r>
              <a:rPr sz="2400" spc="70" dirty="0">
                <a:latin typeface="Cambria"/>
                <a:cs typeface="Cambria"/>
              </a:rPr>
              <a:t>super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keyword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also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used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469900" marR="170815" lvl="1" indent="-273050">
              <a:lnSpc>
                <a:spcPct val="100000"/>
              </a:lnSpc>
              <a:buClr>
                <a:srgbClr val="FD8537"/>
              </a:buClr>
              <a:buSzPct val="78571"/>
              <a:buFont typeface="Segoe UI Symbol"/>
              <a:buChar char="⚫"/>
              <a:tabLst>
                <a:tab pos="469265" algn="l"/>
                <a:tab pos="469900" algn="l"/>
              </a:tabLst>
            </a:pPr>
            <a:r>
              <a:rPr sz="2100" spc="60" dirty="0">
                <a:latin typeface="Cambria"/>
                <a:cs typeface="Cambria"/>
              </a:rPr>
              <a:t>Access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class’s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child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has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name.</a:t>
            </a:r>
            <a:endParaRPr sz="2100">
              <a:latin typeface="Cambria"/>
              <a:cs typeface="Cambria"/>
            </a:endParaRPr>
          </a:p>
          <a:p>
            <a:pPr marL="469900" marR="5080" lvl="1" indent="-273050">
              <a:lnSpc>
                <a:spcPct val="100000"/>
              </a:lnSpc>
              <a:buClr>
                <a:srgbClr val="FD8537"/>
              </a:buClr>
              <a:buSzPct val="78571"/>
              <a:buFont typeface="Segoe UI Symbol"/>
              <a:buChar char="⚫"/>
              <a:tabLst>
                <a:tab pos="469265" algn="l"/>
                <a:tab pos="469900" algn="l"/>
              </a:tabLst>
            </a:pPr>
            <a:r>
              <a:rPr sz="2100" spc="60" dirty="0">
                <a:latin typeface="Cambria"/>
                <a:cs typeface="Cambria"/>
              </a:rPr>
              <a:t>invoke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class’s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method.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35" dirty="0">
                <a:latin typeface="Cambria"/>
                <a:cs typeface="Cambria"/>
              </a:rPr>
              <a:t>It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should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used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case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subclass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contains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100" dirty="0">
                <a:latin typeface="Cambria"/>
                <a:cs typeface="Cambria"/>
              </a:rPr>
              <a:t> as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class.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85" dirty="0"/>
              <a:t>SUPER</a:t>
            </a:r>
            <a:r>
              <a:rPr spc="265" dirty="0"/>
              <a:t> </a:t>
            </a:r>
            <a:r>
              <a:rPr sz="2800" spc="155" dirty="0"/>
              <a:t>–</a:t>
            </a:r>
            <a:r>
              <a:rPr sz="2800" spc="170" dirty="0"/>
              <a:t> </a:t>
            </a:r>
            <a:r>
              <a:rPr spc="210" dirty="0"/>
              <a:t>PARENT</a:t>
            </a:r>
            <a:r>
              <a:rPr sz="2800" spc="210" dirty="0"/>
              <a:t>’</a:t>
            </a:r>
            <a:r>
              <a:rPr spc="210" dirty="0"/>
              <a:t>S</a:t>
            </a:r>
            <a:r>
              <a:rPr spc="254" dirty="0"/>
              <a:t> </a:t>
            </a:r>
            <a:r>
              <a:rPr spc="260" dirty="0"/>
              <a:t>INSTANCE </a:t>
            </a:r>
            <a:r>
              <a:rPr spc="190" dirty="0"/>
              <a:t>VARIABLE</a:t>
            </a:r>
            <a:r>
              <a:rPr sz="2800" spc="190" dirty="0"/>
              <a:t>/</a:t>
            </a:r>
            <a:r>
              <a:rPr spc="190" dirty="0"/>
              <a:t>METHOD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325626"/>
            <a:ext cx="7925434" cy="5520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6363970" indent="-184785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Parent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 </a:t>
            </a:r>
            <a:r>
              <a:rPr sz="1500" spc="-80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String </a:t>
            </a:r>
            <a:r>
              <a:rPr sz="1500" spc="60" dirty="0">
                <a:latin typeface="Cambria"/>
                <a:cs typeface="Cambria"/>
              </a:rPr>
              <a:t>name; 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4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message(){</a:t>
            </a:r>
            <a:endParaRPr sz="15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1500" spc="55" dirty="0">
                <a:latin typeface="Cambria"/>
                <a:cs typeface="Cambria"/>
              </a:rPr>
              <a:t>System.</a:t>
            </a:r>
            <a:r>
              <a:rPr sz="1500" i="1" spc="55" dirty="0">
                <a:latin typeface="Cambria"/>
                <a:cs typeface="Cambria"/>
              </a:rPr>
              <a:t>out.println("Welcome</a:t>
            </a:r>
            <a:r>
              <a:rPr sz="1500" i="1" spc="40" dirty="0">
                <a:latin typeface="Cambria"/>
                <a:cs typeface="Cambria"/>
              </a:rPr>
              <a:t> </a:t>
            </a:r>
            <a:r>
              <a:rPr sz="1500" i="1" spc="-5" dirty="0">
                <a:latin typeface="Cambria"/>
                <a:cs typeface="Cambria"/>
              </a:rPr>
              <a:t>to</a:t>
            </a:r>
            <a:r>
              <a:rPr sz="1500" i="1" spc="80" dirty="0">
                <a:latin typeface="Cambria"/>
                <a:cs typeface="Cambria"/>
              </a:rPr>
              <a:t> </a:t>
            </a:r>
            <a:r>
              <a:rPr sz="1500" i="1" spc="60" dirty="0">
                <a:latin typeface="Cambria"/>
                <a:cs typeface="Cambria"/>
              </a:rPr>
              <a:t>Parent</a:t>
            </a:r>
            <a:r>
              <a:rPr sz="1500" i="1" spc="85" dirty="0">
                <a:latin typeface="Cambria"/>
                <a:cs typeface="Cambria"/>
              </a:rPr>
              <a:t> </a:t>
            </a:r>
            <a:r>
              <a:rPr sz="1500" i="1" spc="50" dirty="0">
                <a:latin typeface="Cambria"/>
                <a:cs typeface="Cambria"/>
              </a:rPr>
              <a:t>class.");</a:t>
            </a:r>
            <a:r>
              <a:rPr sz="1500" i="1" spc="12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 marR="3849370">
              <a:lnSpc>
                <a:spcPct val="100000"/>
              </a:lnSpc>
            </a:pP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55" dirty="0">
                <a:latin typeface="Cambria"/>
                <a:cs typeface="Cambria"/>
              </a:rPr>
              <a:t>C</a:t>
            </a:r>
            <a:r>
              <a:rPr sz="1500" spc="110" dirty="0">
                <a:latin typeface="Cambria"/>
                <a:cs typeface="Cambria"/>
              </a:rPr>
              <a:t>r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subc</a:t>
            </a:r>
            <a:r>
              <a:rPr sz="1500" spc="15" dirty="0">
                <a:latin typeface="Cambria"/>
                <a:cs typeface="Cambria"/>
              </a:rPr>
              <a:t>l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45" dirty="0">
                <a:latin typeface="Cambria"/>
                <a:cs typeface="Cambria"/>
              </a:rPr>
              <a:t>ss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b</a:t>
            </a:r>
            <a:r>
              <a:rPr sz="1500" spc="45" dirty="0">
                <a:latin typeface="Cambria"/>
                <a:cs typeface="Cambria"/>
              </a:rPr>
              <a:t>y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45" dirty="0">
                <a:latin typeface="Cambria"/>
                <a:cs typeface="Cambria"/>
              </a:rPr>
              <a:t>xt</a:t>
            </a:r>
            <a:r>
              <a:rPr sz="1500" spc="70" dirty="0">
                <a:latin typeface="Cambria"/>
                <a:cs typeface="Cambria"/>
              </a:rPr>
              <a:t>en</a:t>
            </a:r>
            <a:r>
              <a:rPr sz="1500" spc="40" dirty="0">
                <a:latin typeface="Cambria"/>
                <a:cs typeface="Cambria"/>
              </a:rPr>
              <a:t>di</a:t>
            </a:r>
            <a:r>
              <a:rPr sz="1500" spc="55" dirty="0">
                <a:latin typeface="Cambria"/>
                <a:cs typeface="Cambria"/>
              </a:rPr>
              <a:t>n</a:t>
            </a:r>
            <a:r>
              <a:rPr sz="1500" spc="60" dirty="0">
                <a:latin typeface="Cambria"/>
                <a:cs typeface="Cambria"/>
              </a:rPr>
              <a:t>g </a:t>
            </a:r>
            <a:r>
              <a:rPr sz="1500" spc="-10" dirty="0">
                <a:latin typeface="Cambria"/>
                <a:cs typeface="Cambria"/>
              </a:rPr>
              <a:t>c</a:t>
            </a:r>
            <a:r>
              <a:rPr sz="1500" spc="60" dirty="0">
                <a:latin typeface="Cambria"/>
                <a:cs typeface="Cambria"/>
              </a:rPr>
              <a:t>l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45" dirty="0">
                <a:latin typeface="Cambria"/>
                <a:cs typeface="Cambria"/>
              </a:rPr>
              <a:t>ss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</a:t>
            </a:r>
            <a:r>
              <a:rPr sz="1500" spc="65" dirty="0">
                <a:latin typeface="Cambria"/>
                <a:cs typeface="Cambria"/>
              </a:rPr>
              <a:t>a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10" dirty="0">
                <a:latin typeface="Cambria"/>
                <a:cs typeface="Cambria"/>
              </a:rPr>
              <a:t>.  </a:t>
            </a: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90" dirty="0">
                <a:latin typeface="Cambria"/>
                <a:cs typeface="Cambria"/>
              </a:rPr>
              <a:t>Child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extends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Parent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196850">
              <a:lnSpc>
                <a:spcPct val="100000"/>
              </a:lnSpc>
              <a:spcBef>
                <a:spcPts val="5"/>
              </a:spcBef>
            </a:pPr>
            <a:r>
              <a:rPr sz="1500" spc="80" dirty="0">
                <a:latin typeface="Cambria"/>
                <a:cs typeface="Cambria"/>
              </a:rPr>
              <a:t>String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name;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-31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this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name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hides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name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Parent</a:t>
            </a:r>
            <a:endParaRPr sz="1500">
              <a:latin typeface="Cambria"/>
              <a:cs typeface="Cambria"/>
            </a:endParaRPr>
          </a:p>
          <a:p>
            <a:pPr marL="561340" marR="4828540" indent="-365125" algn="just">
              <a:lnSpc>
                <a:spcPct val="100000"/>
              </a:lnSpc>
              <a:spcBef>
                <a:spcPts val="1200"/>
              </a:spcBef>
            </a:pPr>
            <a:r>
              <a:rPr sz="1500" spc="35" dirty="0">
                <a:latin typeface="Cambria"/>
                <a:cs typeface="Cambria"/>
              </a:rPr>
              <a:t>public </a:t>
            </a:r>
            <a:r>
              <a:rPr sz="1500" spc="70" dirty="0">
                <a:latin typeface="Cambria"/>
                <a:cs typeface="Cambria"/>
              </a:rPr>
              <a:t>Child(String </a:t>
            </a:r>
            <a:r>
              <a:rPr sz="1500" spc="105" dirty="0">
                <a:latin typeface="Cambria"/>
                <a:cs typeface="Cambria"/>
              </a:rPr>
              <a:t>a, </a:t>
            </a:r>
            <a:r>
              <a:rPr sz="1500" spc="80" dirty="0">
                <a:latin typeface="Cambria"/>
                <a:cs typeface="Cambria"/>
              </a:rPr>
              <a:t>String </a:t>
            </a:r>
            <a:r>
              <a:rPr sz="1500" spc="-30" dirty="0">
                <a:latin typeface="Cambria"/>
                <a:cs typeface="Cambria"/>
              </a:rPr>
              <a:t>b) </a:t>
            </a:r>
            <a:r>
              <a:rPr sz="1500" spc="-85" dirty="0">
                <a:latin typeface="Cambria"/>
                <a:cs typeface="Cambria"/>
              </a:rPr>
              <a:t>{ </a:t>
            </a:r>
            <a:r>
              <a:rPr sz="1500" spc="-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supe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95" dirty="0">
                <a:latin typeface="Cambria"/>
                <a:cs typeface="Cambria"/>
              </a:rPr>
              <a:t>.na</a:t>
            </a:r>
            <a:r>
              <a:rPr sz="1500" spc="60" dirty="0">
                <a:latin typeface="Cambria"/>
                <a:cs typeface="Cambria"/>
              </a:rPr>
              <a:t>m</a:t>
            </a:r>
            <a:r>
              <a:rPr sz="1500" spc="35" dirty="0">
                <a:latin typeface="Cambria"/>
                <a:cs typeface="Cambria"/>
              </a:rPr>
              <a:t>e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20" dirty="0">
                <a:latin typeface="Cambria"/>
                <a:cs typeface="Cambria"/>
              </a:rPr>
              <a:t>;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m</a:t>
            </a:r>
            <a:r>
              <a:rPr sz="1500" spc="35" dirty="0">
                <a:latin typeface="Cambria"/>
                <a:cs typeface="Cambria"/>
              </a:rPr>
              <a:t>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i</a:t>
            </a:r>
            <a:r>
              <a:rPr sz="1500" spc="75" dirty="0">
                <a:latin typeface="Cambria"/>
                <a:cs typeface="Cambria"/>
              </a:rPr>
              <a:t>n</a:t>
            </a:r>
            <a:r>
              <a:rPr sz="1500" spc="80" dirty="0">
                <a:latin typeface="Cambria"/>
                <a:cs typeface="Cambria"/>
              </a:rPr>
              <a:t> A  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m</a:t>
            </a:r>
            <a:r>
              <a:rPr sz="1500" spc="35" dirty="0">
                <a:latin typeface="Cambria"/>
                <a:cs typeface="Cambria"/>
              </a:rPr>
              <a:t>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b</a:t>
            </a:r>
            <a:r>
              <a:rPr sz="1500" spc="20" dirty="0">
                <a:latin typeface="Cambria"/>
                <a:cs typeface="Cambria"/>
              </a:rPr>
              <a:t>;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70" dirty="0">
                <a:latin typeface="Cambria"/>
                <a:cs typeface="Cambria"/>
              </a:rPr>
              <a:t> n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m</a:t>
            </a:r>
            <a:r>
              <a:rPr sz="1500" spc="35" dirty="0">
                <a:latin typeface="Cambria"/>
                <a:cs typeface="Cambria"/>
              </a:rPr>
              <a:t>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i</a:t>
            </a:r>
            <a:r>
              <a:rPr sz="1500" spc="75" dirty="0">
                <a:latin typeface="Cambria"/>
                <a:cs typeface="Cambria"/>
              </a:rPr>
              <a:t>n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65" dirty="0">
                <a:latin typeface="Cambria"/>
                <a:cs typeface="Cambria"/>
              </a:rPr>
              <a:t>B</a:t>
            </a:r>
            <a:endParaRPr sz="1500">
              <a:latin typeface="Cambria"/>
              <a:cs typeface="Cambria"/>
            </a:endParaRPr>
          </a:p>
          <a:p>
            <a:pPr marL="19685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96850">
              <a:lnSpc>
                <a:spcPct val="100000"/>
              </a:lnSpc>
            </a:pP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show()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196850">
              <a:lnSpc>
                <a:spcPct val="100000"/>
              </a:lnSpc>
            </a:pPr>
            <a:r>
              <a:rPr sz="1500" spc="60" dirty="0">
                <a:latin typeface="Cambria"/>
                <a:cs typeface="Cambria"/>
              </a:rPr>
              <a:t>System.</a:t>
            </a:r>
            <a:r>
              <a:rPr sz="1500" i="1" spc="60" dirty="0">
                <a:latin typeface="Cambria"/>
                <a:cs typeface="Cambria"/>
              </a:rPr>
              <a:t>out.println("superclass’s</a:t>
            </a:r>
            <a:r>
              <a:rPr sz="1500" i="1" spc="40" dirty="0">
                <a:latin typeface="Cambria"/>
                <a:cs typeface="Cambria"/>
              </a:rPr>
              <a:t> </a:t>
            </a:r>
            <a:r>
              <a:rPr sz="1500" i="1" spc="60" dirty="0">
                <a:latin typeface="Cambria"/>
                <a:cs typeface="Cambria"/>
              </a:rPr>
              <a:t>name:</a:t>
            </a:r>
            <a:r>
              <a:rPr sz="1500" i="1" spc="100" dirty="0">
                <a:latin typeface="Cambria"/>
                <a:cs typeface="Cambria"/>
              </a:rPr>
              <a:t> </a:t>
            </a:r>
            <a:r>
              <a:rPr sz="1500" i="1" spc="15" dirty="0">
                <a:latin typeface="Cambria"/>
                <a:cs typeface="Cambria"/>
              </a:rPr>
              <a:t>"</a:t>
            </a:r>
            <a:r>
              <a:rPr sz="1500" i="1" spc="85" dirty="0">
                <a:latin typeface="Cambria"/>
                <a:cs typeface="Cambria"/>
              </a:rPr>
              <a:t> </a:t>
            </a:r>
            <a:r>
              <a:rPr sz="1500" i="1" spc="114" dirty="0">
                <a:latin typeface="Cambria"/>
                <a:cs typeface="Cambria"/>
              </a:rPr>
              <a:t>+</a:t>
            </a:r>
            <a:r>
              <a:rPr sz="1500" i="1" spc="90" dirty="0">
                <a:latin typeface="Cambria"/>
                <a:cs typeface="Cambria"/>
              </a:rPr>
              <a:t> </a:t>
            </a:r>
            <a:r>
              <a:rPr sz="1500" i="1" spc="65" dirty="0">
                <a:latin typeface="Cambria"/>
                <a:cs typeface="Cambria"/>
              </a:rPr>
              <a:t>super.name</a:t>
            </a:r>
            <a:r>
              <a:rPr sz="1500" i="1" spc="85" dirty="0">
                <a:latin typeface="Cambria"/>
                <a:cs typeface="Cambria"/>
              </a:rPr>
              <a:t> </a:t>
            </a:r>
            <a:r>
              <a:rPr sz="1500" i="1" spc="114" dirty="0">
                <a:latin typeface="Cambria"/>
                <a:cs typeface="Cambria"/>
              </a:rPr>
              <a:t>+</a:t>
            </a:r>
            <a:r>
              <a:rPr sz="1500" i="1" spc="100" dirty="0">
                <a:latin typeface="Cambria"/>
                <a:cs typeface="Cambria"/>
              </a:rPr>
              <a:t> </a:t>
            </a:r>
            <a:r>
              <a:rPr sz="1500" i="1" spc="20" dirty="0">
                <a:latin typeface="Cambria"/>
                <a:cs typeface="Cambria"/>
              </a:rPr>
              <a:t>";</a:t>
            </a:r>
            <a:r>
              <a:rPr sz="1500" i="1" spc="90" dirty="0">
                <a:latin typeface="Cambria"/>
                <a:cs typeface="Cambria"/>
              </a:rPr>
              <a:t> </a:t>
            </a:r>
            <a:r>
              <a:rPr sz="1500" i="1" spc="65" dirty="0">
                <a:latin typeface="Cambria"/>
                <a:cs typeface="Cambria"/>
              </a:rPr>
              <a:t>subclass’s </a:t>
            </a:r>
            <a:r>
              <a:rPr sz="1500" i="1" spc="60" dirty="0">
                <a:latin typeface="Cambria"/>
                <a:cs typeface="Cambria"/>
              </a:rPr>
              <a:t>name:</a:t>
            </a:r>
            <a:r>
              <a:rPr sz="1500" i="1" spc="100" dirty="0">
                <a:latin typeface="Cambria"/>
                <a:cs typeface="Cambria"/>
              </a:rPr>
              <a:t> </a:t>
            </a:r>
            <a:r>
              <a:rPr sz="1500" i="1" spc="15" dirty="0">
                <a:latin typeface="Cambria"/>
                <a:cs typeface="Cambria"/>
              </a:rPr>
              <a:t>"</a:t>
            </a:r>
            <a:r>
              <a:rPr sz="1500" i="1" spc="85" dirty="0">
                <a:latin typeface="Cambria"/>
                <a:cs typeface="Cambria"/>
              </a:rPr>
              <a:t> </a:t>
            </a:r>
            <a:r>
              <a:rPr sz="1500" i="1" spc="114" dirty="0">
                <a:latin typeface="Cambria"/>
                <a:cs typeface="Cambria"/>
              </a:rPr>
              <a:t>+</a:t>
            </a:r>
            <a:r>
              <a:rPr sz="1500" i="1" spc="85" dirty="0">
                <a:latin typeface="Cambria"/>
                <a:cs typeface="Cambria"/>
              </a:rPr>
              <a:t> </a:t>
            </a:r>
            <a:r>
              <a:rPr sz="1500" i="1" spc="40" dirty="0">
                <a:latin typeface="Cambria"/>
                <a:cs typeface="Cambria"/>
              </a:rPr>
              <a:t>name); </a:t>
            </a:r>
            <a:r>
              <a:rPr sz="1500" i="1" spc="17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96850" marR="5995670">
              <a:lnSpc>
                <a:spcPct val="100000"/>
              </a:lnSpc>
              <a:spcBef>
                <a:spcPts val="1260"/>
              </a:spcBef>
            </a:pPr>
            <a:r>
              <a:rPr sz="1500" spc="-50" dirty="0">
                <a:latin typeface="Cambria"/>
                <a:cs typeface="Cambria"/>
              </a:rPr>
              <a:t>//method</a:t>
            </a:r>
            <a:r>
              <a:rPr sz="1500" spc="1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overriding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message(){</a:t>
            </a:r>
            <a:endParaRPr sz="15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1500" spc="55" dirty="0">
                <a:latin typeface="Cambria"/>
                <a:cs typeface="Cambria"/>
              </a:rPr>
              <a:t>System.</a:t>
            </a:r>
            <a:r>
              <a:rPr sz="1500" i="1" spc="55" dirty="0">
                <a:latin typeface="Cambria"/>
                <a:cs typeface="Cambria"/>
              </a:rPr>
              <a:t>out.println("Welcome</a:t>
            </a:r>
            <a:r>
              <a:rPr sz="1500" i="1" spc="40" dirty="0">
                <a:latin typeface="Cambria"/>
                <a:cs typeface="Cambria"/>
              </a:rPr>
              <a:t> </a:t>
            </a:r>
            <a:r>
              <a:rPr sz="1500" i="1" spc="-5" dirty="0">
                <a:latin typeface="Cambria"/>
                <a:cs typeface="Cambria"/>
              </a:rPr>
              <a:t>to</a:t>
            </a:r>
            <a:r>
              <a:rPr sz="1500" i="1" spc="75" dirty="0">
                <a:latin typeface="Cambria"/>
                <a:cs typeface="Cambria"/>
              </a:rPr>
              <a:t> </a:t>
            </a:r>
            <a:r>
              <a:rPr sz="1500" i="1" spc="140" dirty="0">
                <a:latin typeface="Cambria"/>
                <a:cs typeface="Cambria"/>
              </a:rPr>
              <a:t>Child</a:t>
            </a:r>
            <a:r>
              <a:rPr sz="1500" i="1" spc="70" dirty="0">
                <a:latin typeface="Cambria"/>
                <a:cs typeface="Cambria"/>
              </a:rPr>
              <a:t> </a:t>
            </a:r>
            <a:r>
              <a:rPr sz="1500" i="1" spc="50" dirty="0">
                <a:latin typeface="Cambria"/>
                <a:cs typeface="Cambria"/>
              </a:rPr>
              <a:t>class.");</a:t>
            </a:r>
            <a:r>
              <a:rPr sz="1500" i="1" spc="12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96850">
              <a:lnSpc>
                <a:spcPct val="100000"/>
              </a:lnSpc>
              <a:spcBef>
                <a:spcPts val="1205"/>
              </a:spcBef>
            </a:pP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display(){</a:t>
            </a:r>
            <a:endParaRPr sz="1500">
              <a:latin typeface="Cambria"/>
              <a:cs typeface="Cambria"/>
            </a:endParaRPr>
          </a:p>
          <a:p>
            <a:pPr marL="561340" marR="2058035">
              <a:lnSpc>
                <a:spcPct val="100000"/>
              </a:lnSpc>
            </a:pPr>
            <a:r>
              <a:rPr sz="1500" spc="-15" dirty="0">
                <a:latin typeface="Cambria"/>
                <a:cs typeface="Cambria"/>
              </a:rPr>
              <a:t>message();//will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invoke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current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message()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method 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spc="5" dirty="0">
                <a:latin typeface="Cambria"/>
                <a:cs typeface="Cambria"/>
              </a:rPr>
              <a:t>super.message();//will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invoke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parent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message()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method</a:t>
            </a:r>
            <a:endParaRPr sz="1500">
              <a:latin typeface="Cambria"/>
              <a:cs typeface="Cambria"/>
            </a:endParaRPr>
          </a:p>
          <a:p>
            <a:pPr marL="19685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84477"/>
            <a:ext cx="4712970" cy="34124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TestSuper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744220" marR="436245" indent="-364490">
              <a:lnSpc>
                <a:spcPts val="2310"/>
              </a:lnSpc>
              <a:spcBef>
                <a:spcPts val="135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Child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s=new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Child("Parent",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"Child");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s.show();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229"/>
              </a:spcBef>
            </a:pPr>
            <a:r>
              <a:rPr sz="1600" spc="30" dirty="0">
                <a:latin typeface="Cambria"/>
                <a:cs typeface="Cambria"/>
              </a:rPr>
              <a:t>s.display();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8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5115" algn="l"/>
                <a:tab pos="285750" algn="l"/>
              </a:tabLst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ts val="2520"/>
              </a:lnSpc>
              <a:spcBef>
                <a:spcPts val="180"/>
              </a:spcBef>
            </a:pPr>
            <a:r>
              <a:rPr sz="1600" spc="40" dirty="0">
                <a:latin typeface="Cambria"/>
                <a:cs typeface="Cambria"/>
              </a:rPr>
              <a:t>superclass's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name: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Parent;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subclass's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name: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Child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Welcome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95" dirty="0">
                <a:latin typeface="Cambria"/>
                <a:cs typeface="Cambria"/>
              </a:rPr>
              <a:t> Child </a:t>
            </a:r>
            <a:r>
              <a:rPr sz="1600" spc="65" dirty="0">
                <a:latin typeface="Cambria"/>
                <a:cs typeface="Cambria"/>
              </a:rPr>
              <a:t>class.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600" spc="30" dirty="0">
                <a:latin typeface="Cambria"/>
                <a:cs typeface="Cambria"/>
              </a:rPr>
              <a:t>Welcome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80" dirty="0">
                <a:latin typeface="Cambria"/>
                <a:cs typeface="Cambria"/>
              </a:rPr>
              <a:t> Parent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class.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928242"/>
            <a:ext cx="7653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85" dirty="0"/>
              <a:t>SUPER</a:t>
            </a:r>
            <a:r>
              <a:rPr spc="265" dirty="0"/>
              <a:t> </a:t>
            </a:r>
            <a:r>
              <a:rPr sz="2800" spc="155" dirty="0"/>
              <a:t>–</a:t>
            </a:r>
            <a:r>
              <a:rPr sz="2800" spc="170" dirty="0"/>
              <a:t> </a:t>
            </a:r>
            <a:r>
              <a:rPr spc="210" dirty="0"/>
              <a:t>PARENT</a:t>
            </a:r>
            <a:r>
              <a:rPr sz="2800" spc="210" dirty="0"/>
              <a:t>’</a:t>
            </a:r>
            <a:r>
              <a:rPr spc="210" dirty="0"/>
              <a:t>S</a:t>
            </a:r>
            <a:r>
              <a:rPr spc="254" dirty="0"/>
              <a:t> </a:t>
            </a:r>
            <a:r>
              <a:rPr spc="260" dirty="0"/>
              <a:t>INSTANCE </a:t>
            </a:r>
            <a:r>
              <a:rPr spc="190" dirty="0"/>
              <a:t>VARIABLE</a:t>
            </a:r>
            <a:r>
              <a:rPr sz="2800" spc="190" dirty="0"/>
              <a:t>/</a:t>
            </a:r>
            <a:r>
              <a:rPr spc="190" dirty="0"/>
              <a:t>METHOD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675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super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keyword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also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invoke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5" dirty="0">
                <a:latin typeface="Cambria"/>
                <a:cs typeface="Cambria"/>
              </a:rPr>
              <a:t>parent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constructor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given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below: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2804286"/>
            <a:ext cx="47612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295650" algn="ctr">
              <a:lnSpc>
                <a:spcPct val="100000"/>
              </a:lnSpc>
              <a:spcBef>
                <a:spcPts val="9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5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R="3284854" algn="ctr">
              <a:lnSpc>
                <a:spcPct val="100000"/>
              </a:lnSpc>
            </a:pPr>
            <a:r>
              <a:rPr sz="1600" spc="15" dirty="0">
                <a:latin typeface="Cambria"/>
                <a:cs typeface="Cambria"/>
              </a:rPr>
              <a:t>Vehicle(){</a:t>
            </a:r>
            <a:endParaRPr sz="1600">
              <a:latin typeface="Cambria"/>
              <a:cs typeface="Cambria"/>
            </a:endParaRPr>
          </a:p>
          <a:p>
            <a:pPr marL="546735" algn="ctr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out.println("Vehicle</a:t>
            </a:r>
            <a:r>
              <a:rPr sz="1600" b="1" i="1" spc="185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5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R="4110990" algn="ctr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R="4660265" algn="ctr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224" y="4267657"/>
            <a:ext cx="553339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Bike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extends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10" dirty="0">
                <a:latin typeface="Cambria"/>
                <a:cs typeface="Cambria"/>
              </a:rPr>
              <a:t>Bike(){</a:t>
            </a:r>
            <a:endParaRPr sz="1600">
              <a:latin typeface="Cambria"/>
              <a:cs typeface="Cambria"/>
            </a:endParaRPr>
          </a:p>
          <a:p>
            <a:pPr marL="559435">
              <a:lnSpc>
                <a:spcPct val="100000"/>
              </a:lnSpc>
            </a:pPr>
            <a:r>
              <a:rPr sz="1600" b="1" spc="45" dirty="0">
                <a:latin typeface="Cambria"/>
                <a:cs typeface="Cambria"/>
              </a:rPr>
              <a:t>super();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-65" dirty="0">
                <a:latin typeface="Cambria"/>
                <a:cs typeface="Cambria"/>
              </a:rPr>
              <a:t>//will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invoke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114" dirty="0">
                <a:latin typeface="Cambria"/>
                <a:cs typeface="Cambria"/>
              </a:rPr>
              <a:t>Parent</a:t>
            </a:r>
            <a:r>
              <a:rPr sz="1600" b="1" spc="145" dirty="0">
                <a:latin typeface="Cambria"/>
                <a:cs typeface="Cambria"/>
              </a:rPr>
              <a:t> </a:t>
            </a:r>
            <a:r>
              <a:rPr sz="1600" b="1" spc="65" dirty="0">
                <a:latin typeface="Cambria"/>
                <a:cs typeface="Cambria"/>
              </a:rPr>
              <a:t>class's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constructor</a:t>
            </a:r>
            <a:endParaRPr sz="1600">
              <a:latin typeface="Cambria"/>
              <a:cs typeface="Cambria"/>
            </a:endParaRPr>
          </a:p>
          <a:p>
            <a:pPr marL="559435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out.println("Bike</a:t>
            </a:r>
            <a:r>
              <a:rPr sz="1600" b="1" i="1" spc="17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0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100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main(String[]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60" dirty="0">
                <a:latin typeface="Cambria"/>
                <a:cs typeface="Cambria"/>
              </a:rPr>
              <a:t>args){</a:t>
            </a:r>
            <a:endParaRPr sz="1600">
              <a:latin typeface="Cambria"/>
              <a:cs typeface="Cambria"/>
            </a:endParaRPr>
          </a:p>
          <a:p>
            <a:pPr marL="559435">
              <a:lnSpc>
                <a:spcPct val="100000"/>
              </a:lnSpc>
            </a:pPr>
            <a:r>
              <a:rPr sz="1600" spc="85" dirty="0">
                <a:latin typeface="Cambria"/>
                <a:cs typeface="Cambria"/>
              </a:rPr>
              <a:t>Bike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new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Bike();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2AB7D5-FCAA-B264-BD4B-45B3C8846DB5}"/>
              </a:ext>
            </a:extLst>
          </p:cNvPr>
          <p:cNvSpPr txBox="1"/>
          <p:nvPr/>
        </p:nvSpPr>
        <p:spPr>
          <a:xfrm>
            <a:off x="6629400" y="3146425"/>
            <a:ext cx="1847850" cy="892175"/>
          </a:xfrm>
          <a:prstGeom prst="rect">
            <a:avLst/>
          </a:prstGeom>
          <a:solidFill>
            <a:srgbClr val="FDB68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Arial MT"/>
                <a:cs typeface="Arial MT"/>
              </a:rPr>
              <a:t>Output</a:t>
            </a:r>
            <a:r>
              <a:rPr sz="180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92075" marR="158750">
              <a:lnSpc>
                <a:spcPct val="100000"/>
              </a:lnSpc>
              <a:spcBef>
                <a:spcPts val="15"/>
              </a:spcBef>
            </a:pPr>
            <a:r>
              <a:rPr sz="1600" spc="-15" dirty="0">
                <a:latin typeface="Arial MT"/>
                <a:cs typeface="Arial MT"/>
              </a:rPr>
              <a:t>Vehicle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created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Bike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created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5975350" cy="403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What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would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output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program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below: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 dirty="0">
              <a:latin typeface="Cambria"/>
              <a:cs typeface="Cambria"/>
            </a:endParaRPr>
          </a:p>
          <a:p>
            <a:pPr marR="3775075" algn="ctr">
              <a:lnSpc>
                <a:spcPct val="100000"/>
              </a:lnSpc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7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 dirty="0">
              <a:latin typeface="Cambria"/>
              <a:cs typeface="Cambria"/>
            </a:endParaRPr>
          </a:p>
          <a:p>
            <a:pPr marR="3763645" algn="ctr">
              <a:lnSpc>
                <a:spcPct val="100000"/>
              </a:lnSpc>
            </a:pPr>
            <a:r>
              <a:rPr sz="1600" spc="15" dirty="0">
                <a:latin typeface="Cambria"/>
                <a:cs typeface="Cambria"/>
              </a:rPr>
              <a:t>Vehicle(){</a:t>
            </a:r>
            <a:endParaRPr sz="1600" dirty="0">
              <a:latin typeface="Cambria"/>
              <a:cs typeface="Cambria"/>
            </a:endParaRPr>
          </a:p>
          <a:p>
            <a:pPr marL="67945" algn="ctr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out.println("Vehicle</a:t>
            </a:r>
            <a:r>
              <a:rPr sz="1600" b="1" i="1" spc="18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5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 dirty="0">
              <a:latin typeface="Cambria"/>
              <a:cs typeface="Cambria"/>
            </a:endParaRPr>
          </a:p>
          <a:p>
            <a:pPr marR="4589780" algn="ctr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 marR="5139690" algn="ctr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Bike </a:t>
            </a:r>
            <a:r>
              <a:rPr sz="1600" b="1" spc="90" dirty="0">
                <a:latin typeface="Cambria"/>
                <a:cs typeface="Cambria"/>
              </a:rPr>
              <a:t>extends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 dirty="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10" dirty="0">
                <a:latin typeface="Cambria"/>
                <a:cs typeface="Cambria"/>
              </a:rPr>
              <a:t>Bike(){</a:t>
            </a:r>
            <a:endParaRPr sz="1600" dirty="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100" dirty="0">
                <a:latin typeface="Cambria"/>
                <a:cs typeface="Cambria"/>
              </a:rPr>
              <a:t>System.</a:t>
            </a:r>
            <a:r>
              <a:rPr sz="1600" b="1" i="1" spc="100" dirty="0">
                <a:latin typeface="Cambria"/>
                <a:cs typeface="Cambria"/>
              </a:rPr>
              <a:t>out.println("Bike</a:t>
            </a:r>
            <a:r>
              <a:rPr sz="1600" b="1" i="1" spc="125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90" dirty="0">
                <a:latin typeface="Cambria"/>
                <a:cs typeface="Cambria"/>
              </a:rPr>
              <a:t> </a:t>
            </a:r>
            <a:r>
              <a:rPr sz="1600" b="1" i="1" spc="70" dirty="0">
                <a:latin typeface="Cambria"/>
                <a:cs typeface="Cambria"/>
              </a:rPr>
              <a:t>created.");</a:t>
            </a:r>
            <a:endParaRPr sz="1600" dirty="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args){</a:t>
            </a:r>
            <a:endParaRPr sz="1600" dirty="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85" dirty="0">
                <a:latin typeface="Cambria"/>
                <a:cs typeface="Cambria"/>
              </a:rPr>
              <a:t>Bike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new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Bike();</a:t>
            </a:r>
            <a:endParaRPr sz="1600" dirty="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59753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What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would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output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program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below: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2225167"/>
            <a:ext cx="47612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295650" algn="ctr">
              <a:lnSpc>
                <a:spcPct val="100000"/>
              </a:lnSpc>
              <a:spcBef>
                <a:spcPts val="9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5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R="3284854" algn="ctr">
              <a:lnSpc>
                <a:spcPct val="100000"/>
              </a:lnSpc>
            </a:pPr>
            <a:r>
              <a:rPr sz="1600" spc="15" dirty="0">
                <a:latin typeface="Cambria"/>
                <a:cs typeface="Cambria"/>
              </a:rPr>
              <a:t>Vehicle(){</a:t>
            </a:r>
            <a:endParaRPr sz="1600">
              <a:latin typeface="Cambria"/>
              <a:cs typeface="Cambria"/>
            </a:endParaRPr>
          </a:p>
          <a:p>
            <a:pPr marL="546735" algn="ctr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out.println("Vehicle</a:t>
            </a:r>
            <a:r>
              <a:rPr sz="1600" b="1" i="1" spc="185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5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R="4110990" algn="ctr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R="4660265" algn="ctr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3224" y="3688460"/>
            <a:ext cx="4464050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Bike </a:t>
            </a:r>
            <a:r>
              <a:rPr sz="1600" b="1" spc="90" dirty="0">
                <a:latin typeface="Cambria"/>
                <a:cs typeface="Cambria"/>
              </a:rPr>
              <a:t>extends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10" dirty="0">
                <a:latin typeface="Cambria"/>
                <a:cs typeface="Cambria"/>
              </a:rPr>
              <a:t>Bike(){</a:t>
            </a:r>
            <a:endParaRPr sz="1600">
              <a:latin typeface="Cambria"/>
              <a:cs typeface="Cambria"/>
            </a:endParaRPr>
          </a:p>
          <a:p>
            <a:pPr marL="559435">
              <a:lnSpc>
                <a:spcPct val="100000"/>
              </a:lnSpc>
              <a:spcBef>
                <a:spcPts val="5"/>
              </a:spcBef>
            </a:pPr>
            <a:r>
              <a:rPr sz="1600" spc="100" dirty="0">
                <a:latin typeface="Cambria"/>
                <a:cs typeface="Cambria"/>
              </a:rPr>
              <a:t>System.</a:t>
            </a:r>
            <a:r>
              <a:rPr sz="1600" b="1" i="1" spc="100" dirty="0">
                <a:latin typeface="Cambria"/>
                <a:cs typeface="Cambria"/>
              </a:rPr>
              <a:t>out.println("Bike</a:t>
            </a:r>
            <a:r>
              <a:rPr sz="1600" b="1" i="1" spc="114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80" dirty="0">
                <a:latin typeface="Cambria"/>
                <a:cs typeface="Cambria"/>
              </a:rPr>
              <a:t> </a:t>
            </a:r>
            <a:r>
              <a:rPr sz="1600" b="1" i="1" spc="70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args){</a:t>
            </a:r>
            <a:endParaRPr sz="1600">
              <a:latin typeface="Cambria"/>
              <a:cs typeface="Cambria"/>
            </a:endParaRPr>
          </a:p>
          <a:p>
            <a:pPr marL="559435">
              <a:lnSpc>
                <a:spcPct val="100000"/>
              </a:lnSpc>
            </a:pPr>
            <a:r>
              <a:rPr sz="1600" spc="85" dirty="0">
                <a:latin typeface="Cambria"/>
                <a:cs typeface="Cambria"/>
              </a:rPr>
              <a:t>Bike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new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Bike();</a:t>
            </a:r>
            <a:endParaRPr sz="16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224" y="5883655"/>
            <a:ext cx="64668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120" dirty="0">
                <a:solidFill>
                  <a:srgbClr val="FF0000"/>
                </a:solidFill>
                <a:latin typeface="Cambria"/>
                <a:cs typeface="Cambria"/>
              </a:rPr>
              <a:t>If</a:t>
            </a:r>
            <a:r>
              <a:rPr sz="1600" b="1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1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600" b="1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95" dirty="0">
                <a:solidFill>
                  <a:srgbClr val="FF0000"/>
                </a:solidFill>
                <a:latin typeface="Cambria"/>
                <a:cs typeface="Cambria"/>
              </a:rPr>
              <a:t>constructor</a:t>
            </a:r>
            <a:r>
              <a:rPr sz="16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75" dirty="0">
                <a:solidFill>
                  <a:srgbClr val="FF0000"/>
                </a:solidFill>
                <a:latin typeface="Cambria"/>
                <a:cs typeface="Cambria"/>
              </a:rPr>
              <a:t>doesn’t</a:t>
            </a:r>
            <a:r>
              <a:rPr sz="1600" b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105" dirty="0">
                <a:solidFill>
                  <a:srgbClr val="FF0000"/>
                </a:solidFill>
                <a:latin typeface="Cambria"/>
                <a:cs typeface="Cambria"/>
              </a:rPr>
              <a:t>have</a:t>
            </a:r>
            <a:r>
              <a:rPr sz="1600" b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5" dirty="0">
                <a:solidFill>
                  <a:srgbClr val="FF0000"/>
                </a:solidFill>
                <a:latin typeface="Cambria"/>
                <a:cs typeface="Cambria"/>
              </a:rPr>
              <a:t>super(),</a:t>
            </a:r>
            <a:r>
              <a:rPr sz="1600" b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85" dirty="0">
                <a:solidFill>
                  <a:srgbClr val="FF0000"/>
                </a:solidFill>
                <a:latin typeface="Cambria"/>
                <a:cs typeface="Cambria"/>
              </a:rPr>
              <a:t>compiler</a:t>
            </a:r>
            <a:r>
              <a:rPr sz="1600" b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85" dirty="0">
                <a:solidFill>
                  <a:srgbClr val="FF0000"/>
                </a:solidFill>
                <a:latin typeface="Cambria"/>
                <a:cs typeface="Cambria"/>
              </a:rPr>
              <a:t>will</a:t>
            </a:r>
            <a:r>
              <a:rPr sz="16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90" dirty="0">
                <a:solidFill>
                  <a:srgbClr val="FF0000"/>
                </a:solidFill>
                <a:latin typeface="Cambria"/>
                <a:cs typeface="Cambria"/>
              </a:rPr>
              <a:t>provide </a:t>
            </a:r>
            <a:r>
              <a:rPr sz="1600" b="1" spc="-3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super()</a:t>
            </a:r>
            <a:r>
              <a:rPr sz="16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90" dirty="0">
                <a:solidFill>
                  <a:srgbClr val="FF0000"/>
                </a:solidFill>
                <a:latin typeface="Cambria"/>
                <a:cs typeface="Cambria"/>
              </a:rPr>
              <a:t>as</a:t>
            </a:r>
            <a:r>
              <a:rPr sz="16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1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6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80" dirty="0">
                <a:solidFill>
                  <a:srgbClr val="FF0000"/>
                </a:solidFill>
                <a:latin typeface="Cambria"/>
                <a:cs typeface="Cambria"/>
              </a:rPr>
              <a:t>first</a:t>
            </a:r>
            <a:r>
              <a:rPr sz="16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90" dirty="0">
                <a:solidFill>
                  <a:srgbClr val="FF0000"/>
                </a:solidFill>
                <a:latin typeface="Cambria"/>
                <a:cs typeface="Cambria"/>
              </a:rPr>
              <a:t>statement</a:t>
            </a:r>
            <a:r>
              <a:rPr sz="1600" b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8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600" b="1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1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600" b="1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90" dirty="0">
                <a:solidFill>
                  <a:srgbClr val="FF0000"/>
                </a:solidFill>
                <a:latin typeface="Cambria"/>
                <a:cs typeface="Cambria"/>
              </a:rPr>
              <a:t>constructor.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9400" y="3146425"/>
            <a:ext cx="1847850" cy="892175"/>
          </a:xfrm>
          <a:prstGeom prst="rect">
            <a:avLst/>
          </a:prstGeom>
          <a:solidFill>
            <a:srgbClr val="FDB68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Arial MT"/>
                <a:cs typeface="Arial MT"/>
              </a:rPr>
              <a:t>Output</a:t>
            </a:r>
            <a:r>
              <a:rPr sz="180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92075" marR="158750">
              <a:lnSpc>
                <a:spcPct val="100000"/>
              </a:lnSpc>
              <a:spcBef>
                <a:spcPts val="15"/>
              </a:spcBef>
            </a:pPr>
            <a:r>
              <a:rPr sz="1600" spc="-15" dirty="0">
                <a:latin typeface="Arial MT"/>
                <a:cs typeface="Arial MT"/>
              </a:rPr>
              <a:t>Vehicle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created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Bike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created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49713"/>
            <a:ext cx="7035165" cy="34772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5115" indent="-273050" algn="just">
              <a:lnSpc>
                <a:spcPct val="100000"/>
              </a:lnSpc>
              <a:spcBef>
                <a:spcPts val="7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40" dirty="0">
                <a:latin typeface="Cambria"/>
                <a:cs typeface="Cambria"/>
              </a:rPr>
              <a:t>Note:</a:t>
            </a:r>
            <a:endParaRPr sz="2400">
              <a:latin typeface="Cambria"/>
              <a:cs typeface="Cambria"/>
            </a:endParaRPr>
          </a:p>
          <a:p>
            <a:pPr marL="285115" marR="534670" indent="-273050" algn="just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" dirty="0">
                <a:latin typeface="Cambria"/>
                <a:cs typeface="Cambria"/>
              </a:rPr>
              <a:t>super() </a:t>
            </a:r>
            <a:r>
              <a:rPr sz="2400" spc="70" dirty="0">
                <a:latin typeface="Cambria"/>
                <a:cs typeface="Cambria"/>
              </a:rPr>
              <a:t>should </a:t>
            </a:r>
            <a:r>
              <a:rPr sz="2400" spc="20" dirty="0">
                <a:latin typeface="Cambria"/>
                <a:cs typeface="Cambria"/>
              </a:rPr>
              <a:t>be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85" dirty="0">
                <a:latin typeface="Cambria"/>
                <a:cs typeface="Cambria"/>
              </a:rPr>
              <a:t>first </a:t>
            </a:r>
            <a:r>
              <a:rPr sz="2400" spc="100" dirty="0">
                <a:latin typeface="Cambria"/>
                <a:cs typeface="Cambria"/>
              </a:rPr>
              <a:t>statement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50" dirty="0">
                <a:latin typeface="Cambria"/>
                <a:cs typeface="Cambria"/>
              </a:rPr>
              <a:t>your </a:t>
            </a:r>
            <a:r>
              <a:rPr sz="2400" spc="55" dirty="0">
                <a:latin typeface="Cambria"/>
                <a:cs typeface="Cambria"/>
              </a:rPr>
              <a:t> constructor</a:t>
            </a:r>
            <a:endParaRPr sz="2400">
              <a:latin typeface="Cambria"/>
              <a:cs typeface="Cambria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If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55" dirty="0">
                <a:latin typeface="Cambria"/>
                <a:cs typeface="Cambria"/>
              </a:rPr>
              <a:t>constructor </a:t>
            </a:r>
            <a:r>
              <a:rPr sz="2400" spc="35" dirty="0">
                <a:latin typeface="Cambria"/>
                <a:cs typeface="Cambria"/>
              </a:rPr>
              <a:t>doesn’t </a:t>
            </a:r>
            <a:r>
              <a:rPr sz="2400" spc="95" dirty="0">
                <a:latin typeface="Cambria"/>
                <a:cs typeface="Cambria"/>
              </a:rPr>
              <a:t>have </a:t>
            </a:r>
            <a:r>
              <a:rPr sz="2400" spc="30" dirty="0">
                <a:latin typeface="Cambria"/>
                <a:cs typeface="Cambria"/>
              </a:rPr>
              <a:t>super()</a:t>
            </a:r>
            <a:r>
              <a:rPr sz="2400" b="1" spc="30" dirty="0">
                <a:latin typeface="Cambria"/>
                <a:cs typeface="Cambria"/>
              </a:rPr>
              <a:t>, </a:t>
            </a:r>
            <a:r>
              <a:rPr sz="2400" spc="50" dirty="0">
                <a:latin typeface="Cambria"/>
                <a:cs typeface="Cambria"/>
              </a:rPr>
              <a:t>compiler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 </a:t>
            </a:r>
            <a:r>
              <a:rPr sz="2400" spc="35" dirty="0">
                <a:latin typeface="Cambria"/>
                <a:cs typeface="Cambria"/>
              </a:rPr>
              <a:t>provide </a:t>
            </a:r>
            <a:r>
              <a:rPr sz="2400" spc="15" dirty="0">
                <a:latin typeface="Cambria"/>
                <a:cs typeface="Cambria"/>
              </a:rPr>
              <a:t>super() </a:t>
            </a:r>
            <a:r>
              <a:rPr sz="2400" spc="114" dirty="0">
                <a:latin typeface="Cambria"/>
                <a:cs typeface="Cambria"/>
              </a:rPr>
              <a:t>as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85" dirty="0">
                <a:latin typeface="Cambria"/>
                <a:cs typeface="Cambria"/>
              </a:rPr>
              <a:t>first </a:t>
            </a:r>
            <a:r>
              <a:rPr sz="2400" spc="100" dirty="0">
                <a:latin typeface="Cambria"/>
                <a:cs typeface="Cambria"/>
              </a:rPr>
              <a:t>statement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constructor.</a:t>
            </a:r>
            <a:endParaRPr sz="2400">
              <a:latin typeface="Cambria"/>
              <a:cs typeface="Cambria"/>
            </a:endParaRPr>
          </a:p>
          <a:p>
            <a:pPr marL="652780" marR="233045" lvl="1" indent="-27368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b="1" spc="160" dirty="0">
                <a:latin typeface="Cambria"/>
                <a:cs typeface="Cambria"/>
              </a:rPr>
              <a:t>It </a:t>
            </a:r>
            <a:r>
              <a:rPr sz="2100" b="1" spc="120" dirty="0">
                <a:latin typeface="Cambria"/>
                <a:cs typeface="Cambria"/>
              </a:rPr>
              <a:t>will </a:t>
            </a:r>
            <a:r>
              <a:rPr sz="2100" b="1" spc="125" dirty="0">
                <a:latin typeface="Cambria"/>
                <a:cs typeface="Cambria"/>
              </a:rPr>
              <a:t>only </a:t>
            </a:r>
            <a:r>
              <a:rPr sz="2100" b="1" spc="135" dirty="0">
                <a:latin typeface="Cambria"/>
                <a:cs typeface="Cambria"/>
              </a:rPr>
              <a:t>work </a:t>
            </a:r>
            <a:r>
              <a:rPr sz="2100" b="1" spc="155" dirty="0">
                <a:latin typeface="Cambria"/>
                <a:cs typeface="Cambria"/>
              </a:rPr>
              <a:t>when </a:t>
            </a:r>
            <a:r>
              <a:rPr sz="2100" b="1" spc="160" dirty="0">
                <a:latin typeface="Cambria"/>
                <a:cs typeface="Cambria"/>
              </a:rPr>
              <a:t>Parent </a:t>
            </a:r>
            <a:r>
              <a:rPr sz="2100" b="1" spc="140" dirty="0">
                <a:latin typeface="Cambria"/>
                <a:cs typeface="Cambria"/>
              </a:rPr>
              <a:t>has </a:t>
            </a:r>
            <a:r>
              <a:rPr sz="2100" b="1" spc="120" dirty="0">
                <a:latin typeface="Cambria"/>
                <a:cs typeface="Cambria"/>
              </a:rPr>
              <a:t>no </a:t>
            </a:r>
            <a:r>
              <a:rPr sz="2100" b="1" spc="125" dirty="0">
                <a:latin typeface="Cambria"/>
                <a:cs typeface="Cambria"/>
              </a:rPr>
              <a:t> </a:t>
            </a:r>
            <a:r>
              <a:rPr sz="2100" b="1" spc="130" dirty="0">
                <a:latin typeface="Cambria"/>
                <a:cs typeface="Cambria"/>
              </a:rPr>
              <a:t>constructor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b="1" spc="100" dirty="0">
                <a:latin typeface="Cambria"/>
                <a:cs typeface="Cambria"/>
              </a:rPr>
              <a:t>or</a:t>
            </a:r>
            <a:r>
              <a:rPr sz="2100" b="1" spc="140" dirty="0">
                <a:latin typeface="Cambria"/>
                <a:cs typeface="Cambria"/>
              </a:rPr>
              <a:t> </a:t>
            </a:r>
            <a:r>
              <a:rPr sz="2100" b="1" spc="155" dirty="0">
                <a:latin typeface="Cambria"/>
                <a:cs typeface="Cambria"/>
              </a:rPr>
              <a:t>a</a:t>
            </a:r>
            <a:r>
              <a:rPr sz="2100" b="1" spc="140" dirty="0">
                <a:latin typeface="Cambria"/>
                <a:cs typeface="Cambria"/>
              </a:rPr>
              <a:t> </a:t>
            </a:r>
            <a:r>
              <a:rPr sz="2100" b="1" spc="125" dirty="0">
                <a:latin typeface="Cambria"/>
                <a:cs typeface="Cambria"/>
              </a:rPr>
              <a:t>parameter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b="1" spc="85" dirty="0">
                <a:latin typeface="Cambria"/>
                <a:cs typeface="Cambria"/>
              </a:rPr>
              <a:t>less</a:t>
            </a:r>
            <a:r>
              <a:rPr sz="2100" b="1" spc="130" dirty="0">
                <a:latin typeface="Cambria"/>
                <a:cs typeface="Cambria"/>
              </a:rPr>
              <a:t> </a:t>
            </a:r>
            <a:r>
              <a:rPr sz="2100" b="1" spc="125" dirty="0">
                <a:latin typeface="Cambria"/>
                <a:cs typeface="Cambria"/>
              </a:rPr>
              <a:t>constructor. </a:t>
            </a:r>
            <a:r>
              <a:rPr sz="2100" b="1" spc="-445" dirty="0">
                <a:latin typeface="Cambria"/>
                <a:cs typeface="Cambria"/>
              </a:rPr>
              <a:t> </a:t>
            </a:r>
            <a:r>
              <a:rPr sz="2100" b="1" spc="165" dirty="0">
                <a:latin typeface="Cambria"/>
                <a:cs typeface="Cambria"/>
              </a:rPr>
              <a:t>See</a:t>
            </a:r>
            <a:r>
              <a:rPr sz="2100" b="1" spc="125" dirty="0">
                <a:latin typeface="Cambria"/>
                <a:cs typeface="Cambria"/>
              </a:rPr>
              <a:t> </a:t>
            </a:r>
            <a:r>
              <a:rPr sz="2100" b="1" spc="130" dirty="0">
                <a:latin typeface="Cambria"/>
                <a:cs typeface="Cambria"/>
              </a:rPr>
              <a:t>the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b="1" spc="135" dirty="0">
                <a:latin typeface="Cambria"/>
                <a:cs typeface="Cambria"/>
              </a:rPr>
              <a:t>next</a:t>
            </a:r>
            <a:r>
              <a:rPr sz="2100" b="1" spc="150" dirty="0">
                <a:latin typeface="Cambria"/>
                <a:cs typeface="Cambria"/>
              </a:rPr>
              <a:t> </a:t>
            </a:r>
            <a:r>
              <a:rPr sz="2100" b="1" spc="120" dirty="0">
                <a:latin typeface="Cambria"/>
                <a:cs typeface="Cambria"/>
              </a:rPr>
              <a:t>example.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282690" cy="4203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What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would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output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 </a:t>
            </a:r>
            <a:r>
              <a:rPr sz="2000" spc="60" dirty="0">
                <a:latin typeface="Cambria"/>
                <a:cs typeface="Cambria"/>
              </a:rPr>
              <a:t>program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below: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68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7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Vehicle(String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name){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out.printf("Vehicle</a:t>
            </a:r>
            <a:r>
              <a:rPr sz="1600" b="1" i="1" spc="150" dirty="0">
                <a:latin typeface="Cambria"/>
                <a:cs typeface="Cambria"/>
              </a:rPr>
              <a:t> </a:t>
            </a:r>
            <a:r>
              <a:rPr sz="1600" b="1" i="1" spc="-40" dirty="0">
                <a:latin typeface="Cambria"/>
                <a:cs typeface="Cambria"/>
              </a:rPr>
              <a:t>%s</a:t>
            </a:r>
            <a:r>
              <a:rPr sz="1600" b="1" i="1" spc="114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1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created.\n",</a:t>
            </a:r>
            <a:r>
              <a:rPr sz="1600" b="1" i="1" spc="125" dirty="0">
                <a:latin typeface="Cambria"/>
                <a:cs typeface="Cambria"/>
              </a:rPr>
              <a:t> </a:t>
            </a:r>
            <a:r>
              <a:rPr sz="1600" b="1" i="1" spc="80" dirty="0">
                <a:latin typeface="Cambria"/>
                <a:cs typeface="Cambria"/>
              </a:rPr>
              <a:t>name);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Bike </a:t>
            </a:r>
            <a:r>
              <a:rPr sz="1600" b="1" spc="90" dirty="0">
                <a:latin typeface="Cambria"/>
                <a:cs typeface="Cambria"/>
              </a:rPr>
              <a:t>extends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10" dirty="0">
                <a:latin typeface="Cambria"/>
                <a:cs typeface="Cambria"/>
              </a:rPr>
              <a:t>Bike(){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out.println("Bike</a:t>
            </a:r>
            <a:r>
              <a:rPr sz="1600" b="1" i="1" spc="17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0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args){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85" dirty="0">
                <a:latin typeface="Cambria"/>
                <a:cs typeface="Cambria"/>
              </a:rPr>
              <a:t>Bike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new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Bike();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831965" cy="441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0" dirty="0">
                <a:latin typeface="Cambria"/>
                <a:cs typeface="Cambria"/>
              </a:rPr>
              <a:t>What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would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be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output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 </a:t>
            </a:r>
            <a:r>
              <a:rPr sz="2000" spc="60" dirty="0">
                <a:latin typeface="Cambria"/>
                <a:cs typeface="Cambria"/>
              </a:rPr>
              <a:t>program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below: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68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7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Vehicle(String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name){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out.printf("Vehicle</a:t>
            </a:r>
            <a:r>
              <a:rPr sz="1600" b="1" i="1" spc="150" dirty="0">
                <a:latin typeface="Cambria"/>
                <a:cs typeface="Cambria"/>
              </a:rPr>
              <a:t> </a:t>
            </a:r>
            <a:r>
              <a:rPr sz="1600" b="1" i="1" spc="-40" dirty="0">
                <a:latin typeface="Cambria"/>
                <a:cs typeface="Cambria"/>
              </a:rPr>
              <a:t>%s</a:t>
            </a:r>
            <a:r>
              <a:rPr sz="1600" b="1" i="1" spc="12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1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created.\n",</a:t>
            </a:r>
            <a:r>
              <a:rPr sz="1600" b="1" i="1" spc="125" dirty="0">
                <a:latin typeface="Cambria"/>
                <a:cs typeface="Cambria"/>
              </a:rPr>
              <a:t> </a:t>
            </a:r>
            <a:r>
              <a:rPr sz="1600" b="1" i="1" spc="80" dirty="0">
                <a:latin typeface="Cambria"/>
                <a:cs typeface="Cambria"/>
              </a:rPr>
              <a:t>name);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Bike </a:t>
            </a:r>
            <a:r>
              <a:rPr sz="1600" b="1" spc="90" dirty="0">
                <a:latin typeface="Cambria"/>
                <a:cs typeface="Cambria"/>
              </a:rPr>
              <a:t>extends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654050" marR="5080">
              <a:lnSpc>
                <a:spcPct val="100000"/>
              </a:lnSpc>
            </a:pPr>
            <a:r>
              <a:rPr sz="1600" u="sng" spc="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Bike(){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Implicit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super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constructor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Vehicle()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is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undefined.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90" dirty="0">
                <a:latin typeface="Cambria"/>
                <a:cs typeface="Cambria"/>
              </a:rPr>
              <a:t>Must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explicitly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invoke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another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constructor</a:t>
            </a:r>
            <a:endParaRPr sz="1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out.println("Bike</a:t>
            </a:r>
            <a:r>
              <a:rPr sz="1600" b="1" i="1" spc="17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0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args){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85" dirty="0">
                <a:latin typeface="Cambria"/>
                <a:cs typeface="Cambria"/>
              </a:rPr>
              <a:t>Bike </a:t>
            </a:r>
            <a:r>
              <a:rPr sz="1600" u="sng" spc="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</a:t>
            </a:r>
            <a:r>
              <a:rPr sz="1600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u="sng" spc="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=</a:t>
            </a:r>
            <a:r>
              <a:rPr sz="1600" u="sng" spc="9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new</a:t>
            </a:r>
            <a:r>
              <a:rPr sz="1600" b="1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600" b="1" u="sng" spc="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Bike();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02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/>
              <a:t>SUPER</a:t>
            </a:r>
            <a:r>
              <a:rPr sz="3000" spc="254" dirty="0"/>
              <a:t>-T</a:t>
            </a:r>
            <a:r>
              <a:rPr sz="2400" spc="254" dirty="0"/>
              <a:t>O</a:t>
            </a:r>
            <a:r>
              <a:rPr sz="2400" spc="300" dirty="0"/>
              <a:t> </a:t>
            </a:r>
            <a:r>
              <a:rPr sz="2400" spc="295" dirty="0"/>
              <a:t>INVOKE </a:t>
            </a:r>
            <a:r>
              <a:rPr sz="2400" spc="254" dirty="0"/>
              <a:t>PARENT</a:t>
            </a:r>
            <a:r>
              <a:rPr sz="2400" spc="320" dirty="0"/>
              <a:t> </a:t>
            </a:r>
            <a:r>
              <a:rPr sz="2400" spc="285" dirty="0"/>
              <a:t>CONSTRUCTOR</a:t>
            </a:r>
            <a:r>
              <a:rPr sz="3000" spc="285" dirty="0"/>
              <a:t>.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282690" cy="444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05" dirty="0">
                <a:latin typeface="Cambria"/>
                <a:cs typeface="Cambria"/>
              </a:rPr>
              <a:t>So</a:t>
            </a:r>
            <a:r>
              <a:rPr sz="2000" spc="80" dirty="0">
                <a:latin typeface="Cambria"/>
                <a:cs typeface="Cambria"/>
              </a:rPr>
              <a:t> 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fix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is: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685"/>
              </a:spcBef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7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60" dirty="0">
                <a:latin typeface="Cambria"/>
                <a:cs typeface="Cambria"/>
              </a:rPr>
              <a:t>Vehicle(String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name){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out.printf("Vehicle</a:t>
            </a:r>
            <a:r>
              <a:rPr sz="1600" b="1" i="1" spc="150" dirty="0">
                <a:latin typeface="Cambria"/>
                <a:cs typeface="Cambria"/>
              </a:rPr>
              <a:t> </a:t>
            </a:r>
            <a:r>
              <a:rPr sz="1600" b="1" i="1" spc="-40" dirty="0">
                <a:latin typeface="Cambria"/>
                <a:cs typeface="Cambria"/>
              </a:rPr>
              <a:t>%s</a:t>
            </a:r>
            <a:r>
              <a:rPr sz="1600" b="1" i="1" spc="114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1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created.\n",</a:t>
            </a:r>
            <a:r>
              <a:rPr sz="1600" b="1" i="1" spc="125" dirty="0">
                <a:latin typeface="Cambria"/>
                <a:cs typeface="Cambria"/>
              </a:rPr>
              <a:t> </a:t>
            </a:r>
            <a:r>
              <a:rPr sz="1600" b="1" i="1" spc="80" dirty="0">
                <a:latin typeface="Cambria"/>
                <a:cs typeface="Cambria"/>
              </a:rPr>
              <a:t>name);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b="1" spc="85" dirty="0">
                <a:latin typeface="Cambria"/>
                <a:cs typeface="Cambria"/>
              </a:rPr>
              <a:t>class</a:t>
            </a:r>
            <a:r>
              <a:rPr sz="1600" b="1" spc="95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Bike </a:t>
            </a:r>
            <a:r>
              <a:rPr sz="1600" b="1" spc="90" dirty="0">
                <a:latin typeface="Cambria"/>
                <a:cs typeface="Cambria"/>
              </a:rPr>
              <a:t>extends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Vehicle{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10" dirty="0">
                <a:latin typeface="Cambria"/>
                <a:cs typeface="Cambria"/>
              </a:rPr>
              <a:t>Bike(){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b="1" spc="35" dirty="0">
                <a:latin typeface="Cambria"/>
                <a:cs typeface="Cambria"/>
              </a:rPr>
              <a:t>super("Bike");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spc="95" dirty="0">
                <a:latin typeface="Cambria"/>
                <a:cs typeface="Cambria"/>
              </a:rPr>
              <a:t>System.</a:t>
            </a:r>
            <a:r>
              <a:rPr sz="1600" b="1" i="1" spc="95" dirty="0">
                <a:latin typeface="Cambria"/>
                <a:cs typeface="Cambria"/>
              </a:rPr>
              <a:t>out.println("Bike</a:t>
            </a:r>
            <a:r>
              <a:rPr sz="1600" b="1" i="1" spc="170" dirty="0">
                <a:latin typeface="Cambria"/>
                <a:cs typeface="Cambria"/>
              </a:rPr>
              <a:t> </a:t>
            </a:r>
            <a:r>
              <a:rPr sz="1600" b="1" i="1" spc="95" dirty="0">
                <a:latin typeface="Cambria"/>
                <a:cs typeface="Cambria"/>
              </a:rPr>
              <a:t>is</a:t>
            </a:r>
            <a:r>
              <a:rPr sz="1600" b="1" i="1" spc="130" dirty="0">
                <a:latin typeface="Cambria"/>
                <a:cs typeface="Cambria"/>
              </a:rPr>
              <a:t> </a:t>
            </a:r>
            <a:r>
              <a:rPr sz="1600" b="1" i="1" spc="65" dirty="0">
                <a:latin typeface="Cambria"/>
                <a:cs typeface="Cambria"/>
              </a:rPr>
              <a:t>created.");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55" dirty="0">
                <a:latin typeface="Cambria"/>
                <a:cs typeface="Cambria"/>
              </a:rPr>
              <a:t>args){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85" dirty="0">
                <a:latin typeface="Cambria"/>
                <a:cs typeface="Cambria"/>
              </a:rPr>
              <a:t>Bike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new</a:t>
            </a:r>
            <a:r>
              <a:rPr sz="1600" b="1" spc="114" dirty="0">
                <a:latin typeface="Cambria"/>
                <a:cs typeface="Cambria"/>
              </a:rPr>
              <a:t> </a:t>
            </a:r>
            <a:r>
              <a:rPr sz="1600" b="1" spc="50" dirty="0">
                <a:latin typeface="Cambria"/>
                <a:cs typeface="Cambria"/>
              </a:rPr>
              <a:t>Bike();</a:t>
            </a:r>
            <a:endParaRPr sz="1600">
              <a:latin typeface="Cambria"/>
              <a:cs typeface="Cambria"/>
            </a:endParaRPr>
          </a:p>
          <a:p>
            <a:pPr marL="654050">
              <a:lnSpc>
                <a:spcPct val="100000"/>
              </a:lnSpc>
              <a:spcBef>
                <a:spcPts val="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6903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W</a:t>
            </a:r>
            <a:r>
              <a:rPr sz="2400" spc="300" dirty="0"/>
              <a:t>HEN</a:t>
            </a:r>
            <a:r>
              <a:rPr sz="2400" spc="275" dirty="0"/>
              <a:t> </a:t>
            </a:r>
            <a:r>
              <a:rPr sz="3000" spc="305" dirty="0"/>
              <a:t>C</a:t>
            </a:r>
            <a:r>
              <a:rPr sz="2400" spc="305" dirty="0"/>
              <a:t>ONSTRUCTORS</a:t>
            </a:r>
            <a:r>
              <a:rPr sz="2400" spc="265" dirty="0"/>
              <a:t> </a:t>
            </a:r>
            <a:r>
              <a:rPr sz="3000" spc="295" dirty="0"/>
              <a:t>A</a:t>
            </a:r>
            <a:r>
              <a:rPr sz="2400" spc="295" dirty="0"/>
              <a:t>RE</a:t>
            </a:r>
            <a:r>
              <a:rPr sz="2400" spc="290" dirty="0"/>
              <a:t> </a:t>
            </a:r>
            <a:r>
              <a:rPr sz="3000" spc="335" dirty="0"/>
              <a:t>E</a:t>
            </a:r>
            <a:r>
              <a:rPr sz="2400" spc="335" dirty="0"/>
              <a:t>XECUTED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51700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7423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hierarchy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created,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constructors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executed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order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hierarchy.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For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example: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hierarchy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above,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constructor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executed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first,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65" dirty="0">
                <a:latin typeface="Cambria"/>
                <a:cs typeface="Cambria"/>
              </a:rPr>
              <a:t>B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C.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7125" y="1676400"/>
            <a:ext cx="63817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6903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W</a:t>
            </a:r>
            <a:r>
              <a:rPr sz="2400" spc="300" dirty="0"/>
              <a:t>HEN</a:t>
            </a:r>
            <a:r>
              <a:rPr sz="2400" spc="275" dirty="0"/>
              <a:t> </a:t>
            </a:r>
            <a:r>
              <a:rPr sz="3000" spc="305" dirty="0"/>
              <a:t>C</a:t>
            </a:r>
            <a:r>
              <a:rPr sz="2400" spc="305" dirty="0"/>
              <a:t>ONSTRUCTORS</a:t>
            </a:r>
            <a:r>
              <a:rPr sz="2400" spc="265" dirty="0"/>
              <a:t> </a:t>
            </a:r>
            <a:r>
              <a:rPr sz="3000" spc="295" dirty="0"/>
              <a:t>A</a:t>
            </a:r>
            <a:r>
              <a:rPr sz="2400" spc="295" dirty="0"/>
              <a:t>RE</a:t>
            </a:r>
            <a:r>
              <a:rPr sz="2400" spc="290" dirty="0"/>
              <a:t> </a:t>
            </a:r>
            <a:r>
              <a:rPr sz="3000" spc="335" dirty="0"/>
              <a:t>E</a:t>
            </a:r>
            <a:r>
              <a:rPr sz="2400" spc="335" dirty="0"/>
              <a:t>XECUTED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4744085" cy="222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99055">
              <a:lnSpc>
                <a:spcPct val="100000"/>
              </a:lnSpc>
              <a:spcBef>
                <a:spcPts val="95"/>
              </a:spcBef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Cr</a:t>
            </a:r>
            <a:r>
              <a:rPr sz="1600" spc="10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at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su</a:t>
            </a:r>
            <a:r>
              <a:rPr sz="1600" spc="45" dirty="0">
                <a:latin typeface="Cambria"/>
                <a:cs typeface="Cambria"/>
              </a:rPr>
              <a:t>p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</a:t>
            </a:r>
            <a:r>
              <a:rPr sz="1600" spc="65" dirty="0">
                <a:latin typeface="Cambria"/>
                <a:cs typeface="Cambria"/>
              </a:rPr>
              <a:t>s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120" dirty="0">
                <a:latin typeface="Cambria"/>
                <a:cs typeface="Cambria"/>
              </a:rPr>
              <a:t>. 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155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sz="1600" spc="-5" dirty="0">
                <a:latin typeface="Cambria"/>
                <a:cs typeface="Cambria"/>
              </a:rPr>
              <a:t>A()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600" spc="55" dirty="0">
                <a:latin typeface="Cambria"/>
                <a:cs typeface="Cambria"/>
              </a:rPr>
              <a:t>System.out.println("Inside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A's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constructor.");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 marR="872490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Cr</a:t>
            </a:r>
            <a:r>
              <a:rPr sz="1600" spc="10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at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</a:t>
            </a:r>
            <a:r>
              <a:rPr sz="1600" spc="50" dirty="0">
                <a:latin typeface="Cambria"/>
                <a:cs typeface="Cambria"/>
              </a:rPr>
              <a:t>ubclass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b</a:t>
            </a:r>
            <a:r>
              <a:rPr sz="1600" spc="30" dirty="0">
                <a:latin typeface="Cambria"/>
                <a:cs typeface="Cambria"/>
              </a:rPr>
              <a:t>y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75" dirty="0">
                <a:latin typeface="Cambria"/>
                <a:cs typeface="Cambria"/>
              </a:rPr>
              <a:t>x</a:t>
            </a:r>
            <a:r>
              <a:rPr sz="1600" spc="30" dirty="0">
                <a:latin typeface="Cambria"/>
                <a:cs typeface="Cambria"/>
              </a:rPr>
              <a:t>t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65" dirty="0">
                <a:latin typeface="Cambria"/>
                <a:cs typeface="Cambria"/>
              </a:rPr>
              <a:t>ing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</a:t>
            </a:r>
            <a:r>
              <a:rPr sz="1600" spc="65" dirty="0">
                <a:latin typeface="Cambria"/>
                <a:cs typeface="Cambria"/>
              </a:rPr>
              <a:t>s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A. 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B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extends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5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B()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System.out.println("Inside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B's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constructor.");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25621"/>
            <a:ext cx="474408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 marR="762635">
              <a:lnSpc>
                <a:spcPct val="100000"/>
              </a:lnSpc>
            </a:pP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Cr</a:t>
            </a:r>
            <a:r>
              <a:rPr sz="1600" spc="105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at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ano</a:t>
            </a:r>
            <a:r>
              <a:rPr sz="1600" spc="35" dirty="0">
                <a:latin typeface="Cambria"/>
                <a:cs typeface="Cambria"/>
              </a:rPr>
              <a:t>t</a:t>
            </a:r>
            <a:r>
              <a:rPr sz="1600" spc="50" dirty="0">
                <a:latin typeface="Cambria"/>
                <a:cs typeface="Cambria"/>
              </a:rPr>
              <a:t>her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</a:t>
            </a:r>
            <a:r>
              <a:rPr sz="1600" spc="50" dirty="0">
                <a:latin typeface="Cambria"/>
                <a:cs typeface="Cambria"/>
              </a:rPr>
              <a:t>ubclass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b</a:t>
            </a:r>
            <a:r>
              <a:rPr sz="1600" spc="30" dirty="0">
                <a:latin typeface="Cambria"/>
                <a:cs typeface="Cambria"/>
              </a:rPr>
              <a:t>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75" dirty="0">
                <a:latin typeface="Cambria"/>
                <a:cs typeface="Cambria"/>
              </a:rPr>
              <a:t>x</a:t>
            </a:r>
            <a:r>
              <a:rPr sz="1600" spc="30" dirty="0">
                <a:latin typeface="Cambria"/>
                <a:cs typeface="Cambria"/>
              </a:rPr>
              <a:t>t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55" dirty="0">
                <a:latin typeface="Cambria"/>
                <a:cs typeface="Cambria"/>
              </a:rPr>
              <a:t>n</a:t>
            </a:r>
            <a:r>
              <a:rPr sz="1600" spc="45" dirty="0">
                <a:latin typeface="Cambria"/>
                <a:cs typeface="Cambria"/>
              </a:rPr>
              <a:t>d</a:t>
            </a:r>
            <a:r>
              <a:rPr sz="1600" spc="65" dirty="0">
                <a:latin typeface="Cambria"/>
                <a:cs typeface="Cambria"/>
              </a:rPr>
              <a:t>ing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B. 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25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extends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70" dirty="0">
                <a:latin typeface="Cambria"/>
                <a:cs typeface="Cambria"/>
              </a:rPr>
              <a:t>B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  <a:spcBef>
                <a:spcPts val="5"/>
              </a:spcBef>
            </a:pPr>
            <a:r>
              <a:rPr sz="1600" spc="25" dirty="0">
                <a:latin typeface="Cambria"/>
                <a:cs typeface="Cambria"/>
              </a:rPr>
              <a:t>C()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System.out.println("Inside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C's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constructor.");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CallingCons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379730" marR="1035685" indent="-27305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main(String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args[])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250" dirty="0">
                <a:latin typeface="Cambria"/>
                <a:cs typeface="Cambria"/>
              </a:rPr>
              <a:t>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C();</a:t>
            </a:r>
            <a:endParaRPr sz="1600">
              <a:latin typeface="Cambria"/>
              <a:cs typeface="Cambria"/>
            </a:endParaRPr>
          </a:p>
          <a:p>
            <a:pPr marL="10668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9800" y="3962400"/>
            <a:ext cx="2151380" cy="1384300"/>
          </a:xfrm>
          <a:prstGeom prst="rect">
            <a:avLst/>
          </a:prstGeom>
          <a:solidFill>
            <a:srgbClr val="FD8537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 marR="105410" algn="just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latin typeface="Arial MT"/>
                <a:cs typeface="Arial MT"/>
              </a:rPr>
              <a:t>Ins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A's constructor  Inside B's constructor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Inside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C's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constructor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546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50" dirty="0"/>
              <a:t>O</a:t>
            </a:r>
            <a:r>
              <a:rPr sz="2400" spc="350" dirty="0"/>
              <a:t>BJECT</a:t>
            </a:r>
            <a:r>
              <a:rPr sz="2400" spc="290" dirty="0"/>
              <a:t> </a:t>
            </a:r>
            <a:r>
              <a:rPr sz="3000" spc="330" dirty="0"/>
              <a:t>C</a:t>
            </a:r>
            <a:r>
              <a:rPr sz="2400" spc="330" dirty="0"/>
              <a:t>LASS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730365" cy="4923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All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classes</a:t>
            </a:r>
            <a:r>
              <a:rPr sz="2000" spc="80" dirty="0">
                <a:latin typeface="Cambria"/>
                <a:cs typeface="Cambria"/>
              </a:rPr>
              <a:t> inherit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directly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indirectly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from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95" dirty="0">
                <a:latin typeface="Cambria"/>
                <a:cs typeface="Cambria"/>
              </a:rPr>
              <a:t>java.lang.Object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Parent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-110" dirty="0">
                <a:latin typeface="Cambria"/>
                <a:cs typeface="Cambria"/>
              </a:rPr>
              <a:t>{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int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size;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-11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Parent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extends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Object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-110" dirty="0">
                <a:latin typeface="Cambria"/>
                <a:cs typeface="Cambria"/>
              </a:rPr>
              <a:t>{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int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size;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-11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child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class </a:t>
            </a:r>
            <a:r>
              <a:rPr sz="2000" spc="15" dirty="0">
                <a:latin typeface="Cambria"/>
                <a:cs typeface="Cambria"/>
              </a:rPr>
              <a:t>below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grandchild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Object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Child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extends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Parent{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-110" dirty="0">
                <a:latin typeface="Cambria"/>
                <a:cs typeface="Cambria"/>
              </a:rPr>
              <a:t>}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25" dirty="0">
                <a:latin typeface="Cambria"/>
                <a:cs typeface="Cambria"/>
              </a:rPr>
              <a:t>Having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common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ancestor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allows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java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provide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000" spc="85" dirty="0">
                <a:latin typeface="Cambria"/>
                <a:cs typeface="Cambria"/>
              </a:rPr>
              <a:t>standard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members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on</a:t>
            </a:r>
            <a:r>
              <a:rPr sz="2000" spc="100" dirty="0">
                <a:latin typeface="Cambria"/>
                <a:cs typeface="Cambria"/>
              </a:rPr>
              <a:t> all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objects,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like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toString()</a:t>
            </a:r>
            <a:endParaRPr sz="20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90"/>
              </a:spcBef>
            </a:pP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TestObject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17269" marR="2642235" indent="-273050">
              <a:lnSpc>
                <a:spcPct val="120000"/>
              </a:lnSpc>
              <a:spcBef>
                <a:spcPts val="5"/>
              </a:spcBef>
            </a:pPr>
            <a:r>
              <a:rPr sz="1400" spc="35" dirty="0">
                <a:latin typeface="Cambria"/>
                <a:cs typeface="Cambria"/>
              </a:rPr>
              <a:t>public </a:t>
            </a:r>
            <a:r>
              <a:rPr sz="1400" spc="55" dirty="0">
                <a:latin typeface="Cambria"/>
                <a:cs typeface="Cambria"/>
              </a:rPr>
              <a:t>static </a:t>
            </a:r>
            <a:r>
              <a:rPr sz="1400" spc="20" dirty="0">
                <a:latin typeface="Cambria"/>
                <a:cs typeface="Cambria"/>
              </a:rPr>
              <a:t>void </a:t>
            </a:r>
            <a:r>
              <a:rPr sz="1400" spc="40" dirty="0">
                <a:latin typeface="Cambria"/>
                <a:cs typeface="Cambria"/>
              </a:rPr>
              <a:t>main( </a:t>
            </a:r>
            <a:r>
              <a:rPr sz="1400" spc="80" dirty="0">
                <a:latin typeface="Cambria"/>
                <a:cs typeface="Cambria"/>
              </a:rPr>
              <a:t>String </a:t>
            </a:r>
            <a:r>
              <a:rPr sz="1400" spc="30" dirty="0">
                <a:latin typeface="Cambria"/>
                <a:cs typeface="Cambria"/>
              </a:rPr>
              <a:t>args[] </a:t>
            </a:r>
            <a:r>
              <a:rPr sz="1400" spc="-70" dirty="0">
                <a:latin typeface="Cambria"/>
                <a:cs typeface="Cambria"/>
              </a:rPr>
              <a:t>)</a:t>
            </a:r>
            <a:r>
              <a:rPr sz="1400" spc="-65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 </a:t>
            </a:r>
            <a:r>
              <a:rPr sz="1400" spc="-7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Parent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watchThis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new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Parent(); 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int </a:t>
            </a:r>
            <a:r>
              <a:rPr sz="1400" spc="90" dirty="0">
                <a:latin typeface="Cambria"/>
                <a:cs typeface="Cambria"/>
              </a:rPr>
              <a:t>myHash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45" dirty="0">
                <a:latin typeface="Cambria"/>
                <a:cs typeface="Cambria"/>
              </a:rPr>
              <a:t>watchThis.hashCode();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System.out.println(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90" dirty="0">
                <a:latin typeface="Cambria"/>
                <a:cs typeface="Cambria"/>
              </a:rPr>
              <a:t>myHash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);</a:t>
            </a:r>
            <a:endParaRPr sz="14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33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Where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5" dirty="0">
                <a:latin typeface="Cambria"/>
                <a:cs typeface="Cambria"/>
              </a:rPr>
              <a:t>do</a:t>
            </a:r>
            <a:r>
              <a:rPr sz="1400" spc="5" dirty="0">
                <a:latin typeface="Cambria"/>
                <a:cs typeface="Cambria"/>
              </a:rPr>
              <a:t>e</a:t>
            </a:r>
            <a:r>
              <a:rPr sz="1400" spc="45" dirty="0">
                <a:latin typeface="Cambria"/>
                <a:cs typeface="Cambria"/>
              </a:rPr>
              <a:t>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65" dirty="0">
                <a:latin typeface="Cambria"/>
                <a:cs typeface="Cambria"/>
              </a:rPr>
              <a:t>as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20" dirty="0">
                <a:latin typeface="Cambria"/>
                <a:cs typeface="Cambria"/>
              </a:rPr>
              <a:t>de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c</a:t>
            </a:r>
            <a:r>
              <a:rPr sz="1400" spc="-15" dirty="0">
                <a:latin typeface="Cambria"/>
                <a:cs typeface="Cambria"/>
              </a:rPr>
              <a:t>o</a:t>
            </a:r>
            <a:r>
              <a:rPr sz="1400" spc="55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fr</a:t>
            </a:r>
            <a:r>
              <a:rPr sz="1400" spc="20" dirty="0">
                <a:latin typeface="Cambria"/>
                <a:cs typeface="Cambria"/>
              </a:rPr>
              <a:t>o</a:t>
            </a:r>
            <a:r>
              <a:rPr sz="1400" spc="50" dirty="0">
                <a:latin typeface="Cambria"/>
                <a:cs typeface="Cambria"/>
              </a:rPr>
              <a:t>m?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34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375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2511425"/>
            <a:ext cx="1231900" cy="304800"/>
          </a:xfrm>
          <a:custGeom>
            <a:avLst/>
            <a:gdLst/>
            <a:ahLst/>
            <a:cxnLst/>
            <a:rect l="l" t="t" r="r" b="b"/>
            <a:pathLst>
              <a:path w="1231900" h="304800">
                <a:moveTo>
                  <a:pt x="1231900" y="0"/>
                </a:moveTo>
                <a:lnTo>
                  <a:pt x="0" y="0"/>
                </a:lnTo>
                <a:lnTo>
                  <a:pt x="0" y="304800"/>
                </a:lnTo>
                <a:lnTo>
                  <a:pt x="1231900" y="304800"/>
                </a:lnTo>
                <a:lnTo>
                  <a:pt x="12319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6100" y="2143125"/>
            <a:ext cx="6261100" cy="304800"/>
          </a:xfrm>
          <a:custGeom>
            <a:avLst/>
            <a:gdLst/>
            <a:ahLst/>
            <a:cxnLst/>
            <a:rect l="l" t="t" r="r" b="b"/>
            <a:pathLst>
              <a:path w="6261100" h="304800">
                <a:moveTo>
                  <a:pt x="6261100" y="0"/>
                </a:moveTo>
                <a:lnTo>
                  <a:pt x="0" y="0"/>
                </a:lnTo>
                <a:lnTo>
                  <a:pt x="0" y="304800"/>
                </a:lnTo>
                <a:lnTo>
                  <a:pt x="6261100" y="304800"/>
                </a:lnTo>
                <a:lnTo>
                  <a:pt x="62611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5500" y="1698625"/>
            <a:ext cx="5207000" cy="304800"/>
          </a:xfrm>
          <a:custGeom>
            <a:avLst/>
            <a:gdLst/>
            <a:ahLst/>
            <a:cxnLst/>
            <a:rect l="l" t="t" r="r" b="b"/>
            <a:pathLst>
              <a:path w="5207000" h="304800">
                <a:moveTo>
                  <a:pt x="5207000" y="0"/>
                </a:moveTo>
                <a:lnTo>
                  <a:pt x="0" y="0"/>
                </a:lnTo>
                <a:lnTo>
                  <a:pt x="0" y="304800"/>
                </a:lnTo>
                <a:lnTo>
                  <a:pt x="5207000" y="304800"/>
                </a:lnTo>
                <a:lnTo>
                  <a:pt x="52070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8" name="object 8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518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50" dirty="0"/>
              <a:t>O</a:t>
            </a:r>
            <a:r>
              <a:rPr sz="2400" spc="350" dirty="0"/>
              <a:t>BJECT</a:t>
            </a:r>
            <a:r>
              <a:rPr sz="2400" spc="335" dirty="0"/>
              <a:t> </a:t>
            </a:r>
            <a:r>
              <a:rPr sz="3000" spc="330" dirty="0"/>
              <a:t>C</a:t>
            </a:r>
            <a:r>
              <a:rPr sz="2400" spc="330" dirty="0"/>
              <a:t>LASS</a:t>
            </a:r>
            <a:r>
              <a:rPr sz="2400" spc="300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z="2400" spc="295" dirty="0"/>
              <a:t>METHODS</a:t>
            </a:r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535940" y="1552763"/>
            <a:ext cx="7094855" cy="34925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latin typeface="Cambria"/>
                <a:cs typeface="Cambria"/>
              </a:rPr>
              <a:t>clone()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Creates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clone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marR="89725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60" dirty="0">
                <a:latin typeface="Cambria"/>
                <a:cs typeface="Cambria"/>
              </a:rPr>
              <a:t>equals(Object)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Compares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two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Objects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equality.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0" dirty="0">
                <a:latin typeface="Cambria"/>
                <a:cs typeface="Cambria"/>
              </a:rPr>
              <a:t>Uses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"=="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test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for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equality</a:t>
            </a:r>
            <a:endParaRPr sz="2100">
              <a:latin typeface="Cambria"/>
              <a:cs typeface="Cambria"/>
            </a:endParaRPr>
          </a:p>
          <a:p>
            <a:pPr marL="652780" marR="16065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Note: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If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needs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implementation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equals,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differs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default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"equals",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 </a:t>
            </a:r>
            <a:r>
              <a:rPr sz="2100" spc="8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should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override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60" dirty="0">
                <a:latin typeface="Cambria"/>
                <a:cs typeface="Cambria"/>
              </a:rPr>
              <a:t>toString()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Returns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String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represents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677" y="3136772"/>
            <a:ext cx="2867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E</a:t>
            </a:r>
            <a:r>
              <a:rPr sz="2400" spc="295" dirty="0"/>
              <a:t>NCAPSULATION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663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45" dirty="0"/>
              <a:t>E</a:t>
            </a:r>
            <a:r>
              <a:rPr sz="2400" spc="310" dirty="0"/>
              <a:t>NC</a:t>
            </a:r>
            <a:r>
              <a:rPr sz="2400" spc="300" dirty="0"/>
              <a:t>A</a:t>
            </a:r>
            <a:r>
              <a:rPr sz="2400" spc="320" dirty="0"/>
              <a:t>PSU</a:t>
            </a:r>
            <a:r>
              <a:rPr sz="2400" spc="290" dirty="0"/>
              <a:t>L</a:t>
            </a:r>
            <a:r>
              <a:rPr sz="2400" spc="204" dirty="0"/>
              <a:t>A</a:t>
            </a:r>
            <a:r>
              <a:rPr sz="2400" spc="190" dirty="0"/>
              <a:t>T</a:t>
            </a:r>
            <a:r>
              <a:rPr sz="2400" spc="265" dirty="0"/>
              <a:t>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21220" cy="414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420370" indent="-273050">
              <a:lnSpc>
                <a:spcPct val="100099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30" dirty="0">
                <a:latin typeface="Cambria"/>
                <a:cs typeface="Cambria"/>
              </a:rPr>
              <a:t>Encapsulation</a:t>
            </a:r>
            <a:r>
              <a:rPr sz="2400" i="1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mechanism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binds 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together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manipulates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keeps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both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safe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outside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interference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 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misuse.</a:t>
            </a:r>
            <a:endParaRPr sz="2400">
              <a:latin typeface="Cambria"/>
              <a:cs typeface="Cambria"/>
            </a:endParaRPr>
          </a:p>
          <a:p>
            <a:pPr marL="285115" marR="59563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0" dirty="0">
                <a:latin typeface="Cambria"/>
                <a:cs typeface="Cambria"/>
              </a:rPr>
              <a:t>One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way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think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about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encapsulation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protective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wrapper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that </a:t>
            </a:r>
            <a:r>
              <a:rPr sz="2100" spc="60" dirty="0">
                <a:latin typeface="Cambria"/>
                <a:cs typeface="Cambria"/>
              </a:rPr>
              <a:t>prevents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data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being </a:t>
            </a:r>
            <a:r>
              <a:rPr sz="2100" spc="6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arbitrarily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accessed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other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defined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outside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wrapper.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basis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encapsulation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50" dirty="0">
                <a:latin typeface="Cambria"/>
                <a:cs typeface="Cambria"/>
              </a:rPr>
              <a:t>Use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access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modifier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provide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encapsulation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663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45" dirty="0"/>
              <a:t>E</a:t>
            </a:r>
            <a:r>
              <a:rPr sz="2400" spc="310" dirty="0"/>
              <a:t>NC</a:t>
            </a:r>
            <a:r>
              <a:rPr sz="2400" spc="300" dirty="0"/>
              <a:t>A</a:t>
            </a:r>
            <a:r>
              <a:rPr sz="2400" spc="320" dirty="0"/>
              <a:t>PSU</a:t>
            </a:r>
            <a:r>
              <a:rPr sz="2400" spc="290" dirty="0"/>
              <a:t>L</a:t>
            </a:r>
            <a:r>
              <a:rPr sz="2400" spc="204" dirty="0"/>
              <a:t>A</a:t>
            </a:r>
            <a:r>
              <a:rPr sz="2400" spc="190" dirty="0"/>
              <a:t>T</a:t>
            </a:r>
            <a:r>
              <a:rPr sz="2400" spc="265" dirty="0"/>
              <a:t>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054215" cy="321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99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Since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purpose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class/encapsulation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encapsulate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complexity,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there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mechanisms 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hiding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complexity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implementation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inside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marL="652780" marR="448309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Use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b="1" spc="125" dirty="0">
                <a:latin typeface="Cambria"/>
                <a:cs typeface="Cambria"/>
              </a:rPr>
              <a:t>access</a:t>
            </a:r>
            <a:r>
              <a:rPr sz="2100" b="1" spc="130" dirty="0">
                <a:latin typeface="Cambria"/>
                <a:cs typeface="Cambria"/>
              </a:rPr>
              <a:t> </a:t>
            </a:r>
            <a:r>
              <a:rPr sz="2100" b="1" spc="114" dirty="0">
                <a:latin typeface="Cambria"/>
                <a:cs typeface="Cambria"/>
              </a:rPr>
              <a:t>modifier</a:t>
            </a:r>
            <a:r>
              <a:rPr sz="2100" b="1" spc="13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specify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members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should/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shouldn’t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accessed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outside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world.</a:t>
            </a:r>
            <a:endParaRPr sz="2100">
              <a:latin typeface="Cambria"/>
              <a:cs typeface="Cambria"/>
            </a:endParaRPr>
          </a:p>
          <a:p>
            <a:pPr marL="652780" marR="14541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b="1" spc="140" dirty="0">
                <a:latin typeface="Cambria"/>
                <a:cs typeface="Cambria"/>
              </a:rPr>
              <a:t>public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b="1" spc="125" dirty="0">
                <a:latin typeface="Cambria"/>
                <a:cs typeface="Cambria"/>
              </a:rPr>
              <a:t>interface </a:t>
            </a:r>
            <a:r>
              <a:rPr sz="2100" spc="60" dirty="0">
                <a:latin typeface="Cambria"/>
                <a:cs typeface="Cambria"/>
              </a:rPr>
              <a:t>should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carefully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designed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not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expose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too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much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inner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workings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 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234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10" dirty="0"/>
              <a:t>G</a:t>
            </a:r>
            <a:r>
              <a:rPr sz="2400" spc="210" dirty="0"/>
              <a:t>ETTER</a:t>
            </a:r>
            <a:r>
              <a:rPr sz="3000" spc="210" dirty="0"/>
              <a:t>/S</a:t>
            </a:r>
            <a:r>
              <a:rPr sz="2400" spc="210" dirty="0"/>
              <a:t>ETTER</a:t>
            </a:r>
            <a:r>
              <a:rPr sz="2400" spc="350" dirty="0"/>
              <a:t> </a:t>
            </a:r>
            <a:r>
              <a:rPr sz="3000" spc="305" dirty="0"/>
              <a:t>M</a:t>
            </a:r>
            <a:r>
              <a:rPr sz="2400" spc="305" dirty="0"/>
              <a:t>ETHOD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22159" cy="506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9969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encapsulation,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hidden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classes,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accessed </a:t>
            </a:r>
            <a:r>
              <a:rPr sz="2400" spc="55" dirty="0">
                <a:latin typeface="Cambria"/>
                <a:cs typeface="Cambria"/>
              </a:rPr>
              <a:t> only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through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their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current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achieve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45" dirty="0">
                <a:latin typeface="Cambria"/>
                <a:cs typeface="Cambria"/>
              </a:rPr>
              <a:t>Java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−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80" dirty="0">
                <a:latin typeface="Cambria"/>
                <a:cs typeface="Cambria"/>
              </a:rPr>
              <a:t>Declare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variables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private.</a:t>
            </a:r>
            <a:endParaRPr sz="20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55" dirty="0">
                <a:latin typeface="Cambria"/>
                <a:cs typeface="Cambria"/>
              </a:rPr>
              <a:t>Provide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public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setter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getter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modify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view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variables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values.</a:t>
            </a:r>
            <a:endParaRPr sz="20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00" dirty="0">
                <a:latin typeface="Cambria"/>
                <a:cs typeface="Cambria"/>
              </a:rPr>
              <a:t>Example: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  <a:spcBef>
                <a:spcPts val="5"/>
              </a:spcBef>
            </a:pPr>
            <a:r>
              <a:rPr sz="1600" b="1" spc="95" dirty="0">
                <a:latin typeface="Cambria"/>
                <a:cs typeface="Cambria"/>
              </a:rPr>
              <a:t>private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double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balance;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setBalance(double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40" dirty="0">
                <a:latin typeface="Cambria"/>
                <a:cs typeface="Cambria"/>
              </a:rPr>
              <a:t>b)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1600" spc="50" dirty="0">
                <a:latin typeface="Cambria"/>
                <a:cs typeface="Cambria"/>
              </a:rPr>
              <a:t>balance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b;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927100" marR="4129404" indent="-550545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double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getBalance()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return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balance;</a:t>
            </a:r>
            <a:endParaRPr sz="16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012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B</a:t>
            </a:r>
            <a:r>
              <a:rPr sz="2400" spc="285" dirty="0"/>
              <a:t>ENEFIT</a:t>
            </a:r>
            <a:r>
              <a:rPr sz="2400" spc="295" dirty="0"/>
              <a:t> </a:t>
            </a:r>
            <a:r>
              <a:rPr sz="2400" spc="305" dirty="0"/>
              <a:t>OF</a:t>
            </a:r>
            <a:r>
              <a:rPr sz="2400" spc="270" dirty="0"/>
              <a:t> </a:t>
            </a:r>
            <a:r>
              <a:rPr sz="3000" spc="295" dirty="0"/>
              <a:t>E</a:t>
            </a:r>
            <a:r>
              <a:rPr sz="2400" spc="295" dirty="0"/>
              <a:t>NCAPSULATION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906651"/>
            <a:ext cx="5327650" cy="20008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Benefit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0" dirty="0">
                <a:latin typeface="Cambria"/>
                <a:cs typeface="Cambria"/>
              </a:rPr>
              <a:t>Hide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complexity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user.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Implement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logic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while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updating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field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0" dirty="0">
                <a:latin typeface="Cambria"/>
                <a:cs typeface="Cambria"/>
              </a:rPr>
              <a:t>Easy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maintain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Make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read-only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write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only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161" y="3136772"/>
            <a:ext cx="27432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P</a:t>
            </a:r>
            <a:r>
              <a:rPr sz="2400" spc="315" dirty="0"/>
              <a:t>OL</a:t>
            </a:r>
            <a:r>
              <a:rPr sz="2400" spc="305" dirty="0"/>
              <a:t>Y</a:t>
            </a:r>
            <a:r>
              <a:rPr sz="2400" spc="335" dirty="0"/>
              <a:t>M</a:t>
            </a:r>
            <a:r>
              <a:rPr sz="2400" spc="280" dirty="0"/>
              <a:t>O</a:t>
            </a:r>
            <a:r>
              <a:rPr sz="2400" spc="270" dirty="0"/>
              <a:t>RPHISM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740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P</a:t>
            </a:r>
            <a:r>
              <a:rPr sz="2400" spc="305" dirty="0"/>
              <a:t>OLYM</a:t>
            </a:r>
            <a:r>
              <a:rPr sz="2400" spc="315" dirty="0"/>
              <a:t>O</a:t>
            </a:r>
            <a:r>
              <a:rPr sz="2400" spc="245" dirty="0"/>
              <a:t>R</a:t>
            </a:r>
            <a:r>
              <a:rPr sz="2400" spc="215" dirty="0"/>
              <a:t>P</a:t>
            </a:r>
            <a:r>
              <a:rPr sz="2400" spc="295" dirty="0"/>
              <a:t>HISM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6941820" cy="472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3340" indent="-273050">
              <a:lnSpc>
                <a:spcPct val="100099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85" dirty="0">
                <a:latin typeface="Cambria"/>
                <a:cs typeface="Cambria"/>
              </a:rPr>
              <a:t>Poly </a:t>
            </a:r>
            <a:r>
              <a:rPr sz="2400" spc="100" dirty="0">
                <a:latin typeface="Cambria"/>
                <a:cs typeface="Cambria"/>
              </a:rPr>
              <a:t>means </a:t>
            </a:r>
            <a:r>
              <a:rPr sz="2400" b="1" spc="185" dirty="0">
                <a:latin typeface="Cambria"/>
                <a:cs typeface="Cambria"/>
              </a:rPr>
              <a:t>many </a:t>
            </a:r>
            <a:r>
              <a:rPr sz="2400" spc="105" dirty="0">
                <a:latin typeface="Cambria"/>
                <a:cs typeface="Cambria"/>
              </a:rPr>
              <a:t>and </a:t>
            </a:r>
            <a:r>
              <a:rPr sz="2400" b="1" spc="160" dirty="0">
                <a:latin typeface="Cambria"/>
                <a:cs typeface="Cambria"/>
              </a:rPr>
              <a:t>morph </a:t>
            </a:r>
            <a:r>
              <a:rPr sz="2400" spc="100" dirty="0">
                <a:latin typeface="Cambria"/>
                <a:cs typeface="Cambria"/>
              </a:rPr>
              <a:t>means </a:t>
            </a:r>
            <a:r>
              <a:rPr sz="2400" b="1" spc="145" dirty="0">
                <a:latin typeface="Cambria"/>
                <a:cs typeface="Cambria"/>
              </a:rPr>
              <a:t>form</a:t>
            </a:r>
            <a:r>
              <a:rPr sz="2400" spc="145" dirty="0">
                <a:latin typeface="Cambria"/>
                <a:cs typeface="Cambria"/>
              </a:rPr>
              <a:t>. 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Thus,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polymorphism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refers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being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able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many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forms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without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regard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95" dirty="0">
                <a:latin typeface="Cambria"/>
                <a:cs typeface="Cambria"/>
              </a:rPr>
              <a:t> details.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generally,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concept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polymorphism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often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expressed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phrase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“one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interface, 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multiple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methods.”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5115" marR="88265" indent="-273050">
              <a:lnSpc>
                <a:spcPct val="1002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20" dirty="0">
                <a:latin typeface="Cambria"/>
                <a:cs typeface="Cambria"/>
              </a:rPr>
              <a:t>polymorphism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refers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programming 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language's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ability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process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objects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differently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depending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their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7406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P</a:t>
            </a:r>
            <a:r>
              <a:rPr sz="2400" spc="305" dirty="0"/>
              <a:t>OLYM</a:t>
            </a:r>
            <a:r>
              <a:rPr sz="2400" spc="315" dirty="0"/>
              <a:t>O</a:t>
            </a:r>
            <a:r>
              <a:rPr sz="2400" spc="245" dirty="0"/>
              <a:t>R</a:t>
            </a:r>
            <a:r>
              <a:rPr sz="2400" spc="215" dirty="0"/>
              <a:t>P</a:t>
            </a:r>
            <a:r>
              <a:rPr sz="2400" spc="295" dirty="0"/>
              <a:t>HISM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3582670" cy="1617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" dirty="0">
                <a:latin typeface="Cambria"/>
                <a:cs typeface="Cambria"/>
              </a:rPr>
              <a:t>3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types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Method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overriding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Method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overloading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Subclass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polymorphism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293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</a:t>
            </a:r>
            <a:r>
              <a:rPr sz="2400" spc="265" dirty="0"/>
              <a:t> </a:t>
            </a:r>
            <a:r>
              <a:rPr sz="2400" spc="275" dirty="0"/>
              <a:t>OVERRIDING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55509" cy="309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Means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child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re-implementing</a:t>
            </a:r>
            <a:r>
              <a:rPr sz="2400" b="1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b="1" spc="150" dirty="0">
                <a:latin typeface="Cambria"/>
                <a:cs typeface="Cambria"/>
              </a:rPr>
              <a:t>method</a:t>
            </a:r>
            <a:r>
              <a:rPr sz="2400" b="1" spc="125" dirty="0">
                <a:latin typeface="Cambria"/>
                <a:cs typeface="Cambria"/>
              </a:rPr>
              <a:t> of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its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super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r>
              <a:rPr sz="2400" spc="135" dirty="0">
                <a:latin typeface="Cambria"/>
                <a:cs typeface="Cambria"/>
              </a:rPr>
              <a:t>.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replacing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ancestor's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implementation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implementation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own.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When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overriding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child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endParaRPr sz="2400">
              <a:latin typeface="Cambria"/>
              <a:cs typeface="Cambria"/>
            </a:endParaRPr>
          </a:p>
          <a:p>
            <a:pPr marL="652780" marR="15240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Method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Signature(name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argument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list)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 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return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must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Child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could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equal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more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accessible.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293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</a:t>
            </a:r>
            <a:r>
              <a:rPr sz="2400" spc="265" dirty="0"/>
              <a:t> </a:t>
            </a:r>
            <a:r>
              <a:rPr sz="2400" spc="275" dirty="0"/>
              <a:t>OVERRIDING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066915" cy="388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24130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overridden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method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is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called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within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subclass</a:t>
            </a:r>
            <a:r>
              <a:rPr sz="2400" spc="145" dirty="0">
                <a:latin typeface="Cambria"/>
                <a:cs typeface="Cambria"/>
              </a:rPr>
              <a:t>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always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refer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version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that </a:t>
            </a:r>
            <a:r>
              <a:rPr sz="2400" b="1" spc="150" dirty="0">
                <a:latin typeface="Cambria"/>
                <a:cs typeface="Cambria"/>
              </a:rPr>
              <a:t>method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defined</a:t>
            </a:r>
            <a:r>
              <a:rPr sz="2400" b="1" spc="160" dirty="0">
                <a:latin typeface="Cambria"/>
                <a:cs typeface="Cambria"/>
              </a:rPr>
              <a:t> by</a:t>
            </a:r>
            <a:r>
              <a:rPr sz="2400" b="1" spc="14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 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subclass</a:t>
            </a:r>
            <a:r>
              <a:rPr sz="2400" spc="14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version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defined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superclass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hidden.</a:t>
            </a:r>
            <a:endParaRPr sz="2100">
              <a:latin typeface="Cambria"/>
              <a:cs typeface="Cambria"/>
            </a:endParaRPr>
          </a:p>
          <a:p>
            <a:pPr marL="285115" marR="15176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invoke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parent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child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to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“</a:t>
            </a:r>
            <a:r>
              <a:rPr sz="2400" b="1" spc="110" dirty="0">
                <a:latin typeface="Cambria"/>
                <a:cs typeface="Cambria"/>
              </a:rPr>
              <a:t>super</a:t>
            </a:r>
            <a:r>
              <a:rPr sz="2400" spc="110" dirty="0">
                <a:latin typeface="Cambria"/>
                <a:cs typeface="Cambria"/>
              </a:rPr>
              <a:t>”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keyword.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Static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overridden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Dynamic</a:t>
            </a:r>
            <a:r>
              <a:rPr sz="2400" spc="80" dirty="0">
                <a:latin typeface="Cambria"/>
                <a:cs typeface="Cambria"/>
              </a:rPr>
              <a:t> binding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6946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</a:t>
            </a:r>
            <a:r>
              <a:rPr sz="2400" spc="295" dirty="0"/>
              <a:t> </a:t>
            </a:r>
            <a:r>
              <a:rPr sz="2400" spc="275" dirty="0"/>
              <a:t>OVERRIDING</a:t>
            </a:r>
            <a:r>
              <a:rPr sz="2400" spc="315" dirty="0"/>
              <a:t> </a:t>
            </a:r>
            <a:r>
              <a:rPr sz="3000" dirty="0"/>
              <a:t>-</a:t>
            </a:r>
            <a:r>
              <a:rPr sz="3000" spc="165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4178300" cy="216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90" dirty="0">
                <a:latin typeface="Cambria"/>
                <a:cs typeface="Cambria"/>
              </a:rPr>
              <a:t>TestOverridding</a:t>
            </a:r>
            <a:r>
              <a:rPr sz="1400" b="1" spc="4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args)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 marR="133985">
              <a:lnSpc>
                <a:spcPct val="100000"/>
              </a:lnSpc>
              <a:spcBef>
                <a:spcPts val="10"/>
              </a:spcBef>
            </a:pPr>
            <a:r>
              <a:rPr sz="1400" spc="60" dirty="0">
                <a:latin typeface="Cambria"/>
                <a:cs typeface="Cambria"/>
              </a:rPr>
              <a:t>System.</a:t>
            </a:r>
            <a:r>
              <a:rPr sz="1400" b="1" i="1" spc="60" dirty="0">
                <a:latin typeface="Cambria"/>
                <a:cs typeface="Cambria"/>
              </a:rPr>
              <a:t>out.println("------Parent-----"); </a:t>
            </a:r>
            <a:r>
              <a:rPr sz="1400" b="1" i="1" spc="-295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Parent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p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Parent();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400" spc="25" dirty="0">
                <a:latin typeface="Cambria"/>
                <a:cs typeface="Cambria"/>
              </a:rPr>
              <a:t>p.display();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400" spc="75" dirty="0">
                <a:latin typeface="Cambria"/>
                <a:cs typeface="Cambria"/>
              </a:rPr>
              <a:t>System.</a:t>
            </a:r>
            <a:r>
              <a:rPr sz="1400" b="1" i="1" spc="75" dirty="0">
                <a:latin typeface="Cambria"/>
                <a:cs typeface="Cambria"/>
              </a:rPr>
              <a:t>out.println(“\n------Child-----");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85" dirty="0">
                <a:latin typeface="Cambria"/>
                <a:cs typeface="Cambria"/>
              </a:rPr>
              <a:t>Child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c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70" dirty="0">
                <a:latin typeface="Cambria"/>
                <a:cs typeface="Cambria"/>
              </a:rPr>
              <a:t>Child();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25" dirty="0">
                <a:latin typeface="Cambria"/>
                <a:cs typeface="Cambria"/>
              </a:rPr>
              <a:t>c.display();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64660"/>
            <a:ext cx="85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189933"/>
            <a:ext cx="4400550" cy="216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45" dirty="0">
                <a:latin typeface="Cambria"/>
                <a:cs typeface="Cambria"/>
              </a:rPr>
              <a:t> </a:t>
            </a:r>
            <a:r>
              <a:rPr sz="1400" b="1" spc="105" dirty="0">
                <a:latin typeface="Cambria"/>
                <a:cs typeface="Cambria"/>
              </a:rPr>
              <a:t>Parent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60" dirty="0">
                <a:latin typeface="Cambria"/>
                <a:cs typeface="Cambria"/>
              </a:rPr>
              <a:t> display()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sz="1400" spc="85" dirty="0">
                <a:latin typeface="Cambria"/>
                <a:cs typeface="Cambria"/>
              </a:rPr>
              <a:t>System.</a:t>
            </a:r>
            <a:r>
              <a:rPr sz="1400" b="1" i="1" spc="85" dirty="0">
                <a:latin typeface="Cambria"/>
                <a:cs typeface="Cambria"/>
              </a:rPr>
              <a:t>out.println(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spc="100" dirty="0">
                <a:latin typeface="Cambria"/>
                <a:cs typeface="Cambria"/>
              </a:rPr>
              <a:t>"Display</a:t>
            </a:r>
            <a:r>
              <a:rPr sz="1400" b="1" i="1" spc="95" dirty="0">
                <a:latin typeface="Cambria"/>
                <a:cs typeface="Cambria"/>
              </a:rPr>
              <a:t> </a:t>
            </a:r>
            <a:r>
              <a:rPr sz="1400" b="1" i="1" spc="130" dirty="0">
                <a:latin typeface="Cambria"/>
                <a:cs typeface="Cambria"/>
              </a:rPr>
              <a:t>in</a:t>
            </a:r>
            <a:r>
              <a:rPr sz="1400" b="1" i="1" spc="95" dirty="0">
                <a:latin typeface="Cambria"/>
                <a:cs typeface="Cambria"/>
              </a:rPr>
              <a:t> </a:t>
            </a:r>
            <a:r>
              <a:rPr sz="1400" b="1" i="1" spc="90" dirty="0">
                <a:latin typeface="Cambria"/>
                <a:cs typeface="Cambria"/>
              </a:rPr>
              <a:t>Parent"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20" dirty="0">
                <a:latin typeface="Cambria"/>
                <a:cs typeface="Cambria"/>
              </a:rPr>
              <a:t>);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50" dirty="0">
                <a:latin typeface="Cambria"/>
                <a:cs typeface="Cambria"/>
              </a:rPr>
              <a:t> </a:t>
            </a:r>
            <a:r>
              <a:rPr sz="1400" b="1" spc="125" dirty="0">
                <a:latin typeface="Cambria"/>
                <a:cs typeface="Cambria"/>
              </a:rPr>
              <a:t>Child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extends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110" dirty="0">
                <a:latin typeface="Cambria"/>
                <a:cs typeface="Cambria"/>
              </a:rPr>
              <a:t>Parent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60" dirty="0">
                <a:latin typeface="Cambria"/>
                <a:cs typeface="Cambria"/>
              </a:rPr>
              <a:t>display()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sz="1400" spc="85" dirty="0">
                <a:latin typeface="Cambria"/>
                <a:cs typeface="Cambria"/>
              </a:rPr>
              <a:t>System.</a:t>
            </a:r>
            <a:r>
              <a:rPr sz="1400" b="1" i="1" spc="85" dirty="0">
                <a:latin typeface="Cambria"/>
                <a:cs typeface="Cambria"/>
              </a:rPr>
              <a:t>out.println(</a:t>
            </a:r>
            <a:r>
              <a:rPr sz="1400" b="1" i="1" spc="50" dirty="0">
                <a:latin typeface="Cambria"/>
                <a:cs typeface="Cambria"/>
              </a:rPr>
              <a:t> </a:t>
            </a:r>
            <a:r>
              <a:rPr sz="1400" b="1" i="1" spc="100" dirty="0">
                <a:latin typeface="Cambria"/>
                <a:cs typeface="Cambria"/>
              </a:rPr>
              <a:t>"Display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130" dirty="0">
                <a:latin typeface="Cambria"/>
                <a:cs typeface="Cambria"/>
              </a:rPr>
              <a:t>in</a:t>
            </a:r>
            <a:r>
              <a:rPr sz="1400" b="1" i="1" spc="85" dirty="0">
                <a:latin typeface="Cambria"/>
                <a:cs typeface="Cambria"/>
              </a:rPr>
              <a:t> </a:t>
            </a:r>
            <a:r>
              <a:rPr sz="1400" b="1" i="1" spc="140" dirty="0">
                <a:latin typeface="Cambria"/>
                <a:cs typeface="Cambria"/>
              </a:rPr>
              <a:t>Child"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20" dirty="0">
                <a:latin typeface="Cambria"/>
                <a:cs typeface="Cambria"/>
              </a:rPr>
              <a:t>);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400" y="3886200"/>
            <a:ext cx="1844675" cy="17240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------Parent-----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Display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Parent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spc="-5" dirty="0">
                <a:latin typeface="Arial MT"/>
                <a:cs typeface="Arial MT"/>
              </a:rPr>
              <a:t>------Child-----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Display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Child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90435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 </a:t>
            </a:r>
            <a:r>
              <a:rPr sz="2400" spc="275" dirty="0"/>
              <a:t>OVERRIDING</a:t>
            </a:r>
            <a:r>
              <a:rPr sz="2400" spc="325" dirty="0"/>
              <a:t> </a:t>
            </a:r>
            <a:r>
              <a:rPr sz="3000" dirty="0"/>
              <a:t>-</a:t>
            </a:r>
            <a:r>
              <a:rPr sz="3000" spc="175" dirty="0"/>
              <a:t> </a:t>
            </a:r>
            <a:r>
              <a:rPr sz="3000" spc="270" dirty="0"/>
              <a:t>E</a:t>
            </a:r>
            <a:r>
              <a:rPr sz="2400" spc="270" dirty="0"/>
              <a:t>XAMPLE</a:t>
            </a:r>
            <a:r>
              <a:rPr sz="3000" spc="270" dirty="0"/>
              <a:t>(</a:t>
            </a:r>
            <a:r>
              <a:rPr sz="2400" spc="270" dirty="0"/>
              <a:t>SUPER</a:t>
            </a:r>
            <a:endParaRPr sz="2400"/>
          </a:p>
          <a:p>
            <a:pPr marL="12700">
              <a:lnSpc>
                <a:spcPct val="100000"/>
              </a:lnSpc>
            </a:pPr>
            <a:r>
              <a:rPr sz="2400" spc="229" dirty="0"/>
              <a:t>KEYWORD</a:t>
            </a:r>
            <a:r>
              <a:rPr sz="3000" spc="229" dirty="0"/>
              <a:t>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4178300" cy="216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90" dirty="0">
                <a:latin typeface="Cambria"/>
                <a:cs typeface="Cambria"/>
              </a:rPr>
              <a:t>TestOverridding</a:t>
            </a:r>
            <a:r>
              <a:rPr sz="1400" b="1" spc="4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args)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 marR="133985">
              <a:lnSpc>
                <a:spcPct val="100000"/>
              </a:lnSpc>
              <a:spcBef>
                <a:spcPts val="10"/>
              </a:spcBef>
            </a:pPr>
            <a:r>
              <a:rPr sz="1400" spc="60" dirty="0">
                <a:latin typeface="Cambria"/>
                <a:cs typeface="Cambria"/>
              </a:rPr>
              <a:t>System.</a:t>
            </a:r>
            <a:r>
              <a:rPr sz="1400" b="1" i="1" spc="60" dirty="0">
                <a:latin typeface="Cambria"/>
                <a:cs typeface="Cambria"/>
              </a:rPr>
              <a:t>out.println("------Parent-----"); </a:t>
            </a:r>
            <a:r>
              <a:rPr sz="1400" b="1" i="1" spc="-295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Parent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p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Parent();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400" spc="25" dirty="0">
                <a:latin typeface="Cambria"/>
                <a:cs typeface="Cambria"/>
              </a:rPr>
              <a:t>p.display();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400" spc="75" dirty="0">
                <a:latin typeface="Cambria"/>
                <a:cs typeface="Cambria"/>
              </a:rPr>
              <a:t>System.</a:t>
            </a:r>
            <a:r>
              <a:rPr sz="1400" b="1" i="1" spc="75" dirty="0">
                <a:latin typeface="Cambria"/>
                <a:cs typeface="Cambria"/>
              </a:rPr>
              <a:t>out.println(“\n------Child-----");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85" dirty="0">
                <a:latin typeface="Cambria"/>
                <a:cs typeface="Cambria"/>
              </a:rPr>
              <a:t>Child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c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70" dirty="0">
                <a:latin typeface="Cambria"/>
                <a:cs typeface="Cambria"/>
              </a:rPr>
              <a:t>Child();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25" dirty="0">
                <a:latin typeface="Cambria"/>
                <a:cs typeface="Cambria"/>
              </a:rPr>
              <a:t>c.display();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64660"/>
            <a:ext cx="85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189933"/>
            <a:ext cx="4902835" cy="2375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45" dirty="0">
                <a:latin typeface="Cambria"/>
                <a:cs typeface="Cambria"/>
              </a:rPr>
              <a:t> </a:t>
            </a:r>
            <a:r>
              <a:rPr sz="1400" b="1" spc="105" dirty="0">
                <a:latin typeface="Cambria"/>
                <a:cs typeface="Cambria"/>
              </a:rPr>
              <a:t>Parent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60" dirty="0">
                <a:latin typeface="Cambria"/>
                <a:cs typeface="Cambria"/>
              </a:rPr>
              <a:t> display()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10"/>
              </a:spcBef>
            </a:pPr>
            <a:r>
              <a:rPr sz="1400" spc="85" dirty="0">
                <a:latin typeface="Cambria"/>
                <a:cs typeface="Cambria"/>
              </a:rPr>
              <a:t>System.</a:t>
            </a:r>
            <a:r>
              <a:rPr sz="1400" b="1" i="1" spc="85" dirty="0">
                <a:latin typeface="Cambria"/>
                <a:cs typeface="Cambria"/>
              </a:rPr>
              <a:t>out.println(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spc="100" dirty="0">
                <a:latin typeface="Cambria"/>
                <a:cs typeface="Cambria"/>
              </a:rPr>
              <a:t>"Display</a:t>
            </a:r>
            <a:r>
              <a:rPr sz="1400" b="1" i="1" spc="95" dirty="0">
                <a:latin typeface="Cambria"/>
                <a:cs typeface="Cambria"/>
              </a:rPr>
              <a:t> </a:t>
            </a:r>
            <a:r>
              <a:rPr sz="1400" b="1" i="1" spc="130" dirty="0">
                <a:latin typeface="Cambria"/>
                <a:cs typeface="Cambria"/>
              </a:rPr>
              <a:t>in</a:t>
            </a:r>
            <a:r>
              <a:rPr sz="1400" b="1" i="1" spc="90" dirty="0">
                <a:latin typeface="Cambria"/>
                <a:cs typeface="Cambria"/>
              </a:rPr>
              <a:t> Parent"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20" dirty="0">
                <a:latin typeface="Cambria"/>
                <a:cs typeface="Cambria"/>
              </a:rPr>
              <a:t>);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50" dirty="0">
                <a:latin typeface="Cambria"/>
                <a:cs typeface="Cambria"/>
              </a:rPr>
              <a:t> </a:t>
            </a:r>
            <a:r>
              <a:rPr sz="1400" b="1" spc="125" dirty="0">
                <a:latin typeface="Cambria"/>
                <a:cs typeface="Cambria"/>
              </a:rPr>
              <a:t>Child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extends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110" dirty="0">
                <a:latin typeface="Cambria"/>
                <a:cs typeface="Cambria"/>
              </a:rPr>
              <a:t>Parent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60" dirty="0">
                <a:latin typeface="Cambria"/>
                <a:cs typeface="Cambria"/>
              </a:rPr>
              <a:t>display()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652780" marR="5080">
              <a:lnSpc>
                <a:spcPct val="100000"/>
              </a:lnSpc>
            </a:pPr>
            <a:r>
              <a:rPr sz="1400" b="1" spc="55" dirty="0">
                <a:latin typeface="Cambria"/>
                <a:cs typeface="Cambria"/>
              </a:rPr>
              <a:t>s</a:t>
            </a:r>
            <a:r>
              <a:rPr sz="1400" b="1" spc="90" dirty="0">
                <a:latin typeface="Cambria"/>
                <a:cs typeface="Cambria"/>
              </a:rPr>
              <a:t>uper</a:t>
            </a:r>
            <a:r>
              <a:rPr sz="1400" b="1" spc="45" dirty="0">
                <a:latin typeface="Cambria"/>
                <a:cs typeface="Cambria"/>
              </a:rPr>
              <a:t>.</a:t>
            </a:r>
            <a:r>
              <a:rPr sz="1400" spc="40" dirty="0">
                <a:latin typeface="Cambria"/>
                <a:cs typeface="Cambria"/>
              </a:rPr>
              <a:t>disp</a:t>
            </a:r>
            <a:r>
              <a:rPr sz="1400" spc="10" dirty="0">
                <a:latin typeface="Cambria"/>
                <a:cs typeface="Cambria"/>
              </a:rPr>
              <a:t>l</a:t>
            </a:r>
            <a:r>
              <a:rPr sz="1400" spc="65" dirty="0">
                <a:latin typeface="Cambria"/>
                <a:cs typeface="Cambria"/>
              </a:rPr>
              <a:t>a</a:t>
            </a:r>
            <a:r>
              <a:rPr sz="1400" spc="70" dirty="0">
                <a:latin typeface="Cambria"/>
                <a:cs typeface="Cambria"/>
              </a:rPr>
              <a:t>y</a:t>
            </a:r>
            <a:r>
              <a:rPr sz="1400" b="1" spc="-40" dirty="0">
                <a:latin typeface="Cambria"/>
                <a:cs typeface="Cambria"/>
              </a:rPr>
              <a:t>(</a:t>
            </a:r>
            <a:r>
              <a:rPr sz="1400" b="1" spc="-30" dirty="0">
                <a:latin typeface="Cambria"/>
                <a:cs typeface="Cambria"/>
              </a:rPr>
              <a:t>)</a:t>
            </a:r>
            <a:r>
              <a:rPr sz="1400" b="1" spc="-5" dirty="0">
                <a:latin typeface="Cambria"/>
                <a:cs typeface="Cambria"/>
              </a:rPr>
              <a:t>;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invoke 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15" dirty="0">
                <a:latin typeface="Cambria"/>
                <a:cs typeface="Cambria"/>
              </a:rPr>
              <a:t>e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paren</a:t>
            </a:r>
            <a:r>
              <a:rPr sz="1400" spc="40" dirty="0">
                <a:latin typeface="Cambria"/>
                <a:cs typeface="Cambria"/>
              </a:rPr>
              <a:t>t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class’s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h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15" dirty="0">
                <a:latin typeface="Cambria"/>
                <a:cs typeface="Cambria"/>
              </a:rPr>
              <a:t>d  </a:t>
            </a:r>
            <a:r>
              <a:rPr sz="1400" spc="85" dirty="0">
                <a:latin typeface="Cambria"/>
                <a:cs typeface="Cambria"/>
              </a:rPr>
              <a:t>System.</a:t>
            </a:r>
            <a:r>
              <a:rPr sz="1400" b="1" i="1" spc="85" dirty="0">
                <a:latin typeface="Cambria"/>
                <a:cs typeface="Cambria"/>
              </a:rPr>
              <a:t>out.println(</a:t>
            </a:r>
            <a:r>
              <a:rPr sz="1400" b="1" i="1" spc="50" dirty="0">
                <a:latin typeface="Cambria"/>
                <a:cs typeface="Cambria"/>
              </a:rPr>
              <a:t> </a:t>
            </a:r>
            <a:r>
              <a:rPr sz="1400" b="1" i="1" spc="100" dirty="0">
                <a:latin typeface="Cambria"/>
                <a:cs typeface="Cambria"/>
              </a:rPr>
              <a:t>"Display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130" dirty="0">
                <a:latin typeface="Cambria"/>
                <a:cs typeface="Cambria"/>
              </a:rPr>
              <a:t>in</a:t>
            </a:r>
            <a:r>
              <a:rPr sz="1400" b="1" i="1" spc="85" dirty="0">
                <a:latin typeface="Cambria"/>
                <a:cs typeface="Cambria"/>
              </a:rPr>
              <a:t> </a:t>
            </a:r>
            <a:r>
              <a:rPr sz="1400" b="1" i="1" spc="140" dirty="0">
                <a:latin typeface="Cambria"/>
                <a:cs typeface="Cambria"/>
              </a:rPr>
              <a:t>Child"</a:t>
            </a:r>
            <a:r>
              <a:rPr sz="1400" b="1" i="1" spc="85" dirty="0">
                <a:latin typeface="Cambria"/>
                <a:cs typeface="Cambria"/>
              </a:rPr>
              <a:t> </a:t>
            </a:r>
            <a:r>
              <a:rPr sz="1400" b="1" i="1" spc="20" dirty="0">
                <a:latin typeface="Cambria"/>
                <a:cs typeface="Cambria"/>
              </a:rPr>
              <a:t>);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400" y="3886136"/>
            <a:ext cx="1844675" cy="193865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------Parent-----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Display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Parent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------Child-----</a:t>
            </a:r>
            <a:endParaRPr sz="1400">
              <a:latin typeface="Arial MT"/>
              <a:cs typeface="Arial MT"/>
            </a:endParaRPr>
          </a:p>
          <a:p>
            <a:pPr marL="92075" marR="40132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Display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Parent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Display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Child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46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</a:t>
            </a:r>
            <a:r>
              <a:rPr sz="2400" spc="250" dirty="0"/>
              <a:t> </a:t>
            </a:r>
            <a:r>
              <a:rPr sz="2400" spc="290" dirty="0"/>
              <a:t>OVERLOADING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80909" cy="487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323850" indent="-273050">
              <a:lnSpc>
                <a:spcPct val="100099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35" dirty="0">
                <a:latin typeface="Cambria"/>
                <a:cs typeface="Cambria"/>
              </a:rPr>
              <a:t>Two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methods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same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same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60" dirty="0">
                <a:latin typeface="Cambria"/>
                <a:cs typeface="Cambria"/>
              </a:rPr>
              <a:t>name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different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signature</a:t>
            </a:r>
            <a:r>
              <a:rPr sz="2400" spc="155" dirty="0">
                <a:latin typeface="Cambria"/>
                <a:cs typeface="Cambria"/>
              </a:rPr>
              <a:t>.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This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 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called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overloading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called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overloaded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method.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signature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its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b="1" spc="140" dirty="0">
                <a:latin typeface="Cambria"/>
                <a:cs typeface="Cambria"/>
              </a:rPr>
              <a:t>name</a:t>
            </a:r>
            <a:r>
              <a:rPr sz="2100" b="1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b="1" spc="135" dirty="0">
                <a:latin typeface="Cambria"/>
                <a:cs typeface="Cambria"/>
              </a:rPr>
              <a:t>number</a:t>
            </a:r>
            <a:r>
              <a:rPr sz="2100" spc="135" dirty="0">
                <a:latin typeface="Cambria"/>
                <a:cs typeface="Cambria"/>
              </a:rPr>
              <a:t>,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b="1" spc="130" dirty="0">
                <a:latin typeface="Cambria"/>
                <a:cs typeface="Cambria"/>
              </a:rPr>
              <a:t>type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b="1" spc="110" dirty="0">
                <a:latin typeface="Cambria"/>
                <a:cs typeface="Cambria"/>
              </a:rPr>
              <a:t>order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its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parameters.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return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not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part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signature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65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Condition: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Methods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should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0" dirty="0">
                <a:latin typeface="Cambria"/>
                <a:cs typeface="Cambria"/>
              </a:rPr>
              <a:t>Same</a:t>
            </a:r>
            <a:r>
              <a:rPr sz="2100" spc="70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name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0" dirty="0">
                <a:latin typeface="Cambria"/>
                <a:cs typeface="Cambria"/>
              </a:rPr>
              <a:t>Must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have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different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argument.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Return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could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different.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468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</a:t>
            </a:r>
            <a:r>
              <a:rPr sz="2400" spc="250" dirty="0"/>
              <a:t> </a:t>
            </a:r>
            <a:r>
              <a:rPr sz="2400" spc="290" dirty="0"/>
              <a:t>OVERLOADING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869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This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called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static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binding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because,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which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invoked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decided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time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compilation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010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M</a:t>
            </a:r>
            <a:r>
              <a:rPr sz="2400" spc="305" dirty="0"/>
              <a:t>ETHOD</a:t>
            </a:r>
            <a:r>
              <a:rPr sz="2400" spc="290" dirty="0"/>
              <a:t> OVERLOADING</a:t>
            </a:r>
            <a:r>
              <a:rPr sz="2400" spc="295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4098290" cy="1321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2172970" indent="-367665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OverloadDemo </a:t>
            </a:r>
            <a:r>
              <a:rPr sz="1500" spc="-85" dirty="0">
                <a:latin typeface="Cambria"/>
                <a:cs typeface="Cambria"/>
              </a:rPr>
              <a:t>{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test()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500" spc="55" dirty="0">
                <a:latin typeface="Cambria"/>
                <a:cs typeface="Cambria"/>
              </a:rPr>
              <a:t>System.out.println("No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parameters");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379730" marR="5080">
              <a:lnSpc>
                <a:spcPct val="100000"/>
              </a:lnSpc>
              <a:spcBef>
                <a:spcPts val="1200"/>
              </a:spcBef>
            </a:pP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30" dirty="0">
                <a:latin typeface="Cambria"/>
                <a:cs typeface="Cambria"/>
              </a:rPr>
              <a:t>O</a:t>
            </a:r>
            <a:r>
              <a:rPr sz="1500" spc="95" dirty="0">
                <a:latin typeface="Cambria"/>
                <a:cs typeface="Cambria"/>
              </a:rPr>
              <a:t>v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60" dirty="0">
                <a:latin typeface="Cambria"/>
                <a:cs typeface="Cambria"/>
              </a:rPr>
              <a:t>l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25" dirty="0">
                <a:latin typeface="Cambria"/>
                <a:cs typeface="Cambria"/>
              </a:rPr>
              <a:t>d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60" dirty="0">
                <a:latin typeface="Cambria"/>
                <a:cs typeface="Cambria"/>
              </a:rPr>
              <a:t>st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f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45" dirty="0">
                <a:latin typeface="Cambria"/>
                <a:cs typeface="Cambria"/>
              </a:rPr>
              <a:t>r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i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35" dirty="0">
                <a:latin typeface="Cambria"/>
                <a:cs typeface="Cambria"/>
              </a:rPr>
              <a:t>g</a:t>
            </a:r>
            <a:r>
              <a:rPr sz="1500" spc="40" dirty="0">
                <a:latin typeface="Cambria"/>
                <a:cs typeface="Cambria"/>
              </a:rPr>
              <a:t>e</a:t>
            </a:r>
            <a:r>
              <a:rPr sz="1500" spc="45" dirty="0">
                <a:latin typeface="Cambria"/>
                <a:cs typeface="Cambria"/>
              </a:rPr>
              <a:t>r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</a:t>
            </a:r>
            <a:r>
              <a:rPr sz="1500" spc="65" dirty="0">
                <a:latin typeface="Cambria"/>
                <a:cs typeface="Cambria"/>
              </a:rPr>
              <a:t>a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m</a:t>
            </a:r>
            <a:r>
              <a:rPr sz="1500" spc="35" dirty="0">
                <a:latin typeface="Cambria"/>
                <a:cs typeface="Cambria"/>
              </a:rPr>
              <a:t>e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110" dirty="0">
                <a:latin typeface="Cambria"/>
                <a:cs typeface="Cambria"/>
              </a:rPr>
              <a:t>. 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test(int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a)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2926156"/>
            <a:ext cx="3461385" cy="1329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100"/>
              </a:spcBef>
            </a:pPr>
            <a:r>
              <a:rPr sz="1500" spc="55" dirty="0">
                <a:latin typeface="Cambria"/>
                <a:cs typeface="Cambria"/>
              </a:rPr>
              <a:t>System.out.println("a: </a:t>
            </a:r>
            <a:r>
              <a:rPr sz="1500" spc="-5" dirty="0">
                <a:latin typeface="Cambria"/>
                <a:cs typeface="Cambria"/>
              </a:rPr>
              <a:t>"</a:t>
            </a:r>
            <a:r>
              <a:rPr sz="1500" spc="75" dirty="0">
                <a:latin typeface="Cambria"/>
                <a:cs typeface="Cambria"/>
              </a:rPr>
              <a:t> + </a:t>
            </a:r>
            <a:r>
              <a:rPr sz="1500" spc="15" dirty="0">
                <a:latin typeface="Cambria"/>
                <a:cs typeface="Cambria"/>
              </a:rPr>
              <a:t>a);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 marR="33020">
              <a:lnSpc>
                <a:spcPct val="100000"/>
              </a:lnSpc>
              <a:spcBef>
                <a:spcPts val="1260"/>
              </a:spcBef>
            </a:pP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30" dirty="0">
                <a:latin typeface="Cambria"/>
                <a:cs typeface="Cambria"/>
              </a:rPr>
              <a:t>O</a:t>
            </a:r>
            <a:r>
              <a:rPr sz="1500" spc="95" dirty="0">
                <a:latin typeface="Cambria"/>
                <a:cs typeface="Cambria"/>
              </a:rPr>
              <a:t>v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60" dirty="0">
                <a:latin typeface="Cambria"/>
                <a:cs typeface="Cambria"/>
              </a:rPr>
              <a:t>l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25" dirty="0">
                <a:latin typeface="Cambria"/>
                <a:cs typeface="Cambria"/>
              </a:rPr>
              <a:t>d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60" dirty="0">
                <a:latin typeface="Cambria"/>
                <a:cs typeface="Cambria"/>
              </a:rPr>
              <a:t>st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f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45" dirty="0">
                <a:latin typeface="Cambria"/>
                <a:cs typeface="Cambria"/>
              </a:rPr>
              <a:t>r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d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80" dirty="0">
                <a:latin typeface="Cambria"/>
                <a:cs typeface="Cambria"/>
              </a:rPr>
              <a:t>u</a:t>
            </a:r>
            <a:r>
              <a:rPr sz="1500" spc="10" dirty="0">
                <a:latin typeface="Cambria"/>
                <a:cs typeface="Cambria"/>
              </a:rPr>
              <a:t>b</a:t>
            </a:r>
            <a:r>
              <a:rPr sz="1500" spc="60" dirty="0">
                <a:latin typeface="Cambria"/>
                <a:cs typeface="Cambria"/>
              </a:rPr>
              <a:t>l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</a:t>
            </a:r>
            <a:r>
              <a:rPr sz="1500" spc="65" dirty="0">
                <a:latin typeface="Cambria"/>
                <a:cs typeface="Cambria"/>
              </a:rPr>
              <a:t>a</a:t>
            </a:r>
            <a:r>
              <a:rPr sz="1500" spc="35" dirty="0">
                <a:latin typeface="Cambria"/>
                <a:cs typeface="Cambria"/>
              </a:rPr>
              <a:t>r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m</a:t>
            </a:r>
            <a:r>
              <a:rPr sz="1500" spc="35" dirty="0">
                <a:latin typeface="Cambria"/>
                <a:cs typeface="Cambria"/>
              </a:rPr>
              <a:t>e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30" dirty="0">
                <a:latin typeface="Cambria"/>
                <a:cs typeface="Cambria"/>
              </a:rPr>
              <a:t>r  </a:t>
            </a:r>
            <a:r>
              <a:rPr sz="1500" spc="25" dirty="0">
                <a:latin typeface="Cambria"/>
                <a:cs typeface="Cambria"/>
              </a:rPr>
              <a:t>double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test(double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a)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285750" marR="5080">
              <a:lnSpc>
                <a:spcPct val="100000"/>
              </a:lnSpc>
            </a:pPr>
            <a:r>
              <a:rPr sz="1500" spc="45" dirty="0">
                <a:latin typeface="Cambria"/>
                <a:cs typeface="Cambria"/>
              </a:rPr>
              <a:t>System.out.println("double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a: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"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+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a);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return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a*a;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229557"/>
            <a:ext cx="572643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Overload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>
              <a:latin typeface="Cambria"/>
              <a:cs typeface="Cambria"/>
            </a:endParaRPr>
          </a:p>
          <a:p>
            <a:pPr marL="744220" marR="1286510" indent="-364490">
              <a:lnSpc>
                <a:spcPct val="100000"/>
              </a:lnSpc>
            </a:pP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static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main(String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args[])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 </a:t>
            </a:r>
            <a:r>
              <a:rPr sz="1500" spc="-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OverloadDemo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15" dirty="0">
                <a:latin typeface="Cambria"/>
                <a:cs typeface="Cambria"/>
              </a:rPr>
              <a:t>ob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new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OverloadDemo();</a:t>
            </a:r>
            <a:endParaRPr sz="15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c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l</a:t>
            </a:r>
            <a:r>
              <a:rPr sz="1500" spc="65" dirty="0">
                <a:latin typeface="Cambria"/>
                <a:cs typeface="Cambria"/>
              </a:rPr>
              <a:t>l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0" dirty="0">
                <a:latin typeface="Cambria"/>
                <a:cs typeface="Cambria"/>
              </a:rPr>
              <a:t>l</a:t>
            </a:r>
            <a:r>
              <a:rPr sz="1500" spc="65" dirty="0">
                <a:latin typeface="Cambria"/>
                <a:cs typeface="Cambria"/>
              </a:rPr>
              <a:t>l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v</a:t>
            </a:r>
            <a:r>
              <a:rPr sz="1500" spc="35" dirty="0">
                <a:latin typeface="Cambria"/>
                <a:cs typeface="Cambria"/>
              </a:rPr>
              <a:t>ersions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-45" dirty="0">
                <a:latin typeface="Cambria"/>
                <a:cs typeface="Cambria"/>
              </a:rPr>
              <a:t>o</a:t>
            </a:r>
            <a:r>
              <a:rPr sz="1500" spc="45" dirty="0">
                <a:latin typeface="Cambria"/>
                <a:cs typeface="Cambria"/>
              </a:rPr>
              <a:t>f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60" dirty="0">
                <a:latin typeface="Cambria"/>
                <a:cs typeface="Cambria"/>
              </a:rPr>
              <a:t>st</a:t>
            </a:r>
            <a:r>
              <a:rPr sz="1500" spc="-75" dirty="0">
                <a:latin typeface="Cambria"/>
                <a:cs typeface="Cambria"/>
              </a:rPr>
              <a:t>()</a:t>
            </a:r>
            <a:endParaRPr sz="15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500" spc="15" dirty="0">
                <a:latin typeface="Cambria"/>
                <a:cs typeface="Cambria"/>
              </a:rPr>
              <a:t>ob.test();</a:t>
            </a:r>
            <a:endParaRPr sz="15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500" spc="15" dirty="0">
                <a:latin typeface="Cambria"/>
                <a:cs typeface="Cambria"/>
              </a:rPr>
              <a:t>ob.test(10);</a:t>
            </a:r>
            <a:endParaRPr sz="1500">
              <a:latin typeface="Cambria"/>
              <a:cs typeface="Cambria"/>
            </a:endParaRPr>
          </a:p>
          <a:p>
            <a:pPr marL="744220" marR="5080">
              <a:lnSpc>
                <a:spcPct val="100000"/>
              </a:lnSpc>
            </a:pPr>
            <a:r>
              <a:rPr sz="1500" spc="25" dirty="0">
                <a:latin typeface="Cambria"/>
                <a:cs typeface="Cambria"/>
              </a:rPr>
              <a:t>double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result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ob.test(123.25); </a:t>
            </a:r>
            <a:r>
              <a:rPr sz="1500" spc="2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System.out.println("Result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of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ob.test(123.25):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"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+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result);</a:t>
            </a:r>
            <a:endParaRPr sz="15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0200" y="3048063"/>
            <a:ext cx="3187700" cy="12306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 marR="191198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No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parameters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a: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double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a: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123.25</a:t>
            </a:r>
            <a:endParaRPr sz="14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Result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5" dirty="0">
                <a:latin typeface="Arial MT"/>
                <a:cs typeface="Arial MT"/>
              </a:rPr>
              <a:t> ob.test(123.25):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15190.5625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0977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z="2400" spc="300" dirty="0"/>
              <a:t>ONSTRUCTOR</a:t>
            </a:r>
            <a:r>
              <a:rPr sz="2400" spc="270" dirty="0"/>
              <a:t> </a:t>
            </a:r>
            <a:r>
              <a:rPr sz="3000" spc="295" dirty="0"/>
              <a:t>O</a:t>
            </a:r>
            <a:r>
              <a:rPr sz="2400" spc="295" dirty="0"/>
              <a:t>VERLOADING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42480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addition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overloading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normal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methods,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also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overload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constructor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methods.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fact,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most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real-world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classes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you 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create,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overloaded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constructors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norm,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exception.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063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z="2400" spc="300" dirty="0"/>
              <a:t>ONSTRUCTOR </a:t>
            </a:r>
            <a:r>
              <a:rPr sz="3000" spc="295" dirty="0"/>
              <a:t>O</a:t>
            </a:r>
            <a:r>
              <a:rPr sz="2400" spc="295" dirty="0"/>
              <a:t>VERLOADING</a:t>
            </a:r>
            <a:r>
              <a:rPr sz="2400" spc="320" dirty="0"/>
              <a:t> </a:t>
            </a:r>
            <a:r>
              <a:rPr sz="3000" dirty="0"/>
              <a:t>-</a:t>
            </a:r>
            <a:r>
              <a:rPr sz="3000" spc="170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pc="90" dirty="0"/>
              <a:t>public</a:t>
            </a:r>
            <a:r>
              <a:rPr spc="70" dirty="0"/>
              <a:t> </a:t>
            </a:r>
            <a:r>
              <a:rPr spc="75" dirty="0"/>
              <a:t>class</a:t>
            </a:r>
            <a:r>
              <a:rPr spc="55" dirty="0"/>
              <a:t> </a:t>
            </a:r>
            <a:r>
              <a:rPr spc="114" dirty="0"/>
              <a:t>Box</a:t>
            </a:r>
            <a:r>
              <a:rPr spc="60" dirty="0"/>
              <a:t> </a:t>
            </a:r>
            <a:r>
              <a:rPr spc="-5" dirty="0"/>
              <a:t>{</a:t>
            </a:r>
          </a:p>
          <a:p>
            <a:pPr marL="379730" algn="just">
              <a:lnSpc>
                <a:spcPct val="100000"/>
              </a:lnSpc>
            </a:pPr>
            <a:r>
              <a:rPr spc="75" dirty="0"/>
              <a:t>double</a:t>
            </a:r>
            <a:r>
              <a:rPr spc="70" dirty="0"/>
              <a:t> </a:t>
            </a:r>
            <a:r>
              <a:rPr spc="90" dirty="0"/>
              <a:t>width,</a:t>
            </a:r>
            <a:r>
              <a:rPr spc="80" dirty="0"/>
              <a:t> </a:t>
            </a:r>
            <a:r>
              <a:rPr spc="90" dirty="0"/>
              <a:t>height,</a:t>
            </a:r>
            <a:r>
              <a:rPr spc="75" dirty="0"/>
              <a:t> depth;</a:t>
            </a:r>
          </a:p>
          <a:p>
            <a:pPr marL="379730" marR="5080" algn="just">
              <a:lnSpc>
                <a:spcPct val="100000"/>
              </a:lnSpc>
              <a:spcBef>
                <a:spcPts val="10"/>
              </a:spcBef>
            </a:pPr>
            <a:r>
              <a:rPr b="0" spc="-300" dirty="0">
                <a:latin typeface="Cambria"/>
                <a:cs typeface="Cambria"/>
              </a:rPr>
              <a:t>//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30" dirty="0">
                <a:latin typeface="Cambria"/>
                <a:cs typeface="Cambria"/>
              </a:rPr>
              <a:t>constructor </a:t>
            </a:r>
            <a:r>
              <a:rPr b="0" spc="40" dirty="0">
                <a:latin typeface="Cambria"/>
                <a:cs typeface="Cambria"/>
              </a:rPr>
              <a:t>used when </a:t>
            </a:r>
            <a:r>
              <a:rPr b="0" spc="70" dirty="0">
                <a:latin typeface="Cambria"/>
                <a:cs typeface="Cambria"/>
              </a:rPr>
              <a:t>all </a:t>
            </a:r>
            <a:r>
              <a:rPr b="0" spc="40" dirty="0">
                <a:latin typeface="Cambria"/>
                <a:cs typeface="Cambria"/>
              </a:rPr>
              <a:t>dimensions </a:t>
            </a:r>
            <a:r>
              <a:rPr b="0" spc="30" dirty="0">
                <a:latin typeface="Cambria"/>
                <a:cs typeface="Cambria"/>
              </a:rPr>
              <a:t>specified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55" dirty="0">
                <a:latin typeface="Cambria"/>
                <a:cs typeface="Cambria"/>
              </a:rPr>
              <a:t>Box(</a:t>
            </a:r>
            <a:r>
              <a:rPr spc="55" dirty="0"/>
              <a:t>double</a:t>
            </a:r>
            <a:r>
              <a:rPr spc="65" dirty="0"/>
              <a:t> </a:t>
            </a:r>
            <a:r>
              <a:rPr spc="95" dirty="0"/>
              <a:t>w,</a:t>
            </a:r>
            <a:r>
              <a:rPr spc="80" dirty="0"/>
              <a:t> </a:t>
            </a:r>
            <a:r>
              <a:rPr spc="75" dirty="0"/>
              <a:t>double</a:t>
            </a:r>
            <a:r>
              <a:rPr spc="80" dirty="0"/>
              <a:t> </a:t>
            </a:r>
            <a:r>
              <a:rPr spc="90" dirty="0"/>
              <a:t>h, </a:t>
            </a:r>
            <a:r>
              <a:rPr spc="75" dirty="0"/>
              <a:t>double</a:t>
            </a:r>
            <a:r>
              <a:rPr spc="80" dirty="0"/>
              <a:t> </a:t>
            </a:r>
            <a:r>
              <a:rPr spc="35" dirty="0"/>
              <a:t>d)</a:t>
            </a:r>
            <a:r>
              <a:rPr spc="90" dirty="0"/>
              <a:t> </a:t>
            </a:r>
            <a:r>
              <a:rPr spc="-5" dirty="0"/>
              <a:t>{</a:t>
            </a:r>
          </a:p>
          <a:p>
            <a:pPr marL="744220" marR="2757805" algn="just">
              <a:lnSpc>
                <a:spcPct val="100000"/>
              </a:lnSpc>
              <a:spcBef>
                <a:spcPts val="5"/>
              </a:spcBef>
            </a:pPr>
            <a:r>
              <a:rPr b="0" spc="45" dirty="0">
                <a:latin typeface="Cambria"/>
                <a:cs typeface="Cambria"/>
              </a:rPr>
              <a:t>width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b="0" spc="10" dirty="0">
                <a:latin typeface="Cambria"/>
                <a:cs typeface="Cambria"/>
              </a:rPr>
              <a:t>w;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height</a:t>
            </a:r>
            <a:r>
              <a:rPr b="0" spc="1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35" dirty="0">
                <a:latin typeface="Cambria"/>
                <a:cs typeface="Cambria"/>
              </a:rPr>
              <a:t> </a:t>
            </a:r>
            <a:r>
              <a:rPr b="0" spc="45" dirty="0">
                <a:latin typeface="Cambria"/>
                <a:cs typeface="Cambria"/>
              </a:rPr>
              <a:t>h;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depth</a:t>
            </a:r>
            <a:r>
              <a:rPr b="0" spc="3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20" dirty="0">
                <a:latin typeface="Cambria"/>
                <a:cs typeface="Cambria"/>
              </a:rPr>
              <a:t>d;</a:t>
            </a:r>
          </a:p>
          <a:p>
            <a:pPr marL="379730">
              <a:lnSpc>
                <a:spcPct val="100000"/>
              </a:lnSpc>
            </a:pPr>
            <a:r>
              <a:rPr b="0" spc="-75" dirty="0">
                <a:latin typeface="Cambria"/>
                <a:cs typeface="Cambria"/>
              </a:rPr>
              <a:t>}</a:t>
            </a:r>
          </a:p>
          <a:p>
            <a:pPr marL="379730">
              <a:lnSpc>
                <a:spcPct val="100000"/>
              </a:lnSpc>
            </a:pPr>
            <a:r>
              <a:rPr b="0" spc="-300" dirty="0">
                <a:latin typeface="Cambria"/>
                <a:cs typeface="Cambria"/>
              </a:rPr>
              <a:t>//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-20" dirty="0">
                <a:latin typeface="Cambria"/>
                <a:cs typeface="Cambria"/>
              </a:rPr>
              <a:t>c</a:t>
            </a:r>
            <a:r>
              <a:rPr b="0" spc="-15" dirty="0">
                <a:latin typeface="Cambria"/>
                <a:cs typeface="Cambria"/>
              </a:rPr>
              <a:t>o</a:t>
            </a:r>
            <a:r>
              <a:rPr b="0" spc="65" dirty="0">
                <a:latin typeface="Cambria"/>
                <a:cs typeface="Cambria"/>
              </a:rPr>
              <a:t>n</a:t>
            </a:r>
            <a:r>
              <a:rPr b="0" spc="55" dirty="0">
                <a:latin typeface="Cambria"/>
                <a:cs typeface="Cambria"/>
              </a:rPr>
              <a:t>str</a:t>
            </a:r>
            <a:r>
              <a:rPr b="0" spc="70" dirty="0">
                <a:latin typeface="Cambria"/>
                <a:cs typeface="Cambria"/>
              </a:rPr>
              <a:t>u</a:t>
            </a:r>
            <a:r>
              <a:rPr b="0" spc="40" dirty="0">
                <a:latin typeface="Cambria"/>
                <a:cs typeface="Cambria"/>
              </a:rPr>
              <a:t>c</a:t>
            </a:r>
            <a:r>
              <a:rPr b="0" spc="35" dirty="0">
                <a:latin typeface="Cambria"/>
                <a:cs typeface="Cambria"/>
              </a:rPr>
              <a:t>t</a:t>
            </a:r>
            <a:r>
              <a:rPr b="0" spc="-45" dirty="0">
                <a:latin typeface="Cambria"/>
                <a:cs typeface="Cambria"/>
              </a:rPr>
              <a:t>o</a:t>
            </a:r>
            <a:r>
              <a:rPr b="0" spc="40" dirty="0">
                <a:latin typeface="Cambria"/>
                <a:cs typeface="Cambria"/>
              </a:rPr>
              <a:t>r</a:t>
            </a:r>
            <a:r>
              <a:rPr b="0" spc="60" dirty="0">
                <a:latin typeface="Cambria"/>
                <a:cs typeface="Cambria"/>
              </a:rPr>
              <a:t> </a:t>
            </a:r>
            <a:r>
              <a:rPr b="0" spc="70" dirty="0">
                <a:latin typeface="Cambria"/>
                <a:cs typeface="Cambria"/>
              </a:rPr>
              <a:t>u</a:t>
            </a:r>
            <a:r>
              <a:rPr b="0" spc="30" dirty="0">
                <a:latin typeface="Cambria"/>
                <a:cs typeface="Cambria"/>
              </a:rPr>
              <a:t>sed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w</a:t>
            </a:r>
            <a:r>
              <a:rPr b="0" spc="25" dirty="0">
                <a:latin typeface="Cambria"/>
                <a:cs typeface="Cambria"/>
              </a:rPr>
              <a:t>h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75" dirty="0">
                <a:latin typeface="Cambria"/>
                <a:cs typeface="Cambria"/>
              </a:rPr>
              <a:t>n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cu</a:t>
            </a:r>
            <a:r>
              <a:rPr b="0" spc="10" dirty="0">
                <a:latin typeface="Cambria"/>
                <a:cs typeface="Cambria"/>
              </a:rPr>
              <a:t>b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is</a:t>
            </a:r>
            <a:r>
              <a:rPr b="0" spc="75" dirty="0">
                <a:latin typeface="Cambria"/>
                <a:cs typeface="Cambria"/>
              </a:rPr>
              <a:t> </a:t>
            </a:r>
            <a:r>
              <a:rPr b="0" spc="20" dirty="0">
                <a:latin typeface="Cambria"/>
                <a:cs typeface="Cambria"/>
              </a:rPr>
              <a:t>cr</a:t>
            </a:r>
            <a:r>
              <a:rPr b="0" spc="30" dirty="0">
                <a:latin typeface="Cambria"/>
                <a:cs typeface="Cambria"/>
              </a:rPr>
              <a:t>e</a:t>
            </a:r>
            <a:r>
              <a:rPr b="0" spc="95" dirty="0">
                <a:latin typeface="Cambria"/>
                <a:cs typeface="Cambria"/>
              </a:rPr>
              <a:t>a</a:t>
            </a:r>
            <a:r>
              <a:rPr b="0" spc="65" dirty="0">
                <a:latin typeface="Cambria"/>
                <a:cs typeface="Cambria"/>
              </a:rPr>
              <a:t>t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25" dirty="0">
                <a:latin typeface="Cambria"/>
                <a:cs typeface="Cambria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224" y="3551301"/>
            <a:ext cx="5187950" cy="3056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105"/>
              </a:spcBef>
            </a:pPr>
            <a:r>
              <a:rPr sz="1400" spc="55" dirty="0">
                <a:latin typeface="Cambria"/>
                <a:cs typeface="Cambria"/>
              </a:rPr>
              <a:t>Box(</a:t>
            </a:r>
            <a:r>
              <a:rPr sz="1400" b="1" spc="55" dirty="0">
                <a:latin typeface="Cambria"/>
                <a:cs typeface="Cambria"/>
              </a:rPr>
              <a:t>double </a:t>
            </a:r>
            <a:r>
              <a:rPr sz="1400" b="1" spc="45" dirty="0">
                <a:latin typeface="Cambria"/>
                <a:cs typeface="Cambria"/>
              </a:rPr>
              <a:t>len)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35915">
              <a:lnSpc>
                <a:spcPts val="1675"/>
              </a:lnSpc>
            </a:pPr>
            <a:r>
              <a:rPr sz="1400" b="1" spc="100" dirty="0">
                <a:latin typeface="Cambria"/>
                <a:cs typeface="Cambria"/>
              </a:rPr>
              <a:t>width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=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height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=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depth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=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len;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co</a:t>
            </a:r>
            <a:r>
              <a:rPr sz="1400" spc="60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p</a:t>
            </a:r>
            <a:r>
              <a:rPr sz="1400" spc="75" dirty="0">
                <a:latin typeface="Cambria"/>
                <a:cs typeface="Cambria"/>
              </a:rPr>
              <a:t>u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20" dirty="0">
                <a:latin typeface="Cambria"/>
                <a:cs typeface="Cambria"/>
              </a:rPr>
              <a:t>e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an</a:t>
            </a:r>
            <a:r>
              <a:rPr sz="1400" spc="30" dirty="0">
                <a:latin typeface="Cambria"/>
                <a:cs typeface="Cambria"/>
              </a:rPr>
              <a:t>d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re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u</a:t>
            </a:r>
            <a:r>
              <a:rPr sz="1400" spc="60" dirty="0">
                <a:latin typeface="Cambria"/>
                <a:cs typeface="Cambria"/>
              </a:rPr>
              <a:t>rn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5" dirty="0">
                <a:latin typeface="Cambria"/>
                <a:cs typeface="Cambria"/>
              </a:rPr>
              <a:t>v</a:t>
            </a:r>
            <a:r>
              <a:rPr sz="1400" spc="5" dirty="0">
                <a:latin typeface="Cambria"/>
                <a:cs typeface="Cambria"/>
              </a:rPr>
              <a:t>o</a:t>
            </a:r>
            <a:r>
              <a:rPr sz="1400" spc="45" dirty="0">
                <a:latin typeface="Cambria"/>
                <a:cs typeface="Cambria"/>
              </a:rPr>
              <a:t>l</a:t>
            </a:r>
            <a:r>
              <a:rPr sz="1400" spc="85" dirty="0">
                <a:latin typeface="Cambria"/>
                <a:cs typeface="Cambria"/>
              </a:rPr>
              <a:t>u</a:t>
            </a:r>
            <a:r>
              <a:rPr sz="1400" spc="45" dirty="0">
                <a:latin typeface="Cambria"/>
                <a:cs typeface="Cambria"/>
              </a:rPr>
              <a:t>me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b="1" spc="75" dirty="0">
                <a:latin typeface="Cambria"/>
                <a:cs typeface="Cambria"/>
              </a:rPr>
              <a:t>double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volume()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5"/>
              </a:spcBef>
            </a:pPr>
            <a:r>
              <a:rPr sz="1400" b="1" spc="85" dirty="0">
                <a:latin typeface="Cambria"/>
                <a:cs typeface="Cambria"/>
              </a:rPr>
              <a:t>return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width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*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height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*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depth;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55" dirty="0">
                <a:latin typeface="Cambria"/>
                <a:cs typeface="Cambria"/>
              </a:rPr>
              <a:t>args){</a:t>
            </a:r>
            <a:endParaRPr sz="1400">
              <a:latin typeface="Cambria"/>
              <a:cs typeface="Cambria"/>
            </a:endParaRPr>
          </a:p>
          <a:p>
            <a:pPr marL="376555" marR="225425">
              <a:lnSpc>
                <a:spcPct val="120100"/>
              </a:lnSpc>
              <a:spcBef>
                <a:spcPts val="10"/>
              </a:spcBef>
            </a:pPr>
            <a:r>
              <a:rPr sz="1400" spc="60" dirty="0">
                <a:latin typeface="Cambria"/>
                <a:cs typeface="Cambria"/>
              </a:rPr>
              <a:t>Box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45" dirty="0">
                <a:latin typeface="Cambria"/>
                <a:cs typeface="Cambria"/>
              </a:rPr>
              <a:t>Box(10,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15" dirty="0">
                <a:latin typeface="Cambria"/>
                <a:cs typeface="Cambria"/>
              </a:rPr>
              <a:t>8,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25" dirty="0">
                <a:latin typeface="Cambria"/>
                <a:cs typeface="Cambria"/>
              </a:rPr>
              <a:t>5); 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out.println("Volume</a:t>
            </a:r>
            <a:r>
              <a:rPr sz="1400" b="1" i="1" spc="35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of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Box: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85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75" dirty="0">
                <a:latin typeface="Cambria"/>
                <a:cs typeface="Cambria"/>
              </a:rPr>
              <a:t> </a:t>
            </a:r>
            <a:r>
              <a:rPr sz="1400" b="1" i="1" spc="60" dirty="0">
                <a:latin typeface="Cambria"/>
                <a:cs typeface="Cambria"/>
              </a:rPr>
              <a:t>b.volume()); </a:t>
            </a:r>
            <a:r>
              <a:rPr sz="1400" b="1" i="1" spc="-29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Box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b1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35" dirty="0">
                <a:latin typeface="Cambria"/>
                <a:cs typeface="Cambria"/>
              </a:rPr>
              <a:t>Box(5);</a:t>
            </a:r>
            <a:endParaRPr sz="14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  <a:spcBef>
                <a:spcPts val="335"/>
              </a:spcBef>
            </a:pP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out.println("Volume</a:t>
            </a:r>
            <a:r>
              <a:rPr sz="1400" b="1" i="1" spc="40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of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105" dirty="0">
                <a:latin typeface="Cambria"/>
                <a:cs typeface="Cambria"/>
              </a:rPr>
              <a:t>Cube:</a:t>
            </a:r>
            <a:r>
              <a:rPr sz="1400" b="1" i="1" spc="65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75" dirty="0">
                <a:latin typeface="Cambria"/>
                <a:cs typeface="Cambria"/>
              </a:rPr>
              <a:t> </a:t>
            </a:r>
            <a:r>
              <a:rPr sz="1400" b="1" i="1" spc="55" dirty="0">
                <a:latin typeface="Cambria"/>
                <a:cs typeface="Cambria"/>
              </a:rPr>
              <a:t>b1.volume());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6581647"/>
            <a:ext cx="85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4801" y="3657536"/>
            <a:ext cx="2272030" cy="8623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Arial MT"/>
                <a:cs typeface="Arial MT"/>
              </a:rPr>
              <a:t>Volume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Box: 400.0</a:t>
            </a:r>
            <a:endParaRPr sz="16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Arial MT"/>
                <a:cs typeface="Arial MT"/>
              </a:rPr>
              <a:t>Volume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Cube: 125.0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8242"/>
            <a:ext cx="7759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75" dirty="0"/>
              <a:t>I</a:t>
            </a:r>
            <a:r>
              <a:rPr spc="275" dirty="0"/>
              <a:t>NVOKING</a:t>
            </a:r>
            <a:r>
              <a:rPr spc="245" dirty="0"/>
              <a:t> </a:t>
            </a:r>
            <a:r>
              <a:rPr sz="2800" spc="270" dirty="0"/>
              <a:t>O</a:t>
            </a:r>
            <a:r>
              <a:rPr spc="270" dirty="0"/>
              <a:t>VERLOADED</a:t>
            </a:r>
            <a:r>
              <a:rPr spc="235" dirty="0"/>
              <a:t> </a:t>
            </a:r>
            <a:r>
              <a:rPr sz="2800" spc="280" dirty="0"/>
              <a:t>C</a:t>
            </a:r>
            <a:r>
              <a:rPr spc="280" dirty="0"/>
              <a:t>ONSTRUCTORS</a:t>
            </a:r>
            <a:r>
              <a:rPr spc="254" dirty="0"/>
              <a:t> </a:t>
            </a:r>
            <a:r>
              <a:rPr sz="2800" spc="135" dirty="0"/>
              <a:t>-</a:t>
            </a:r>
            <a:r>
              <a:rPr spc="135" dirty="0"/>
              <a:t>THIS</a:t>
            </a:r>
            <a:r>
              <a:rPr sz="2800" spc="135" dirty="0"/>
              <a:t>(</a:t>
            </a:r>
            <a:r>
              <a:rPr sz="2800" spc="160" dirty="0"/>
              <a:t> </a:t>
            </a:r>
            <a:r>
              <a:rPr sz="2800" spc="-140" dirty="0"/>
              <a:t>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47255" cy="454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Sometimes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useful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constructor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5" dirty="0">
                <a:latin typeface="Cambria"/>
                <a:cs typeface="Cambria"/>
              </a:rPr>
              <a:t>invoke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another.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this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accomplished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using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b="1" spc="125" dirty="0">
                <a:latin typeface="Cambria"/>
                <a:cs typeface="Cambria"/>
              </a:rPr>
              <a:t>this</a:t>
            </a:r>
            <a:r>
              <a:rPr sz="2100" b="1" spc="130" dirty="0">
                <a:latin typeface="Cambria"/>
                <a:cs typeface="Cambria"/>
              </a:rPr>
              <a:t> keyword.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general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form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45" dirty="0">
                <a:latin typeface="Cambria"/>
                <a:cs typeface="Cambria"/>
              </a:rPr>
              <a:t>this(</a:t>
            </a:r>
            <a:r>
              <a:rPr sz="1800" i="1" spc="45" dirty="0">
                <a:latin typeface="Cambria"/>
                <a:cs typeface="Cambria"/>
              </a:rPr>
              <a:t>arg-list)</a:t>
            </a:r>
            <a:endParaRPr sz="18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When </a:t>
            </a:r>
            <a:r>
              <a:rPr sz="2400" b="1" spc="105" dirty="0">
                <a:latin typeface="Cambria"/>
                <a:cs typeface="Cambria"/>
              </a:rPr>
              <a:t>this( </a:t>
            </a:r>
            <a:r>
              <a:rPr sz="2400" b="1" spc="-50" dirty="0">
                <a:latin typeface="Cambria"/>
                <a:cs typeface="Cambria"/>
              </a:rPr>
              <a:t>)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is </a:t>
            </a:r>
            <a:r>
              <a:rPr sz="2400" b="1" spc="145" dirty="0">
                <a:latin typeface="Cambria"/>
                <a:cs typeface="Cambria"/>
              </a:rPr>
              <a:t>executed, </a:t>
            </a:r>
            <a:r>
              <a:rPr sz="2400" b="1" spc="150" dirty="0">
                <a:latin typeface="Cambria"/>
                <a:cs typeface="Cambria"/>
              </a:rPr>
              <a:t>the </a:t>
            </a:r>
            <a:r>
              <a:rPr sz="2400" b="1" spc="130" dirty="0">
                <a:latin typeface="Cambria"/>
                <a:cs typeface="Cambria"/>
              </a:rPr>
              <a:t>overloaded 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constructor</a:t>
            </a:r>
            <a:r>
              <a:rPr sz="2400" b="1" spc="185" dirty="0">
                <a:latin typeface="Cambria"/>
                <a:cs typeface="Cambria"/>
              </a:rPr>
              <a:t> </a:t>
            </a:r>
            <a:r>
              <a:rPr sz="2400" b="1" spc="170" dirty="0">
                <a:latin typeface="Cambria"/>
                <a:cs typeface="Cambria"/>
              </a:rPr>
              <a:t>that </a:t>
            </a:r>
            <a:r>
              <a:rPr sz="2400" b="1" spc="160" dirty="0">
                <a:latin typeface="Cambria"/>
                <a:cs typeface="Cambria"/>
              </a:rPr>
              <a:t>matches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the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parameter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list </a:t>
            </a: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specified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i="1" spc="90" dirty="0">
                <a:latin typeface="Cambria"/>
                <a:cs typeface="Cambria"/>
              </a:rPr>
              <a:t>arg-list</a:t>
            </a:r>
            <a:r>
              <a:rPr sz="2400" i="1" spc="114" dirty="0">
                <a:latin typeface="Cambria"/>
                <a:cs typeface="Cambria"/>
              </a:rPr>
              <a:t> </a:t>
            </a:r>
            <a:r>
              <a:rPr sz="2400" i="1" spc="145" dirty="0">
                <a:latin typeface="Cambria"/>
                <a:cs typeface="Cambria"/>
              </a:rPr>
              <a:t>is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i="1" spc="70" dirty="0">
                <a:latin typeface="Cambria"/>
                <a:cs typeface="Cambria"/>
              </a:rPr>
              <a:t>executed.</a:t>
            </a:r>
            <a:endParaRPr sz="2400">
              <a:latin typeface="Cambria"/>
              <a:cs typeface="Cambria"/>
            </a:endParaRPr>
          </a:p>
          <a:p>
            <a:pPr marL="285115" marR="10223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call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b="1" spc="105" dirty="0">
                <a:latin typeface="Cambria"/>
                <a:cs typeface="Cambria"/>
              </a:rPr>
              <a:t>this(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-50" dirty="0">
                <a:latin typeface="Cambria"/>
                <a:cs typeface="Cambria"/>
              </a:rPr>
              <a:t>)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must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be</a:t>
            </a:r>
            <a:r>
              <a:rPr sz="2400" b="1" spc="14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the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first</a:t>
            </a:r>
            <a:r>
              <a:rPr sz="2400" b="1" spc="16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statement </a:t>
            </a: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within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constructor.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General </a:t>
            </a:r>
            <a:r>
              <a:rPr sz="2100" spc="65" dirty="0">
                <a:latin typeface="Cambria"/>
                <a:cs typeface="Cambria"/>
              </a:rPr>
              <a:t>rule: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Constructor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call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must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be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first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90" dirty="0">
                <a:latin typeface="Cambria"/>
                <a:cs typeface="Cambria"/>
              </a:rPr>
              <a:t>statement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constructor.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063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z="2400" spc="300" dirty="0"/>
              <a:t>ONSTRUCTOR </a:t>
            </a:r>
            <a:r>
              <a:rPr sz="3000" spc="295" dirty="0"/>
              <a:t>O</a:t>
            </a:r>
            <a:r>
              <a:rPr sz="2400" spc="295" dirty="0"/>
              <a:t>VERLOADING</a:t>
            </a:r>
            <a:r>
              <a:rPr sz="2400" spc="320" dirty="0"/>
              <a:t> </a:t>
            </a:r>
            <a:r>
              <a:rPr sz="3000" dirty="0"/>
              <a:t>-</a:t>
            </a:r>
            <a:r>
              <a:rPr sz="3000" spc="170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pc="90" dirty="0"/>
              <a:t>public</a:t>
            </a:r>
            <a:r>
              <a:rPr spc="70" dirty="0"/>
              <a:t> </a:t>
            </a:r>
            <a:r>
              <a:rPr spc="75" dirty="0"/>
              <a:t>class</a:t>
            </a:r>
            <a:r>
              <a:rPr spc="55" dirty="0"/>
              <a:t> </a:t>
            </a:r>
            <a:r>
              <a:rPr spc="114" dirty="0"/>
              <a:t>Box</a:t>
            </a:r>
            <a:r>
              <a:rPr spc="60" dirty="0"/>
              <a:t> </a:t>
            </a:r>
            <a:r>
              <a:rPr spc="-5" dirty="0"/>
              <a:t>{</a:t>
            </a:r>
          </a:p>
          <a:p>
            <a:pPr marL="379730" algn="just">
              <a:lnSpc>
                <a:spcPct val="100000"/>
              </a:lnSpc>
            </a:pPr>
            <a:r>
              <a:rPr spc="75" dirty="0"/>
              <a:t>double</a:t>
            </a:r>
            <a:r>
              <a:rPr spc="70" dirty="0"/>
              <a:t> </a:t>
            </a:r>
            <a:r>
              <a:rPr spc="90" dirty="0"/>
              <a:t>width,</a:t>
            </a:r>
            <a:r>
              <a:rPr spc="80" dirty="0"/>
              <a:t> </a:t>
            </a:r>
            <a:r>
              <a:rPr spc="90" dirty="0"/>
              <a:t>height,</a:t>
            </a:r>
            <a:r>
              <a:rPr spc="75" dirty="0"/>
              <a:t> depth;</a:t>
            </a:r>
          </a:p>
          <a:p>
            <a:pPr marL="379730" marR="5080" algn="just">
              <a:lnSpc>
                <a:spcPct val="100000"/>
              </a:lnSpc>
              <a:spcBef>
                <a:spcPts val="10"/>
              </a:spcBef>
            </a:pPr>
            <a:r>
              <a:rPr b="0" spc="-300" dirty="0">
                <a:latin typeface="Cambria"/>
                <a:cs typeface="Cambria"/>
              </a:rPr>
              <a:t>//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30" dirty="0">
                <a:latin typeface="Cambria"/>
                <a:cs typeface="Cambria"/>
              </a:rPr>
              <a:t>constructor </a:t>
            </a:r>
            <a:r>
              <a:rPr b="0" spc="40" dirty="0">
                <a:latin typeface="Cambria"/>
                <a:cs typeface="Cambria"/>
              </a:rPr>
              <a:t>used when </a:t>
            </a:r>
            <a:r>
              <a:rPr b="0" spc="70" dirty="0">
                <a:latin typeface="Cambria"/>
                <a:cs typeface="Cambria"/>
              </a:rPr>
              <a:t>all </a:t>
            </a:r>
            <a:r>
              <a:rPr b="0" spc="40" dirty="0">
                <a:latin typeface="Cambria"/>
                <a:cs typeface="Cambria"/>
              </a:rPr>
              <a:t>dimensions </a:t>
            </a:r>
            <a:r>
              <a:rPr b="0" spc="30" dirty="0">
                <a:latin typeface="Cambria"/>
                <a:cs typeface="Cambria"/>
              </a:rPr>
              <a:t>specified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55" dirty="0">
                <a:latin typeface="Cambria"/>
                <a:cs typeface="Cambria"/>
              </a:rPr>
              <a:t>Box(</a:t>
            </a:r>
            <a:r>
              <a:rPr spc="55" dirty="0"/>
              <a:t>double</a:t>
            </a:r>
            <a:r>
              <a:rPr spc="65" dirty="0"/>
              <a:t> </a:t>
            </a:r>
            <a:r>
              <a:rPr spc="95" dirty="0"/>
              <a:t>w,</a:t>
            </a:r>
            <a:r>
              <a:rPr spc="80" dirty="0"/>
              <a:t> </a:t>
            </a:r>
            <a:r>
              <a:rPr spc="75" dirty="0"/>
              <a:t>double</a:t>
            </a:r>
            <a:r>
              <a:rPr spc="80" dirty="0"/>
              <a:t> </a:t>
            </a:r>
            <a:r>
              <a:rPr spc="90" dirty="0"/>
              <a:t>h, </a:t>
            </a:r>
            <a:r>
              <a:rPr spc="75" dirty="0"/>
              <a:t>double</a:t>
            </a:r>
            <a:r>
              <a:rPr spc="80" dirty="0"/>
              <a:t> </a:t>
            </a:r>
            <a:r>
              <a:rPr spc="35" dirty="0"/>
              <a:t>d)</a:t>
            </a:r>
            <a:r>
              <a:rPr spc="90" dirty="0"/>
              <a:t> </a:t>
            </a:r>
            <a:r>
              <a:rPr spc="-5" dirty="0"/>
              <a:t>{</a:t>
            </a:r>
          </a:p>
          <a:p>
            <a:pPr marL="744220" marR="2757805" algn="just">
              <a:lnSpc>
                <a:spcPct val="100000"/>
              </a:lnSpc>
              <a:spcBef>
                <a:spcPts val="5"/>
              </a:spcBef>
            </a:pPr>
            <a:r>
              <a:rPr b="0" spc="45" dirty="0">
                <a:latin typeface="Cambria"/>
                <a:cs typeface="Cambria"/>
              </a:rPr>
              <a:t>width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b="0" spc="10" dirty="0">
                <a:latin typeface="Cambria"/>
                <a:cs typeface="Cambria"/>
              </a:rPr>
              <a:t>w;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height</a:t>
            </a:r>
            <a:r>
              <a:rPr b="0" spc="1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35" dirty="0">
                <a:latin typeface="Cambria"/>
                <a:cs typeface="Cambria"/>
              </a:rPr>
              <a:t> </a:t>
            </a:r>
            <a:r>
              <a:rPr b="0" spc="45" dirty="0">
                <a:latin typeface="Cambria"/>
                <a:cs typeface="Cambria"/>
              </a:rPr>
              <a:t>h;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depth</a:t>
            </a:r>
            <a:r>
              <a:rPr b="0" spc="3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20" dirty="0">
                <a:latin typeface="Cambria"/>
                <a:cs typeface="Cambria"/>
              </a:rPr>
              <a:t>d;</a:t>
            </a:r>
          </a:p>
          <a:p>
            <a:pPr marL="379730">
              <a:lnSpc>
                <a:spcPct val="100000"/>
              </a:lnSpc>
            </a:pPr>
            <a:r>
              <a:rPr b="0" spc="-75" dirty="0">
                <a:latin typeface="Cambria"/>
                <a:cs typeface="Cambria"/>
              </a:rPr>
              <a:t>}</a:t>
            </a:r>
          </a:p>
          <a:p>
            <a:pPr marL="379730">
              <a:lnSpc>
                <a:spcPct val="100000"/>
              </a:lnSpc>
            </a:pPr>
            <a:r>
              <a:rPr b="0" spc="-300" dirty="0">
                <a:latin typeface="Cambria"/>
                <a:cs typeface="Cambria"/>
              </a:rPr>
              <a:t>//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-20" dirty="0">
                <a:latin typeface="Cambria"/>
                <a:cs typeface="Cambria"/>
              </a:rPr>
              <a:t>c</a:t>
            </a:r>
            <a:r>
              <a:rPr b="0" spc="-15" dirty="0">
                <a:latin typeface="Cambria"/>
                <a:cs typeface="Cambria"/>
              </a:rPr>
              <a:t>o</a:t>
            </a:r>
            <a:r>
              <a:rPr b="0" spc="65" dirty="0">
                <a:latin typeface="Cambria"/>
                <a:cs typeface="Cambria"/>
              </a:rPr>
              <a:t>n</a:t>
            </a:r>
            <a:r>
              <a:rPr b="0" spc="55" dirty="0">
                <a:latin typeface="Cambria"/>
                <a:cs typeface="Cambria"/>
              </a:rPr>
              <a:t>str</a:t>
            </a:r>
            <a:r>
              <a:rPr b="0" spc="70" dirty="0">
                <a:latin typeface="Cambria"/>
                <a:cs typeface="Cambria"/>
              </a:rPr>
              <a:t>u</a:t>
            </a:r>
            <a:r>
              <a:rPr b="0" spc="40" dirty="0">
                <a:latin typeface="Cambria"/>
                <a:cs typeface="Cambria"/>
              </a:rPr>
              <a:t>c</a:t>
            </a:r>
            <a:r>
              <a:rPr b="0" spc="35" dirty="0">
                <a:latin typeface="Cambria"/>
                <a:cs typeface="Cambria"/>
              </a:rPr>
              <a:t>t</a:t>
            </a:r>
            <a:r>
              <a:rPr b="0" spc="-45" dirty="0">
                <a:latin typeface="Cambria"/>
                <a:cs typeface="Cambria"/>
              </a:rPr>
              <a:t>o</a:t>
            </a:r>
            <a:r>
              <a:rPr b="0" spc="40" dirty="0">
                <a:latin typeface="Cambria"/>
                <a:cs typeface="Cambria"/>
              </a:rPr>
              <a:t>r</a:t>
            </a:r>
            <a:r>
              <a:rPr b="0" spc="60" dirty="0">
                <a:latin typeface="Cambria"/>
                <a:cs typeface="Cambria"/>
              </a:rPr>
              <a:t> </a:t>
            </a:r>
            <a:r>
              <a:rPr b="0" spc="70" dirty="0">
                <a:latin typeface="Cambria"/>
                <a:cs typeface="Cambria"/>
              </a:rPr>
              <a:t>u</a:t>
            </a:r>
            <a:r>
              <a:rPr b="0" spc="30" dirty="0">
                <a:latin typeface="Cambria"/>
                <a:cs typeface="Cambria"/>
              </a:rPr>
              <a:t>sed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w</a:t>
            </a:r>
            <a:r>
              <a:rPr b="0" spc="25" dirty="0">
                <a:latin typeface="Cambria"/>
                <a:cs typeface="Cambria"/>
              </a:rPr>
              <a:t>h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75" dirty="0">
                <a:latin typeface="Cambria"/>
                <a:cs typeface="Cambria"/>
              </a:rPr>
              <a:t>n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cu</a:t>
            </a:r>
            <a:r>
              <a:rPr b="0" spc="10" dirty="0">
                <a:latin typeface="Cambria"/>
                <a:cs typeface="Cambria"/>
              </a:rPr>
              <a:t>b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is</a:t>
            </a:r>
            <a:r>
              <a:rPr b="0" spc="75" dirty="0">
                <a:latin typeface="Cambria"/>
                <a:cs typeface="Cambria"/>
              </a:rPr>
              <a:t> </a:t>
            </a:r>
            <a:r>
              <a:rPr b="0" spc="20" dirty="0">
                <a:latin typeface="Cambria"/>
                <a:cs typeface="Cambria"/>
              </a:rPr>
              <a:t>cr</a:t>
            </a:r>
            <a:r>
              <a:rPr b="0" spc="30" dirty="0">
                <a:latin typeface="Cambria"/>
                <a:cs typeface="Cambria"/>
              </a:rPr>
              <a:t>e</a:t>
            </a:r>
            <a:r>
              <a:rPr b="0" spc="95" dirty="0">
                <a:latin typeface="Cambria"/>
                <a:cs typeface="Cambria"/>
              </a:rPr>
              <a:t>a</a:t>
            </a:r>
            <a:r>
              <a:rPr b="0" spc="65" dirty="0">
                <a:latin typeface="Cambria"/>
                <a:cs typeface="Cambria"/>
              </a:rPr>
              <a:t>t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25" dirty="0">
                <a:latin typeface="Cambria"/>
                <a:cs typeface="Cambria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224" y="3551301"/>
            <a:ext cx="5187950" cy="3056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105"/>
              </a:spcBef>
            </a:pPr>
            <a:r>
              <a:rPr sz="1400" spc="55" dirty="0">
                <a:latin typeface="Cambria"/>
                <a:cs typeface="Cambria"/>
              </a:rPr>
              <a:t>Box(</a:t>
            </a:r>
            <a:r>
              <a:rPr sz="1400" b="1" spc="55" dirty="0">
                <a:latin typeface="Cambria"/>
                <a:cs typeface="Cambria"/>
              </a:rPr>
              <a:t>double </a:t>
            </a:r>
            <a:r>
              <a:rPr sz="1400" b="1" spc="45" dirty="0">
                <a:latin typeface="Cambria"/>
                <a:cs typeface="Cambria"/>
              </a:rPr>
              <a:t>len)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35915">
              <a:lnSpc>
                <a:spcPts val="1675"/>
              </a:lnSpc>
            </a:pPr>
            <a:r>
              <a:rPr sz="1400" b="1" spc="100" dirty="0">
                <a:latin typeface="Cambria"/>
                <a:cs typeface="Cambria"/>
              </a:rPr>
              <a:t>width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=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height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=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depth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=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len;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co</a:t>
            </a:r>
            <a:r>
              <a:rPr sz="1400" spc="60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p</a:t>
            </a:r>
            <a:r>
              <a:rPr sz="1400" spc="75" dirty="0">
                <a:latin typeface="Cambria"/>
                <a:cs typeface="Cambria"/>
              </a:rPr>
              <a:t>u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20" dirty="0">
                <a:latin typeface="Cambria"/>
                <a:cs typeface="Cambria"/>
              </a:rPr>
              <a:t>e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an</a:t>
            </a:r>
            <a:r>
              <a:rPr sz="1400" spc="30" dirty="0">
                <a:latin typeface="Cambria"/>
                <a:cs typeface="Cambria"/>
              </a:rPr>
              <a:t>d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re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u</a:t>
            </a:r>
            <a:r>
              <a:rPr sz="1400" spc="60" dirty="0">
                <a:latin typeface="Cambria"/>
                <a:cs typeface="Cambria"/>
              </a:rPr>
              <a:t>rn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5" dirty="0">
                <a:latin typeface="Cambria"/>
                <a:cs typeface="Cambria"/>
              </a:rPr>
              <a:t>v</a:t>
            </a:r>
            <a:r>
              <a:rPr sz="1400" spc="5" dirty="0">
                <a:latin typeface="Cambria"/>
                <a:cs typeface="Cambria"/>
              </a:rPr>
              <a:t>o</a:t>
            </a:r>
            <a:r>
              <a:rPr sz="1400" spc="45" dirty="0">
                <a:latin typeface="Cambria"/>
                <a:cs typeface="Cambria"/>
              </a:rPr>
              <a:t>l</a:t>
            </a:r>
            <a:r>
              <a:rPr sz="1400" spc="85" dirty="0">
                <a:latin typeface="Cambria"/>
                <a:cs typeface="Cambria"/>
              </a:rPr>
              <a:t>u</a:t>
            </a:r>
            <a:r>
              <a:rPr sz="1400" spc="45" dirty="0">
                <a:latin typeface="Cambria"/>
                <a:cs typeface="Cambria"/>
              </a:rPr>
              <a:t>me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b="1" spc="75" dirty="0">
                <a:latin typeface="Cambria"/>
                <a:cs typeface="Cambria"/>
              </a:rPr>
              <a:t>double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volume()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5"/>
              </a:spcBef>
            </a:pPr>
            <a:r>
              <a:rPr sz="1400" b="1" spc="85" dirty="0">
                <a:latin typeface="Cambria"/>
                <a:cs typeface="Cambria"/>
              </a:rPr>
              <a:t>return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width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*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height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*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depth;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55" dirty="0">
                <a:latin typeface="Cambria"/>
                <a:cs typeface="Cambria"/>
              </a:rPr>
              <a:t>args){</a:t>
            </a:r>
            <a:endParaRPr sz="1400">
              <a:latin typeface="Cambria"/>
              <a:cs typeface="Cambria"/>
            </a:endParaRPr>
          </a:p>
          <a:p>
            <a:pPr marL="376555" marR="225425">
              <a:lnSpc>
                <a:spcPct val="120100"/>
              </a:lnSpc>
              <a:spcBef>
                <a:spcPts val="10"/>
              </a:spcBef>
            </a:pPr>
            <a:r>
              <a:rPr sz="1400" spc="60" dirty="0">
                <a:latin typeface="Cambria"/>
                <a:cs typeface="Cambria"/>
              </a:rPr>
              <a:t>Box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45" dirty="0">
                <a:latin typeface="Cambria"/>
                <a:cs typeface="Cambria"/>
              </a:rPr>
              <a:t>Box(10,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15" dirty="0">
                <a:latin typeface="Cambria"/>
                <a:cs typeface="Cambria"/>
              </a:rPr>
              <a:t>8,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25" dirty="0">
                <a:latin typeface="Cambria"/>
                <a:cs typeface="Cambria"/>
              </a:rPr>
              <a:t>5); 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out.println("Volume</a:t>
            </a:r>
            <a:r>
              <a:rPr sz="1400" b="1" i="1" spc="35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of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Box: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85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75" dirty="0">
                <a:latin typeface="Cambria"/>
                <a:cs typeface="Cambria"/>
              </a:rPr>
              <a:t> </a:t>
            </a:r>
            <a:r>
              <a:rPr sz="1400" b="1" i="1" spc="60" dirty="0">
                <a:latin typeface="Cambria"/>
                <a:cs typeface="Cambria"/>
              </a:rPr>
              <a:t>b.volume()); </a:t>
            </a:r>
            <a:r>
              <a:rPr sz="1400" b="1" i="1" spc="-29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Box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b1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35" dirty="0">
                <a:latin typeface="Cambria"/>
                <a:cs typeface="Cambria"/>
              </a:rPr>
              <a:t>Box(5);</a:t>
            </a:r>
            <a:endParaRPr sz="14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  <a:spcBef>
                <a:spcPts val="335"/>
              </a:spcBef>
            </a:pP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out.println("Volume</a:t>
            </a:r>
            <a:r>
              <a:rPr sz="1400" b="1" i="1" spc="40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of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105" dirty="0">
                <a:latin typeface="Cambria"/>
                <a:cs typeface="Cambria"/>
              </a:rPr>
              <a:t>Cube:</a:t>
            </a:r>
            <a:r>
              <a:rPr sz="1400" b="1" i="1" spc="65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75" dirty="0">
                <a:latin typeface="Cambria"/>
                <a:cs typeface="Cambria"/>
              </a:rPr>
              <a:t> </a:t>
            </a:r>
            <a:r>
              <a:rPr sz="1400" b="1" i="1" spc="55" dirty="0">
                <a:latin typeface="Cambria"/>
                <a:cs typeface="Cambria"/>
              </a:rPr>
              <a:t>b1.volume());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6581647"/>
            <a:ext cx="85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4801" y="3657536"/>
            <a:ext cx="2272030" cy="8623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Arial MT"/>
                <a:cs typeface="Arial MT"/>
              </a:rPr>
              <a:t>Volume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Box: 400.0</a:t>
            </a:r>
            <a:endParaRPr sz="16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Arial MT"/>
                <a:cs typeface="Arial MT"/>
              </a:rPr>
              <a:t>Volume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Cube: 125.0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71481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z="2400" spc="300" dirty="0"/>
              <a:t>ONSTRUCTOR</a:t>
            </a:r>
            <a:r>
              <a:rPr sz="2400" spc="295" dirty="0"/>
              <a:t> </a:t>
            </a:r>
            <a:r>
              <a:rPr sz="3000" spc="295" dirty="0"/>
              <a:t>O</a:t>
            </a:r>
            <a:r>
              <a:rPr sz="2400" spc="295" dirty="0"/>
              <a:t>VERLOADING</a:t>
            </a:r>
            <a:r>
              <a:rPr sz="2400" spc="320" dirty="0"/>
              <a:t> </a:t>
            </a:r>
            <a:r>
              <a:rPr sz="3000" spc="165" dirty="0"/>
              <a:t>–</a:t>
            </a:r>
            <a:r>
              <a:rPr sz="3000" spc="160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  <a:p>
            <a:pPr marL="12700">
              <a:lnSpc>
                <a:spcPct val="100000"/>
              </a:lnSpc>
            </a:pPr>
            <a:r>
              <a:rPr sz="2400" spc="215" dirty="0"/>
              <a:t>WITH</a:t>
            </a:r>
            <a:r>
              <a:rPr sz="2400" spc="265" dirty="0"/>
              <a:t> </a:t>
            </a:r>
            <a:r>
              <a:rPr sz="2400" spc="120" dirty="0"/>
              <a:t>THIS</a:t>
            </a:r>
            <a:r>
              <a:rPr sz="3000" spc="120" dirty="0"/>
              <a:t>()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pc="90" dirty="0"/>
              <a:t>public</a:t>
            </a:r>
            <a:r>
              <a:rPr spc="70" dirty="0"/>
              <a:t> </a:t>
            </a:r>
            <a:r>
              <a:rPr spc="75" dirty="0"/>
              <a:t>class</a:t>
            </a:r>
            <a:r>
              <a:rPr spc="55" dirty="0"/>
              <a:t> </a:t>
            </a:r>
            <a:r>
              <a:rPr spc="114" dirty="0"/>
              <a:t>Box</a:t>
            </a:r>
            <a:r>
              <a:rPr spc="60" dirty="0"/>
              <a:t> </a:t>
            </a:r>
            <a:r>
              <a:rPr spc="-5" dirty="0"/>
              <a:t>{</a:t>
            </a:r>
          </a:p>
          <a:p>
            <a:pPr marL="379730" algn="just">
              <a:lnSpc>
                <a:spcPct val="100000"/>
              </a:lnSpc>
            </a:pPr>
            <a:r>
              <a:rPr spc="75" dirty="0"/>
              <a:t>double</a:t>
            </a:r>
            <a:r>
              <a:rPr spc="70" dirty="0"/>
              <a:t> </a:t>
            </a:r>
            <a:r>
              <a:rPr spc="90" dirty="0"/>
              <a:t>width,</a:t>
            </a:r>
            <a:r>
              <a:rPr spc="80" dirty="0"/>
              <a:t> </a:t>
            </a:r>
            <a:r>
              <a:rPr spc="90" dirty="0"/>
              <a:t>height,</a:t>
            </a:r>
            <a:r>
              <a:rPr spc="75" dirty="0"/>
              <a:t> depth;</a:t>
            </a:r>
          </a:p>
          <a:p>
            <a:pPr marL="379730" marR="5080" algn="just">
              <a:lnSpc>
                <a:spcPct val="100000"/>
              </a:lnSpc>
              <a:spcBef>
                <a:spcPts val="10"/>
              </a:spcBef>
            </a:pPr>
            <a:r>
              <a:rPr b="0" spc="-300" dirty="0">
                <a:latin typeface="Cambria"/>
                <a:cs typeface="Cambria"/>
              </a:rPr>
              <a:t>//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30" dirty="0">
                <a:latin typeface="Cambria"/>
                <a:cs typeface="Cambria"/>
              </a:rPr>
              <a:t>constructor </a:t>
            </a:r>
            <a:r>
              <a:rPr b="0" spc="40" dirty="0">
                <a:latin typeface="Cambria"/>
                <a:cs typeface="Cambria"/>
              </a:rPr>
              <a:t>used when </a:t>
            </a:r>
            <a:r>
              <a:rPr b="0" spc="70" dirty="0">
                <a:latin typeface="Cambria"/>
                <a:cs typeface="Cambria"/>
              </a:rPr>
              <a:t>all </a:t>
            </a:r>
            <a:r>
              <a:rPr b="0" spc="40" dirty="0">
                <a:latin typeface="Cambria"/>
                <a:cs typeface="Cambria"/>
              </a:rPr>
              <a:t>dimensions </a:t>
            </a:r>
            <a:r>
              <a:rPr b="0" spc="30" dirty="0">
                <a:latin typeface="Cambria"/>
                <a:cs typeface="Cambria"/>
              </a:rPr>
              <a:t>specified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55" dirty="0">
                <a:latin typeface="Cambria"/>
                <a:cs typeface="Cambria"/>
              </a:rPr>
              <a:t>Box(</a:t>
            </a:r>
            <a:r>
              <a:rPr spc="55" dirty="0"/>
              <a:t>double</a:t>
            </a:r>
            <a:r>
              <a:rPr spc="65" dirty="0"/>
              <a:t> </a:t>
            </a:r>
            <a:r>
              <a:rPr spc="95" dirty="0"/>
              <a:t>w,</a:t>
            </a:r>
            <a:r>
              <a:rPr spc="80" dirty="0"/>
              <a:t> </a:t>
            </a:r>
            <a:r>
              <a:rPr spc="75" dirty="0"/>
              <a:t>double</a:t>
            </a:r>
            <a:r>
              <a:rPr spc="80" dirty="0"/>
              <a:t> </a:t>
            </a:r>
            <a:r>
              <a:rPr spc="90" dirty="0"/>
              <a:t>h, </a:t>
            </a:r>
            <a:r>
              <a:rPr spc="75" dirty="0"/>
              <a:t>double</a:t>
            </a:r>
            <a:r>
              <a:rPr spc="80" dirty="0"/>
              <a:t> </a:t>
            </a:r>
            <a:r>
              <a:rPr spc="35" dirty="0"/>
              <a:t>d)</a:t>
            </a:r>
            <a:r>
              <a:rPr spc="90" dirty="0"/>
              <a:t> </a:t>
            </a:r>
            <a:r>
              <a:rPr spc="-5" dirty="0"/>
              <a:t>{</a:t>
            </a:r>
          </a:p>
          <a:p>
            <a:pPr marL="744220" marR="2757805" algn="just">
              <a:lnSpc>
                <a:spcPct val="100000"/>
              </a:lnSpc>
              <a:spcBef>
                <a:spcPts val="5"/>
              </a:spcBef>
            </a:pPr>
            <a:r>
              <a:rPr b="0" spc="45" dirty="0">
                <a:latin typeface="Cambria"/>
                <a:cs typeface="Cambria"/>
              </a:rPr>
              <a:t>width </a:t>
            </a:r>
            <a:r>
              <a:rPr b="0" spc="75" dirty="0">
                <a:latin typeface="Cambria"/>
                <a:cs typeface="Cambria"/>
              </a:rPr>
              <a:t>= </a:t>
            </a:r>
            <a:r>
              <a:rPr b="0" spc="10" dirty="0">
                <a:latin typeface="Cambria"/>
                <a:cs typeface="Cambria"/>
              </a:rPr>
              <a:t>w;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height</a:t>
            </a:r>
            <a:r>
              <a:rPr b="0" spc="1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35" dirty="0">
                <a:latin typeface="Cambria"/>
                <a:cs typeface="Cambria"/>
              </a:rPr>
              <a:t> </a:t>
            </a:r>
            <a:r>
              <a:rPr b="0" spc="45" dirty="0">
                <a:latin typeface="Cambria"/>
                <a:cs typeface="Cambria"/>
              </a:rPr>
              <a:t>h; </a:t>
            </a:r>
            <a:r>
              <a:rPr b="0" spc="-29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depth</a:t>
            </a:r>
            <a:r>
              <a:rPr b="0" spc="30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=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20" dirty="0">
                <a:latin typeface="Cambria"/>
                <a:cs typeface="Cambria"/>
              </a:rPr>
              <a:t>d;</a:t>
            </a:r>
          </a:p>
          <a:p>
            <a:pPr marL="379730">
              <a:lnSpc>
                <a:spcPct val="100000"/>
              </a:lnSpc>
            </a:pPr>
            <a:r>
              <a:rPr b="0" spc="-75" dirty="0">
                <a:latin typeface="Cambria"/>
                <a:cs typeface="Cambria"/>
              </a:rPr>
              <a:t>}</a:t>
            </a:r>
          </a:p>
          <a:p>
            <a:pPr marL="379730">
              <a:lnSpc>
                <a:spcPct val="100000"/>
              </a:lnSpc>
            </a:pPr>
            <a:r>
              <a:rPr b="0" spc="-300" dirty="0">
                <a:latin typeface="Cambria"/>
                <a:cs typeface="Cambria"/>
              </a:rPr>
              <a:t>//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-20" dirty="0">
                <a:latin typeface="Cambria"/>
                <a:cs typeface="Cambria"/>
              </a:rPr>
              <a:t>c</a:t>
            </a:r>
            <a:r>
              <a:rPr b="0" spc="-15" dirty="0">
                <a:latin typeface="Cambria"/>
                <a:cs typeface="Cambria"/>
              </a:rPr>
              <a:t>o</a:t>
            </a:r>
            <a:r>
              <a:rPr b="0" spc="65" dirty="0">
                <a:latin typeface="Cambria"/>
                <a:cs typeface="Cambria"/>
              </a:rPr>
              <a:t>n</a:t>
            </a:r>
            <a:r>
              <a:rPr b="0" spc="55" dirty="0">
                <a:latin typeface="Cambria"/>
                <a:cs typeface="Cambria"/>
              </a:rPr>
              <a:t>str</a:t>
            </a:r>
            <a:r>
              <a:rPr b="0" spc="70" dirty="0">
                <a:latin typeface="Cambria"/>
                <a:cs typeface="Cambria"/>
              </a:rPr>
              <a:t>u</a:t>
            </a:r>
            <a:r>
              <a:rPr b="0" spc="40" dirty="0">
                <a:latin typeface="Cambria"/>
                <a:cs typeface="Cambria"/>
              </a:rPr>
              <a:t>c</a:t>
            </a:r>
            <a:r>
              <a:rPr b="0" spc="35" dirty="0">
                <a:latin typeface="Cambria"/>
                <a:cs typeface="Cambria"/>
              </a:rPr>
              <a:t>t</a:t>
            </a:r>
            <a:r>
              <a:rPr b="0" spc="-45" dirty="0">
                <a:latin typeface="Cambria"/>
                <a:cs typeface="Cambria"/>
              </a:rPr>
              <a:t>o</a:t>
            </a:r>
            <a:r>
              <a:rPr b="0" spc="40" dirty="0">
                <a:latin typeface="Cambria"/>
                <a:cs typeface="Cambria"/>
              </a:rPr>
              <a:t>r</a:t>
            </a:r>
            <a:r>
              <a:rPr b="0" spc="60" dirty="0">
                <a:latin typeface="Cambria"/>
                <a:cs typeface="Cambria"/>
              </a:rPr>
              <a:t> </a:t>
            </a:r>
            <a:r>
              <a:rPr b="0" spc="70" dirty="0">
                <a:latin typeface="Cambria"/>
                <a:cs typeface="Cambria"/>
              </a:rPr>
              <a:t>u</a:t>
            </a:r>
            <a:r>
              <a:rPr b="0" spc="30" dirty="0">
                <a:latin typeface="Cambria"/>
                <a:cs typeface="Cambria"/>
              </a:rPr>
              <a:t>sed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w</a:t>
            </a:r>
            <a:r>
              <a:rPr b="0" spc="25" dirty="0">
                <a:latin typeface="Cambria"/>
                <a:cs typeface="Cambria"/>
              </a:rPr>
              <a:t>h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75" dirty="0">
                <a:latin typeface="Cambria"/>
                <a:cs typeface="Cambria"/>
              </a:rPr>
              <a:t>n</a:t>
            </a:r>
            <a:r>
              <a:rPr b="0" spc="5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cu</a:t>
            </a:r>
            <a:r>
              <a:rPr b="0" spc="10" dirty="0">
                <a:latin typeface="Cambria"/>
                <a:cs typeface="Cambria"/>
              </a:rPr>
              <a:t>b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6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is</a:t>
            </a:r>
            <a:r>
              <a:rPr b="0" spc="75" dirty="0">
                <a:latin typeface="Cambria"/>
                <a:cs typeface="Cambria"/>
              </a:rPr>
              <a:t> </a:t>
            </a:r>
            <a:r>
              <a:rPr b="0" spc="20" dirty="0">
                <a:latin typeface="Cambria"/>
                <a:cs typeface="Cambria"/>
              </a:rPr>
              <a:t>cr</a:t>
            </a:r>
            <a:r>
              <a:rPr b="0" spc="30" dirty="0">
                <a:latin typeface="Cambria"/>
                <a:cs typeface="Cambria"/>
              </a:rPr>
              <a:t>e</a:t>
            </a:r>
            <a:r>
              <a:rPr b="0" spc="95" dirty="0">
                <a:latin typeface="Cambria"/>
                <a:cs typeface="Cambria"/>
              </a:rPr>
              <a:t>a</a:t>
            </a:r>
            <a:r>
              <a:rPr b="0" spc="65" dirty="0">
                <a:latin typeface="Cambria"/>
                <a:cs typeface="Cambria"/>
              </a:rPr>
              <a:t>t</a:t>
            </a:r>
            <a:r>
              <a:rPr b="0" spc="15" dirty="0">
                <a:latin typeface="Cambria"/>
                <a:cs typeface="Cambria"/>
              </a:rPr>
              <a:t>e</a:t>
            </a:r>
            <a:r>
              <a:rPr b="0" spc="25" dirty="0">
                <a:latin typeface="Cambria"/>
                <a:cs typeface="Cambria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3224" y="3551301"/>
            <a:ext cx="5187950" cy="305689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85750" marR="3295015" indent="-273685">
              <a:lnSpc>
                <a:spcPts val="1670"/>
              </a:lnSpc>
              <a:spcBef>
                <a:spcPts val="165"/>
              </a:spcBef>
            </a:pPr>
            <a:r>
              <a:rPr sz="1400" spc="55" dirty="0">
                <a:latin typeface="Cambria"/>
                <a:cs typeface="Cambria"/>
              </a:rPr>
              <a:t>Box(</a:t>
            </a:r>
            <a:r>
              <a:rPr sz="1400" b="1" spc="55" dirty="0">
                <a:latin typeface="Cambria"/>
                <a:cs typeface="Cambria"/>
              </a:rPr>
              <a:t>double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45" dirty="0">
                <a:latin typeface="Cambria"/>
                <a:cs typeface="Cambria"/>
              </a:rPr>
              <a:t>len)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 </a:t>
            </a:r>
            <a:r>
              <a:rPr sz="1400" b="1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this(len,</a:t>
            </a:r>
            <a:r>
              <a:rPr sz="1400" b="1" spc="45" dirty="0">
                <a:latin typeface="Cambria"/>
                <a:cs typeface="Cambria"/>
              </a:rPr>
              <a:t> </a:t>
            </a:r>
            <a:r>
              <a:rPr sz="1400" b="1" spc="70" dirty="0">
                <a:latin typeface="Cambria"/>
                <a:cs typeface="Cambria"/>
              </a:rPr>
              <a:t>len,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35" dirty="0">
                <a:latin typeface="Cambria"/>
                <a:cs typeface="Cambria"/>
              </a:rPr>
              <a:t>len);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3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  <a:spcBef>
                <a:spcPts val="5"/>
              </a:spcBef>
            </a:pP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co</a:t>
            </a:r>
            <a:r>
              <a:rPr sz="1400" spc="60" dirty="0">
                <a:latin typeface="Cambria"/>
                <a:cs typeface="Cambria"/>
              </a:rPr>
              <a:t>m</a:t>
            </a:r>
            <a:r>
              <a:rPr sz="1400" spc="35" dirty="0">
                <a:latin typeface="Cambria"/>
                <a:cs typeface="Cambria"/>
              </a:rPr>
              <a:t>p</a:t>
            </a:r>
            <a:r>
              <a:rPr sz="1400" spc="75" dirty="0">
                <a:latin typeface="Cambria"/>
                <a:cs typeface="Cambria"/>
              </a:rPr>
              <a:t>u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20" dirty="0">
                <a:latin typeface="Cambria"/>
                <a:cs typeface="Cambria"/>
              </a:rPr>
              <a:t>e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an</a:t>
            </a:r>
            <a:r>
              <a:rPr sz="1400" spc="30" dirty="0">
                <a:latin typeface="Cambria"/>
                <a:cs typeface="Cambria"/>
              </a:rPr>
              <a:t>d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re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75" dirty="0">
                <a:latin typeface="Cambria"/>
                <a:cs typeface="Cambria"/>
              </a:rPr>
              <a:t>u</a:t>
            </a:r>
            <a:r>
              <a:rPr sz="1400" spc="60" dirty="0">
                <a:latin typeface="Cambria"/>
                <a:cs typeface="Cambria"/>
              </a:rPr>
              <a:t>rn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5" dirty="0">
                <a:latin typeface="Cambria"/>
                <a:cs typeface="Cambria"/>
              </a:rPr>
              <a:t>v</a:t>
            </a:r>
            <a:r>
              <a:rPr sz="1400" spc="5" dirty="0">
                <a:latin typeface="Cambria"/>
                <a:cs typeface="Cambria"/>
              </a:rPr>
              <a:t>o</a:t>
            </a:r>
            <a:r>
              <a:rPr sz="1400" spc="45" dirty="0">
                <a:latin typeface="Cambria"/>
                <a:cs typeface="Cambria"/>
              </a:rPr>
              <a:t>l</a:t>
            </a:r>
            <a:r>
              <a:rPr sz="1400" spc="85" dirty="0">
                <a:latin typeface="Cambria"/>
                <a:cs typeface="Cambria"/>
              </a:rPr>
              <a:t>u</a:t>
            </a:r>
            <a:r>
              <a:rPr sz="1400" spc="45" dirty="0">
                <a:latin typeface="Cambria"/>
                <a:cs typeface="Cambria"/>
              </a:rPr>
              <a:t>me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b="1" spc="75" dirty="0">
                <a:latin typeface="Cambria"/>
                <a:cs typeface="Cambria"/>
              </a:rPr>
              <a:t>double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volume()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</a:pPr>
            <a:r>
              <a:rPr sz="1400" b="1" spc="85" dirty="0">
                <a:latin typeface="Cambria"/>
                <a:cs typeface="Cambria"/>
              </a:rPr>
              <a:t>return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width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*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height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65" dirty="0">
                <a:latin typeface="Cambria"/>
                <a:cs typeface="Cambria"/>
              </a:rPr>
              <a:t>*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depth;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static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void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main(String[]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55" dirty="0">
                <a:latin typeface="Cambria"/>
                <a:cs typeface="Cambria"/>
              </a:rPr>
              <a:t>args){</a:t>
            </a:r>
            <a:endParaRPr sz="1400">
              <a:latin typeface="Cambria"/>
              <a:cs typeface="Cambria"/>
            </a:endParaRPr>
          </a:p>
          <a:p>
            <a:pPr marL="376555" marR="225425">
              <a:lnSpc>
                <a:spcPct val="120100"/>
              </a:lnSpc>
              <a:spcBef>
                <a:spcPts val="10"/>
              </a:spcBef>
            </a:pPr>
            <a:r>
              <a:rPr sz="1400" spc="60" dirty="0">
                <a:latin typeface="Cambria"/>
                <a:cs typeface="Cambria"/>
              </a:rPr>
              <a:t>Box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45" dirty="0">
                <a:latin typeface="Cambria"/>
                <a:cs typeface="Cambria"/>
              </a:rPr>
              <a:t>Box(10,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15" dirty="0">
                <a:latin typeface="Cambria"/>
                <a:cs typeface="Cambria"/>
              </a:rPr>
              <a:t>8,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-25" dirty="0">
                <a:latin typeface="Cambria"/>
                <a:cs typeface="Cambria"/>
              </a:rPr>
              <a:t>5); 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out.println("Volume</a:t>
            </a:r>
            <a:r>
              <a:rPr sz="1400" b="1" i="1" spc="35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of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95" dirty="0">
                <a:latin typeface="Cambria"/>
                <a:cs typeface="Cambria"/>
              </a:rPr>
              <a:t>Box: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85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75" dirty="0">
                <a:latin typeface="Cambria"/>
                <a:cs typeface="Cambria"/>
              </a:rPr>
              <a:t> </a:t>
            </a:r>
            <a:r>
              <a:rPr sz="1400" b="1" i="1" spc="60" dirty="0">
                <a:latin typeface="Cambria"/>
                <a:cs typeface="Cambria"/>
              </a:rPr>
              <a:t>b.volume()); </a:t>
            </a:r>
            <a:r>
              <a:rPr sz="1400" b="1" i="1" spc="-29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Box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b1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35" dirty="0">
                <a:latin typeface="Cambria"/>
                <a:cs typeface="Cambria"/>
              </a:rPr>
              <a:t>Box(5);</a:t>
            </a:r>
            <a:endParaRPr sz="1400">
              <a:latin typeface="Cambria"/>
              <a:cs typeface="Cambria"/>
            </a:endParaRPr>
          </a:p>
          <a:p>
            <a:pPr marL="376555">
              <a:lnSpc>
                <a:spcPct val="100000"/>
              </a:lnSpc>
              <a:spcBef>
                <a:spcPts val="335"/>
              </a:spcBef>
            </a:pPr>
            <a:r>
              <a:rPr sz="1400" spc="90" dirty="0">
                <a:latin typeface="Cambria"/>
                <a:cs typeface="Cambria"/>
              </a:rPr>
              <a:t>System.</a:t>
            </a:r>
            <a:r>
              <a:rPr sz="1400" b="1" i="1" spc="90" dirty="0">
                <a:latin typeface="Cambria"/>
                <a:cs typeface="Cambria"/>
              </a:rPr>
              <a:t>out.println("Volume</a:t>
            </a:r>
            <a:r>
              <a:rPr sz="1400" b="1" i="1" spc="40" dirty="0">
                <a:latin typeface="Cambria"/>
                <a:cs typeface="Cambria"/>
              </a:rPr>
              <a:t> </a:t>
            </a:r>
            <a:r>
              <a:rPr sz="1400" b="1" i="1" spc="70" dirty="0">
                <a:latin typeface="Cambria"/>
                <a:cs typeface="Cambria"/>
              </a:rPr>
              <a:t>of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105" dirty="0">
                <a:latin typeface="Cambria"/>
                <a:cs typeface="Cambria"/>
              </a:rPr>
              <a:t>Cube:</a:t>
            </a:r>
            <a:r>
              <a:rPr sz="1400" b="1" i="1" spc="65" dirty="0">
                <a:latin typeface="Cambria"/>
                <a:cs typeface="Cambria"/>
              </a:rPr>
              <a:t> </a:t>
            </a:r>
            <a:r>
              <a:rPr sz="1400" b="1" i="1" dirty="0">
                <a:latin typeface="Cambria"/>
                <a:cs typeface="Cambria"/>
              </a:rPr>
              <a:t>"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75" dirty="0">
                <a:latin typeface="Cambria"/>
                <a:cs typeface="Cambria"/>
              </a:rPr>
              <a:t> </a:t>
            </a:r>
            <a:r>
              <a:rPr sz="1400" b="1" i="1" spc="55" dirty="0">
                <a:latin typeface="Cambria"/>
                <a:cs typeface="Cambria"/>
              </a:rPr>
              <a:t>b1.volume());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6581647"/>
            <a:ext cx="85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4801" y="3657536"/>
            <a:ext cx="2272030" cy="8623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Arial MT"/>
                <a:cs typeface="Arial MT"/>
              </a:rPr>
              <a:t>Output: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Arial MT"/>
                <a:cs typeface="Arial MT"/>
              </a:rPr>
              <a:t>Volume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Box: 400.0</a:t>
            </a:r>
            <a:endParaRPr sz="16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Arial MT"/>
                <a:cs typeface="Arial MT"/>
              </a:rPr>
              <a:t>Volume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Cube: 125.0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583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z="2400" spc="325" dirty="0"/>
              <a:t>UBCLASS</a:t>
            </a:r>
            <a:r>
              <a:rPr sz="2400" spc="265" dirty="0"/>
              <a:t> </a:t>
            </a:r>
            <a:r>
              <a:rPr sz="3000" spc="290" dirty="0"/>
              <a:t>P</a:t>
            </a:r>
            <a:r>
              <a:rPr sz="2400" spc="290" dirty="0"/>
              <a:t>OLYMORPHISM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63130" cy="3783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68935" algn="l"/>
                <a:tab pos="36957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parent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class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reference</a:t>
            </a:r>
            <a:r>
              <a:rPr sz="2400" b="1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refer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b="1" spc="160" dirty="0">
                <a:latin typeface="Cambria"/>
                <a:cs typeface="Cambria"/>
              </a:rPr>
              <a:t>child</a:t>
            </a:r>
            <a:r>
              <a:rPr sz="2400" b="1" spc="135" dirty="0">
                <a:latin typeface="Cambria"/>
                <a:cs typeface="Cambria"/>
              </a:rPr>
              <a:t> class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object</a:t>
            </a:r>
            <a:r>
              <a:rPr sz="2400" spc="14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Couple </a:t>
            </a:r>
            <a:r>
              <a:rPr sz="2400" spc="105" dirty="0">
                <a:latin typeface="Cambria"/>
                <a:cs typeface="Cambria"/>
              </a:rPr>
              <a:t>things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remember: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only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possible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way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access</a:t>
            </a:r>
            <a:r>
              <a:rPr sz="2100" spc="120" dirty="0">
                <a:latin typeface="Cambria"/>
                <a:cs typeface="Cambria"/>
              </a:rPr>
              <a:t> an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through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variable.</a:t>
            </a:r>
            <a:endParaRPr sz="2100">
              <a:latin typeface="Cambria"/>
              <a:cs typeface="Cambria"/>
            </a:endParaRPr>
          </a:p>
          <a:p>
            <a:pPr marL="652780" marR="30289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would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determine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invoke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on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object.</a:t>
            </a:r>
            <a:endParaRPr sz="2100">
              <a:latin typeface="Cambria"/>
              <a:cs typeface="Cambria"/>
            </a:endParaRPr>
          </a:p>
          <a:p>
            <a:pPr marL="285115" marR="17907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Using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subclass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polymorphism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we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 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execute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child-class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overriding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parent-class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546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z="2400" spc="325" dirty="0"/>
              <a:t>UBCLASS</a:t>
            </a:r>
            <a:r>
              <a:rPr sz="2400" spc="310" dirty="0"/>
              <a:t> </a:t>
            </a: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75" dirty="0"/>
              <a:t> </a:t>
            </a:r>
            <a:r>
              <a:rPr sz="3000" dirty="0"/>
              <a:t>-</a:t>
            </a:r>
            <a:r>
              <a:rPr sz="3000" spc="165" dirty="0"/>
              <a:t> </a:t>
            </a:r>
            <a:r>
              <a:rPr sz="3000" spc="310" dirty="0"/>
              <a:t>E</a:t>
            </a:r>
            <a:r>
              <a:rPr sz="2400" spc="310" dirty="0"/>
              <a:t>XAMPLE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842643"/>
            <a:ext cx="5516880" cy="1948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90" dirty="0">
                <a:latin typeface="Cambria"/>
                <a:cs typeface="Cambria"/>
              </a:rPr>
              <a:t>public </a:t>
            </a: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TestPolymorphism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-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 marR="1593850" indent="-364490">
              <a:lnSpc>
                <a:spcPct val="100000"/>
              </a:lnSpc>
              <a:spcBef>
                <a:spcPts val="10"/>
              </a:spcBef>
            </a:pPr>
            <a:r>
              <a:rPr sz="1400" b="1" spc="90" dirty="0">
                <a:latin typeface="Cambria"/>
                <a:cs typeface="Cambria"/>
              </a:rPr>
              <a:t>public </a:t>
            </a:r>
            <a:r>
              <a:rPr sz="1400" b="1" spc="85" dirty="0">
                <a:latin typeface="Cambria"/>
                <a:cs typeface="Cambria"/>
              </a:rPr>
              <a:t>static </a:t>
            </a:r>
            <a:r>
              <a:rPr sz="1400" b="1" spc="80" dirty="0">
                <a:latin typeface="Cambria"/>
                <a:cs typeface="Cambria"/>
              </a:rPr>
              <a:t>void </a:t>
            </a:r>
            <a:r>
              <a:rPr sz="1400" b="1" spc="85" dirty="0">
                <a:latin typeface="Cambria"/>
                <a:cs typeface="Cambria"/>
              </a:rPr>
              <a:t>main(String[] </a:t>
            </a:r>
            <a:r>
              <a:rPr sz="1400" b="1" spc="65" dirty="0">
                <a:latin typeface="Cambria"/>
                <a:cs typeface="Cambria"/>
              </a:rPr>
              <a:t>args) </a:t>
            </a:r>
            <a:r>
              <a:rPr sz="1400" spc="-75" dirty="0">
                <a:latin typeface="Cambria"/>
                <a:cs typeface="Cambria"/>
              </a:rPr>
              <a:t>{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Animal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55" dirty="0">
                <a:latin typeface="Cambria"/>
                <a:cs typeface="Cambria"/>
              </a:rPr>
              <a:t>Bird();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20" dirty="0">
                <a:latin typeface="Cambria"/>
                <a:cs typeface="Cambria"/>
              </a:rPr>
              <a:t>a.sleep();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sleep()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method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animal </a:t>
            </a:r>
            <a:r>
              <a:rPr sz="1400" spc="50" dirty="0">
                <a:latin typeface="Cambria"/>
                <a:cs typeface="Cambria"/>
              </a:rPr>
              <a:t>class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will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be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executed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80" dirty="0">
                <a:latin typeface="Cambria"/>
                <a:cs typeface="Cambria"/>
              </a:rPr>
              <a:t>Animal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85" dirty="0">
                <a:latin typeface="Cambria"/>
                <a:cs typeface="Cambria"/>
              </a:rPr>
              <a:t>h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Horse();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20" dirty="0">
                <a:latin typeface="Cambria"/>
                <a:cs typeface="Cambria"/>
              </a:rPr>
              <a:t>h.sleep();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2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sleep()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method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Horse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class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will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be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executed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33748" y="4187633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57" y="0"/>
                </a:lnTo>
              </a:path>
            </a:pathLst>
          </a:custGeom>
          <a:ln w="1180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33748" y="4668075"/>
            <a:ext cx="486409" cy="0"/>
          </a:xfrm>
          <a:custGeom>
            <a:avLst/>
            <a:gdLst/>
            <a:ahLst/>
            <a:cxnLst/>
            <a:rect l="l" t="t" r="r" b="b"/>
            <a:pathLst>
              <a:path w="486410">
                <a:moveTo>
                  <a:pt x="0" y="0"/>
                </a:moveTo>
                <a:lnTo>
                  <a:pt x="486153" y="0"/>
                </a:lnTo>
              </a:path>
            </a:pathLst>
          </a:custGeom>
          <a:ln w="1180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41801" y="3886136"/>
            <a:ext cx="678180" cy="12242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050" dirty="0">
                <a:latin typeface="Arial MT"/>
                <a:cs typeface="Arial MT"/>
              </a:rPr>
              <a:t>Animal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050" spc="5" dirty="0">
                <a:latin typeface="Arial MT"/>
                <a:cs typeface="Arial MT"/>
              </a:rPr>
              <a:t>Weight</a:t>
            </a:r>
            <a:endParaRPr sz="105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Color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91440" marR="16764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eat() 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sleep()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7675" y="5573889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57" y="0"/>
                </a:lnTo>
              </a:path>
            </a:pathLst>
          </a:custGeom>
          <a:ln w="1180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675" y="5894234"/>
            <a:ext cx="486409" cy="0"/>
          </a:xfrm>
          <a:custGeom>
            <a:avLst/>
            <a:gdLst/>
            <a:ahLst/>
            <a:cxnLst/>
            <a:rect l="l" t="t" r="r" b="b"/>
            <a:pathLst>
              <a:path w="486410">
                <a:moveTo>
                  <a:pt x="0" y="0"/>
                </a:moveTo>
                <a:lnTo>
                  <a:pt x="486153" y="0"/>
                </a:lnTo>
              </a:path>
            </a:pathLst>
          </a:custGeom>
          <a:ln w="1180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95600" y="5272087"/>
            <a:ext cx="678180" cy="900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050" dirty="0">
                <a:latin typeface="Arial MT"/>
                <a:cs typeface="Arial MT"/>
              </a:rPr>
              <a:t>Bird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Arial MT"/>
                <a:cs typeface="Arial MT"/>
              </a:rPr>
              <a:t>canFly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050" spc="-5" dirty="0">
                <a:latin typeface="Arial MT"/>
                <a:cs typeface="Arial MT"/>
              </a:rPr>
              <a:t>fly()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71948" y="5559790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956" y="0"/>
                </a:lnTo>
              </a:path>
            </a:pathLst>
          </a:custGeom>
          <a:ln w="1182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71948" y="5879908"/>
            <a:ext cx="486409" cy="0"/>
          </a:xfrm>
          <a:custGeom>
            <a:avLst/>
            <a:gdLst/>
            <a:ahLst/>
            <a:cxnLst/>
            <a:rect l="l" t="t" r="r" b="b"/>
            <a:pathLst>
              <a:path w="486410">
                <a:moveTo>
                  <a:pt x="0" y="0"/>
                </a:moveTo>
                <a:lnTo>
                  <a:pt x="486153" y="0"/>
                </a:lnTo>
              </a:path>
            </a:pathLst>
          </a:custGeom>
          <a:ln w="1180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80001" y="5257800"/>
            <a:ext cx="678180" cy="900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050" dirty="0">
                <a:latin typeface="Arial MT"/>
                <a:cs typeface="Arial MT"/>
              </a:rPr>
              <a:t>Horse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1019"/>
              </a:spcBef>
            </a:pPr>
            <a:r>
              <a:rPr sz="1050" dirty="0">
                <a:latin typeface="Arial MT"/>
                <a:cs typeface="Arial MT"/>
              </a:rPr>
              <a:t>sleep()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30626" y="4724400"/>
            <a:ext cx="503555" cy="552450"/>
          </a:xfrm>
          <a:custGeom>
            <a:avLst/>
            <a:gdLst/>
            <a:ahLst/>
            <a:cxnLst/>
            <a:rect l="l" t="t" r="r" b="b"/>
            <a:pathLst>
              <a:path w="503554" h="552450">
                <a:moveTo>
                  <a:pt x="486171" y="18634"/>
                </a:moveTo>
                <a:lnTo>
                  <a:pt x="474209" y="22392"/>
                </a:lnTo>
                <a:lnTo>
                  <a:pt x="0" y="543433"/>
                </a:lnTo>
                <a:lnTo>
                  <a:pt x="9398" y="551941"/>
                </a:lnTo>
                <a:lnTo>
                  <a:pt x="483534" y="30981"/>
                </a:lnTo>
                <a:lnTo>
                  <a:pt x="486171" y="18634"/>
                </a:lnTo>
                <a:close/>
              </a:path>
              <a:path w="503554" h="552450">
                <a:moveTo>
                  <a:pt x="502088" y="5080"/>
                </a:moveTo>
                <a:lnTo>
                  <a:pt x="489965" y="5080"/>
                </a:lnTo>
                <a:lnTo>
                  <a:pt x="499363" y="13588"/>
                </a:lnTo>
                <a:lnTo>
                  <a:pt x="483534" y="30981"/>
                </a:lnTo>
                <a:lnTo>
                  <a:pt x="470026" y="94233"/>
                </a:lnTo>
                <a:lnTo>
                  <a:pt x="469391" y="97662"/>
                </a:lnTo>
                <a:lnTo>
                  <a:pt x="471550" y="101092"/>
                </a:lnTo>
                <a:lnTo>
                  <a:pt x="474979" y="101726"/>
                </a:lnTo>
                <a:lnTo>
                  <a:pt x="478409" y="102488"/>
                </a:lnTo>
                <a:lnTo>
                  <a:pt x="481711" y="100330"/>
                </a:lnTo>
                <a:lnTo>
                  <a:pt x="482473" y="96900"/>
                </a:lnTo>
                <a:lnTo>
                  <a:pt x="502088" y="5080"/>
                </a:lnTo>
                <a:close/>
              </a:path>
              <a:path w="503554" h="552450">
                <a:moveTo>
                  <a:pt x="503174" y="0"/>
                </a:moveTo>
                <a:lnTo>
                  <a:pt x="408686" y="29718"/>
                </a:lnTo>
                <a:lnTo>
                  <a:pt x="405257" y="30733"/>
                </a:lnTo>
                <a:lnTo>
                  <a:pt x="403478" y="34289"/>
                </a:lnTo>
                <a:lnTo>
                  <a:pt x="404495" y="37592"/>
                </a:lnTo>
                <a:lnTo>
                  <a:pt x="405511" y="41020"/>
                </a:lnTo>
                <a:lnTo>
                  <a:pt x="409066" y="42799"/>
                </a:lnTo>
                <a:lnTo>
                  <a:pt x="412496" y="41782"/>
                </a:lnTo>
                <a:lnTo>
                  <a:pt x="474209" y="22392"/>
                </a:lnTo>
                <a:lnTo>
                  <a:pt x="489965" y="5080"/>
                </a:lnTo>
                <a:lnTo>
                  <a:pt x="502088" y="5080"/>
                </a:lnTo>
                <a:lnTo>
                  <a:pt x="503174" y="0"/>
                </a:lnTo>
                <a:close/>
              </a:path>
              <a:path w="503554" h="552450">
                <a:moveTo>
                  <a:pt x="493192" y="8000"/>
                </a:moveTo>
                <a:lnTo>
                  <a:pt x="488441" y="8000"/>
                </a:lnTo>
                <a:lnTo>
                  <a:pt x="496570" y="15367"/>
                </a:lnTo>
                <a:lnTo>
                  <a:pt x="486171" y="18634"/>
                </a:lnTo>
                <a:lnTo>
                  <a:pt x="483534" y="30981"/>
                </a:lnTo>
                <a:lnTo>
                  <a:pt x="499363" y="13588"/>
                </a:lnTo>
                <a:lnTo>
                  <a:pt x="493192" y="8000"/>
                </a:lnTo>
                <a:close/>
              </a:path>
              <a:path w="503554" h="552450">
                <a:moveTo>
                  <a:pt x="489965" y="5080"/>
                </a:moveTo>
                <a:lnTo>
                  <a:pt x="474209" y="22392"/>
                </a:lnTo>
                <a:lnTo>
                  <a:pt x="486171" y="18634"/>
                </a:lnTo>
                <a:lnTo>
                  <a:pt x="488441" y="8000"/>
                </a:lnTo>
                <a:lnTo>
                  <a:pt x="493192" y="8000"/>
                </a:lnTo>
                <a:lnTo>
                  <a:pt x="489965" y="5080"/>
                </a:lnTo>
                <a:close/>
              </a:path>
              <a:path w="503554" h="552450">
                <a:moveTo>
                  <a:pt x="488441" y="8000"/>
                </a:moveTo>
                <a:lnTo>
                  <a:pt x="486171" y="18634"/>
                </a:lnTo>
                <a:lnTo>
                  <a:pt x="496570" y="15367"/>
                </a:lnTo>
                <a:lnTo>
                  <a:pt x="488441" y="800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19600" y="4724400"/>
            <a:ext cx="503555" cy="537845"/>
          </a:xfrm>
          <a:custGeom>
            <a:avLst/>
            <a:gdLst/>
            <a:ahLst/>
            <a:cxnLst/>
            <a:rect l="l" t="t" r="r" b="b"/>
            <a:pathLst>
              <a:path w="503554" h="537845">
                <a:moveTo>
                  <a:pt x="17144" y="18367"/>
                </a:moveTo>
                <a:lnTo>
                  <a:pt x="19914" y="30561"/>
                </a:lnTo>
                <a:lnTo>
                  <a:pt x="493775" y="537718"/>
                </a:lnTo>
                <a:lnTo>
                  <a:pt x="503174" y="529082"/>
                </a:lnTo>
                <a:lnTo>
                  <a:pt x="29265" y="22007"/>
                </a:lnTo>
                <a:lnTo>
                  <a:pt x="17144" y="18367"/>
                </a:lnTo>
                <a:close/>
              </a:path>
              <a:path w="503554" h="537845">
                <a:moveTo>
                  <a:pt x="0" y="0"/>
                </a:moveTo>
                <a:lnTo>
                  <a:pt x="21971" y="96647"/>
                </a:lnTo>
                <a:lnTo>
                  <a:pt x="22733" y="100075"/>
                </a:lnTo>
                <a:lnTo>
                  <a:pt x="26162" y="102235"/>
                </a:lnTo>
                <a:lnTo>
                  <a:pt x="29590" y="101345"/>
                </a:lnTo>
                <a:lnTo>
                  <a:pt x="33020" y="100583"/>
                </a:lnTo>
                <a:lnTo>
                  <a:pt x="35051" y="97281"/>
                </a:lnTo>
                <a:lnTo>
                  <a:pt x="34289" y="93852"/>
                </a:lnTo>
                <a:lnTo>
                  <a:pt x="19914" y="30561"/>
                </a:lnTo>
                <a:lnTo>
                  <a:pt x="3937" y="13462"/>
                </a:lnTo>
                <a:lnTo>
                  <a:pt x="13208" y="4825"/>
                </a:lnTo>
                <a:lnTo>
                  <a:pt x="16093" y="4825"/>
                </a:lnTo>
                <a:lnTo>
                  <a:pt x="0" y="0"/>
                </a:lnTo>
                <a:close/>
              </a:path>
              <a:path w="503554" h="537845">
                <a:moveTo>
                  <a:pt x="16093" y="4825"/>
                </a:moveTo>
                <a:lnTo>
                  <a:pt x="13208" y="4825"/>
                </a:lnTo>
                <a:lnTo>
                  <a:pt x="29265" y="22007"/>
                </a:lnTo>
                <a:lnTo>
                  <a:pt x="94614" y="41656"/>
                </a:lnTo>
                <a:lnTo>
                  <a:pt x="98171" y="39750"/>
                </a:lnTo>
                <a:lnTo>
                  <a:pt x="99187" y="36322"/>
                </a:lnTo>
                <a:lnTo>
                  <a:pt x="100202" y="33019"/>
                </a:lnTo>
                <a:lnTo>
                  <a:pt x="98298" y="29463"/>
                </a:lnTo>
                <a:lnTo>
                  <a:pt x="16093" y="4825"/>
                </a:lnTo>
                <a:close/>
              </a:path>
              <a:path w="503554" h="537845">
                <a:moveTo>
                  <a:pt x="13208" y="4825"/>
                </a:moveTo>
                <a:lnTo>
                  <a:pt x="3937" y="13462"/>
                </a:lnTo>
                <a:lnTo>
                  <a:pt x="19914" y="30561"/>
                </a:lnTo>
                <a:lnTo>
                  <a:pt x="17144" y="18367"/>
                </a:lnTo>
                <a:lnTo>
                  <a:pt x="6730" y="15239"/>
                </a:lnTo>
                <a:lnTo>
                  <a:pt x="14732" y="7747"/>
                </a:lnTo>
                <a:lnTo>
                  <a:pt x="15937" y="7747"/>
                </a:lnTo>
                <a:lnTo>
                  <a:pt x="13208" y="4825"/>
                </a:lnTo>
                <a:close/>
              </a:path>
              <a:path w="503554" h="537845">
                <a:moveTo>
                  <a:pt x="15937" y="7747"/>
                </a:moveTo>
                <a:lnTo>
                  <a:pt x="14732" y="7747"/>
                </a:lnTo>
                <a:lnTo>
                  <a:pt x="17144" y="18367"/>
                </a:lnTo>
                <a:lnTo>
                  <a:pt x="29265" y="22007"/>
                </a:lnTo>
                <a:lnTo>
                  <a:pt x="15937" y="7747"/>
                </a:lnTo>
                <a:close/>
              </a:path>
              <a:path w="503554" h="537845">
                <a:moveTo>
                  <a:pt x="14732" y="7747"/>
                </a:moveTo>
                <a:lnTo>
                  <a:pt x="6730" y="15239"/>
                </a:lnTo>
                <a:lnTo>
                  <a:pt x="17144" y="18367"/>
                </a:lnTo>
                <a:lnTo>
                  <a:pt x="14732" y="7747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82130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z="2400" spc="325" dirty="0"/>
              <a:t>UBCLASS</a:t>
            </a:r>
            <a:r>
              <a:rPr sz="2400" spc="310" dirty="0"/>
              <a:t> </a:t>
            </a: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75" dirty="0"/>
              <a:t> </a:t>
            </a:r>
            <a:r>
              <a:rPr sz="3000" spc="220" dirty="0"/>
              <a:t>–C</a:t>
            </a:r>
            <a:r>
              <a:rPr sz="2400" spc="220" dirty="0"/>
              <a:t>OMPILE</a:t>
            </a:r>
            <a:r>
              <a:rPr sz="3000" spc="220" dirty="0"/>
              <a:t>/</a:t>
            </a:r>
            <a:r>
              <a:rPr sz="2400" spc="220" dirty="0"/>
              <a:t>RUN</a:t>
            </a:r>
            <a:r>
              <a:rPr sz="2400" spc="290" dirty="0"/>
              <a:t> </a:t>
            </a:r>
            <a:r>
              <a:rPr sz="2400" spc="254" dirty="0"/>
              <a:t>TIME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225665" cy="40513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" dirty="0">
                <a:latin typeface="Cambria"/>
                <a:cs typeface="Cambria"/>
              </a:rPr>
              <a:t>2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types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check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  <a:tab pos="4095750" algn="l"/>
              </a:tabLst>
            </a:pP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would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determine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it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invoke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on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object.	</a:t>
            </a:r>
            <a:r>
              <a:rPr sz="2100" b="1" spc="160" dirty="0">
                <a:latin typeface="Cambria"/>
                <a:cs typeface="Cambria"/>
              </a:rPr>
              <a:t>Compile</a:t>
            </a:r>
            <a:r>
              <a:rPr sz="2100" b="1" spc="120" dirty="0">
                <a:latin typeface="Cambria"/>
                <a:cs typeface="Cambria"/>
              </a:rPr>
              <a:t> time</a:t>
            </a:r>
            <a:r>
              <a:rPr sz="2100" b="1" spc="114" dirty="0">
                <a:latin typeface="Cambria"/>
                <a:cs typeface="Cambria"/>
              </a:rPr>
              <a:t> </a:t>
            </a:r>
            <a:r>
              <a:rPr sz="2100" b="1" spc="140" dirty="0">
                <a:latin typeface="Cambria"/>
                <a:cs typeface="Cambria"/>
              </a:rPr>
              <a:t>check.</a:t>
            </a:r>
            <a:endParaRPr sz="2100">
              <a:latin typeface="Cambria"/>
              <a:cs typeface="Cambria"/>
            </a:endParaRPr>
          </a:p>
          <a:p>
            <a:pPr marL="652780" marR="2413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type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45" dirty="0">
                <a:latin typeface="Cambria"/>
                <a:cs typeface="Cambria"/>
              </a:rPr>
              <a:t>(NOT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variable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type)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determines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overridden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will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used</a:t>
            </a:r>
            <a:r>
              <a:rPr sz="2100" spc="120" dirty="0">
                <a:latin typeface="Cambria"/>
                <a:cs typeface="Cambria"/>
              </a:rPr>
              <a:t> at </a:t>
            </a:r>
            <a:r>
              <a:rPr sz="2100" b="1" spc="130" dirty="0">
                <a:latin typeface="Cambria"/>
                <a:cs typeface="Cambria"/>
              </a:rPr>
              <a:t>runtime.</a:t>
            </a:r>
            <a:endParaRPr sz="2100">
              <a:latin typeface="Cambria"/>
              <a:cs typeface="Cambria"/>
            </a:endParaRPr>
          </a:p>
          <a:p>
            <a:pPr marL="1017269" marR="3596004" lvl="1" indent="-637540">
              <a:lnSpc>
                <a:spcPct val="117900"/>
              </a:lnSpc>
              <a:spcBef>
                <a:spcPts val="5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Consider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code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below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Animal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Bird(); 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a.sleep();</a:t>
            </a:r>
            <a:endParaRPr sz="1600">
              <a:latin typeface="Cambria"/>
              <a:cs typeface="Cambria"/>
            </a:endParaRPr>
          </a:p>
          <a:p>
            <a:pPr marL="927100" marR="172720" lvl="2" indent="-182880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0" dirty="0">
                <a:latin typeface="Cambria"/>
                <a:cs typeface="Cambria"/>
              </a:rPr>
              <a:t>Can’t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call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a.sleep()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if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sleep()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method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not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available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Animal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class.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Will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produce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compile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error.</a:t>
            </a:r>
            <a:endParaRPr sz="1800">
              <a:latin typeface="Cambria"/>
              <a:cs typeface="Cambria"/>
            </a:endParaRPr>
          </a:p>
          <a:p>
            <a:pPr marL="927100" marR="5080" lvl="2" indent="-182880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00" dirty="0">
                <a:latin typeface="Cambria"/>
                <a:cs typeface="Cambria"/>
              </a:rPr>
              <a:t>During</a:t>
            </a:r>
            <a:r>
              <a:rPr sz="1800" spc="75" dirty="0">
                <a:latin typeface="Cambria"/>
                <a:cs typeface="Cambria"/>
              </a:rPr>
              <a:t> runtime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Horse’s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sleep()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method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will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be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executed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not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Animal’s.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2693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</a:t>
            </a:r>
            <a:r>
              <a:rPr sz="2400" spc="325" dirty="0"/>
              <a:t>UBCLASS</a:t>
            </a:r>
            <a:r>
              <a:rPr sz="2400" spc="315" dirty="0"/>
              <a:t> </a:t>
            </a: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70" dirty="0"/>
              <a:t> </a:t>
            </a:r>
            <a:r>
              <a:rPr sz="3000" spc="165" dirty="0"/>
              <a:t>–</a:t>
            </a:r>
            <a:r>
              <a:rPr sz="3000" spc="160" dirty="0"/>
              <a:t> </a:t>
            </a:r>
            <a:r>
              <a:rPr sz="2400" spc="325" dirty="0"/>
              <a:t>ACCESS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7251700" cy="4601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90" dirty="0">
                <a:solidFill>
                  <a:srgbClr val="565F6C"/>
                </a:solidFill>
                <a:latin typeface="Cambria"/>
                <a:cs typeface="Cambria"/>
              </a:rPr>
              <a:t>METHOD</a:t>
            </a:r>
            <a:r>
              <a:rPr sz="2400" spc="29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265" dirty="0">
                <a:solidFill>
                  <a:srgbClr val="565F6C"/>
                </a:solidFill>
                <a:latin typeface="Cambria"/>
                <a:cs typeface="Cambria"/>
              </a:rPr>
              <a:t>NOT</a:t>
            </a:r>
            <a:r>
              <a:rPr sz="2400" spc="28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260" dirty="0">
                <a:solidFill>
                  <a:srgbClr val="565F6C"/>
                </a:solidFill>
                <a:latin typeface="Cambria"/>
                <a:cs typeface="Cambria"/>
              </a:rPr>
              <a:t>AVAILABLE</a:t>
            </a:r>
            <a:r>
              <a:rPr sz="2400" spc="36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254" dirty="0">
                <a:solidFill>
                  <a:srgbClr val="565F6C"/>
                </a:solidFill>
                <a:latin typeface="Cambria"/>
                <a:cs typeface="Cambria"/>
              </a:rPr>
              <a:t>IN</a:t>
            </a:r>
            <a:r>
              <a:rPr sz="2400" spc="29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254" dirty="0">
                <a:solidFill>
                  <a:srgbClr val="565F6C"/>
                </a:solidFill>
                <a:latin typeface="Cambria"/>
                <a:cs typeface="Cambria"/>
              </a:rPr>
              <a:t>PARENT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1400" spc="35" dirty="0">
                <a:latin typeface="Cambria"/>
                <a:cs typeface="Cambria"/>
              </a:rPr>
              <a:t>public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class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TestPolymorphism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 marR="3731260" indent="-364490">
              <a:lnSpc>
                <a:spcPct val="100000"/>
              </a:lnSpc>
            </a:pPr>
            <a:r>
              <a:rPr sz="1400" spc="35" dirty="0">
                <a:latin typeface="Cambria"/>
                <a:cs typeface="Cambria"/>
              </a:rPr>
              <a:t>public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static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void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main(String[]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args)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Animal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30" dirty="0">
                <a:latin typeface="Cambria"/>
                <a:cs typeface="Cambria"/>
              </a:rPr>
              <a:t>new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Bird();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25" dirty="0">
                <a:latin typeface="Cambria"/>
                <a:cs typeface="Cambria"/>
              </a:rPr>
              <a:t>a.fly();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28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Compile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error: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The </a:t>
            </a:r>
            <a:r>
              <a:rPr sz="1400" spc="10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method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fly()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is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undefined </a:t>
            </a:r>
            <a:r>
              <a:rPr sz="1400" spc="15" dirty="0">
                <a:latin typeface="Cambria"/>
                <a:cs typeface="Cambria"/>
              </a:rPr>
              <a:t>for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the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type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Animal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675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285115" indent="-273050">
              <a:lnSpc>
                <a:spcPts val="2875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So </a:t>
            </a:r>
            <a:r>
              <a:rPr sz="2400" spc="110" dirty="0">
                <a:latin typeface="Cambria"/>
                <a:cs typeface="Cambria"/>
              </a:rPr>
              <a:t>what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do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call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subclass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available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Parent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class?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25" dirty="0">
                <a:latin typeface="Cambria"/>
                <a:cs typeface="Cambria"/>
              </a:rPr>
              <a:t>Casting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35" dirty="0">
                <a:latin typeface="Cambria"/>
                <a:cs typeface="Cambria"/>
              </a:rPr>
              <a:t>public </a:t>
            </a:r>
            <a:r>
              <a:rPr sz="1400" spc="50" dirty="0">
                <a:latin typeface="Cambria"/>
                <a:cs typeface="Cambria"/>
              </a:rPr>
              <a:t>class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TestPolymorphism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 marR="3731260" indent="-364490">
              <a:lnSpc>
                <a:spcPct val="100000"/>
              </a:lnSpc>
            </a:pPr>
            <a:r>
              <a:rPr sz="1400" spc="35" dirty="0">
                <a:latin typeface="Cambria"/>
                <a:cs typeface="Cambria"/>
              </a:rPr>
              <a:t>public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static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void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main(String[]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args)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Animal </a:t>
            </a:r>
            <a:r>
              <a:rPr sz="1400" spc="95" dirty="0">
                <a:latin typeface="Cambria"/>
                <a:cs typeface="Cambria"/>
              </a:rPr>
              <a:t>a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30" dirty="0">
                <a:latin typeface="Cambria"/>
                <a:cs typeface="Cambria"/>
              </a:rPr>
              <a:t>new </a:t>
            </a:r>
            <a:r>
              <a:rPr sz="1400" spc="20" dirty="0">
                <a:latin typeface="Cambria"/>
                <a:cs typeface="Cambria"/>
              </a:rPr>
              <a:t>Bird(); 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((B</a:t>
            </a:r>
            <a:r>
              <a:rPr sz="1400" spc="15" dirty="0">
                <a:latin typeface="Cambria"/>
                <a:cs typeface="Cambria"/>
              </a:rPr>
              <a:t>ird)a</a:t>
            </a:r>
            <a:r>
              <a:rPr sz="1400" spc="-5" dirty="0">
                <a:latin typeface="Cambria"/>
                <a:cs typeface="Cambria"/>
              </a:rPr>
              <a:t>)</a:t>
            </a:r>
            <a:r>
              <a:rPr sz="1400" spc="100" dirty="0">
                <a:latin typeface="Cambria"/>
                <a:cs typeface="Cambria"/>
              </a:rPr>
              <a:t>.</a:t>
            </a:r>
            <a:r>
              <a:rPr sz="1400" spc="25" dirty="0">
                <a:latin typeface="Cambria"/>
                <a:cs typeface="Cambria"/>
              </a:rPr>
              <a:t>f</a:t>
            </a:r>
            <a:r>
              <a:rPr sz="1400" spc="35" dirty="0">
                <a:latin typeface="Cambria"/>
                <a:cs typeface="Cambria"/>
              </a:rPr>
              <a:t>l</a:t>
            </a:r>
            <a:r>
              <a:rPr sz="1400" spc="60" dirty="0">
                <a:latin typeface="Cambria"/>
                <a:cs typeface="Cambria"/>
              </a:rPr>
              <a:t>y</a:t>
            </a:r>
            <a:r>
              <a:rPr sz="1400" spc="-70" dirty="0">
                <a:latin typeface="Cambria"/>
                <a:cs typeface="Cambria"/>
              </a:rPr>
              <a:t>(</a:t>
            </a:r>
            <a:r>
              <a:rPr sz="1400" spc="-85" dirty="0">
                <a:latin typeface="Cambria"/>
                <a:cs typeface="Cambria"/>
              </a:rPr>
              <a:t>)</a:t>
            </a:r>
            <a:r>
              <a:rPr sz="1400" spc="20" dirty="0">
                <a:latin typeface="Cambria"/>
                <a:cs typeface="Cambria"/>
              </a:rPr>
              <a:t>;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190" dirty="0">
                <a:latin typeface="Cambria"/>
                <a:cs typeface="Cambria"/>
              </a:rPr>
              <a:t>OK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36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z="2400" spc="300" dirty="0"/>
              <a:t>ASTING</a:t>
            </a:r>
            <a:r>
              <a:rPr sz="2400" spc="275" dirty="0"/>
              <a:t> AND </a:t>
            </a:r>
            <a:r>
              <a:rPr sz="3000" spc="330" dirty="0"/>
              <a:t>C</a:t>
            </a:r>
            <a:r>
              <a:rPr sz="2400" spc="330" dirty="0"/>
              <a:t>LASSES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60590" cy="458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80" dirty="0">
                <a:latin typeface="Cambria"/>
                <a:cs typeface="Cambria"/>
              </a:rPr>
              <a:t>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instance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child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class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assigned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5" dirty="0">
                <a:latin typeface="Cambria"/>
                <a:cs typeface="Cambria"/>
              </a:rPr>
              <a:t>variable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(field)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parent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endParaRPr sz="2400">
              <a:latin typeface="Cambria"/>
              <a:cs typeface="Cambria"/>
            </a:endParaRPr>
          </a:p>
          <a:p>
            <a:pPr marL="285115" marR="124460" indent="-273050">
              <a:lnSpc>
                <a:spcPts val="2870"/>
              </a:lnSpc>
              <a:spcBef>
                <a:spcPts val="7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5" dirty="0">
                <a:latin typeface="Cambria"/>
                <a:cs typeface="Cambria"/>
              </a:rPr>
              <a:t>variable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references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subtype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cast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down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its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subclass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explicit</a:t>
            </a:r>
            <a:r>
              <a:rPr sz="2400" b="1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cast.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runtime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error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occurs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when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explicitly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casting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an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not.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55" dirty="0">
                <a:latin typeface="Cambria"/>
                <a:cs typeface="Cambria"/>
              </a:rPr>
              <a:t>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object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Parent </a:t>
            </a:r>
            <a:r>
              <a:rPr sz="2100" spc="65" dirty="0">
                <a:latin typeface="Cambria"/>
                <a:cs typeface="Cambria"/>
              </a:rPr>
              <a:t>cannot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cast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30" dirty="0">
                <a:latin typeface="Cambria"/>
                <a:cs typeface="Cambria"/>
              </a:rPr>
              <a:t>Child.</a:t>
            </a:r>
            <a:endParaRPr sz="2100">
              <a:latin typeface="Cambria"/>
              <a:cs typeface="Cambria"/>
            </a:endParaRPr>
          </a:p>
          <a:p>
            <a:pPr marL="285115" marR="1193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shown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next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page,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cast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"(Uncle)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object"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runtime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error</a:t>
            </a:r>
            <a:endParaRPr sz="2400">
              <a:latin typeface="Cambria"/>
              <a:cs typeface="Cambria"/>
            </a:endParaRPr>
          </a:p>
          <a:p>
            <a:pPr marL="652780" marR="21717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  <a:tab pos="3317875" algn="l"/>
              </a:tabLst>
            </a:pPr>
            <a:r>
              <a:rPr sz="2100" spc="50" dirty="0">
                <a:latin typeface="Cambria"/>
                <a:cs typeface="Cambria"/>
              </a:rPr>
              <a:t>because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at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that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time	</a:t>
            </a: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holds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125" dirty="0">
                <a:latin typeface="Cambria"/>
                <a:cs typeface="Cambria"/>
              </a:rPr>
              <a:t>Child </a:t>
            </a:r>
            <a:r>
              <a:rPr sz="2100" spc="85" dirty="0">
                <a:latin typeface="Cambria"/>
                <a:cs typeface="Cambria"/>
              </a:rPr>
              <a:t>class,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not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35" dirty="0">
                <a:latin typeface="Cambria"/>
                <a:cs typeface="Cambria"/>
              </a:rPr>
              <a:t>(or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subclass)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 </a:t>
            </a:r>
            <a:r>
              <a:rPr sz="2100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Uncle.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36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0" dirty="0"/>
              <a:t>C</a:t>
            </a:r>
            <a:r>
              <a:rPr sz="2400" spc="300" dirty="0"/>
              <a:t>ASTING</a:t>
            </a:r>
            <a:r>
              <a:rPr sz="2400" spc="275" dirty="0"/>
              <a:t> AND </a:t>
            </a:r>
            <a:r>
              <a:rPr sz="3000" spc="330" dirty="0"/>
              <a:t>C</a:t>
            </a:r>
            <a:r>
              <a:rPr sz="2400" spc="330" dirty="0"/>
              <a:t>LASSES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4431665" cy="3180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0" dirty="0">
                <a:latin typeface="Cambria"/>
                <a:cs typeface="Cambria"/>
              </a:rPr>
              <a:t>class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85" dirty="0">
                <a:latin typeface="Cambria"/>
                <a:cs typeface="Cambria"/>
              </a:rPr>
              <a:t>Casting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 marR="813435" indent="-364490">
              <a:lnSpc>
                <a:spcPct val="100000"/>
              </a:lnSpc>
            </a:pPr>
            <a:r>
              <a:rPr sz="1400" spc="35" dirty="0">
                <a:latin typeface="Cambria"/>
                <a:cs typeface="Cambria"/>
              </a:rPr>
              <a:t>public </a:t>
            </a:r>
            <a:r>
              <a:rPr sz="1400" spc="55" dirty="0">
                <a:latin typeface="Cambria"/>
                <a:cs typeface="Cambria"/>
              </a:rPr>
              <a:t>static </a:t>
            </a:r>
            <a:r>
              <a:rPr sz="1400" spc="20" dirty="0">
                <a:latin typeface="Cambria"/>
                <a:cs typeface="Cambria"/>
              </a:rPr>
              <a:t>void </a:t>
            </a:r>
            <a:r>
              <a:rPr sz="1400" spc="40" dirty="0">
                <a:latin typeface="Cambria"/>
                <a:cs typeface="Cambria"/>
              </a:rPr>
              <a:t>main( </a:t>
            </a:r>
            <a:r>
              <a:rPr sz="1400" spc="80" dirty="0">
                <a:latin typeface="Cambria"/>
                <a:cs typeface="Cambria"/>
              </a:rPr>
              <a:t>String </a:t>
            </a:r>
            <a:r>
              <a:rPr sz="1400" spc="30" dirty="0">
                <a:latin typeface="Cambria"/>
                <a:cs typeface="Cambria"/>
              </a:rPr>
              <a:t>args[] </a:t>
            </a:r>
            <a:r>
              <a:rPr sz="1400" spc="-70" dirty="0">
                <a:latin typeface="Cambria"/>
                <a:cs typeface="Cambria"/>
              </a:rPr>
              <a:t>)</a:t>
            </a:r>
            <a:r>
              <a:rPr sz="1400" spc="-65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Object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object;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70" dirty="0">
                <a:latin typeface="Cambria"/>
                <a:cs typeface="Cambria"/>
              </a:rPr>
              <a:t>Parent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parent;</a:t>
            </a:r>
            <a:endParaRPr sz="1400">
              <a:latin typeface="Cambria"/>
              <a:cs typeface="Cambria"/>
            </a:endParaRPr>
          </a:p>
          <a:p>
            <a:pPr marL="744220" marR="1570990">
              <a:lnSpc>
                <a:spcPct val="100000"/>
              </a:lnSpc>
            </a:pPr>
            <a:r>
              <a:rPr sz="1400" spc="85" dirty="0">
                <a:latin typeface="Cambria"/>
                <a:cs typeface="Cambria"/>
              </a:rPr>
              <a:t>Child</a:t>
            </a:r>
            <a:r>
              <a:rPr sz="1400" spc="45" dirty="0">
                <a:latin typeface="Cambria"/>
                <a:cs typeface="Cambria"/>
              </a:rPr>
              <a:t> child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new</a:t>
            </a:r>
            <a:r>
              <a:rPr sz="1400" spc="40" dirty="0">
                <a:latin typeface="Cambria"/>
                <a:cs typeface="Cambria"/>
              </a:rPr>
              <a:t> Child();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Uncle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uncle;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50" dirty="0">
                <a:latin typeface="Cambria"/>
                <a:cs typeface="Cambria"/>
              </a:rPr>
              <a:t>parent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child;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15" dirty="0">
                <a:latin typeface="Cambria"/>
                <a:cs typeface="Cambria"/>
              </a:rPr>
              <a:t>object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child;</a:t>
            </a:r>
            <a:endParaRPr sz="1400">
              <a:latin typeface="Cambria"/>
              <a:cs typeface="Cambria"/>
            </a:endParaRPr>
          </a:p>
          <a:p>
            <a:pPr marL="744220" marR="5080">
              <a:lnSpc>
                <a:spcPct val="100000"/>
              </a:lnSpc>
            </a:pPr>
            <a:r>
              <a:rPr sz="1400" spc="50" dirty="0">
                <a:latin typeface="Cambria"/>
                <a:cs typeface="Cambria"/>
              </a:rPr>
              <a:t>parent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(Parent)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object;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explicit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cast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down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child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spc="40" dirty="0">
                <a:latin typeface="Cambria"/>
                <a:cs typeface="Cambria"/>
              </a:rPr>
              <a:t>(Child)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object;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explicit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cast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down 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uncle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(Uncle)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object;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//Runtime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exception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65" dirty="0">
                <a:latin typeface="Cambria"/>
                <a:cs typeface="Cambria"/>
              </a:rPr>
              <a:t>Output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62321"/>
            <a:ext cx="7271384" cy="167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latin typeface="Cambria"/>
                <a:cs typeface="Cambria"/>
              </a:rPr>
              <a:t>java.lang.ClassCastException: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Child: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cannot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cast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Uncle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  <a:tab pos="956310" algn="l"/>
              </a:tabLst>
            </a:pP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cast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"(Uncle)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object"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runtime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error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because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time	</a:t>
            </a:r>
            <a:r>
              <a:rPr sz="2000" spc="25" dirty="0">
                <a:latin typeface="Cambria"/>
                <a:cs typeface="Cambria"/>
              </a:rPr>
              <a:t>object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holds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an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instance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Child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class,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which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 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not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type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(or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subclass)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Uncle.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68058" y="2198497"/>
            <a:ext cx="813435" cy="1218565"/>
            <a:chOff x="6568058" y="2198497"/>
            <a:chExt cx="813435" cy="1218565"/>
          </a:xfrm>
        </p:grpSpPr>
        <p:sp>
          <p:nvSpPr>
            <p:cNvPr id="6" name="object 6"/>
            <p:cNvSpPr/>
            <p:nvPr/>
          </p:nvSpPr>
          <p:spPr>
            <a:xfrm>
              <a:off x="6580758" y="2620391"/>
              <a:ext cx="788035" cy="187960"/>
            </a:xfrm>
            <a:custGeom>
              <a:avLst/>
              <a:gdLst/>
              <a:ahLst/>
              <a:cxnLst/>
              <a:rect l="l" t="t" r="r" b="b"/>
              <a:pathLst>
                <a:path w="788034" h="187960">
                  <a:moveTo>
                    <a:pt x="393826" y="0"/>
                  </a:moveTo>
                  <a:lnTo>
                    <a:pt x="393826" y="127762"/>
                  </a:lnTo>
                  <a:lnTo>
                    <a:pt x="787654" y="127762"/>
                  </a:lnTo>
                  <a:lnTo>
                    <a:pt x="787654" y="187451"/>
                  </a:lnTo>
                </a:path>
                <a:path w="788034" h="187960">
                  <a:moveTo>
                    <a:pt x="393826" y="0"/>
                  </a:moveTo>
                  <a:lnTo>
                    <a:pt x="393826" y="127762"/>
                  </a:lnTo>
                  <a:lnTo>
                    <a:pt x="0" y="127762"/>
                  </a:lnTo>
                  <a:lnTo>
                    <a:pt x="0" y="187451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52386" y="2211197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4" y="0"/>
                  </a:moveTo>
                  <a:lnTo>
                    <a:pt x="40894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8300"/>
                  </a:lnTo>
                  <a:lnTo>
                    <a:pt x="3210" y="384226"/>
                  </a:lnTo>
                  <a:lnTo>
                    <a:pt x="11969" y="397224"/>
                  </a:lnTo>
                  <a:lnTo>
                    <a:pt x="24967" y="405983"/>
                  </a:lnTo>
                  <a:lnTo>
                    <a:pt x="40894" y="409193"/>
                  </a:lnTo>
                  <a:lnTo>
                    <a:pt x="603504" y="409193"/>
                  </a:lnTo>
                  <a:lnTo>
                    <a:pt x="619430" y="405983"/>
                  </a:lnTo>
                  <a:lnTo>
                    <a:pt x="632428" y="397224"/>
                  </a:lnTo>
                  <a:lnTo>
                    <a:pt x="641187" y="384226"/>
                  </a:lnTo>
                  <a:lnTo>
                    <a:pt x="644398" y="368300"/>
                  </a:lnTo>
                  <a:lnTo>
                    <a:pt x="644398" y="40893"/>
                  </a:lnTo>
                  <a:lnTo>
                    <a:pt x="641187" y="24967"/>
                  </a:lnTo>
                  <a:lnTo>
                    <a:pt x="632428" y="11969"/>
                  </a:lnTo>
                  <a:lnTo>
                    <a:pt x="619430" y="3210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52386" y="2211197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4" y="0"/>
                  </a:lnTo>
                  <a:lnTo>
                    <a:pt x="603504" y="0"/>
                  </a:lnTo>
                  <a:lnTo>
                    <a:pt x="619430" y="3210"/>
                  </a:lnTo>
                  <a:lnTo>
                    <a:pt x="632428" y="11969"/>
                  </a:lnTo>
                  <a:lnTo>
                    <a:pt x="641187" y="24967"/>
                  </a:lnTo>
                  <a:lnTo>
                    <a:pt x="644398" y="40893"/>
                  </a:lnTo>
                  <a:lnTo>
                    <a:pt x="644398" y="368300"/>
                  </a:lnTo>
                  <a:lnTo>
                    <a:pt x="641187" y="384226"/>
                  </a:lnTo>
                  <a:lnTo>
                    <a:pt x="632428" y="397224"/>
                  </a:lnTo>
                  <a:lnTo>
                    <a:pt x="619430" y="405983"/>
                  </a:lnTo>
                  <a:lnTo>
                    <a:pt x="603504" y="409193"/>
                  </a:lnTo>
                  <a:lnTo>
                    <a:pt x="40894" y="409193"/>
                  </a:lnTo>
                  <a:lnTo>
                    <a:pt x="24967" y="405983"/>
                  </a:lnTo>
                  <a:lnTo>
                    <a:pt x="11969" y="397224"/>
                  </a:lnTo>
                  <a:lnTo>
                    <a:pt x="3210" y="384226"/>
                  </a:lnTo>
                  <a:lnTo>
                    <a:pt x="0" y="368300"/>
                  </a:lnTo>
                  <a:lnTo>
                    <a:pt x="0" y="4089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24014" y="2279142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3" y="0"/>
                  </a:moveTo>
                  <a:lnTo>
                    <a:pt x="40893" y="0"/>
                  </a:lnTo>
                  <a:lnTo>
                    <a:pt x="24967" y="3230"/>
                  </a:lnTo>
                  <a:lnTo>
                    <a:pt x="11969" y="12033"/>
                  </a:lnTo>
                  <a:lnTo>
                    <a:pt x="3210" y="25074"/>
                  </a:lnTo>
                  <a:lnTo>
                    <a:pt x="0" y="41021"/>
                  </a:lnTo>
                  <a:lnTo>
                    <a:pt x="0" y="368300"/>
                  </a:lnTo>
                  <a:lnTo>
                    <a:pt x="3210" y="384246"/>
                  </a:lnTo>
                  <a:lnTo>
                    <a:pt x="11969" y="397287"/>
                  </a:lnTo>
                  <a:lnTo>
                    <a:pt x="24967" y="406090"/>
                  </a:lnTo>
                  <a:lnTo>
                    <a:pt x="40893" y="409321"/>
                  </a:lnTo>
                  <a:lnTo>
                    <a:pt x="603503" y="409321"/>
                  </a:lnTo>
                  <a:lnTo>
                    <a:pt x="619430" y="406090"/>
                  </a:lnTo>
                  <a:lnTo>
                    <a:pt x="632428" y="397287"/>
                  </a:lnTo>
                  <a:lnTo>
                    <a:pt x="641187" y="384246"/>
                  </a:lnTo>
                  <a:lnTo>
                    <a:pt x="644398" y="368300"/>
                  </a:lnTo>
                  <a:lnTo>
                    <a:pt x="644398" y="41021"/>
                  </a:lnTo>
                  <a:lnTo>
                    <a:pt x="641187" y="25074"/>
                  </a:lnTo>
                  <a:lnTo>
                    <a:pt x="632428" y="12033"/>
                  </a:lnTo>
                  <a:lnTo>
                    <a:pt x="619430" y="3230"/>
                  </a:lnTo>
                  <a:lnTo>
                    <a:pt x="60350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4014" y="2279142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1021"/>
                  </a:moveTo>
                  <a:lnTo>
                    <a:pt x="3210" y="25074"/>
                  </a:lnTo>
                  <a:lnTo>
                    <a:pt x="11969" y="12033"/>
                  </a:lnTo>
                  <a:lnTo>
                    <a:pt x="24967" y="3230"/>
                  </a:lnTo>
                  <a:lnTo>
                    <a:pt x="40893" y="0"/>
                  </a:lnTo>
                  <a:lnTo>
                    <a:pt x="603503" y="0"/>
                  </a:lnTo>
                  <a:lnTo>
                    <a:pt x="619430" y="3230"/>
                  </a:lnTo>
                  <a:lnTo>
                    <a:pt x="632428" y="12033"/>
                  </a:lnTo>
                  <a:lnTo>
                    <a:pt x="641187" y="25074"/>
                  </a:lnTo>
                  <a:lnTo>
                    <a:pt x="644398" y="41021"/>
                  </a:lnTo>
                  <a:lnTo>
                    <a:pt x="644398" y="368300"/>
                  </a:lnTo>
                  <a:lnTo>
                    <a:pt x="641187" y="384246"/>
                  </a:lnTo>
                  <a:lnTo>
                    <a:pt x="632428" y="397287"/>
                  </a:lnTo>
                  <a:lnTo>
                    <a:pt x="619430" y="406090"/>
                  </a:lnTo>
                  <a:lnTo>
                    <a:pt x="603503" y="409321"/>
                  </a:lnTo>
                  <a:lnTo>
                    <a:pt x="40893" y="409321"/>
                  </a:lnTo>
                  <a:lnTo>
                    <a:pt x="24967" y="406090"/>
                  </a:lnTo>
                  <a:lnTo>
                    <a:pt x="11969" y="397287"/>
                  </a:lnTo>
                  <a:lnTo>
                    <a:pt x="3210" y="384246"/>
                  </a:lnTo>
                  <a:lnTo>
                    <a:pt x="0" y="368300"/>
                  </a:lnTo>
                  <a:lnTo>
                    <a:pt x="0" y="41021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80758" y="3217036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0"/>
                  </a:moveTo>
                  <a:lnTo>
                    <a:pt x="0" y="187325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08089" y="2369311"/>
            <a:ext cx="478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85" dirty="0">
                <a:latin typeface="Cambria"/>
                <a:cs typeface="Cambria"/>
              </a:rPr>
              <a:t>O</a:t>
            </a:r>
            <a:r>
              <a:rPr sz="1200" spc="75" dirty="0">
                <a:latin typeface="Cambria"/>
                <a:cs typeface="Cambria"/>
              </a:rPr>
              <a:t>b</a:t>
            </a:r>
            <a:r>
              <a:rPr sz="1200" spc="35" dirty="0">
                <a:latin typeface="Cambria"/>
                <a:cs typeface="Cambria"/>
              </a:rPr>
              <a:t>j</a:t>
            </a:r>
            <a:r>
              <a:rPr sz="1200" spc="5" dirty="0">
                <a:latin typeface="Cambria"/>
                <a:cs typeface="Cambria"/>
              </a:rPr>
              <a:t>e</a:t>
            </a:r>
            <a:r>
              <a:rPr sz="1200" dirty="0">
                <a:latin typeface="Cambria"/>
                <a:cs typeface="Cambria"/>
              </a:rPr>
              <a:t>c</a:t>
            </a:r>
            <a:r>
              <a:rPr sz="1200" spc="60" dirty="0">
                <a:latin typeface="Cambria"/>
                <a:cs typeface="Cambria"/>
              </a:rPr>
              <a:t>t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45859" y="2795142"/>
            <a:ext cx="741680" cy="502920"/>
            <a:chOff x="6245859" y="2795142"/>
            <a:chExt cx="741680" cy="502920"/>
          </a:xfrm>
        </p:grpSpPr>
        <p:sp>
          <p:nvSpPr>
            <p:cNvPr id="14" name="object 14"/>
            <p:cNvSpPr/>
            <p:nvPr/>
          </p:nvSpPr>
          <p:spPr>
            <a:xfrm>
              <a:off x="6258559" y="2807842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4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4"/>
                  </a:lnTo>
                  <a:lnTo>
                    <a:pt x="0" y="368300"/>
                  </a:lnTo>
                  <a:lnTo>
                    <a:pt x="3210" y="384173"/>
                  </a:lnTo>
                  <a:lnTo>
                    <a:pt x="11969" y="397176"/>
                  </a:lnTo>
                  <a:lnTo>
                    <a:pt x="24967" y="405965"/>
                  </a:lnTo>
                  <a:lnTo>
                    <a:pt x="40893" y="409194"/>
                  </a:lnTo>
                  <a:lnTo>
                    <a:pt x="603504" y="409194"/>
                  </a:lnTo>
                  <a:lnTo>
                    <a:pt x="619430" y="405965"/>
                  </a:lnTo>
                  <a:lnTo>
                    <a:pt x="632428" y="397176"/>
                  </a:lnTo>
                  <a:lnTo>
                    <a:pt x="641187" y="384173"/>
                  </a:lnTo>
                  <a:lnTo>
                    <a:pt x="644397" y="368300"/>
                  </a:lnTo>
                  <a:lnTo>
                    <a:pt x="644397" y="40894"/>
                  </a:lnTo>
                  <a:lnTo>
                    <a:pt x="641187" y="24967"/>
                  </a:lnTo>
                  <a:lnTo>
                    <a:pt x="632428" y="11969"/>
                  </a:lnTo>
                  <a:lnTo>
                    <a:pt x="619430" y="3210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58559" y="2807842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0894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603504" y="0"/>
                  </a:lnTo>
                  <a:lnTo>
                    <a:pt x="619430" y="3210"/>
                  </a:lnTo>
                  <a:lnTo>
                    <a:pt x="632428" y="11969"/>
                  </a:lnTo>
                  <a:lnTo>
                    <a:pt x="641187" y="24967"/>
                  </a:lnTo>
                  <a:lnTo>
                    <a:pt x="644397" y="40894"/>
                  </a:lnTo>
                  <a:lnTo>
                    <a:pt x="644397" y="368300"/>
                  </a:lnTo>
                  <a:lnTo>
                    <a:pt x="641187" y="384173"/>
                  </a:lnTo>
                  <a:lnTo>
                    <a:pt x="632428" y="397176"/>
                  </a:lnTo>
                  <a:lnTo>
                    <a:pt x="619430" y="405965"/>
                  </a:lnTo>
                  <a:lnTo>
                    <a:pt x="603504" y="409194"/>
                  </a:lnTo>
                  <a:lnTo>
                    <a:pt x="40893" y="409194"/>
                  </a:lnTo>
                  <a:lnTo>
                    <a:pt x="24967" y="405965"/>
                  </a:lnTo>
                  <a:lnTo>
                    <a:pt x="11969" y="397176"/>
                  </a:lnTo>
                  <a:lnTo>
                    <a:pt x="3210" y="384173"/>
                  </a:lnTo>
                  <a:lnTo>
                    <a:pt x="0" y="368300"/>
                  </a:lnTo>
                  <a:lnTo>
                    <a:pt x="0" y="4089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30187" y="2875787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4" y="0"/>
                  </a:moveTo>
                  <a:lnTo>
                    <a:pt x="40894" y="0"/>
                  </a:lnTo>
                  <a:lnTo>
                    <a:pt x="24967" y="3228"/>
                  </a:lnTo>
                  <a:lnTo>
                    <a:pt x="11969" y="12017"/>
                  </a:lnTo>
                  <a:lnTo>
                    <a:pt x="3210" y="25020"/>
                  </a:lnTo>
                  <a:lnTo>
                    <a:pt x="0" y="40894"/>
                  </a:lnTo>
                  <a:lnTo>
                    <a:pt x="0" y="368300"/>
                  </a:lnTo>
                  <a:lnTo>
                    <a:pt x="3210" y="384226"/>
                  </a:lnTo>
                  <a:lnTo>
                    <a:pt x="11969" y="397224"/>
                  </a:lnTo>
                  <a:lnTo>
                    <a:pt x="24967" y="405983"/>
                  </a:lnTo>
                  <a:lnTo>
                    <a:pt x="40894" y="409194"/>
                  </a:lnTo>
                  <a:lnTo>
                    <a:pt x="603504" y="409194"/>
                  </a:lnTo>
                  <a:lnTo>
                    <a:pt x="619430" y="405983"/>
                  </a:lnTo>
                  <a:lnTo>
                    <a:pt x="632428" y="397224"/>
                  </a:lnTo>
                  <a:lnTo>
                    <a:pt x="641187" y="384226"/>
                  </a:lnTo>
                  <a:lnTo>
                    <a:pt x="644397" y="368300"/>
                  </a:lnTo>
                  <a:lnTo>
                    <a:pt x="644397" y="40894"/>
                  </a:lnTo>
                  <a:lnTo>
                    <a:pt x="641187" y="25020"/>
                  </a:lnTo>
                  <a:lnTo>
                    <a:pt x="632428" y="12017"/>
                  </a:lnTo>
                  <a:lnTo>
                    <a:pt x="619430" y="3228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30187" y="2875787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0894"/>
                  </a:moveTo>
                  <a:lnTo>
                    <a:pt x="3210" y="25020"/>
                  </a:lnTo>
                  <a:lnTo>
                    <a:pt x="11969" y="12017"/>
                  </a:lnTo>
                  <a:lnTo>
                    <a:pt x="24967" y="3228"/>
                  </a:lnTo>
                  <a:lnTo>
                    <a:pt x="40894" y="0"/>
                  </a:lnTo>
                  <a:lnTo>
                    <a:pt x="603504" y="0"/>
                  </a:lnTo>
                  <a:lnTo>
                    <a:pt x="619430" y="3228"/>
                  </a:lnTo>
                  <a:lnTo>
                    <a:pt x="632428" y="12017"/>
                  </a:lnTo>
                  <a:lnTo>
                    <a:pt x="641187" y="25020"/>
                  </a:lnTo>
                  <a:lnTo>
                    <a:pt x="644397" y="40894"/>
                  </a:lnTo>
                  <a:lnTo>
                    <a:pt x="644397" y="368300"/>
                  </a:lnTo>
                  <a:lnTo>
                    <a:pt x="641187" y="384226"/>
                  </a:lnTo>
                  <a:lnTo>
                    <a:pt x="632428" y="397224"/>
                  </a:lnTo>
                  <a:lnTo>
                    <a:pt x="619430" y="405983"/>
                  </a:lnTo>
                  <a:lnTo>
                    <a:pt x="603504" y="409194"/>
                  </a:lnTo>
                  <a:lnTo>
                    <a:pt x="40894" y="409194"/>
                  </a:lnTo>
                  <a:lnTo>
                    <a:pt x="24967" y="405983"/>
                  </a:lnTo>
                  <a:lnTo>
                    <a:pt x="11969" y="397224"/>
                  </a:lnTo>
                  <a:lnTo>
                    <a:pt x="3210" y="384226"/>
                  </a:lnTo>
                  <a:lnTo>
                    <a:pt x="0" y="368300"/>
                  </a:lnTo>
                  <a:lnTo>
                    <a:pt x="0" y="40894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99021" y="2966084"/>
            <a:ext cx="5086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14" dirty="0">
                <a:latin typeface="Cambria"/>
                <a:cs typeface="Cambria"/>
              </a:rPr>
              <a:t>P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30" dirty="0">
                <a:latin typeface="Cambria"/>
                <a:cs typeface="Cambria"/>
              </a:rPr>
              <a:t>r</a:t>
            </a:r>
            <a:r>
              <a:rPr sz="1200" spc="45" dirty="0">
                <a:latin typeface="Cambria"/>
                <a:cs typeface="Cambria"/>
              </a:rPr>
              <a:t>ent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45859" y="3391661"/>
            <a:ext cx="741680" cy="502920"/>
            <a:chOff x="6245859" y="3391661"/>
            <a:chExt cx="741680" cy="502920"/>
          </a:xfrm>
        </p:grpSpPr>
        <p:sp>
          <p:nvSpPr>
            <p:cNvPr id="20" name="object 20"/>
            <p:cNvSpPr/>
            <p:nvPr/>
          </p:nvSpPr>
          <p:spPr>
            <a:xfrm>
              <a:off x="6258559" y="3404361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4" y="0"/>
                  </a:moveTo>
                  <a:lnTo>
                    <a:pt x="40893" y="0"/>
                  </a:lnTo>
                  <a:lnTo>
                    <a:pt x="24967" y="3230"/>
                  </a:lnTo>
                  <a:lnTo>
                    <a:pt x="11969" y="12033"/>
                  </a:lnTo>
                  <a:lnTo>
                    <a:pt x="3210" y="25074"/>
                  </a:lnTo>
                  <a:lnTo>
                    <a:pt x="0" y="41021"/>
                  </a:lnTo>
                  <a:lnTo>
                    <a:pt x="0" y="368300"/>
                  </a:lnTo>
                  <a:lnTo>
                    <a:pt x="3210" y="384226"/>
                  </a:lnTo>
                  <a:lnTo>
                    <a:pt x="11969" y="397224"/>
                  </a:lnTo>
                  <a:lnTo>
                    <a:pt x="24967" y="405983"/>
                  </a:lnTo>
                  <a:lnTo>
                    <a:pt x="40893" y="409194"/>
                  </a:lnTo>
                  <a:lnTo>
                    <a:pt x="603504" y="409194"/>
                  </a:lnTo>
                  <a:lnTo>
                    <a:pt x="619430" y="405983"/>
                  </a:lnTo>
                  <a:lnTo>
                    <a:pt x="632428" y="397224"/>
                  </a:lnTo>
                  <a:lnTo>
                    <a:pt x="641187" y="384226"/>
                  </a:lnTo>
                  <a:lnTo>
                    <a:pt x="644397" y="368300"/>
                  </a:lnTo>
                  <a:lnTo>
                    <a:pt x="644397" y="41021"/>
                  </a:lnTo>
                  <a:lnTo>
                    <a:pt x="641187" y="25074"/>
                  </a:lnTo>
                  <a:lnTo>
                    <a:pt x="632428" y="12033"/>
                  </a:lnTo>
                  <a:lnTo>
                    <a:pt x="619430" y="3230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8559" y="3404361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1021"/>
                  </a:moveTo>
                  <a:lnTo>
                    <a:pt x="3210" y="25074"/>
                  </a:lnTo>
                  <a:lnTo>
                    <a:pt x="11969" y="12033"/>
                  </a:lnTo>
                  <a:lnTo>
                    <a:pt x="24967" y="3230"/>
                  </a:lnTo>
                  <a:lnTo>
                    <a:pt x="40893" y="0"/>
                  </a:lnTo>
                  <a:lnTo>
                    <a:pt x="603504" y="0"/>
                  </a:lnTo>
                  <a:lnTo>
                    <a:pt x="619430" y="3230"/>
                  </a:lnTo>
                  <a:lnTo>
                    <a:pt x="632428" y="12033"/>
                  </a:lnTo>
                  <a:lnTo>
                    <a:pt x="641187" y="25074"/>
                  </a:lnTo>
                  <a:lnTo>
                    <a:pt x="644397" y="41021"/>
                  </a:lnTo>
                  <a:lnTo>
                    <a:pt x="644397" y="368300"/>
                  </a:lnTo>
                  <a:lnTo>
                    <a:pt x="641187" y="384226"/>
                  </a:lnTo>
                  <a:lnTo>
                    <a:pt x="632428" y="397224"/>
                  </a:lnTo>
                  <a:lnTo>
                    <a:pt x="619430" y="405983"/>
                  </a:lnTo>
                  <a:lnTo>
                    <a:pt x="603504" y="409194"/>
                  </a:lnTo>
                  <a:lnTo>
                    <a:pt x="40893" y="409194"/>
                  </a:lnTo>
                  <a:lnTo>
                    <a:pt x="24967" y="405983"/>
                  </a:lnTo>
                  <a:lnTo>
                    <a:pt x="11969" y="397224"/>
                  </a:lnTo>
                  <a:lnTo>
                    <a:pt x="3210" y="384226"/>
                  </a:lnTo>
                  <a:lnTo>
                    <a:pt x="0" y="368300"/>
                  </a:lnTo>
                  <a:lnTo>
                    <a:pt x="0" y="4102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30187" y="3472433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4" y="0"/>
                  </a:moveTo>
                  <a:lnTo>
                    <a:pt x="40894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3"/>
                  </a:lnTo>
                  <a:lnTo>
                    <a:pt x="0" y="368299"/>
                  </a:lnTo>
                  <a:lnTo>
                    <a:pt x="3210" y="384226"/>
                  </a:lnTo>
                  <a:lnTo>
                    <a:pt x="11969" y="397224"/>
                  </a:lnTo>
                  <a:lnTo>
                    <a:pt x="24967" y="405983"/>
                  </a:lnTo>
                  <a:lnTo>
                    <a:pt x="40894" y="409193"/>
                  </a:lnTo>
                  <a:lnTo>
                    <a:pt x="603504" y="409193"/>
                  </a:lnTo>
                  <a:lnTo>
                    <a:pt x="619430" y="405983"/>
                  </a:lnTo>
                  <a:lnTo>
                    <a:pt x="632428" y="397224"/>
                  </a:lnTo>
                  <a:lnTo>
                    <a:pt x="641187" y="384226"/>
                  </a:lnTo>
                  <a:lnTo>
                    <a:pt x="644397" y="368299"/>
                  </a:lnTo>
                  <a:lnTo>
                    <a:pt x="644397" y="40893"/>
                  </a:lnTo>
                  <a:lnTo>
                    <a:pt x="641187" y="24967"/>
                  </a:lnTo>
                  <a:lnTo>
                    <a:pt x="632428" y="11969"/>
                  </a:lnTo>
                  <a:lnTo>
                    <a:pt x="619430" y="3210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30187" y="3472433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0893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4" y="0"/>
                  </a:lnTo>
                  <a:lnTo>
                    <a:pt x="603504" y="0"/>
                  </a:lnTo>
                  <a:lnTo>
                    <a:pt x="619430" y="3210"/>
                  </a:lnTo>
                  <a:lnTo>
                    <a:pt x="632428" y="11969"/>
                  </a:lnTo>
                  <a:lnTo>
                    <a:pt x="641187" y="24967"/>
                  </a:lnTo>
                  <a:lnTo>
                    <a:pt x="644397" y="40893"/>
                  </a:lnTo>
                  <a:lnTo>
                    <a:pt x="644397" y="368299"/>
                  </a:lnTo>
                  <a:lnTo>
                    <a:pt x="641187" y="384226"/>
                  </a:lnTo>
                  <a:lnTo>
                    <a:pt x="632428" y="397224"/>
                  </a:lnTo>
                  <a:lnTo>
                    <a:pt x="619430" y="405983"/>
                  </a:lnTo>
                  <a:lnTo>
                    <a:pt x="603504" y="409193"/>
                  </a:lnTo>
                  <a:lnTo>
                    <a:pt x="40894" y="409193"/>
                  </a:lnTo>
                  <a:lnTo>
                    <a:pt x="24967" y="405983"/>
                  </a:lnTo>
                  <a:lnTo>
                    <a:pt x="11969" y="397224"/>
                  </a:lnTo>
                  <a:lnTo>
                    <a:pt x="3210" y="384226"/>
                  </a:lnTo>
                  <a:lnTo>
                    <a:pt x="0" y="368299"/>
                  </a:lnTo>
                  <a:lnTo>
                    <a:pt x="0" y="4089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46265" y="3562857"/>
            <a:ext cx="4133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Cambria"/>
                <a:cs typeface="Cambria"/>
              </a:rPr>
              <a:t>Child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33514" y="2795142"/>
            <a:ext cx="741680" cy="502920"/>
            <a:chOff x="7033514" y="2795142"/>
            <a:chExt cx="741680" cy="502920"/>
          </a:xfrm>
        </p:grpSpPr>
        <p:sp>
          <p:nvSpPr>
            <p:cNvPr id="26" name="object 26"/>
            <p:cNvSpPr/>
            <p:nvPr/>
          </p:nvSpPr>
          <p:spPr>
            <a:xfrm>
              <a:off x="7046214" y="2807842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3" y="0"/>
                  </a:moveTo>
                  <a:lnTo>
                    <a:pt x="40893" y="0"/>
                  </a:lnTo>
                  <a:lnTo>
                    <a:pt x="24967" y="3210"/>
                  </a:lnTo>
                  <a:lnTo>
                    <a:pt x="11969" y="11969"/>
                  </a:lnTo>
                  <a:lnTo>
                    <a:pt x="3210" y="24967"/>
                  </a:lnTo>
                  <a:lnTo>
                    <a:pt x="0" y="40894"/>
                  </a:lnTo>
                  <a:lnTo>
                    <a:pt x="0" y="368300"/>
                  </a:lnTo>
                  <a:lnTo>
                    <a:pt x="3210" y="384173"/>
                  </a:lnTo>
                  <a:lnTo>
                    <a:pt x="11969" y="397176"/>
                  </a:lnTo>
                  <a:lnTo>
                    <a:pt x="24967" y="405965"/>
                  </a:lnTo>
                  <a:lnTo>
                    <a:pt x="40893" y="409194"/>
                  </a:lnTo>
                  <a:lnTo>
                    <a:pt x="603503" y="409194"/>
                  </a:lnTo>
                  <a:lnTo>
                    <a:pt x="619430" y="405965"/>
                  </a:lnTo>
                  <a:lnTo>
                    <a:pt x="632428" y="397176"/>
                  </a:lnTo>
                  <a:lnTo>
                    <a:pt x="641187" y="384173"/>
                  </a:lnTo>
                  <a:lnTo>
                    <a:pt x="644397" y="368300"/>
                  </a:lnTo>
                  <a:lnTo>
                    <a:pt x="644397" y="40894"/>
                  </a:lnTo>
                  <a:lnTo>
                    <a:pt x="641187" y="24967"/>
                  </a:lnTo>
                  <a:lnTo>
                    <a:pt x="632428" y="11969"/>
                  </a:lnTo>
                  <a:lnTo>
                    <a:pt x="619430" y="3210"/>
                  </a:lnTo>
                  <a:lnTo>
                    <a:pt x="603503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46214" y="2807842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0894"/>
                  </a:moveTo>
                  <a:lnTo>
                    <a:pt x="3210" y="24967"/>
                  </a:lnTo>
                  <a:lnTo>
                    <a:pt x="11969" y="11969"/>
                  </a:lnTo>
                  <a:lnTo>
                    <a:pt x="24967" y="3210"/>
                  </a:lnTo>
                  <a:lnTo>
                    <a:pt x="40893" y="0"/>
                  </a:lnTo>
                  <a:lnTo>
                    <a:pt x="603503" y="0"/>
                  </a:lnTo>
                  <a:lnTo>
                    <a:pt x="619430" y="3210"/>
                  </a:lnTo>
                  <a:lnTo>
                    <a:pt x="632428" y="11969"/>
                  </a:lnTo>
                  <a:lnTo>
                    <a:pt x="641187" y="24967"/>
                  </a:lnTo>
                  <a:lnTo>
                    <a:pt x="644397" y="40894"/>
                  </a:lnTo>
                  <a:lnTo>
                    <a:pt x="644397" y="368300"/>
                  </a:lnTo>
                  <a:lnTo>
                    <a:pt x="641187" y="384173"/>
                  </a:lnTo>
                  <a:lnTo>
                    <a:pt x="632428" y="397176"/>
                  </a:lnTo>
                  <a:lnTo>
                    <a:pt x="619430" y="405965"/>
                  </a:lnTo>
                  <a:lnTo>
                    <a:pt x="603503" y="409194"/>
                  </a:lnTo>
                  <a:lnTo>
                    <a:pt x="40893" y="409194"/>
                  </a:lnTo>
                  <a:lnTo>
                    <a:pt x="24967" y="405965"/>
                  </a:lnTo>
                  <a:lnTo>
                    <a:pt x="11969" y="397176"/>
                  </a:lnTo>
                  <a:lnTo>
                    <a:pt x="3210" y="384173"/>
                  </a:lnTo>
                  <a:lnTo>
                    <a:pt x="0" y="368300"/>
                  </a:lnTo>
                  <a:lnTo>
                    <a:pt x="0" y="4089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17842" y="2875787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603503" y="0"/>
                  </a:moveTo>
                  <a:lnTo>
                    <a:pt x="40893" y="0"/>
                  </a:lnTo>
                  <a:lnTo>
                    <a:pt x="24967" y="3228"/>
                  </a:lnTo>
                  <a:lnTo>
                    <a:pt x="11969" y="12017"/>
                  </a:lnTo>
                  <a:lnTo>
                    <a:pt x="3210" y="25020"/>
                  </a:lnTo>
                  <a:lnTo>
                    <a:pt x="0" y="40894"/>
                  </a:lnTo>
                  <a:lnTo>
                    <a:pt x="0" y="368300"/>
                  </a:lnTo>
                  <a:lnTo>
                    <a:pt x="3210" y="384226"/>
                  </a:lnTo>
                  <a:lnTo>
                    <a:pt x="11969" y="397224"/>
                  </a:lnTo>
                  <a:lnTo>
                    <a:pt x="24967" y="405983"/>
                  </a:lnTo>
                  <a:lnTo>
                    <a:pt x="40893" y="409194"/>
                  </a:lnTo>
                  <a:lnTo>
                    <a:pt x="603503" y="409194"/>
                  </a:lnTo>
                  <a:lnTo>
                    <a:pt x="619430" y="405983"/>
                  </a:lnTo>
                  <a:lnTo>
                    <a:pt x="632428" y="397224"/>
                  </a:lnTo>
                  <a:lnTo>
                    <a:pt x="641187" y="384226"/>
                  </a:lnTo>
                  <a:lnTo>
                    <a:pt x="644398" y="368300"/>
                  </a:lnTo>
                  <a:lnTo>
                    <a:pt x="644398" y="40894"/>
                  </a:lnTo>
                  <a:lnTo>
                    <a:pt x="641187" y="25020"/>
                  </a:lnTo>
                  <a:lnTo>
                    <a:pt x="632428" y="12017"/>
                  </a:lnTo>
                  <a:lnTo>
                    <a:pt x="619430" y="3228"/>
                  </a:lnTo>
                  <a:lnTo>
                    <a:pt x="60350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17842" y="2875787"/>
              <a:ext cx="644525" cy="409575"/>
            </a:xfrm>
            <a:custGeom>
              <a:avLst/>
              <a:gdLst/>
              <a:ahLst/>
              <a:cxnLst/>
              <a:rect l="l" t="t" r="r" b="b"/>
              <a:pathLst>
                <a:path w="644525" h="409575">
                  <a:moveTo>
                    <a:pt x="0" y="40894"/>
                  </a:moveTo>
                  <a:lnTo>
                    <a:pt x="3210" y="25020"/>
                  </a:lnTo>
                  <a:lnTo>
                    <a:pt x="11969" y="12017"/>
                  </a:lnTo>
                  <a:lnTo>
                    <a:pt x="24967" y="3228"/>
                  </a:lnTo>
                  <a:lnTo>
                    <a:pt x="40893" y="0"/>
                  </a:lnTo>
                  <a:lnTo>
                    <a:pt x="603503" y="0"/>
                  </a:lnTo>
                  <a:lnTo>
                    <a:pt x="619430" y="3228"/>
                  </a:lnTo>
                  <a:lnTo>
                    <a:pt x="632428" y="12017"/>
                  </a:lnTo>
                  <a:lnTo>
                    <a:pt x="641187" y="25020"/>
                  </a:lnTo>
                  <a:lnTo>
                    <a:pt x="644398" y="40894"/>
                  </a:lnTo>
                  <a:lnTo>
                    <a:pt x="644398" y="368300"/>
                  </a:lnTo>
                  <a:lnTo>
                    <a:pt x="641187" y="384226"/>
                  </a:lnTo>
                  <a:lnTo>
                    <a:pt x="632428" y="397224"/>
                  </a:lnTo>
                  <a:lnTo>
                    <a:pt x="619430" y="405983"/>
                  </a:lnTo>
                  <a:lnTo>
                    <a:pt x="603503" y="409194"/>
                  </a:lnTo>
                  <a:lnTo>
                    <a:pt x="40893" y="409194"/>
                  </a:lnTo>
                  <a:lnTo>
                    <a:pt x="24967" y="405983"/>
                  </a:lnTo>
                  <a:lnTo>
                    <a:pt x="11969" y="397224"/>
                  </a:lnTo>
                  <a:lnTo>
                    <a:pt x="3210" y="384226"/>
                  </a:lnTo>
                  <a:lnTo>
                    <a:pt x="0" y="368300"/>
                  </a:lnTo>
                  <a:lnTo>
                    <a:pt x="0" y="40894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223506" y="2966084"/>
            <a:ext cx="4356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0" dirty="0">
                <a:latin typeface="Cambria"/>
                <a:cs typeface="Cambria"/>
              </a:rPr>
              <a:t>Uncle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103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P</a:t>
            </a:r>
            <a:r>
              <a:rPr sz="2400" spc="285" dirty="0"/>
              <a:t>RECAUTION</a:t>
            </a:r>
            <a:r>
              <a:rPr sz="2400" spc="320" dirty="0"/>
              <a:t> </a:t>
            </a:r>
            <a:r>
              <a:rPr sz="2400" spc="265" dirty="0"/>
              <a:t>WHILE</a:t>
            </a:r>
            <a:r>
              <a:rPr sz="2400" spc="310" dirty="0"/>
              <a:t> </a:t>
            </a:r>
            <a:r>
              <a:rPr sz="2400" spc="260" dirty="0"/>
              <a:t>DOWN</a:t>
            </a:r>
            <a:r>
              <a:rPr sz="2400" spc="280" dirty="0"/>
              <a:t> </a:t>
            </a:r>
            <a:r>
              <a:rPr sz="2400" spc="285" dirty="0"/>
              <a:t>CASTING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5932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5" dirty="0">
                <a:latin typeface="Cambria"/>
                <a:cs typeface="Cambria"/>
              </a:rPr>
              <a:t>We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first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check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type.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5" dirty="0">
                <a:latin typeface="Cambria"/>
                <a:cs typeface="Cambria"/>
              </a:rPr>
              <a:t>How?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b="1" spc="145" dirty="0">
                <a:latin typeface="Cambria"/>
                <a:cs typeface="Cambria"/>
              </a:rPr>
              <a:t>java </a:t>
            </a:r>
            <a:r>
              <a:rPr sz="2100" b="1" spc="130" dirty="0">
                <a:latin typeface="Cambria"/>
                <a:cs typeface="Cambria"/>
              </a:rPr>
              <a:t>instanceof</a:t>
            </a:r>
            <a:r>
              <a:rPr sz="2100" b="1" spc="125" dirty="0">
                <a:latin typeface="Cambria"/>
                <a:cs typeface="Cambria"/>
              </a:rPr>
              <a:t> </a:t>
            </a:r>
            <a:r>
              <a:rPr sz="2100" b="1" spc="114" dirty="0">
                <a:latin typeface="Cambria"/>
                <a:cs typeface="Cambria"/>
              </a:rPr>
              <a:t>operator</a:t>
            </a:r>
            <a:r>
              <a:rPr sz="2100" b="1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used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test </a:t>
            </a:r>
            <a:r>
              <a:rPr sz="2100" spc="7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whether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is</a:t>
            </a:r>
            <a:r>
              <a:rPr sz="2100" spc="120" dirty="0">
                <a:latin typeface="Cambria"/>
                <a:cs typeface="Cambria"/>
              </a:rPr>
              <a:t> an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instance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specified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(class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subclass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interface).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getClass()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return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“class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[ClassName]”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getClass().getName()</a:t>
            </a:r>
            <a:r>
              <a:rPr sz="2100" spc="80" dirty="0">
                <a:latin typeface="Cambria"/>
                <a:cs typeface="Cambria"/>
              </a:rPr>
              <a:t> return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name.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FD8537"/>
              </a:buClr>
              <a:buFont typeface="Segoe UI Symbol"/>
              <a:buChar char="⚫"/>
            </a:pPr>
            <a:endParaRPr sz="21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Let’s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revisit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example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polymorphism.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969002"/>
            <a:ext cx="7258684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5" dirty="0">
                <a:latin typeface="Cambria"/>
                <a:cs typeface="Cambria"/>
              </a:rPr>
              <a:t>public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class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TestPolymorphism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35" dirty="0">
                <a:latin typeface="Cambria"/>
                <a:cs typeface="Cambria"/>
              </a:rPr>
              <a:t>public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static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void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main(String[]</a:t>
            </a:r>
            <a:r>
              <a:rPr sz="1400" spc="30" dirty="0">
                <a:latin typeface="Cambria"/>
                <a:cs typeface="Cambria"/>
              </a:rPr>
              <a:t> args)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75" dirty="0">
                <a:latin typeface="Cambria"/>
                <a:cs typeface="Cambria"/>
              </a:rPr>
              <a:t>{</a:t>
            </a:r>
            <a:endParaRPr sz="14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400" spc="80" dirty="0">
                <a:latin typeface="Cambria"/>
                <a:cs typeface="Cambria"/>
              </a:rPr>
              <a:t>Animal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new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Bird();</a:t>
            </a:r>
            <a:endParaRPr sz="1400">
              <a:latin typeface="Cambria"/>
              <a:cs typeface="Cambria"/>
            </a:endParaRPr>
          </a:p>
          <a:p>
            <a:pPr marL="927100" marR="5080" indent="-192405">
              <a:lnSpc>
                <a:spcPct val="102899"/>
              </a:lnSpc>
              <a:spcBef>
                <a:spcPts val="145"/>
              </a:spcBef>
            </a:pPr>
            <a:r>
              <a:rPr sz="1400" b="1" spc="80" dirty="0">
                <a:latin typeface="Cambria"/>
                <a:cs typeface="Cambria"/>
              </a:rPr>
              <a:t>if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40" dirty="0">
                <a:latin typeface="Cambria"/>
                <a:cs typeface="Cambria"/>
              </a:rPr>
              <a:t>(a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instanceof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Bird)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can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also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use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if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(a.getClass().getName().equals("Bird"))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((Bird)a).fly();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190" dirty="0">
                <a:latin typeface="Cambria"/>
                <a:cs typeface="Cambria"/>
              </a:rPr>
              <a:t>OK</a:t>
            </a:r>
            <a:endParaRPr sz="1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47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60" dirty="0"/>
              <a:t> </a:t>
            </a:r>
            <a:r>
              <a:rPr sz="3000" spc="165" dirty="0"/>
              <a:t>–</a:t>
            </a:r>
            <a:r>
              <a:rPr sz="3000" spc="140" dirty="0"/>
              <a:t> </a:t>
            </a:r>
            <a:r>
              <a:rPr sz="3000" spc="290" dirty="0"/>
              <a:t>B</a:t>
            </a:r>
            <a:r>
              <a:rPr sz="2400" spc="290" dirty="0"/>
              <a:t>ENEFITS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3458946"/>
            <a:ext cx="7569834" cy="3044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95" dirty="0">
                <a:latin typeface="Cambria"/>
                <a:cs typeface="Cambria"/>
              </a:rPr>
              <a:t>Assume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above</a:t>
            </a:r>
            <a:r>
              <a:rPr sz="2000" spc="80" dirty="0">
                <a:latin typeface="Cambria"/>
                <a:cs typeface="Cambria"/>
              </a:rPr>
              <a:t> hierarchy.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80" dirty="0">
                <a:latin typeface="Cambria"/>
                <a:cs typeface="Cambria"/>
              </a:rPr>
              <a:t>Consider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each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has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draw()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draw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specific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85" dirty="0">
                <a:latin typeface="Cambria"/>
                <a:cs typeface="Cambria"/>
              </a:rPr>
              <a:t>shape.</a:t>
            </a:r>
            <a:endParaRPr sz="20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Also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consider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will </a:t>
            </a:r>
            <a:r>
              <a:rPr sz="2000" spc="95" dirty="0">
                <a:latin typeface="Cambria"/>
                <a:cs typeface="Cambria"/>
              </a:rPr>
              <a:t>take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Shape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 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variable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(which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can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hold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shape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object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any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its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subclass’s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" dirty="0">
                <a:latin typeface="Cambria"/>
                <a:cs typeface="Cambria"/>
              </a:rPr>
              <a:t>object)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argument and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call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draw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method.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60" dirty="0">
                <a:latin typeface="Cambria"/>
                <a:cs typeface="Cambria"/>
              </a:rPr>
              <a:t>E.g.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drawShape(Shape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shape){</a:t>
            </a:r>
            <a:endParaRPr sz="1600">
              <a:latin typeface="Cambria"/>
              <a:cs typeface="Cambria"/>
            </a:endParaRPr>
          </a:p>
          <a:p>
            <a:pPr marL="742950">
              <a:lnSpc>
                <a:spcPct val="100000"/>
              </a:lnSpc>
              <a:spcBef>
                <a:spcPts val="600"/>
              </a:spcBef>
            </a:pPr>
            <a:r>
              <a:rPr sz="1600" spc="30" dirty="0">
                <a:latin typeface="Cambria"/>
                <a:cs typeface="Cambria"/>
              </a:rPr>
              <a:t>shape.draw();</a:t>
            </a:r>
            <a:endParaRPr sz="16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66239" y="1588897"/>
            <a:ext cx="4197985" cy="1331595"/>
            <a:chOff x="2166239" y="1588897"/>
            <a:chExt cx="4197985" cy="1331595"/>
          </a:xfrm>
        </p:grpSpPr>
        <p:sp>
          <p:nvSpPr>
            <p:cNvPr id="5" name="object 5"/>
            <p:cNvSpPr/>
            <p:nvPr/>
          </p:nvSpPr>
          <p:spPr>
            <a:xfrm>
              <a:off x="4976241" y="2701036"/>
              <a:ext cx="3810" cy="205104"/>
            </a:xfrm>
            <a:custGeom>
              <a:avLst/>
              <a:gdLst/>
              <a:ahLst/>
              <a:cxnLst/>
              <a:rect l="l" t="t" r="r" b="b"/>
              <a:pathLst>
                <a:path w="3810" h="205105">
                  <a:moveTo>
                    <a:pt x="3556" y="0"/>
                  </a:moveTo>
                  <a:lnTo>
                    <a:pt x="3556" y="139573"/>
                  </a:lnTo>
                  <a:lnTo>
                    <a:pt x="0" y="139573"/>
                  </a:lnTo>
                  <a:lnTo>
                    <a:pt x="0" y="204850"/>
                  </a:lnTo>
                </a:path>
              </a:pathLst>
            </a:custGeom>
            <a:ln w="25399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39872" y="2048891"/>
              <a:ext cx="3311525" cy="205104"/>
            </a:xfrm>
            <a:custGeom>
              <a:avLst/>
              <a:gdLst/>
              <a:ahLst/>
              <a:cxnLst/>
              <a:rect l="l" t="t" r="r" b="b"/>
              <a:pathLst>
                <a:path w="3311525" h="205105">
                  <a:moveTo>
                    <a:pt x="1847214" y="0"/>
                  </a:moveTo>
                  <a:lnTo>
                    <a:pt x="1847214" y="139573"/>
                  </a:lnTo>
                  <a:lnTo>
                    <a:pt x="1939925" y="139573"/>
                  </a:lnTo>
                  <a:lnTo>
                    <a:pt x="1939925" y="204850"/>
                  </a:lnTo>
                </a:path>
                <a:path w="3311525" h="205105">
                  <a:moveTo>
                    <a:pt x="1847214" y="0"/>
                  </a:moveTo>
                  <a:lnTo>
                    <a:pt x="1847214" y="139573"/>
                  </a:lnTo>
                  <a:lnTo>
                    <a:pt x="3311525" y="139573"/>
                  </a:lnTo>
                  <a:lnTo>
                    <a:pt x="3311525" y="204850"/>
                  </a:lnTo>
                </a:path>
                <a:path w="3311525" h="205105">
                  <a:moveTo>
                    <a:pt x="1847214" y="0"/>
                  </a:moveTo>
                  <a:lnTo>
                    <a:pt x="1847214" y="139573"/>
                  </a:lnTo>
                  <a:lnTo>
                    <a:pt x="0" y="139573"/>
                  </a:lnTo>
                  <a:lnTo>
                    <a:pt x="0" y="204850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34916" y="1601597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324" y="3522"/>
                  </a:lnTo>
                  <a:lnTo>
                    <a:pt x="13112" y="13128"/>
                  </a:lnTo>
                  <a:lnTo>
                    <a:pt x="3520" y="27378"/>
                  </a:lnTo>
                  <a:lnTo>
                    <a:pt x="0" y="44830"/>
                  </a:lnTo>
                  <a:lnTo>
                    <a:pt x="0" y="402589"/>
                  </a:lnTo>
                  <a:lnTo>
                    <a:pt x="3520" y="420022"/>
                  </a:lnTo>
                  <a:lnTo>
                    <a:pt x="13112" y="434228"/>
                  </a:lnTo>
                  <a:lnTo>
                    <a:pt x="27324" y="443791"/>
                  </a:lnTo>
                  <a:lnTo>
                    <a:pt x="44704" y="447293"/>
                  </a:lnTo>
                  <a:lnTo>
                    <a:pt x="659638" y="447293"/>
                  </a:lnTo>
                  <a:lnTo>
                    <a:pt x="677070" y="443791"/>
                  </a:lnTo>
                  <a:lnTo>
                    <a:pt x="691276" y="434228"/>
                  </a:lnTo>
                  <a:lnTo>
                    <a:pt x="700839" y="420022"/>
                  </a:lnTo>
                  <a:lnTo>
                    <a:pt x="704342" y="402589"/>
                  </a:lnTo>
                  <a:lnTo>
                    <a:pt x="704342" y="44830"/>
                  </a:lnTo>
                  <a:lnTo>
                    <a:pt x="700839" y="27378"/>
                  </a:lnTo>
                  <a:lnTo>
                    <a:pt x="691276" y="13128"/>
                  </a:lnTo>
                  <a:lnTo>
                    <a:pt x="677070" y="352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34916" y="1601597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830"/>
                  </a:moveTo>
                  <a:lnTo>
                    <a:pt x="3520" y="27378"/>
                  </a:lnTo>
                  <a:lnTo>
                    <a:pt x="13112" y="13128"/>
                  </a:lnTo>
                  <a:lnTo>
                    <a:pt x="27324" y="3522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70" y="3522"/>
                  </a:lnTo>
                  <a:lnTo>
                    <a:pt x="691276" y="13128"/>
                  </a:lnTo>
                  <a:lnTo>
                    <a:pt x="700839" y="27378"/>
                  </a:lnTo>
                  <a:lnTo>
                    <a:pt x="704342" y="44830"/>
                  </a:lnTo>
                  <a:lnTo>
                    <a:pt x="704342" y="402589"/>
                  </a:lnTo>
                  <a:lnTo>
                    <a:pt x="700839" y="420022"/>
                  </a:lnTo>
                  <a:lnTo>
                    <a:pt x="691276" y="434228"/>
                  </a:lnTo>
                  <a:lnTo>
                    <a:pt x="677070" y="443791"/>
                  </a:lnTo>
                  <a:lnTo>
                    <a:pt x="659638" y="447293"/>
                  </a:lnTo>
                  <a:lnTo>
                    <a:pt x="44704" y="447293"/>
                  </a:lnTo>
                  <a:lnTo>
                    <a:pt x="27324" y="443791"/>
                  </a:lnTo>
                  <a:lnTo>
                    <a:pt x="13112" y="434228"/>
                  </a:lnTo>
                  <a:lnTo>
                    <a:pt x="3520" y="420022"/>
                  </a:lnTo>
                  <a:lnTo>
                    <a:pt x="0" y="402589"/>
                  </a:lnTo>
                  <a:lnTo>
                    <a:pt x="0" y="4483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13148" y="1676019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764" y="0"/>
                  </a:moveTo>
                  <a:lnTo>
                    <a:pt x="44830" y="0"/>
                  </a:lnTo>
                  <a:lnTo>
                    <a:pt x="27378" y="3502"/>
                  </a:lnTo>
                  <a:lnTo>
                    <a:pt x="13128" y="13065"/>
                  </a:lnTo>
                  <a:lnTo>
                    <a:pt x="3522" y="27271"/>
                  </a:lnTo>
                  <a:lnTo>
                    <a:pt x="0" y="44703"/>
                  </a:lnTo>
                  <a:lnTo>
                    <a:pt x="0" y="402589"/>
                  </a:lnTo>
                  <a:lnTo>
                    <a:pt x="3522" y="419969"/>
                  </a:lnTo>
                  <a:lnTo>
                    <a:pt x="13128" y="434181"/>
                  </a:lnTo>
                  <a:lnTo>
                    <a:pt x="27378" y="443773"/>
                  </a:lnTo>
                  <a:lnTo>
                    <a:pt x="44830" y="447293"/>
                  </a:lnTo>
                  <a:lnTo>
                    <a:pt x="659764" y="447293"/>
                  </a:lnTo>
                  <a:lnTo>
                    <a:pt x="677144" y="443773"/>
                  </a:lnTo>
                  <a:lnTo>
                    <a:pt x="691356" y="434181"/>
                  </a:lnTo>
                  <a:lnTo>
                    <a:pt x="700948" y="419969"/>
                  </a:lnTo>
                  <a:lnTo>
                    <a:pt x="704468" y="402589"/>
                  </a:lnTo>
                  <a:lnTo>
                    <a:pt x="704468" y="44703"/>
                  </a:lnTo>
                  <a:lnTo>
                    <a:pt x="700948" y="27271"/>
                  </a:lnTo>
                  <a:lnTo>
                    <a:pt x="691356" y="13065"/>
                  </a:lnTo>
                  <a:lnTo>
                    <a:pt x="677144" y="3502"/>
                  </a:lnTo>
                  <a:lnTo>
                    <a:pt x="65976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13148" y="1676019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22" y="27271"/>
                  </a:lnTo>
                  <a:lnTo>
                    <a:pt x="13128" y="13065"/>
                  </a:lnTo>
                  <a:lnTo>
                    <a:pt x="27378" y="3502"/>
                  </a:lnTo>
                  <a:lnTo>
                    <a:pt x="44830" y="0"/>
                  </a:lnTo>
                  <a:lnTo>
                    <a:pt x="659764" y="0"/>
                  </a:lnTo>
                  <a:lnTo>
                    <a:pt x="677144" y="3502"/>
                  </a:lnTo>
                  <a:lnTo>
                    <a:pt x="691356" y="13065"/>
                  </a:lnTo>
                  <a:lnTo>
                    <a:pt x="700948" y="27271"/>
                  </a:lnTo>
                  <a:lnTo>
                    <a:pt x="704468" y="44703"/>
                  </a:lnTo>
                  <a:lnTo>
                    <a:pt x="704468" y="402589"/>
                  </a:lnTo>
                  <a:lnTo>
                    <a:pt x="700948" y="419969"/>
                  </a:lnTo>
                  <a:lnTo>
                    <a:pt x="691356" y="434181"/>
                  </a:lnTo>
                  <a:lnTo>
                    <a:pt x="677144" y="443773"/>
                  </a:lnTo>
                  <a:lnTo>
                    <a:pt x="659764" y="447293"/>
                  </a:lnTo>
                  <a:lnTo>
                    <a:pt x="44830" y="447293"/>
                  </a:lnTo>
                  <a:lnTo>
                    <a:pt x="27378" y="443773"/>
                  </a:lnTo>
                  <a:lnTo>
                    <a:pt x="13128" y="434181"/>
                  </a:lnTo>
                  <a:lnTo>
                    <a:pt x="3522" y="419969"/>
                  </a:lnTo>
                  <a:lnTo>
                    <a:pt x="0" y="402589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78939" y="2701036"/>
              <a:ext cx="1810385" cy="206375"/>
            </a:xfrm>
            <a:custGeom>
              <a:avLst/>
              <a:gdLst/>
              <a:ahLst/>
              <a:cxnLst/>
              <a:rect l="l" t="t" r="r" b="b"/>
              <a:pathLst>
                <a:path w="1810385" h="206375">
                  <a:moveTo>
                    <a:pt x="860933" y="0"/>
                  </a:moveTo>
                  <a:lnTo>
                    <a:pt x="860933" y="141097"/>
                  </a:lnTo>
                  <a:lnTo>
                    <a:pt x="1810258" y="141097"/>
                  </a:lnTo>
                  <a:lnTo>
                    <a:pt x="1810258" y="206375"/>
                  </a:lnTo>
                </a:path>
                <a:path w="1810385" h="206375">
                  <a:moveTo>
                    <a:pt x="860933" y="0"/>
                  </a:moveTo>
                  <a:lnTo>
                    <a:pt x="860933" y="204850"/>
                  </a:lnTo>
                </a:path>
                <a:path w="1810385" h="206375">
                  <a:moveTo>
                    <a:pt x="860933" y="0"/>
                  </a:moveTo>
                  <a:lnTo>
                    <a:pt x="860933" y="139573"/>
                  </a:lnTo>
                  <a:lnTo>
                    <a:pt x="0" y="139573"/>
                  </a:lnTo>
                  <a:lnTo>
                    <a:pt x="0" y="204850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71390" y="1801748"/>
            <a:ext cx="388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25" dirty="0">
                <a:latin typeface="Cambria"/>
                <a:cs typeface="Cambria"/>
              </a:rPr>
              <a:t>S</a:t>
            </a:r>
            <a:r>
              <a:rPr sz="1000" spc="55" dirty="0">
                <a:latin typeface="Cambria"/>
                <a:cs typeface="Cambria"/>
              </a:rPr>
              <a:t>h</a:t>
            </a:r>
            <a:r>
              <a:rPr sz="1000" spc="25" dirty="0">
                <a:latin typeface="Cambria"/>
                <a:cs typeface="Cambria"/>
              </a:rPr>
              <a:t>ape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75001" y="2241042"/>
            <a:ext cx="808355" cy="547370"/>
            <a:chOff x="2675001" y="2241042"/>
            <a:chExt cx="808355" cy="547370"/>
          </a:xfrm>
        </p:grpSpPr>
        <p:sp>
          <p:nvSpPr>
            <p:cNvPr id="14" name="object 14"/>
            <p:cNvSpPr/>
            <p:nvPr/>
          </p:nvSpPr>
          <p:spPr>
            <a:xfrm>
              <a:off x="2687701" y="2253742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271" y="3520"/>
                  </a:lnTo>
                  <a:lnTo>
                    <a:pt x="13065" y="13112"/>
                  </a:lnTo>
                  <a:lnTo>
                    <a:pt x="3502" y="27324"/>
                  </a:lnTo>
                  <a:lnTo>
                    <a:pt x="0" y="44704"/>
                  </a:lnTo>
                  <a:lnTo>
                    <a:pt x="0" y="402590"/>
                  </a:lnTo>
                  <a:lnTo>
                    <a:pt x="3502" y="420022"/>
                  </a:lnTo>
                  <a:lnTo>
                    <a:pt x="13065" y="434228"/>
                  </a:lnTo>
                  <a:lnTo>
                    <a:pt x="27271" y="443791"/>
                  </a:lnTo>
                  <a:lnTo>
                    <a:pt x="44704" y="447294"/>
                  </a:lnTo>
                  <a:lnTo>
                    <a:pt x="659638" y="447294"/>
                  </a:lnTo>
                  <a:lnTo>
                    <a:pt x="677017" y="443791"/>
                  </a:lnTo>
                  <a:lnTo>
                    <a:pt x="691229" y="434228"/>
                  </a:lnTo>
                  <a:lnTo>
                    <a:pt x="700821" y="420022"/>
                  </a:lnTo>
                  <a:lnTo>
                    <a:pt x="704341" y="402590"/>
                  </a:lnTo>
                  <a:lnTo>
                    <a:pt x="704341" y="44704"/>
                  </a:lnTo>
                  <a:lnTo>
                    <a:pt x="700821" y="27324"/>
                  </a:lnTo>
                  <a:lnTo>
                    <a:pt x="691229" y="13112"/>
                  </a:lnTo>
                  <a:lnTo>
                    <a:pt x="677017" y="3520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87701" y="2253742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4"/>
                  </a:moveTo>
                  <a:lnTo>
                    <a:pt x="3502" y="27324"/>
                  </a:lnTo>
                  <a:lnTo>
                    <a:pt x="13065" y="13112"/>
                  </a:lnTo>
                  <a:lnTo>
                    <a:pt x="27271" y="3520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17" y="3520"/>
                  </a:lnTo>
                  <a:lnTo>
                    <a:pt x="691229" y="13112"/>
                  </a:lnTo>
                  <a:lnTo>
                    <a:pt x="700821" y="27324"/>
                  </a:lnTo>
                  <a:lnTo>
                    <a:pt x="704341" y="44704"/>
                  </a:lnTo>
                  <a:lnTo>
                    <a:pt x="704341" y="402590"/>
                  </a:lnTo>
                  <a:lnTo>
                    <a:pt x="700821" y="420022"/>
                  </a:lnTo>
                  <a:lnTo>
                    <a:pt x="691229" y="434228"/>
                  </a:lnTo>
                  <a:lnTo>
                    <a:pt x="677017" y="443791"/>
                  </a:lnTo>
                  <a:lnTo>
                    <a:pt x="659638" y="447294"/>
                  </a:lnTo>
                  <a:lnTo>
                    <a:pt x="44704" y="447294"/>
                  </a:lnTo>
                  <a:lnTo>
                    <a:pt x="27271" y="443791"/>
                  </a:lnTo>
                  <a:lnTo>
                    <a:pt x="13065" y="434228"/>
                  </a:lnTo>
                  <a:lnTo>
                    <a:pt x="3502" y="420022"/>
                  </a:lnTo>
                  <a:lnTo>
                    <a:pt x="0" y="402590"/>
                  </a:lnTo>
                  <a:lnTo>
                    <a:pt x="0" y="447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5933" y="2328164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324" y="3502"/>
                  </a:lnTo>
                  <a:lnTo>
                    <a:pt x="13112" y="13065"/>
                  </a:lnTo>
                  <a:lnTo>
                    <a:pt x="3520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20" y="419915"/>
                  </a:lnTo>
                  <a:lnTo>
                    <a:pt x="13112" y="434165"/>
                  </a:lnTo>
                  <a:lnTo>
                    <a:pt x="27324" y="443771"/>
                  </a:lnTo>
                  <a:lnTo>
                    <a:pt x="44704" y="447294"/>
                  </a:lnTo>
                  <a:lnTo>
                    <a:pt x="659638" y="447294"/>
                  </a:lnTo>
                  <a:lnTo>
                    <a:pt x="677070" y="443771"/>
                  </a:lnTo>
                  <a:lnTo>
                    <a:pt x="691276" y="434165"/>
                  </a:lnTo>
                  <a:lnTo>
                    <a:pt x="700839" y="419915"/>
                  </a:lnTo>
                  <a:lnTo>
                    <a:pt x="704342" y="402463"/>
                  </a:lnTo>
                  <a:lnTo>
                    <a:pt x="704342" y="44703"/>
                  </a:lnTo>
                  <a:lnTo>
                    <a:pt x="700839" y="27271"/>
                  </a:lnTo>
                  <a:lnTo>
                    <a:pt x="691276" y="13065"/>
                  </a:lnTo>
                  <a:lnTo>
                    <a:pt x="677070" y="350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65933" y="2328164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20" y="27271"/>
                  </a:lnTo>
                  <a:lnTo>
                    <a:pt x="13112" y="13065"/>
                  </a:lnTo>
                  <a:lnTo>
                    <a:pt x="27324" y="3502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70" y="3502"/>
                  </a:lnTo>
                  <a:lnTo>
                    <a:pt x="691276" y="13065"/>
                  </a:lnTo>
                  <a:lnTo>
                    <a:pt x="700839" y="27271"/>
                  </a:lnTo>
                  <a:lnTo>
                    <a:pt x="704342" y="44703"/>
                  </a:lnTo>
                  <a:lnTo>
                    <a:pt x="704342" y="402463"/>
                  </a:lnTo>
                  <a:lnTo>
                    <a:pt x="700839" y="419915"/>
                  </a:lnTo>
                  <a:lnTo>
                    <a:pt x="691276" y="434165"/>
                  </a:lnTo>
                  <a:lnTo>
                    <a:pt x="677070" y="443771"/>
                  </a:lnTo>
                  <a:lnTo>
                    <a:pt x="659638" y="447294"/>
                  </a:lnTo>
                  <a:lnTo>
                    <a:pt x="44704" y="447294"/>
                  </a:lnTo>
                  <a:lnTo>
                    <a:pt x="27324" y="443771"/>
                  </a:lnTo>
                  <a:lnTo>
                    <a:pt x="13112" y="434165"/>
                  </a:lnTo>
                  <a:lnTo>
                    <a:pt x="3520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55214" y="2454097"/>
            <a:ext cx="5251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60" dirty="0">
                <a:latin typeface="Cambria"/>
                <a:cs typeface="Cambria"/>
              </a:rPr>
              <a:t>T</a:t>
            </a:r>
            <a:r>
              <a:rPr sz="1000" spc="35" dirty="0">
                <a:latin typeface="Cambria"/>
                <a:cs typeface="Cambria"/>
              </a:rPr>
              <a:t>ri</a:t>
            </a:r>
            <a:r>
              <a:rPr sz="1000" spc="50" dirty="0">
                <a:latin typeface="Cambria"/>
                <a:cs typeface="Cambria"/>
              </a:rPr>
              <a:t>a</a:t>
            </a:r>
            <a:r>
              <a:rPr sz="1000" spc="45" dirty="0">
                <a:latin typeface="Cambria"/>
                <a:cs typeface="Cambria"/>
              </a:rPr>
              <a:t>ng</a:t>
            </a:r>
            <a:r>
              <a:rPr sz="1000" spc="25" dirty="0">
                <a:latin typeface="Cambria"/>
                <a:cs typeface="Cambria"/>
              </a:rPr>
              <a:t>le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14067" y="2893186"/>
            <a:ext cx="808355" cy="547370"/>
            <a:chOff x="1814067" y="2893186"/>
            <a:chExt cx="808355" cy="547370"/>
          </a:xfrm>
        </p:grpSpPr>
        <p:sp>
          <p:nvSpPr>
            <p:cNvPr id="20" name="object 20"/>
            <p:cNvSpPr/>
            <p:nvPr/>
          </p:nvSpPr>
          <p:spPr>
            <a:xfrm>
              <a:off x="1826767" y="2905886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271" y="3520"/>
                  </a:lnTo>
                  <a:lnTo>
                    <a:pt x="13065" y="13112"/>
                  </a:lnTo>
                  <a:lnTo>
                    <a:pt x="3502" y="27324"/>
                  </a:lnTo>
                  <a:lnTo>
                    <a:pt x="0" y="44703"/>
                  </a:lnTo>
                  <a:lnTo>
                    <a:pt x="0" y="402589"/>
                  </a:lnTo>
                  <a:lnTo>
                    <a:pt x="3502" y="420022"/>
                  </a:lnTo>
                  <a:lnTo>
                    <a:pt x="13065" y="434228"/>
                  </a:lnTo>
                  <a:lnTo>
                    <a:pt x="27271" y="443791"/>
                  </a:lnTo>
                  <a:lnTo>
                    <a:pt x="44704" y="447293"/>
                  </a:lnTo>
                  <a:lnTo>
                    <a:pt x="659638" y="447293"/>
                  </a:lnTo>
                  <a:lnTo>
                    <a:pt x="677017" y="443791"/>
                  </a:lnTo>
                  <a:lnTo>
                    <a:pt x="691229" y="434228"/>
                  </a:lnTo>
                  <a:lnTo>
                    <a:pt x="700821" y="420022"/>
                  </a:lnTo>
                  <a:lnTo>
                    <a:pt x="704342" y="402589"/>
                  </a:lnTo>
                  <a:lnTo>
                    <a:pt x="704342" y="44703"/>
                  </a:lnTo>
                  <a:lnTo>
                    <a:pt x="700821" y="27324"/>
                  </a:lnTo>
                  <a:lnTo>
                    <a:pt x="691229" y="13112"/>
                  </a:lnTo>
                  <a:lnTo>
                    <a:pt x="677017" y="3520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26767" y="2905886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02" y="27324"/>
                  </a:lnTo>
                  <a:lnTo>
                    <a:pt x="13065" y="13112"/>
                  </a:lnTo>
                  <a:lnTo>
                    <a:pt x="27271" y="3520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17" y="3520"/>
                  </a:lnTo>
                  <a:lnTo>
                    <a:pt x="691229" y="13112"/>
                  </a:lnTo>
                  <a:lnTo>
                    <a:pt x="700821" y="27324"/>
                  </a:lnTo>
                  <a:lnTo>
                    <a:pt x="704342" y="44703"/>
                  </a:lnTo>
                  <a:lnTo>
                    <a:pt x="704342" y="402589"/>
                  </a:lnTo>
                  <a:lnTo>
                    <a:pt x="700821" y="420022"/>
                  </a:lnTo>
                  <a:lnTo>
                    <a:pt x="691229" y="434228"/>
                  </a:lnTo>
                  <a:lnTo>
                    <a:pt x="677017" y="443791"/>
                  </a:lnTo>
                  <a:lnTo>
                    <a:pt x="659638" y="447293"/>
                  </a:lnTo>
                  <a:lnTo>
                    <a:pt x="44704" y="447293"/>
                  </a:lnTo>
                  <a:lnTo>
                    <a:pt x="27271" y="443791"/>
                  </a:lnTo>
                  <a:lnTo>
                    <a:pt x="13065" y="434228"/>
                  </a:lnTo>
                  <a:lnTo>
                    <a:pt x="3502" y="420022"/>
                  </a:lnTo>
                  <a:lnTo>
                    <a:pt x="0" y="402589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04999" y="2980308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324" y="3502"/>
                  </a:lnTo>
                  <a:lnTo>
                    <a:pt x="13112" y="13065"/>
                  </a:lnTo>
                  <a:lnTo>
                    <a:pt x="3520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20" y="419915"/>
                  </a:lnTo>
                  <a:lnTo>
                    <a:pt x="13112" y="434165"/>
                  </a:lnTo>
                  <a:lnTo>
                    <a:pt x="27324" y="443771"/>
                  </a:lnTo>
                  <a:lnTo>
                    <a:pt x="44704" y="447293"/>
                  </a:lnTo>
                  <a:lnTo>
                    <a:pt x="659638" y="447293"/>
                  </a:lnTo>
                  <a:lnTo>
                    <a:pt x="677070" y="443771"/>
                  </a:lnTo>
                  <a:lnTo>
                    <a:pt x="691276" y="434165"/>
                  </a:lnTo>
                  <a:lnTo>
                    <a:pt x="700839" y="419915"/>
                  </a:lnTo>
                  <a:lnTo>
                    <a:pt x="704342" y="402463"/>
                  </a:lnTo>
                  <a:lnTo>
                    <a:pt x="704342" y="44703"/>
                  </a:lnTo>
                  <a:lnTo>
                    <a:pt x="700839" y="27271"/>
                  </a:lnTo>
                  <a:lnTo>
                    <a:pt x="691276" y="13065"/>
                  </a:lnTo>
                  <a:lnTo>
                    <a:pt x="677070" y="350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4999" y="2980308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20" y="27271"/>
                  </a:lnTo>
                  <a:lnTo>
                    <a:pt x="13112" y="13065"/>
                  </a:lnTo>
                  <a:lnTo>
                    <a:pt x="27324" y="3502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70" y="3502"/>
                  </a:lnTo>
                  <a:lnTo>
                    <a:pt x="691276" y="13065"/>
                  </a:lnTo>
                  <a:lnTo>
                    <a:pt x="700839" y="27271"/>
                  </a:lnTo>
                  <a:lnTo>
                    <a:pt x="704342" y="44703"/>
                  </a:lnTo>
                  <a:lnTo>
                    <a:pt x="704342" y="402463"/>
                  </a:lnTo>
                  <a:lnTo>
                    <a:pt x="700839" y="419915"/>
                  </a:lnTo>
                  <a:lnTo>
                    <a:pt x="691276" y="434165"/>
                  </a:lnTo>
                  <a:lnTo>
                    <a:pt x="677070" y="443771"/>
                  </a:lnTo>
                  <a:lnTo>
                    <a:pt x="659638" y="447293"/>
                  </a:lnTo>
                  <a:lnTo>
                    <a:pt x="44704" y="447293"/>
                  </a:lnTo>
                  <a:lnTo>
                    <a:pt x="27324" y="443771"/>
                  </a:lnTo>
                  <a:lnTo>
                    <a:pt x="13112" y="434165"/>
                  </a:lnTo>
                  <a:lnTo>
                    <a:pt x="3520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94154" y="3037712"/>
            <a:ext cx="525145" cy="314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86360">
              <a:lnSpc>
                <a:spcPts val="1080"/>
              </a:lnSpc>
              <a:spcBef>
                <a:spcPts val="229"/>
              </a:spcBef>
            </a:pPr>
            <a:r>
              <a:rPr sz="1000" spc="50" dirty="0">
                <a:latin typeface="Cambria"/>
                <a:cs typeface="Cambria"/>
              </a:rPr>
              <a:t>Right </a:t>
            </a:r>
            <a:r>
              <a:rPr sz="1000" spc="55" dirty="0">
                <a:latin typeface="Cambria"/>
                <a:cs typeface="Cambria"/>
              </a:rPr>
              <a:t> </a:t>
            </a:r>
            <a:r>
              <a:rPr sz="1000" spc="65" dirty="0">
                <a:latin typeface="Cambria"/>
                <a:cs typeface="Cambria"/>
              </a:rPr>
              <a:t>T</a:t>
            </a:r>
            <a:r>
              <a:rPr sz="1000" spc="40" dirty="0">
                <a:latin typeface="Cambria"/>
                <a:cs typeface="Cambria"/>
              </a:rPr>
              <a:t>rian</a:t>
            </a:r>
            <a:r>
              <a:rPr sz="1000" spc="50" dirty="0">
                <a:latin typeface="Cambria"/>
                <a:cs typeface="Cambria"/>
              </a:rPr>
              <a:t>g</a:t>
            </a:r>
            <a:r>
              <a:rPr sz="1000" spc="25" dirty="0">
                <a:latin typeface="Cambria"/>
                <a:cs typeface="Cambria"/>
              </a:rPr>
              <a:t>le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75001" y="2893186"/>
            <a:ext cx="808355" cy="547370"/>
            <a:chOff x="2675001" y="2893186"/>
            <a:chExt cx="808355" cy="547370"/>
          </a:xfrm>
        </p:grpSpPr>
        <p:sp>
          <p:nvSpPr>
            <p:cNvPr id="26" name="object 26"/>
            <p:cNvSpPr/>
            <p:nvPr/>
          </p:nvSpPr>
          <p:spPr>
            <a:xfrm>
              <a:off x="2687701" y="2905886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271" y="3520"/>
                  </a:lnTo>
                  <a:lnTo>
                    <a:pt x="13065" y="13112"/>
                  </a:lnTo>
                  <a:lnTo>
                    <a:pt x="3502" y="27324"/>
                  </a:lnTo>
                  <a:lnTo>
                    <a:pt x="0" y="44703"/>
                  </a:lnTo>
                  <a:lnTo>
                    <a:pt x="0" y="402589"/>
                  </a:lnTo>
                  <a:lnTo>
                    <a:pt x="3502" y="420022"/>
                  </a:lnTo>
                  <a:lnTo>
                    <a:pt x="13065" y="434228"/>
                  </a:lnTo>
                  <a:lnTo>
                    <a:pt x="27271" y="443791"/>
                  </a:lnTo>
                  <a:lnTo>
                    <a:pt x="44704" y="447293"/>
                  </a:lnTo>
                  <a:lnTo>
                    <a:pt x="659638" y="447293"/>
                  </a:lnTo>
                  <a:lnTo>
                    <a:pt x="677017" y="443791"/>
                  </a:lnTo>
                  <a:lnTo>
                    <a:pt x="691229" y="434228"/>
                  </a:lnTo>
                  <a:lnTo>
                    <a:pt x="700821" y="420022"/>
                  </a:lnTo>
                  <a:lnTo>
                    <a:pt x="704341" y="402589"/>
                  </a:lnTo>
                  <a:lnTo>
                    <a:pt x="704341" y="44703"/>
                  </a:lnTo>
                  <a:lnTo>
                    <a:pt x="700821" y="27324"/>
                  </a:lnTo>
                  <a:lnTo>
                    <a:pt x="691229" y="13112"/>
                  </a:lnTo>
                  <a:lnTo>
                    <a:pt x="677017" y="3520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87701" y="2905886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02" y="27324"/>
                  </a:lnTo>
                  <a:lnTo>
                    <a:pt x="13065" y="13112"/>
                  </a:lnTo>
                  <a:lnTo>
                    <a:pt x="27271" y="3520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17" y="3520"/>
                  </a:lnTo>
                  <a:lnTo>
                    <a:pt x="691229" y="13112"/>
                  </a:lnTo>
                  <a:lnTo>
                    <a:pt x="700821" y="27324"/>
                  </a:lnTo>
                  <a:lnTo>
                    <a:pt x="704341" y="44703"/>
                  </a:lnTo>
                  <a:lnTo>
                    <a:pt x="704341" y="402589"/>
                  </a:lnTo>
                  <a:lnTo>
                    <a:pt x="700821" y="420022"/>
                  </a:lnTo>
                  <a:lnTo>
                    <a:pt x="691229" y="434228"/>
                  </a:lnTo>
                  <a:lnTo>
                    <a:pt x="677017" y="443791"/>
                  </a:lnTo>
                  <a:lnTo>
                    <a:pt x="659638" y="447293"/>
                  </a:lnTo>
                  <a:lnTo>
                    <a:pt x="44704" y="447293"/>
                  </a:lnTo>
                  <a:lnTo>
                    <a:pt x="27271" y="443791"/>
                  </a:lnTo>
                  <a:lnTo>
                    <a:pt x="13065" y="434228"/>
                  </a:lnTo>
                  <a:lnTo>
                    <a:pt x="3502" y="420022"/>
                  </a:lnTo>
                  <a:lnTo>
                    <a:pt x="0" y="402589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65933" y="2980308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324" y="3502"/>
                  </a:lnTo>
                  <a:lnTo>
                    <a:pt x="13112" y="13065"/>
                  </a:lnTo>
                  <a:lnTo>
                    <a:pt x="3520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20" y="419915"/>
                  </a:lnTo>
                  <a:lnTo>
                    <a:pt x="13112" y="434165"/>
                  </a:lnTo>
                  <a:lnTo>
                    <a:pt x="27324" y="443771"/>
                  </a:lnTo>
                  <a:lnTo>
                    <a:pt x="44704" y="447293"/>
                  </a:lnTo>
                  <a:lnTo>
                    <a:pt x="659638" y="447293"/>
                  </a:lnTo>
                  <a:lnTo>
                    <a:pt x="677070" y="443771"/>
                  </a:lnTo>
                  <a:lnTo>
                    <a:pt x="691276" y="434165"/>
                  </a:lnTo>
                  <a:lnTo>
                    <a:pt x="700839" y="419915"/>
                  </a:lnTo>
                  <a:lnTo>
                    <a:pt x="704342" y="402463"/>
                  </a:lnTo>
                  <a:lnTo>
                    <a:pt x="704342" y="44703"/>
                  </a:lnTo>
                  <a:lnTo>
                    <a:pt x="700839" y="27271"/>
                  </a:lnTo>
                  <a:lnTo>
                    <a:pt x="691276" y="13065"/>
                  </a:lnTo>
                  <a:lnTo>
                    <a:pt x="677070" y="350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65933" y="2980308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20" y="27271"/>
                  </a:lnTo>
                  <a:lnTo>
                    <a:pt x="13112" y="13065"/>
                  </a:lnTo>
                  <a:lnTo>
                    <a:pt x="27324" y="3502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70" y="3502"/>
                  </a:lnTo>
                  <a:lnTo>
                    <a:pt x="691276" y="13065"/>
                  </a:lnTo>
                  <a:lnTo>
                    <a:pt x="700839" y="27271"/>
                  </a:lnTo>
                  <a:lnTo>
                    <a:pt x="704342" y="44703"/>
                  </a:lnTo>
                  <a:lnTo>
                    <a:pt x="704342" y="402463"/>
                  </a:lnTo>
                  <a:lnTo>
                    <a:pt x="700839" y="419915"/>
                  </a:lnTo>
                  <a:lnTo>
                    <a:pt x="691276" y="434165"/>
                  </a:lnTo>
                  <a:lnTo>
                    <a:pt x="677070" y="443771"/>
                  </a:lnTo>
                  <a:lnTo>
                    <a:pt x="659638" y="447293"/>
                  </a:lnTo>
                  <a:lnTo>
                    <a:pt x="44704" y="447293"/>
                  </a:lnTo>
                  <a:lnTo>
                    <a:pt x="27324" y="443771"/>
                  </a:lnTo>
                  <a:lnTo>
                    <a:pt x="13112" y="434165"/>
                  </a:lnTo>
                  <a:lnTo>
                    <a:pt x="3520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849117" y="3037712"/>
            <a:ext cx="539750" cy="314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8415" marR="5080" indent="-6350">
              <a:lnSpc>
                <a:spcPts val="1080"/>
              </a:lnSpc>
              <a:spcBef>
                <a:spcPts val="229"/>
              </a:spcBef>
            </a:pPr>
            <a:r>
              <a:rPr sz="1000" spc="15" dirty="0">
                <a:latin typeface="Cambria"/>
                <a:cs typeface="Cambria"/>
              </a:rPr>
              <a:t>Is</a:t>
            </a:r>
            <a:r>
              <a:rPr sz="1000" spc="30" dirty="0">
                <a:latin typeface="Cambria"/>
                <a:cs typeface="Cambria"/>
              </a:rPr>
              <a:t>o</a:t>
            </a:r>
            <a:r>
              <a:rPr sz="1000" spc="25" dirty="0">
                <a:latin typeface="Cambria"/>
                <a:cs typeface="Cambria"/>
              </a:rPr>
              <a:t>s</a:t>
            </a:r>
            <a:r>
              <a:rPr sz="1000" spc="5" dirty="0">
                <a:latin typeface="Cambria"/>
                <a:cs typeface="Cambria"/>
              </a:rPr>
              <a:t>c</a:t>
            </a:r>
            <a:r>
              <a:rPr sz="1000" spc="10" dirty="0">
                <a:latin typeface="Cambria"/>
                <a:cs typeface="Cambria"/>
              </a:rPr>
              <a:t>e</a:t>
            </a:r>
            <a:r>
              <a:rPr sz="1000" spc="25" dirty="0">
                <a:latin typeface="Cambria"/>
                <a:cs typeface="Cambria"/>
              </a:rPr>
              <a:t>le</a:t>
            </a:r>
            <a:r>
              <a:rPr sz="1000" spc="20" dirty="0">
                <a:latin typeface="Cambria"/>
                <a:cs typeface="Cambria"/>
              </a:rPr>
              <a:t>s  </a:t>
            </a:r>
            <a:r>
              <a:rPr sz="1000" spc="65" dirty="0">
                <a:latin typeface="Cambria"/>
                <a:cs typeface="Cambria"/>
              </a:rPr>
              <a:t>T</a:t>
            </a:r>
            <a:r>
              <a:rPr sz="1000" spc="40" dirty="0">
                <a:latin typeface="Cambria"/>
                <a:cs typeface="Cambria"/>
              </a:rPr>
              <a:t>rian</a:t>
            </a:r>
            <a:r>
              <a:rPr sz="1000" spc="50" dirty="0">
                <a:latin typeface="Cambria"/>
                <a:cs typeface="Cambria"/>
              </a:rPr>
              <a:t>g</a:t>
            </a:r>
            <a:r>
              <a:rPr sz="1000" spc="25" dirty="0">
                <a:latin typeface="Cambria"/>
                <a:cs typeface="Cambria"/>
              </a:rPr>
              <a:t>le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24198" y="2894710"/>
            <a:ext cx="808355" cy="547370"/>
            <a:chOff x="3624198" y="2894710"/>
            <a:chExt cx="808355" cy="547370"/>
          </a:xfrm>
        </p:grpSpPr>
        <p:sp>
          <p:nvSpPr>
            <p:cNvPr id="32" name="object 32"/>
            <p:cNvSpPr/>
            <p:nvPr/>
          </p:nvSpPr>
          <p:spPr>
            <a:xfrm>
              <a:off x="3636898" y="2907410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764" y="0"/>
                  </a:moveTo>
                  <a:lnTo>
                    <a:pt x="44830" y="0"/>
                  </a:lnTo>
                  <a:lnTo>
                    <a:pt x="27378" y="3502"/>
                  </a:lnTo>
                  <a:lnTo>
                    <a:pt x="13128" y="13065"/>
                  </a:lnTo>
                  <a:lnTo>
                    <a:pt x="3522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22" y="419915"/>
                  </a:lnTo>
                  <a:lnTo>
                    <a:pt x="13128" y="434165"/>
                  </a:lnTo>
                  <a:lnTo>
                    <a:pt x="27378" y="443771"/>
                  </a:lnTo>
                  <a:lnTo>
                    <a:pt x="44830" y="447293"/>
                  </a:lnTo>
                  <a:lnTo>
                    <a:pt x="659764" y="447293"/>
                  </a:lnTo>
                  <a:lnTo>
                    <a:pt x="677144" y="443771"/>
                  </a:lnTo>
                  <a:lnTo>
                    <a:pt x="691356" y="434165"/>
                  </a:lnTo>
                  <a:lnTo>
                    <a:pt x="700948" y="419915"/>
                  </a:lnTo>
                  <a:lnTo>
                    <a:pt x="704468" y="402463"/>
                  </a:lnTo>
                  <a:lnTo>
                    <a:pt x="704468" y="44703"/>
                  </a:lnTo>
                  <a:lnTo>
                    <a:pt x="700948" y="27271"/>
                  </a:lnTo>
                  <a:lnTo>
                    <a:pt x="691356" y="13065"/>
                  </a:lnTo>
                  <a:lnTo>
                    <a:pt x="677144" y="3502"/>
                  </a:lnTo>
                  <a:lnTo>
                    <a:pt x="659764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36898" y="2907410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22" y="27271"/>
                  </a:lnTo>
                  <a:lnTo>
                    <a:pt x="13128" y="13065"/>
                  </a:lnTo>
                  <a:lnTo>
                    <a:pt x="27378" y="3502"/>
                  </a:lnTo>
                  <a:lnTo>
                    <a:pt x="44830" y="0"/>
                  </a:lnTo>
                  <a:lnTo>
                    <a:pt x="659764" y="0"/>
                  </a:lnTo>
                  <a:lnTo>
                    <a:pt x="677144" y="3502"/>
                  </a:lnTo>
                  <a:lnTo>
                    <a:pt x="691356" y="13065"/>
                  </a:lnTo>
                  <a:lnTo>
                    <a:pt x="700948" y="27271"/>
                  </a:lnTo>
                  <a:lnTo>
                    <a:pt x="704468" y="44703"/>
                  </a:lnTo>
                  <a:lnTo>
                    <a:pt x="704468" y="402463"/>
                  </a:lnTo>
                  <a:lnTo>
                    <a:pt x="700948" y="419915"/>
                  </a:lnTo>
                  <a:lnTo>
                    <a:pt x="691356" y="434165"/>
                  </a:lnTo>
                  <a:lnTo>
                    <a:pt x="677144" y="443771"/>
                  </a:lnTo>
                  <a:lnTo>
                    <a:pt x="659764" y="447293"/>
                  </a:lnTo>
                  <a:lnTo>
                    <a:pt x="44830" y="447293"/>
                  </a:lnTo>
                  <a:lnTo>
                    <a:pt x="27378" y="443771"/>
                  </a:lnTo>
                  <a:lnTo>
                    <a:pt x="13128" y="434165"/>
                  </a:lnTo>
                  <a:lnTo>
                    <a:pt x="3522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15257" y="2981705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3" y="0"/>
                  </a:lnTo>
                  <a:lnTo>
                    <a:pt x="27271" y="3520"/>
                  </a:lnTo>
                  <a:lnTo>
                    <a:pt x="13065" y="13112"/>
                  </a:lnTo>
                  <a:lnTo>
                    <a:pt x="3502" y="27324"/>
                  </a:lnTo>
                  <a:lnTo>
                    <a:pt x="0" y="44704"/>
                  </a:lnTo>
                  <a:lnTo>
                    <a:pt x="0" y="402590"/>
                  </a:lnTo>
                  <a:lnTo>
                    <a:pt x="3502" y="419969"/>
                  </a:lnTo>
                  <a:lnTo>
                    <a:pt x="13065" y="434181"/>
                  </a:lnTo>
                  <a:lnTo>
                    <a:pt x="27271" y="443773"/>
                  </a:lnTo>
                  <a:lnTo>
                    <a:pt x="44703" y="447294"/>
                  </a:lnTo>
                  <a:lnTo>
                    <a:pt x="659638" y="447294"/>
                  </a:lnTo>
                  <a:lnTo>
                    <a:pt x="677017" y="443773"/>
                  </a:lnTo>
                  <a:lnTo>
                    <a:pt x="691229" y="434181"/>
                  </a:lnTo>
                  <a:lnTo>
                    <a:pt x="700821" y="419969"/>
                  </a:lnTo>
                  <a:lnTo>
                    <a:pt x="704341" y="402590"/>
                  </a:lnTo>
                  <a:lnTo>
                    <a:pt x="704341" y="44704"/>
                  </a:lnTo>
                  <a:lnTo>
                    <a:pt x="700821" y="27324"/>
                  </a:lnTo>
                  <a:lnTo>
                    <a:pt x="691229" y="13112"/>
                  </a:lnTo>
                  <a:lnTo>
                    <a:pt x="677017" y="3520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15257" y="2981705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4"/>
                  </a:moveTo>
                  <a:lnTo>
                    <a:pt x="3502" y="27324"/>
                  </a:lnTo>
                  <a:lnTo>
                    <a:pt x="13065" y="13112"/>
                  </a:lnTo>
                  <a:lnTo>
                    <a:pt x="27271" y="3520"/>
                  </a:lnTo>
                  <a:lnTo>
                    <a:pt x="44703" y="0"/>
                  </a:lnTo>
                  <a:lnTo>
                    <a:pt x="659638" y="0"/>
                  </a:lnTo>
                  <a:lnTo>
                    <a:pt x="677017" y="3520"/>
                  </a:lnTo>
                  <a:lnTo>
                    <a:pt x="691229" y="13112"/>
                  </a:lnTo>
                  <a:lnTo>
                    <a:pt x="700821" y="27324"/>
                  </a:lnTo>
                  <a:lnTo>
                    <a:pt x="704341" y="44704"/>
                  </a:lnTo>
                  <a:lnTo>
                    <a:pt x="704341" y="402590"/>
                  </a:lnTo>
                  <a:lnTo>
                    <a:pt x="700821" y="419969"/>
                  </a:lnTo>
                  <a:lnTo>
                    <a:pt x="691229" y="434181"/>
                  </a:lnTo>
                  <a:lnTo>
                    <a:pt x="677017" y="443773"/>
                  </a:lnTo>
                  <a:lnTo>
                    <a:pt x="659638" y="447294"/>
                  </a:lnTo>
                  <a:lnTo>
                    <a:pt x="44703" y="447294"/>
                  </a:lnTo>
                  <a:lnTo>
                    <a:pt x="27271" y="443773"/>
                  </a:lnTo>
                  <a:lnTo>
                    <a:pt x="13065" y="434181"/>
                  </a:lnTo>
                  <a:lnTo>
                    <a:pt x="3502" y="419969"/>
                  </a:lnTo>
                  <a:lnTo>
                    <a:pt x="0" y="402590"/>
                  </a:lnTo>
                  <a:lnTo>
                    <a:pt x="0" y="44704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804665" y="3039236"/>
            <a:ext cx="525145" cy="314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80645">
              <a:lnSpc>
                <a:spcPts val="1080"/>
              </a:lnSpc>
              <a:spcBef>
                <a:spcPts val="229"/>
              </a:spcBef>
            </a:pPr>
            <a:r>
              <a:rPr sz="1000" spc="35" dirty="0">
                <a:latin typeface="Cambria"/>
                <a:cs typeface="Cambria"/>
              </a:rPr>
              <a:t>Acute </a:t>
            </a:r>
            <a:r>
              <a:rPr sz="1000" spc="40" dirty="0">
                <a:latin typeface="Cambria"/>
                <a:cs typeface="Cambria"/>
              </a:rPr>
              <a:t> </a:t>
            </a:r>
            <a:r>
              <a:rPr sz="1000" spc="65" dirty="0">
                <a:latin typeface="Cambria"/>
                <a:cs typeface="Cambria"/>
              </a:rPr>
              <a:t>T</a:t>
            </a:r>
            <a:r>
              <a:rPr sz="1000" spc="40" dirty="0">
                <a:latin typeface="Cambria"/>
                <a:cs typeface="Cambria"/>
              </a:rPr>
              <a:t>rian</a:t>
            </a:r>
            <a:r>
              <a:rPr sz="1000" spc="50" dirty="0">
                <a:latin typeface="Cambria"/>
                <a:cs typeface="Cambria"/>
              </a:rPr>
              <a:t>g</a:t>
            </a:r>
            <a:r>
              <a:rPr sz="1000" spc="25" dirty="0">
                <a:latin typeface="Cambria"/>
                <a:cs typeface="Cambria"/>
              </a:rPr>
              <a:t>le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986398" y="2241042"/>
            <a:ext cx="808355" cy="547370"/>
            <a:chOff x="5986398" y="2241042"/>
            <a:chExt cx="808355" cy="547370"/>
          </a:xfrm>
        </p:grpSpPr>
        <p:sp>
          <p:nvSpPr>
            <p:cNvPr id="38" name="object 38"/>
            <p:cNvSpPr/>
            <p:nvPr/>
          </p:nvSpPr>
          <p:spPr>
            <a:xfrm>
              <a:off x="5999098" y="2253742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765" y="0"/>
                  </a:moveTo>
                  <a:lnTo>
                    <a:pt x="44830" y="0"/>
                  </a:lnTo>
                  <a:lnTo>
                    <a:pt x="27378" y="3520"/>
                  </a:lnTo>
                  <a:lnTo>
                    <a:pt x="13128" y="13112"/>
                  </a:lnTo>
                  <a:lnTo>
                    <a:pt x="3522" y="27324"/>
                  </a:lnTo>
                  <a:lnTo>
                    <a:pt x="0" y="44704"/>
                  </a:lnTo>
                  <a:lnTo>
                    <a:pt x="0" y="402590"/>
                  </a:lnTo>
                  <a:lnTo>
                    <a:pt x="3522" y="420022"/>
                  </a:lnTo>
                  <a:lnTo>
                    <a:pt x="13128" y="434228"/>
                  </a:lnTo>
                  <a:lnTo>
                    <a:pt x="27378" y="443791"/>
                  </a:lnTo>
                  <a:lnTo>
                    <a:pt x="44830" y="447294"/>
                  </a:lnTo>
                  <a:lnTo>
                    <a:pt x="659765" y="447294"/>
                  </a:lnTo>
                  <a:lnTo>
                    <a:pt x="677144" y="443791"/>
                  </a:lnTo>
                  <a:lnTo>
                    <a:pt x="691356" y="434228"/>
                  </a:lnTo>
                  <a:lnTo>
                    <a:pt x="700948" y="420022"/>
                  </a:lnTo>
                  <a:lnTo>
                    <a:pt x="704469" y="402590"/>
                  </a:lnTo>
                  <a:lnTo>
                    <a:pt x="704469" y="44704"/>
                  </a:lnTo>
                  <a:lnTo>
                    <a:pt x="700948" y="27324"/>
                  </a:lnTo>
                  <a:lnTo>
                    <a:pt x="691356" y="13112"/>
                  </a:lnTo>
                  <a:lnTo>
                    <a:pt x="677144" y="3520"/>
                  </a:lnTo>
                  <a:lnTo>
                    <a:pt x="65976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99098" y="2253742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4"/>
                  </a:moveTo>
                  <a:lnTo>
                    <a:pt x="3522" y="27324"/>
                  </a:lnTo>
                  <a:lnTo>
                    <a:pt x="13128" y="13112"/>
                  </a:lnTo>
                  <a:lnTo>
                    <a:pt x="27378" y="3520"/>
                  </a:lnTo>
                  <a:lnTo>
                    <a:pt x="44830" y="0"/>
                  </a:lnTo>
                  <a:lnTo>
                    <a:pt x="659765" y="0"/>
                  </a:lnTo>
                  <a:lnTo>
                    <a:pt x="677144" y="3520"/>
                  </a:lnTo>
                  <a:lnTo>
                    <a:pt x="691356" y="13112"/>
                  </a:lnTo>
                  <a:lnTo>
                    <a:pt x="700948" y="27324"/>
                  </a:lnTo>
                  <a:lnTo>
                    <a:pt x="704469" y="44704"/>
                  </a:lnTo>
                  <a:lnTo>
                    <a:pt x="704469" y="402590"/>
                  </a:lnTo>
                  <a:lnTo>
                    <a:pt x="700948" y="420022"/>
                  </a:lnTo>
                  <a:lnTo>
                    <a:pt x="691356" y="434228"/>
                  </a:lnTo>
                  <a:lnTo>
                    <a:pt x="677144" y="443791"/>
                  </a:lnTo>
                  <a:lnTo>
                    <a:pt x="659765" y="447294"/>
                  </a:lnTo>
                  <a:lnTo>
                    <a:pt x="44830" y="447294"/>
                  </a:lnTo>
                  <a:lnTo>
                    <a:pt x="27378" y="443791"/>
                  </a:lnTo>
                  <a:lnTo>
                    <a:pt x="13128" y="434228"/>
                  </a:lnTo>
                  <a:lnTo>
                    <a:pt x="3522" y="420022"/>
                  </a:lnTo>
                  <a:lnTo>
                    <a:pt x="0" y="402590"/>
                  </a:lnTo>
                  <a:lnTo>
                    <a:pt x="0" y="44704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77457" y="2328164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3" y="0"/>
                  </a:lnTo>
                  <a:lnTo>
                    <a:pt x="27271" y="3502"/>
                  </a:lnTo>
                  <a:lnTo>
                    <a:pt x="13065" y="13065"/>
                  </a:lnTo>
                  <a:lnTo>
                    <a:pt x="3502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02" y="419915"/>
                  </a:lnTo>
                  <a:lnTo>
                    <a:pt x="13065" y="434165"/>
                  </a:lnTo>
                  <a:lnTo>
                    <a:pt x="27271" y="443771"/>
                  </a:lnTo>
                  <a:lnTo>
                    <a:pt x="44703" y="447294"/>
                  </a:lnTo>
                  <a:lnTo>
                    <a:pt x="659638" y="447294"/>
                  </a:lnTo>
                  <a:lnTo>
                    <a:pt x="677017" y="443771"/>
                  </a:lnTo>
                  <a:lnTo>
                    <a:pt x="691229" y="434165"/>
                  </a:lnTo>
                  <a:lnTo>
                    <a:pt x="700821" y="419915"/>
                  </a:lnTo>
                  <a:lnTo>
                    <a:pt x="704341" y="402463"/>
                  </a:lnTo>
                  <a:lnTo>
                    <a:pt x="704341" y="44703"/>
                  </a:lnTo>
                  <a:lnTo>
                    <a:pt x="700821" y="27271"/>
                  </a:lnTo>
                  <a:lnTo>
                    <a:pt x="691229" y="13065"/>
                  </a:lnTo>
                  <a:lnTo>
                    <a:pt x="677017" y="350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77457" y="2328164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02" y="27271"/>
                  </a:lnTo>
                  <a:lnTo>
                    <a:pt x="13065" y="13065"/>
                  </a:lnTo>
                  <a:lnTo>
                    <a:pt x="27271" y="3502"/>
                  </a:lnTo>
                  <a:lnTo>
                    <a:pt x="44703" y="0"/>
                  </a:lnTo>
                  <a:lnTo>
                    <a:pt x="659638" y="0"/>
                  </a:lnTo>
                  <a:lnTo>
                    <a:pt x="677017" y="3502"/>
                  </a:lnTo>
                  <a:lnTo>
                    <a:pt x="691229" y="13065"/>
                  </a:lnTo>
                  <a:lnTo>
                    <a:pt x="700821" y="27271"/>
                  </a:lnTo>
                  <a:lnTo>
                    <a:pt x="704341" y="44703"/>
                  </a:lnTo>
                  <a:lnTo>
                    <a:pt x="704341" y="402463"/>
                  </a:lnTo>
                  <a:lnTo>
                    <a:pt x="700821" y="419915"/>
                  </a:lnTo>
                  <a:lnTo>
                    <a:pt x="691229" y="434165"/>
                  </a:lnTo>
                  <a:lnTo>
                    <a:pt x="677017" y="443771"/>
                  </a:lnTo>
                  <a:lnTo>
                    <a:pt x="659638" y="447294"/>
                  </a:lnTo>
                  <a:lnTo>
                    <a:pt x="44703" y="447294"/>
                  </a:lnTo>
                  <a:lnTo>
                    <a:pt x="27271" y="443771"/>
                  </a:lnTo>
                  <a:lnTo>
                    <a:pt x="13065" y="434165"/>
                  </a:lnTo>
                  <a:lnTo>
                    <a:pt x="3502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127496" y="2454097"/>
            <a:ext cx="605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5" dirty="0">
                <a:latin typeface="Cambria"/>
                <a:cs typeface="Cambria"/>
              </a:rPr>
              <a:t>R</a:t>
            </a:r>
            <a:r>
              <a:rPr sz="1000" spc="45" dirty="0">
                <a:latin typeface="Cambria"/>
                <a:cs typeface="Cambria"/>
              </a:rPr>
              <a:t>e</a:t>
            </a:r>
            <a:r>
              <a:rPr sz="1000" spc="25" dirty="0">
                <a:latin typeface="Cambria"/>
                <a:cs typeface="Cambria"/>
              </a:rPr>
              <a:t>c</a:t>
            </a:r>
            <a:r>
              <a:rPr sz="1000" spc="15" dirty="0">
                <a:latin typeface="Cambria"/>
                <a:cs typeface="Cambria"/>
              </a:rPr>
              <a:t>t</a:t>
            </a:r>
            <a:r>
              <a:rPr sz="1000" spc="60" dirty="0">
                <a:latin typeface="Cambria"/>
                <a:cs typeface="Cambria"/>
              </a:rPr>
              <a:t>a</a:t>
            </a:r>
            <a:r>
              <a:rPr sz="1000" spc="45" dirty="0">
                <a:latin typeface="Cambria"/>
                <a:cs typeface="Cambria"/>
              </a:rPr>
              <a:t>ng</a:t>
            </a:r>
            <a:r>
              <a:rPr sz="1000" spc="25" dirty="0">
                <a:latin typeface="Cambria"/>
                <a:cs typeface="Cambria"/>
              </a:rPr>
              <a:t>le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614798" y="2241042"/>
            <a:ext cx="808355" cy="547370"/>
            <a:chOff x="4614798" y="2241042"/>
            <a:chExt cx="808355" cy="547370"/>
          </a:xfrm>
        </p:grpSpPr>
        <p:sp>
          <p:nvSpPr>
            <p:cNvPr id="44" name="object 44"/>
            <p:cNvSpPr/>
            <p:nvPr/>
          </p:nvSpPr>
          <p:spPr>
            <a:xfrm>
              <a:off x="4627498" y="2253742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764" y="0"/>
                  </a:moveTo>
                  <a:lnTo>
                    <a:pt x="44830" y="0"/>
                  </a:lnTo>
                  <a:lnTo>
                    <a:pt x="27378" y="3520"/>
                  </a:lnTo>
                  <a:lnTo>
                    <a:pt x="13128" y="13112"/>
                  </a:lnTo>
                  <a:lnTo>
                    <a:pt x="3522" y="27324"/>
                  </a:lnTo>
                  <a:lnTo>
                    <a:pt x="0" y="44704"/>
                  </a:lnTo>
                  <a:lnTo>
                    <a:pt x="0" y="402590"/>
                  </a:lnTo>
                  <a:lnTo>
                    <a:pt x="3522" y="420022"/>
                  </a:lnTo>
                  <a:lnTo>
                    <a:pt x="13128" y="434228"/>
                  </a:lnTo>
                  <a:lnTo>
                    <a:pt x="27378" y="443791"/>
                  </a:lnTo>
                  <a:lnTo>
                    <a:pt x="44830" y="447294"/>
                  </a:lnTo>
                  <a:lnTo>
                    <a:pt x="659764" y="447294"/>
                  </a:lnTo>
                  <a:lnTo>
                    <a:pt x="677144" y="443791"/>
                  </a:lnTo>
                  <a:lnTo>
                    <a:pt x="691356" y="434228"/>
                  </a:lnTo>
                  <a:lnTo>
                    <a:pt x="700948" y="420022"/>
                  </a:lnTo>
                  <a:lnTo>
                    <a:pt x="704468" y="402590"/>
                  </a:lnTo>
                  <a:lnTo>
                    <a:pt x="704468" y="44704"/>
                  </a:lnTo>
                  <a:lnTo>
                    <a:pt x="700948" y="27324"/>
                  </a:lnTo>
                  <a:lnTo>
                    <a:pt x="691356" y="13112"/>
                  </a:lnTo>
                  <a:lnTo>
                    <a:pt x="677144" y="3520"/>
                  </a:lnTo>
                  <a:lnTo>
                    <a:pt x="659764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27498" y="2253742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4"/>
                  </a:moveTo>
                  <a:lnTo>
                    <a:pt x="3522" y="27324"/>
                  </a:lnTo>
                  <a:lnTo>
                    <a:pt x="13128" y="13112"/>
                  </a:lnTo>
                  <a:lnTo>
                    <a:pt x="27378" y="3520"/>
                  </a:lnTo>
                  <a:lnTo>
                    <a:pt x="44830" y="0"/>
                  </a:lnTo>
                  <a:lnTo>
                    <a:pt x="659764" y="0"/>
                  </a:lnTo>
                  <a:lnTo>
                    <a:pt x="677144" y="3520"/>
                  </a:lnTo>
                  <a:lnTo>
                    <a:pt x="691356" y="13112"/>
                  </a:lnTo>
                  <a:lnTo>
                    <a:pt x="700948" y="27324"/>
                  </a:lnTo>
                  <a:lnTo>
                    <a:pt x="704468" y="44704"/>
                  </a:lnTo>
                  <a:lnTo>
                    <a:pt x="704468" y="402590"/>
                  </a:lnTo>
                  <a:lnTo>
                    <a:pt x="700948" y="420022"/>
                  </a:lnTo>
                  <a:lnTo>
                    <a:pt x="691356" y="434228"/>
                  </a:lnTo>
                  <a:lnTo>
                    <a:pt x="677144" y="443791"/>
                  </a:lnTo>
                  <a:lnTo>
                    <a:pt x="659764" y="447294"/>
                  </a:lnTo>
                  <a:lnTo>
                    <a:pt x="44830" y="447294"/>
                  </a:lnTo>
                  <a:lnTo>
                    <a:pt x="27378" y="443791"/>
                  </a:lnTo>
                  <a:lnTo>
                    <a:pt x="13128" y="434228"/>
                  </a:lnTo>
                  <a:lnTo>
                    <a:pt x="3522" y="420022"/>
                  </a:lnTo>
                  <a:lnTo>
                    <a:pt x="0" y="402590"/>
                  </a:lnTo>
                  <a:lnTo>
                    <a:pt x="0" y="4470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05857" y="2328164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3" y="0"/>
                  </a:lnTo>
                  <a:lnTo>
                    <a:pt x="27271" y="3502"/>
                  </a:lnTo>
                  <a:lnTo>
                    <a:pt x="13065" y="13065"/>
                  </a:lnTo>
                  <a:lnTo>
                    <a:pt x="3502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02" y="419915"/>
                  </a:lnTo>
                  <a:lnTo>
                    <a:pt x="13065" y="434165"/>
                  </a:lnTo>
                  <a:lnTo>
                    <a:pt x="27271" y="443771"/>
                  </a:lnTo>
                  <a:lnTo>
                    <a:pt x="44703" y="447294"/>
                  </a:lnTo>
                  <a:lnTo>
                    <a:pt x="659638" y="447294"/>
                  </a:lnTo>
                  <a:lnTo>
                    <a:pt x="677017" y="443771"/>
                  </a:lnTo>
                  <a:lnTo>
                    <a:pt x="691229" y="434165"/>
                  </a:lnTo>
                  <a:lnTo>
                    <a:pt x="700821" y="419915"/>
                  </a:lnTo>
                  <a:lnTo>
                    <a:pt x="704341" y="402463"/>
                  </a:lnTo>
                  <a:lnTo>
                    <a:pt x="704341" y="44703"/>
                  </a:lnTo>
                  <a:lnTo>
                    <a:pt x="700821" y="27271"/>
                  </a:lnTo>
                  <a:lnTo>
                    <a:pt x="691229" y="13065"/>
                  </a:lnTo>
                  <a:lnTo>
                    <a:pt x="677017" y="350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05857" y="2328164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02" y="27271"/>
                  </a:lnTo>
                  <a:lnTo>
                    <a:pt x="13065" y="13065"/>
                  </a:lnTo>
                  <a:lnTo>
                    <a:pt x="27271" y="3502"/>
                  </a:lnTo>
                  <a:lnTo>
                    <a:pt x="44703" y="0"/>
                  </a:lnTo>
                  <a:lnTo>
                    <a:pt x="659638" y="0"/>
                  </a:lnTo>
                  <a:lnTo>
                    <a:pt x="677017" y="3502"/>
                  </a:lnTo>
                  <a:lnTo>
                    <a:pt x="691229" y="13065"/>
                  </a:lnTo>
                  <a:lnTo>
                    <a:pt x="700821" y="27271"/>
                  </a:lnTo>
                  <a:lnTo>
                    <a:pt x="704341" y="44703"/>
                  </a:lnTo>
                  <a:lnTo>
                    <a:pt x="704341" y="402463"/>
                  </a:lnTo>
                  <a:lnTo>
                    <a:pt x="700821" y="419915"/>
                  </a:lnTo>
                  <a:lnTo>
                    <a:pt x="691229" y="434165"/>
                  </a:lnTo>
                  <a:lnTo>
                    <a:pt x="677017" y="443771"/>
                  </a:lnTo>
                  <a:lnTo>
                    <a:pt x="659638" y="447294"/>
                  </a:lnTo>
                  <a:lnTo>
                    <a:pt x="44703" y="447294"/>
                  </a:lnTo>
                  <a:lnTo>
                    <a:pt x="27271" y="443771"/>
                  </a:lnTo>
                  <a:lnTo>
                    <a:pt x="13065" y="434165"/>
                  </a:lnTo>
                  <a:lnTo>
                    <a:pt x="3502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906771" y="2454097"/>
            <a:ext cx="302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20" dirty="0">
                <a:latin typeface="Cambria"/>
                <a:cs typeface="Cambria"/>
              </a:rPr>
              <a:t>O</a:t>
            </a:r>
            <a:r>
              <a:rPr sz="1000" spc="30" dirty="0">
                <a:latin typeface="Cambria"/>
                <a:cs typeface="Cambria"/>
              </a:rPr>
              <a:t>v</a:t>
            </a:r>
            <a:r>
              <a:rPr sz="1000" spc="60" dirty="0">
                <a:latin typeface="Cambria"/>
                <a:cs typeface="Cambria"/>
              </a:rPr>
              <a:t>a</a:t>
            </a:r>
            <a:r>
              <a:rPr sz="1000" spc="40" dirty="0">
                <a:latin typeface="Cambria"/>
                <a:cs typeface="Cambria"/>
              </a:rPr>
              <a:t>l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611370" y="2893186"/>
            <a:ext cx="808355" cy="547370"/>
            <a:chOff x="4611370" y="2893186"/>
            <a:chExt cx="808355" cy="547370"/>
          </a:xfrm>
        </p:grpSpPr>
        <p:sp>
          <p:nvSpPr>
            <p:cNvPr id="50" name="object 50"/>
            <p:cNvSpPr/>
            <p:nvPr/>
          </p:nvSpPr>
          <p:spPr>
            <a:xfrm>
              <a:off x="4624070" y="2905886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3" y="0"/>
                  </a:lnTo>
                  <a:lnTo>
                    <a:pt x="27324" y="3520"/>
                  </a:lnTo>
                  <a:lnTo>
                    <a:pt x="13112" y="13112"/>
                  </a:lnTo>
                  <a:lnTo>
                    <a:pt x="3520" y="27324"/>
                  </a:lnTo>
                  <a:lnTo>
                    <a:pt x="0" y="44703"/>
                  </a:lnTo>
                  <a:lnTo>
                    <a:pt x="0" y="402589"/>
                  </a:lnTo>
                  <a:lnTo>
                    <a:pt x="3520" y="420022"/>
                  </a:lnTo>
                  <a:lnTo>
                    <a:pt x="13112" y="434228"/>
                  </a:lnTo>
                  <a:lnTo>
                    <a:pt x="27324" y="443791"/>
                  </a:lnTo>
                  <a:lnTo>
                    <a:pt x="44703" y="447293"/>
                  </a:lnTo>
                  <a:lnTo>
                    <a:pt x="659638" y="447293"/>
                  </a:lnTo>
                  <a:lnTo>
                    <a:pt x="677090" y="443791"/>
                  </a:lnTo>
                  <a:lnTo>
                    <a:pt x="691340" y="434228"/>
                  </a:lnTo>
                  <a:lnTo>
                    <a:pt x="700946" y="420022"/>
                  </a:lnTo>
                  <a:lnTo>
                    <a:pt x="704468" y="402589"/>
                  </a:lnTo>
                  <a:lnTo>
                    <a:pt x="704468" y="44703"/>
                  </a:lnTo>
                  <a:lnTo>
                    <a:pt x="700946" y="27324"/>
                  </a:lnTo>
                  <a:lnTo>
                    <a:pt x="691340" y="13112"/>
                  </a:lnTo>
                  <a:lnTo>
                    <a:pt x="677090" y="3520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24070" y="2905886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20" y="27324"/>
                  </a:lnTo>
                  <a:lnTo>
                    <a:pt x="13112" y="13112"/>
                  </a:lnTo>
                  <a:lnTo>
                    <a:pt x="27324" y="3520"/>
                  </a:lnTo>
                  <a:lnTo>
                    <a:pt x="44703" y="0"/>
                  </a:lnTo>
                  <a:lnTo>
                    <a:pt x="659638" y="0"/>
                  </a:lnTo>
                  <a:lnTo>
                    <a:pt x="677090" y="3520"/>
                  </a:lnTo>
                  <a:lnTo>
                    <a:pt x="691340" y="13112"/>
                  </a:lnTo>
                  <a:lnTo>
                    <a:pt x="700946" y="27324"/>
                  </a:lnTo>
                  <a:lnTo>
                    <a:pt x="704468" y="44703"/>
                  </a:lnTo>
                  <a:lnTo>
                    <a:pt x="704468" y="402589"/>
                  </a:lnTo>
                  <a:lnTo>
                    <a:pt x="700946" y="420022"/>
                  </a:lnTo>
                  <a:lnTo>
                    <a:pt x="691340" y="434228"/>
                  </a:lnTo>
                  <a:lnTo>
                    <a:pt x="677090" y="443791"/>
                  </a:lnTo>
                  <a:lnTo>
                    <a:pt x="659638" y="447293"/>
                  </a:lnTo>
                  <a:lnTo>
                    <a:pt x="44703" y="447293"/>
                  </a:lnTo>
                  <a:lnTo>
                    <a:pt x="27324" y="443791"/>
                  </a:lnTo>
                  <a:lnTo>
                    <a:pt x="13112" y="434228"/>
                  </a:lnTo>
                  <a:lnTo>
                    <a:pt x="3520" y="420022"/>
                  </a:lnTo>
                  <a:lnTo>
                    <a:pt x="0" y="402589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02429" y="2980308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659638" y="0"/>
                  </a:moveTo>
                  <a:lnTo>
                    <a:pt x="44704" y="0"/>
                  </a:lnTo>
                  <a:lnTo>
                    <a:pt x="27271" y="3502"/>
                  </a:lnTo>
                  <a:lnTo>
                    <a:pt x="13065" y="13065"/>
                  </a:lnTo>
                  <a:lnTo>
                    <a:pt x="3502" y="27271"/>
                  </a:lnTo>
                  <a:lnTo>
                    <a:pt x="0" y="44703"/>
                  </a:lnTo>
                  <a:lnTo>
                    <a:pt x="0" y="402463"/>
                  </a:lnTo>
                  <a:lnTo>
                    <a:pt x="3502" y="419915"/>
                  </a:lnTo>
                  <a:lnTo>
                    <a:pt x="13065" y="434165"/>
                  </a:lnTo>
                  <a:lnTo>
                    <a:pt x="27271" y="443771"/>
                  </a:lnTo>
                  <a:lnTo>
                    <a:pt x="44704" y="447293"/>
                  </a:lnTo>
                  <a:lnTo>
                    <a:pt x="659638" y="447293"/>
                  </a:lnTo>
                  <a:lnTo>
                    <a:pt x="677017" y="443771"/>
                  </a:lnTo>
                  <a:lnTo>
                    <a:pt x="691229" y="434165"/>
                  </a:lnTo>
                  <a:lnTo>
                    <a:pt x="700821" y="419915"/>
                  </a:lnTo>
                  <a:lnTo>
                    <a:pt x="704342" y="402463"/>
                  </a:lnTo>
                  <a:lnTo>
                    <a:pt x="704342" y="44703"/>
                  </a:lnTo>
                  <a:lnTo>
                    <a:pt x="700821" y="27271"/>
                  </a:lnTo>
                  <a:lnTo>
                    <a:pt x="691229" y="13065"/>
                  </a:lnTo>
                  <a:lnTo>
                    <a:pt x="677017" y="3502"/>
                  </a:lnTo>
                  <a:lnTo>
                    <a:pt x="6596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02429" y="2980308"/>
              <a:ext cx="704850" cy="447675"/>
            </a:xfrm>
            <a:custGeom>
              <a:avLst/>
              <a:gdLst/>
              <a:ahLst/>
              <a:cxnLst/>
              <a:rect l="l" t="t" r="r" b="b"/>
              <a:pathLst>
                <a:path w="704850" h="447675">
                  <a:moveTo>
                    <a:pt x="0" y="44703"/>
                  </a:moveTo>
                  <a:lnTo>
                    <a:pt x="3502" y="27271"/>
                  </a:lnTo>
                  <a:lnTo>
                    <a:pt x="13065" y="13065"/>
                  </a:lnTo>
                  <a:lnTo>
                    <a:pt x="27271" y="3502"/>
                  </a:lnTo>
                  <a:lnTo>
                    <a:pt x="44704" y="0"/>
                  </a:lnTo>
                  <a:lnTo>
                    <a:pt x="659638" y="0"/>
                  </a:lnTo>
                  <a:lnTo>
                    <a:pt x="677017" y="3502"/>
                  </a:lnTo>
                  <a:lnTo>
                    <a:pt x="691229" y="13065"/>
                  </a:lnTo>
                  <a:lnTo>
                    <a:pt x="700821" y="27271"/>
                  </a:lnTo>
                  <a:lnTo>
                    <a:pt x="704342" y="44703"/>
                  </a:lnTo>
                  <a:lnTo>
                    <a:pt x="704342" y="402463"/>
                  </a:lnTo>
                  <a:lnTo>
                    <a:pt x="700821" y="419915"/>
                  </a:lnTo>
                  <a:lnTo>
                    <a:pt x="691229" y="434165"/>
                  </a:lnTo>
                  <a:lnTo>
                    <a:pt x="677017" y="443771"/>
                  </a:lnTo>
                  <a:lnTo>
                    <a:pt x="659638" y="447293"/>
                  </a:lnTo>
                  <a:lnTo>
                    <a:pt x="44704" y="447293"/>
                  </a:lnTo>
                  <a:lnTo>
                    <a:pt x="27271" y="443771"/>
                  </a:lnTo>
                  <a:lnTo>
                    <a:pt x="13065" y="434165"/>
                  </a:lnTo>
                  <a:lnTo>
                    <a:pt x="3502" y="419915"/>
                  </a:lnTo>
                  <a:lnTo>
                    <a:pt x="0" y="402463"/>
                  </a:lnTo>
                  <a:lnTo>
                    <a:pt x="0" y="4470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868036" y="3106673"/>
            <a:ext cx="3721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latin typeface="Cambria"/>
                <a:cs typeface="Cambria"/>
              </a:rPr>
              <a:t>Circle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47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60" dirty="0"/>
              <a:t> </a:t>
            </a:r>
            <a:r>
              <a:rPr sz="3000" spc="165" dirty="0"/>
              <a:t>–</a:t>
            </a:r>
            <a:r>
              <a:rPr sz="3000" spc="140" dirty="0"/>
              <a:t> </a:t>
            </a:r>
            <a:r>
              <a:rPr sz="3000" spc="290" dirty="0"/>
              <a:t>B</a:t>
            </a:r>
            <a:r>
              <a:rPr sz="2400" spc="290" dirty="0"/>
              <a:t>ENEFITS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53275" cy="3675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What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will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happen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call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using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105" dirty="0">
                <a:latin typeface="Cambria"/>
                <a:cs typeface="Cambria"/>
              </a:rPr>
              <a:t>Triangle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Circle </a:t>
            </a:r>
            <a:r>
              <a:rPr sz="2400" spc="50" dirty="0">
                <a:latin typeface="Cambria"/>
                <a:cs typeface="Cambria"/>
              </a:rPr>
              <a:t>object.</a:t>
            </a:r>
            <a:endParaRPr sz="2400">
              <a:latin typeface="Cambria"/>
              <a:cs typeface="Cambria"/>
            </a:endParaRPr>
          </a:p>
          <a:p>
            <a:pPr marL="285115" marR="5080">
              <a:lnSpc>
                <a:spcPct val="101899"/>
              </a:lnSpc>
              <a:spcBef>
                <a:spcPts val="175"/>
              </a:spcBef>
            </a:pPr>
            <a:r>
              <a:rPr sz="1600" spc="45" dirty="0">
                <a:latin typeface="Cambria"/>
                <a:cs typeface="Cambria"/>
              </a:rPr>
              <a:t>drawShape(new </a:t>
            </a:r>
            <a:r>
              <a:rPr sz="1600" spc="25" dirty="0">
                <a:latin typeface="Cambria"/>
                <a:cs typeface="Cambria"/>
              </a:rPr>
              <a:t>Triangle());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will </a:t>
            </a:r>
            <a:r>
              <a:rPr sz="1600" spc="60" dirty="0">
                <a:latin typeface="Cambria"/>
                <a:cs typeface="Cambria"/>
              </a:rPr>
              <a:t>call the </a:t>
            </a:r>
            <a:r>
              <a:rPr sz="1600" spc="40" dirty="0">
                <a:latin typeface="Cambria"/>
                <a:cs typeface="Cambria"/>
              </a:rPr>
              <a:t>draw method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Triangle </a:t>
            </a:r>
            <a:r>
              <a:rPr sz="1600" spc="55" dirty="0">
                <a:latin typeface="Cambria"/>
                <a:cs typeface="Cambria"/>
              </a:rPr>
              <a:t>class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drawShape(new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Circle());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will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call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draw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method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Circle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Cambria"/>
              <a:cs typeface="Cambria"/>
            </a:endParaRPr>
          </a:p>
          <a:p>
            <a:pPr marL="652780" marR="358140" lvl="1" indent="-273685">
              <a:lnSpc>
                <a:spcPct val="100000"/>
              </a:lnSpc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invocation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produce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“many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forms”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results</a:t>
            </a:r>
            <a:endParaRPr sz="2100">
              <a:latin typeface="Cambria"/>
              <a:cs typeface="Cambria"/>
            </a:endParaRPr>
          </a:p>
          <a:p>
            <a:pPr marL="652780" marR="26543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We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override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subclasses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which </a:t>
            </a:r>
            <a:r>
              <a:rPr sz="2100" spc="7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implementation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used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decided</a:t>
            </a:r>
            <a:r>
              <a:rPr sz="2100" spc="120" dirty="0">
                <a:latin typeface="Cambria"/>
                <a:cs typeface="Cambria"/>
              </a:rPr>
              <a:t> at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runtime 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depending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upon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situation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(i.e.,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data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real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" dirty="0">
                <a:latin typeface="Cambria"/>
                <a:cs typeface="Cambria"/>
              </a:rPr>
              <a:t>object)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763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60" dirty="0"/>
              <a:t> </a:t>
            </a:r>
            <a:r>
              <a:rPr sz="3000" dirty="0"/>
              <a:t>-</a:t>
            </a:r>
            <a:r>
              <a:rPr sz="3000" spc="150" dirty="0"/>
              <a:t> </a:t>
            </a:r>
            <a:r>
              <a:rPr sz="3000" spc="290" dirty="0"/>
              <a:t>B</a:t>
            </a:r>
            <a:r>
              <a:rPr sz="2400" spc="290" dirty="0"/>
              <a:t>ENEFITS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30745" cy="3357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Polymorphism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enables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programmers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deal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0" dirty="0">
                <a:latin typeface="Cambria"/>
                <a:cs typeface="Cambria"/>
              </a:rPr>
              <a:t>generalities</a:t>
            </a:r>
            <a:r>
              <a:rPr sz="2400" spc="105" dirty="0">
                <a:latin typeface="Cambria"/>
                <a:cs typeface="Cambria"/>
              </a:rPr>
              <a:t> and</a:t>
            </a:r>
            <a:endParaRPr sz="2400">
              <a:latin typeface="Cambria"/>
              <a:cs typeface="Cambria"/>
            </a:endParaRPr>
          </a:p>
          <a:p>
            <a:pPr marL="652780" marR="833119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let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execution-time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environment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handle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specifics.</a:t>
            </a:r>
            <a:endParaRPr sz="2100">
              <a:latin typeface="Cambria"/>
              <a:cs typeface="Cambria"/>
            </a:endParaRPr>
          </a:p>
          <a:p>
            <a:pPr marL="285115" marR="14351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0" dirty="0">
                <a:latin typeface="Cambria"/>
                <a:cs typeface="Cambria"/>
              </a:rPr>
              <a:t>Programmers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command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objects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behave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manners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appropriate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those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objects,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without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knowing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objects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30" dirty="0">
                <a:latin typeface="Cambria"/>
                <a:cs typeface="Cambria"/>
              </a:rPr>
              <a:t>(as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long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objects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belong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same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inheritance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65" dirty="0">
                <a:latin typeface="Cambria"/>
                <a:cs typeface="Cambria"/>
              </a:rPr>
              <a:t>hierarchy).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763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P</a:t>
            </a:r>
            <a:r>
              <a:rPr sz="2400" spc="290" dirty="0"/>
              <a:t>OLYMORPHISM</a:t>
            </a:r>
            <a:r>
              <a:rPr sz="2400" spc="260" dirty="0"/>
              <a:t> </a:t>
            </a:r>
            <a:r>
              <a:rPr sz="3000" dirty="0"/>
              <a:t>-</a:t>
            </a:r>
            <a:r>
              <a:rPr sz="3000" spc="150" dirty="0"/>
              <a:t> </a:t>
            </a:r>
            <a:r>
              <a:rPr sz="3000" spc="290" dirty="0"/>
              <a:t>B</a:t>
            </a:r>
            <a:r>
              <a:rPr sz="2400" spc="290" dirty="0"/>
              <a:t>ENEFITS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98117"/>
            <a:ext cx="7174230" cy="88074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5115" marR="5080" indent="-273050">
              <a:lnSpc>
                <a:spcPct val="90100"/>
              </a:lnSpc>
              <a:spcBef>
                <a:spcPts val="3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5" dirty="0">
                <a:latin typeface="Cambria"/>
                <a:cs typeface="Cambria"/>
              </a:rPr>
              <a:t>Now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think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: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What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needs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change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old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hierarchy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1600" b="1" i="1" spc="130" dirty="0">
                <a:latin typeface="Cambria"/>
                <a:cs typeface="Cambria"/>
              </a:rPr>
              <a:t>drawShape(Shape</a:t>
            </a:r>
            <a:r>
              <a:rPr sz="1600" b="1" i="1" spc="125" dirty="0">
                <a:latin typeface="Cambria"/>
                <a:cs typeface="Cambria"/>
              </a:rPr>
              <a:t> </a:t>
            </a:r>
            <a:r>
              <a:rPr sz="1600" b="1" i="1" spc="90" dirty="0">
                <a:latin typeface="Cambria"/>
                <a:cs typeface="Cambria"/>
              </a:rPr>
              <a:t>shape)</a:t>
            </a:r>
            <a:r>
              <a:rPr sz="1600" b="1" i="1" spc="21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method,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you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add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new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subtype 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“Square”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shown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below.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44415"/>
            <a:ext cx="7214870" cy="203771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65" dirty="0">
                <a:latin typeface="Cambria"/>
                <a:cs typeface="Cambria"/>
              </a:rPr>
              <a:t>Polymorphism</a:t>
            </a:r>
            <a:r>
              <a:rPr sz="2000" spc="4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Promotes </a:t>
            </a:r>
            <a:r>
              <a:rPr sz="2000" spc="90" dirty="0">
                <a:latin typeface="Cambria"/>
                <a:cs typeface="Cambria"/>
              </a:rPr>
              <a:t>Extensibility</a:t>
            </a:r>
            <a:endParaRPr sz="2000">
              <a:latin typeface="Cambria"/>
              <a:cs typeface="Cambria"/>
            </a:endParaRPr>
          </a:p>
          <a:p>
            <a:pPr marL="652780" marR="287020" lvl="1" indent="-273685">
              <a:lnSpc>
                <a:spcPct val="100000"/>
              </a:lnSpc>
              <a:spcBef>
                <a:spcPts val="48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100" dirty="0">
                <a:latin typeface="Cambria"/>
                <a:cs typeface="Cambria"/>
              </a:rPr>
              <a:t>New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object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types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respond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existing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calls</a:t>
            </a:r>
            <a:r>
              <a:rPr sz="2000" spc="80" dirty="0">
                <a:latin typeface="Cambria"/>
                <a:cs typeface="Cambria"/>
              </a:rPr>
              <a:t> can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be</a:t>
            </a:r>
            <a:endParaRPr sz="2000">
              <a:latin typeface="Cambria"/>
              <a:cs typeface="Cambria"/>
            </a:endParaRPr>
          </a:p>
          <a:p>
            <a:pPr marL="927100" marR="5080" lvl="2" indent="-182880">
              <a:lnSpc>
                <a:spcPts val="1730"/>
              </a:lnSpc>
              <a:spcBef>
                <a:spcPts val="409"/>
              </a:spcBef>
              <a:buClr>
                <a:srgbClr val="DF752E"/>
              </a:buClr>
              <a:buSzPct val="59375"/>
              <a:buFont typeface="Wingdings"/>
              <a:buChar char=""/>
              <a:tabLst>
                <a:tab pos="927735" algn="l"/>
              </a:tabLst>
            </a:pPr>
            <a:r>
              <a:rPr sz="1600" spc="30" dirty="0">
                <a:latin typeface="Cambria"/>
                <a:cs typeface="Cambria"/>
              </a:rPr>
              <a:t>incorporated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into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system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without</a:t>
            </a:r>
            <a:r>
              <a:rPr sz="1600" b="1" spc="155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requiring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modification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base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system.</a:t>
            </a:r>
            <a:endParaRPr sz="1600">
              <a:latin typeface="Cambria"/>
              <a:cs typeface="Cambria"/>
            </a:endParaRPr>
          </a:p>
          <a:p>
            <a:pPr marL="927100" marR="773430" lvl="2" indent="-182880">
              <a:lnSpc>
                <a:spcPts val="1730"/>
              </a:lnSpc>
              <a:spcBef>
                <a:spcPts val="380"/>
              </a:spcBef>
              <a:buClr>
                <a:srgbClr val="DF752E"/>
              </a:buClr>
              <a:buSzPct val="59375"/>
              <a:buFont typeface="Wingdings"/>
              <a:buChar char=""/>
              <a:tabLst>
                <a:tab pos="927735" algn="l"/>
              </a:tabLst>
            </a:pPr>
            <a:r>
              <a:rPr sz="1600" spc="95" dirty="0">
                <a:latin typeface="Cambria"/>
                <a:cs typeface="Cambria"/>
              </a:rPr>
              <a:t>Only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client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code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b="1" spc="110" dirty="0">
                <a:latin typeface="Cambria"/>
                <a:cs typeface="Cambria"/>
              </a:rPr>
              <a:t>that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instantiates</a:t>
            </a:r>
            <a:r>
              <a:rPr sz="1600" b="1" spc="160" dirty="0">
                <a:latin typeface="Cambria"/>
                <a:cs typeface="Cambria"/>
              </a:rPr>
              <a:t> </a:t>
            </a:r>
            <a:r>
              <a:rPr sz="1600" b="1" spc="105" dirty="0">
                <a:latin typeface="Cambria"/>
                <a:cs typeface="Cambria"/>
              </a:rPr>
              <a:t>new</a:t>
            </a:r>
            <a:r>
              <a:rPr sz="1600" b="1" spc="130" dirty="0">
                <a:latin typeface="Cambria"/>
                <a:cs typeface="Cambria"/>
              </a:rPr>
              <a:t> </a:t>
            </a:r>
            <a:r>
              <a:rPr sz="1600" b="1" spc="80" dirty="0">
                <a:latin typeface="Cambria"/>
                <a:cs typeface="Cambria"/>
              </a:rPr>
              <a:t>objects</a:t>
            </a:r>
            <a:r>
              <a:rPr sz="1600" b="1" spc="135" dirty="0">
                <a:latin typeface="Cambria"/>
                <a:cs typeface="Cambria"/>
              </a:rPr>
              <a:t> </a:t>
            </a:r>
            <a:r>
              <a:rPr sz="1600" b="1" spc="100" dirty="0">
                <a:latin typeface="Cambria"/>
                <a:cs typeface="Cambria"/>
              </a:rPr>
              <a:t>must</a:t>
            </a:r>
            <a:r>
              <a:rPr sz="1600" b="1" spc="120" dirty="0">
                <a:latin typeface="Cambria"/>
                <a:cs typeface="Cambria"/>
              </a:rPr>
              <a:t> </a:t>
            </a:r>
            <a:r>
              <a:rPr sz="1600" b="1" spc="75" dirty="0">
                <a:latin typeface="Cambria"/>
                <a:cs typeface="Cambria"/>
              </a:rPr>
              <a:t>be </a:t>
            </a:r>
            <a:r>
              <a:rPr sz="1600" b="1" spc="-33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modified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accommodate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types.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08098" y="2503297"/>
            <a:ext cx="4900930" cy="1440180"/>
            <a:chOff x="1808098" y="2503297"/>
            <a:chExt cx="4900930" cy="1440180"/>
          </a:xfrm>
        </p:grpSpPr>
        <p:sp>
          <p:nvSpPr>
            <p:cNvPr id="6" name="object 6"/>
            <p:cNvSpPr/>
            <p:nvPr/>
          </p:nvSpPr>
          <p:spPr>
            <a:xfrm>
              <a:off x="4769357" y="3707257"/>
              <a:ext cx="2540" cy="222250"/>
            </a:xfrm>
            <a:custGeom>
              <a:avLst/>
              <a:gdLst/>
              <a:ahLst/>
              <a:cxnLst/>
              <a:rect l="l" t="t" r="r" b="b"/>
              <a:pathLst>
                <a:path w="2539" h="222250">
                  <a:moveTo>
                    <a:pt x="1079" y="-12700"/>
                  </a:moveTo>
                  <a:lnTo>
                    <a:pt x="1079" y="234696"/>
                  </a:lnTo>
                </a:path>
              </a:pathLst>
            </a:custGeom>
            <a:ln w="27558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67452" y="3000629"/>
              <a:ext cx="1905" cy="222250"/>
            </a:xfrm>
            <a:custGeom>
              <a:avLst/>
              <a:gdLst/>
              <a:ahLst/>
              <a:cxnLst/>
              <a:rect l="l" t="t" r="r" b="b"/>
              <a:pathLst>
                <a:path w="1904" h="222250">
                  <a:moveTo>
                    <a:pt x="952" y="-12700"/>
                  </a:moveTo>
                  <a:lnTo>
                    <a:pt x="952" y="234696"/>
                  </a:lnTo>
                </a:path>
              </a:pathLst>
            </a:custGeom>
            <a:ln w="27305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77413" y="3000629"/>
              <a:ext cx="4018915" cy="222250"/>
            </a:xfrm>
            <a:custGeom>
              <a:avLst/>
              <a:gdLst/>
              <a:ahLst/>
              <a:cxnLst/>
              <a:rect l="l" t="t" r="r" b="b"/>
              <a:pathLst>
                <a:path w="4018915" h="222250">
                  <a:moveTo>
                    <a:pt x="2090039" y="0"/>
                  </a:moveTo>
                  <a:lnTo>
                    <a:pt x="2090039" y="151257"/>
                  </a:lnTo>
                  <a:lnTo>
                    <a:pt x="4018915" y="151257"/>
                  </a:lnTo>
                  <a:lnTo>
                    <a:pt x="4018915" y="221996"/>
                  </a:lnTo>
                </a:path>
                <a:path w="4018915" h="222250">
                  <a:moveTo>
                    <a:pt x="2090039" y="0"/>
                  </a:moveTo>
                  <a:lnTo>
                    <a:pt x="2090039" y="151257"/>
                  </a:lnTo>
                  <a:lnTo>
                    <a:pt x="0" y="151257"/>
                  </a:lnTo>
                  <a:lnTo>
                    <a:pt x="0" y="221996"/>
                  </a:lnTo>
                </a:path>
              </a:pathLst>
            </a:custGeom>
            <a:ln w="25400">
              <a:solidFill>
                <a:srgbClr val="CA6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85817" y="2515997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6" y="0"/>
                  </a:moveTo>
                  <a:lnTo>
                    <a:pt x="48387" y="0"/>
                  </a:lnTo>
                  <a:lnTo>
                    <a:pt x="29575" y="3810"/>
                  </a:lnTo>
                  <a:lnTo>
                    <a:pt x="14192" y="14192"/>
                  </a:lnTo>
                  <a:lnTo>
                    <a:pt x="3810" y="29575"/>
                  </a:lnTo>
                  <a:lnTo>
                    <a:pt x="0" y="48387"/>
                  </a:lnTo>
                  <a:lnTo>
                    <a:pt x="0" y="436117"/>
                  </a:lnTo>
                  <a:lnTo>
                    <a:pt x="3810" y="455003"/>
                  </a:lnTo>
                  <a:lnTo>
                    <a:pt x="14192" y="470423"/>
                  </a:lnTo>
                  <a:lnTo>
                    <a:pt x="29575" y="480820"/>
                  </a:lnTo>
                  <a:lnTo>
                    <a:pt x="48387" y="484631"/>
                  </a:lnTo>
                  <a:lnTo>
                    <a:pt x="714756" y="484631"/>
                  </a:lnTo>
                  <a:lnTo>
                    <a:pt x="733621" y="480820"/>
                  </a:lnTo>
                  <a:lnTo>
                    <a:pt x="748998" y="470423"/>
                  </a:lnTo>
                  <a:lnTo>
                    <a:pt x="759350" y="455003"/>
                  </a:lnTo>
                  <a:lnTo>
                    <a:pt x="763143" y="436117"/>
                  </a:lnTo>
                  <a:lnTo>
                    <a:pt x="763143" y="48387"/>
                  </a:lnTo>
                  <a:lnTo>
                    <a:pt x="759350" y="29575"/>
                  </a:lnTo>
                  <a:lnTo>
                    <a:pt x="748998" y="14192"/>
                  </a:lnTo>
                  <a:lnTo>
                    <a:pt x="733621" y="3810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5817" y="2515997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387"/>
                  </a:moveTo>
                  <a:lnTo>
                    <a:pt x="3810" y="29575"/>
                  </a:lnTo>
                  <a:lnTo>
                    <a:pt x="14192" y="14192"/>
                  </a:lnTo>
                  <a:lnTo>
                    <a:pt x="29575" y="3810"/>
                  </a:lnTo>
                  <a:lnTo>
                    <a:pt x="48387" y="0"/>
                  </a:lnTo>
                  <a:lnTo>
                    <a:pt x="714756" y="0"/>
                  </a:lnTo>
                  <a:lnTo>
                    <a:pt x="733621" y="3810"/>
                  </a:lnTo>
                  <a:lnTo>
                    <a:pt x="748998" y="14192"/>
                  </a:lnTo>
                  <a:lnTo>
                    <a:pt x="759350" y="29575"/>
                  </a:lnTo>
                  <a:lnTo>
                    <a:pt x="763143" y="48387"/>
                  </a:lnTo>
                  <a:lnTo>
                    <a:pt x="763143" y="436117"/>
                  </a:lnTo>
                  <a:lnTo>
                    <a:pt x="759350" y="455003"/>
                  </a:lnTo>
                  <a:lnTo>
                    <a:pt x="748998" y="470423"/>
                  </a:lnTo>
                  <a:lnTo>
                    <a:pt x="733621" y="480820"/>
                  </a:lnTo>
                  <a:lnTo>
                    <a:pt x="714756" y="484631"/>
                  </a:lnTo>
                  <a:lnTo>
                    <a:pt x="48387" y="484631"/>
                  </a:lnTo>
                  <a:lnTo>
                    <a:pt x="29575" y="480820"/>
                  </a:lnTo>
                  <a:lnTo>
                    <a:pt x="14192" y="470423"/>
                  </a:lnTo>
                  <a:lnTo>
                    <a:pt x="3810" y="455003"/>
                  </a:lnTo>
                  <a:lnTo>
                    <a:pt x="0" y="436117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70653" y="259651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6" y="0"/>
                  </a:moveTo>
                  <a:lnTo>
                    <a:pt x="48387" y="0"/>
                  </a:lnTo>
                  <a:lnTo>
                    <a:pt x="29521" y="3811"/>
                  </a:lnTo>
                  <a:lnTo>
                    <a:pt x="14144" y="14208"/>
                  </a:lnTo>
                  <a:lnTo>
                    <a:pt x="3792" y="29628"/>
                  </a:lnTo>
                  <a:lnTo>
                    <a:pt x="0" y="48513"/>
                  </a:lnTo>
                  <a:lnTo>
                    <a:pt x="0" y="436245"/>
                  </a:lnTo>
                  <a:lnTo>
                    <a:pt x="3792" y="455056"/>
                  </a:lnTo>
                  <a:lnTo>
                    <a:pt x="14144" y="470439"/>
                  </a:lnTo>
                  <a:lnTo>
                    <a:pt x="29521" y="480822"/>
                  </a:lnTo>
                  <a:lnTo>
                    <a:pt x="48387" y="484632"/>
                  </a:lnTo>
                  <a:lnTo>
                    <a:pt x="714756" y="484632"/>
                  </a:lnTo>
                  <a:lnTo>
                    <a:pt x="733567" y="480822"/>
                  </a:lnTo>
                  <a:lnTo>
                    <a:pt x="748950" y="470439"/>
                  </a:lnTo>
                  <a:lnTo>
                    <a:pt x="759333" y="455056"/>
                  </a:lnTo>
                  <a:lnTo>
                    <a:pt x="763143" y="436245"/>
                  </a:lnTo>
                  <a:lnTo>
                    <a:pt x="763143" y="48513"/>
                  </a:lnTo>
                  <a:lnTo>
                    <a:pt x="759333" y="29628"/>
                  </a:lnTo>
                  <a:lnTo>
                    <a:pt x="748950" y="14208"/>
                  </a:lnTo>
                  <a:lnTo>
                    <a:pt x="733567" y="381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0653" y="259651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513"/>
                  </a:moveTo>
                  <a:lnTo>
                    <a:pt x="3792" y="29628"/>
                  </a:lnTo>
                  <a:lnTo>
                    <a:pt x="14144" y="14208"/>
                  </a:lnTo>
                  <a:lnTo>
                    <a:pt x="29521" y="3811"/>
                  </a:lnTo>
                  <a:lnTo>
                    <a:pt x="48387" y="0"/>
                  </a:lnTo>
                  <a:lnTo>
                    <a:pt x="714756" y="0"/>
                  </a:lnTo>
                  <a:lnTo>
                    <a:pt x="733567" y="3811"/>
                  </a:lnTo>
                  <a:lnTo>
                    <a:pt x="748950" y="14208"/>
                  </a:lnTo>
                  <a:lnTo>
                    <a:pt x="759333" y="29628"/>
                  </a:lnTo>
                  <a:lnTo>
                    <a:pt x="763143" y="48513"/>
                  </a:lnTo>
                  <a:lnTo>
                    <a:pt x="763143" y="436245"/>
                  </a:lnTo>
                  <a:lnTo>
                    <a:pt x="759333" y="455056"/>
                  </a:lnTo>
                  <a:lnTo>
                    <a:pt x="748950" y="470439"/>
                  </a:lnTo>
                  <a:lnTo>
                    <a:pt x="733567" y="480822"/>
                  </a:lnTo>
                  <a:lnTo>
                    <a:pt x="714756" y="484632"/>
                  </a:lnTo>
                  <a:lnTo>
                    <a:pt x="48387" y="484632"/>
                  </a:lnTo>
                  <a:lnTo>
                    <a:pt x="29521" y="480822"/>
                  </a:lnTo>
                  <a:lnTo>
                    <a:pt x="14144" y="470439"/>
                  </a:lnTo>
                  <a:lnTo>
                    <a:pt x="3792" y="455056"/>
                  </a:lnTo>
                  <a:lnTo>
                    <a:pt x="0" y="436245"/>
                  </a:lnTo>
                  <a:lnTo>
                    <a:pt x="0" y="4851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0798" y="3707257"/>
              <a:ext cx="4875530" cy="222250"/>
            </a:xfrm>
            <a:custGeom>
              <a:avLst/>
              <a:gdLst/>
              <a:ahLst/>
              <a:cxnLst/>
              <a:rect l="l" t="t" r="r" b="b"/>
              <a:pathLst>
                <a:path w="4875530" h="222250">
                  <a:moveTo>
                    <a:pt x="856614" y="0"/>
                  </a:moveTo>
                  <a:lnTo>
                    <a:pt x="856614" y="151257"/>
                  </a:lnTo>
                  <a:lnTo>
                    <a:pt x="1789429" y="151257"/>
                  </a:lnTo>
                  <a:lnTo>
                    <a:pt x="1789429" y="221996"/>
                  </a:lnTo>
                </a:path>
                <a:path w="4875530" h="222250">
                  <a:moveTo>
                    <a:pt x="856614" y="0"/>
                  </a:moveTo>
                  <a:lnTo>
                    <a:pt x="856614" y="221996"/>
                  </a:lnTo>
                </a:path>
                <a:path w="4875530" h="222250">
                  <a:moveTo>
                    <a:pt x="856614" y="0"/>
                  </a:moveTo>
                  <a:lnTo>
                    <a:pt x="856614" y="151257"/>
                  </a:lnTo>
                  <a:lnTo>
                    <a:pt x="0" y="151257"/>
                  </a:lnTo>
                  <a:lnTo>
                    <a:pt x="0" y="221996"/>
                  </a:lnTo>
                </a:path>
                <a:path w="4875530" h="222250">
                  <a:moveTo>
                    <a:pt x="4875530" y="0"/>
                  </a:moveTo>
                  <a:lnTo>
                    <a:pt x="4875530" y="221996"/>
                  </a:lnTo>
                </a:path>
              </a:pathLst>
            </a:custGeom>
            <a:ln w="25400">
              <a:solidFill>
                <a:srgbClr val="E679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38294" y="2731388"/>
            <a:ext cx="42799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00" dirty="0">
                <a:latin typeface="Cambria"/>
                <a:cs typeface="Cambria"/>
              </a:rPr>
              <a:t>Sh</a:t>
            </a:r>
            <a:r>
              <a:rPr sz="1100" spc="85" dirty="0">
                <a:latin typeface="Cambria"/>
                <a:cs typeface="Cambria"/>
              </a:rPr>
              <a:t>a</a:t>
            </a:r>
            <a:r>
              <a:rPr sz="1100" spc="10" dirty="0">
                <a:latin typeface="Cambria"/>
                <a:cs typeface="Cambria"/>
              </a:rPr>
              <a:t>pe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83079" y="3209925"/>
            <a:ext cx="873760" cy="590550"/>
            <a:chOff x="2283079" y="3209925"/>
            <a:chExt cx="873760" cy="590550"/>
          </a:xfrm>
        </p:grpSpPr>
        <p:sp>
          <p:nvSpPr>
            <p:cNvPr id="16" name="object 16"/>
            <p:cNvSpPr/>
            <p:nvPr/>
          </p:nvSpPr>
          <p:spPr>
            <a:xfrm>
              <a:off x="2295779" y="322262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714756" y="0"/>
                  </a:moveTo>
                  <a:lnTo>
                    <a:pt x="48513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3" y="484631"/>
                  </a:lnTo>
                  <a:lnTo>
                    <a:pt x="714756" y="484631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69" y="436118"/>
                  </a:lnTo>
                  <a:lnTo>
                    <a:pt x="763269" y="48387"/>
                  </a:lnTo>
                  <a:lnTo>
                    <a:pt x="759458" y="29575"/>
                  </a:lnTo>
                  <a:lnTo>
                    <a:pt x="749061" y="14192"/>
                  </a:lnTo>
                  <a:lnTo>
                    <a:pt x="733641" y="3810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5779" y="322262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3" y="0"/>
                  </a:lnTo>
                  <a:lnTo>
                    <a:pt x="714756" y="0"/>
                  </a:lnTo>
                  <a:lnTo>
                    <a:pt x="733641" y="3810"/>
                  </a:lnTo>
                  <a:lnTo>
                    <a:pt x="749061" y="14192"/>
                  </a:lnTo>
                  <a:lnTo>
                    <a:pt x="759458" y="29575"/>
                  </a:lnTo>
                  <a:lnTo>
                    <a:pt x="763269" y="48387"/>
                  </a:lnTo>
                  <a:lnTo>
                    <a:pt x="763269" y="436118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1"/>
                  </a:lnTo>
                  <a:lnTo>
                    <a:pt x="48513" y="484631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80615" y="330314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714756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4"/>
                  </a:lnTo>
                  <a:lnTo>
                    <a:pt x="0" y="436245"/>
                  </a:lnTo>
                  <a:lnTo>
                    <a:pt x="3811" y="455056"/>
                  </a:lnTo>
                  <a:lnTo>
                    <a:pt x="14208" y="470439"/>
                  </a:lnTo>
                  <a:lnTo>
                    <a:pt x="29628" y="480822"/>
                  </a:lnTo>
                  <a:lnTo>
                    <a:pt x="48514" y="484632"/>
                  </a:lnTo>
                  <a:lnTo>
                    <a:pt x="714756" y="484632"/>
                  </a:lnTo>
                  <a:lnTo>
                    <a:pt x="733641" y="480822"/>
                  </a:lnTo>
                  <a:lnTo>
                    <a:pt x="749061" y="470439"/>
                  </a:lnTo>
                  <a:lnTo>
                    <a:pt x="759458" y="455056"/>
                  </a:lnTo>
                  <a:lnTo>
                    <a:pt x="763270" y="436245"/>
                  </a:lnTo>
                  <a:lnTo>
                    <a:pt x="763270" y="48514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80615" y="330314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0" y="48514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714756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70" y="48514"/>
                  </a:lnTo>
                  <a:lnTo>
                    <a:pt x="763270" y="436245"/>
                  </a:lnTo>
                  <a:lnTo>
                    <a:pt x="759458" y="455056"/>
                  </a:lnTo>
                  <a:lnTo>
                    <a:pt x="749061" y="470439"/>
                  </a:lnTo>
                  <a:lnTo>
                    <a:pt x="733641" y="480822"/>
                  </a:lnTo>
                  <a:lnTo>
                    <a:pt x="714756" y="484632"/>
                  </a:lnTo>
                  <a:lnTo>
                    <a:pt x="48514" y="484632"/>
                  </a:lnTo>
                  <a:lnTo>
                    <a:pt x="29628" y="480822"/>
                  </a:lnTo>
                  <a:lnTo>
                    <a:pt x="14208" y="470439"/>
                  </a:lnTo>
                  <a:lnTo>
                    <a:pt x="3811" y="455056"/>
                  </a:lnTo>
                  <a:lnTo>
                    <a:pt x="0" y="436245"/>
                  </a:lnTo>
                  <a:lnTo>
                    <a:pt x="0" y="48514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73198" y="3438270"/>
            <a:ext cx="5772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45" dirty="0">
                <a:latin typeface="Cambria"/>
                <a:cs typeface="Cambria"/>
              </a:rPr>
              <a:t>Triangle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26463" y="3916553"/>
            <a:ext cx="873760" cy="590550"/>
            <a:chOff x="1426463" y="3916553"/>
            <a:chExt cx="873760" cy="590550"/>
          </a:xfrm>
        </p:grpSpPr>
        <p:sp>
          <p:nvSpPr>
            <p:cNvPr id="22" name="object 22"/>
            <p:cNvSpPr/>
            <p:nvPr/>
          </p:nvSpPr>
          <p:spPr>
            <a:xfrm>
              <a:off x="1439163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714756" y="0"/>
                  </a:moveTo>
                  <a:lnTo>
                    <a:pt x="48514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4" y="484632"/>
                  </a:lnTo>
                  <a:lnTo>
                    <a:pt x="714756" y="484632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69" y="436118"/>
                  </a:lnTo>
                  <a:lnTo>
                    <a:pt x="763269" y="48387"/>
                  </a:lnTo>
                  <a:lnTo>
                    <a:pt x="759458" y="29575"/>
                  </a:lnTo>
                  <a:lnTo>
                    <a:pt x="749061" y="14192"/>
                  </a:lnTo>
                  <a:lnTo>
                    <a:pt x="733641" y="3810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39163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4" y="0"/>
                  </a:lnTo>
                  <a:lnTo>
                    <a:pt x="714756" y="0"/>
                  </a:lnTo>
                  <a:lnTo>
                    <a:pt x="733641" y="3810"/>
                  </a:lnTo>
                  <a:lnTo>
                    <a:pt x="749061" y="14192"/>
                  </a:lnTo>
                  <a:lnTo>
                    <a:pt x="759458" y="29575"/>
                  </a:lnTo>
                  <a:lnTo>
                    <a:pt x="763269" y="48387"/>
                  </a:lnTo>
                  <a:lnTo>
                    <a:pt x="763269" y="436118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2"/>
                  </a:lnTo>
                  <a:lnTo>
                    <a:pt x="48514" y="484632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23999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714756" y="0"/>
                  </a:moveTo>
                  <a:lnTo>
                    <a:pt x="48513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436117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3" y="484631"/>
                  </a:lnTo>
                  <a:lnTo>
                    <a:pt x="714756" y="484631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69" y="436117"/>
                  </a:lnTo>
                  <a:lnTo>
                    <a:pt x="763269" y="48513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23999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3" y="0"/>
                  </a:lnTo>
                  <a:lnTo>
                    <a:pt x="714756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69" y="48513"/>
                  </a:lnTo>
                  <a:lnTo>
                    <a:pt x="763269" y="436117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1"/>
                  </a:lnTo>
                  <a:lnTo>
                    <a:pt x="48513" y="484631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7"/>
                  </a:lnTo>
                  <a:lnTo>
                    <a:pt x="0" y="4851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16455" y="4069460"/>
            <a:ext cx="577215" cy="3460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95885">
              <a:lnSpc>
                <a:spcPts val="1200"/>
              </a:lnSpc>
              <a:spcBef>
                <a:spcPts val="240"/>
              </a:spcBef>
            </a:pPr>
            <a:r>
              <a:rPr sz="1100" spc="60" dirty="0">
                <a:latin typeface="Cambria"/>
                <a:cs typeface="Cambria"/>
              </a:rPr>
              <a:t>Right 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75" dirty="0">
                <a:latin typeface="Cambria"/>
                <a:cs typeface="Cambria"/>
              </a:rPr>
              <a:t>T</a:t>
            </a:r>
            <a:r>
              <a:rPr sz="1100" spc="50" dirty="0">
                <a:latin typeface="Cambria"/>
                <a:cs typeface="Cambria"/>
              </a:rPr>
              <a:t>rian</a:t>
            </a:r>
            <a:r>
              <a:rPr sz="1100" spc="45" dirty="0">
                <a:latin typeface="Cambria"/>
                <a:cs typeface="Cambria"/>
              </a:rPr>
              <a:t>g</a:t>
            </a:r>
            <a:r>
              <a:rPr sz="1100" spc="30" dirty="0">
                <a:latin typeface="Cambria"/>
                <a:cs typeface="Cambria"/>
              </a:rPr>
              <a:t>le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83079" y="3916553"/>
            <a:ext cx="873760" cy="590550"/>
            <a:chOff x="2283079" y="3916553"/>
            <a:chExt cx="873760" cy="590550"/>
          </a:xfrm>
        </p:grpSpPr>
        <p:sp>
          <p:nvSpPr>
            <p:cNvPr id="28" name="object 28"/>
            <p:cNvSpPr/>
            <p:nvPr/>
          </p:nvSpPr>
          <p:spPr>
            <a:xfrm>
              <a:off x="2295779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714756" y="0"/>
                  </a:moveTo>
                  <a:lnTo>
                    <a:pt x="48513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3" y="484632"/>
                  </a:lnTo>
                  <a:lnTo>
                    <a:pt x="714756" y="484632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69" y="436118"/>
                  </a:lnTo>
                  <a:lnTo>
                    <a:pt x="763269" y="48387"/>
                  </a:lnTo>
                  <a:lnTo>
                    <a:pt x="759458" y="29575"/>
                  </a:lnTo>
                  <a:lnTo>
                    <a:pt x="749061" y="14192"/>
                  </a:lnTo>
                  <a:lnTo>
                    <a:pt x="733641" y="3810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95779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3" y="0"/>
                  </a:lnTo>
                  <a:lnTo>
                    <a:pt x="714756" y="0"/>
                  </a:lnTo>
                  <a:lnTo>
                    <a:pt x="733641" y="3810"/>
                  </a:lnTo>
                  <a:lnTo>
                    <a:pt x="749061" y="14192"/>
                  </a:lnTo>
                  <a:lnTo>
                    <a:pt x="759458" y="29575"/>
                  </a:lnTo>
                  <a:lnTo>
                    <a:pt x="763269" y="48387"/>
                  </a:lnTo>
                  <a:lnTo>
                    <a:pt x="763269" y="436118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2"/>
                  </a:lnTo>
                  <a:lnTo>
                    <a:pt x="48513" y="484632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0615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714756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436117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4" y="484631"/>
                  </a:lnTo>
                  <a:lnTo>
                    <a:pt x="714756" y="484631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70" y="436117"/>
                  </a:lnTo>
                  <a:lnTo>
                    <a:pt x="763270" y="48513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0615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69" h="48513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714756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70" y="48513"/>
                  </a:lnTo>
                  <a:lnTo>
                    <a:pt x="763270" y="436117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1"/>
                  </a:lnTo>
                  <a:lnTo>
                    <a:pt x="48514" y="484631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7"/>
                  </a:lnTo>
                  <a:lnTo>
                    <a:pt x="0" y="4851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464054" y="4069460"/>
            <a:ext cx="594360" cy="3460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1590" marR="5080" indent="-9525">
              <a:lnSpc>
                <a:spcPts val="1200"/>
              </a:lnSpc>
              <a:spcBef>
                <a:spcPts val="240"/>
              </a:spcBef>
            </a:pPr>
            <a:r>
              <a:rPr sz="1100" spc="80" dirty="0">
                <a:latin typeface="Cambria"/>
                <a:cs typeface="Cambria"/>
              </a:rPr>
              <a:t>I</a:t>
            </a:r>
            <a:r>
              <a:rPr sz="1100" spc="35" dirty="0">
                <a:latin typeface="Cambria"/>
                <a:cs typeface="Cambria"/>
              </a:rPr>
              <a:t>s</a:t>
            </a:r>
            <a:r>
              <a:rPr sz="1100" dirty="0">
                <a:latin typeface="Cambria"/>
                <a:cs typeface="Cambria"/>
              </a:rPr>
              <a:t>os</a:t>
            </a:r>
            <a:r>
              <a:rPr sz="1100" spc="20" dirty="0">
                <a:latin typeface="Cambria"/>
                <a:cs typeface="Cambria"/>
              </a:rPr>
              <a:t>celes  </a:t>
            </a:r>
            <a:r>
              <a:rPr sz="1100" spc="75" dirty="0">
                <a:latin typeface="Cambria"/>
                <a:cs typeface="Cambria"/>
              </a:rPr>
              <a:t>T</a:t>
            </a:r>
            <a:r>
              <a:rPr sz="1100" spc="50" dirty="0">
                <a:latin typeface="Cambria"/>
                <a:cs typeface="Cambria"/>
              </a:rPr>
              <a:t>rian</a:t>
            </a:r>
            <a:r>
              <a:rPr sz="1100" spc="45" dirty="0">
                <a:latin typeface="Cambria"/>
                <a:cs typeface="Cambria"/>
              </a:rPr>
              <a:t>g</a:t>
            </a:r>
            <a:r>
              <a:rPr sz="1100" spc="30" dirty="0">
                <a:latin typeface="Cambria"/>
                <a:cs typeface="Cambria"/>
              </a:rPr>
              <a:t>le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215894" y="3916553"/>
            <a:ext cx="873760" cy="590550"/>
            <a:chOff x="3215894" y="3916553"/>
            <a:chExt cx="873760" cy="590550"/>
          </a:xfrm>
        </p:grpSpPr>
        <p:sp>
          <p:nvSpPr>
            <p:cNvPr id="34" name="object 34"/>
            <p:cNvSpPr/>
            <p:nvPr/>
          </p:nvSpPr>
          <p:spPr>
            <a:xfrm>
              <a:off x="3228594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6" y="0"/>
                  </a:moveTo>
                  <a:lnTo>
                    <a:pt x="48514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4" y="484632"/>
                  </a:lnTo>
                  <a:lnTo>
                    <a:pt x="714756" y="484632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69" y="436118"/>
                  </a:lnTo>
                  <a:lnTo>
                    <a:pt x="763269" y="48387"/>
                  </a:lnTo>
                  <a:lnTo>
                    <a:pt x="759458" y="29575"/>
                  </a:lnTo>
                  <a:lnTo>
                    <a:pt x="749061" y="14192"/>
                  </a:lnTo>
                  <a:lnTo>
                    <a:pt x="733641" y="3810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8594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4" y="0"/>
                  </a:lnTo>
                  <a:lnTo>
                    <a:pt x="714756" y="0"/>
                  </a:lnTo>
                  <a:lnTo>
                    <a:pt x="733641" y="3810"/>
                  </a:lnTo>
                  <a:lnTo>
                    <a:pt x="749061" y="14192"/>
                  </a:lnTo>
                  <a:lnTo>
                    <a:pt x="759458" y="29575"/>
                  </a:lnTo>
                  <a:lnTo>
                    <a:pt x="763269" y="48387"/>
                  </a:lnTo>
                  <a:lnTo>
                    <a:pt x="763269" y="436118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2"/>
                  </a:lnTo>
                  <a:lnTo>
                    <a:pt x="48514" y="484632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13430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6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436117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4" y="484631"/>
                  </a:lnTo>
                  <a:lnTo>
                    <a:pt x="714756" y="484631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70" y="436117"/>
                  </a:lnTo>
                  <a:lnTo>
                    <a:pt x="763270" y="48513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13430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714756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70" y="48513"/>
                  </a:lnTo>
                  <a:lnTo>
                    <a:pt x="763270" y="436117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6" y="484631"/>
                  </a:lnTo>
                  <a:lnTo>
                    <a:pt x="48514" y="484631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7"/>
                  </a:lnTo>
                  <a:lnTo>
                    <a:pt x="0" y="4851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406266" y="4069460"/>
            <a:ext cx="577215" cy="3460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89535">
              <a:lnSpc>
                <a:spcPts val="1200"/>
              </a:lnSpc>
              <a:spcBef>
                <a:spcPts val="240"/>
              </a:spcBef>
            </a:pPr>
            <a:r>
              <a:rPr sz="1100" spc="45" dirty="0">
                <a:latin typeface="Cambria"/>
                <a:cs typeface="Cambria"/>
              </a:rPr>
              <a:t>Acute 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75" dirty="0">
                <a:latin typeface="Cambria"/>
                <a:cs typeface="Cambria"/>
              </a:rPr>
              <a:t>T</a:t>
            </a:r>
            <a:r>
              <a:rPr sz="1100" spc="50" dirty="0">
                <a:latin typeface="Cambria"/>
                <a:cs typeface="Cambria"/>
              </a:rPr>
              <a:t>rian</a:t>
            </a:r>
            <a:r>
              <a:rPr sz="1100" spc="45" dirty="0">
                <a:latin typeface="Cambria"/>
                <a:cs typeface="Cambria"/>
              </a:rPr>
              <a:t>g</a:t>
            </a:r>
            <a:r>
              <a:rPr sz="1100" spc="30" dirty="0">
                <a:latin typeface="Cambria"/>
                <a:cs typeface="Cambria"/>
              </a:rPr>
              <a:t>le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02121" y="3209925"/>
            <a:ext cx="873760" cy="590550"/>
            <a:chOff x="6302121" y="3209925"/>
            <a:chExt cx="873760" cy="590550"/>
          </a:xfrm>
        </p:grpSpPr>
        <p:sp>
          <p:nvSpPr>
            <p:cNvPr id="40" name="object 40"/>
            <p:cNvSpPr/>
            <p:nvPr/>
          </p:nvSpPr>
          <p:spPr>
            <a:xfrm>
              <a:off x="6314821" y="322262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387" y="0"/>
                  </a:lnTo>
                  <a:lnTo>
                    <a:pt x="29575" y="3810"/>
                  </a:lnTo>
                  <a:lnTo>
                    <a:pt x="14192" y="14192"/>
                  </a:lnTo>
                  <a:lnTo>
                    <a:pt x="3810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0" y="455003"/>
                  </a:lnTo>
                  <a:lnTo>
                    <a:pt x="14192" y="470423"/>
                  </a:lnTo>
                  <a:lnTo>
                    <a:pt x="29575" y="480820"/>
                  </a:lnTo>
                  <a:lnTo>
                    <a:pt x="48387" y="484631"/>
                  </a:lnTo>
                  <a:lnTo>
                    <a:pt x="714755" y="484631"/>
                  </a:lnTo>
                  <a:lnTo>
                    <a:pt x="733567" y="480820"/>
                  </a:lnTo>
                  <a:lnTo>
                    <a:pt x="748950" y="470423"/>
                  </a:lnTo>
                  <a:lnTo>
                    <a:pt x="759333" y="455003"/>
                  </a:lnTo>
                  <a:lnTo>
                    <a:pt x="763143" y="436118"/>
                  </a:lnTo>
                  <a:lnTo>
                    <a:pt x="763143" y="48387"/>
                  </a:lnTo>
                  <a:lnTo>
                    <a:pt x="759333" y="29575"/>
                  </a:lnTo>
                  <a:lnTo>
                    <a:pt x="748950" y="14192"/>
                  </a:lnTo>
                  <a:lnTo>
                    <a:pt x="733567" y="3810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14821" y="322262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387"/>
                  </a:moveTo>
                  <a:lnTo>
                    <a:pt x="3810" y="29575"/>
                  </a:lnTo>
                  <a:lnTo>
                    <a:pt x="14192" y="14192"/>
                  </a:lnTo>
                  <a:lnTo>
                    <a:pt x="29575" y="3810"/>
                  </a:lnTo>
                  <a:lnTo>
                    <a:pt x="48387" y="0"/>
                  </a:lnTo>
                  <a:lnTo>
                    <a:pt x="714755" y="0"/>
                  </a:lnTo>
                  <a:lnTo>
                    <a:pt x="733567" y="3810"/>
                  </a:lnTo>
                  <a:lnTo>
                    <a:pt x="748950" y="14192"/>
                  </a:lnTo>
                  <a:lnTo>
                    <a:pt x="759333" y="29575"/>
                  </a:lnTo>
                  <a:lnTo>
                    <a:pt x="763143" y="48387"/>
                  </a:lnTo>
                  <a:lnTo>
                    <a:pt x="763143" y="436118"/>
                  </a:lnTo>
                  <a:lnTo>
                    <a:pt x="759333" y="455003"/>
                  </a:lnTo>
                  <a:lnTo>
                    <a:pt x="748950" y="470423"/>
                  </a:lnTo>
                  <a:lnTo>
                    <a:pt x="733567" y="480820"/>
                  </a:lnTo>
                  <a:lnTo>
                    <a:pt x="714755" y="484631"/>
                  </a:lnTo>
                  <a:lnTo>
                    <a:pt x="48387" y="484631"/>
                  </a:lnTo>
                  <a:lnTo>
                    <a:pt x="29575" y="480820"/>
                  </a:lnTo>
                  <a:lnTo>
                    <a:pt x="14192" y="470423"/>
                  </a:lnTo>
                  <a:lnTo>
                    <a:pt x="3810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99530" y="330314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4"/>
                  </a:lnTo>
                  <a:lnTo>
                    <a:pt x="0" y="436245"/>
                  </a:lnTo>
                  <a:lnTo>
                    <a:pt x="3811" y="455056"/>
                  </a:lnTo>
                  <a:lnTo>
                    <a:pt x="14208" y="470439"/>
                  </a:lnTo>
                  <a:lnTo>
                    <a:pt x="29628" y="480822"/>
                  </a:lnTo>
                  <a:lnTo>
                    <a:pt x="48514" y="484632"/>
                  </a:lnTo>
                  <a:lnTo>
                    <a:pt x="714755" y="484632"/>
                  </a:lnTo>
                  <a:lnTo>
                    <a:pt x="733641" y="480822"/>
                  </a:lnTo>
                  <a:lnTo>
                    <a:pt x="749061" y="470439"/>
                  </a:lnTo>
                  <a:lnTo>
                    <a:pt x="759458" y="455056"/>
                  </a:lnTo>
                  <a:lnTo>
                    <a:pt x="763270" y="436245"/>
                  </a:lnTo>
                  <a:lnTo>
                    <a:pt x="763270" y="48514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99530" y="330314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514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714755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70" y="48514"/>
                  </a:lnTo>
                  <a:lnTo>
                    <a:pt x="763270" y="436245"/>
                  </a:lnTo>
                  <a:lnTo>
                    <a:pt x="759458" y="455056"/>
                  </a:lnTo>
                  <a:lnTo>
                    <a:pt x="749061" y="470439"/>
                  </a:lnTo>
                  <a:lnTo>
                    <a:pt x="733641" y="480822"/>
                  </a:lnTo>
                  <a:lnTo>
                    <a:pt x="714755" y="484632"/>
                  </a:lnTo>
                  <a:lnTo>
                    <a:pt x="48514" y="484632"/>
                  </a:lnTo>
                  <a:lnTo>
                    <a:pt x="29628" y="480822"/>
                  </a:lnTo>
                  <a:lnTo>
                    <a:pt x="14208" y="470439"/>
                  </a:lnTo>
                  <a:lnTo>
                    <a:pt x="3811" y="455056"/>
                  </a:lnTo>
                  <a:lnTo>
                    <a:pt x="0" y="436245"/>
                  </a:lnTo>
                  <a:lnTo>
                    <a:pt x="0" y="48514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48805" y="3438270"/>
            <a:ext cx="6654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00" dirty="0">
                <a:latin typeface="Cambria"/>
                <a:cs typeface="Cambria"/>
              </a:rPr>
              <a:t>R</a:t>
            </a:r>
            <a:r>
              <a:rPr sz="1100" spc="25" dirty="0">
                <a:latin typeface="Cambria"/>
                <a:cs typeface="Cambria"/>
              </a:rPr>
              <a:t>ect</a:t>
            </a:r>
            <a:r>
              <a:rPr sz="1100" spc="60" dirty="0">
                <a:latin typeface="Cambria"/>
                <a:cs typeface="Cambria"/>
              </a:rPr>
              <a:t>an</a:t>
            </a:r>
            <a:r>
              <a:rPr sz="1100" spc="40" dirty="0">
                <a:latin typeface="Cambria"/>
                <a:cs typeface="Cambria"/>
              </a:rPr>
              <a:t>g</a:t>
            </a:r>
            <a:r>
              <a:rPr sz="1100" spc="30" dirty="0">
                <a:latin typeface="Cambria"/>
                <a:cs typeface="Cambria"/>
              </a:rPr>
              <a:t>le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375022" y="3209925"/>
            <a:ext cx="2800985" cy="1297305"/>
            <a:chOff x="4375022" y="3209925"/>
            <a:chExt cx="2800985" cy="1297305"/>
          </a:xfrm>
        </p:grpSpPr>
        <p:sp>
          <p:nvSpPr>
            <p:cNvPr id="46" name="object 46"/>
            <p:cNvSpPr/>
            <p:nvPr/>
          </p:nvSpPr>
          <p:spPr>
            <a:xfrm>
              <a:off x="6314820" y="3929252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387" y="0"/>
                  </a:lnTo>
                  <a:lnTo>
                    <a:pt x="29575" y="3810"/>
                  </a:lnTo>
                  <a:lnTo>
                    <a:pt x="14192" y="14192"/>
                  </a:lnTo>
                  <a:lnTo>
                    <a:pt x="3810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0" y="455003"/>
                  </a:lnTo>
                  <a:lnTo>
                    <a:pt x="14192" y="470423"/>
                  </a:lnTo>
                  <a:lnTo>
                    <a:pt x="29575" y="480820"/>
                  </a:lnTo>
                  <a:lnTo>
                    <a:pt x="48387" y="484632"/>
                  </a:lnTo>
                  <a:lnTo>
                    <a:pt x="714755" y="484632"/>
                  </a:lnTo>
                  <a:lnTo>
                    <a:pt x="733567" y="480820"/>
                  </a:lnTo>
                  <a:lnTo>
                    <a:pt x="748950" y="470423"/>
                  </a:lnTo>
                  <a:lnTo>
                    <a:pt x="759333" y="455003"/>
                  </a:lnTo>
                  <a:lnTo>
                    <a:pt x="763143" y="436118"/>
                  </a:lnTo>
                  <a:lnTo>
                    <a:pt x="763143" y="48387"/>
                  </a:lnTo>
                  <a:lnTo>
                    <a:pt x="759333" y="29575"/>
                  </a:lnTo>
                  <a:lnTo>
                    <a:pt x="748950" y="14192"/>
                  </a:lnTo>
                  <a:lnTo>
                    <a:pt x="733567" y="3810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14820" y="3929252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387"/>
                  </a:moveTo>
                  <a:lnTo>
                    <a:pt x="3810" y="29575"/>
                  </a:lnTo>
                  <a:lnTo>
                    <a:pt x="14192" y="14192"/>
                  </a:lnTo>
                  <a:lnTo>
                    <a:pt x="29575" y="3810"/>
                  </a:lnTo>
                  <a:lnTo>
                    <a:pt x="48387" y="0"/>
                  </a:lnTo>
                  <a:lnTo>
                    <a:pt x="714755" y="0"/>
                  </a:lnTo>
                  <a:lnTo>
                    <a:pt x="733567" y="3810"/>
                  </a:lnTo>
                  <a:lnTo>
                    <a:pt x="748950" y="14192"/>
                  </a:lnTo>
                  <a:lnTo>
                    <a:pt x="759333" y="29575"/>
                  </a:lnTo>
                  <a:lnTo>
                    <a:pt x="763143" y="48387"/>
                  </a:lnTo>
                  <a:lnTo>
                    <a:pt x="763143" y="436118"/>
                  </a:lnTo>
                  <a:lnTo>
                    <a:pt x="759333" y="455003"/>
                  </a:lnTo>
                  <a:lnTo>
                    <a:pt x="748950" y="470423"/>
                  </a:lnTo>
                  <a:lnTo>
                    <a:pt x="733567" y="480820"/>
                  </a:lnTo>
                  <a:lnTo>
                    <a:pt x="714755" y="484632"/>
                  </a:lnTo>
                  <a:lnTo>
                    <a:pt x="48387" y="484632"/>
                  </a:lnTo>
                  <a:lnTo>
                    <a:pt x="29575" y="480820"/>
                  </a:lnTo>
                  <a:lnTo>
                    <a:pt x="14192" y="470423"/>
                  </a:lnTo>
                  <a:lnTo>
                    <a:pt x="3810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99529" y="4009770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436117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4" y="484631"/>
                  </a:lnTo>
                  <a:lnTo>
                    <a:pt x="714755" y="484631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70" y="436117"/>
                  </a:lnTo>
                  <a:lnTo>
                    <a:pt x="763270" y="48513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99529" y="4009770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714755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70" y="48513"/>
                  </a:lnTo>
                  <a:lnTo>
                    <a:pt x="763270" y="436117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5" y="484631"/>
                  </a:lnTo>
                  <a:lnTo>
                    <a:pt x="48514" y="484631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7"/>
                  </a:lnTo>
                  <a:lnTo>
                    <a:pt x="0" y="4851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87722" y="322262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513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1" y="455003"/>
                  </a:lnTo>
                  <a:lnTo>
                    <a:pt x="14208" y="470423"/>
                  </a:lnTo>
                  <a:lnTo>
                    <a:pt x="29628" y="480820"/>
                  </a:lnTo>
                  <a:lnTo>
                    <a:pt x="48513" y="484631"/>
                  </a:lnTo>
                  <a:lnTo>
                    <a:pt x="714755" y="484631"/>
                  </a:lnTo>
                  <a:lnTo>
                    <a:pt x="733641" y="480820"/>
                  </a:lnTo>
                  <a:lnTo>
                    <a:pt x="749061" y="470423"/>
                  </a:lnTo>
                  <a:lnTo>
                    <a:pt x="759458" y="455003"/>
                  </a:lnTo>
                  <a:lnTo>
                    <a:pt x="763269" y="436118"/>
                  </a:lnTo>
                  <a:lnTo>
                    <a:pt x="763269" y="48387"/>
                  </a:lnTo>
                  <a:lnTo>
                    <a:pt x="759458" y="29575"/>
                  </a:lnTo>
                  <a:lnTo>
                    <a:pt x="749061" y="14192"/>
                  </a:lnTo>
                  <a:lnTo>
                    <a:pt x="733641" y="3810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387722" y="3222625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3" y="0"/>
                  </a:lnTo>
                  <a:lnTo>
                    <a:pt x="714755" y="0"/>
                  </a:lnTo>
                  <a:lnTo>
                    <a:pt x="733641" y="3810"/>
                  </a:lnTo>
                  <a:lnTo>
                    <a:pt x="749061" y="14192"/>
                  </a:lnTo>
                  <a:lnTo>
                    <a:pt x="759458" y="29575"/>
                  </a:lnTo>
                  <a:lnTo>
                    <a:pt x="763269" y="48387"/>
                  </a:lnTo>
                  <a:lnTo>
                    <a:pt x="763269" y="436118"/>
                  </a:lnTo>
                  <a:lnTo>
                    <a:pt x="759458" y="455003"/>
                  </a:lnTo>
                  <a:lnTo>
                    <a:pt x="749061" y="470423"/>
                  </a:lnTo>
                  <a:lnTo>
                    <a:pt x="733641" y="480820"/>
                  </a:lnTo>
                  <a:lnTo>
                    <a:pt x="714755" y="484631"/>
                  </a:lnTo>
                  <a:lnTo>
                    <a:pt x="48513" y="484631"/>
                  </a:lnTo>
                  <a:lnTo>
                    <a:pt x="29628" y="480820"/>
                  </a:lnTo>
                  <a:lnTo>
                    <a:pt x="14208" y="470423"/>
                  </a:lnTo>
                  <a:lnTo>
                    <a:pt x="3811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472558" y="330314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513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4"/>
                  </a:lnTo>
                  <a:lnTo>
                    <a:pt x="0" y="436245"/>
                  </a:lnTo>
                  <a:lnTo>
                    <a:pt x="3811" y="455056"/>
                  </a:lnTo>
                  <a:lnTo>
                    <a:pt x="14208" y="470439"/>
                  </a:lnTo>
                  <a:lnTo>
                    <a:pt x="29628" y="480822"/>
                  </a:lnTo>
                  <a:lnTo>
                    <a:pt x="48513" y="484632"/>
                  </a:lnTo>
                  <a:lnTo>
                    <a:pt x="714755" y="484632"/>
                  </a:lnTo>
                  <a:lnTo>
                    <a:pt x="733641" y="480822"/>
                  </a:lnTo>
                  <a:lnTo>
                    <a:pt x="749061" y="470439"/>
                  </a:lnTo>
                  <a:lnTo>
                    <a:pt x="759458" y="455056"/>
                  </a:lnTo>
                  <a:lnTo>
                    <a:pt x="763269" y="436245"/>
                  </a:lnTo>
                  <a:lnTo>
                    <a:pt x="763269" y="48514"/>
                  </a:lnTo>
                  <a:lnTo>
                    <a:pt x="759458" y="29628"/>
                  </a:lnTo>
                  <a:lnTo>
                    <a:pt x="749061" y="14208"/>
                  </a:lnTo>
                  <a:lnTo>
                    <a:pt x="733641" y="3811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72558" y="330314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514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3" y="0"/>
                  </a:lnTo>
                  <a:lnTo>
                    <a:pt x="714755" y="0"/>
                  </a:lnTo>
                  <a:lnTo>
                    <a:pt x="733641" y="3811"/>
                  </a:lnTo>
                  <a:lnTo>
                    <a:pt x="749061" y="14208"/>
                  </a:lnTo>
                  <a:lnTo>
                    <a:pt x="759458" y="29628"/>
                  </a:lnTo>
                  <a:lnTo>
                    <a:pt x="763269" y="48514"/>
                  </a:lnTo>
                  <a:lnTo>
                    <a:pt x="763269" y="436245"/>
                  </a:lnTo>
                  <a:lnTo>
                    <a:pt x="759458" y="455056"/>
                  </a:lnTo>
                  <a:lnTo>
                    <a:pt x="749061" y="470439"/>
                  </a:lnTo>
                  <a:lnTo>
                    <a:pt x="733641" y="480822"/>
                  </a:lnTo>
                  <a:lnTo>
                    <a:pt x="714755" y="484632"/>
                  </a:lnTo>
                  <a:lnTo>
                    <a:pt x="48513" y="484632"/>
                  </a:lnTo>
                  <a:lnTo>
                    <a:pt x="29628" y="480822"/>
                  </a:lnTo>
                  <a:lnTo>
                    <a:pt x="14208" y="470439"/>
                  </a:lnTo>
                  <a:lnTo>
                    <a:pt x="3811" y="455056"/>
                  </a:lnTo>
                  <a:lnTo>
                    <a:pt x="0" y="436245"/>
                  </a:lnTo>
                  <a:lnTo>
                    <a:pt x="0" y="48514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688840" y="3438270"/>
            <a:ext cx="3321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40" dirty="0">
                <a:latin typeface="Cambria"/>
                <a:cs typeface="Cambria"/>
              </a:rPr>
              <a:t>O</a:t>
            </a:r>
            <a:r>
              <a:rPr sz="1100" spc="30" dirty="0">
                <a:latin typeface="Cambria"/>
                <a:cs typeface="Cambria"/>
              </a:rPr>
              <a:t>v</a:t>
            </a:r>
            <a:r>
              <a:rPr sz="1100" spc="55" dirty="0">
                <a:latin typeface="Cambria"/>
                <a:cs typeface="Cambria"/>
              </a:rPr>
              <a:t>al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77182" y="3916553"/>
            <a:ext cx="873760" cy="590550"/>
            <a:chOff x="4377182" y="3916553"/>
            <a:chExt cx="873760" cy="590550"/>
          </a:xfrm>
        </p:grpSpPr>
        <p:sp>
          <p:nvSpPr>
            <p:cNvPr id="56" name="object 56"/>
            <p:cNvSpPr/>
            <p:nvPr/>
          </p:nvSpPr>
          <p:spPr>
            <a:xfrm>
              <a:off x="4389882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5" y="0"/>
                  </a:moveTo>
                  <a:lnTo>
                    <a:pt x="48387" y="0"/>
                  </a:lnTo>
                  <a:lnTo>
                    <a:pt x="29575" y="3810"/>
                  </a:lnTo>
                  <a:lnTo>
                    <a:pt x="14192" y="14192"/>
                  </a:lnTo>
                  <a:lnTo>
                    <a:pt x="3810" y="29575"/>
                  </a:lnTo>
                  <a:lnTo>
                    <a:pt x="0" y="48387"/>
                  </a:lnTo>
                  <a:lnTo>
                    <a:pt x="0" y="436118"/>
                  </a:lnTo>
                  <a:lnTo>
                    <a:pt x="3810" y="455003"/>
                  </a:lnTo>
                  <a:lnTo>
                    <a:pt x="14192" y="470423"/>
                  </a:lnTo>
                  <a:lnTo>
                    <a:pt x="29575" y="480820"/>
                  </a:lnTo>
                  <a:lnTo>
                    <a:pt x="48387" y="484632"/>
                  </a:lnTo>
                  <a:lnTo>
                    <a:pt x="714755" y="484632"/>
                  </a:lnTo>
                  <a:lnTo>
                    <a:pt x="733621" y="480820"/>
                  </a:lnTo>
                  <a:lnTo>
                    <a:pt x="748998" y="470423"/>
                  </a:lnTo>
                  <a:lnTo>
                    <a:pt x="759350" y="455003"/>
                  </a:lnTo>
                  <a:lnTo>
                    <a:pt x="763142" y="436118"/>
                  </a:lnTo>
                  <a:lnTo>
                    <a:pt x="763142" y="48387"/>
                  </a:lnTo>
                  <a:lnTo>
                    <a:pt x="759350" y="29575"/>
                  </a:lnTo>
                  <a:lnTo>
                    <a:pt x="748998" y="14192"/>
                  </a:lnTo>
                  <a:lnTo>
                    <a:pt x="733621" y="3810"/>
                  </a:lnTo>
                  <a:lnTo>
                    <a:pt x="714755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389882" y="3929253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387"/>
                  </a:moveTo>
                  <a:lnTo>
                    <a:pt x="3810" y="29575"/>
                  </a:lnTo>
                  <a:lnTo>
                    <a:pt x="14192" y="14192"/>
                  </a:lnTo>
                  <a:lnTo>
                    <a:pt x="29575" y="3810"/>
                  </a:lnTo>
                  <a:lnTo>
                    <a:pt x="48387" y="0"/>
                  </a:lnTo>
                  <a:lnTo>
                    <a:pt x="714755" y="0"/>
                  </a:lnTo>
                  <a:lnTo>
                    <a:pt x="733621" y="3810"/>
                  </a:lnTo>
                  <a:lnTo>
                    <a:pt x="748998" y="14192"/>
                  </a:lnTo>
                  <a:lnTo>
                    <a:pt x="759350" y="29575"/>
                  </a:lnTo>
                  <a:lnTo>
                    <a:pt x="763142" y="48387"/>
                  </a:lnTo>
                  <a:lnTo>
                    <a:pt x="763142" y="436118"/>
                  </a:lnTo>
                  <a:lnTo>
                    <a:pt x="759350" y="455003"/>
                  </a:lnTo>
                  <a:lnTo>
                    <a:pt x="748998" y="470423"/>
                  </a:lnTo>
                  <a:lnTo>
                    <a:pt x="733621" y="480820"/>
                  </a:lnTo>
                  <a:lnTo>
                    <a:pt x="714755" y="484632"/>
                  </a:lnTo>
                  <a:lnTo>
                    <a:pt x="48387" y="484632"/>
                  </a:lnTo>
                  <a:lnTo>
                    <a:pt x="29575" y="480820"/>
                  </a:lnTo>
                  <a:lnTo>
                    <a:pt x="14192" y="470423"/>
                  </a:lnTo>
                  <a:lnTo>
                    <a:pt x="3810" y="455003"/>
                  </a:lnTo>
                  <a:lnTo>
                    <a:pt x="0" y="436118"/>
                  </a:lnTo>
                  <a:lnTo>
                    <a:pt x="0" y="4838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4718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714756" y="0"/>
                  </a:moveTo>
                  <a:lnTo>
                    <a:pt x="48387" y="0"/>
                  </a:lnTo>
                  <a:lnTo>
                    <a:pt x="29521" y="3811"/>
                  </a:lnTo>
                  <a:lnTo>
                    <a:pt x="14144" y="14208"/>
                  </a:lnTo>
                  <a:lnTo>
                    <a:pt x="3792" y="29628"/>
                  </a:lnTo>
                  <a:lnTo>
                    <a:pt x="0" y="48513"/>
                  </a:lnTo>
                  <a:lnTo>
                    <a:pt x="0" y="436117"/>
                  </a:lnTo>
                  <a:lnTo>
                    <a:pt x="3792" y="455003"/>
                  </a:lnTo>
                  <a:lnTo>
                    <a:pt x="14144" y="470423"/>
                  </a:lnTo>
                  <a:lnTo>
                    <a:pt x="29521" y="480820"/>
                  </a:lnTo>
                  <a:lnTo>
                    <a:pt x="48387" y="484631"/>
                  </a:lnTo>
                  <a:lnTo>
                    <a:pt x="714756" y="484631"/>
                  </a:lnTo>
                  <a:lnTo>
                    <a:pt x="733567" y="480820"/>
                  </a:lnTo>
                  <a:lnTo>
                    <a:pt x="748950" y="470423"/>
                  </a:lnTo>
                  <a:lnTo>
                    <a:pt x="759333" y="455003"/>
                  </a:lnTo>
                  <a:lnTo>
                    <a:pt x="763143" y="436117"/>
                  </a:lnTo>
                  <a:lnTo>
                    <a:pt x="763143" y="48513"/>
                  </a:lnTo>
                  <a:lnTo>
                    <a:pt x="759333" y="29628"/>
                  </a:lnTo>
                  <a:lnTo>
                    <a:pt x="748950" y="14208"/>
                  </a:lnTo>
                  <a:lnTo>
                    <a:pt x="733567" y="381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4718" y="4009771"/>
              <a:ext cx="763270" cy="485140"/>
            </a:xfrm>
            <a:custGeom>
              <a:avLst/>
              <a:gdLst/>
              <a:ahLst/>
              <a:cxnLst/>
              <a:rect l="l" t="t" r="r" b="b"/>
              <a:pathLst>
                <a:path w="763270" h="485139">
                  <a:moveTo>
                    <a:pt x="0" y="48513"/>
                  </a:moveTo>
                  <a:lnTo>
                    <a:pt x="3792" y="29628"/>
                  </a:lnTo>
                  <a:lnTo>
                    <a:pt x="14144" y="14208"/>
                  </a:lnTo>
                  <a:lnTo>
                    <a:pt x="29521" y="3811"/>
                  </a:lnTo>
                  <a:lnTo>
                    <a:pt x="48387" y="0"/>
                  </a:lnTo>
                  <a:lnTo>
                    <a:pt x="714756" y="0"/>
                  </a:lnTo>
                  <a:lnTo>
                    <a:pt x="733567" y="3811"/>
                  </a:lnTo>
                  <a:lnTo>
                    <a:pt x="748950" y="14208"/>
                  </a:lnTo>
                  <a:lnTo>
                    <a:pt x="759333" y="29628"/>
                  </a:lnTo>
                  <a:lnTo>
                    <a:pt x="763143" y="48513"/>
                  </a:lnTo>
                  <a:lnTo>
                    <a:pt x="763143" y="436117"/>
                  </a:lnTo>
                  <a:lnTo>
                    <a:pt x="759333" y="455003"/>
                  </a:lnTo>
                  <a:lnTo>
                    <a:pt x="748950" y="470423"/>
                  </a:lnTo>
                  <a:lnTo>
                    <a:pt x="733567" y="480820"/>
                  </a:lnTo>
                  <a:lnTo>
                    <a:pt x="714756" y="484631"/>
                  </a:lnTo>
                  <a:lnTo>
                    <a:pt x="48387" y="484631"/>
                  </a:lnTo>
                  <a:lnTo>
                    <a:pt x="29521" y="480820"/>
                  </a:lnTo>
                  <a:lnTo>
                    <a:pt x="14144" y="470423"/>
                  </a:lnTo>
                  <a:lnTo>
                    <a:pt x="3792" y="455003"/>
                  </a:lnTo>
                  <a:lnTo>
                    <a:pt x="0" y="436117"/>
                  </a:lnTo>
                  <a:lnTo>
                    <a:pt x="0" y="48513"/>
                  </a:lnTo>
                  <a:close/>
                </a:path>
              </a:pathLst>
            </a:custGeom>
            <a:ln w="25400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651375" y="4145026"/>
            <a:ext cx="23749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9920" algn="l"/>
              </a:tabLst>
            </a:pPr>
            <a:r>
              <a:rPr sz="1100" spc="165" dirty="0">
                <a:latin typeface="Cambria"/>
                <a:cs typeface="Cambria"/>
              </a:rPr>
              <a:t>C</a:t>
            </a:r>
            <a:r>
              <a:rPr sz="1100" spc="25" dirty="0">
                <a:latin typeface="Cambria"/>
                <a:cs typeface="Cambria"/>
              </a:rPr>
              <a:t>irc</a:t>
            </a:r>
            <a:r>
              <a:rPr sz="1100" spc="30" dirty="0">
                <a:latin typeface="Cambria"/>
                <a:cs typeface="Cambria"/>
              </a:rPr>
              <a:t>le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70" dirty="0">
                <a:latin typeface="Cambria"/>
                <a:cs typeface="Cambria"/>
              </a:rPr>
              <a:t>Squ</a:t>
            </a:r>
            <a:r>
              <a:rPr sz="1100" spc="35" dirty="0">
                <a:latin typeface="Cambria"/>
                <a:cs typeface="Cambria"/>
              </a:rPr>
              <a:t>are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74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4" dirty="0"/>
              <a:t>S</a:t>
            </a:r>
            <a:r>
              <a:rPr sz="2400" spc="254" dirty="0"/>
              <a:t>TATIC</a:t>
            </a:r>
            <a:r>
              <a:rPr sz="2400" spc="320" dirty="0"/>
              <a:t> </a:t>
            </a:r>
            <a:r>
              <a:rPr sz="3000" spc="380" dirty="0"/>
              <a:t>&amp;</a:t>
            </a:r>
            <a:r>
              <a:rPr sz="3000" spc="155" dirty="0"/>
              <a:t> </a:t>
            </a:r>
            <a:r>
              <a:rPr sz="3000" spc="295" dirty="0"/>
              <a:t>D</a:t>
            </a:r>
            <a:r>
              <a:rPr sz="2400" spc="295" dirty="0"/>
              <a:t>YNAMIC</a:t>
            </a:r>
            <a:r>
              <a:rPr sz="2400" spc="300" dirty="0"/>
              <a:t> </a:t>
            </a:r>
            <a:r>
              <a:rPr sz="3000" spc="290" dirty="0"/>
              <a:t>B</a:t>
            </a:r>
            <a:r>
              <a:rPr sz="2400" spc="290" dirty="0"/>
              <a:t>INDING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861809" cy="1967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0" dirty="0">
                <a:latin typeface="Cambria"/>
                <a:cs typeface="Cambria"/>
              </a:rPr>
              <a:t>Association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definition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90" dirty="0">
                <a:latin typeface="Cambria"/>
                <a:cs typeface="Cambria"/>
              </a:rPr>
              <a:t>call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binding.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" dirty="0">
                <a:latin typeface="Cambria"/>
                <a:cs typeface="Cambria"/>
              </a:rPr>
              <a:t>2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types: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static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binding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(also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known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early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binding).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5" dirty="0">
                <a:latin typeface="Cambria"/>
                <a:cs typeface="Cambria"/>
              </a:rPr>
              <a:t>dynamic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binding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(also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known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as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late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binding).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390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4" dirty="0"/>
              <a:t>S</a:t>
            </a:r>
            <a:r>
              <a:rPr sz="2400" spc="254" dirty="0"/>
              <a:t>TATIC</a:t>
            </a:r>
            <a:r>
              <a:rPr sz="2400" spc="265" dirty="0"/>
              <a:t> </a:t>
            </a:r>
            <a:r>
              <a:rPr sz="3000" spc="290" dirty="0"/>
              <a:t>B</a:t>
            </a:r>
            <a:r>
              <a:rPr sz="2400" spc="290" dirty="0"/>
              <a:t>INDING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1705" cy="466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binding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which</a:t>
            </a:r>
            <a:r>
              <a:rPr sz="2400" spc="100" dirty="0">
                <a:latin typeface="Cambria"/>
                <a:cs typeface="Cambria"/>
              </a:rPr>
              <a:t> 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resolved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tabLst>
                <a:tab pos="5492750" algn="l"/>
              </a:tabLst>
            </a:pPr>
            <a:r>
              <a:rPr sz="2400" spc="90" dirty="0">
                <a:latin typeface="Cambria"/>
                <a:cs typeface="Cambria"/>
              </a:rPr>
              <a:t>time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compiler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static.	</a:t>
            </a:r>
            <a:r>
              <a:rPr sz="2400" spc="18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 marL="285115" marR="52895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0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determined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 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time(by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compiler),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14" dirty="0">
                <a:latin typeface="Cambria"/>
                <a:cs typeface="Cambria"/>
              </a:rPr>
              <a:t> as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static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binding.</a:t>
            </a:r>
            <a:endParaRPr sz="2400">
              <a:latin typeface="Cambria"/>
              <a:cs typeface="Cambria"/>
            </a:endParaRPr>
          </a:p>
          <a:p>
            <a:pPr marL="285115" marR="623570" indent="-273050">
              <a:lnSpc>
                <a:spcPts val="2870"/>
              </a:lnSpc>
              <a:spcBef>
                <a:spcPts val="7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All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static,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private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final </a:t>
            </a:r>
            <a:r>
              <a:rPr sz="2400" spc="60" dirty="0">
                <a:latin typeface="Cambria"/>
                <a:cs typeface="Cambria"/>
              </a:rPr>
              <a:t>methods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have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always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been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bonded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b="1" spc="125" dirty="0">
                <a:latin typeface="Cambria"/>
                <a:cs typeface="Cambria"/>
              </a:rPr>
              <a:t>compile-time </a:t>
            </a:r>
            <a:r>
              <a:rPr sz="2400" spc="17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2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Why?</a:t>
            </a:r>
            <a:endParaRPr sz="2100">
              <a:latin typeface="Cambria"/>
              <a:cs typeface="Cambria"/>
            </a:endParaRPr>
          </a:p>
          <a:p>
            <a:pPr marL="927100" marR="5080" lvl="2" indent="-182880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5" dirty="0">
                <a:latin typeface="Cambria"/>
                <a:cs typeface="Cambria"/>
              </a:rPr>
              <a:t>Compiler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knows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that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all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such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methods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cannot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be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overridden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will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always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be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accessed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by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object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local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  <a:p>
            <a:pPr marL="927100" marR="476884" lvl="2" indent="-182880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80" dirty="0">
                <a:latin typeface="Cambria"/>
                <a:cs typeface="Cambria"/>
              </a:rPr>
              <a:t>Hence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compiler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doesn’t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have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any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difficulty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determine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object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(local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class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sure).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5" dirty="0">
                <a:latin typeface="Cambria"/>
                <a:cs typeface="Cambria"/>
              </a:rPr>
              <a:t>That’s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reason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binding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for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such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methods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static.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237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D</a:t>
            </a:r>
            <a:r>
              <a:rPr sz="2400" spc="295" dirty="0"/>
              <a:t>YNAMIC</a:t>
            </a:r>
            <a:r>
              <a:rPr sz="2400" spc="245" dirty="0"/>
              <a:t> </a:t>
            </a:r>
            <a:r>
              <a:rPr sz="3000" spc="290" dirty="0"/>
              <a:t>B</a:t>
            </a:r>
            <a:r>
              <a:rPr sz="2400" spc="290" dirty="0"/>
              <a:t>INDING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302500" cy="367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81280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compiler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able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resolve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call/binding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 </a:t>
            </a:r>
            <a:r>
              <a:rPr sz="2400" spc="45" dirty="0">
                <a:latin typeface="Cambria"/>
                <a:cs typeface="Cambria"/>
              </a:rPr>
              <a:t>compile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time,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such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binding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Dynamic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late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Binding.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  <a:tab pos="1786255" algn="l"/>
              </a:tabLst>
            </a:pPr>
            <a:r>
              <a:rPr sz="2400" spc="114" dirty="0">
                <a:latin typeface="Cambria"/>
                <a:cs typeface="Cambria"/>
              </a:rPr>
              <a:t>Example:	</a:t>
            </a:r>
            <a:r>
              <a:rPr sz="2400" spc="95" dirty="0">
                <a:latin typeface="Cambria"/>
                <a:cs typeface="Cambria"/>
              </a:rPr>
              <a:t>Overriding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overriding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both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child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classes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have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same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652780" marR="64452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Thus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while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calling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overridden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method,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compiler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gets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confused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between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parent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and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child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class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method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decided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during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runtime.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9491" y="1964032"/>
            <a:ext cx="7922682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rial" panose="020B0604020202020204" pitchFamily="34" charset="0"/>
              </a:rPr>
              <a:t>What is the </a:t>
            </a:r>
            <a:r>
              <a:rPr lang="en-US" altLang="en-US" sz="1350" b="1" dirty="0">
                <a:solidFill>
                  <a:schemeClr val="accent5"/>
                </a:solidFill>
                <a:latin typeface="Arial" panose="020B0604020202020204" pitchFamily="34" charset="0"/>
              </a:rPr>
              <a:t>static </a:t>
            </a:r>
            <a:r>
              <a:rPr lang="en-US" altLang="en-US" sz="1350" b="1" dirty="0">
                <a:latin typeface="Arial" panose="020B0604020202020204" pitchFamily="34" charset="0"/>
              </a:rPr>
              <a:t>keyword?</a:t>
            </a:r>
            <a:endParaRPr lang="en-US" altLang="en-US" sz="13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50" dirty="0">
                <a:latin typeface="Arial" panose="020B0604020202020204" pitchFamily="34" charset="0"/>
              </a:rPr>
              <a:t>A keyword used for memory management in Java.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50" dirty="0">
                <a:latin typeface="Arial" panose="020B0604020202020204" pitchFamily="34" charset="0"/>
              </a:rPr>
              <a:t>It is used for creating class-level members, meaning they belong to the class rather than an instance.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9491" y="3055111"/>
            <a:ext cx="2563091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/>
              <a:t>Types of Static Members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734" y="3408403"/>
            <a:ext cx="4418302" cy="23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91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1055" y="1881008"/>
            <a:ext cx="7375481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/>
              <a:t>Static Variables</a:t>
            </a:r>
          </a:p>
          <a:p>
            <a:r>
              <a:rPr lang="en-US" sz="1350" b="1" dirty="0" err="1"/>
              <a:t>Definition:</a:t>
            </a:r>
            <a:r>
              <a:rPr lang="en-US" altLang="en-US" sz="1350" dirty="0" err="1">
                <a:latin typeface="Arial" panose="020B0604020202020204" pitchFamily="34" charset="0"/>
              </a:rPr>
              <a:t>A</a:t>
            </a:r>
            <a:r>
              <a:rPr lang="en-US" altLang="en-US" sz="1350" dirty="0">
                <a:latin typeface="Arial" panose="020B0604020202020204" pitchFamily="34" charset="0"/>
              </a:rPr>
              <a:t> variable declared with the static </a:t>
            </a:r>
            <a:r>
              <a:rPr lang="en-US" sz="1350" dirty="0"/>
              <a:t>keyword is shared among all instances of the class.</a:t>
            </a:r>
            <a:endParaRPr lang="en-US" altLang="en-US" sz="13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rial" panose="020B0604020202020204" pitchFamily="34" charset="0"/>
              </a:rPr>
              <a:t>Characteristics:</a:t>
            </a:r>
            <a:r>
              <a:rPr lang="en-US" altLang="en-US" sz="1350" dirty="0">
                <a:latin typeface="Arial" panose="020B0604020202020204" pitchFamily="34" charset="0"/>
              </a:rPr>
              <a:t> 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50" dirty="0">
                <a:latin typeface="Arial" panose="020B0604020202020204" pitchFamily="34" charset="0"/>
              </a:rPr>
              <a:t>One copy of the static variable is shared across all objects of the class. 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50" dirty="0">
                <a:latin typeface="Arial" panose="020B0604020202020204" pitchFamily="34" charset="0"/>
              </a:rPr>
              <a:t>The static variable is initialized only once when the class is loaded into memory.</a:t>
            </a:r>
          </a:p>
          <a:p>
            <a:pPr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350" dirty="0"/>
              <a:t>Variables declared with the static keyword can be called without creating an object of the class.</a:t>
            </a:r>
            <a:endParaRPr lang="en-US" altLang="en-US" sz="13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11" y="3685090"/>
            <a:ext cx="3559817" cy="18584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055" y="3624317"/>
            <a:ext cx="3891494" cy="175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835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503" y="2300037"/>
            <a:ext cx="2892824" cy="2634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2836" y="1840922"/>
            <a:ext cx="73013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Brainstorming 1 : </a:t>
            </a:r>
            <a:r>
              <a:rPr lang="en-US" sz="1350" dirty="0"/>
              <a:t>What will be the value of count if 3 objects of Counter class is created? </a:t>
            </a:r>
          </a:p>
        </p:txBody>
      </p:sp>
    </p:spTree>
    <p:extLst>
      <p:ext uri="{BB962C8B-B14F-4D97-AF65-F5344CB8AC3E}">
        <p14:creationId xmlns:p14="http://schemas.microsoft.com/office/powerpoint/2010/main" val="37087084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16528" y="2130323"/>
            <a:ext cx="817418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rial" panose="020B0604020202020204" pitchFamily="34" charset="0"/>
              </a:rPr>
              <a:t>Static Methods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50" b="1" dirty="0"/>
              <a:t>Definition:</a:t>
            </a:r>
            <a:r>
              <a:rPr lang="en-US" sz="1350" b="1" dirty="0">
                <a:latin typeface="Arial" panose="020B0604020202020204" pitchFamily="34" charset="0"/>
              </a:rPr>
              <a:t> </a:t>
            </a:r>
            <a:r>
              <a:rPr lang="en-US" altLang="en-US" sz="1350" dirty="0">
                <a:latin typeface="Arial" panose="020B0604020202020204" pitchFamily="34" charset="0"/>
              </a:rPr>
              <a:t>Methods declared with the static </a:t>
            </a:r>
            <a:r>
              <a:rPr lang="en-US" sz="1350" dirty="0"/>
              <a:t>keyword can be called without creating an object of the class.</a:t>
            </a:r>
            <a:endParaRPr lang="en-US" altLang="en-US" sz="1350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rial" panose="020B0604020202020204" pitchFamily="34" charset="0"/>
              </a:rPr>
              <a:t>Characteristics:</a:t>
            </a:r>
            <a:r>
              <a:rPr lang="en-US" altLang="en-US" sz="1350" dirty="0">
                <a:latin typeface="Arial" panose="020B0604020202020204" pitchFamily="34" charset="0"/>
              </a:rPr>
              <a:t> 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50" dirty="0">
                <a:latin typeface="Arial" panose="020B0604020202020204" pitchFamily="34" charset="0"/>
              </a:rPr>
              <a:t>A static method can only access other static members (variables and methods). </a:t>
            </a:r>
          </a:p>
          <a:p>
            <a:pPr marL="342900" lvl="1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350" dirty="0">
                <a:latin typeface="Arial" panose="020B0604020202020204" pitchFamily="34" charset="0"/>
              </a:rPr>
              <a:t>this and super keywords cannot be used here.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38" y="3452546"/>
            <a:ext cx="4765963" cy="235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447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3186626"/>
            <a:ext cx="5188527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/>
              <a:t>Brainstorming 2 : why main method is declared as static?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735055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3455" y="1856831"/>
            <a:ext cx="771005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/>
              <a:t>Static Blocks</a:t>
            </a:r>
          </a:p>
          <a:p>
            <a:r>
              <a:rPr lang="en-US" sz="1350" b="1" dirty="0"/>
              <a:t>Definition:</a:t>
            </a:r>
            <a:r>
              <a:rPr lang="en-US" sz="1350" dirty="0"/>
              <a:t> A static block is used to initialize static variables or perform setup when the class is loaded.</a:t>
            </a:r>
          </a:p>
          <a:p>
            <a:r>
              <a:rPr lang="en-US" sz="1350" b="1" dirty="0"/>
              <a:t>Characteristics:</a:t>
            </a:r>
            <a:r>
              <a:rPr lang="en-US" sz="1350" dirty="0"/>
              <a:t>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350" dirty="0"/>
              <a:t>Executed once when the class is loaded into memory.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350" dirty="0"/>
              <a:t>Can throw exceptions.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350" dirty="0"/>
              <a:t>Executed before main method.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415" y="3533961"/>
            <a:ext cx="5358845" cy="199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553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701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R</a:t>
            </a:r>
            <a:r>
              <a:rPr sz="2400" spc="335" dirty="0"/>
              <a:t>E</a:t>
            </a:r>
            <a:r>
              <a:rPr sz="2400" spc="310" dirty="0"/>
              <a:t>F</a:t>
            </a:r>
            <a:r>
              <a:rPr sz="2400" spc="280" dirty="0"/>
              <a:t>E</a:t>
            </a:r>
            <a:r>
              <a:rPr sz="2400" spc="295" dirty="0"/>
              <a:t>R</a:t>
            </a:r>
            <a:r>
              <a:rPr sz="2400" spc="360" dirty="0"/>
              <a:t>EN</a:t>
            </a:r>
            <a:r>
              <a:rPr sz="2400" spc="315" dirty="0"/>
              <a:t>C</a:t>
            </a:r>
            <a:r>
              <a:rPr sz="2400" spc="350" dirty="0"/>
              <a:t>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5837555" cy="2062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Java:Complete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Reference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Chapter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7,8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Online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Reference: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u="heavy" spc="2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http://www.javatpoint.com/super-keyword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u="heavy" spc="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3"/>
              </a:rPr>
              <a:t>https://www.tutorialspoint.com/java/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u="heavy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4"/>
              </a:rPr>
              <a:t>https://docs.oracle.com/javase/tutorial/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260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4743</Words>
  <Application>Microsoft Office PowerPoint</Application>
  <PresentationFormat>On-screen Show (4:3)</PresentationFormat>
  <Paragraphs>681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Arial MT</vt:lpstr>
      <vt:lpstr>Calibri</vt:lpstr>
      <vt:lpstr>Cambria</vt:lpstr>
      <vt:lpstr>Segoe UI Symbol</vt:lpstr>
      <vt:lpstr>Wingdings</vt:lpstr>
      <vt:lpstr>Office Theme</vt:lpstr>
      <vt:lpstr>PowerPoint Presentation</vt:lpstr>
      <vt:lpstr>3 PRINCIPLES</vt:lpstr>
      <vt:lpstr>INHERITANCE</vt:lpstr>
      <vt:lpstr>INHERITANCE</vt:lpstr>
      <vt:lpstr>INHERITANCE</vt:lpstr>
      <vt:lpstr>INHERITANCE</vt:lpstr>
      <vt:lpstr>INHERITANCE - EXAMPLE</vt:lpstr>
      <vt:lpstr>INHERITANCE - EXAMPLE</vt:lpstr>
      <vt:lpstr>TYPES OF INHERITANCE</vt:lpstr>
      <vt:lpstr>TYPES OF INHERITANCE</vt:lpstr>
      <vt:lpstr>INHERITANCE – SUPER KEYWORD</vt:lpstr>
      <vt:lpstr>SUPER – PARENT’S INSTANCE VARIABLE/METHOD</vt:lpstr>
      <vt:lpstr>SUPER – PARENT’S INSTANCE VARIABLE/METHOD</vt:lpstr>
      <vt:lpstr>SUPER – PARENT’S INSTANCE VARIABLE/METHOD</vt:lpstr>
      <vt:lpstr>SUPER-TO INVOKE PARENT CONSTRUCTOR.</vt:lpstr>
      <vt:lpstr>SUPER-TO INVOKE PARENT CONSTRUCTOR.</vt:lpstr>
      <vt:lpstr>SUPER-TO INVOKE PARENT CONSTRUCTOR.</vt:lpstr>
      <vt:lpstr>SUPER-TO INVOKE PARENT CONSTRUCTOR.</vt:lpstr>
      <vt:lpstr>SUPER-TO INVOKE PARENT CONSTRUCTOR.</vt:lpstr>
      <vt:lpstr>SUPER-TO INVOKE PARENT CONSTRUCTOR.</vt:lpstr>
      <vt:lpstr>SUPER-TO INVOKE PARENT CONSTRUCTOR.</vt:lpstr>
      <vt:lpstr>WHEN CONSTRUCTORS ARE EXECUTED</vt:lpstr>
      <vt:lpstr>WHEN CONSTRUCTORS ARE EXECUTED</vt:lpstr>
      <vt:lpstr>OBJECT CLASS</vt:lpstr>
      <vt:lpstr>OBJECT CLASS - METHODS</vt:lpstr>
      <vt:lpstr>ENCAPSULATION</vt:lpstr>
      <vt:lpstr>ENCAPSULATION</vt:lpstr>
      <vt:lpstr>ENCAPSULATION</vt:lpstr>
      <vt:lpstr>GETTER/SETTER METHOD</vt:lpstr>
      <vt:lpstr>BENEFIT OF ENCAPSULATION</vt:lpstr>
      <vt:lpstr>POLYMORPHISM</vt:lpstr>
      <vt:lpstr>POLYMORPHISM</vt:lpstr>
      <vt:lpstr>POLYMORPHISM</vt:lpstr>
      <vt:lpstr>METHOD OVERRIDING</vt:lpstr>
      <vt:lpstr>METHOD OVERRIDING</vt:lpstr>
      <vt:lpstr>METHOD OVERRIDING - EXAMPLE</vt:lpstr>
      <vt:lpstr>METHOD OVERRIDING - EXAMPLE(SUPER KEYWORD)</vt:lpstr>
      <vt:lpstr>METHOD OVERLOADING</vt:lpstr>
      <vt:lpstr>METHOD OVERLOADING</vt:lpstr>
      <vt:lpstr>METHOD OVERLOADING - EXAMPLE</vt:lpstr>
      <vt:lpstr>CONSTRUCTOR OVERLOADING</vt:lpstr>
      <vt:lpstr>CONSTRUCTOR OVERLOADING - EXAMPLE</vt:lpstr>
      <vt:lpstr>INVOKING OVERLOADED CONSTRUCTORS -THIS( )</vt:lpstr>
      <vt:lpstr>CONSTRUCTOR OVERLOADING - EXAMPLE</vt:lpstr>
      <vt:lpstr>CONSTRUCTOR OVERLOADING – EXAMPLE WITH THIS()</vt:lpstr>
      <vt:lpstr>SUBCLASS POLYMORPHISM</vt:lpstr>
      <vt:lpstr>SUBCLASS POLYMORPHISM - EXAMPLE</vt:lpstr>
      <vt:lpstr>SUBCLASS POLYMORPHISM –COMPILE/RUN TIME</vt:lpstr>
      <vt:lpstr>SUBCLASS POLYMORPHISM – ACCESS</vt:lpstr>
      <vt:lpstr>CASTING AND CLASSES</vt:lpstr>
      <vt:lpstr>CASTING AND CLASSES</vt:lpstr>
      <vt:lpstr>PRECAUTION WHILE DOWN CASTING</vt:lpstr>
      <vt:lpstr>POLYMORPHISM – BENEFITS</vt:lpstr>
      <vt:lpstr>POLYMORPHISM – BENEFITS</vt:lpstr>
      <vt:lpstr>POLYMORPHISM - BENEFITS</vt:lpstr>
      <vt:lpstr>POLYMORPHISM - BENEFITS</vt:lpstr>
      <vt:lpstr>STATIC &amp; DYNAMIC BINDING</vt:lpstr>
      <vt:lpstr>STATIC BINDING</vt:lpstr>
      <vt:lpstr>DYNAMIC BINDING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Ashraful Islam Paran</cp:lastModifiedBy>
  <cp:revision>2</cp:revision>
  <dcterms:created xsi:type="dcterms:W3CDTF">2023-09-19T16:30:57Z</dcterms:created>
  <dcterms:modified xsi:type="dcterms:W3CDTF">2026-04-10T19:28:03Z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2026-04-10T19:28:03Z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248d3fd5-07bc-47d9-926d-1556b634441f</vt:lpwstr>
  </property>
  <property fmtid="{D5CDD505-2E9C-101B-9397-08002B2CF9AE}" pid="10" name="MSIP_Label_defa4170-0d19-0005-0004-bc88714345d2_ActionId">
    <vt:lpwstr>efb3f26e-0d83-43ca-97a2-b93a8664db68</vt:lpwstr>
  </property>
  <property fmtid="{D5CDD505-2E9C-101B-9397-08002B2CF9AE}" pid="11" name="MSIP_Label_defa4170-0d19-0005-0004-bc88714345d2_ContentBits">
    <vt:lpwstr>0</vt:lpwstr>
  </property>
  <property fmtid="{D5CDD505-2E9C-101B-9397-08002B2CF9AE}" pid="12" name="MSIP_Label_defa4170-0d19-0005-0004-bc88714345d2_Tag">
    <vt:lpwstr>10, 3, 0, 1</vt:lpwstr>
  </property>
</Properties>
</file>