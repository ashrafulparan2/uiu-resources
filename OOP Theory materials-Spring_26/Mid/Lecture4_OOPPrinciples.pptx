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1474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381000" y="0"/>
            <a:ext cx="444500" cy="6858000"/>
          </a:xfrm>
          <a:custGeom>
            <a:avLst/>
            <a:gdLst/>
            <a:ahLst/>
            <a:cxnLst/>
            <a:rect l="l" t="t" r="r" b="b"/>
            <a:pathLst>
              <a:path w="444500" h="6858000">
                <a:moveTo>
                  <a:pt x="0" y="6858000"/>
                </a:moveTo>
                <a:lnTo>
                  <a:pt x="444500" y="6858000"/>
                </a:lnTo>
                <a:lnTo>
                  <a:pt x="444500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82650" y="0"/>
            <a:ext cx="3175" cy="6858000"/>
          </a:xfrm>
          <a:custGeom>
            <a:avLst/>
            <a:gdLst/>
            <a:ahLst/>
            <a:cxnLst/>
            <a:rect l="l" t="t" r="r" b="b"/>
            <a:pathLst>
              <a:path w="3175" h="6858000">
                <a:moveTo>
                  <a:pt x="0" y="6858000"/>
                </a:moveTo>
                <a:lnTo>
                  <a:pt x="3175" y="6858000"/>
                </a:lnTo>
                <a:lnTo>
                  <a:pt x="317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42975" y="0"/>
            <a:ext cx="47625" cy="6858000"/>
          </a:xfrm>
          <a:custGeom>
            <a:avLst/>
            <a:gdLst/>
            <a:ahLst/>
            <a:cxnLst/>
            <a:rect l="l" t="t" r="r" b="b"/>
            <a:pathLst>
              <a:path w="47625" h="6858000">
                <a:moveTo>
                  <a:pt x="0" y="6858000"/>
                </a:moveTo>
                <a:lnTo>
                  <a:pt x="47625" y="6858000"/>
                </a:lnTo>
                <a:lnTo>
                  <a:pt x="4762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276225" y="0"/>
            <a:ext cx="104775" cy="6858000"/>
          </a:xfrm>
          <a:custGeom>
            <a:avLst/>
            <a:gdLst/>
            <a:ahLst/>
            <a:cxnLst/>
            <a:rect l="l" t="t" r="r" b="b"/>
            <a:pathLst>
              <a:path w="104775" h="6858000">
                <a:moveTo>
                  <a:pt x="104775" y="0"/>
                </a:moveTo>
                <a:lnTo>
                  <a:pt x="0" y="0"/>
                </a:lnTo>
                <a:lnTo>
                  <a:pt x="0" y="6858000"/>
                </a:lnTo>
                <a:lnTo>
                  <a:pt x="104775" y="6858000"/>
                </a:lnTo>
                <a:lnTo>
                  <a:pt x="104775" y="0"/>
                </a:lnTo>
                <a:close/>
              </a:path>
            </a:pathLst>
          </a:custGeom>
          <a:solidFill>
            <a:srgbClr val="FFD9C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990600" y="0"/>
            <a:ext cx="182880" cy="6858000"/>
          </a:xfrm>
          <a:custGeom>
            <a:avLst/>
            <a:gdLst/>
            <a:ahLst/>
            <a:cxnLst/>
            <a:rect l="l" t="t" r="r" b="b"/>
            <a:pathLst>
              <a:path w="182880" h="6858000">
                <a:moveTo>
                  <a:pt x="182562" y="0"/>
                </a:moveTo>
                <a:lnTo>
                  <a:pt x="0" y="0"/>
                </a:lnTo>
                <a:lnTo>
                  <a:pt x="0" y="6858000"/>
                </a:lnTo>
                <a:lnTo>
                  <a:pt x="182562" y="6858000"/>
                </a:lnTo>
                <a:lnTo>
                  <a:pt x="182562" y="0"/>
                </a:lnTo>
                <a:close/>
              </a:path>
            </a:pathLst>
          </a:custGeom>
          <a:solidFill>
            <a:srgbClr val="FFD9C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141412" y="0"/>
            <a:ext cx="230504" cy="6858000"/>
          </a:xfrm>
          <a:custGeom>
            <a:avLst/>
            <a:gdLst/>
            <a:ahLst/>
            <a:cxnLst/>
            <a:rect l="l" t="t" r="r" b="b"/>
            <a:pathLst>
              <a:path w="230505" h="6858000">
                <a:moveTo>
                  <a:pt x="230187" y="0"/>
                </a:moveTo>
                <a:lnTo>
                  <a:pt x="0" y="0"/>
                </a:lnTo>
                <a:lnTo>
                  <a:pt x="0" y="6858000"/>
                </a:lnTo>
                <a:lnTo>
                  <a:pt x="230187" y="6858000"/>
                </a:lnTo>
                <a:lnTo>
                  <a:pt x="230187" y="0"/>
                </a:lnTo>
                <a:close/>
              </a:path>
            </a:pathLst>
          </a:custGeom>
          <a:solidFill>
            <a:srgbClr val="FFECE8">
              <a:alpha val="709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06362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1" y="6857999"/>
                </a:lnTo>
              </a:path>
            </a:pathLst>
          </a:custGeom>
          <a:ln w="5715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9144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57150">
            <a:solidFill>
              <a:srgbClr val="FFECE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854075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5715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17272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28575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10668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9525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9085199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219200" y="0"/>
            <a:ext cx="76200" cy="6858000"/>
          </a:xfrm>
          <a:custGeom>
            <a:avLst/>
            <a:gdLst/>
            <a:ahLst/>
            <a:cxnLst/>
            <a:rect l="l" t="t" r="r" b="b"/>
            <a:pathLst>
              <a:path w="76200" h="6858000">
                <a:moveTo>
                  <a:pt x="76200" y="0"/>
                </a:moveTo>
                <a:lnTo>
                  <a:pt x="0" y="0"/>
                </a:lnTo>
                <a:lnTo>
                  <a:pt x="0" y="6858000"/>
                </a:lnTo>
                <a:lnTo>
                  <a:pt x="76200" y="6858000"/>
                </a:lnTo>
                <a:lnTo>
                  <a:pt x="76200" y="0"/>
                </a:lnTo>
                <a:close/>
              </a:path>
            </a:pathLst>
          </a:custGeom>
          <a:solidFill>
            <a:srgbClr val="FDC3AD">
              <a:alpha val="5097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609600" y="3428999"/>
            <a:ext cx="1341755" cy="2079625"/>
          </a:xfrm>
          <a:custGeom>
            <a:avLst/>
            <a:gdLst/>
            <a:ahLst/>
            <a:cxnLst/>
            <a:rect l="l" t="t" r="r" b="b"/>
            <a:pathLst>
              <a:path w="1341755" h="2079625">
                <a:moveTo>
                  <a:pt x="1295400" y="647700"/>
                </a:moveTo>
                <a:lnTo>
                  <a:pt x="1293622" y="599363"/>
                </a:lnTo>
                <a:lnTo>
                  <a:pt x="1288376" y="551980"/>
                </a:lnTo>
                <a:lnTo>
                  <a:pt x="1279779" y="505701"/>
                </a:lnTo>
                <a:lnTo>
                  <a:pt x="1267968" y="460629"/>
                </a:lnTo>
                <a:lnTo>
                  <a:pt x="1253070" y="416890"/>
                </a:lnTo>
                <a:lnTo>
                  <a:pt x="1235202" y="374637"/>
                </a:lnTo>
                <a:lnTo>
                  <a:pt x="1214488" y="333959"/>
                </a:lnTo>
                <a:lnTo>
                  <a:pt x="1191056" y="295008"/>
                </a:lnTo>
                <a:lnTo>
                  <a:pt x="1165034" y="257898"/>
                </a:lnTo>
                <a:lnTo>
                  <a:pt x="1136535" y="222745"/>
                </a:lnTo>
                <a:lnTo>
                  <a:pt x="1105700" y="189699"/>
                </a:lnTo>
                <a:lnTo>
                  <a:pt x="1072654" y="158864"/>
                </a:lnTo>
                <a:lnTo>
                  <a:pt x="1037501" y="130365"/>
                </a:lnTo>
                <a:lnTo>
                  <a:pt x="1000391" y="104343"/>
                </a:lnTo>
                <a:lnTo>
                  <a:pt x="961440" y="80911"/>
                </a:lnTo>
                <a:lnTo>
                  <a:pt x="920762" y="60198"/>
                </a:lnTo>
                <a:lnTo>
                  <a:pt x="878509" y="42329"/>
                </a:lnTo>
                <a:lnTo>
                  <a:pt x="834771" y="27432"/>
                </a:lnTo>
                <a:lnTo>
                  <a:pt x="789698" y="15621"/>
                </a:lnTo>
                <a:lnTo>
                  <a:pt x="743419" y="7023"/>
                </a:lnTo>
                <a:lnTo>
                  <a:pt x="696036" y="1778"/>
                </a:lnTo>
                <a:lnTo>
                  <a:pt x="647700" y="0"/>
                </a:lnTo>
                <a:lnTo>
                  <a:pt x="599351" y="1778"/>
                </a:lnTo>
                <a:lnTo>
                  <a:pt x="551980" y="7023"/>
                </a:lnTo>
                <a:lnTo>
                  <a:pt x="505701" y="15621"/>
                </a:lnTo>
                <a:lnTo>
                  <a:pt x="460629" y="27432"/>
                </a:lnTo>
                <a:lnTo>
                  <a:pt x="416902" y="42329"/>
                </a:lnTo>
                <a:lnTo>
                  <a:pt x="374637" y="60198"/>
                </a:lnTo>
                <a:lnTo>
                  <a:pt x="333971" y="80911"/>
                </a:lnTo>
                <a:lnTo>
                  <a:pt x="295008" y="104343"/>
                </a:lnTo>
                <a:lnTo>
                  <a:pt x="257898" y="130365"/>
                </a:lnTo>
                <a:lnTo>
                  <a:pt x="222758" y="158864"/>
                </a:lnTo>
                <a:lnTo>
                  <a:pt x="189699" y="189699"/>
                </a:lnTo>
                <a:lnTo>
                  <a:pt x="158864" y="222745"/>
                </a:lnTo>
                <a:lnTo>
                  <a:pt x="130365" y="257898"/>
                </a:lnTo>
                <a:lnTo>
                  <a:pt x="104343" y="295008"/>
                </a:lnTo>
                <a:lnTo>
                  <a:pt x="80911" y="333959"/>
                </a:lnTo>
                <a:lnTo>
                  <a:pt x="60185" y="374637"/>
                </a:lnTo>
                <a:lnTo>
                  <a:pt x="42316" y="416890"/>
                </a:lnTo>
                <a:lnTo>
                  <a:pt x="27419" y="460629"/>
                </a:lnTo>
                <a:lnTo>
                  <a:pt x="15608" y="505701"/>
                </a:lnTo>
                <a:lnTo>
                  <a:pt x="7010" y="551980"/>
                </a:lnTo>
                <a:lnTo>
                  <a:pt x="1765" y="599363"/>
                </a:lnTo>
                <a:lnTo>
                  <a:pt x="0" y="647700"/>
                </a:lnTo>
                <a:lnTo>
                  <a:pt x="1765" y="696048"/>
                </a:lnTo>
                <a:lnTo>
                  <a:pt x="7010" y="743432"/>
                </a:lnTo>
                <a:lnTo>
                  <a:pt x="15608" y="789711"/>
                </a:lnTo>
                <a:lnTo>
                  <a:pt x="27419" y="834783"/>
                </a:lnTo>
                <a:lnTo>
                  <a:pt x="42316" y="878522"/>
                </a:lnTo>
                <a:lnTo>
                  <a:pt x="60185" y="920775"/>
                </a:lnTo>
                <a:lnTo>
                  <a:pt x="80911" y="961453"/>
                </a:lnTo>
                <a:lnTo>
                  <a:pt x="104343" y="1000404"/>
                </a:lnTo>
                <a:lnTo>
                  <a:pt x="130365" y="1037513"/>
                </a:lnTo>
                <a:lnTo>
                  <a:pt x="158864" y="1072667"/>
                </a:lnTo>
                <a:lnTo>
                  <a:pt x="189699" y="1105712"/>
                </a:lnTo>
                <a:lnTo>
                  <a:pt x="222758" y="1136548"/>
                </a:lnTo>
                <a:lnTo>
                  <a:pt x="257898" y="1165047"/>
                </a:lnTo>
                <a:lnTo>
                  <a:pt x="295008" y="1191069"/>
                </a:lnTo>
                <a:lnTo>
                  <a:pt x="333971" y="1214501"/>
                </a:lnTo>
                <a:lnTo>
                  <a:pt x="374637" y="1235214"/>
                </a:lnTo>
                <a:lnTo>
                  <a:pt x="416902" y="1253083"/>
                </a:lnTo>
                <a:lnTo>
                  <a:pt x="460629" y="1267980"/>
                </a:lnTo>
                <a:lnTo>
                  <a:pt x="505701" y="1279791"/>
                </a:lnTo>
                <a:lnTo>
                  <a:pt x="551980" y="1288389"/>
                </a:lnTo>
                <a:lnTo>
                  <a:pt x="599351" y="1293634"/>
                </a:lnTo>
                <a:lnTo>
                  <a:pt x="647700" y="1295400"/>
                </a:lnTo>
                <a:lnTo>
                  <a:pt x="696036" y="1293634"/>
                </a:lnTo>
                <a:lnTo>
                  <a:pt x="743419" y="1288389"/>
                </a:lnTo>
                <a:lnTo>
                  <a:pt x="789698" y="1279791"/>
                </a:lnTo>
                <a:lnTo>
                  <a:pt x="834771" y="1267980"/>
                </a:lnTo>
                <a:lnTo>
                  <a:pt x="878509" y="1253083"/>
                </a:lnTo>
                <a:lnTo>
                  <a:pt x="920762" y="1235214"/>
                </a:lnTo>
                <a:lnTo>
                  <a:pt x="961440" y="1214501"/>
                </a:lnTo>
                <a:lnTo>
                  <a:pt x="1000391" y="1191069"/>
                </a:lnTo>
                <a:lnTo>
                  <a:pt x="1037501" y="1165047"/>
                </a:lnTo>
                <a:lnTo>
                  <a:pt x="1072654" y="1136548"/>
                </a:lnTo>
                <a:lnTo>
                  <a:pt x="1105700" y="1105712"/>
                </a:lnTo>
                <a:lnTo>
                  <a:pt x="1136535" y="1072667"/>
                </a:lnTo>
                <a:lnTo>
                  <a:pt x="1165034" y="1037513"/>
                </a:lnTo>
                <a:lnTo>
                  <a:pt x="1191056" y="1000404"/>
                </a:lnTo>
                <a:lnTo>
                  <a:pt x="1214488" y="961453"/>
                </a:lnTo>
                <a:lnTo>
                  <a:pt x="1235202" y="920775"/>
                </a:lnTo>
                <a:lnTo>
                  <a:pt x="1253070" y="878522"/>
                </a:lnTo>
                <a:lnTo>
                  <a:pt x="1267968" y="834783"/>
                </a:lnTo>
                <a:lnTo>
                  <a:pt x="1279779" y="789711"/>
                </a:lnTo>
                <a:lnTo>
                  <a:pt x="1288376" y="743432"/>
                </a:lnTo>
                <a:lnTo>
                  <a:pt x="1293622" y="696048"/>
                </a:lnTo>
                <a:lnTo>
                  <a:pt x="1295400" y="647700"/>
                </a:lnTo>
                <a:close/>
              </a:path>
              <a:path w="1341755" h="2079625">
                <a:moveTo>
                  <a:pt x="1341501" y="1758950"/>
                </a:moveTo>
                <a:lnTo>
                  <a:pt x="1338021" y="1711553"/>
                </a:lnTo>
                <a:lnTo>
                  <a:pt x="1327912" y="1666316"/>
                </a:lnTo>
                <a:lnTo>
                  <a:pt x="1311681" y="1623745"/>
                </a:lnTo>
                <a:lnTo>
                  <a:pt x="1289812" y="1584312"/>
                </a:lnTo>
                <a:lnTo>
                  <a:pt x="1262811" y="1548549"/>
                </a:lnTo>
                <a:lnTo>
                  <a:pt x="1231176" y="1516913"/>
                </a:lnTo>
                <a:lnTo>
                  <a:pt x="1195400" y="1489925"/>
                </a:lnTo>
                <a:lnTo>
                  <a:pt x="1155979" y="1468081"/>
                </a:lnTo>
                <a:lnTo>
                  <a:pt x="1113409" y="1451851"/>
                </a:lnTo>
                <a:lnTo>
                  <a:pt x="1068197" y="1441754"/>
                </a:lnTo>
                <a:lnTo>
                  <a:pt x="1020826" y="1438275"/>
                </a:lnTo>
                <a:lnTo>
                  <a:pt x="973416" y="1441754"/>
                </a:lnTo>
                <a:lnTo>
                  <a:pt x="928179" y="1451851"/>
                </a:lnTo>
                <a:lnTo>
                  <a:pt x="885609" y="1468081"/>
                </a:lnTo>
                <a:lnTo>
                  <a:pt x="846175" y="1489925"/>
                </a:lnTo>
                <a:lnTo>
                  <a:pt x="810412" y="1516913"/>
                </a:lnTo>
                <a:lnTo>
                  <a:pt x="778776" y="1548549"/>
                </a:lnTo>
                <a:lnTo>
                  <a:pt x="751789" y="1584312"/>
                </a:lnTo>
                <a:lnTo>
                  <a:pt x="729945" y="1623745"/>
                </a:lnTo>
                <a:lnTo>
                  <a:pt x="713714" y="1666316"/>
                </a:lnTo>
                <a:lnTo>
                  <a:pt x="703618" y="1711553"/>
                </a:lnTo>
                <a:lnTo>
                  <a:pt x="700151" y="1758950"/>
                </a:lnTo>
                <a:lnTo>
                  <a:pt x="703618" y="1806359"/>
                </a:lnTo>
                <a:lnTo>
                  <a:pt x="713714" y="1851596"/>
                </a:lnTo>
                <a:lnTo>
                  <a:pt x="729945" y="1894166"/>
                </a:lnTo>
                <a:lnTo>
                  <a:pt x="751789" y="1933600"/>
                </a:lnTo>
                <a:lnTo>
                  <a:pt x="778776" y="1969363"/>
                </a:lnTo>
                <a:lnTo>
                  <a:pt x="810412" y="2000999"/>
                </a:lnTo>
                <a:lnTo>
                  <a:pt x="846175" y="2027986"/>
                </a:lnTo>
                <a:lnTo>
                  <a:pt x="885609" y="2049830"/>
                </a:lnTo>
                <a:lnTo>
                  <a:pt x="928179" y="2066061"/>
                </a:lnTo>
                <a:lnTo>
                  <a:pt x="973416" y="2076157"/>
                </a:lnTo>
                <a:lnTo>
                  <a:pt x="1020826" y="2079625"/>
                </a:lnTo>
                <a:lnTo>
                  <a:pt x="1068197" y="2076157"/>
                </a:lnTo>
                <a:lnTo>
                  <a:pt x="1113409" y="2066061"/>
                </a:lnTo>
                <a:lnTo>
                  <a:pt x="1155979" y="2049830"/>
                </a:lnTo>
                <a:lnTo>
                  <a:pt x="1195400" y="2027986"/>
                </a:lnTo>
                <a:lnTo>
                  <a:pt x="1231176" y="2000999"/>
                </a:lnTo>
                <a:lnTo>
                  <a:pt x="1262811" y="1969363"/>
                </a:lnTo>
                <a:lnTo>
                  <a:pt x="1289812" y="1933600"/>
                </a:lnTo>
                <a:lnTo>
                  <a:pt x="1311681" y="1894166"/>
                </a:lnTo>
                <a:lnTo>
                  <a:pt x="1327912" y="1851596"/>
                </a:lnTo>
                <a:lnTo>
                  <a:pt x="1338021" y="1806359"/>
                </a:lnTo>
                <a:lnTo>
                  <a:pt x="1341501" y="1758950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0" name="bg object 3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90612" y="5500750"/>
            <a:ext cx="138112" cy="136461"/>
          </a:xfrm>
          <a:prstGeom prst="rect">
            <a:avLst/>
          </a:prstGeom>
        </p:spPr>
      </p:pic>
      <p:sp>
        <p:nvSpPr>
          <p:cNvPr id="31" name="bg object 31"/>
          <p:cNvSpPr/>
          <p:nvPr/>
        </p:nvSpPr>
        <p:spPr>
          <a:xfrm>
            <a:off x="1663700" y="4495799"/>
            <a:ext cx="606425" cy="1567180"/>
          </a:xfrm>
          <a:custGeom>
            <a:avLst/>
            <a:gdLst/>
            <a:ahLst/>
            <a:cxnLst/>
            <a:rect l="l" t="t" r="r" b="b"/>
            <a:pathLst>
              <a:path w="606425" h="1567179">
                <a:moveTo>
                  <a:pt x="274701" y="1429537"/>
                </a:moveTo>
                <a:lnTo>
                  <a:pt x="267677" y="1386141"/>
                </a:lnTo>
                <a:lnTo>
                  <a:pt x="248158" y="1348447"/>
                </a:lnTo>
                <a:lnTo>
                  <a:pt x="218401" y="1318729"/>
                </a:lnTo>
                <a:lnTo>
                  <a:pt x="180682" y="1299235"/>
                </a:lnTo>
                <a:lnTo>
                  <a:pt x="137287" y="1292225"/>
                </a:lnTo>
                <a:lnTo>
                  <a:pt x="93891" y="1299235"/>
                </a:lnTo>
                <a:lnTo>
                  <a:pt x="56197" y="1318729"/>
                </a:lnTo>
                <a:lnTo>
                  <a:pt x="26479" y="1348447"/>
                </a:lnTo>
                <a:lnTo>
                  <a:pt x="6997" y="1386141"/>
                </a:lnTo>
                <a:lnTo>
                  <a:pt x="0" y="1429537"/>
                </a:lnTo>
                <a:lnTo>
                  <a:pt x="6997" y="1472946"/>
                </a:lnTo>
                <a:lnTo>
                  <a:pt x="26479" y="1510652"/>
                </a:lnTo>
                <a:lnTo>
                  <a:pt x="56197" y="1540370"/>
                </a:lnTo>
                <a:lnTo>
                  <a:pt x="93891" y="1559864"/>
                </a:lnTo>
                <a:lnTo>
                  <a:pt x="137287" y="1566862"/>
                </a:lnTo>
                <a:lnTo>
                  <a:pt x="180682" y="1559864"/>
                </a:lnTo>
                <a:lnTo>
                  <a:pt x="218401" y="1540370"/>
                </a:lnTo>
                <a:lnTo>
                  <a:pt x="248158" y="1510652"/>
                </a:lnTo>
                <a:lnTo>
                  <a:pt x="267677" y="1472946"/>
                </a:lnTo>
                <a:lnTo>
                  <a:pt x="274701" y="1429537"/>
                </a:lnTo>
                <a:close/>
              </a:path>
              <a:path w="606425" h="1567179">
                <a:moveTo>
                  <a:pt x="606425" y="182499"/>
                </a:moveTo>
                <a:lnTo>
                  <a:pt x="599897" y="134023"/>
                </a:lnTo>
                <a:lnTo>
                  <a:pt x="581482" y="90424"/>
                </a:lnTo>
                <a:lnTo>
                  <a:pt x="552932" y="53492"/>
                </a:lnTo>
                <a:lnTo>
                  <a:pt x="516001" y="24942"/>
                </a:lnTo>
                <a:lnTo>
                  <a:pt x="472401" y="6527"/>
                </a:lnTo>
                <a:lnTo>
                  <a:pt x="423926" y="0"/>
                </a:lnTo>
                <a:lnTo>
                  <a:pt x="375373" y="6527"/>
                </a:lnTo>
                <a:lnTo>
                  <a:pt x="331749" y="24942"/>
                </a:lnTo>
                <a:lnTo>
                  <a:pt x="294792" y="53492"/>
                </a:lnTo>
                <a:lnTo>
                  <a:pt x="266230" y="90424"/>
                </a:lnTo>
                <a:lnTo>
                  <a:pt x="247815" y="134023"/>
                </a:lnTo>
                <a:lnTo>
                  <a:pt x="241300" y="182499"/>
                </a:lnTo>
                <a:lnTo>
                  <a:pt x="247815" y="231051"/>
                </a:lnTo>
                <a:lnTo>
                  <a:pt x="266230" y="274675"/>
                </a:lnTo>
                <a:lnTo>
                  <a:pt x="294792" y="311632"/>
                </a:lnTo>
                <a:lnTo>
                  <a:pt x="331749" y="340194"/>
                </a:lnTo>
                <a:lnTo>
                  <a:pt x="375373" y="358609"/>
                </a:lnTo>
                <a:lnTo>
                  <a:pt x="423926" y="365125"/>
                </a:lnTo>
                <a:lnTo>
                  <a:pt x="472401" y="358609"/>
                </a:lnTo>
                <a:lnTo>
                  <a:pt x="516001" y="340194"/>
                </a:lnTo>
                <a:lnTo>
                  <a:pt x="552932" y="311632"/>
                </a:lnTo>
                <a:lnTo>
                  <a:pt x="581482" y="274675"/>
                </a:lnTo>
                <a:lnTo>
                  <a:pt x="599897" y="231051"/>
                </a:lnTo>
                <a:lnTo>
                  <a:pt x="606425" y="182499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413255" y="3733927"/>
            <a:ext cx="6317488" cy="791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13255" y="3733927"/>
            <a:ext cx="6317488" cy="791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50" b="0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50" b="0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10/9/2023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250" b="0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10/9/2023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10/9/2023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7630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3810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6575" y="5715000"/>
            <a:ext cx="549275" cy="549275"/>
          </a:xfrm>
          <a:custGeom>
            <a:avLst/>
            <a:gdLst/>
            <a:ahLst/>
            <a:cxnLst/>
            <a:rect l="l" t="t" r="r" b="b"/>
            <a:pathLst>
              <a:path w="549275" h="549275">
                <a:moveTo>
                  <a:pt x="274700" y="0"/>
                </a:moveTo>
                <a:lnTo>
                  <a:pt x="225309" y="4424"/>
                </a:lnTo>
                <a:lnTo>
                  <a:pt x="178828" y="17182"/>
                </a:lnTo>
                <a:lnTo>
                  <a:pt x="136031" y="37496"/>
                </a:lnTo>
                <a:lnTo>
                  <a:pt x="97693" y="64591"/>
                </a:lnTo>
                <a:lnTo>
                  <a:pt x="64589" y="97692"/>
                </a:lnTo>
                <a:lnTo>
                  <a:pt x="37493" y="136023"/>
                </a:lnTo>
                <a:lnTo>
                  <a:pt x="17180" y="178808"/>
                </a:lnTo>
                <a:lnTo>
                  <a:pt x="4424" y="225271"/>
                </a:lnTo>
                <a:lnTo>
                  <a:pt x="0" y="274637"/>
                </a:lnTo>
                <a:lnTo>
                  <a:pt x="4424" y="324003"/>
                </a:lnTo>
                <a:lnTo>
                  <a:pt x="17180" y="370466"/>
                </a:lnTo>
                <a:lnTo>
                  <a:pt x="37493" y="413251"/>
                </a:lnTo>
                <a:lnTo>
                  <a:pt x="64589" y="451582"/>
                </a:lnTo>
                <a:lnTo>
                  <a:pt x="97693" y="484683"/>
                </a:lnTo>
                <a:lnTo>
                  <a:pt x="136031" y="511778"/>
                </a:lnTo>
                <a:lnTo>
                  <a:pt x="178828" y="532092"/>
                </a:lnTo>
                <a:lnTo>
                  <a:pt x="225309" y="544850"/>
                </a:lnTo>
                <a:lnTo>
                  <a:pt x="274700" y="549275"/>
                </a:lnTo>
                <a:lnTo>
                  <a:pt x="324054" y="544850"/>
                </a:lnTo>
                <a:lnTo>
                  <a:pt x="370506" y="532092"/>
                </a:lnTo>
                <a:lnTo>
                  <a:pt x="413281" y="511778"/>
                </a:lnTo>
                <a:lnTo>
                  <a:pt x="451603" y="484683"/>
                </a:lnTo>
                <a:lnTo>
                  <a:pt x="484696" y="451582"/>
                </a:lnTo>
                <a:lnTo>
                  <a:pt x="511786" y="413251"/>
                </a:lnTo>
                <a:lnTo>
                  <a:pt x="532096" y="370466"/>
                </a:lnTo>
                <a:lnTo>
                  <a:pt x="544851" y="324003"/>
                </a:lnTo>
                <a:lnTo>
                  <a:pt x="549275" y="274637"/>
                </a:lnTo>
                <a:lnTo>
                  <a:pt x="544851" y="225271"/>
                </a:lnTo>
                <a:lnTo>
                  <a:pt x="532096" y="178808"/>
                </a:lnTo>
                <a:lnTo>
                  <a:pt x="511786" y="136023"/>
                </a:lnTo>
                <a:lnTo>
                  <a:pt x="484696" y="97692"/>
                </a:lnTo>
                <a:lnTo>
                  <a:pt x="451603" y="64591"/>
                </a:lnTo>
                <a:lnTo>
                  <a:pt x="413281" y="37496"/>
                </a:lnTo>
                <a:lnTo>
                  <a:pt x="370506" y="17182"/>
                </a:lnTo>
                <a:lnTo>
                  <a:pt x="324054" y="4424"/>
                </a:lnTo>
                <a:lnTo>
                  <a:pt x="274700" y="0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7625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839200" y="0"/>
            <a:ext cx="304800" cy="6858000"/>
          </a:xfrm>
          <a:custGeom>
            <a:avLst/>
            <a:gdLst/>
            <a:ahLst/>
            <a:cxnLst/>
            <a:rect l="l" t="t" r="r" b="b"/>
            <a:pathLst>
              <a:path w="304800" h="6858000">
                <a:moveTo>
                  <a:pt x="304800" y="0"/>
                </a:moveTo>
                <a:lnTo>
                  <a:pt x="0" y="0"/>
                </a:lnTo>
                <a:lnTo>
                  <a:pt x="0" y="6858000"/>
                </a:lnTo>
                <a:lnTo>
                  <a:pt x="304800" y="6858000"/>
                </a:lnTo>
                <a:lnTo>
                  <a:pt x="304800" y="0"/>
                </a:lnTo>
                <a:close/>
              </a:path>
            </a:pathLst>
          </a:custGeom>
          <a:solidFill>
            <a:srgbClr val="FDC3AD">
              <a:alpha val="8705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9154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9525">
            <a:solidFill>
              <a:srgbClr val="FD853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5940" y="928242"/>
            <a:ext cx="7653655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50" b="0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5940" y="1628901"/>
            <a:ext cx="4399280" cy="19488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10/9/2023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java/" TargetMode="External"/><Relationship Id="rId2" Type="http://schemas.openxmlformats.org/officeDocument/2006/relationships/hyperlink" Target="http://www.javatpoint.com/super-keywor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oracle.com/javase/tutoria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subTitle" idx="4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63930">
              <a:lnSpc>
                <a:spcPct val="100000"/>
              </a:lnSpc>
              <a:spcBef>
                <a:spcPts val="100"/>
              </a:spcBef>
            </a:pPr>
            <a:r>
              <a:rPr sz="3000" spc="420" dirty="0"/>
              <a:t>OOP</a:t>
            </a:r>
            <a:r>
              <a:rPr sz="3000" spc="170" dirty="0"/>
              <a:t> </a:t>
            </a:r>
            <a:r>
              <a:rPr sz="3000" spc="365" dirty="0"/>
              <a:t>P</a:t>
            </a:r>
            <a:r>
              <a:rPr spc="365" dirty="0"/>
              <a:t>RINCIPLES</a:t>
            </a:r>
            <a:endParaRPr sz="3000"/>
          </a:p>
          <a:p>
            <a:pPr marL="963930">
              <a:lnSpc>
                <a:spcPct val="100000"/>
              </a:lnSpc>
              <a:spcBef>
                <a:spcPts val="25"/>
              </a:spcBef>
            </a:pPr>
            <a:r>
              <a:rPr sz="2000" spc="300" dirty="0"/>
              <a:t>CSI</a:t>
            </a:r>
            <a:r>
              <a:rPr sz="2000" spc="100" dirty="0"/>
              <a:t> </a:t>
            </a:r>
            <a:r>
              <a:rPr sz="2000" spc="-30" dirty="0"/>
              <a:t>211:</a:t>
            </a:r>
            <a:r>
              <a:rPr sz="2000" spc="120" dirty="0"/>
              <a:t> </a:t>
            </a:r>
            <a:r>
              <a:rPr sz="2000" spc="280" dirty="0"/>
              <a:t>O</a:t>
            </a:r>
            <a:r>
              <a:rPr sz="1600" spc="280" dirty="0"/>
              <a:t>BJECT</a:t>
            </a:r>
            <a:r>
              <a:rPr sz="1600" spc="235" dirty="0"/>
              <a:t> </a:t>
            </a:r>
            <a:r>
              <a:rPr sz="2000" spc="225" dirty="0"/>
              <a:t>O</a:t>
            </a:r>
            <a:r>
              <a:rPr sz="1600" spc="225" dirty="0"/>
              <a:t>RIENTED </a:t>
            </a:r>
            <a:r>
              <a:rPr sz="2000" spc="229" dirty="0"/>
              <a:t>P</a:t>
            </a:r>
            <a:r>
              <a:rPr sz="1600" spc="229" dirty="0"/>
              <a:t>ROGRAMMING</a:t>
            </a:r>
            <a:endParaRPr sz="1600"/>
          </a:p>
        </p:txBody>
      </p:sp>
      <p:sp>
        <p:nvSpPr>
          <p:cNvPr id="3" name="object 3"/>
          <p:cNvSpPr txBox="1"/>
          <p:nvPr/>
        </p:nvSpPr>
        <p:spPr>
          <a:xfrm>
            <a:off x="2364994" y="5033517"/>
            <a:ext cx="17849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125" dirty="0">
                <a:solidFill>
                  <a:srgbClr val="565F6C"/>
                </a:solidFill>
                <a:latin typeface="Cambria"/>
                <a:cs typeface="Cambria"/>
              </a:rPr>
              <a:t>Tanjina</a:t>
            </a:r>
            <a:r>
              <a:rPr sz="1800" b="1" spc="50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1800" b="1" spc="125" dirty="0">
                <a:solidFill>
                  <a:srgbClr val="565F6C"/>
                </a:solidFill>
                <a:latin typeface="Cambria"/>
                <a:cs typeface="Cambria"/>
              </a:rPr>
              <a:t>Helaly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3495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5" dirty="0"/>
              <a:t>3</a:t>
            </a:r>
            <a:r>
              <a:rPr sz="3000" spc="100" dirty="0"/>
              <a:t> </a:t>
            </a:r>
            <a:r>
              <a:rPr sz="3000" spc="280" dirty="0"/>
              <a:t>P</a:t>
            </a:r>
            <a:r>
              <a:rPr sz="2400" spc="280" dirty="0"/>
              <a:t>RINCIPLES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76465" cy="2275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40" dirty="0">
                <a:latin typeface="Cambria"/>
                <a:cs typeface="Cambria"/>
              </a:rPr>
              <a:t>All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object-oriented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programming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languages 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provide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mechanisms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help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you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implement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object-oriented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model.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5" dirty="0">
                <a:latin typeface="Cambria"/>
                <a:cs typeface="Cambria"/>
              </a:rPr>
              <a:t>Inheritance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0" dirty="0">
                <a:latin typeface="Cambria"/>
                <a:cs typeface="Cambria"/>
              </a:rPr>
              <a:t>Encapsulation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0" dirty="0">
                <a:latin typeface="Cambria"/>
                <a:cs typeface="Cambria"/>
              </a:rPr>
              <a:t>Polymorphism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013710" y="3136772"/>
            <a:ext cx="23596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3577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656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5" dirty="0">
                <a:latin typeface="Cambria"/>
                <a:cs typeface="Cambria"/>
              </a:rPr>
              <a:t>Inheritance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process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which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one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70" dirty="0">
                <a:latin typeface="Cambria"/>
                <a:cs typeface="Cambria"/>
              </a:rPr>
              <a:t>acquires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properties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another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  <a:tab pos="697230" algn="l"/>
              </a:tabLst>
            </a:pPr>
            <a:r>
              <a:rPr sz="2400" spc="155" dirty="0">
                <a:latin typeface="Cambria"/>
                <a:cs typeface="Cambria"/>
              </a:rPr>
              <a:t>It	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way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form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new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using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have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already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been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defined.</a:t>
            </a:r>
            <a:endParaRPr sz="2400">
              <a:latin typeface="Cambria"/>
              <a:cs typeface="Cambria"/>
            </a:endParaRPr>
          </a:p>
          <a:p>
            <a:pPr marL="285115" marR="60007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 </a:t>
            </a:r>
            <a:r>
              <a:rPr sz="2400" spc="50" dirty="0">
                <a:latin typeface="Cambria"/>
                <a:cs typeface="Cambria"/>
              </a:rPr>
              <a:t>new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(child</a:t>
            </a:r>
            <a:r>
              <a:rPr sz="2400" spc="9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classes),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take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over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-40" dirty="0">
                <a:latin typeface="Cambria"/>
                <a:cs typeface="Cambria"/>
              </a:rPr>
              <a:t>(or </a:t>
            </a:r>
            <a:r>
              <a:rPr sz="2400" spc="-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inherit)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attributes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behavior</a:t>
            </a:r>
            <a:r>
              <a:rPr sz="2400" b="1" spc="11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pre-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existing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(parent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classes).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3577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89165" cy="402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245" dirty="0">
                <a:latin typeface="Cambria"/>
                <a:cs typeface="Cambria"/>
              </a:rPr>
              <a:t>Java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uses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“extends”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keyword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show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inheritance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5" dirty="0">
                <a:latin typeface="Cambria"/>
                <a:cs typeface="Cambria"/>
              </a:rPr>
              <a:t>relationship.</a:t>
            </a:r>
            <a:r>
              <a:rPr sz="2400" spc="8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Example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600"/>
              </a:spcBef>
            </a:pP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45" dirty="0">
                <a:latin typeface="Cambria"/>
                <a:cs typeface="Cambria"/>
              </a:rPr>
              <a:t>Child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extends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Parent{}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59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extended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superclass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1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4" dirty="0">
                <a:latin typeface="Cambria"/>
                <a:cs typeface="Cambria"/>
              </a:rPr>
              <a:t>Other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terms: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base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ancestor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endParaRPr sz="2100">
              <a:latin typeface="Cambria"/>
              <a:cs typeface="Cambria"/>
            </a:endParaRPr>
          </a:p>
          <a:p>
            <a:pPr marL="285115" marR="5080" indent="-285750" algn="r">
              <a:lnSpc>
                <a:spcPct val="100000"/>
              </a:lnSpc>
              <a:spcBef>
                <a:spcPts val="59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extended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subclass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superclass</a:t>
            </a:r>
            <a:endParaRPr sz="2400">
              <a:latin typeface="Cambria"/>
              <a:cs typeface="Cambria"/>
            </a:endParaRPr>
          </a:p>
          <a:p>
            <a:pPr marL="272415" marR="8890" lvl="1" indent="-272415" algn="r">
              <a:lnSpc>
                <a:spcPct val="100000"/>
              </a:lnSpc>
              <a:spcBef>
                <a:spcPts val="52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272415" algn="l"/>
                <a:tab pos="273685" algn="l"/>
              </a:tabLst>
            </a:pPr>
            <a:r>
              <a:rPr sz="2100" spc="114" dirty="0">
                <a:latin typeface="Cambria"/>
                <a:cs typeface="Cambria"/>
              </a:rPr>
              <a:t>Other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terms: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child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extended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derived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endParaRPr sz="2100">
              <a:latin typeface="Cambria"/>
              <a:cs typeface="Cambria"/>
            </a:endParaRPr>
          </a:p>
          <a:p>
            <a:pPr marL="285115" marR="241300" indent="-273050">
              <a:lnSpc>
                <a:spcPct val="100200"/>
              </a:lnSpc>
              <a:spcBef>
                <a:spcPts val="58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75" dirty="0">
                <a:latin typeface="Cambria"/>
                <a:cs typeface="Cambria"/>
              </a:rPr>
              <a:t>An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created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from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subclass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25" dirty="0">
                <a:latin typeface="Cambria"/>
                <a:cs typeface="Cambria"/>
              </a:rPr>
              <a:t>has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b="1" spc="170" dirty="0">
                <a:latin typeface="Cambria"/>
                <a:cs typeface="Cambria"/>
              </a:rPr>
              <a:t>own </a:t>
            </a:r>
            <a:r>
              <a:rPr sz="2400" b="1" spc="-515" dirty="0">
                <a:latin typeface="Cambria"/>
                <a:cs typeface="Cambria"/>
              </a:rPr>
              <a:t> </a:t>
            </a:r>
            <a:r>
              <a:rPr sz="2400" b="1" spc="160" dirty="0">
                <a:latin typeface="Cambria"/>
                <a:cs typeface="Cambria"/>
              </a:rPr>
              <a:t>copy</a:t>
            </a:r>
            <a:r>
              <a:rPr sz="2400" b="1" spc="13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all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b="1" spc="150" dirty="0">
                <a:latin typeface="Cambria"/>
                <a:cs typeface="Cambria"/>
              </a:rPr>
              <a:t>nonstatic</a:t>
            </a:r>
            <a:r>
              <a:rPr sz="2400" b="1" spc="170" dirty="0">
                <a:latin typeface="Cambria"/>
                <a:cs typeface="Cambria"/>
              </a:rPr>
              <a:t> </a:t>
            </a:r>
            <a:r>
              <a:rPr sz="2400" b="1" spc="120" dirty="0">
                <a:latin typeface="Cambria"/>
                <a:cs typeface="Cambria"/>
              </a:rPr>
              <a:t>fields</a:t>
            </a:r>
            <a:r>
              <a:rPr sz="2400" b="1" spc="14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defined</a:t>
            </a:r>
            <a:r>
              <a:rPr sz="2400" spc="105" dirty="0">
                <a:latin typeface="Cambria"/>
                <a:cs typeface="Cambria"/>
              </a:rPr>
              <a:t> in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 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superclass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3577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30109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0" dirty="0">
                <a:latin typeface="Cambria"/>
                <a:cs typeface="Cambria"/>
              </a:rPr>
              <a:t>This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important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because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supports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concept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hierarchical</a:t>
            </a:r>
            <a:r>
              <a:rPr sz="2400" spc="7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classification.</a:t>
            </a:r>
            <a:endParaRPr sz="2400">
              <a:latin typeface="Cambria"/>
              <a:cs typeface="Cambria"/>
            </a:endParaRPr>
          </a:p>
          <a:p>
            <a:pPr marL="285115" marR="259079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5" dirty="0">
                <a:latin typeface="Cambria"/>
                <a:cs typeface="Cambria"/>
              </a:rPr>
              <a:t>Inheritance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provides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powerful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25" dirty="0">
                <a:latin typeface="Cambria"/>
                <a:cs typeface="Cambria"/>
              </a:rPr>
              <a:t> natural 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mechanism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organizing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structuring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your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software</a:t>
            </a:r>
            <a:endParaRPr sz="2400">
              <a:latin typeface="Cambria"/>
              <a:cs typeface="Cambria"/>
            </a:endParaRPr>
          </a:p>
          <a:p>
            <a:pPr marL="285115" marR="52895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55" dirty="0">
                <a:latin typeface="Cambria"/>
                <a:cs typeface="Cambria"/>
              </a:rPr>
              <a:t>It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intended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help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reuse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existing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code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with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little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no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modification.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3243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r>
              <a:rPr sz="2400" spc="310" dirty="0"/>
              <a:t> </a:t>
            </a:r>
            <a:r>
              <a:rPr sz="3000" dirty="0"/>
              <a:t>-</a:t>
            </a:r>
            <a:r>
              <a:rPr sz="3000" spc="155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30426"/>
            <a:ext cx="6783070" cy="3455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90" dirty="0">
                <a:latin typeface="Cambria"/>
                <a:cs typeface="Cambria"/>
              </a:rPr>
              <a:t>Parent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-100" dirty="0">
                <a:latin typeface="Cambria"/>
                <a:cs typeface="Cambria"/>
              </a:rPr>
              <a:t>{</a:t>
            </a:r>
            <a:endParaRPr sz="1800">
              <a:latin typeface="Cambria"/>
              <a:cs typeface="Cambria"/>
            </a:endParaRPr>
          </a:p>
          <a:p>
            <a:pPr marL="379730" marR="3676015">
              <a:lnSpc>
                <a:spcPct val="100000"/>
              </a:lnSpc>
            </a:pP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int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parentVariable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 </a:t>
            </a:r>
            <a:r>
              <a:rPr sz="1500" spc="5" dirty="0">
                <a:latin typeface="Cambria"/>
                <a:cs typeface="Cambria"/>
              </a:rPr>
              <a:t>10;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20" dirty="0">
                <a:latin typeface="Cambria"/>
                <a:cs typeface="Cambria"/>
              </a:rPr>
              <a:t>void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parentMethod()</a:t>
            </a:r>
            <a:r>
              <a:rPr sz="1500" spc="5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System.out.println(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"Parent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Method"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-30" dirty="0">
                <a:latin typeface="Cambria"/>
                <a:cs typeface="Cambria"/>
              </a:rPr>
              <a:t>);</a:t>
            </a:r>
            <a:endParaRPr sz="15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800" spc="-100" dirty="0">
                <a:latin typeface="Cambria"/>
                <a:cs typeface="Cambria"/>
              </a:rPr>
              <a:t>}</a:t>
            </a:r>
            <a:endParaRPr sz="18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105" dirty="0">
                <a:latin typeface="Cambria"/>
                <a:cs typeface="Cambria"/>
              </a:rPr>
              <a:t> Child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extends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90" dirty="0">
                <a:latin typeface="Cambria"/>
                <a:cs typeface="Cambria"/>
              </a:rPr>
              <a:t>Parent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-100" dirty="0">
                <a:latin typeface="Cambria"/>
                <a:cs typeface="Cambria"/>
              </a:rPr>
              <a:t>{</a:t>
            </a:r>
            <a:endParaRPr sz="1800">
              <a:latin typeface="Cambria"/>
              <a:cs typeface="Cambria"/>
            </a:endParaRPr>
          </a:p>
          <a:p>
            <a:pPr marL="379730" marR="3903979" indent="31750">
              <a:lnSpc>
                <a:spcPct val="103299"/>
              </a:lnSpc>
              <a:spcBef>
                <a:spcPts val="240"/>
              </a:spcBef>
            </a:pP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int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childVariable</a:t>
            </a:r>
            <a:r>
              <a:rPr sz="1500" spc="10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5;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20" dirty="0">
                <a:latin typeface="Cambria"/>
                <a:cs typeface="Cambria"/>
              </a:rPr>
              <a:t>void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childMethod()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1500" spc="35" dirty="0">
                <a:latin typeface="Cambria"/>
                <a:cs typeface="Cambria"/>
              </a:rPr>
              <a:t>parentMethod();</a:t>
            </a:r>
            <a:endParaRPr sz="1500">
              <a:latin typeface="Cambria"/>
              <a:cs typeface="Cambria"/>
            </a:endParaRPr>
          </a:p>
          <a:p>
            <a:pPr marL="652780" marR="508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System.out.printf(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"In</a:t>
            </a:r>
            <a:r>
              <a:rPr sz="1500" spc="90" dirty="0">
                <a:latin typeface="Cambria"/>
                <a:cs typeface="Cambria"/>
              </a:rPr>
              <a:t> Child</a:t>
            </a:r>
            <a:r>
              <a:rPr sz="1500" spc="125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ParentVariable=%d,</a:t>
            </a:r>
            <a:r>
              <a:rPr sz="1500" spc="11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ChildVariable=%d“,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parentVariable,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childVariable</a:t>
            </a:r>
            <a:r>
              <a:rPr sz="1500" spc="114" dirty="0">
                <a:latin typeface="Cambria"/>
                <a:cs typeface="Cambria"/>
              </a:rPr>
              <a:t> </a:t>
            </a:r>
            <a:r>
              <a:rPr sz="1500" spc="-30" dirty="0">
                <a:latin typeface="Cambria"/>
                <a:cs typeface="Cambria"/>
              </a:rPr>
              <a:t>);</a:t>
            </a:r>
            <a:endParaRPr sz="15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800" spc="-100" dirty="0">
                <a:latin typeface="Cambria"/>
                <a:cs typeface="Cambria"/>
              </a:rPr>
              <a:t>}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5060441"/>
            <a:ext cx="4016375" cy="1763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Inheritance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-100" dirty="0">
                <a:latin typeface="Cambria"/>
                <a:cs typeface="Cambria"/>
              </a:rPr>
              <a:t>{</a:t>
            </a:r>
            <a:endParaRPr sz="1800">
              <a:latin typeface="Cambria"/>
              <a:cs typeface="Cambria"/>
            </a:endParaRPr>
          </a:p>
          <a:p>
            <a:pPr marL="744220" marR="163830" indent="-364490">
              <a:lnSpc>
                <a:spcPct val="100000"/>
              </a:lnSpc>
            </a:pP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static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main(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80" dirty="0">
                <a:latin typeface="Cambria"/>
                <a:cs typeface="Cambria"/>
              </a:rPr>
              <a:t>String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args[]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-75" dirty="0">
                <a:latin typeface="Cambria"/>
                <a:cs typeface="Cambria"/>
              </a:rPr>
              <a:t>)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200" spc="70" dirty="0">
                <a:latin typeface="Cambria"/>
                <a:cs typeface="Cambria"/>
              </a:rPr>
              <a:t>Child</a:t>
            </a:r>
            <a:r>
              <a:rPr sz="1200" spc="45" dirty="0">
                <a:latin typeface="Cambria"/>
                <a:cs typeface="Cambria"/>
              </a:rPr>
              <a:t> </a:t>
            </a:r>
            <a:r>
              <a:rPr sz="1200" spc="40" dirty="0">
                <a:latin typeface="Cambria"/>
                <a:cs typeface="Cambria"/>
              </a:rPr>
              <a:t>example</a:t>
            </a:r>
            <a:r>
              <a:rPr sz="1200" spc="55" dirty="0">
                <a:latin typeface="Cambria"/>
                <a:cs typeface="Cambria"/>
              </a:rPr>
              <a:t> </a:t>
            </a:r>
            <a:r>
              <a:rPr sz="1200" spc="60" dirty="0">
                <a:latin typeface="Cambria"/>
                <a:cs typeface="Cambria"/>
              </a:rPr>
              <a:t>= </a:t>
            </a:r>
            <a:r>
              <a:rPr sz="1200" spc="25" dirty="0">
                <a:latin typeface="Cambria"/>
                <a:cs typeface="Cambria"/>
              </a:rPr>
              <a:t>new</a:t>
            </a:r>
            <a:r>
              <a:rPr sz="1200" spc="80" dirty="0">
                <a:latin typeface="Cambria"/>
                <a:cs typeface="Cambria"/>
              </a:rPr>
              <a:t> </a:t>
            </a:r>
            <a:r>
              <a:rPr sz="1200" spc="30" dirty="0">
                <a:latin typeface="Cambria"/>
                <a:cs typeface="Cambria"/>
              </a:rPr>
              <a:t>Child(); </a:t>
            </a:r>
            <a:r>
              <a:rPr sz="1200" spc="35" dirty="0">
                <a:latin typeface="Cambria"/>
                <a:cs typeface="Cambria"/>
              </a:rPr>
              <a:t> </a:t>
            </a:r>
            <a:r>
              <a:rPr sz="1200" spc="30" dirty="0">
                <a:latin typeface="Cambria"/>
                <a:cs typeface="Cambria"/>
              </a:rPr>
              <a:t>example.childMethod(); </a:t>
            </a:r>
            <a:r>
              <a:rPr sz="1200" spc="35" dirty="0">
                <a:latin typeface="Cambria"/>
                <a:cs typeface="Cambria"/>
              </a:rPr>
              <a:t> example.parentMethod();</a:t>
            </a:r>
            <a:endParaRPr sz="12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200" spc="45" dirty="0">
                <a:latin typeface="Cambria"/>
                <a:cs typeface="Cambria"/>
              </a:rPr>
              <a:t>System.out.println( </a:t>
            </a:r>
            <a:r>
              <a:rPr sz="1200" spc="50" dirty="0">
                <a:latin typeface="Cambria"/>
                <a:cs typeface="Cambria"/>
              </a:rPr>
              <a:t>example.parentVariable</a:t>
            </a:r>
            <a:r>
              <a:rPr sz="1200" spc="30" dirty="0">
                <a:latin typeface="Cambria"/>
                <a:cs typeface="Cambria"/>
              </a:rPr>
              <a:t> </a:t>
            </a:r>
            <a:r>
              <a:rPr sz="1200" spc="-25" dirty="0">
                <a:latin typeface="Cambria"/>
                <a:cs typeface="Cambria"/>
              </a:rPr>
              <a:t>);</a:t>
            </a:r>
            <a:endParaRPr sz="12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800" spc="-100" dirty="0">
                <a:latin typeface="Cambria"/>
                <a:cs typeface="Cambria"/>
              </a:rPr>
              <a:t>}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53000" y="5170487"/>
            <a:ext cx="3733800" cy="1230630"/>
          </a:xfrm>
          <a:prstGeom prst="rect">
            <a:avLst/>
          </a:prstGeom>
          <a:solidFill>
            <a:srgbClr val="BEBEBE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b="1" dirty="0">
                <a:latin typeface="Arial"/>
                <a:cs typeface="Arial"/>
              </a:rPr>
              <a:t>Output</a:t>
            </a:r>
            <a:endParaRPr sz="1800">
              <a:latin typeface="Arial"/>
              <a:cs typeface="Arial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dirty="0">
                <a:latin typeface="Arial MT"/>
                <a:cs typeface="Arial MT"/>
              </a:rPr>
              <a:t>Parent</a:t>
            </a:r>
            <a:r>
              <a:rPr sz="1400" spc="-30" dirty="0">
                <a:latin typeface="Arial MT"/>
                <a:cs typeface="Arial MT"/>
              </a:rPr>
              <a:t> </a:t>
            </a:r>
            <a:r>
              <a:rPr sz="1400" spc="-10" dirty="0">
                <a:latin typeface="Arial MT"/>
                <a:cs typeface="Arial MT"/>
              </a:rPr>
              <a:t>M</a:t>
            </a:r>
            <a:r>
              <a:rPr sz="1400" dirty="0">
                <a:latin typeface="Arial MT"/>
                <a:cs typeface="Arial MT"/>
              </a:rPr>
              <a:t>ethod</a:t>
            </a:r>
            <a:endParaRPr sz="1400">
              <a:latin typeface="Arial MT"/>
              <a:cs typeface="Arial MT"/>
            </a:endParaRPr>
          </a:p>
          <a:p>
            <a:pPr marL="92075" marR="17589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In </a:t>
            </a:r>
            <a:r>
              <a:rPr sz="1400" spc="-5" dirty="0">
                <a:latin typeface="Arial MT"/>
                <a:cs typeface="Arial MT"/>
              </a:rPr>
              <a:t>Child </a:t>
            </a:r>
            <a:r>
              <a:rPr sz="1400" spc="-10" dirty="0">
                <a:latin typeface="Arial MT"/>
                <a:cs typeface="Arial MT"/>
              </a:rPr>
              <a:t>ParentVariable=10, ChildVariable=5 </a:t>
            </a:r>
            <a:r>
              <a:rPr sz="1400" spc="-37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Parent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Method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10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3839336"/>
            <a:ext cx="11099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114" dirty="0">
                <a:latin typeface="Cambria"/>
                <a:cs typeface="Cambria"/>
              </a:rPr>
              <a:t>Act</a:t>
            </a:r>
            <a:r>
              <a:rPr sz="2400" spc="6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like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3243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r>
              <a:rPr sz="2400" spc="310" dirty="0"/>
              <a:t> </a:t>
            </a:r>
            <a:r>
              <a:rPr sz="3000" dirty="0"/>
              <a:t>-</a:t>
            </a:r>
            <a:r>
              <a:rPr sz="3000" spc="155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79450" y="2233676"/>
          <a:ext cx="2590800" cy="11127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800" b="1" spc="135" dirty="0">
                          <a:solidFill>
                            <a:srgbClr val="FFFFFF"/>
                          </a:solidFill>
                          <a:latin typeface="Cambria"/>
                          <a:cs typeface="Cambria"/>
                        </a:rPr>
                        <a:t>Parent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D85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67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800" spc="70" dirty="0">
                          <a:latin typeface="Cambria"/>
                          <a:cs typeface="Cambria"/>
                        </a:rPr>
                        <a:t>parentVariable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9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800" spc="45" dirty="0">
                          <a:latin typeface="Cambria"/>
                          <a:cs typeface="Cambria"/>
                        </a:rPr>
                        <a:t>parentMethod()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EC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184650" y="2233676"/>
          <a:ext cx="2590800" cy="11127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800" b="1" spc="165" dirty="0">
                          <a:solidFill>
                            <a:srgbClr val="FFFFFF"/>
                          </a:solidFill>
                          <a:latin typeface="Cambria"/>
                          <a:cs typeface="Cambria"/>
                        </a:rPr>
                        <a:t>Child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D85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67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800" spc="70" dirty="0">
                          <a:latin typeface="Cambria"/>
                          <a:cs typeface="Cambria"/>
                        </a:rPr>
                        <a:t>childVariable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9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800" spc="35" dirty="0">
                          <a:latin typeface="Cambria"/>
                          <a:cs typeface="Cambria"/>
                        </a:rPr>
                        <a:t>childMethod()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EC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3276600" y="2386838"/>
            <a:ext cx="838200" cy="103505"/>
          </a:xfrm>
          <a:custGeom>
            <a:avLst/>
            <a:gdLst/>
            <a:ahLst/>
            <a:cxnLst/>
            <a:rect l="l" t="t" r="r" b="b"/>
            <a:pathLst>
              <a:path w="838200" h="103505">
                <a:moveTo>
                  <a:pt x="88646" y="0"/>
                </a:moveTo>
                <a:lnTo>
                  <a:pt x="85725" y="1777"/>
                </a:lnTo>
                <a:lnTo>
                  <a:pt x="0" y="51562"/>
                </a:lnTo>
                <a:lnTo>
                  <a:pt x="88519" y="103377"/>
                </a:lnTo>
                <a:lnTo>
                  <a:pt x="92455" y="102362"/>
                </a:lnTo>
                <a:lnTo>
                  <a:pt x="94107" y="99440"/>
                </a:lnTo>
                <a:lnTo>
                  <a:pt x="95885" y="96392"/>
                </a:lnTo>
                <a:lnTo>
                  <a:pt x="94869" y="92456"/>
                </a:lnTo>
                <a:lnTo>
                  <a:pt x="91948" y="90677"/>
                </a:lnTo>
                <a:lnTo>
                  <a:pt x="36017" y="57958"/>
                </a:lnTo>
                <a:lnTo>
                  <a:pt x="12573" y="57912"/>
                </a:lnTo>
                <a:lnTo>
                  <a:pt x="12573" y="45212"/>
                </a:lnTo>
                <a:lnTo>
                  <a:pt x="36139" y="45212"/>
                </a:lnTo>
                <a:lnTo>
                  <a:pt x="95123" y="11049"/>
                </a:lnTo>
                <a:lnTo>
                  <a:pt x="96138" y="7112"/>
                </a:lnTo>
                <a:lnTo>
                  <a:pt x="92583" y="1015"/>
                </a:lnTo>
                <a:lnTo>
                  <a:pt x="88646" y="0"/>
                </a:lnTo>
                <a:close/>
              </a:path>
              <a:path w="838200" h="103505">
                <a:moveTo>
                  <a:pt x="36058" y="45258"/>
                </a:moveTo>
                <a:lnTo>
                  <a:pt x="25129" y="51589"/>
                </a:lnTo>
                <a:lnTo>
                  <a:pt x="36017" y="57958"/>
                </a:lnTo>
                <a:lnTo>
                  <a:pt x="838200" y="59562"/>
                </a:lnTo>
                <a:lnTo>
                  <a:pt x="838200" y="46862"/>
                </a:lnTo>
                <a:lnTo>
                  <a:pt x="36058" y="45258"/>
                </a:lnTo>
                <a:close/>
              </a:path>
              <a:path w="838200" h="103505">
                <a:moveTo>
                  <a:pt x="12573" y="45212"/>
                </a:moveTo>
                <a:lnTo>
                  <a:pt x="12573" y="57912"/>
                </a:lnTo>
                <a:lnTo>
                  <a:pt x="36017" y="57958"/>
                </a:lnTo>
                <a:lnTo>
                  <a:pt x="34418" y="57023"/>
                </a:lnTo>
                <a:lnTo>
                  <a:pt x="15748" y="57023"/>
                </a:lnTo>
                <a:lnTo>
                  <a:pt x="15748" y="46100"/>
                </a:lnTo>
                <a:lnTo>
                  <a:pt x="34605" y="46100"/>
                </a:lnTo>
                <a:lnTo>
                  <a:pt x="36058" y="45258"/>
                </a:lnTo>
                <a:lnTo>
                  <a:pt x="12573" y="45212"/>
                </a:lnTo>
                <a:close/>
              </a:path>
              <a:path w="838200" h="103505">
                <a:moveTo>
                  <a:pt x="15748" y="46100"/>
                </a:moveTo>
                <a:lnTo>
                  <a:pt x="15748" y="57023"/>
                </a:lnTo>
                <a:lnTo>
                  <a:pt x="25129" y="51589"/>
                </a:lnTo>
                <a:lnTo>
                  <a:pt x="15748" y="46100"/>
                </a:lnTo>
                <a:close/>
              </a:path>
              <a:path w="838200" h="103505">
                <a:moveTo>
                  <a:pt x="25129" y="51589"/>
                </a:moveTo>
                <a:lnTo>
                  <a:pt x="15748" y="57023"/>
                </a:lnTo>
                <a:lnTo>
                  <a:pt x="34418" y="57023"/>
                </a:lnTo>
                <a:lnTo>
                  <a:pt x="25129" y="51589"/>
                </a:lnTo>
                <a:close/>
              </a:path>
              <a:path w="838200" h="103505">
                <a:moveTo>
                  <a:pt x="34605" y="46100"/>
                </a:moveTo>
                <a:lnTo>
                  <a:pt x="15748" y="46100"/>
                </a:lnTo>
                <a:lnTo>
                  <a:pt x="25129" y="51589"/>
                </a:lnTo>
                <a:lnTo>
                  <a:pt x="34605" y="46100"/>
                </a:lnTo>
                <a:close/>
              </a:path>
              <a:path w="838200" h="103505">
                <a:moveTo>
                  <a:pt x="36139" y="45212"/>
                </a:moveTo>
                <a:lnTo>
                  <a:pt x="12573" y="45212"/>
                </a:lnTo>
                <a:lnTo>
                  <a:pt x="36058" y="45258"/>
                </a:lnTo>
                <a:close/>
              </a:path>
            </a:pathLst>
          </a:custGeom>
          <a:solidFill>
            <a:srgbClr val="FF690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755650" y="4367276"/>
          <a:ext cx="2590800" cy="111277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800" b="1" spc="135" dirty="0">
                          <a:solidFill>
                            <a:srgbClr val="FFFFFF"/>
                          </a:solidFill>
                          <a:latin typeface="Cambria"/>
                          <a:cs typeface="Cambria"/>
                        </a:rPr>
                        <a:t>Parent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D85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966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800" spc="75" dirty="0">
                          <a:latin typeface="Cambria"/>
                          <a:cs typeface="Cambria"/>
                        </a:rPr>
                        <a:t>parentVariable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9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967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800" spc="40" dirty="0">
                          <a:latin typeface="Cambria"/>
                          <a:cs typeface="Cambria"/>
                        </a:rPr>
                        <a:t>parentMethod()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EC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4337050" y="4286250"/>
          <a:ext cx="2590800" cy="16509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800" b="1" spc="165" dirty="0">
                          <a:solidFill>
                            <a:srgbClr val="FFFFFF"/>
                          </a:solidFill>
                          <a:latin typeface="Cambria"/>
                          <a:cs typeface="Cambria"/>
                        </a:rPr>
                        <a:t>Child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FD85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92075" marR="88455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800" spc="70" dirty="0">
                          <a:latin typeface="Cambria"/>
                          <a:cs typeface="Cambria"/>
                        </a:rPr>
                        <a:t>parentVariable </a:t>
                      </a:r>
                      <a:r>
                        <a:rPr sz="1800" spc="-3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0" dirty="0">
                          <a:latin typeface="Cambria"/>
                          <a:cs typeface="Cambria"/>
                        </a:rPr>
                        <a:t>childVariable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D9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92075" marR="8312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800" spc="-5" dirty="0">
                          <a:latin typeface="Cambria"/>
                          <a:cs typeface="Cambria"/>
                        </a:rPr>
                        <a:t>p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a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re</a:t>
                      </a:r>
                      <a:r>
                        <a:rPr sz="1800" spc="5" dirty="0">
                          <a:latin typeface="Cambria"/>
                          <a:cs typeface="Cambria"/>
                        </a:rPr>
                        <a:t>n</a:t>
                      </a:r>
                      <a:r>
                        <a:rPr sz="1800" spc="-5" dirty="0">
                          <a:latin typeface="Cambria"/>
                          <a:cs typeface="Cambria"/>
                        </a:rPr>
                        <a:t>tMetho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d()  </a:t>
                      </a:r>
                      <a:r>
                        <a:rPr sz="1800" spc="35" dirty="0">
                          <a:latin typeface="Cambria"/>
                          <a:cs typeface="Cambria"/>
                        </a:rPr>
                        <a:t>childMethod()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FFEC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05350" y="5029200"/>
            <a:ext cx="1685925" cy="9906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09511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T</a:t>
            </a:r>
            <a:r>
              <a:rPr sz="2400" spc="285" dirty="0"/>
              <a:t>YPES</a:t>
            </a:r>
            <a:r>
              <a:rPr sz="2400" spc="280" dirty="0"/>
              <a:t> </a:t>
            </a:r>
            <a:r>
              <a:rPr sz="2400" spc="305" dirty="0"/>
              <a:t>OF</a:t>
            </a:r>
            <a:r>
              <a:rPr sz="2400" spc="285" dirty="0"/>
              <a:t> </a:t>
            </a: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4" name="object 4"/>
          <p:cNvSpPr txBox="1"/>
          <p:nvPr/>
        </p:nvSpPr>
        <p:spPr>
          <a:xfrm>
            <a:off x="535940" y="1568616"/>
            <a:ext cx="6842759" cy="365379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58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10" dirty="0">
                <a:latin typeface="Cambria"/>
                <a:cs typeface="Cambria"/>
              </a:rPr>
              <a:t>Single</a:t>
            </a:r>
            <a:r>
              <a:rPr sz="2000" spc="4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25" dirty="0">
                <a:latin typeface="Cambria"/>
                <a:cs typeface="Cambria"/>
              </a:rPr>
              <a:t>One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parent-&gt; </a:t>
            </a:r>
            <a:r>
              <a:rPr sz="2000" spc="125" dirty="0">
                <a:latin typeface="Cambria"/>
                <a:cs typeface="Cambria"/>
              </a:rPr>
              <a:t>One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child</a:t>
            </a:r>
            <a:endParaRPr sz="20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spcBef>
                <a:spcPts val="20"/>
              </a:spcBef>
              <a:buClr>
                <a:srgbClr val="FD8537"/>
              </a:buClr>
              <a:buFont typeface="Segoe UI Symbol"/>
              <a:buChar char="⚫"/>
            </a:pPr>
            <a:endParaRPr sz="295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5" dirty="0">
                <a:latin typeface="Cambria"/>
                <a:cs typeface="Cambria"/>
              </a:rPr>
              <a:t>Multi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level</a:t>
            </a:r>
            <a:r>
              <a:rPr sz="2000" spc="5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20" dirty="0">
                <a:latin typeface="Cambria"/>
                <a:cs typeface="Cambria"/>
              </a:rPr>
              <a:t>one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can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inherit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from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derived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class,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thereby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making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this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derived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base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for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new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class.</a:t>
            </a:r>
            <a:endParaRPr sz="20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buClr>
                <a:srgbClr val="FD8537"/>
              </a:buClr>
              <a:buFont typeface="Segoe UI Symbol"/>
              <a:buChar char="⚫"/>
            </a:pPr>
            <a:endParaRPr sz="24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spcBef>
                <a:spcPts val="30"/>
              </a:spcBef>
              <a:buClr>
                <a:srgbClr val="FD8537"/>
              </a:buClr>
              <a:buFont typeface="Segoe UI Symbol"/>
              <a:buChar char="⚫"/>
            </a:pPr>
            <a:endParaRPr sz="30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0" dirty="0">
                <a:latin typeface="Cambria"/>
                <a:cs typeface="Cambria"/>
              </a:rPr>
              <a:t>Hierarchical</a:t>
            </a:r>
            <a:r>
              <a:rPr sz="2000" spc="3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25" dirty="0">
                <a:latin typeface="Cambria"/>
                <a:cs typeface="Cambria"/>
              </a:rPr>
              <a:t>One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–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multiple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children</a:t>
            </a:r>
            <a:endParaRPr sz="2000">
              <a:latin typeface="Cambria"/>
              <a:cs typeface="Cambri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67200" y="1600200"/>
            <a:ext cx="466725" cy="66675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77125" y="2790825"/>
            <a:ext cx="638175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09511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T</a:t>
            </a:r>
            <a:r>
              <a:rPr sz="2400" spc="285" dirty="0"/>
              <a:t>YPES</a:t>
            </a:r>
            <a:r>
              <a:rPr sz="2400" spc="280" dirty="0"/>
              <a:t> </a:t>
            </a:r>
            <a:r>
              <a:rPr sz="2400" spc="305" dirty="0"/>
              <a:t>OF</a:t>
            </a:r>
            <a:r>
              <a:rPr sz="2400" spc="285" dirty="0"/>
              <a:t> </a:t>
            </a:r>
            <a:r>
              <a:rPr sz="3000" spc="285" dirty="0"/>
              <a:t>I</a:t>
            </a:r>
            <a:r>
              <a:rPr sz="2400" spc="285" dirty="0"/>
              <a:t>NHERITANCE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68616"/>
            <a:ext cx="6703695" cy="1870075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58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5" dirty="0">
                <a:latin typeface="Cambria"/>
                <a:cs typeface="Cambria"/>
              </a:rPr>
              <a:t>Multiple</a:t>
            </a:r>
            <a:r>
              <a:rPr sz="2000" spc="4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95" dirty="0">
                <a:latin typeface="Cambria"/>
                <a:cs typeface="Cambria"/>
              </a:rPr>
              <a:t>Multiple</a:t>
            </a:r>
            <a:r>
              <a:rPr sz="2000" spc="5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-&gt;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one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child</a:t>
            </a:r>
            <a:endParaRPr sz="20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spcBef>
                <a:spcPts val="20"/>
              </a:spcBef>
              <a:buClr>
                <a:srgbClr val="FD8537"/>
              </a:buClr>
              <a:buFont typeface="Segoe UI Symbol"/>
              <a:buChar char="⚫"/>
            </a:pPr>
            <a:endParaRPr sz="295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0" dirty="0">
                <a:latin typeface="Cambria"/>
                <a:cs typeface="Cambria"/>
              </a:rPr>
              <a:t>Hybrid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14" dirty="0">
                <a:latin typeface="Cambria"/>
                <a:cs typeface="Cambria"/>
              </a:rPr>
              <a:t>Is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combination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Single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and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spc="95" dirty="0">
                <a:latin typeface="Cambria"/>
                <a:cs typeface="Cambria"/>
              </a:rPr>
              <a:t>Multiple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5348732"/>
            <a:ext cx="53486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210" dirty="0">
                <a:solidFill>
                  <a:srgbClr val="FF0000"/>
                </a:solidFill>
                <a:latin typeface="Cambria"/>
                <a:cs typeface="Cambria"/>
              </a:rPr>
              <a:t>Java</a:t>
            </a:r>
            <a:r>
              <a:rPr sz="2000" spc="10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15" dirty="0">
                <a:solidFill>
                  <a:srgbClr val="FF0000"/>
                </a:solidFill>
                <a:latin typeface="Cambria"/>
                <a:cs typeface="Cambria"/>
              </a:rPr>
              <a:t>does</a:t>
            </a:r>
            <a:r>
              <a:rPr sz="2000" spc="9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50" dirty="0">
                <a:solidFill>
                  <a:srgbClr val="FF0000"/>
                </a:solidFill>
                <a:latin typeface="Cambria"/>
                <a:cs typeface="Cambria"/>
              </a:rPr>
              <a:t>not</a:t>
            </a:r>
            <a:r>
              <a:rPr sz="2000" spc="10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50" dirty="0">
                <a:solidFill>
                  <a:srgbClr val="FF0000"/>
                </a:solidFill>
                <a:latin typeface="Cambria"/>
                <a:cs typeface="Cambria"/>
              </a:rPr>
              <a:t>support</a:t>
            </a:r>
            <a:r>
              <a:rPr sz="2000" spc="9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75" dirty="0">
                <a:solidFill>
                  <a:srgbClr val="FF0000"/>
                </a:solidFill>
                <a:latin typeface="Cambria"/>
                <a:cs typeface="Cambria"/>
              </a:rPr>
              <a:t>multiple</a:t>
            </a:r>
            <a:r>
              <a:rPr sz="2000" spc="6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000" spc="75" dirty="0">
                <a:solidFill>
                  <a:srgbClr val="FF0000"/>
                </a:solidFill>
                <a:latin typeface="Cambria"/>
                <a:cs typeface="Cambria"/>
              </a:rPr>
              <a:t>inheritance</a:t>
            </a:r>
            <a:endParaRPr sz="2000">
              <a:latin typeface="Cambria"/>
              <a:cs typeface="Cambria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33950" y="1714500"/>
            <a:ext cx="1619250" cy="9525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90775" y="3429000"/>
            <a:ext cx="1990725" cy="144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56419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I</a:t>
            </a:r>
            <a:r>
              <a:rPr sz="2400" spc="285" dirty="0"/>
              <a:t>NHERITANCE</a:t>
            </a:r>
            <a:r>
              <a:rPr sz="2400" spc="330" dirty="0"/>
              <a:t> </a:t>
            </a:r>
            <a:r>
              <a:rPr sz="3000" spc="165" dirty="0"/>
              <a:t>–</a:t>
            </a:r>
            <a:r>
              <a:rPr sz="3000" spc="160" dirty="0"/>
              <a:t> </a:t>
            </a:r>
            <a:r>
              <a:rPr sz="2400" spc="305" dirty="0"/>
              <a:t>SUPER</a:t>
            </a:r>
            <a:r>
              <a:rPr sz="2400" spc="330" dirty="0"/>
              <a:t> </a:t>
            </a:r>
            <a:r>
              <a:rPr sz="2400" spc="280" dirty="0"/>
              <a:t>KEYWORD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998970" cy="33496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 algn="just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5" dirty="0">
                <a:latin typeface="Cambria"/>
                <a:cs typeface="Cambria"/>
              </a:rPr>
              <a:t>The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b="1" spc="120" dirty="0">
                <a:latin typeface="Cambria"/>
                <a:cs typeface="Cambria"/>
              </a:rPr>
              <a:t>super</a:t>
            </a:r>
            <a:r>
              <a:rPr sz="2000" b="1" spc="10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keyword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in</a:t>
            </a:r>
            <a:r>
              <a:rPr sz="2000" spc="100" dirty="0">
                <a:latin typeface="Cambria"/>
                <a:cs typeface="Cambria"/>
              </a:rPr>
              <a:t> java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reference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variable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that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endParaRPr sz="2000">
              <a:latin typeface="Cambria"/>
              <a:cs typeface="Cambria"/>
            </a:endParaRPr>
          </a:p>
          <a:p>
            <a:pPr marL="285115" algn="just">
              <a:lnSpc>
                <a:spcPct val="100000"/>
              </a:lnSpc>
            </a:pPr>
            <a:r>
              <a:rPr sz="2000" spc="60" dirty="0">
                <a:latin typeface="Cambria"/>
                <a:cs typeface="Cambria"/>
              </a:rPr>
              <a:t>used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immediate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object.</a:t>
            </a:r>
            <a:endParaRPr sz="2000">
              <a:latin typeface="Cambria"/>
              <a:cs typeface="Cambria"/>
            </a:endParaRPr>
          </a:p>
          <a:p>
            <a:pPr marL="285115" marR="449580" indent="-273050" algn="just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70" dirty="0">
                <a:latin typeface="Cambria"/>
                <a:cs typeface="Cambria"/>
              </a:rPr>
              <a:t>Whenever </a:t>
            </a:r>
            <a:r>
              <a:rPr sz="2000" spc="40" dirty="0">
                <a:latin typeface="Cambria"/>
                <a:cs typeface="Cambria"/>
              </a:rPr>
              <a:t>you </a:t>
            </a:r>
            <a:r>
              <a:rPr sz="2000" b="1" spc="120" dirty="0">
                <a:latin typeface="Cambria"/>
                <a:cs typeface="Cambria"/>
              </a:rPr>
              <a:t>create </a:t>
            </a:r>
            <a:r>
              <a:rPr sz="2000" b="1" spc="125" dirty="0">
                <a:latin typeface="Cambria"/>
                <a:cs typeface="Cambria"/>
              </a:rPr>
              <a:t>the </a:t>
            </a:r>
            <a:r>
              <a:rPr sz="2000" b="1" spc="130" dirty="0">
                <a:latin typeface="Cambria"/>
                <a:cs typeface="Cambria"/>
              </a:rPr>
              <a:t>instance </a:t>
            </a:r>
            <a:r>
              <a:rPr sz="2000" b="1" spc="105" dirty="0">
                <a:latin typeface="Cambria"/>
                <a:cs typeface="Cambria"/>
              </a:rPr>
              <a:t>of </a:t>
            </a:r>
            <a:r>
              <a:rPr sz="2000" b="1" spc="110" dirty="0">
                <a:latin typeface="Cambria"/>
                <a:cs typeface="Cambria"/>
              </a:rPr>
              <a:t>subclass, </a:t>
            </a:r>
            <a:r>
              <a:rPr sz="2000" b="1" spc="155" dirty="0">
                <a:latin typeface="Cambria"/>
                <a:cs typeface="Cambria"/>
              </a:rPr>
              <a:t>an </a:t>
            </a:r>
            <a:r>
              <a:rPr sz="2000" b="1" spc="-430" dirty="0">
                <a:latin typeface="Cambria"/>
                <a:cs typeface="Cambria"/>
              </a:rPr>
              <a:t> </a:t>
            </a:r>
            <a:r>
              <a:rPr sz="2000" b="1" spc="125" dirty="0">
                <a:latin typeface="Cambria"/>
                <a:cs typeface="Cambria"/>
              </a:rPr>
              <a:t>instance </a:t>
            </a:r>
            <a:r>
              <a:rPr sz="2000" b="1" spc="105" dirty="0">
                <a:latin typeface="Cambria"/>
                <a:cs typeface="Cambria"/>
              </a:rPr>
              <a:t>of </a:t>
            </a:r>
            <a:r>
              <a:rPr sz="2000" b="1" spc="130" dirty="0">
                <a:latin typeface="Cambria"/>
                <a:cs typeface="Cambria"/>
              </a:rPr>
              <a:t>parent </a:t>
            </a:r>
            <a:r>
              <a:rPr sz="2000" b="1" spc="110" dirty="0">
                <a:latin typeface="Cambria"/>
                <a:cs typeface="Cambria"/>
              </a:rPr>
              <a:t>class </a:t>
            </a:r>
            <a:r>
              <a:rPr sz="2000" b="1" spc="95" dirty="0">
                <a:latin typeface="Cambria"/>
                <a:cs typeface="Cambria"/>
              </a:rPr>
              <a:t>is </a:t>
            </a:r>
            <a:r>
              <a:rPr sz="2000" b="1" spc="125" dirty="0">
                <a:latin typeface="Cambria"/>
                <a:cs typeface="Cambria"/>
              </a:rPr>
              <a:t>created </a:t>
            </a:r>
            <a:r>
              <a:rPr sz="2000" b="1" spc="120" dirty="0">
                <a:latin typeface="Cambria"/>
                <a:cs typeface="Cambria"/>
              </a:rPr>
              <a:t>implicitly </a:t>
            </a:r>
            <a:r>
              <a:rPr sz="2000" spc="95" dirty="0">
                <a:latin typeface="Cambria"/>
                <a:cs typeface="Cambria"/>
              </a:rPr>
              <a:t>i.e. </a:t>
            </a:r>
            <a:r>
              <a:rPr sz="2000" spc="-43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referred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by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super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reference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variable.</a:t>
            </a:r>
            <a:endParaRPr sz="2000">
              <a:latin typeface="Cambria"/>
              <a:cs typeface="Cambria"/>
            </a:endParaRPr>
          </a:p>
          <a:p>
            <a:pPr marL="285115" indent="-273050" algn="just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30" dirty="0">
                <a:latin typeface="Cambria"/>
                <a:cs typeface="Cambria"/>
              </a:rPr>
              <a:t>Usage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java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super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Keyword</a:t>
            </a:r>
            <a:endParaRPr sz="2000">
              <a:latin typeface="Cambria"/>
              <a:cs typeface="Cambria"/>
            </a:endParaRPr>
          </a:p>
          <a:p>
            <a:pPr marL="652780" marR="1057275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60" dirty="0">
                <a:latin typeface="Cambria"/>
                <a:cs typeface="Cambria"/>
              </a:rPr>
              <a:t>super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used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immediate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 </a:t>
            </a:r>
            <a:r>
              <a:rPr sz="2000" spc="-43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member(instance </a:t>
            </a:r>
            <a:r>
              <a:rPr sz="2000" spc="75" dirty="0">
                <a:latin typeface="Cambria"/>
                <a:cs typeface="Cambria"/>
              </a:rPr>
              <a:t>variable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254" dirty="0">
                <a:latin typeface="Cambria"/>
                <a:cs typeface="Cambria"/>
              </a:rPr>
              <a:t>&amp;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method).</a:t>
            </a:r>
            <a:endParaRPr sz="2000">
              <a:latin typeface="Cambria"/>
              <a:cs typeface="Cambria"/>
            </a:endParaRPr>
          </a:p>
          <a:p>
            <a:pPr marL="652780" marR="67691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5" dirty="0">
                <a:latin typeface="Cambria"/>
                <a:cs typeface="Cambria"/>
              </a:rPr>
              <a:t>super()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used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invoke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immediate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constructor.</a:t>
            </a:r>
            <a:endParaRPr sz="2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928242"/>
            <a:ext cx="76536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285" dirty="0"/>
              <a:t>SUPER</a:t>
            </a:r>
            <a:r>
              <a:rPr spc="265" dirty="0"/>
              <a:t> </a:t>
            </a:r>
            <a:r>
              <a:rPr sz="2800" spc="155" dirty="0"/>
              <a:t>–</a:t>
            </a:r>
            <a:r>
              <a:rPr sz="2800" spc="170" dirty="0"/>
              <a:t> </a:t>
            </a:r>
            <a:r>
              <a:rPr spc="210" dirty="0"/>
              <a:t>PARENT</a:t>
            </a:r>
            <a:r>
              <a:rPr sz="2800" spc="210" dirty="0"/>
              <a:t>’</a:t>
            </a:r>
            <a:r>
              <a:rPr spc="210" dirty="0"/>
              <a:t>S</a:t>
            </a:r>
            <a:r>
              <a:rPr spc="254" dirty="0"/>
              <a:t> </a:t>
            </a:r>
            <a:r>
              <a:rPr spc="260" dirty="0"/>
              <a:t>INSTANCE </a:t>
            </a:r>
            <a:r>
              <a:rPr spc="190" dirty="0"/>
              <a:t>VARIABLE</a:t>
            </a:r>
            <a:r>
              <a:rPr sz="2800" spc="190" dirty="0"/>
              <a:t>/</a:t>
            </a:r>
            <a:r>
              <a:rPr spc="190" dirty="0"/>
              <a:t>METHOD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535940" y="1476502"/>
            <a:ext cx="7217409" cy="1671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 </a:t>
            </a:r>
            <a:r>
              <a:rPr sz="2400" spc="70" dirty="0">
                <a:latin typeface="Cambria"/>
                <a:cs typeface="Cambria"/>
              </a:rPr>
              <a:t>super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keyword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also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used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to</a:t>
            </a:r>
            <a:endParaRPr sz="2400">
              <a:latin typeface="Cambria"/>
              <a:cs typeface="Cambria"/>
            </a:endParaRPr>
          </a:p>
          <a:p>
            <a:pPr marL="469900" marR="170815" lvl="1" indent="-273050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469265" algn="l"/>
                <a:tab pos="469900" algn="l"/>
              </a:tabLst>
            </a:pPr>
            <a:r>
              <a:rPr sz="2100" spc="60" dirty="0">
                <a:latin typeface="Cambria"/>
                <a:cs typeface="Cambria"/>
              </a:rPr>
              <a:t>Access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class’s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instance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if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child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110" dirty="0">
                <a:latin typeface="Cambria"/>
                <a:cs typeface="Cambria"/>
              </a:rPr>
              <a:t>has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an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instance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with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10" dirty="0">
                <a:latin typeface="Cambria"/>
                <a:cs typeface="Cambria"/>
              </a:rPr>
              <a:t>name.</a:t>
            </a:r>
            <a:endParaRPr sz="2100">
              <a:latin typeface="Cambria"/>
              <a:cs typeface="Cambria"/>
            </a:endParaRPr>
          </a:p>
          <a:p>
            <a:pPr marL="469900" marR="5080" lvl="1" indent="-273050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469265" algn="l"/>
                <a:tab pos="469900" algn="l"/>
              </a:tabLst>
            </a:pPr>
            <a:r>
              <a:rPr sz="2100" spc="60" dirty="0">
                <a:latin typeface="Cambria"/>
                <a:cs typeface="Cambria"/>
              </a:rPr>
              <a:t>invoke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class’s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method.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135" dirty="0">
                <a:latin typeface="Cambria"/>
                <a:cs typeface="Cambria"/>
              </a:rPr>
              <a:t>It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should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used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case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subclass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contains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0" dirty="0">
                <a:latin typeface="Cambria"/>
                <a:cs typeface="Cambria"/>
              </a:rPr>
              <a:t> as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class.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285" dirty="0"/>
              <a:t>SUPER</a:t>
            </a:r>
            <a:r>
              <a:rPr spc="265" dirty="0"/>
              <a:t> </a:t>
            </a:r>
            <a:r>
              <a:rPr sz="2800" spc="155" dirty="0"/>
              <a:t>–</a:t>
            </a:r>
            <a:r>
              <a:rPr sz="2800" spc="170" dirty="0"/>
              <a:t> </a:t>
            </a:r>
            <a:r>
              <a:rPr spc="210" dirty="0"/>
              <a:t>PARENT</a:t>
            </a:r>
            <a:r>
              <a:rPr sz="2800" spc="210" dirty="0"/>
              <a:t>’</a:t>
            </a:r>
            <a:r>
              <a:rPr spc="210" dirty="0"/>
              <a:t>S</a:t>
            </a:r>
            <a:r>
              <a:rPr spc="254" dirty="0"/>
              <a:t> </a:t>
            </a:r>
            <a:r>
              <a:rPr spc="260" dirty="0"/>
              <a:t>INSTANCE </a:t>
            </a:r>
            <a:r>
              <a:rPr spc="190" dirty="0"/>
              <a:t>VARIABLE</a:t>
            </a:r>
            <a:r>
              <a:rPr sz="2800" spc="190" dirty="0"/>
              <a:t>/</a:t>
            </a:r>
            <a:r>
              <a:rPr spc="190" dirty="0"/>
              <a:t>METHOD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535940" y="1325626"/>
            <a:ext cx="7925434" cy="5520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6850" marR="6363970" indent="-184785">
              <a:lnSpc>
                <a:spcPct val="100000"/>
              </a:lnSpc>
              <a:spcBef>
                <a:spcPts val="100"/>
              </a:spcBef>
            </a:pP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70" dirty="0">
                <a:latin typeface="Cambria"/>
                <a:cs typeface="Cambria"/>
              </a:rPr>
              <a:t>Parent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80" dirty="0">
                <a:latin typeface="Cambria"/>
                <a:cs typeface="Cambria"/>
              </a:rPr>
              <a:t> </a:t>
            </a:r>
            <a:r>
              <a:rPr sz="1500" spc="80" dirty="0">
                <a:latin typeface="Cambria"/>
                <a:cs typeface="Cambria"/>
              </a:rPr>
              <a:t>String </a:t>
            </a:r>
            <a:r>
              <a:rPr sz="1500" spc="60" dirty="0">
                <a:latin typeface="Cambria"/>
                <a:cs typeface="Cambria"/>
              </a:rPr>
              <a:t>name; 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4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message(){</a:t>
            </a:r>
            <a:endParaRPr sz="15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</a:t>
            </a:r>
            <a:r>
              <a:rPr sz="1500" i="1" spc="55" dirty="0">
                <a:latin typeface="Cambria"/>
                <a:cs typeface="Cambria"/>
              </a:rPr>
              <a:t>out.println("Welcome</a:t>
            </a:r>
            <a:r>
              <a:rPr sz="1500" i="1" spc="40" dirty="0">
                <a:latin typeface="Cambria"/>
                <a:cs typeface="Cambria"/>
              </a:rPr>
              <a:t> </a:t>
            </a:r>
            <a:r>
              <a:rPr sz="1500" i="1" spc="-5" dirty="0">
                <a:latin typeface="Cambria"/>
                <a:cs typeface="Cambria"/>
              </a:rPr>
              <a:t>to</a:t>
            </a:r>
            <a:r>
              <a:rPr sz="1500" i="1" spc="80" dirty="0">
                <a:latin typeface="Cambria"/>
                <a:cs typeface="Cambria"/>
              </a:rPr>
              <a:t> </a:t>
            </a:r>
            <a:r>
              <a:rPr sz="1500" i="1" spc="60" dirty="0">
                <a:latin typeface="Cambria"/>
                <a:cs typeface="Cambria"/>
              </a:rPr>
              <a:t>Parent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50" dirty="0">
                <a:latin typeface="Cambria"/>
                <a:cs typeface="Cambria"/>
              </a:rPr>
              <a:t>class.");</a:t>
            </a:r>
            <a:r>
              <a:rPr sz="1500" i="1" spc="12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 marR="3849370">
              <a:lnSpc>
                <a:spcPct val="100000"/>
              </a:lnSpc>
            </a:pP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55" dirty="0">
                <a:latin typeface="Cambria"/>
                <a:cs typeface="Cambria"/>
              </a:rPr>
              <a:t>C</a:t>
            </a:r>
            <a:r>
              <a:rPr sz="1500" spc="110" dirty="0">
                <a:latin typeface="Cambria"/>
                <a:cs typeface="Cambria"/>
              </a:rPr>
              <a:t>r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subc</a:t>
            </a:r>
            <a:r>
              <a:rPr sz="1500" spc="15" dirty="0">
                <a:latin typeface="Cambria"/>
                <a:cs typeface="Cambria"/>
              </a:rPr>
              <a:t>l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45" dirty="0">
                <a:latin typeface="Cambria"/>
                <a:cs typeface="Cambria"/>
              </a:rPr>
              <a:t>ss</a:t>
            </a:r>
            <a:r>
              <a:rPr sz="1500" spc="10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b</a:t>
            </a:r>
            <a:r>
              <a:rPr sz="1500" spc="45" dirty="0">
                <a:latin typeface="Cambria"/>
                <a:cs typeface="Cambria"/>
              </a:rPr>
              <a:t>y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45" dirty="0">
                <a:latin typeface="Cambria"/>
                <a:cs typeface="Cambria"/>
              </a:rPr>
              <a:t>xt</a:t>
            </a:r>
            <a:r>
              <a:rPr sz="1500" spc="70" dirty="0">
                <a:latin typeface="Cambria"/>
                <a:cs typeface="Cambria"/>
              </a:rPr>
              <a:t>en</a:t>
            </a:r>
            <a:r>
              <a:rPr sz="1500" spc="40" dirty="0">
                <a:latin typeface="Cambria"/>
                <a:cs typeface="Cambria"/>
              </a:rPr>
              <a:t>di</a:t>
            </a:r>
            <a:r>
              <a:rPr sz="1500" spc="55" dirty="0">
                <a:latin typeface="Cambria"/>
                <a:cs typeface="Cambria"/>
              </a:rPr>
              <a:t>n</a:t>
            </a:r>
            <a:r>
              <a:rPr sz="1500" spc="60" dirty="0">
                <a:latin typeface="Cambria"/>
                <a:cs typeface="Cambria"/>
              </a:rPr>
              <a:t>g </a:t>
            </a:r>
            <a:r>
              <a:rPr sz="1500" spc="-10" dirty="0">
                <a:latin typeface="Cambria"/>
                <a:cs typeface="Cambria"/>
              </a:rPr>
              <a:t>c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45" dirty="0">
                <a:latin typeface="Cambria"/>
                <a:cs typeface="Cambria"/>
              </a:rPr>
              <a:t>ss</a:t>
            </a:r>
            <a:r>
              <a:rPr sz="1500" spc="10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</a:t>
            </a:r>
            <a:r>
              <a:rPr sz="1500" spc="65" dirty="0">
                <a:latin typeface="Cambria"/>
                <a:cs typeface="Cambria"/>
              </a:rPr>
              <a:t>a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10" dirty="0">
                <a:latin typeface="Cambria"/>
                <a:cs typeface="Cambria"/>
              </a:rPr>
              <a:t>.  </a:t>
            </a: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90" dirty="0">
                <a:latin typeface="Cambria"/>
                <a:cs typeface="Cambria"/>
              </a:rPr>
              <a:t>Child</a:t>
            </a:r>
            <a:r>
              <a:rPr sz="1500" spc="10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extends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0" dirty="0">
                <a:latin typeface="Cambria"/>
                <a:cs typeface="Cambria"/>
              </a:rPr>
              <a:t>Parent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  <a:spcBef>
                <a:spcPts val="5"/>
              </a:spcBef>
            </a:pPr>
            <a:r>
              <a:rPr sz="1500" spc="80" dirty="0">
                <a:latin typeface="Cambria"/>
                <a:cs typeface="Cambria"/>
              </a:rPr>
              <a:t>String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name;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-31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this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70" dirty="0">
                <a:latin typeface="Cambria"/>
                <a:cs typeface="Cambria"/>
              </a:rPr>
              <a:t>name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hides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the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name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in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Parent</a:t>
            </a:r>
            <a:endParaRPr sz="1500">
              <a:latin typeface="Cambria"/>
              <a:cs typeface="Cambria"/>
            </a:endParaRPr>
          </a:p>
          <a:p>
            <a:pPr marL="561340" marR="4828540" indent="-365125" algn="just">
              <a:lnSpc>
                <a:spcPct val="100000"/>
              </a:lnSpc>
              <a:spcBef>
                <a:spcPts val="1200"/>
              </a:spcBef>
            </a:pPr>
            <a:r>
              <a:rPr sz="1500" spc="35" dirty="0">
                <a:latin typeface="Cambria"/>
                <a:cs typeface="Cambria"/>
              </a:rPr>
              <a:t>public </a:t>
            </a:r>
            <a:r>
              <a:rPr sz="1500" spc="70" dirty="0">
                <a:latin typeface="Cambria"/>
                <a:cs typeface="Cambria"/>
              </a:rPr>
              <a:t>Child(String </a:t>
            </a:r>
            <a:r>
              <a:rPr sz="1500" spc="105" dirty="0">
                <a:latin typeface="Cambria"/>
                <a:cs typeface="Cambria"/>
              </a:rPr>
              <a:t>a, </a:t>
            </a:r>
            <a:r>
              <a:rPr sz="1500" spc="80" dirty="0">
                <a:latin typeface="Cambria"/>
                <a:cs typeface="Cambria"/>
              </a:rPr>
              <a:t>String </a:t>
            </a:r>
            <a:r>
              <a:rPr sz="1500" spc="-30" dirty="0">
                <a:latin typeface="Cambria"/>
                <a:cs typeface="Cambria"/>
              </a:rPr>
              <a:t>b)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80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supe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95" dirty="0">
                <a:latin typeface="Cambria"/>
                <a:cs typeface="Cambria"/>
              </a:rPr>
              <a:t>.na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20" dirty="0">
                <a:latin typeface="Cambria"/>
                <a:cs typeface="Cambria"/>
              </a:rPr>
              <a:t>;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i</a:t>
            </a:r>
            <a:r>
              <a:rPr sz="1500" spc="75" dirty="0">
                <a:latin typeface="Cambria"/>
                <a:cs typeface="Cambria"/>
              </a:rPr>
              <a:t>n</a:t>
            </a:r>
            <a:r>
              <a:rPr sz="1500" spc="80" dirty="0">
                <a:latin typeface="Cambria"/>
                <a:cs typeface="Cambria"/>
              </a:rPr>
              <a:t> A  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b</a:t>
            </a:r>
            <a:r>
              <a:rPr sz="1500" spc="20" dirty="0">
                <a:latin typeface="Cambria"/>
                <a:cs typeface="Cambria"/>
              </a:rPr>
              <a:t>;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n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i</a:t>
            </a:r>
            <a:r>
              <a:rPr sz="1500" spc="75" dirty="0">
                <a:latin typeface="Cambria"/>
                <a:cs typeface="Cambria"/>
              </a:rPr>
              <a:t>n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165" dirty="0">
                <a:latin typeface="Cambria"/>
                <a:cs typeface="Cambria"/>
              </a:rPr>
              <a:t>B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</a:pP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50" dirty="0">
                <a:latin typeface="Cambria"/>
                <a:cs typeface="Cambria"/>
              </a:rPr>
              <a:t> </a:t>
            </a:r>
            <a:r>
              <a:rPr sz="1500" spc="-10" dirty="0">
                <a:latin typeface="Cambria"/>
                <a:cs typeface="Cambria"/>
              </a:rPr>
              <a:t>show()</a:t>
            </a:r>
            <a:r>
              <a:rPr sz="1500" spc="4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</a:pPr>
            <a:r>
              <a:rPr sz="1500" spc="60" dirty="0">
                <a:latin typeface="Cambria"/>
                <a:cs typeface="Cambria"/>
              </a:rPr>
              <a:t>System.</a:t>
            </a:r>
            <a:r>
              <a:rPr sz="1500" i="1" spc="60" dirty="0">
                <a:latin typeface="Cambria"/>
                <a:cs typeface="Cambria"/>
              </a:rPr>
              <a:t>out.println("superclass’s</a:t>
            </a:r>
            <a:r>
              <a:rPr sz="1500" i="1" spc="40" dirty="0">
                <a:latin typeface="Cambria"/>
                <a:cs typeface="Cambria"/>
              </a:rPr>
              <a:t> </a:t>
            </a:r>
            <a:r>
              <a:rPr sz="1500" i="1" spc="60" dirty="0">
                <a:latin typeface="Cambria"/>
                <a:cs typeface="Cambria"/>
              </a:rPr>
              <a:t>name:</a:t>
            </a:r>
            <a:r>
              <a:rPr sz="1500" i="1" spc="100" dirty="0">
                <a:latin typeface="Cambria"/>
                <a:cs typeface="Cambria"/>
              </a:rPr>
              <a:t> </a:t>
            </a:r>
            <a:r>
              <a:rPr sz="1500" i="1" spc="15" dirty="0">
                <a:latin typeface="Cambria"/>
                <a:cs typeface="Cambria"/>
              </a:rPr>
              <a:t>"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114" dirty="0">
                <a:latin typeface="Cambria"/>
                <a:cs typeface="Cambria"/>
              </a:rPr>
              <a:t>+</a:t>
            </a:r>
            <a:r>
              <a:rPr sz="1500" i="1" spc="90" dirty="0">
                <a:latin typeface="Cambria"/>
                <a:cs typeface="Cambria"/>
              </a:rPr>
              <a:t> </a:t>
            </a:r>
            <a:r>
              <a:rPr sz="1500" i="1" spc="65" dirty="0">
                <a:latin typeface="Cambria"/>
                <a:cs typeface="Cambria"/>
              </a:rPr>
              <a:t>super.name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114" dirty="0">
                <a:latin typeface="Cambria"/>
                <a:cs typeface="Cambria"/>
              </a:rPr>
              <a:t>+</a:t>
            </a:r>
            <a:r>
              <a:rPr sz="1500" i="1" spc="100" dirty="0">
                <a:latin typeface="Cambria"/>
                <a:cs typeface="Cambria"/>
              </a:rPr>
              <a:t> </a:t>
            </a:r>
            <a:r>
              <a:rPr sz="1500" i="1" spc="20" dirty="0">
                <a:latin typeface="Cambria"/>
                <a:cs typeface="Cambria"/>
              </a:rPr>
              <a:t>";</a:t>
            </a:r>
            <a:r>
              <a:rPr sz="1500" i="1" spc="90" dirty="0">
                <a:latin typeface="Cambria"/>
                <a:cs typeface="Cambria"/>
              </a:rPr>
              <a:t> </a:t>
            </a:r>
            <a:r>
              <a:rPr sz="1500" i="1" spc="65" dirty="0">
                <a:latin typeface="Cambria"/>
                <a:cs typeface="Cambria"/>
              </a:rPr>
              <a:t>subclass’s </a:t>
            </a:r>
            <a:r>
              <a:rPr sz="1500" i="1" spc="60" dirty="0">
                <a:latin typeface="Cambria"/>
                <a:cs typeface="Cambria"/>
              </a:rPr>
              <a:t>name:</a:t>
            </a:r>
            <a:r>
              <a:rPr sz="1500" i="1" spc="100" dirty="0">
                <a:latin typeface="Cambria"/>
                <a:cs typeface="Cambria"/>
              </a:rPr>
              <a:t> </a:t>
            </a:r>
            <a:r>
              <a:rPr sz="1500" i="1" spc="15" dirty="0">
                <a:latin typeface="Cambria"/>
                <a:cs typeface="Cambria"/>
              </a:rPr>
              <a:t>"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114" dirty="0">
                <a:latin typeface="Cambria"/>
                <a:cs typeface="Cambria"/>
              </a:rPr>
              <a:t>+</a:t>
            </a:r>
            <a:r>
              <a:rPr sz="1500" i="1" spc="85" dirty="0">
                <a:latin typeface="Cambria"/>
                <a:cs typeface="Cambria"/>
              </a:rPr>
              <a:t> </a:t>
            </a:r>
            <a:r>
              <a:rPr sz="1500" i="1" spc="40" dirty="0">
                <a:latin typeface="Cambria"/>
                <a:cs typeface="Cambria"/>
              </a:rPr>
              <a:t>name); </a:t>
            </a:r>
            <a:r>
              <a:rPr sz="1500" i="1" spc="17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96850" marR="5995670">
              <a:lnSpc>
                <a:spcPct val="100000"/>
              </a:lnSpc>
              <a:spcBef>
                <a:spcPts val="1260"/>
              </a:spcBef>
            </a:pPr>
            <a:r>
              <a:rPr sz="1500" spc="-50" dirty="0">
                <a:latin typeface="Cambria"/>
                <a:cs typeface="Cambria"/>
              </a:rPr>
              <a:t>//method</a:t>
            </a:r>
            <a:r>
              <a:rPr sz="1500" spc="10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overriding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message(){</a:t>
            </a:r>
            <a:endParaRPr sz="15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</a:t>
            </a:r>
            <a:r>
              <a:rPr sz="1500" i="1" spc="55" dirty="0">
                <a:latin typeface="Cambria"/>
                <a:cs typeface="Cambria"/>
              </a:rPr>
              <a:t>out.println("Welcome</a:t>
            </a:r>
            <a:r>
              <a:rPr sz="1500" i="1" spc="40" dirty="0">
                <a:latin typeface="Cambria"/>
                <a:cs typeface="Cambria"/>
              </a:rPr>
              <a:t> </a:t>
            </a:r>
            <a:r>
              <a:rPr sz="1500" i="1" spc="-5" dirty="0">
                <a:latin typeface="Cambria"/>
                <a:cs typeface="Cambria"/>
              </a:rPr>
              <a:t>to</a:t>
            </a:r>
            <a:r>
              <a:rPr sz="1500" i="1" spc="75" dirty="0">
                <a:latin typeface="Cambria"/>
                <a:cs typeface="Cambria"/>
              </a:rPr>
              <a:t> </a:t>
            </a:r>
            <a:r>
              <a:rPr sz="1500" i="1" spc="140" dirty="0">
                <a:latin typeface="Cambria"/>
                <a:cs typeface="Cambria"/>
              </a:rPr>
              <a:t>Child</a:t>
            </a:r>
            <a:r>
              <a:rPr sz="1500" i="1" spc="70" dirty="0">
                <a:latin typeface="Cambria"/>
                <a:cs typeface="Cambria"/>
              </a:rPr>
              <a:t> </a:t>
            </a:r>
            <a:r>
              <a:rPr sz="1500" i="1" spc="50" dirty="0">
                <a:latin typeface="Cambria"/>
                <a:cs typeface="Cambria"/>
              </a:rPr>
              <a:t>class.");</a:t>
            </a:r>
            <a:r>
              <a:rPr sz="1500" i="1" spc="12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  <a:spcBef>
                <a:spcPts val="1205"/>
              </a:spcBef>
            </a:pP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5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display(){</a:t>
            </a:r>
            <a:endParaRPr sz="1500">
              <a:latin typeface="Cambria"/>
              <a:cs typeface="Cambria"/>
            </a:endParaRPr>
          </a:p>
          <a:p>
            <a:pPr marL="561340" marR="2058035">
              <a:lnSpc>
                <a:spcPct val="100000"/>
              </a:lnSpc>
            </a:pPr>
            <a:r>
              <a:rPr sz="1500" spc="-15" dirty="0">
                <a:latin typeface="Cambria"/>
                <a:cs typeface="Cambria"/>
              </a:rPr>
              <a:t>message();//will</a:t>
            </a:r>
            <a:r>
              <a:rPr sz="1500" spc="60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invoke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45" dirty="0">
                <a:latin typeface="Cambria"/>
                <a:cs typeface="Cambria"/>
              </a:rPr>
              <a:t>current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105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message()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method </a:t>
            </a:r>
            <a:r>
              <a:rPr sz="1500" spc="45" dirty="0">
                <a:latin typeface="Cambria"/>
                <a:cs typeface="Cambria"/>
              </a:rPr>
              <a:t> </a:t>
            </a:r>
            <a:r>
              <a:rPr sz="1500" spc="5" dirty="0">
                <a:latin typeface="Cambria"/>
                <a:cs typeface="Cambria"/>
              </a:rPr>
              <a:t>super.message();//will</a:t>
            </a:r>
            <a:r>
              <a:rPr sz="1500" spc="55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invoke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parent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message()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method</a:t>
            </a:r>
            <a:endParaRPr sz="1500">
              <a:latin typeface="Cambria"/>
              <a:cs typeface="Cambria"/>
            </a:endParaRPr>
          </a:p>
          <a:p>
            <a:pPr marL="19685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1584477"/>
            <a:ext cx="4712970" cy="3412490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84"/>
              </a:spcBef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TestSuper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744220" marR="436245" indent="-364490">
              <a:lnSpc>
                <a:spcPts val="2310"/>
              </a:lnSpc>
              <a:spcBef>
                <a:spcPts val="135"/>
              </a:spcBef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static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void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main(String[]</a:t>
            </a:r>
            <a:r>
              <a:rPr sz="1600" spc="155" dirty="0">
                <a:latin typeface="Cambria"/>
                <a:cs typeface="Cambria"/>
              </a:rPr>
              <a:t> </a:t>
            </a:r>
            <a:r>
              <a:rPr sz="1600" spc="35" dirty="0">
                <a:latin typeface="Cambria"/>
                <a:cs typeface="Cambria"/>
              </a:rPr>
              <a:t>args)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 </a:t>
            </a:r>
            <a:r>
              <a:rPr sz="1600" spc="-85" dirty="0">
                <a:latin typeface="Cambria"/>
                <a:cs typeface="Cambria"/>
              </a:rPr>
              <a:t> </a:t>
            </a:r>
            <a:r>
              <a:rPr sz="1600" spc="95" dirty="0">
                <a:latin typeface="Cambria"/>
                <a:cs typeface="Cambria"/>
              </a:rPr>
              <a:t>Child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s=new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65" dirty="0">
                <a:latin typeface="Cambria"/>
                <a:cs typeface="Cambria"/>
              </a:rPr>
              <a:t>Child("Parent",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"Child"); </a:t>
            </a:r>
            <a:r>
              <a:rPr sz="1600" spc="-335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s.show();</a:t>
            </a:r>
            <a:endParaRPr sz="16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229"/>
              </a:spcBef>
            </a:pPr>
            <a:r>
              <a:rPr sz="1600" spc="30" dirty="0">
                <a:latin typeface="Cambria"/>
                <a:cs typeface="Cambria"/>
              </a:rPr>
              <a:t>s.display();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38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9444"/>
              <a:buFont typeface="Wingdings"/>
              <a:buChar char=""/>
              <a:tabLst>
                <a:tab pos="285115" algn="l"/>
                <a:tab pos="285750" algn="l"/>
              </a:tabLst>
            </a:pPr>
            <a:r>
              <a:rPr sz="1800" spc="95" dirty="0">
                <a:latin typeface="Cambria"/>
                <a:cs typeface="Cambria"/>
              </a:rPr>
              <a:t>Output:</a:t>
            </a:r>
            <a:endParaRPr sz="1800">
              <a:latin typeface="Cambria"/>
              <a:cs typeface="Cambria"/>
            </a:endParaRPr>
          </a:p>
          <a:p>
            <a:pPr marL="12700" marR="5080">
              <a:lnSpc>
                <a:spcPts val="2520"/>
              </a:lnSpc>
              <a:spcBef>
                <a:spcPts val="180"/>
              </a:spcBef>
            </a:pPr>
            <a:r>
              <a:rPr sz="1600" spc="40" dirty="0">
                <a:latin typeface="Cambria"/>
                <a:cs typeface="Cambria"/>
              </a:rPr>
              <a:t>superclass's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name: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Parent;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subclass's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name: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95" dirty="0">
                <a:latin typeface="Cambria"/>
                <a:cs typeface="Cambria"/>
              </a:rPr>
              <a:t>Child </a:t>
            </a:r>
            <a:r>
              <a:rPr sz="1600" spc="-335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Welcome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to</a:t>
            </a:r>
            <a:r>
              <a:rPr sz="1600" spc="95" dirty="0">
                <a:latin typeface="Cambria"/>
                <a:cs typeface="Cambria"/>
              </a:rPr>
              <a:t> Child </a:t>
            </a:r>
            <a:r>
              <a:rPr sz="1600" spc="65" dirty="0">
                <a:latin typeface="Cambria"/>
                <a:cs typeface="Cambria"/>
              </a:rPr>
              <a:t>class.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420"/>
              </a:spcBef>
            </a:pPr>
            <a:r>
              <a:rPr sz="1600" spc="30" dirty="0">
                <a:latin typeface="Cambria"/>
                <a:cs typeface="Cambria"/>
              </a:rPr>
              <a:t>Welcome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to</a:t>
            </a:r>
            <a:r>
              <a:rPr sz="1600" spc="80" dirty="0">
                <a:latin typeface="Cambria"/>
                <a:cs typeface="Cambria"/>
              </a:rPr>
              <a:t> Parent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65" dirty="0">
                <a:latin typeface="Cambria"/>
                <a:cs typeface="Cambria"/>
              </a:rPr>
              <a:t>class.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5940" y="928242"/>
            <a:ext cx="76536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285" dirty="0"/>
              <a:t>SUPER</a:t>
            </a:r>
            <a:r>
              <a:rPr spc="265" dirty="0"/>
              <a:t> </a:t>
            </a:r>
            <a:r>
              <a:rPr sz="2800" spc="155" dirty="0"/>
              <a:t>–</a:t>
            </a:r>
            <a:r>
              <a:rPr sz="2800" spc="170" dirty="0"/>
              <a:t> </a:t>
            </a:r>
            <a:r>
              <a:rPr spc="210" dirty="0"/>
              <a:t>PARENT</a:t>
            </a:r>
            <a:r>
              <a:rPr sz="2800" spc="210" dirty="0"/>
              <a:t>’</a:t>
            </a:r>
            <a:r>
              <a:rPr spc="210" dirty="0"/>
              <a:t>S</a:t>
            </a:r>
            <a:r>
              <a:rPr spc="254" dirty="0"/>
              <a:t> </a:t>
            </a:r>
            <a:r>
              <a:rPr spc="260" dirty="0"/>
              <a:t>INSTANCE </a:t>
            </a:r>
            <a:r>
              <a:rPr spc="190" dirty="0"/>
              <a:t>VARIABLE</a:t>
            </a:r>
            <a:r>
              <a:rPr sz="2800" spc="190" dirty="0"/>
              <a:t>/</a:t>
            </a:r>
            <a:r>
              <a:rPr spc="190" dirty="0"/>
              <a:t>METHOD</a:t>
            </a:r>
            <a:endParaRPr sz="2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67575" cy="757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super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keyword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also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used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invoke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5" dirty="0">
                <a:latin typeface="Cambria"/>
                <a:cs typeface="Cambria"/>
              </a:rPr>
              <a:t>parent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given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below: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3224" y="2804286"/>
            <a:ext cx="47612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295650" algn="ctr">
              <a:lnSpc>
                <a:spcPct val="100000"/>
              </a:lnSpc>
              <a:spcBef>
                <a:spcPts val="9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5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R="3284854" algn="ctr">
              <a:lnSpc>
                <a:spcPct val="100000"/>
              </a:lnSpc>
            </a:pPr>
            <a:r>
              <a:rPr sz="1600" spc="15" dirty="0">
                <a:latin typeface="Cambria"/>
                <a:cs typeface="Cambria"/>
              </a:rPr>
              <a:t>Vehicle(){</a:t>
            </a:r>
            <a:endParaRPr sz="1600">
              <a:latin typeface="Cambria"/>
              <a:cs typeface="Cambria"/>
            </a:endParaRPr>
          </a:p>
          <a:p>
            <a:pPr marL="546735" algn="ctr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out.println("Vehicle</a:t>
            </a:r>
            <a:r>
              <a:rPr sz="1600" b="1" i="1" spc="185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5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R="4110990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R="4660265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3224" y="4267657"/>
            <a:ext cx="5533390" cy="221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</a:t>
            </a:r>
            <a:r>
              <a:rPr sz="1600" b="1" spc="10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</a:pPr>
            <a:r>
              <a:rPr sz="1600" b="1" spc="45" dirty="0">
                <a:latin typeface="Cambria"/>
                <a:cs typeface="Cambria"/>
              </a:rPr>
              <a:t>super();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-65" dirty="0">
                <a:latin typeface="Cambria"/>
                <a:cs typeface="Cambria"/>
              </a:rPr>
              <a:t>//will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invoke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114" dirty="0">
                <a:latin typeface="Cambria"/>
                <a:cs typeface="Cambria"/>
              </a:rPr>
              <a:t>Parent</a:t>
            </a:r>
            <a:r>
              <a:rPr sz="1600" b="1" spc="145" dirty="0">
                <a:latin typeface="Cambria"/>
                <a:cs typeface="Cambria"/>
              </a:rPr>
              <a:t> </a:t>
            </a:r>
            <a:r>
              <a:rPr sz="1600" b="1" spc="65" dirty="0">
                <a:latin typeface="Cambria"/>
                <a:cs typeface="Cambria"/>
              </a:rPr>
              <a:t>class's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constructor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out.println("Bike</a:t>
            </a:r>
            <a:r>
              <a:rPr sz="1600" b="1" i="1" spc="17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0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  <a:spcBef>
                <a:spcPts val="5"/>
              </a:spcBef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100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main(String[]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60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B2AB7D5-FCAA-B264-BD4B-45B3C8846DB5}"/>
              </a:ext>
            </a:extLst>
          </p:cNvPr>
          <p:cNvSpPr txBox="1"/>
          <p:nvPr/>
        </p:nvSpPr>
        <p:spPr>
          <a:xfrm>
            <a:off x="6629400" y="3146425"/>
            <a:ext cx="1847850" cy="892175"/>
          </a:xfrm>
          <a:prstGeom prst="rect">
            <a:avLst/>
          </a:prstGeom>
          <a:solidFill>
            <a:srgbClr val="FDB686"/>
          </a:solidFill>
        </p:spPr>
        <p:txBody>
          <a:bodyPr vert="horz" wrap="square" lIns="0" tIns="3937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10"/>
              </a:spcBef>
            </a:pPr>
            <a:r>
              <a:rPr sz="2000" dirty="0">
                <a:latin typeface="Arial MT"/>
                <a:cs typeface="Arial MT"/>
              </a:rPr>
              <a:t>Output</a:t>
            </a:r>
            <a:r>
              <a:rPr sz="180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  <a:p>
            <a:pPr marL="92075" marR="158750">
              <a:lnSpc>
                <a:spcPct val="100000"/>
              </a:lnSpc>
              <a:spcBef>
                <a:spcPts val="15"/>
              </a:spcBef>
            </a:pPr>
            <a:r>
              <a:rPr sz="1600" spc="-15" dirty="0">
                <a:latin typeface="Arial MT"/>
                <a:cs typeface="Arial MT"/>
              </a:rPr>
              <a:t>Vehicle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created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Bike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created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5975350" cy="4036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would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be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output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program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below:</a:t>
            </a:r>
            <a:endParaRPr sz="20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900" dirty="0">
              <a:latin typeface="Cambria"/>
              <a:cs typeface="Cambria"/>
            </a:endParaRPr>
          </a:p>
          <a:p>
            <a:pPr marR="3775075" algn="ctr">
              <a:lnSpc>
                <a:spcPct val="100000"/>
              </a:lnSpc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7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 dirty="0">
              <a:latin typeface="Cambria"/>
              <a:cs typeface="Cambria"/>
            </a:endParaRPr>
          </a:p>
          <a:p>
            <a:pPr marR="3763645" algn="ctr">
              <a:lnSpc>
                <a:spcPct val="100000"/>
              </a:lnSpc>
            </a:pPr>
            <a:r>
              <a:rPr sz="1600" spc="15" dirty="0">
                <a:latin typeface="Cambria"/>
                <a:cs typeface="Cambria"/>
              </a:rPr>
              <a:t>Vehicle(){</a:t>
            </a:r>
            <a:endParaRPr sz="1600" dirty="0">
              <a:latin typeface="Cambria"/>
              <a:cs typeface="Cambria"/>
            </a:endParaRPr>
          </a:p>
          <a:p>
            <a:pPr marL="67945" algn="ctr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out.println("Vehicle</a:t>
            </a:r>
            <a:r>
              <a:rPr sz="1600" b="1" i="1" spc="18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5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 dirty="0">
              <a:latin typeface="Cambria"/>
              <a:cs typeface="Cambria"/>
            </a:endParaRPr>
          </a:p>
          <a:p>
            <a:pPr marR="4589780" algn="ctr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  <a:p>
            <a:pPr marR="5139690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 dirty="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 dirty="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 dirty="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100" dirty="0">
                <a:latin typeface="Cambria"/>
                <a:cs typeface="Cambria"/>
              </a:rPr>
              <a:t>System.</a:t>
            </a:r>
            <a:r>
              <a:rPr sz="1600" b="1" i="1" spc="100" dirty="0">
                <a:latin typeface="Cambria"/>
                <a:cs typeface="Cambria"/>
              </a:rPr>
              <a:t>out.println("Bike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90" dirty="0">
                <a:latin typeface="Cambria"/>
                <a:cs typeface="Cambria"/>
              </a:rPr>
              <a:t> </a:t>
            </a:r>
            <a:r>
              <a:rPr sz="1600" b="1" i="1" spc="70" dirty="0">
                <a:latin typeface="Cambria"/>
                <a:cs typeface="Cambria"/>
              </a:rPr>
              <a:t>created.");</a:t>
            </a:r>
            <a:endParaRPr sz="1600" dirty="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 dirty="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 dirty="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 dirty="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597535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would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be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output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program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below: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3224" y="2225167"/>
            <a:ext cx="4761230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295650" algn="ctr">
              <a:lnSpc>
                <a:spcPct val="100000"/>
              </a:lnSpc>
              <a:spcBef>
                <a:spcPts val="9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5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R="3284854" algn="ctr">
              <a:lnSpc>
                <a:spcPct val="100000"/>
              </a:lnSpc>
            </a:pPr>
            <a:r>
              <a:rPr sz="1600" spc="15" dirty="0">
                <a:latin typeface="Cambria"/>
                <a:cs typeface="Cambria"/>
              </a:rPr>
              <a:t>Vehicle(){</a:t>
            </a:r>
            <a:endParaRPr sz="1600">
              <a:latin typeface="Cambria"/>
              <a:cs typeface="Cambria"/>
            </a:endParaRPr>
          </a:p>
          <a:p>
            <a:pPr marL="546735" algn="ctr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out.println("Vehicle</a:t>
            </a:r>
            <a:r>
              <a:rPr sz="1600" b="1" i="1" spc="185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5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R="4110990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R="4660265" algn="ctr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3224" y="3688460"/>
            <a:ext cx="4464050" cy="1976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  <a:spcBef>
                <a:spcPts val="5"/>
              </a:spcBef>
            </a:pPr>
            <a:r>
              <a:rPr sz="1600" spc="100" dirty="0">
                <a:latin typeface="Cambria"/>
                <a:cs typeface="Cambria"/>
              </a:rPr>
              <a:t>System.</a:t>
            </a:r>
            <a:r>
              <a:rPr sz="1600" b="1" i="1" spc="100" dirty="0">
                <a:latin typeface="Cambria"/>
                <a:cs typeface="Cambria"/>
              </a:rPr>
              <a:t>out.println("Bike</a:t>
            </a:r>
            <a:r>
              <a:rPr sz="1600" b="1" i="1" spc="114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80" dirty="0">
                <a:latin typeface="Cambria"/>
                <a:cs typeface="Cambria"/>
              </a:rPr>
              <a:t> </a:t>
            </a:r>
            <a:r>
              <a:rPr sz="1600" b="1" i="1" spc="70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559435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28702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03224" y="5883655"/>
            <a:ext cx="64668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120" dirty="0">
                <a:solidFill>
                  <a:srgbClr val="FF0000"/>
                </a:solidFill>
                <a:latin typeface="Cambria"/>
                <a:cs typeface="Cambria"/>
              </a:rPr>
              <a:t>If</a:t>
            </a:r>
            <a:r>
              <a:rPr sz="1600" b="1" spc="1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100" dirty="0">
                <a:solidFill>
                  <a:srgbClr val="FF0000"/>
                </a:solidFill>
                <a:latin typeface="Cambria"/>
                <a:cs typeface="Cambria"/>
              </a:rPr>
              <a:t>the</a:t>
            </a:r>
            <a:r>
              <a:rPr sz="1600" b="1" spc="13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5" dirty="0">
                <a:solidFill>
                  <a:srgbClr val="FF0000"/>
                </a:solidFill>
                <a:latin typeface="Cambria"/>
                <a:cs typeface="Cambria"/>
              </a:rPr>
              <a:t>constructor</a:t>
            </a:r>
            <a:r>
              <a:rPr sz="1600" b="1" spc="1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75" dirty="0">
                <a:solidFill>
                  <a:srgbClr val="FF0000"/>
                </a:solidFill>
                <a:latin typeface="Cambria"/>
                <a:cs typeface="Cambria"/>
              </a:rPr>
              <a:t>doesn’t</a:t>
            </a:r>
            <a:r>
              <a:rPr sz="1600" b="1" spc="13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105" dirty="0">
                <a:solidFill>
                  <a:srgbClr val="FF0000"/>
                </a:solidFill>
                <a:latin typeface="Cambria"/>
                <a:cs typeface="Cambria"/>
              </a:rPr>
              <a:t>have</a:t>
            </a:r>
            <a:r>
              <a:rPr sz="1600" b="1" spc="13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55" dirty="0">
                <a:solidFill>
                  <a:srgbClr val="FF0000"/>
                </a:solidFill>
                <a:latin typeface="Cambria"/>
                <a:cs typeface="Cambria"/>
              </a:rPr>
              <a:t>super(),</a:t>
            </a:r>
            <a:r>
              <a:rPr sz="1600" b="1" spc="13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85" dirty="0">
                <a:solidFill>
                  <a:srgbClr val="FF0000"/>
                </a:solidFill>
                <a:latin typeface="Cambria"/>
                <a:cs typeface="Cambria"/>
              </a:rPr>
              <a:t>compiler</a:t>
            </a:r>
            <a:r>
              <a:rPr sz="1600" b="1" spc="10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85" dirty="0">
                <a:solidFill>
                  <a:srgbClr val="FF0000"/>
                </a:solidFill>
                <a:latin typeface="Cambria"/>
                <a:cs typeface="Cambria"/>
              </a:rPr>
              <a:t>will</a:t>
            </a:r>
            <a:r>
              <a:rPr sz="1600" b="1" spc="114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0" dirty="0">
                <a:solidFill>
                  <a:srgbClr val="FF0000"/>
                </a:solidFill>
                <a:latin typeface="Cambria"/>
                <a:cs typeface="Cambria"/>
              </a:rPr>
              <a:t>provide </a:t>
            </a:r>
            <a:r>
              <a:rPr sz="1600" b="1" spc="-34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50" dirty="0">
                <a:solidFill>
                  <a:srgbClr val="FF0000"/>
                </a:solidFill>
                <a:latin typeface="Cambria"/>
                <a:cs typeface="Cambria"/>
              </a:rPr>
              <a:t>super()</a:t>
            </a:r>
            <a:r>
              <a:rPr sz="1600" b="1" spc="114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0" dirty="0">
                <a:solidFill>
                  <a:srgbClr val="FF0000"/>
                </a:solidFill>
                <a:latin typeface="Cambria"/>
                <a:cs typeface="Cambria"/>
              </a:rPr>
              <a:t>as</a:t>
            </a:r>
            <a:r>
              <a:rPr sz="1600" b="1" spc="114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100" dirty="0">
                <a:solidFill>
                  <a:srgbClr val="FF0000"/>
                </a:solidFill>
                <a:latin typeface="Cambria"/>
                <a:cs typeface="Cambria"/>
              </a:rPr>
              <a:t>the</a:t>
            </a:r>
            <a:r>
              <a:rPr sz="1600" b="1" spc="1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80" dirty="0">
                <a:solidFill>
                  <a:srgbClr val="FF0000"/>
                </a:solidFill>
                <a:latin typeface="Cambria"/>
                <a:cs typeface="Cambria"/>
              </a:rPr>
              <a:t>first</a:t>
            </a:r>
            <a:r>
              <a:rPr sz="1600" b="1" spc="114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0" dirty="0">
                <a:solidFill>
                  <a:srgbClr val="FF0000"/>
                </a:solidFill>
                <a:latin typeface="Cambria"/>
                <a:cs typeface="Cambria"/>
              </a:rPr>
              <a:t>statement</a:t>
            </a:r>
            <a:r>
              <a:rPr sz="1600" b="1" spc="15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80" dirty="0">
                <a:solidFill>
                  <a:srgbClr val="FF0000"/>
                </a:solidFill>
                <a:latin typeface="Cambria"/>
                <a:cs typeface="Cambria"/>
              </a:rPr>
              <a:t>of</a:t>
            </a:r>
            <a:r>
              <a:rPr sz="1600" b="1" spc="1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100" dirty="0">
                <a:solidFill>
                  <a:srgbClr val="FF0000"/>
                </a:solidFill>
                <a:latin typeface="Cambria"/>
                <a:cs typeface="Cambria"/>
              </a:rPr>
              <a:t>the</a:t>
            </a:r>
            <a:r>
              <a:rPr sz="1600" b="1" spc="13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1600" b="1" spc="90" dirty="0">
                <a:solidFill>
                  <a:srgbClr val="FF0000"/>
                </a:solidFill>
                <a:latin typeface="Cambria"/>
                <a:cs typeface="Cambria"/>
              </a:rPr>
              <a:t>constructor.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629400" y="3146425"/>
            <a:ext cx="1847850" cy="892175"/>
          </a:xfrm>
          <a:prstGeom prst="rect">
            <a:avLst/>
          </a:prstGeom>
          <a:solidFill>
            <a:srgbClr val="FDB686"/>
          </a:solidFill>
        </p:spPr>
        <p:txBody>
          <a:bodyPr vert="horz" wrap="square" lIns="0" tIns="3937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10"/>
              </a:spcBef>
            </a:pPr>
            <a:r>
              <a:rPr sz="2000" dirty="0">
                <a:latin typeface="Arial MT"/>
                <a:cs typeface="Arial MT"/>
              </a:rPr>
              <a:t>Output</a:t>
            </a:r>
            <a:r>
              <a:rPr sz="1800" dirty="0">
                <a:latin typeface="Arial MT"/>
                <a:cs typeface="Arial MT"/>
              </a:rPr>
              <a:t>:</a:t>
            </a:r>
            <a:endParaRPr sz="1800">
              <a:latin typeface="Arial MT"/>
              <a:cs typeface="Arial MT"/>
            </a:endParaRPr>
          </a:p>
          <a:p>
            <a:pPr marL="92075" marR="158750">
              <a:lnSpc>
                <a:spcPct val="100000"/>
              </a:lnSpc>
              <a:spcBef>
                <a:spcPts val="15"/>
              </a:spcBef>
            </a:pPr>
            <a:r>
              <a:rPr sz="1600" spc="-15" dirty="0">
                <a:latin typeface="Arial MT"/>
                <a:cs typeface="Arial MT"/>
              </a:rPr>
              <a:t>Vehicle</a:t>
            </a:r>
            <a:r>
              <a:rPr sz="1600" spc="-5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created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Bike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created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549713"/>
            <a:ext cx="7035165" cy="3477260"/>
          </a:xfrm>
          <a:prstGeom prst="rect">
            <a:avLst/>
          </a:prstGeom>
        </p:spPr>
        <p:txBody>
          <a:bodyPr vert="horz" wrap="square" lIns="0" tIns="90805" rIns="0" bIns="0" rtlCol="0">
            <a:spAutoFit/>
          </a:bodyPr>
          <a:lstStyle/>
          <a:p>
            <a:pPr marL="285115" indent="-273050" algn="just">
              <a:lnSpc>
                <a:spcPct val="100000"/>
              </a:lnSpc>
              <a:spcBef>
                <a:spcPts val="71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b="1" spc="140" dirty="0">
                <a:latin typeface="Cambria"/>
                <a:cs typeface="Cambria"/>
              </a:rPr>
              <a:t>Note:</a:t>
            </a:r>
            <a:endParaRPr sz="2400">
              <a:latin typeface="Cambria"/>
              <a:cs typeface="Cambria"/>
            </a:endParaRPr>
          </a:p>
          <a:p>
            <a:pPr marL="285115" marR="534670" indent="-273050" algn="just">
              <a:lnSpc>
                <a:spcPct val="100000"/>
              </a:lnSpc>
              <a:spcBef>
                <a:spcPts val="61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5" dirty="0">
                <a:latin typeface="Cambria"/>
                <a:cs typeface="Cambria"/>
              </a:rPr>
              <a:t>super() </a:t>
            </a:r>
            <a:r>
              <a:rPr sz="2400" spc="70" dirty="0">
                <a:latin typeface="Cambria"/>
                <a:cs typeface="Cambria"/>
              </a:rPr>
              <a:t>should </a:t>
            </a:r>
            <a:r>
              <a:rPr sz="2400" spc="20" dirty="0">
                <a:latin typeface="Cambria"/>
                <a:cs typeface="Cambria"/>
              </a:rPr>
              <a:t>be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85" dirty="0">
                <a:latin typeface="Cambria"/>
                <a:cs typeface="Cambria"/>
              </a:rPr>
              <a:t>first </a:t>
            </a:r>
            <a:r>
              <a:rPr sz="2400" spc="100" dirty="0">
                <a:latin typeface="Cambria"/>
                <a:cs typeface="Cambria"/>
              </a:rPr>
              <a:t>statement </a:t>
            </a:r>
            <a:r>
              <a:rPr sz="2400" spc="-5" dirty="0">
                <a:latin typeface="Cambria"/>
                <a:cs typeface="Cambria"/>
              </a:rPr>
              <a:t>of </a:t>
            </a:r>
            <a:r>
              <a:rPr sz="2400" spc="50" dirty="0">
                <a:latin typeface="Cambria"/>
                <a:cs typeface="Cambria"/>
              </a:rPr>
              <a:t>your </a:t>
            </a:r>
            <a:r>
              <a:rPr sz="2400" spc="55" dirty="0">
                <a:latin typeface="Cambria"/>
                <a:cs typeface="Cambria"/>
              </a:rPr>
              <a:t> constructor</a:t>
            </a:r>
            <a:endParaRPr sz="2400">
              <a:latin typeface="Cambria"/>
              <a:cs typeface="Cambria"/>
            </a:endParaRPr>
          </a:p>
          <a:p>
            <a:pPr marL="285115" marR="5080" indent="-273050" algn="just">
              <a:lnSpc>
                <a:spcPct val="100000"/>
              </a:lnSpc>
              <a:spcBef>
                <a:spcPts val="59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30" dirty="0">
                <a:latin typeface="Cambria"/>
                <a:cs typeface="Cambria"/>
              </a:rPr>
              <a:t>If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55" dirty="0">
                <a:latin typeface="Cambria"/>
                <a:cs typeface="Cambria"/>
              </a:rPr>
              <a:t>constructor </a:t>
            </a:r>
            <a:r>
              <a:rPr sz="2400" spc="35" dirty="0">
                <a:latin typeface="Cambria"/>
                <a:cs typeface="Cambria"/>
              </a:rPr>
              <a:t>doesn’t </a:t>
            </a:r>
            <a:r>
              <a:rPr sz="2400" spc="95" dirty="0">
                <a:latin typeface="Cambria"/>
                <a:cs typeface="Cambria"/>
              </a:rPr>
              <a:t>have </a:t>
            </a:r>
            <a:r>
              <a:rPr sz="2400" spc="30" dirty="0">
                <a:latin typeface="Cambria"/>
                <a:cs typeface="Cambria"/>
              </a:rPr>
              <a:t>super()</a:t>
            </a:r>
            <a:r>
              <a:rPr sz="2400" b="1" spc="30" dirty="0">
                <a:latin typeface="Cambria"/>
                <a:cs typeface="Cambria"/>
              </a:rPr>
              <a:t>, </a:t>
            </a:r>
            <a:r>
              <a:rPr sz="2400" spc="50" dirty="0">
                <a:latin typeface="Cambria"/>
                <a:cs typeface="Cambria"/>
              </a:rPr>
              <a:t>compiler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 </a:t>
            </a:r>
            <a:r>
              <a:rPr sz="2400" spc="35" dirty="0">
                <a:latin typeface="Cambria"/>
                <a:cs typeface="Cambria"/>
              </a:rPr>
              <a:t>provide </a:t>
            </a:r>
            <a:r>
              <a:rPr sz="2400" spc="15" dirty="0">
                <a:latin typeface="Cambria"/>
                <a:cs typeface="Cambria"/>
              </a:rPr>
              <a:t>super() </a:t>
            </a:r>
            <a:r>
              <a:rPr sz="2400" spc="114" dirty="0">
                <a:latin typeface="Cambria"/>
                <a:cs typeface="Cambria"/>
              </a:rPr>
              <a:t>as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85" dirty="0">
                <a:latin typeface="Cambria"/>
                <a:cs typeface="Cambria"/>
              </a:rPr>
              <a:t>first </a:t>
            </a:r>
            <a:r>
              <a:rPr sz="2400" spc="100" dirty="0">
                <a:latin typeface="Cambria"/>
                <a:cs typeface="Cambria"/>
              </a:rPr>
              <a:t>statement </a:t>
            </a:r>
            <a:r>
              <a:rPr sz="2400" spc="-5" dirty="0">
                <a:latin typeface="Cambria"/>
                <a:cs typeface="Cambria"/>
              </a:rPr>
              <a:t>of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constructor.</a:t>
            </a:r>
            <a:endParaRPr sz="2400">
              <a:latin typeface="Cambria"/>
              <a:cs typeface="Cambria"/>
            </a:endParaRPr>
          </a:p>
          <a:p>
            <a:pPr marL="652780" marR="233045" lvl="1" indent="-273685">
              <a:lnSpc>
                <a:spcPct val="100000"/>
              </a:lnSpc>
              <a:spcBef>
                <a:spcPts val="52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b="1" spc="160" dirty="0">
                <a:latin typeface="Cambria"/>
                <a:cs typeface="Cambria"/>
              </a:rPr>
              <a:t>It </a:t>
            </a:r>
            <a:r>
              <a:rPr sz="2100" b="1" spc="120" dirty="0">
                <a:latin typeface="Cambria"/>
                <a:cs typeface="Cambria"/>
              </a:rPr>
              <a:t>will </a:t>
            </a:r>
            <a:r>
              <a:rPr sz="2100" b="1" spc="125" dirty="0">
                <a:latin typeface="Cambria"/>
                <a:cs typeface="Cambria"/>
              </a:rPr>
              <a:t>only </a:t>
            </a:r>
            <a:r>
              <a:rPr sz="2100" b="1" spc="135" dirty="0">
                <a:latin typeface="Cambria"/>
                <a:cs typeface="Cambria"/>
              </a:rPr>
              <a:t>work </a:t>
            </a:r>
            <a:r>
              <a:rPr sz="2100" b="1" spc="155" dirty="0">
                <a:latin typeface="Cambria"/>
                <a:cs typeface="Cambria"/>
              </a:rPr>
              <a:t>when </a:t>
            </a:r>
            <a:r>
              <a:rPr sz="2100" b="1" spc="160" dirty="0">
                <a:latin typeface="Cambria"/>
                <a:cs typeface="Cambria"/>
              </a:rPr>
              <a:t>Parent </a:t>
            </a:r>
            <a:r>
              <a:rPr sz="2100" b="1" spc="140" dirty="0">
                <a:latin typeface="Cambria"/>
                <a:cs typeface="Cambria"/>
              </a:rPr>
              <a:t>has </a:t>
            </a:r>
            <a:r>
              <a:rPr sz="2100" b="1" spc="120" dirty="0">
                <a:latin typeface="Cambria"/>
                <a:cs typeface="Cambria"/>
              </a:rPr>
              <a:t>no </a:t>
            </a:r>
            <a:r>
              <a:rPr sz="2100" b="1" spc="125" dirty="0">
                <a:latin typeface="Cambria"/>
                <a:cs typeface="Cambria"/>
              </a:rPr>
              <a:t> </a:t>
            </a:r>
            <a:r>
              <a:rPr sz="2100" b="1" spc="130" dirty="0">
                <a:latin typeface="Cambria"/>
                <a:cs typeface="Cambria"/>
              </a:rPr>
              <a:t>constructor</a:t>
            </a:r>
            <a:r>
              <a:rPr sz="2100" b="1" spc="120" dirty="0">
                <a:latin typeface="Cambria"/>
                <a:cs typeface="Cambria"/>
              </a:rPr>
              <a:t> </a:t>
            </a:r>
            <a:r>
              <a:rPr sz="2100" b="1" spc="100" dirty="0">
                <a:latin typeface="Cambria"/>
                <a:cs typeface="Cambria"/>
              </a:rPr>
              <a:t>or</a:t>
            </a:r>
            <a:r>
              <a:rPr sz="2100" b="1" spc="140" dirty="0">
                <a:latin typeface="Cambria"/>
                <a:cs typeface="Cambria"/>
              </a:rPr>
              <a:t> </a:t>
            </a:r>
            <a:r>
              <a:rPr sz="2100" b="1" spc="155" dirty="0">
                <a:latin typeface="Cambria"/>
                <a:cs typeface="Cambria"/>
              </a:rPr>
              <a:t>a</a:t>
            </a:r>
            <a:r>
              <a:rPr sz="2100" b="1" spc="14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parameter</a:t>
            </a:r>
            <a:r>
              <a:rPr sz="2100" b="1" spc="114" dirty="0">
                <a:latin typeface="Cambria"/>
                <a:cs typeface="Cambria"/>
              </a:rPr>
              <a:t> </a:t>
            </a:r>
            <a:r>
              <a:rPr sz="2100" b="1" spc="85" dirty="0">
                <a:latin typeface="Cambria"/>
                <a:cs typeface="Cambria"/>
              </a:rPr>
              <a:t>less</a:t>
            </a:r>
            <a:r>
              <a:rPr sz="2100" b="1" spc="13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constructor. </a:t>
            </a:r>
            <a:r>
              <a:rPr sz="2100" b="1" spc="-445" dirty="0">
                <a:latin typeface="Cambria"/>
                <a:cs typeface="Cambria"/>
              </a:rPr>
              <a:t> </a:t>
            </a:r>
            <a:r>
              <a:rPr sz="2100" b="1" spc="165" dirty="0">
                <a:latin typeface="Cambria"/>
                <a:cs typeface="Cambria"/>
              </a:rPr>
              <a:t>See</a:t>
            </a:r>
            <a:r>
              <a:rPr sz="2100" b="1" spc="125" dirty="0">
                <a:latin typeface="Cambria"/>
                <a:cs typeface="Cambria"/>
              </a:rPr>
              <a:t> </a:t>
            </a:r>
            <a:r>
              <a:rPr sz="2100" b="1" spc="130" dirty="0">
                <a:latin typeface="Cambria"/>
                <a:cs typeface="Cambria"/>
              </a:rPr>
              <a:t>the</a:t>
            </a:r>
            <a:r>
              <a:rPr sz="2100" b="1" spc="120" dirty="0">
                <a:latin typeface="Cambria"/>
                <a:cs typeface="Cambria"/>
              </a:rPr>
              <a:t> </a:t>
            </a:r>
            <a:r>
              <a:rPr sz="2100" b="1" spc="135" dirty="0">
                <a:latin typeface="Cambria"/>
                <a:cs typeface="Cambria"/>
              </a:rPr>
              <a:t>next</a:t>
            </a:r>
            <a:r>
              <a:rPr sz="2100" b="1" spc="150" dirty="0">
                <a:latin typeface="Cambria"/>
                <a:cs typeface="Cambria"/>
              </a:rPr>
              <a:t> </a:t>
            </a:r>
            <a:r>
              <a:rPr sz="2100" b="1" spc="120" dirty="0">
                <a:latin typeface="Cambria"/>
                <a:cs typeface="Cambria"/>
              </a:rPr>
              <a:t>example.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282690" cy="42037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would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be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output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 </a:t>
            </a:r>
            <a:r>
              <a:rPr sz="2000" spc="60" dirty="0">
                <a:latin typeface="Cambria"/>
                <a:cs typeface="Cambria"/>
              </a:rPr>
              <a:t>program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below:</a:t>
            </a:r>
            <a:endParaRPr sz="20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168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7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60" dirty="0">
                <a:latin typeface="Cambria"/>
                <a:cs typeface="Cambria"/>
              </a:rPr>
              <a:t>Vehicle(String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name){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out.printf("Vehicle</a:t>
            </a:r>
            <a:r>
              <a:rPr sz="1600" b="1" i="1" spc="150" dirty="0">
                <a:latin typeface="Cambria"/>
                <a:cs typeface="Cambria"/>
              </a:rPr>
              <a:t> </a:t>
            </a:r>
            <a:r>
              <a:rPr sz="1600" b="1" i="1" spc="-40" dirty="0">
                <a:latin typeface="Cambria"/>
                <a:cs typeface="Cambria"/>
              </a:rPr>
              <a:t>%s</a:t>
            </a:r>
            <a:r>
              <a:rPr sz="1600" b="1" i="1" spc="114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1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created.\n",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80" dirty="0">
                <a:latin typeface="Cambria"/>
                <a:cs typeface="Cambria"/>
              </a:rPr>
              <a:t>name);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out.println("Bike</a:t>
            </a:r>
            <a:r>
              <a:rPr sz="1600" b="1" i="1" spc="17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0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831965" cy="4417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would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be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output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 </a:t>
            </a:r>
            <a:r>
              <a:rPr sz="2000" spc="60" dirty="0">
                <a:latin typeface="Cambria"/>
                <a:cs typeface="Cambria"/>
              </a:rPr>
              <a:t>program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below:</a:t>
            </a:r>
            <a:endParaRPr sz="20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168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7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60" dirty="0">
                <a:latin typeface="Cambria"/>
                <a:cs typeface="Cambria"/>
              </a:rPr>
              <a:t>Vehicle(String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name){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out.printf("Vehicle</a:t>
            </a:r>
            <a:r>
              <a:rPr sz="1600" b="1" i="1" spc="150" dirty="0">
                <a:latin typeface="Cambria"/>
                <a:cs typeface="Cambria"/>
              </a:rPr>
              <a:t> </a:t>
            </a:r>
            <a:r>
              <a:rPr sz="1600" b="1" i="1" spc="-40" dirty="0">
                <a:latin typeface="Cambria"/>
                <a:cs typeface="Cambria"/>
              </a:rPr>
              <a:t>%s</a:t>
            </a:r>
            <a:r>
              <a:rPr sz="1600" b="1" i="1" spc="12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1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created.\n",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80" dirty="0">
                <a:latin typeface="Cambria"/>
                <a:cs typeface="Cambria"/>
              </a:rPr>
              <a:t>name);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 marR="5080">
              <a:lnSpc>
                <a:spcPct val="100000"/>
              </a:lnSpc>
            </a:pPr>
            <a:r>
              <a:rPr sz="1600" u="sng" spc="1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Bike(){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Implicit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super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constructor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25" dirty="0">
                <a:latin typeface="Cambria"/>
                <a:cs typeface="Cambria"/>
              </a:rPr>
              <a:t>Vehicle()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is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undefined.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Must</a:t>
            </a:r>
            <a:r>
              <a:rPr sz="1400" spc="9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explicitly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invoke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another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constructor</a:t>
            </a:r>
            <a:endParaRPr sz="14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out.println("Bike</a:t>
            </a:r>
            <a:r>
              <a:rPr sz="1600" b="1" i="1" spc="17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0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 </a:t>
            </a:r>
            <a:r>
              <a:rPr sz="1600" u="sng" spc="1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b</a:t>
            </a:r>
            <a:r>
              <a:rPr sz="1600" u="sng" spc="7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 </a:t>
            </a:r>
            <a:r>
              <a:rPr sz="1600" u="sng" spc="8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=</a:t>
            </a:r>
            <a:r>
              <a:rPr sz="1600" u="sng" spc="9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 </a:t>
            </a:r>
            <a:r>
              <a:rPr sz="1600" b="1" u="sng" spc="10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new</a:t>
            </a:r>
            <a:r>
              <a:rPr sz="1600" b="1" u="sng" spc="114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 </a:t>
            </a:r>
            <a:r>
              <a:rPr sz="1600" b="1" u="sng" spc="5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20280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/>
              <a:t>SUPER</a:t>
            </a:r>
            <a:r>
              <a:rPr sz="3000" spc="254" dirty="0"/>
              <a:t>-T</a:t>
            </a:r>
            <a:r>
              <a:rPr sz="2400" spc="254" dirty="0"/>
              <a:t>O</a:t>
            </a:r>
            <a:r>
              <a:rPr sz="2400" spc="300" dirty="0"/>
              <a:t> </a:t>
            </a:r>
            <a:r>
              <a:rPr sz="2400" spc="295" dirty="0"/>
              <a:t>INVOKE </a:t>
            </a:r>
            <a:r>
              <a:rPr sz="2400" spc="254" dirty="0"/>
              <a:t>PARENT</a:t>
            </a:r>
            <a:r>
              <a:rPr sz="2400" spc="320" dirty="0"/>
              <a:t> </a:t>
            </a:r>
            <a:r>
              <a:rPr sz="2400" spc="285" dirty="0"/>
              <a:t>CONSTRUCTOR</a:t>
            </a:r>
            <a:r>
              <a:rPr sz="3000" spc="285" dirty="0"/>
              <a:t>.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282690" cy="44475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05" dirty="0">
                <a:latin typeface="Cambria"/>
                <a:cs typeface="Cambria"/>
              </a:rPr>
              <a:t>So</a:t>
            </a:r>
            <a:r>
              <a:rPr sz="2000" spc="80" dirty="0">
                <a:latin typeface="Cambria"/>
                <a:cs typeface="Cambria"/>
              </a:rPr>
              <a:t> the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fix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is:</a:t>
            </a:r>
            <a:endParaRPr sz="20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1685"/>
              </a:spcBef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7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60" dirty="0">
                <a:latin typeface="Cambria"/>
                <a:cs typeface="Cambria"/>
              </a:rPr>
              <a:t>Vehicle(String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name){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out.printf("Vehicle</a:t>
            </a:r>
            <a:r>
              <a:rPr sz="1600" b="1" i="1" spc="150" dirty="0">
                <a:latin typeface="Cambria"/>
                <a:cs typeface="Cambria"/>
              </a:rPr>
              <a:t> </a:t>
            </a:r>
            <a:r>
              <a:rPr sz="1600" b="1" i="1" spc="-40" dirty="0">
                <a:latin typeface="Cambria"/>
                <a:cs typeface="Cambria"/>
              </a:rPr>
              <a:t>%s</a:t>
            </a:r>
            <a:r>
              <a:rPr sz="1600" b="1" i="1" spc="114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1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created.\n",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80" dirty="0">
                <a:latin typeface="Cambria"/>
                <a:cs typeface="Cambria"/>
              </a:rPr>
              <a:t>name);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b="1" spc="85" dirty="0">
                <a:latin typeface="Cambria"/>
                <a:cs typeface="Cambria"/>
              </a:rPr>
              <a:t>class</a:t>
            </a:r>
            <a:r>
              <a:rPr sz="1600" b="1" spc="95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Bike </a:t>
            </a:r>
            <a:r>
              <a:rPr sz="1600" b="1" spc="90" dirty="0">
                <a:latin typeface="Cambria"/>
                <a:cs typeface="Cambria"/>
              </a:rPr>
              <a:t>extends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Vehicle{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10" dirty="0">
                <a:latin typeface="Cambria"/>
                <a:cs typeface="Cambria"/>
              </a:rPr>
              <a:t>Bike(){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b="1" spc="35" dirty="0">
                <a:latin typeface="Cambria"/>
                <a:cs typeface="Cambria"/>
              </a:rPr>
              <a:t>super("Bike");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  <a:spcBef>
                <a:spcPts val="5"/>
              </a:spcBef>
            </a:pPr>
            <a:r>
              <a:rPr sz="1600" spc="95" dirty="0">
                <a:latin typeface="Cambria"/>
                <a:cs typeface="Cambria"/>
              </a:rPr>
              <a:t>System.</a:t>
            </a:r>
            <a:r>
              <a:rPr sz="1600" b="1" i="1" spc="95" dirty="0">
                <a:latin typeface="Cambria"/>
                <a:cs typeface="Cambria"/>
              </a:rPr>
              <a:t>out.println("Bike</a:t>
            </a:r>
            <a:r>
              <a:rPr sz="1600" b="1" i="1" spc="170" dirty="0">
                <a:latin typeface="Cambria"/>
                <a:cs typeface="Cambria"/>
              </a:rPr>
              <a:t> </a:t>
            </a:r>
            <a:r>
              <a:rPr sz="1600" b="1" i="1" spc="95" dirty="0">
                <a:latin typeface="Cambria"/>
                <a:cs typeface="Cambria"/>
              </a:rPr>
              <a:t>is</a:t>
            </a:r>
            <a:r>
              <a:rPr sz="1600" b="1" i="1" spc="130" dirty="0">
                <a:latin typeface="Cambria"/>
                <a:cs typeface="Cambria"/>
              </a:rPr>
              <a:t> </a:t>
            </a:r>
            <a:r>
              <a:rPr sz="1600" b="1" i="1" spc="65" dirty="0">
                <a:latin typeface="Cambria"/>
                <a:cs typeface="Cambria"/>
              </a:rPr>
              <a:t>created.");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</a:pPr>
            <a:r>
              <a:rPr sz="1600" b="1" spc="100" dirty="0">
                <a:latin typeface="Cambria"/>
                <a:cs typeface="Cambria"/>
              </a:rPr>
              <a:t>public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static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void</a:t>
            </a:r>
            <a:r>
              <a:rPr sz="1600" b="1" spc="110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main(String[]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55" dirty="0">
                <a:latin typeface="Cambria"/>
                <a:cs typeface="Cambria"/>
              </a:rPr>
              <a:t>args){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85" dirty="0">
                <a:latin typeface="Cambria"/>
                <a:cs typeface="Cambria"/>
              </a:rPr>
              <a:t>Bike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14" dirty="0">
                <a:latin typeface="Cambria"/>
                <a:cs typeface="Cambria"/>
              </a:rPr>
              <a:t> </a:t>
            </a:r>
            <a:r>
              <a:rPr sz="1600" b="1" spc="50" dirty="0">
                <a:latin typeface="Cambria"/>
                <a:cs typeface="Cambria"/>
              </a:rPr>
              <a:t>Bike();</a:t>
            </a:r>
            <a:endParaRPr sz="1600">
              <a:latin typeface="Cambria"/>
              <a:cs typeface="Cambria"/>
            </a:endParaRPr>
          </a:p>
          <a:p>
            <a:pPr marL="654050">
              <a:lnSpc>
                <a:spcPct val="100000"/>
              </a:lnSpc>
              <a:spcBef>
                <a:spcPts val="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69035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W</a:t>
            </a:r>
            <a:r>
              <a:rPr sz="2400" spc="300" dirty="0"/>
              <a:t>HEN</a:t>
            </a:r>
            <a:r>
              <a:rPr sz="2400" spc="275" dirty="0"/>
              <a:t> </a:t>
            </a:r>
            <a:r>
              <a:rPr sz="3000" spc="305" dirty="0"/>
              <a:t>C</a:t>
            </a:r>
            <a:r>
              <a:rPr sz="2400" spc="305" dirty="0"/>
              <a:t>ONSTRUCTORS</a:t>
            </a:r>
            <a:r>
              <a:rPr sz="2400" spc="265" dirty="0"/>
              <a:t> </a:t>
            </a:r>
            <a:r>
              <a:rPr sz="3000" spc="295" dirty="0"/>
              <a:t>A</a:t>
            </a:r>
            <a:r>
              <a:rPr sz="2400" spc="295" dirty="0"/>
              <a:t>RE</a:t>
            </a:r>
            <a:r>
              <a:rPr sz="2400" spc="290" dirty="0"/>
              <a:t> </a:t>
            </a:r>
            <a:r>
              <a:rPr sz="3000" spc="335" dirty="0"/>
              <a:t>E</a:t>
            </a:r>
            <a:r>
              <a:rPr sz="2400" spc="335" dirty="0"/>
              <a:t>XECUTED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51700" cy="2372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7423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5" dirty="0">
                <a:latin typeface="Cambria"/>
                <a:cs typeface="Cambria"/>
              </a:rPr>
              <a:t>When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hierarchy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created,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are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executed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order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hierarchy.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Clr>
                <a:srgbClr val="FD8537"/>
              </a:buClr>
              <a:buFont typeface="Wingdings"/>
              <a:buChar char=""/>
            </a:pPr>
            <a:endParaRPr sz="345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0" dirty="0">
                <a:latin typeface="Cambria"/>
                <a:cs typeface="Cambria"/>
              </a:rPr>
              <a:t>For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example: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hierarchy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above,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35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executed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first,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then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65" dirty="0">
                <a:latin typeface="Cambria"/>
                <a:cs typeface="Cambria"/>
              </a:rPr>
              <a:t>B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then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70" dirty="0">
                <a:latin typeface="Cambria"/>
                <a:cs typeface="Cambria"/>
              </a:rPr>
              <a:t>C.</a:t>
            </a:r>
            <a:endParaRPr sz="2400">
              <a:latin typeface="Cambria"/>
              <a:cs typeface="Cambri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77125" y="1676400"/>
            <a:ext cx="638175" cy="14287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69035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W</a:t>
            </a:r>
            <a:r>
              <a:rPr sz="2400" spc="300" dirty="0"/>
              <a:t>HEN</a:t>
            </a:r>
            <a:r>
              <a:rPr sz="2400" spc="275" dirty="0"/>
              <a:t> </a:t>
            </a:r>
            <a:r>
              <a:rPr sz="3000" spc="305" dirty="0"/>
              <a:t>C</a:t>
            </a:r>
            <a:r>
              <a:rPr sz="2400" spc="305" dirty="0"/>
              <a:t>ONSTRUCTORS</a:t>
            </a:r>
            <a:r>
              <a:rPr sz="2400" spc="265" dirty="0"/>
              <a:t> </a:t>
            </a:r>
            <a:r>
              <a:rPr sz="3000" spc="295" dirty="0"/>
              <a:t>A</a:t>
            </a:r>
            <a:r>
              <a:rPr sz="2400" spc="295" dirty="0"/>
              <a:t>RE</a:t>
            </a:r>
            <a:r>
              <a:rPr sz="2400" spc="290" dirty="0"/>
              <a:t> </a:t>
            </a:r>
            <a:r>
              <a:rPr sz="3000" spc="335" dirty="0"/>
              <a:t>E</a:t>
            </a:r>
            <a:r>
              <a:rPr sz="2400" spc="335" dirty="0"/>
              <a:t>XECUTED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30425"/>
            <a:ext cx="4744085" cy="22205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599055">
              <a:lnSpc>
                <a:spcPct val="100000"/>
              </a:lnSpc>
              <a:spcBef>
                <a:spcPts val="95"/>
              </a:spcBef>
            </a:pP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100" dirty="0">
                <a:latin typeface="Cambria"/>
                <a:cs typeface="Cambria"/>
              </a:rPr>
              <a:t> Cr</a:t>
            </a:r>
            <a:r>
              <a:rPr sz="1600" spc="105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at</a:t>
            </a:r>
            <a:r>
              <a:rPr sz="1600" spc="75" dirty="0">
                <a:latin typeface="Cambria"/>
                <a:cs typeface="Cambria"/>
              </a:rPr>
              <a:t>e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a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su</a:t>
            </a:r>
            <a:r>
              <a:rPr sz="1600" spc="45" dirty="0">
                <a:latin typeface="Cambria"/>
                <a:cs typeface="Cambria"/>
              </a:rPr>
              <a:t>p</a:t>
            </a:r>
            <a:r>
              <a:rPr sz="1600" spc="15" dirty="0">
                <a:latin typeface="Cambria"/>
                <a:cs typeface="Cambria"/>
              </a:rPr>
              <a:t>e</a:t>
            </a:r>
            <a:r>
              <a:rPr sz="1600" spc="45" dirty="0">
                <a:latin typeface="Cambria"/>
                <a:cs typeface="Cambria"/>
              </a:rPr>
              <a:t>r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cla</a:t>
            </a:r>
            <a:r>
              <a:rPr sz="1600" spc="65" dirty="0">
                <a:latin typeface="Cambria"/>
                <a:cs typeface="Cambria"/>
              </a:rPr>
              <a:t>s</a:t>
            </a:r>
            <a:r>
              <a:rPr sz="1600" spc="50" dirty="0">
                <a:latin typeface="Cambria"/>
                <a:cs typeface="Cambria"/>
              </a:rPr>
              <a:t>s</a:t>
            </a:r>
            <a:r>
              <a:rPr sz="1600" spc="120" dirty="0">
                <a:latin typeface="Cambria"/>
                <a:cs typeface="Cambria"/>
              </a:rPr>
              <a:t>.  </a:t>
            </a: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155" dirty="0">
                <a:latin typeface="Cambria"/>
                <a:cs typeface="Cambria"/>
              </a:rPr>
              <a:t>A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106680">
              <a:lnSpc>
                <a:spcPct val="100000"/>
              </a:lnSpc>
            </a:pPr>
            <a:r>
              <a:rPr sz="1600" spc="-5" dirty="0">
                <a:latin typeface="Cambria"/>
                <a:cs typeface="Cambria"/>
              </a:rPr>
              <a:t>A()</a:t>
            </a:r>
            <a:r>
              <a:rPr sz="1600" spc="6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600" spc="55" dirty="0">
                <a:latin typeface="Cambria"/>
                <a:cs typeface="Cambria"/>
              </a:rPr>
              <a:t>System.out.println("Inside</a:t>
            </a:r>
            <a:r>
              <a:rPr sz="1600" spc="17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A's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constructor.");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 marR="872490">
              <a:lnSpc>
                <a:spcPct val="100000"/>
              </a:lnSpc>
            </a:pP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100" dirty="0">
                <a:latin typeface="Cambria"/>
                <a:cs typeface="Cambria"/>
              </a:rPr>
              <a:t> Cr</a:t>
            </a:r>
            <a:r>
              <a:rPr sz="1600" spc="105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at</a:t>
            </a:r>
            <a:r>
              <a:rPr sz="1600" spc="75" dirty="0">
                <a:latin typeface="Cambria"/>
                <a:cs typeface="Cambria"/>
              </a:rPr>
              <a:t>e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a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s</a:t>
            </a:r>
            <a:r>
              <a:rPr sz="1600" spc="50" dirty="0">
                <a:latin typeface="Cambria"/>
                <a:cs typeface="Cambria"/>
              </a:rPr>
              <a:t>ubclass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b</a:t>
            </a:r>
            <a:r>
              <a:rPr sz="1600" spc="30" dirty="0">
                <a:latin typeface="Cambria"/>
                <a:cs typeface="Cambria"/>
              </a:rPr>
              <a:t>y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e</a:t>
            </a:r>
            <a:r>
              <a:rPr sz="1600" spc="75" dirty="0">
                <a:latin typeface="Cambria"/>
                <a:cs typeface="Cambria"/>
              </a:rPr>
              <a:t>x</a:t>
            </a:r>
            <a:r>
              <a:rPr sz="1600" spc="30" dirty="0">
                <a:latin typeface="Cambria"/>
                <a:cs typeface="Cambria"/>
              </a:rPr>
              <a:t>t</a:t>
            </a:r>
            <a:r>
              <a:rPr sz="1600" spc="60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n</a:t>
            </a:r>
            <a:r>
              <a:rPr sz="1600" spc="45" dirty="0">
                <a:latin typeface="Cambria"/>
                <a:cs typeface="Cambria"/>
              </a:rPr>
              <a:t>d</a:t>
            </a:r>
            <a:r>
              <a:rPr sz="1600" spc="65" dirty="0">
                <a:latin typeface="Cambria"/>
                <a:cs typeface="Cambria"/>
              </a:rPr>
              <a:t>ing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cla</a:t>
            </a:r>
            <a:r>
              <a:rPr sz="1600" spc="65" dirty="0">
                <a:latin typeface="Cambria"/>
                <a:cs typeface="Cambria"/>
              </a:rPr>
              <a:t>s</a:t>
            </a:r>
            <a:r>
              <a:rPr sz="1600" spc="50" dirty="0">
                <a:latin typeface="Cambria"/>
                <a:cs typeface="Cambria"/>
              </a:rPr>
              <a:t>s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95" dirty="0">
                <a:latin typeface="Cambria"/>
                <a:cs typeface="Cambria"/>
              </a:rPr>
              <a:t>A.  </a:t>
            </a: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170" dirty="0">
                <a:latin typeface="Cambria"/>
                <a:cs typeface="Cambria"/>
              </a:rPr>
              <a:t>B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extends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155" dirty="0">
                <a:latin typeface="Cambria"/>
                <a:cs typeface="Cambria"/>
              </a:rPr>
              <a:t>A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106680">
              <a:lnSpc>
                <a:spcPct val="100000"/>
              </a:lnSpc>
            </a:pPr>
            <a:r>
              <a:rPr sz="1600" dirty="0">
                <a:latin typeface="Cambria"/>
                <a:cs typeface="Cambria"/>
              </a:rPr>
              <a:t>B()</a:t>
            </a:r>
            <a:r>
              <a:rPr sz="1600" spc="6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55" dirty="0">
                <a:latin typeface="Cambria"/>
                <a:cs typeface="Cambria"/>
              </a:rPr>
              <a:t>System.out.println("Inside</a:t>
            </a:r>
            <a:r>
              <a:rPr sz="1600" spc="170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B's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constructor.");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3825621"/>
            <a:ext cx="4744085" cy="27082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 marR="762635">
              <a:lnSpc>
                <a:spcPct val="100000"/>
              </a:lnSpc>
            </a:pP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100" dirty="0">
                <a:latin typeface="Cambria"/>
                <a:cs typeface="Cambria"/>
              </a:rPr>
              <a:t> Cr</a:t>
            </a:r>
            <a:r>
              <a:rPr sz="1600" spc="105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at</a:t>
            </a:r>
            <a:r>
              <a:rPr sz="1600" spc="75" dirty="0">
                <a:latin typeface="Cambria"/>
                <a:cs typeface="Cambria"/>
              </a:rPr>
              <a:t>e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ano</a:t>
            </a:r>
            <a:r>
              <a:rPr sz="1600" spc="35" dirty="0">
                <a:latin typeface="Cambria"/>
                <a:cs typeface="Cambria"/>
              </a:rPr>
              <a:t>t</a:t>
            </a:r>
            <a:r>
              <a:rPr sz="1600" spc="50" dirty="0">
                <a:latin typeface="Cambria"/>
                <a:cs typeface="Cambria"/>
              </a:rPr>
              <a:t>her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s</a:t>
            </a:r>
            <a:r>
              <a:rPr sz="1600" spc="50" dirty="0">
                <a:latin typeface="Cambria"/>
                <a:cs typeface="Cambria"/>
              </a:rPr>
              <a:t>ubclass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b</a:t>
            </a:r>
            <a:r>
              <a:rPr sz="1600" spc="30" dirty="0">
                <a:latin typeface="Cambria"/>
                <a:cs typeface="Cambria"/>
              </a:rPr>
              <a:t>y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e</a:t>
            </a:r>
            <a:r>
              <a:rPr sz="1600" spc="75" dirty="0">
                <a:latin typeface="Cambria"/>
                <a:cs typeface="Cambria"/>
              </a:rPr>
              <a:t>x</a:t>
            </a:r>
            <a:r>
              <a:rPr sz="1600" spc="30" dirty="0">
                <a:latin typeface="Cambria"/>
                <a:cs typeface="Cambria"/>
              </a:rPr>
              <a:t>t</a:t>
            </a:r>
            <a:r>
              <a:rPr sz="1600" spc="60" dirty="0">
                <a:latin typeface="Cambria"/>
                <a:cs typeface="Cambria"/>
              </a:rPr>
              <a:t>e</a:t>
            </a:r>
            <a:r>
              <a:rPr sz="1600" spc="55" dirty="0">
                <a:latin typeface="Cambria"/>
                <a:cs typeface="Cambria"/>
              </a:rPr>
              <a:t>n</a:t>
            </a:r>
            <a:r>
              <a:rPr sz="1600" spc="45" dirty="0">
                <a:latin typeface="Cambria"/>
                <a:cs typeface="Cambria"/>
              </a:rPr>
              <a:t>d</a:t>
            </a:r>
            <a:r>
              <a:rPr sz="1600" spc="65" dirty="0">
                <a:latin typeface="Cambria"/>
                <a:cs typeface="Cambria"/>
              </a:rPr>
              <a:t>ing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B.  </a:t>
            </a: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250" dirty="0">
                <a:latin typeface="Cambria"/>
                <a:cs typeface="Cambria"/>
              </a:rPr>
              <a:t>C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extends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170" dirty="0">
                <a:latin typeface="Cambria"/>
                <a:cs typeface="Cambria"/>
              </a:rPr>
              <a:t>B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106680">
              <a:lnSpc>
                <a:spcPct val="100000"/>
              </a:lnSpc>
              <a:spcBef>
                <a:spcPts val="5"/>
              </a:spcBef>
            </a:pPr>
            <a:r>
              <a:rPr sz="1600" spc="25" dirty="0">
                <a:latin typeface="Cambria"/>
                <a:cs typeface="Cambria"/>
              </a:rPr>
              <a:t>C()</a:t>
            </a:r>
            <a:r>
              <a:rPr sz="1600" spc="6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600" spc="55" dirty="0">
                <a:latin typeface="Cambria"/>
                <a:cs typeface="Cambria"/>
              </a:rPr>
              <a:t>System.out.println("Inside</a:t>
            </a:r>
            <a:r>
              <a:rPr sz="1600" spc="16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C's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25" dirty="0">
                <a:latin typeface="Cambria"/>
                <a:cs typeface="Cambria"/>
              </a:rPr>
              <a:t>constructor.");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70" dirty="0">
                <a:latin typeface="Cambria"/>
                <a:cs typeface="Cambria"/>
              </a:rPr>
              <a:t> </a:t>
            </a:r>
            <a:r>
              <a:rPr sz="1600" spc="85" dirty="0">
                <a:latin typeface="Cambria"/>
                <a:cs typeface="Cambria"/>
              </a:rPr>
              <a:t>CallingCons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379730" marR="1035685" indent="-273050">
              <a:lnSpc>
                <a:spcPct val="100000"/>
              </a:lnSpc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static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void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main(String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args[])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 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250" dirty="0">
                <a:latin typeface="Cambria"/>
                <a:cs typeface="Cambria"/>
              </a:rPr>
              <a:t>C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dirty="0">
                <a:latin typeface="Cambria"/>
                <a:cs typeface="Cambria"/>
              </a:rPr>
              <a:t>c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new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C();</a:t>
            </a:r>
            <a:endParaRPr sz="1600">
              <a:latin typeface="Cambria"/>
              <a:cs typeface="Cambria"/>
            </a:endParaRPr>
          </a:p>
          <a:p>
            <a:pPr marL="10668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19800" y="3962400"/>
            <a:ext cx="2151380" cy="1384300"/>
          </a:xfrm>
          <a:prstGeom prst="rect">
            <a:avLst/>
          </a:prstGeom>
          <a:solidFill>
            <a:srgbClr val="FD8537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 marR="105410" algn="just">
              <a:lnSpc>
                <a:spcPct val="100000"/>
              </a:lnSpc>
              <a:spcBef>
                <a:spcPts val="10"/>
              </a:spcBef>
            </a:pPr>
            <a:r>
              <a:rPr sz="1600" spc="-5" dirty="0">
                <a:latin typeface="Arial MT"/>
                <a:cs typeface="Arial MT"/>
              </a:rPr>
              <a:t>Ins</a:t>
            </a:r>
            <a:r>
              <a:rPr sz="1600" dirty="0">
                <a:latin typeface="Arial MT"/>
                <a:cs typeface="Arial MT"/>
              </a:rPr>
              <a:t>i</a:t>
            </a:r>
            <a:r>
              <a:rPr sz="1600" spc="-5" dirty="0">
                <a:latin typeface="Arial MT"/>
                <a:cs typeface="Arial MT"/>
              </a:rPr>
              <a:t>de</a:t>
            </a:r>
            <a:r>
              <a:rPr sz="1600" spc="-1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A's constructor  Inside B's constructor </a:t>
            </a:r>
            <a:r>
              <a:rPr sz="1600" spc="-43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Inside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C's</a:t>
            </a:r>
            <a:r>
              <a:rPr sz="1600" spc="-2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constructor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54698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50" dirty="0"/>
              <a:t>O</a:t>
            </a:r>
            <a:r>
              <a:rPr sz="2400" spc="350" dirty="0"/>
              <a:t>BJECT</a:t>
            </a:r>
            <a:r>
              <a:rPr sz="2400" spc="290" dirty="0"/>
              <a:t> </a:t>
            </a:r>
            <a:r>
              <a:rPr sz="3000" spc="330" dirty="0"/>
              <a:t>C</a:t>
            </a:r>
            <a:r>
              <a:rPr sz="2400" spc="330" dirty="0"/>
              <a:t>LASS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730365" cy="4923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5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5" dirty="0">
                <a:latin typeface="Cambria"/>
                <a:cs typeface="Cambria"/>
              </a:rPr>
              <a:t>All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classes</a:t>
            </a:r>
            <a:r>
              <a:rPr sz="2000" spc="80" dirty="0">
                <a:latin typeface="Cambria"/>
                <a:cs typeface="Cambria"/>
              </a:rPr>
              <a:t> inherit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directly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or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indirectly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from</a:t>
            </a:r>
            <a:endParaRPr sz="20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000" spc="95" dirty="0">
                <a:latin typeface="Cambria"/>
                <a:cs typeface="Cambria"/>
              </a:rPr>
              <a:t>java.lang.Object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Parent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{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95" dirty="0">
                <a:latin typeface="Cambria"/>
                <a:cs typeface="Cambria"/>
              </a:rPr>
              <a:t>int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size;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}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Parent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extends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Object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{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95" dirty="0">
                <a:latin typeface="Cambria"/>
                <a:cs typeface="Cambria"/>
              </a:rPr>
              <a:t>int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size;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}</a:t>
            </a:r>
            <a:endParaRPr sz="20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5" dirty="0">
                <a:latin typeface="Cambria"/>
                <a:cs typeface="Cambria"/>
              </a:rPr>
              <a:t>The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child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class </a:t>
            </a:r>
            <a:r>
              <a:rPr sz="2000" spc="15" dirty="0">
                <a:latin typeface="Cambria"/>
                <a:cs typeface="Cambria"/>
              </a:rPr>
              <a:t>below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grandchild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Object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25" dirty="0">
                <a:latin typeface="Cambria"/>
                <a:cs typeface="Cambria"/>
              </a:rPr>
              <a:t>Child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extends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Parent{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-110" dirty="0">
                <a:latin typeface="Cambria"/>
                <a:cs typeface="Cambria"/>
              </a:rPr>
              <a:t>}</a:t>
            </a:r>
            <a:endParaRPr sz="20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125" dirty="0">
                <a:latin typeface="Cambria"/>
                <a:cs typeface="Cambria"/>
              </a:rPr>
              <a:t>Having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20" dirty="0">
                <a:latin typeface="Cambria"/>
                <a:cs typeface="Cambria"/>
              </a:rPr>
              <a:t> </a:t>
            </a:r>
            <a:r>
              <a:rPr sz="2000" spc="35" dirty="0">
                <a:latin typeface="Cambria"/>
                <a:cs typeface="Cambria"/>
              </a:rPr>
              <a:t>common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ancestor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allows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java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spc="30" dirty="0">
                <a:latin typeface="Cambria"/>
                <a:cs typeface="Cambria"/>
              </a:rPr>
              <a:t>provide</a:t>
            </a:r>
            <a:endParaRPr sz="20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5"/>
              </a:spcBef>
            </a:pPr>
            <a:r>
              <a:rPr sz="2000" spc="85" dirty="0">
                <a:latin typeface="Cambria"/>
                <a:cs typeface="Cambria"/>
              </a:rPr>
              <a:t>standard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members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25" dirty="0">
                <a:latin typeface="Cambria"/>
                <a:cs typeface="Cambria"/>
              </a:rPr>
              <a:t>on</a:t>
            </a:r>
            <a:r>
              <a:rPr sz="2000" spc="100" dirty="0">
                <a:latin typeface="Cambria"/>
                <a:cs typeface="Cambria"/>
              </a:rPr>
              <a:t> all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objects,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like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toString()</a:t>
            </a:r>
            <a:endParaRPr sz="20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390"/>
              </a:spcBef>
            </a:pPr>
            <a:r>
              <a:rPr sz="1600" spc="55" dirty="0">
                <a:latin typeface="Cambria"/>
                <a:cs typeface="Cambria"/>
              </a:rPr>
              <a:t>class</a:t>
            </a:r>
            <a:r>
              <a:rPr sz="1600" spc="6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TestObject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1017269" marR="2642235" indent="-273050">
              <a:lnSpc>
                <a:spcPct val="120000"/>
              </a:lnSpc>
              <a:spcBef>
                <a:spcPts val="5"/>
              </a:spcBef>
            </a:pPr>
            <a:r>
              <a:rPr sz="1400" spc="35" dirty="0">
                <a:latin typeface="Cambria"/>
                <a:cs typeface="Cambria"/>
              </a:rPr>
              <a:t>public </a:t>
            </a:r>
            <a:r>
              <a:rPr sz="1400" spc="55" dirty="0">
                <a:latin typeface="Cambria"/>
                <a:cs typeface="Cambria"/>
              </a:rPr>
              <a:t>static </a:t>
            </a:r>
            <a:r>
              <a:rPr sz="1400" spc="20" dirty="0">
                <a:latin typeface="Cambria"/>
                <a:cs typeface="Cambria"/>
              </a:rPr>
              <a:t>void </a:t>
            </a:r>
            <a:r>
              <a:rPr sz="1400" spc="40" dirty="0">
                <a:latin typeface="Cambria"/>
                <a:cs typeface="Cambria"/>
              </a:rPr>
              <a:t>main( </a:t>
            </a:r>
            <a:r>
              <a:rPr sz="1400" spc="80" dirty="0">
                <a:latin typeface="Cambria"/>
                <a:cs typeface="Cambria"/>
              </a:rPr>
              <a:t>String </a:t>
            </a:r>
            <a:r>
              <a:rPr sz="1400" spc="30" dirty="0">
                <a:latin typeface="Cambria"/>
                <a:cs typeface="Cambria"/>
              </a:rPr>
              <a:t>args[] </a:t>
            </a:r>
            <a:r>
              <a:rPr sz="1400" spc="-70" dirty="0">
                <a:latin typeface="Cambria"/>
                <a:cs typeface="Cambria"/>
              </a:rPr>
              <a:t>)</a:t>
            </a:r>
            <a:r>
              <a:rPr sz="1400" spc="-6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70" dirty="0">
                <a:latin typeface="Cambria"/>
                <a:cs typeface="Cambria"/>
              </a:rPr>
              <a:t> </a:t>
            </a:r>
            <a:r>
              <a:rPr sz="1400" spc="70" dirty="0">
                <a:latin typeface="Cambria"/>
                <a:cs typeface="Cambria"/>
              </a:rPr>
              <a:t>Parent</a:t>
            </a:r>
            <a:r>
              <a:rPr sz="1400" spc="155" dirty="0">
                <a:latin typeface="Cambria"/>
                <a:cs typeface="Cambria"/>
              </a:rPr>
              <a:t> </a:t>
            </a:r>
            <a:r>
              <a:rPr sz="1400" spc="60" dirty="0">
                <a:latin typeface="Cambria"/>
                <a:cs typeface="Cambria"/>
              </a:rPr>
              <a:t>watchThis</a:t>
            </a:r>
            <a:r>
              <a:rPr sz="1400" spc="15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16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new</a:t>
            </a:r>
            <a:r>
              <a:rPr sz="1400" spc="155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Parent(); 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65" dirty="0">
                <a:latin typeface="Cambria"/>
                <a:cs typeface="Cambria"/>
              </a:rPr>
              <a:t>int </a:t>
            </a:r>
            <a:r>
              <a:rPr sz="1400" spc="90" dirty="0">
                <a:latin typeface="Cambria"/>
                <a:cs typeface="Cambria"/>
              </a:rPr>
              <a:t>myHash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spc="45" dirty="0">
                <a:latin typeface="Cambria"/>
                <a:cs typeface="Cambria"/>
              </a:rPr>
              <a:t>watchThis.hashCode();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System.out.println(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myHash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-25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1017269">
              <a:lnSpc>
                <a:spcPct val="100000"/>
              </a:lnSpc>
              <a:spcBef>
                <a:spcPts val="335"/>
              </a:spcBef>
            </a:pP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Where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5" dirty="0">
                <a:latin typeface="Cambria"/>
                <a:cs typeface="Cambria"/>
              </a:rPr>
              <a:t>do</a:t>
            </a:r>
            <a:r>
              <a:rPr sz="1400" spc="5" dirty="0">
                <a:latin typeface="Cambria"/>
                <a:cs typeface="Cambria"/>
              </a:rPr>
              <a:t>e</a:t>
            </a:r>
            <a:r>
              <a:rPr sz="1400" spc="45" dirty="0">
                <a:latin typeface="Cambria"/>
                <a:cs typeface="Cambria"/>
              </a:rPr>
              <a:t>s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h</a:t>
            </a:r>
            <a:r>
              <a:rPr sz="1400" spc="65" dirty="0">
                <a:latin typeface="Cambria"/>
                <a:cs typeface="Cambria"/>
              </a:rPr>
              <a:t>as</a:t>
            </a:r>
            <a:r>
              <a:rPr sz="1400" spc="75" dirty="0">
                <a:latin typeface="Cambria"/>
                <a:cs typeface="Cambria"/>
              </a:rPr>
              <a:t>h</a:t>
            </a:r>
            <a:r>
              <a:rPr sz="1400" spc="215" dirty="0">
                <a:latin typeface="Cambria"/>
                <a:cs typeface="Cambria"/>
              </a:rPr>
              <a:t>C</a:t>
            </a:r>
            <a:r>
              <a:rPr sz="1400" spc="-45" dirty="0">
                <a:latin typeface="Cambria"/>
                <a:cs typeface="Cambria"/>
              </a:rPr>
              <a:t>o</a:t>
            </a:r>
            <a:r>
              <a:rPr sz="1400" spc="20" dirty="0">
                <a:latin typeface="Cambria"/>
                <a:cs typeface="Cambria"/>
              </a:rPr>
              <a:t>de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-20" dirty="0">
                <a:latin typeface="Cambria"/>
                <a:cs typeface="Cambria"/>
              </a:rPr>
              <a:t>c</a:t>
            </a:r>
            <a:r>
              <a:rPr sz="1400" spc="-15" dirty="0">
                <a:latin typeface="Cambria"/>
                <a:cs typeface="Cambria"/>
              </a:rPr>
              <a:t>o</a:t>
            </a:r>
            <a:r>
              <a:rPr sz="1400" spc="55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e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fr</a:t>
            </a:r>
            <a:r>
              <a:rPr sz="1400" spc="20" dirty="0">
                <a:latin typeface="Cambria"/>
                <a:cs typeface="Cambria"/>
              </a:rPr>
              <a:t>o</a:t>
            </a:r>
            <a:r>
              <a:rPr sz="1400" spc="50" dirty="0">
                <a:latin typeface="Cambria"/>
                <a:cs typeface="Cambria"/>
              </a:rPr>
              <a:t>m?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34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375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500" y="2511425"/>
            <a:ext cx="1231900" cy="304800"/>
          </a:xfrm>
          <a:custGeom>
            <a:avLst/>
            <a:gdLst/>
            <a:ahLst/>
            <a:cxnLst/>
            <a:rect l="l" t="t" r="r" b="b"/>
            <a:pathLst>
              <a:path w="1231900" h="304800">
                <a:moveTo>
                  <a:pt x="1231900" y="0"/>
                </a:moveTo>
                <a:lnTo>
                  <a:pt x="0" y="0"/>
                </a:lnTo>
                <a:lnTo>
                  <a:pt x="0" y="304800"/>
                </a:lnTo>
                <a:lnTo>
                  <a:pt x="1231900" y="304800"/>
                </a:lnTo>
                <a:lnTo>
                  <a:pt x="1231900" y="0"/>
                </a:lnTo>
                <a:close/>
              </a:path>
            </a:pathLst>
          </a:custGeom>
          <a:solidFill>
            <a:srgbClr val="FFEF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546100" y="2143125"/>
            <a:ext cx="6261100" cy="304800"/>
          </a:xfrm>
          <a:custGeom>
            <a:avLst/>
            <a:gdLst/>
            <a:ahLst/>
            <a:cxnLst/>
            <a:rect l="l" t="t" r="r" b="b"/>
            <a:pathLst>
              <a:path w="6261100" h="304800">
                <a:moveTo>
                  <a:pt x="6261100" y="0"/>
                </a:moveTo>
                <a:lnTo>
                  <a:pt x="0" y="0"/>
                </a:lnTo>
                <a:lnTo>
                  <a:pt x="0" y="304800"/>
                </a:lnTo>
                <a:lnTo>
                  <a:pt x="6261100" y="304800"/>
                </a:lnTo>
                <a:lnTo>
                  <a:pt x="6261100" y="0"/>
                </a:lnTo>
                <a:close/>
              </a:path>
            </a:pathLst>
          </a:custGeom>
          <a:solidFill>
            <a:srgbClr val="FFEF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25500" y="1698625"/>
            <a:ext cx="5207000" cy="304800"/>
          </a:xfrm>
          <a:custGeom>
            <a:avLst/>
            <a:gdLst/>
            <a:ahLst/>
            <a:cxnLst/>
            <a:rect l="l" t="t" r="r" b="b"/>
            <a:pathLst>
              <a:path w="5207000" h="304800">
                <a:moveTo>
                  <a:pt x="5207000" y="0"/>
                </a:moveTo>
                <a:lnTo>
                  <a:pt x="0" y="0"/>
                </a:lnTo>
                <a:lnTo>
                  <a:pt x="0" y="304800"/>
                </a:lnTo>
                <a:lnTo>
                  <a:pt x="5207000" y="304800"/>
                </a:lnTo>
                <a:lnTo>
                  <a:pt x="5207000" y="0"/>
                </a:lnTo>
                <a:close/>
              </a:path>
            </a:pathLst>
          </a:custGeom>
          <a:solidFill>
            <a:srgbClr val="FFEF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7630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3810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625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8839200" y="0"/>
            <a:ext cx="304800" cy="6858000"/>
            <a:chOff x="8839200" y="0"/>
            <a:chExt cx="304800" cy="6858000"/>
          </a:xfrm>
        </p:grpSpPr>
        <p:sp>
          <p:nvSpPr>
            <p:cNvPr id="8" name="object 8"/>
            <p:cNvSpPr/>
            <p:nvPr/>
          </p:nvSpPr>
          <p:spPr>
            <a:xfrm>
              <a:off x="8839200" y="0"/>
              <a:ext cx="304800" cy="6858000"/>
            </a:xfrm>
            <a:custGeom>
              <a:avLst/>
              <a:gdLst/>
              <a:ahLst/>
              <a:cxnLst/>
              <a:rect l="l" t="t" r="r" b="b"/>
              <a:pathLst>
                <a:path w="304800" h="6858000">
                  <a:moveTo>
                    <a:pt x="3048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304800" y="68580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DC3AD">
                <a:alpha val="8705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915400" y="0"/>
              <a:ext cx="0" cy="6858000"/>
            </a:xfrm>
            <a:custGeom>
              <a:avLst/>
              <a:gdLst/>
              <a:ahLst/>
              <a:cxnLst/>
              <a:rect l="l" t="t" r="r" b="b"/>
              <a:pathLst>
                <a:path h="6858000">
                  <a:moveTo>
                    <a:pt x="0" y="0"/>
                  </a:moveTo>
                  <a:lnTo>
                    <a:pt x="0" y="6857999"/>
                  </a:lnTo>
                </a:path>
              </a:pathLst>
            </a:custGeom>
            <a:ln w="9525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/>
          <p:nvPr/>
        </p:nvSpPr>
        <p:spPr>
          <a:xfrm>
            <a:off x="8156575" y="5715000"/>
            <a:ext cx="549275" cy="549275"/>
          </a:xfrm>
          <a:custGeom>
            <a:avLst/>
            <a:gdLst/>
            <a:ahLst/>
            <a:cxnLst/>
            <a:rect l="l" t="t" r="r" b="b"/>
            <a:pathLst>
              <a:path w="549275" h="549275">
                <a:moveTo>
                  <a:pt x="274700" y="0"/>
                </a:moveTo>
                <a:lnTo>
                  <a:pt x="225309" y="4424"/>
                </a:lnTo>
                <a:lnTo>
                  <a:pt x="178828" y="17182"/>
                </a:lnTo>
                <a:lnTo>
                  <a:pt x="136031" y="37496"/>
                </a:lnTo>
                <a:lnTo>
                  <a:pt x="97693" y="64591"/>
                </a:lnTo>
                <a:lnTo>
                  <a:pt x="64589" y="97692"/>
                </a:lnTo>
                <a:lnTo>
                  <a:pt x="37493" y="136023"/>
                </a:lnTo>
                <a:lnTo>
                  <a:pt x="17180" y="178808"/>
                </a:lnTo>
                <a:lnTo>
                  <a:pt x="4424" y="225271"/>
                </a:lnTo>
                <a:lnTo>
                  <a:pt x="0" y="274637"/>
                </a:lnTo>
                <a:lnTo>
                  <a:pt x="4424" y="324003"/>
                </a:lnTo>
                <a:lnTo>
                  <a:pt x="17180" y="370466"/>
                </a:lnTo>
                <a:lnTo>
                  <a:pt x="37493" y="413251"/>
                </a:lnTo>
                <a:lnTo>
                  <a:pt x="64589" y="451582"/>
                </a:lnTo>
                <a:lnTo>
                  <a:pt x="97693" y="484683"/>
                </a:lnTo>
                <a:lnTo>
                  <a:pt x="136031" y="511778"/>
                </a:lnTo>
                <a:lnTo>
                  <a:pt x="178828" y="532092"/>
                </a:lnTo>
                <a:lnTo>
                  <a:pt x="225309" y="544850"/>
                </a:lnTo>
                <a:lnTo>
                  <a:pt x="274700" y="549275"/>
                </a:lnTo>
                <a:lnTo>
                  <a:pt x="324054" y="544850"/>
                </a:lnTo>
                <a:lnTo>
                  <a:pt x="370506" y="532092"/>
                </a:lnTo>
                <a:lnTo>
                  <a:pt x="413281" y="511778"/>
                </a:lnTo>
                <a:lnTo>
                  <a:pt x="451603" y="484683"/>
                </a:lnTo>
                <a:lnTo>
                  <a:pt x="484696" y="451582"/>
                </a:lnTo>
                <a:lnTo>
                  <a:pt x="511786" y="413251"/>
                </a:lnTo>
                <a:lnTo>
                  <a:pt x="532096" y="370466"/>
                </a:lnTo>
                <a:lnTo>
                  <a:pt x="544851" y="324003"/>
                </a:lnTo>
                <a:lnTo>
                  <a:pt x="549275" y="274637"/>
                </a:lnTo>
                <a:lnTo>
                  <a:pt x="544851" y="225271"/>
                </a:lnTo>
                <a:lnTo>
                  <a:pt x="532096" y="178808"/>
                </a:lnTo>
                <a:lnTo>
                  <a:pt x="511786" y="136023"/>
                </a:lnTo>
                <a:lnTo>
                  <a:pt x="484696" y="97692"/>
                </a:lnTo>
                <a:lnTo>
                  <a:pt x="451603" y="64591"/>
                </a:lnTo>
                <a:lnTo>
                  <a:pt x="413281" y="37496"/>
                </a:lnTo>
                <a:lnTo>
                  <a:pt x="370506" y="17182"/>
                </a:lnTo>
                <a:lnTo>
                  <a:pt x="324054" y="4424"/>
                </a:lnTo>
                <a:lnTo>
                  <a:pt x="274700" y="0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518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50" dirty="0"/>
              <a:t>O</a:t>
            </a:r>
            <a:r>
              <a:rPr sz="2400" spc="350" dirty="0"/>
              <a:t>BJECT</a:t>
            </a:r>
            <a:r>
              <a:rPr sz="2400" spc="335" dirty="0"/>
              <a:t> </a:t>
            </a:r>
            <a:r>
              <a:rPr sz="3000" spc="330" dirty="0"/>
              <a:t>C</a:t>
            </a:r>
            <a:r>
              <a:rPr sz="2400" spc="330" dirty="0"/>
              <a:t>LASS</a:t>
            </a:r>
            <a:r>
              <a:rPr sz="2400" spc="300" dirty="0"/>
              <a:t> </a:t>
            </a:r>
            <a:r>
              <a:rPr sz="3000" dirty="0"/>
              <a:t>-</a:t>
            </a:r>
            <a:r>
              <a:rPr sz="3000" spc="160" dirty="0"/>
              <a:t> </a:t>
            </a:r>
            <a:r>
              <a:rPr sz="2400" spc="295" dirty="0"/>
              <a:t>METHODS</a:t>
            </a:r>
            <a:endParaRPr sz="2400"/>
          </a:p>
        </p:txBody>
      </p:sp>
      <p:sp>
        <p:nvSpPr>
          <p:cNvPr id="12" name="object 12"/>
          <p:cNvSpPr txBox="1"/>
          <p:nvPr/>
        </p:nvSpPr>
        <p:spPr>
          <a:xfrm>
            <a:off x="535940" y="1552763"/>
            <a:ext cx="7094855" cy="349250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-5" dirty="0">
                <a:latin typeface="Cambria"/>
                <a:cs typeface="Cambria"/>
              </a:rPr>
              <a:t>clone()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-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Creates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clone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  <a:p>
            <a:pPr marL="285115" marR="89725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60" dirty="0">
                <a:latin typeface="Cambria"/>
                <a:cs typeface="Cambria"/>
              </a:rPr>
              <a:t>equals(Object)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-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Compares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two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Objects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equality.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30" dirty="0">
                <a:latin typeface="Cambria"/>
                <a:cs typeface="Cambria"/>
              </a:rPr>
              <a:t>Uses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"=="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test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for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equality</a:t>
            </a:r>
            <a:endParaRPr sz="2100">
              <a:latin typeface="Cambria"/>
              <a:cs typeface="Cambria"/>
            </a:endParaRPr>
          </a:p>
          <a:p>
            <a:pPr marL="652780" marR="16065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0" dirty="0">
                <a:latin typeface="Cambria"/>
                <a:cs typeface="Cambria"/>
              </a:rPr>
              <a:t>Note: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14" dirty="0">
                <a:latin typeface="Cambria"/>
                <a:cs typeface="Cambria"/>
              </a:rPr>
              <a:t>If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needs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an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implementation</a:t>
            </a:r>
            <a:r>
              <a:rPr sz="2100" spc="9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equals,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differs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from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default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"equals",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 </a:t>
            </a:r>
            <a:r>
              <a:rPr sz="2100" spc="8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should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override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method.</a:t>
            </a:r>
            <a:endParaRPr sz="21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60" dirty="0">
                <a:latin typeface="Cambria"/>
                <a:cs typeface="Cambria"/>
              </a:rPr>
              <a:t>toString()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-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Returns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String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represents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95" dirty="0">
                <a:latin typeface="Cambria"/>
                <a:cs typeface="Cambria"/>
              </a:rPr>
              <a:t>value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this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57677" y="3136772"/>
            <a:ext cx="2867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E</a:t>
            </a:r>
            <a:r>
              <a:rPr sz="2400" spc="295" dirty="0"/>
              <a:t>NCAPSULATION</a:t>
            </a:r>
            <a:endParaRPr sz="24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8663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445" dirty="0"/>
              <a:t>E</a:t>
            </a:r>
            <a:r>
              <a:rPr sz="2400" spc="310" dirty="0"/>
              <a:t>NC</a:t>
            </a:r>
            <a:r>
              <a:rPr sz="2400" spc="300" dirty="0"/>
              <a:t>A</a:t>
            </a:r>
            <a:r>
              <a:rPr sz="2400" spc="320" dirty="0"/>
              <a:t>PSU</a:t>
            </a:r>
            <a:r>
              <a:rPr sz="2400" spc="290" dirty="0"/>
              <a:t>L</a:t>
            </a:r>
            <a:r>
              <a:rPr sz="2400" spc="204" dirty="0"/>
              <a:t>A</a:t>
            </a:r>
            <a:r>
              <a:rPr sz="2400" spc="190" dirty="0"/>
              <a:t>T</a:t>
            </a:r>
            <a:r>
              <a:rPr sz="2400" spc="265" dirty="0"/>
              <a:t>ION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221220" cy="41490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420370" indent="-273050">
              <a:lnSpc>
                <a:spcPct val="100099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i="1" spc="130" dirty="0">
                <a:latin typeface="Cambria"/>
                <a:cs typeface="Cambria"/>
              </a:rPr>
              <a:t>Encapsulation</a:t>
            </a:r>
            <a:r>
              <a:rPr sz="2400" i="1" spc="11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mechanism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binds </a:t>
            </a:r>
            <a:r>
              <a:rPr sz="2400" spc="7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together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code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data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manipulates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keeps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both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safe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from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outside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interference</a:t>
            </a:r>
            <a:r>
              <a:rPr sz="2400" spc="9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 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misuse.</a:t>
            </a:r>
            <a:endParaRPr sz="2400">
              <a:latin typeface="Cambria"/>
              <a:cs typeface="Cambria"/>
            </a:endParaRPr>
          </a:p>
          <a:p>
            <a:pPr marL="285115" marR="59563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50" dirty="0">
                <a:latin typeface="Cambria"/>
                <a:cs typeface="Cambria"/>
              </a:rPr>
              <a:t>One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way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5" dirty="0">
                <a:latin typeface="Cambria"/>
                <a:cs typeface="Cambria"/>
              </a:rPr>
              <a:t>think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about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encapsulation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protective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wrapper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4" dirty="0">
                <a:latin typeface="Cambria"/>
                <a:cs typeface="Cambria"/>
              </a:rPr>
              <a:t>that </a:t>
            </a:r>
            <a:r>
              <a:rPr sz="2100" spc="60" dirty="0">
                <a:latin typeface="Cambria"/>
                <a:cs typeface="Cambria"/>
              </a:rPr>
              <a:t>prevents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code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data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from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being </a:t>
            </a:r>
            <a:r>
              <a:rPr sz="2100" spc="6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arbitrarily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accessed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by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other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code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defined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outside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wrapper.</a:t>
            </a:r>
            <a:endParaRPr sz="21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basis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encapsulation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50" dirty="0">
                <a:latin typeface="Cambria"/>
                <a:cs typeface="Cambria"/>
              </a:rPr>
              <a:t>Use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access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modifier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30" dirty="0">
                <a:latin typeface="Cambria"/>
                <a:cs typeface="Cambria"/>
              </a:rPr>
              <a:t>provide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encapsulation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8663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445" dirty="0"/>
              <a:t>E</a:t>
            </a:r>
            <a:r>
              <a:rPr sz="2400" spc="310" dirty="0"/>
              <a:t>NC</a:t>
            </a:r>
            <a:r>
              <a:rPr sz="2400" spc="300" dirty="0"/>
              <a:t>A</a:t>
            </a:r>
            <a:r>
              <a:rPr sz="2400" spc="320" dirty="0"/>
              <a:t>PSU</a:t>
            </a:r>
            <a:r>
              <a:rPr sz="2400" spc="290" dirty="0"/>
              <a:t>L</a:t>
            </a:r>
            <a:r>
              <a:rPr sz="2400" spc="204" dirty="0"/>
              <a:t>A</a:t>
            </a:r>
            <a:r>
              <a:rPr sz="2400" spc="190" dirty="0"/>
              <a:t>T</a:t>
            </a:r>
            <a:r>
              <a:rPr sz="2400" spc="265" dirty="0"/>
              <a:t>ION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054215" cy="3219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" indent="-273050">
              <a:lnSpc>
                <a:spcPct val="100099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Since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purpose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class/encapsulation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encapsulate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complexity,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there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are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mechanisms 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hiding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complexity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of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implementation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inside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  <a:p>
            <a:pPr marL="652780" marR="448309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5" dirty="0">
                <a:latin typeface="Cambria"/>
                <a:cs typeface="Cambria"/>
              </a:rPr>
              <a:t>Use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access</a:t>
            </a:r>
            <a:r>
              <a:rPr sz="2100" b="1" spc="130" dirty="0">
                <a:latin typeface="Cambria"/>
                <a:cs typeface="Cambria"/>
              </a:rPr>
              <a:t> </a:t>
            </a:r>
            <a:r>
              <a:rPr sz="2100" b="1" spc="114" dirty="0">
                <a:latin typeface="Cambria"/>
                <a:cs typeface="Cambria"/>
              </a:rPr>
              <a:t>modifier</a:t>
            </a:r>
            <a:r>
              <a:rPr sz="2100" b="1" spc="13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specify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members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-10" dirty="0">
                <a:latin typeface="Cambria"/>
                <a:cs typeface="Cambria"/>
              </a:rPr>
              <a:t>should/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shouldn’t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accessed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by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outside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world.</a:t>
            </a:r>
            <a:endParaRPr sz="2100">
              <a:latin typeface="Cambria"/>
              <a:cs typeface="Cambria"/>
            </a:endParaRPr>
          </a:p>
          <a:p>
            <a:pPr marL="652780" marR="14541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b="1" spc="140" dirty="0">
                <a:latin typeface="Cambria"/>
                <a:cs typeface="Cambria"/>
              </a:rPr>
              <a:t>public</a:t>
            </a:r>
            <a:r>
              <a:rPr sz="2100" b="1" spc="12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interface </a:t>
            </a:r>
            <a:r>
              <a:rPr sz="2100" spc="60" dirty="0">
                <a:latin typeface="Cambria"/>
                <a:cs typeface="Cambria"/>
              </a:rPr>
              <a:t>should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carefully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designed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not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expose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-10" dirty="0">
                <a:latin typeface="Cambria"/>
                <a:cs typeface="Cambria"/>
              </a:rPr>
              <a:t>too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much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inner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workings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 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42341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10" dirty="0"/>
              <a:t>G</a:t>
            </a:r>
            <a:r>
              <a:rPr sz="2400" spc="210" dirty="0"/>
              <a:t>ETTER</a:t>
            </a:r>
            <a:r>
              <a:rPr sz="3000" spc="210" dirty="0"/>
              <a:t>/S</a:t>
            </a:r>
            <a:r>
              <a:rPr sz="2400" spc="210" dirty="0"/>
              <a:t>ETTER</a:t>
            </a:r>
            <a:r>
              <a:rPr sz="2400" spc="350" dirty="0"/>
              <a:t> </a:t>
            </a:r>
            <a:r>
              <a:rPr sz="3000" spc="305" dirty="0"/>
              <a:t>M</a:t>
            </a:r>
            <a:r>
              <a:rPr sz="2400" spc="305" dirty="0"/>
              <a:t>ETHOD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122159" cy="5060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9969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In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encapsulation,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variables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hidden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from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other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classes,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accessed </a:t>
            </a:r>
            <a:r>
              <a:rPr sz="2400" spc="55" dirty="0">
                <a:latin typeface="Cambria"/>
                <a:cs typeface="Cambria"/>
              </a:rPr>
              <a:t> only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through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methods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of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their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current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achieve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45" dirty="0">
                <a:latin typeface="Cambria"/>
                <a:cs typeface="Cambria"/>
              </a:rPr>
              <a:t>Java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5" dirty="0">
                <a:latin typeface="Cambria"/>
                <a:cs typeface="Cambria"/>
              </a:rPr>
              <a:t>−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80" dirty="0">
                <a:latin typeface="Cambria"/>
                <a:cs typeface="Cambria"/>
              </a:rPr>
              <a:t>Declare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variables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as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private.</a:t>
            </a:r>
            <a:endParaRPr sz="20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55" dirty="0">
                <a:latin typeface="Cambria"/>
                <a:cs typeface="Cambria"/>
              </a:rPr>
              <a:t>Provide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public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setter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and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getter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methods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modify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and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view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variables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values.</a:t>
            </a:r>
            <a:endParaRPr sz="20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00" dirty="0">
                <a:latin typeface="Cambria"/>
                <a:cs typeface="Cambria"/>
              </a:rPr>
              <a:t>Example:</a:t>
            </a:r>
            <a:endParaRPr sz="20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5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  <a:spcBef>
                <a:spcPts val="5"/>
              </a:spcBef>
            </a:pPr>
            <a:r>
              <a:rPr sz="1600" b="1" spc="95" dirty="0">
                <a:latin typeface="Cambria"/>
                <a:cs typeface="Cambria"/>
              </a:rPr>
              <a:t>private</a:t>
            </a:r>
            <a:r>
              <a:rPr sz="1600" b="1" spc="10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double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balance;</a:t>
            </a:r>
            <a:endParaRPr sz="16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void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setBalance(double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-40" dirty="0">
                <a:latin typeface="Cambria"/>
                <a:cs typeface="Cambria"/>
              </a:rPr>
              <a:t>b)</a:t>
            </a:r>
            <a:r>
              <a:rPr sz="1600" spc="8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</a:t>
            </a:r>
            <a:endParaRPr sz="1600">
              <a:latin typeface="Cambria"/>
              <a:cs typeface="Cambria"/>
            </a:endParaRPr>
          </a:p>
          <a:p>
            <a:pPr marL="927100">
              <a:lnSpc>
                <a:spcPct val="100000"/>
              </a:lnSpc>
            </a:pPr>
            <a:r>
              <a:rPr sz="1600" spc="50" dirty="0">
                <a:latin typeface="Cambria"/>
                <a:cs typeface="Cambria"/>
              </a:rPr>
              <a:t>balance</a:t>
            </a:r>
            <a:r>
              <a:rPr sz="1600" spc="6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b;</a:t>
            </a:r>
            <a:endParaRPr sz="16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  <a:p>
            <a:pPr marL="927100" marR="4129404" indent="-550545">
              <a:lnSpc>
                <a:spcPct val="100000"/>
              </a:lnSpc>
            </a:pPr>
            <a:r>
              <a:rPr sz="1600" spc="35" dirty="0">
                <a:latin typeface="Cambria"/>
                <a:cs typeface="Cambria"/>
              </a:rPr>
              <a:t>public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double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getBalance()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-90" dirty="0">
                <a:latin typeface="Cambria"/>
                <a:cs typeface="Cambria"/>
              </a:rPr>
              <a:t>{ 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return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balance;</a:t>
            </a:r>
            <a:endParaRPr sz="16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50120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B</a:t>
            </a:r>
            <a:r>
              <a:rPr sz="2400" spc="285" dirty="0"/>
              <a:t>ENEFIT</a:t>
            </a:r>
            <a:r>
              <a:rPr sz="2400" spc="295" dirty="0"/>
              <a:t> </a:t>
            </a:r>
            <a:r>
              <a:rPr sz="2400" spc="305" dirty="0"/>
              <a:t>OF</a:t>
            </a:r>
            <a:r>
              <a:rPr sz="2400" spc="270" dirty="0"/>
              <a:t> </a:t>
            </a:r>
            <a:r>
              <a:rPr sz="3000" spc="295" dirty="0"/>
              <a:t>E</a:t>
            </a:r>
            <a:r>
              <a:rPr sz="2400" spc="295" dirty="0"/>
              <a:t>NCAPSULATION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906651"/>
            <a:ext cx="5327650" cy="200088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0" dirty="0">
                <a:latin typeface="Cambria"/>
                <a:cs typeface="Cambria"/>
              </a:rPr>
              <a:t>Benefit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0" dirty="0">
                <a:latin typeface="Cambria"/>
                <a:cs typeface="Cambria"/>
              </a:rPr>
              <a:t>Hide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complexity</a:t>
            </a:r>
            <a:r>
              <a:rPr sz="2100" spc="9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from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user.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5" dirty="0">
                <a:latin typeface="Cambria"/>
                <a:cs typeface="Cambria"/>
              </a:rPr>
              <a:t>Implement</a:t>
            </a:r>
            <a:r>
              <a:rPr sz="2100" spc="7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logic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while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updating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field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0" dirty="0">
                <a:latin typeface="Cambria"/>
                <a:cs typeface="Cambria"/>
              </a:rPr>
              <a:t>Easy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105" dirty="0">
                <a:latin typeface="Cambria"/>
                <a:cs typeface="Cambria"/>
              </a:rPr>
              <a:t>maintain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5" dirty="0">
                <a:latin typeface="Cambria"/>
                <a:cs typeface="Cambria"/>
              </a:rPr>
              <a:t>Make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read-only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or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write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only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20161" y="3136772"/>
            <a:ext cx="27432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P</a:t>
            </a:r>
            <a:r>
              <a:rPr sz="2400" spc="315" dirty="0"/>
              <a:t>OL</a:t>
            </a:r>
            <a:r>
              <a:rPr sz="2400" spc="305" dirty="0"/>
              <a:t>Y</a:t>
            </a:r>
            <a:r>
              <a:rPr sz="2400" spc="335" dirty="0"/>
              <a:t>M</a:t>
            </a:r>
            <a:r>
              <a:rPr sz="2400" spc="280" dirty="0"/>
              <a:t>O</a:t>
            </a:r>
            <a:r>
              <a:rPr sz="2400" spc="270" dirty="0"/>
              <a:t>RPHISM</a:t>
            </a:r>
            <a:endParaRPr sz="24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7406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P</a:t>
            </a:r>
            <a:r>
              <a:rPr sz="2400" spc="305" dirty="0"/>
              <a:t>OLYM</a:t>
            </a:r>
            <a:r>
              <a:rPr sz="2400" spc="315" dirty="0"/>
              <a:t>O</a:t>
            </a:r>
            <a:r>
              <a:rPr sz="2400" spc="245" dirty="0"/>
              <a:t>R</a:t>
            </a:r>
            <a:r>
              <a:rPr sz="2400" spc="215" dirty="0"/>
              <a:t>P</a:t>
            </a:r>
            <a:r>
              <a:rPr sz="2400" spc="295" dirty="0"/>
              <a:t>HISM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6941820" cy="47224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3340" indent="-273050">
              <a:lnSpc>
                <a:spcPct val="100099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b="1" spc="185" dirty="0">
                <a:latin typeface="Cambria"/>
                <a:cs typeface="Cambria"/>
              </a:rPr>
              <a:t>Poly </a:t>
            </a:r>
            <a:r>
              <a:rPr sz="2400" spc="100" dirty="0">
                <a:latin typeface="Cambria"/>
                <a:cs typeface="Cambria"/>
              </a:rPr>
              <a:t>means </a:t>
            </a:r>
            <a:r>
              <a:rPr sz="2400" b="1" spc="185" dirty="0">
                <a:latin typeface="Cambria"/>
                <a:cs typeface="Cambria"/>
              </a:rPr>
              <a:t>many </a:t>
            </a:r>
            <a:r>
              <a:rPr sz="2400" spc="105" dirty="0">
                <a:latin typeface="Cambria"/>
                <a:cs typeface="Cambria"/>
              </a:rPr>
              <a:t>and </a:t>
            </a:r>
            <a:r>
              <a:rPr sz="2400" b="1" spc="160" dirty="0">
                <a:latin typeface="Cambria"/>
                <a:cs typeface="Cambria"/>
              </a:rPr>
              <a:t>morph </a:t>
            </a:r>
            <a:r>
              <a:rPr sz="2400" spc="100" dirty="0">
                <a:latin typeface="Cambria"/>
                <a:cs typeface="Cambria"/>
              </a:rPr>
              <a:t>means </a:t>
            </a:r>
            <a:r>
              <a:rPr sz="2400" b="1" spc="145" dirty="0">
                <a:latin typeface="Cambria"/>
                <a:cs typeface="Cambria"/>
              </a:rPr>
              <a:t>form</a:t>
            </a:r>
            <a:r>
              <a:rPr sz="2400" spc="145" dirty="0">
                <a:latin typeface="Cambria"/>
                <a:cs typeface="Cambria"/>
              </a:rPr>
              <a:t>. 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Thus,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polymorphism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refers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being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able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use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many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forms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without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regard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details.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Clr>
                <a:srgbClr val="FD8537"/>
              </a:buClr>
              <a:buFont typeface="Wingdings"/>
              <a:buChar char=""/>
            </a:pPr>
            <a:endParaRPr sz="345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0" dirty="0">
                <a:latin typeface="Cambria"/>
                <a:cs typeface="Cambria"/>
              </a:rPr>
              <a:t>More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generally,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concept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polymorphism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often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expressed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phrase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“one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interface, </a:t>
            </a:r>
            <a:r>
              <a:rPr sz="2400" spc="8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multiple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methods.”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Clr>
                <a:srgbClr val="FD8537"/>
              </a:buClr>
              <a:buFont typeface="Wingdings"/>
              <a:buChar char=""/>
            </a:pPr>
            <a:endParaRPr sz="3450">
              <a:latin typeface="Cambria"/>
              <a:cs typeface="Cambria"/>
            </a:endParaRPr>
          </a:p>
          <a:p>
            <a:pPr marL="285115" marR="88265" indent="-273050">
              <a:lnSpc>
                <a:spcPct val="1002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i="1" spc="120" dirty="0">
                <a:latin typeface="Cambria"/>
                <a:cs typeface="Cambria"/>
              </a:rPr>
              <a:t>polymorphism</a:t>
            </a:r>
            <a:r>
              <a:rPr sz="2400" i="1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refers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programming </a:t>
            </a:r>
            <a:r>
              <a:rPr sz="2400" spc="8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language's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ability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process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objects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differently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depending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on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their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data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7406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P</a:t>
            </a:r>
            <a:r>
              <a:rPr sz="2400" spc="305" dirty="0"/>
              <a:t>OLYM</a:t>
            </a:r>
            <a:r>
              <a:rPr sz="2400" spc="315" dirty="0"/>
              <a:t>O</a:t>
            </a:r>
            <a:r>
              <a:rPr sz="2400" spc="245" dirty="0"/>
              <a:t>R</a:t>
            </a:r>
            <a:r>
              <a:rPr sz="2400" spc="215" dirty="0"/>
              <a:t>P</a:t>
            </a:r>
            <a:r>
              <a:rPr sz="2400" spc="295" dirty="0"/>
              <a:t>HISM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55822"/>
            <a:ext cx="3582670" cy="161734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" dirty="0">
                <a:latin typeface="Cambria"/>
                <a:cs typeface="Cambria"/>
              </a:rPr>
              <a:t>3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types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Method</a:t>
            </a:r>
            <a:r>
              <a:rPr sz="2100" spc="8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overriding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Method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overloading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5" dirty="0">
                <a:latin typeface="Cambria"/>
                <a:cs typeface="Cambria"/>
              </a:rPr>
              <a:t>Subclass</a:t>
            </a:r>
            <a:r>
              <a:rPr sz="2100" spc="7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polymorphism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7293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65" dirty="0"/>
              <a:t> </a:t>
            </a:r>
            <a:r>
              <a:rPr sz="2400" spc="275" dirty="0"/>
              <a:t>OVERRIDING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255509" cy="3097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40" dirty="0">
                <a:latin typeface="Cambria"/>
                <a:cs typeface="Cambria"/>
              </a:rPr>
              <a:t>Means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b="1" spc="160" dirty="0">
                <a:latin typeface="Cambria"/>
                <a:cs typeface="Cambria"/>
              </a:rPr>
              <a:t>child</a:t>
            </a:r>
            <a:r>
              <a:rPr sz="2400" b="1" spc="170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class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re-implementing</a:t>
            </a:r>
            <a:r>
              <a:rPr sz="2400" b="1" spc="12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b="1" spc="150" dirty="0">
                <a:latin typeface="Cambria"/>
                <a:cs typeface="Cambria"/>
              </a:rPr>
              <a:t>method</a:t>
            </a:r>
            <a:r>
              <a:rPr sz="2400" b="1" spc="125" dirty="0">
                <a:latin typeface="Cambria"/>
                <a:cs typeface="Cambria"/>
              </a:rPr>
              <a:t> of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20" dirty="0">
                <a:latin typeface="Cambria"/>
                <a:cs typeface="Cambria"/>
              </a:rPr>
              <a:t>its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super</a:t>
            </a:r>
            <a:r>
              <a:rPr sz="2400" b="1" spc="150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class</a:t>
            </a:r>
            <a:r>
              <a:rPr sz="2400" spc="135" dirty="0">
                <a:latin typeface="Cambria"/>
                <a:cs typeface="Cambria"/>
              </a:rPr>
              <a:t>.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90" dirty="0">
                <a:latin typeface="Cambria"/>
                <a:cs typeface="Cambria"/>
              </a:rPr>
              <a:t>Or</a:t>
            </a:r>
            <a:endParaRPr sz="24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1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235" dirty="0">
                <a:latin typeface="Cambria"/>
                <a:cs typeface="Cambria"/>
              </a:rPr>
              <a:t>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replacing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ancestor's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implementation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with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implementation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own.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When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overriding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child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endParaRPr sz="2400">
              <a:latin typeface="Cambria"/>
              <a:cs typeface="Cambria"/>
            </a:endParaRPr>
          </a:p>
          <a:p>
            <a:pPr marL="652780" marR="15240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Method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Signature(name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95" dirty="0">
                <a:latin typeface="Cambria"/>
                <a:cs typeface="Cambria"/>
              </a:rPr>
              <a:t>argument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list)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 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return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must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method.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25" dirty="0">
                <a:latin typeface="Cambria"/>
                <a:cs typeface="Cambria"/>
              </a:rPr>
              <a:t>Child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could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equal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more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accessible.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7293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65" dirty="0"/>
              <a:t> </a:t>
            </a:r>
            <a:r>
              <a:rPr sz="2400" spc="275" dirty="0"/>
              <a:t>OVERRIDING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066915" cy="3886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24130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5" dirty="0">
                <a:latin typeface="Cambria"/>
                <a:cs typeface="Cambria"/>
              </a:rPr>
              <a:t>When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overridden</a:t>
            </a:r>
            <a:r>
              <a:rPr sz="2400" b="1" spc="150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method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10" dirty="0">
                <a:latin typeface="Cambria"/>
                <a:cs typeface="Cambria"/>
              </a:rPr>
              <a:t>is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called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from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within</a:t>
            </a:r>
            <a:r>
              <a:rPr sz="2400" spc="9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subclass</a:t>
            </a:r>
            <a:r>
              <a:rPr sz="2400" spc="145" dirty="0">
                <a:latin typeface="Cambria"/>
                <a:cs typeface="Cambria"/>
              </a:rPr>
              <a:t>,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always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refer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version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b="1" spc="170" dirty="0">
                <a:latin typeface="Cambria"/>
                <a:cs typeface="Cambria"/>
              </a:rPr>
              <a:t>that </a:t>
            </a:r>
            <a:r>
              <a:rPr sz="2400" b="1" spc="150" dirty="0">
                <a:latin typeface="Cambria"/>
                <a:cs typeface="Cambria"/>
              </a:rPr>
              <a:t>method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defined</a:t>
            </a:r>
            <a:r>
              <a:rPr sz="2400" b="1" spc="160" dirty="0">
                <a:latin typeface="Cambria"/>
                <a:cs typeface="Cambria"/>
              </a:rPr>
              <a:t> by</a:t>
            </a:r>
            <a:r>
              <a:rPr sz="2400" b="1" spc="140" dirty="0">
                <a:latin typeface="Cambria"/>
                <a:cs typeface="Cambria"/>
              </a:rPr>
              <a:t> </a:t>
            </a:r>
            <a:r>
              <a:rPr sz="2400" b="1" spc="150" dirty="0">
                <a:latin typeface="Cambria"/>
                <a:cs typeface="Cambria"/>
              </a:rPr>
              <a:t>the 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subclass</a:t>
            </a:r>
            <a:r>
              <a:rPr sz="2400" spc="145" dirty="0">
                <a:latin typeface="Cambria"/>
                <a:cs typeface="Cambria"/>
              </a:rPr>
              <a:t>.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2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version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defined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by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superclass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will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hidden.</a:t>
            </a:r>
            <a:endParaRPr sz="2100">
              <a:latin typeface="Cambria"/>
              <a:cs typeface="Cambria"/>
            </a:endParaRPr>
          </a:p>
          <a:p>
            <a:pPr marL="285115" marR="15176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invoke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parent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child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need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to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use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“</a:t>
            </a:r>
            <a:r>
              <a:rPr sz="2400" b="1" spc="110" dirty="0">
                <a:latin typeface="Cambria"/>
                <a:cs typeface="Cambria"/>
              </a:rPr>
              <a:t>super</a:t>
            </a:r>
            <a:r>
              <a:rPr sz="2400" spc="110" dirty="0">
                <a:latin typeface="Cambria"/>
                <a:cs typeface="Cambria"/>
              </a:rPr>
              <a:t>”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keyword.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35" dirty="0">
                <a:latin typeface="Cambria"/>
                <a:cs typeface="Cambria"/>
              </a:rPr>
              <a:t>Static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not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overridden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5" dirty="0">
                <a:latin typeface="Cambria"/>
                <a:cs typeface="Cambria"/>
              </a:rPr>
              <a:t>Dynamic</a:t>
            </a:r>
            <a:r>
              <a:rPr sz="2400" spc="80" dirty="0">
                <a:latin typeface="Cambria"/>
                <a:cs typeface="Cambria"/>
              </a:rPr>
              <a:t> binding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569468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95" dirty="0"/>
              <a:t> </a:t>
            </a:r>
            <a:r>
              <a:rPr sz="2400" spc="275" dirty="0"/>
              <a:t>OVERRIDING</a:t>
            </a:r>
            <a:r>
              <a:rPr sz="2400" spc="315" dirty="0"/>
              <a:t> </a:t>
            </a:r>
            <a:r>
              <a:rPr sz="3000" dirty="0"/>
              <a:t>-</a:t>
            </a:r>
            <a:r>
              <a:rPr sz="3000" spc="165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01"/>
            <a:ext cx="4178300" cy="21621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90" dirty="0">
                <a:latin typeface="Cambria"/>
                <a:cs typeface="Cambria"/>
              </a:rPr>
              <a:t>TestOverridding</a:t>
            </a:r>
            <a:r>
              <a:rPr sz="1400" b="1" spc="4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args)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133985">
              <a:lnSpc>
                <a:spcPct val="1000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System.</a:t>
            </a:r>
            <a:r>
              <a:rPr sz="1400" b="1" i="1" spc="60" dirty="0">
                <a:latin typeface="Cambria"/>
                <a:cs typeface="Cambria"/>
              </a:rPr>
              <a:t>out.println("------Parent-----");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70" dirty="0">
                <a:latin typeface="Cambria"/>
                <a:cs typeface="Cambria"/>
              </a:rPr>
              <a:t>Parent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25" dirty="0">
                <a:latin typeface="Cambria"/>
                <a:cs typeface="Cambria"/>
              </a:rPr>
              <a:t>p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Parent();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25" dirty="0">
                <a:latin typeface="Cambria"/>
                <a:cs typeface="Cambria"/>
              </a:rPr>
              <a:t>p.display();</a:t>
            </a:r>
            <a:endParaRPr sz="1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75" dirty="0">
                <a:latin typeface="Cambria"/>
                <a:cs typeface="Cambria"/>
              </a:rPr>
              <a:t>System.</a:t>
            </a:r>
            <a:r>
              <a:rPr sz="1400" b="1" i="1" spc="75" dirty="0">
                <a:latin typeface="Cambria"/>
                <a:cs typeface="Cambria"/>
              </a:rPr>
              <a:t>out.println(“\n------Child-----");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85" dirty="0">
                <a:latin typeface="Cambria"/>
                <a:cs typeface="Cambria"/>
              </a:rPr>
              <a:t>Child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c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70" dirty="0">
                <a:latin typeface="Cambria"/>
                <a:cs typeface="Cambria"/>
              </a:rPr>
              <a:t>Child();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5" dirty="0">
                <a:latin typeface="Cambria"/>
                <a:cs typeface="Cambria"/>
              </a:rPr>
              <a:t>c.display();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3764660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4189933"/>
            <a:ext cx="4400550" cy="21621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45" dirty="0">
                <a:latin typeface="Cambria"/>
                <a:cs typeface="Cambria"/>
              </a:rPr>
              <a:t> </a:t>
            </a:r>
            <a:r>
              <a:rPr sz="1400" b="1" spc="105" dirty="0">
                <a:latin typeface="Cambria"/>
                <a:cs typeface="Cambria"/>
              </a:rPr>
              <a:t>Parent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60" dirty="0">
                <a:latin typeface="Cambria"/>
                <a:cs typeface="Cambria"/>
              </a:rPr>
              <a:t> display()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  <a:spcBef>
                <a:spcPts val="10"/>
              </a:spcBef>
            </a:pPr>
            <a:r>
              <a:rPr sz="1400" spc="85" dirty="0">
                <a:latin typeface="Cambria"/>
                <a:cs typeface="Cambria"/>
              </a:rPr>
              <a:t>System.</a:t>
            </a:r>
            <a:r>
              <a:rPr sz="1400" b="1" i="1" spc="85" dirty="0">
                <a:latin typeface="Cambria"/>
                <a:cs typeface="Cambria"/>
              </a:rPr>
              <a:t>out.println(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spc="100" dirty="0">
                <a:latin typeface="Cambria"/>
                <a:cs typeface="Cambria"/>
              </a:rPr>
              <a:t>"Display</a:t>
            </a:r>
            <a:r>
              <a:rPr sz="1400" b="1" i="1" spc="95" dirty="0">
                <a:latin typeface="Cambria"/>
                <a:cs typeface="Cambria"/>
              </a:rPr>
              <a:t> </a:t>
            </a:r>
            <a:r>
              <a:rPr sz="1400" b="1" i="1" spc="130" dirty="0">
                <a:latin typeface="Cambria"/>
                <a:cs typeface="Cambria"/>
              </a:rPr>
              <a:t>in</a:t>
            </a:r>
            <a:r>
              <a:rPr sz="1400" b="1" i="1" spc="95" dirty="0">
                <a:latin typeface="Cambria"/>
                <a:cs typeface="Cambria"/>
              </a:rPr>
              <a:t> </a:t>
            </a:r>
            <a:r>
              <a:rPr sz="1400" b="1" i="1" spc="90" dirty="0">
                <a:latin typeface="Cambria"/>
                <a:cs typeface="Cambria"/>
              </a:rPr>
              <a:t>Parent"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20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50" dirty="0">
                <a:latin typeface="Cambria"/>
                <a:cs typeface="Cambria"/>
              </a:rPr>
              <a:t> </a:t>
            </a:r>
            <a:r>
              <a:rPr sz="1400" b="1" spc="125" dirty="0">
                <a:latin typeface="Cambria"/>
                <a:cs typeface="Cambria"/>
              </a:rPr>
              <a:t>Child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extends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10" dirty="0">
                <a:latin typeface="Cambria"/>
                <a:cs typeface="Cambria"/>
              </a:rPr>
              <a:t>Parent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60" dirty="0">
                <a:latin typeface="Cambria"/>
                <a:cs typeface="Cambria"/>
              </a:rPr>
              <a:t>display()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  <a:spcBef>
                <a:spcPts val="10"/>
              </a:spcBef>
            </a:pPr>
            <a:r>
              <a:rPr sz="1400" spc="85" dirty="0">
                <a:latin typeface="Cambria"/>
                <a:cs typeface="Cambria"/>
              </a:rPr>
              <a:t>System.</a:t>
            </a:r>
            <a:r>
              <a:rPr sz="1400" b="1" i="1" spc="85" dirty="0">
                <a:latin typeface="Cambria"/>
                <a:cs typeface="Cambria"/>
              </a:rPr>
              <a:t>out.println(</a:t>
            </a:r>
            <a:r>
              <a:rPr sz="1400" b="1" i="1" spc="50" dirty="0">
                <a:latin typeface="Cambria"/>
                <a:cs typeface="Cambria"/>
              </a:rPr>
              <a:t> </a:t>
            </a:r>
            <a:r>
              <a:rPr sz="1400" b="1" i="1" spc="100" dirty="0">
                <a:latin typeface="Cambria"/>
                <a:cs typeface="Cambria"/>
              </a:rPr>
              <a:t>"Display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130" dirty="0">
                <a:latin typeface="Cambria"/>
                <a:cs typeface="Cambria"/>
              </a:rPr>
              <a:t>in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140" dirty="0">
                <a:latin typeface="Cambria"/>
                <a:cs typeface="Cambria"/>
              </a:rPr>
              <a:t>Child"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20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48400" y="3886200"/>
            <a:ext cx="1844675" cy="1724025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------Parent-----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Parent</a:t>
            </a:r>
            <a:endParaRPr sz="14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45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spc="-5" dirty="0">
                <a:latin typeface="Arial MT"/>
                <a:cs typeface="Arial MT"/>
              </a:rPr>
              <a:t>------Child-----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4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40" dirty="0">
                <a:latin typeface="Arial MT"/>
                <a:cs typeface="Arial MT"/>
              </a:rPr>
              <a:t> </a:t>
            </a:r>
            <a:r>
              <a:rPr sz="1400" spc="-5" dirty="0">
                <a:latin typeface="Arial MT"/>
                <a:cs typeface="Arial MT"/>
              </a:rPr>
              <a:t>Child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438734"/>
            <a:ext cx="690435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 </a:t>
            </a:r>
            <a:r>
              <a:rPr sz="2400" spc="275" dirty="0"/>
              <a:t>OVERRIDING</a:t>
            </a:r>
            <a:r>
              <a:rPr sz="2400" spc="325" dirty="0"/>
              <a:t> </a:t>
            </a:r>
            <a:r>
              <a:rPr sz="3000" dirty="0"/>
              <a:t>-</a:t>
            </a:r>
            <a:r>
              <a:rPr sz="3000" spc="175" dirty="0"/>
              <a:t> </a:t>
            </a:r>
            <a:r>
              <a:rPr sz="3000" spc="270" dirty="0"/>
              <a:t>E</a:t>
            </a:r>
            <a:r>
              <a:rPr sz="2400" spc="270" dirty="0"/>
              <a:t>XAMPLE</a:t>
            </a:r>
            <a:r>
              <a:rPr sz="3000" spc="270" dirty="0"/>
              <a:t>(</a:t>
            </a:r>
            <a:r>
              <a:rPr sz="2400" spc="270" dirty="0"/>
              <a:t>SUPER</a:t>
            </a:r>
            <a:endParaRPr sz="2400"/>
          </a:p>
          <a:p>
            <a:pPr marL="12700">
              <a:lnSpc>
                <a:spcPct val="100000"/>
              </a:lnSpc>
            </a:pPr>
            <a:r>
              <a:rPr sz="2400" spc="229" dirty="0"/>
              <a:t>KEYWORD</a:t>
            </a:r>
            <a:r>
              <a:rPr sz="3000" spc="229" dirty="0"/>
              <a:t>)</a:t>
            </a:r>
            <a:endParaRPr sz="30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01"/>
            <a:ext cx="4178300" cy="21621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90" dirty="0">
                <a:latin typeface="Cambria"/>
                <a:cs typeface="Cambria"/>
              </a:rPr>
              <a:t>TestOverridding</a:t>
            </a:r>
            <a:r>
              <a:rPr sz="1400" b="1" spc="4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args)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133985">
              <a:lnSpc>
                <a:spcPct val="1000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System.</a:t>
            </a:r>
            <a:r>
              <a:rPr sz="1400" b="1" i="1" spc="60" dirty="0">
                <a:latin typeface="Cambria"/>
                <a:cs typeface="Cambria"/>
              </a:rPr>
              <a:t>out.println("------Parent-----");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70" dirty="0">
                <a:latin typeface="Cambria"/>
                <a:cs typeface="Cambria"/>
              </a:rPr>
              <a:t>Parent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25" dirty="0">
                <a:latin typeface="Cambria"/>
                <a:cs typeface="Cambria"/>
              </a:rPr>
              <a:t>p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Parent();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25" dirty="0">
                <a:latin typeface="Cambria"/>
                <a:cs typeface="Cambria"/>
              </a:rPr>
              <a:t>p.display();</a:t>
            </a:r>
            <a:endParaRPr sz="1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75" dirty="0">
                <a:latin typeface="Cambria"/>
                <a:cs typeface="Cambria"/>
              </a:rPr>
              <a:t>System.</a:t>
            </a:r>
            <a:r>
              <a:rPr sz="1400" b="1" i="1" spc="75" dirty="0">
                <a:latin typeface="Cambria"/>
                <a:cs typeface="Cambria"/>
              </a:rPr>
              <a:t>out.println(“\n------Child-----");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85" dirty="0">
                <a:latin typeface="Cambria"/>
                <a:cs typeface="Cambria"/>
              </a:rPr>
              <a:t>Child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c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70" dirty="0">
                <a:latin typeface="Cambria"/>
                <a:cs typeface="Cambria"/>
              </a:rPr>
              <a:t>Child();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5" dirty="0">
                <a:latin typeface="Cambria"/>
                <a:cs typeface="Cambria"/>
              </a:rPr>
              <a:t>c.display();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3764660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4189933"/>
            <a:ext cx="4902835" cy="23755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45" dirty="0">
                <a:latin typeface="Cambria"/>
                <a:cs typeface="Cambria"/>
              </a:rPr>
              <a:t> </a:t>
            </a:r>
            <a:r>
              <a:rPr sz="1400" b="1" spc="105" dirty="0">
                <a:latin typeface="Cambria"/>
                <a:cs typeface="Cambria"/>
              </a:rPr>
              <a:t>Parent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60" dirty="0">
                <a:latin typeface="Cambria"/>
                <a:cs typeface="Cambria"/>
              </a:rPr>
              <a:t> display()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  <a:spcBef>
                <a:spcPts val="10"/>
              </a:spcBef>
            </a:pPr>
            <a:r>
              <a:rPr sz="1400" spc="85" dirty="0">
                <a:latin typeface="Cambria"/>
                <a:cs typeface="Cambria"/>
              </a:rPr>
              <a:t>System.</a:t>
            </a:r>
            <a:r>
              <a:rPr sz="1400" b="1" i="1" spc="85" dirty="0">
                <a:latin typeface="Cambria"/>
                <a:cs typeface="Cambria"/>
              </a:rPr>
              <a:t>out.println(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spc="100" dirty="0">
                <a:latin typeface="Cambria"/>
                <a:cs typeface="Cambria"/>
              </a:rPr>
              <a:t>"Display</a:t>
            </a:r>
            <a:r>
              <a:rPr sz="1400" b="1" i="1" spc="95" dirty="0">
                <a:latin typeface="Cambria"/>
                <a:cs typeface="Cambria"/>
              </a:rPr>
              <a:t> </a:t>
            </a:r>
            <a:r>
              <a:rPr sz="1400" b="1" i="1" spc="130" dirty="0">
                <a:latin typeface="Cambria"/>
                <a:cs typeface="Cambria"/>
              </a:rPr>
              <a:t>in</a:t>
            </a:r>
            <a:r>
              <a:rPr sz="1400" b="1" i="1" spc="90" dirty="0">
                <a:latin typeface="Cambria"/>
                <a:cs typeface="Cambria"/>
              </a:rPr>
              <a:t> Parent"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20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50" dirty="0">
                <a:latin typeface="Cambria"/>
                <a:cs typeface="Cambria"/>
              </a:rPr>
              <a:t> </a:t>
            </a:r>
            <a:r>
              <a:rPr sz="1400" b="1" spc="125" dirty="0">
                <a:latin typeface="Cambria"/>
                <a:cs typeface="Cambria"/>
              </a:rPr>
              <a:t>Child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extends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10" dirty="0">
                <a:latin typeface="Cambria"/>
                <a:cs typeface="Cambria"/>
              </a:rPr>
              <a:t>Parent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1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60" dirty="0">
                <a:latin typeface="Cambria"/>
                <a:cs typeface="Cambria"/>
              </a:rPr>
              <a:t>display()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652780" marR="5080">
              <a:lnSpc>
                <a:spcPct val="100000"/>
              </a:lnSpc>
            </a:pPr>
            <a:r>
              <a:rPr sz="1400" b="1" spc="55" dirty="0">
                <a:latin typeface="Cambria"/>
                <a:cs typeface="Cambria"/>
              </a:rPr>
              <a:t>s</a:t>
            </a:r>
            <a:r>
              <a:rPr sz="1400" b="1" spc="90" dirty="0">
                <a:latin typeface="Cambria"/>
                <a:cs typeface="Cambria"/>
              </a:rPr>
              <a:t>uper</a:t>
            </a:r>
            <a:r>
              <a:rPr sz="1400" b="1" spc="45" dirty="0">
                <a:latin typeface="Cambria"/>
                <a:cs typeface="Cambria"/>
              </a:rPr>
              <a:t>.</a:t>
            </a:r>
            <a:r>
              <a:rPr sz="1400" spc="40" dirty="0">
                <a:latin typeface="Cambria"/>
                <a:cs typeface="Cambria"/>
              </a:rPr>
              <a:t>disp</a:t>
            </a:r>
            <a:r>
              <a:rPr sz="1400" spc="10" dirty="0">
                <a:latin typeface="Cambria"/>
                <a:cs typeface="Cambria"/>
              </a:rPr>
              <a:t>l</a:t>
            </a:r>
            <a:r>
              <a:rPr sz="1400" spc="65" dirty="0">
                <a:latin typeface="Cambria"/>
                <a:cs typeface="Cambria"/>
              </a:rPr>
              <a:t>a</a:t>
            </a:r>
            <a:r>
              <a:rPr sz="1400" spc="70" dirty="0">
                <a:latin typeface="Cambria"/>
                <a:cs typeface="Cambria"/>
              </a:rPr>
              <a:t>y</a:t>
            </a:r>
            <a:r>
              <a:rPr sz="1400" b="1" spc="-40" dirty="0">
                <a:latin typeface="Cambria"/>
                <a:cs typeface="Cambria"/>
              </a:rPr>
              <a:t>(</a:t>
            </a:r>
            <a:r>
              <a:rPr sz="1400" b="1" spc="-30" dirty="0">
                <a:latin typeface="Cambria"/>
                <a:cs typeface="Cambria"/>
              </a:rPr>
              <a:t>)</a:t>
            </a:r>
            <a:r>
              <a:rPr sz="1400" b="1" spc="-5" dirty="0">
                <a:latin typeface="Cambria"/>
                <a:cs typeface="Cambria"/>
              </a:rPr>
              <a:t>;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invoke 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h</a:t>
            </a:r>
            <a:r>
              <a:rPr sz="1400" spc="15" dirty="0">
                <a:latin typeface="Cambria"/>
                <a:cs typeface="Cambria"/>
              </a:rPr>
              <a:t>e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paren</a:t>
            </a:r>
            <a:r>
              <a:rPr sz="1400" spc="40" dirty="0">
                <a:latin typeface="Cambria"/>
                <a:cs typeface="Cambria"/>
              </a:rPr>
              <a:t>t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class’s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e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h</a:t>
            </a:r>
            <a:r>
              <a:rPr sz="1400" spc="-45" dirty="0">
                <a:latin typeface="Cambria"/>
                <a:cs typeface="Cambria"/>
              </a:rPr>
              <a:t>o</a:t>
            </a:r>
            <a:r>
              <a:rPr sz="1400" spc="15" dirty="0">
                <a:latin typeface="Cambria"/>
                <a:cs typeface="Cambria"/>
              </a:rPr>
              <a:t>d  </a:t>
            </a:r>
            <a:r>
              <a:rPr sz="1400" spc="85" dirty="0">
                <a:latin typeface="Cambria"/>
                <a:cs typeface="Cambria"/>
              </a:rPr>
              <a:t>System.</a:t>
            </a:r>
            <a:r>
              <a:rPr sz="1400" b="1" i="1" spc="85" dirty="0">
                <a:latin typeface="Cambria"/>
                <a:cs typeface="Cambria"/>
              </a:rPr>
              <a:t>out.println(</a:t>
            </a:r>
            <a:r>
              <a:rPr sz="1400" b="1" i="1" spc="50" dirty="0">
                <a:latin typeface="Cambria"/>
                <a:cs typeface="Cambria"/>
              </a:rPr>
              <a:t> </a:t>
            </a:r>
            <a:r>
              <a:rPr sz="1400" b="1" i="1" spc="100" dirty="0">
                <a:latin typeface="Cambria"/>
                <a:cs typeface="Cambria"/>
              </a:rPr>
              <a:t>"Display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130" dirty="0">
                <a:latin typeface="Cambria"/>
                <a:cs typeface="Cambria"/>
              </a:rPr>
              <a:t>in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140" dirty="0">
                <a:latin typeface="Cambria"/>
                <a:cs typeface="Cambria"/>
              </a:rPr>
              <a:t>Child"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20" dirty="0">
                <a:latin typeface="Cambria"/>
                <a:cs typeface="Cambria"/>
              </a:rPr>
              <a:t>);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48400" y="3886136"/>
            <a:ext cx="1844675" cy="1938655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------Parent-----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Parent</a:t>
            </a:r>
            <a:endParaRPr sz="14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45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------Child-----</a:t>
            </a:r>
            <a:endParaRPr sz="1400">
              <a:latin typeface="Arial MT"/>
              <a:cs typeface="Arial MT"/>
            </a:endParaRPr>
          </a:p>
          <a:p>
            <a:pPr marL="92075" marR="401320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Parent </a:t>
            </a:r>
            <a:r>
              <a:rPr sz="1400" spc="-37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Display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in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spc="-5" dirty="0">
                <a:latin typeface="Arial MT"/>
                <a:cs typeface="Arial MT"/>
              </a:rPr>
              <a:t>Child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0468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50" dirty="0"/>
              <a:t> </a:t>
            </a:r>
            <a:r>
              <a:rPr sz="2400" spc="290" dirty="0"/>
              <a:t>OVERLOADING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280909" cy="48780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323850" indent="-273050">
              <a:lnSpc>
                <a:spcPct val="100099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35" dirty="0">
                <a:latin typeface="Cambria"/>
                <a:cs typeface="Cambria"/>
              </a:rPr>
              <a:t>Two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methods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same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class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have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same</a:t>
            </a:r>
            <a:r>
              <a:rPr sz="2400" b="1" spc="145" dirty="0">
                <a:latin typeface="Cambria"/>
                <a:cs typeface="Cambria"/>
              </a:rPr>
              <a:t> </a:t>
            </a:r>
            <a:r>
              <a:rPr sz="2400" b="1" spc="160" dirty="0">
                <a:latin typeface="Cambria"/>
                <a:cs typeface="Cambria"/>
              </a:rPr>
              <a:t>name </a:t>
            </a:r>
            <a:r>
              <a:rPr sz="2400" spc="90" dirty="0">
                <a:latin typeface="Cambria"/>
                <a:cs typeface="Cambria"/>
              </a:rPr>
              <a:t>with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different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55" dirty="0">
                <a:latin typeface="Cambria"/>
                <a:cs typeface="Cambria"/>
              </a:rPr>
              <a:t>signature</a:t>
            </a:r>
            <a:r>
              <a:rPr sz="2400" spc="155" dirty="0">
                <a:latin typeface="Cambria"/>
                <a:cs typeface="Cambria"/>
              </a:rPr>
              <a:t>.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This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 </a:t>
            </a:r>
            <a:r>
              <a:rPr sz="2400" spc="8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called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overloading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are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called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overloaded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method.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signature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its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b="1" spc="140" dirty="0">
                <a:latin typeface="Cambria"/>
                <a:cs typeface="Cambria"/>
              </a:rPr>
              <a:t>name</a:t>
            </a:r>
            <a:r>
              <a:rPr sz="2100" b="1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with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b="1" spc="135" dirty="0">
                <a:latin typeface="Cambria"/>
                <a:cs typeface="Cambria"/>
              </a:rPr>
              <a:t>number</a:t>
            </a:r>
            <a:r>
              <a:rPr sz="2100" spc="135" dirty="0">
                <a:latin typeface="Cambria"/>
                <a:cs typeface="Cambria"/>
              </a:rPr>
              <a:t>,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b="1" spc="130" dirty="0">
                <a:latin typeface="Cambria"/>
                <a:cs typeface="Cambria"/>
              </a:rPr>
              <a:t>type</a:t>
            </a:r>
            <a:r>
              <a:rPr sz="2100" b="1" spc="114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b="1" spc="110" dirty="0">
                <a:latin typeface="Cambria"/>
                <a:cs typeface="Cambria"/>
              </a:rPr>
              <a:t>order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its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parameters.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return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not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part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signature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</a:t>
            </a:r>
            <a:endParaRPr sz="21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2100" spc="65" dirty="0">
                <a:latin typeface="Cambria"/>
                <a:cs typeface="Cambria"/>
              </a:rPr>
              <a:t>method.</a:t>
            </a:r>
            <a:endParaRPr sz="21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0" dirty="0">
                <a:latin typeface="Cambria"/>
                <a:cs typeface="Cambria"/>
              </a:rPr>
              <a:t>Condition: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Methods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should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0" dirty="0">
                <a:latin typeface="Cambria"/>
                <a:cs typeface="Cambria"/>
              </a:rPr>
              <a:t>Same</a:t>
            </a:r>
            <a:r>
              <a:rPr sz="2100" spc="70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name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40" dirty="0">
                <a:latin typeface="Cambria"/>
                <a:cs typeface="Cambria"/>
              </a:rPr>
              <a:t>Must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have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different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argument.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Return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could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different.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046854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50" dirty="0"/>
              <a:t> </a:t>
            </a:r>
            <a:r>
              <a:rPr sz="2400" spc="290" dirty="0"/>
              <a:t>OVERLOADING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18693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0" dirty="0">
                <a:latin typeface="Cambria"/>
                <a:cs typeface="Cambria"/>
              </a:rPr>
              <a:t>This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called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static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binding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because,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which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invoked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decided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time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 </a:t>
            </a:r>
            <a:r>
              <a:rPr sz="240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compilation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0102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M</a:t>
            </a:r>
            <a:r>
              <a:rPr sz="2400" spc="305" dirty="0"/>
              <a:t>ETHOD</a:t>
            </a:r>
            <a:r>
              <a:rPr sz="2400" spc="290" dirty="0"/>
              <a:t> OVERLOADING</a:t>
            </a:r>
            <a:r>
              <a:rPr sz="2400" spc="295" dirty="0"/>
              <a:t> </a:t>
            </a:r>
            <a:r>
              <a:rPr sz="3000" dirty="0"/>
              <a:t>-</a:t>
            </a:r>
            <a:r>
              <a:rPr sz="3000" spc="160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30426"/>
            <a:ext cx="4098290" cy="1321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730" marR="2172970" indent="-367665">
              <a:lnSpc>
                <a:spcPct val="100000"/>
              </a:lnSpc>
              <a:spcBef>
                <a:spcPts val="100"/>
              </a:spcBef>
            </a:pP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OverloadDemo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test()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1500" spc="55" dirty="0">
                <a:latin typeface="Cambria"/>
                <a:cs typeface="Cambria"/>
              </a:rPr>
              <a:t>System.out.println("No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parameters");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379730" marR="5080">
              <a:lnSpc>
                <a:spcPct val="100000"/>
              </a:lnSpc>
              <a:spcBef>
                <a:spcPts val="1200"/>
              </a:spcBef>
            </a:pP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30" dirty="0">
                <a:latin typeface="Cambria"/>
                <a:cs typeface="Cambria"/>
              </a:rPr>
              <a:t>O</a:t>
            </a:r>
            <a:r>
              <a:rPr sz="1500" spc="95" dirty="0">
                <a:latin typeface="Cambria"/>
                <a:cs typeface="Cambria"/>
              </a:rPr>
              <a:t>v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25" dirty="0">
                <a:latin typeface="Cambria"/>
                <a:cs typeface="Cambria"/>
              </a:rPr>
              <a:t>d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60" dirty="0">
                <a:latin typeface="Cambria"/>
                <a:cs typeface="Cambria"/>
              </a:rPr>
              <a:t>st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f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45" dirty="0">
                <a:latin typeface="Cambria"/>
                <a:cs typeface="Cambria"/>
              </a:rPr>
              <a:t>r</a:t>
            </a:r>
            <a:r>
              <a:rPr sz="1500" spc="55" dirty="0">
                <a:latin typeface="Cambria"/>
                <a:cs typeface="Cambria"/>
              </a:rPr>
              <a:t> 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i</a:t>
            </a:r>
            <a:r>
              <a:rPr sz="1500" spc="70" dirty="0">
                <a:latin typeface="Cambria"/>
                <a:cs typeface="Cambria"/>
              </a:rPr>
              <a:t>n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5" dirty="0">
                <a:latin typeface="Cambria"/>
                <a:cs typeface="Cambria"/>
              </a:rPr>
              <a:t>g</a:t>
            </a:r>
            <a:r>
              <a:rPr sz="1500" spc="40" dirty="0">
                <a:latin typeface="Cambria"/>
                <a:cs typeface="Cambria"/>
              </a:rPr>
              <a:t>e</a:t>
            </a:r>
            <a:r>
              <a:rPr sz="1500" spc="45" dirty="0">
                <a:latin typeface="Cambria"/>
                <a:cs typeface="Cambria"/>
              </a:rPr>
              <a:t>r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</a:t>
            </a:r>
            <a:r>
              <a:rPr sz="1500" spc="65" dirty="0">
                <a:latin typeface="Cambria"/>
                <a:cs typeface="Cambria"/>
              </a:rPr>
              <a:t>a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110" dirty="0">
                <a:latin typeface="Cambria"/>
                <a:cs typeface="Cambria"/>
              </a:rPr>
              <a:t>. 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40" dirty="0">
                <a:latin typeface="Cambria"/>
                <a:cs typeface="Cambria"/>
              </a:rPr>
              <a:t>test(int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a)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03224" y="2926156"/>
            <a:ext cx="3461385" cy="1329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750">
              <a:lnSpc>
                <a:spcPct val="100000"/>
              </a:lnSpc>
              <a:spcBef>
                <a:spcPts val="100"/>
              </a:spcBef>
            </a:pPr>
            <a:r>
              <a:rPr sz="1500" spc="55" dirty="0">
                <a:latin typeface="Cambria"/>
                <a:cs typeface="Cambria"/>
              </a:rPr>
              <a:t>System.out.println("a: </a:t>
            </a:r>
            <a:r>
              <a:rPr sz="1500" spc="-5" dirty="0">
                <a:latin typeface="Cambria"/>
                <a:cs typeface="Cambria"/>
              </a:rPr>
              <a:t>"</a:t>
            </a:r>
            <a:r>
              <a:rPr sz="1500" spc="75" dirty="0">
                <a:latin typeface="Cambria"/>
                <a:cs typeface="Cambria"/>
              </a:rPr>
              <a:t> + </a:t>
            </a:r>
            <a:r>
              <a:rPr sz="1500" spc="15" dirty="0">
                <a:latin typeface="Cambria"/>
                <a:cs typeface="Cambria"/>
              </a:rPr>
              <a:t>a);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 marR="33020">
              <a:lnSpc>
                <a:spcPct val="100000"/>
              </a:lnSpc>
              <a:spcBef>
                <a:spcPts val="1260"/>
              </a:spcBef>
            </a:pP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30" dirty="0">
                <a:latin typeface="Cambria"/>
                <a:cs typeface="Cambria"/>
              </a:rPr>
              <a:t>O</a:t>
            </a:r>
            <a:r>
              <a:rPr sz="1500" spc="95" dirty="0">
                <a:latin typeface="Cambria"/>
                <a:cs typeface="Cambria"/>
              </a:rPr>
              <a:t>v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25" dirty="0">
                <a:latin typeface="Cambria"/>
                <a:cs typeface="Cambria"/>
              </a:rPr>
              <a:t>d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60" dirty="0">
                <a:latin typeface="Cambria"/>
                <a:cs typeface="Cambria"/>
              </a:rPr>
              <a:t>st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f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45" dirty="0">
                <a:latin typeface="Cambria"/>
                <a:cs typeface="Cambria"/>
              </a:rPr>
              <a:t>r</a:t>
            </a:r>
            <a:r>
              <a:rPr sz="1500" spc="55" dirty="0">
                <a:latin typeface="Cambria"/>
                <a:cs typeface="Cambria"/>
              </a:rPr>
              <a:t> 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d</a:t>
            </a:r>
            <a:r>
              <a:rPr sz="1500" spc="-50" dirty="0">
                <a:latin typeface="Cambria"/>
                <a:cs typeface="Cambria"/>
              </a:rPr>
              <a:t>o</a:t>
            </a:r>
            <a:r>
              <a:rPr sz="1500" spc="80" dirty="0">
                <a:latin typeface="Cambria"/>
                <a:cs typeface="Cambria"/>
              </a:rPr>
              <a:t>u</a:t>
            </a:r>
            <a:r>
              <a:rPr sz="1500" spc="10" dirty="0">
                <a:latin typeface="Cambria"/>
                <a:cs typeface="Cambria"/>
              </a:rPr>
              <a:t>b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p</a:t>
            </a:r>
            <a:r>
              <a:rPr sz="1500" spc="65" dirty="0">
                <a:latin typeface="Cambria"/>
                <a:cs typeface="Cambria"/>
              </a:rPr>
              <a:t>a</a:t>
            </a:r>
            <a:r>
              <a:rPr sz="1500" spc="35" dirty="0">
                <a:latin typeface="Cambria"/>
                <a:cs typeface="Cambria"/>
              </a:rPr>
              <a:t>r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m</a:t>
            </a:r>
            <a:r>
              <a:rPr sz="1500" spc="35" dirty="0">
                <a:latin typeface="Cambria"/>
                <a:cs typeface="Cambria"/>
              </a:rPr>
              <a:t>e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30" dirty="0">
                <a:latin typeface="Cambria"/>
                <a:cs typeface="Cambria"/>
              </a:rPr>
              <a:t>r  </a:t>
            </a:r>
            <a:r>
              <a:rPr sz="1500" spc="25" dirty="0">
                <a:latin typeface="Cambria"/>
                <a:cs typeface="Cambria"/>
              </a:rPr>
              <a:t>double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test(double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10" dirty="0">
                <a:latin typeface="Cambria"/>
                <a:cs typeface="Cambria"/>
              </a:rPr>
              <a:t>a)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285750" marR="5080">
              <a:lnSpc>
                <a:spcPct val="100000"/>
              </a:lnSpc>
            </a:pPr>
            <a:r>
              <a:rPr sz="1500" spc="45" dirty="0">
                <a:latin typeface="Cambria"/>
                <a:cs typeface="Cambria"/>
              </a:rPr>
              <a:t>System.out.println("double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a: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-10" dirty="0">
                <a:latin typeface="Cambria"/>
                <a:cs typeface="Cambria"/>
              </a:rPr>
              <a:t>"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+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a); </a:t>
            </a:r>
            <a:r>
              <a:rPr sz="1500" spc="-315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return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80" dirty="0">
                <a:latin typeface="Cambria"/>
                <a:cs typeface="Cambria"/>
              </a:rPr>
              <a:t>a*a;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4229557"/>
            <a:ext cx="5726430" cy="2540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500" spc="50" dirty="0">
                <a:latin typeface="Cambria"/>
                <a:cs typeface="Cambria"/>
              </a:rPr>
              <a:t>class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Overload</a:t>
            </a:r>
            <a:r>
              <a:rPr sz="1500" spc="4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</a:t>
            </a:r>
            <a:endParaRPr sz="1500">
              <a:latin typeface="Cambria"/>
              <a:cs typeface="Cambria"/>
            </a:endParaRPr>
          </a:p>
          <a:p>
            <a:pPr marL="744220" marR="1286510" indent="-364490">
              <a:lnSpc>
                <a:spcPct val="100000"/>
              </a:lnSpc>
            </a:pPr>
            <a:r>
              <a:rPr sz="1500" spc="35" dirty="0">
                <a:latin typeface="Cambria"/>
                <a:cs typeface="Cambria"/>
              </a:rPr>
              <a:t>public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5" dirty="0">
                <a:latin typeface="Cambria"/>
                <a:cs typeface="Cambria"/>
              </a:rPr>
              <a:t>static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void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65" dirty="0">
                <a:latin typeface="Cambria"/>
                <a:cs typeface="Cambria"/>
              </a:rPr>
              <a:t>main(String</a:t>
            </a:r>
            <a:r>
              <a:rPr sz="1500" spc="105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args[])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-85" dirty="0">
                <a:latin typeface="Cambria"/>
                <a:cs typeface="Cambria"/>
              </a:rPr>
              <a:t>{ </a:t>
            </a:r>
            <a:r>
              <a:rPr sz="1500" spc="-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OverloadDemo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-15" dirty="0">
                <a:latin typeface="Cambria"/>
                <a:cs typeface="Cambria"/>
              </a:rPr>
              <a:t>ob</a:t>
            </a:r>
            <a:r>
              <a:rPr sz="1500" spc="6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new</a:t>
            </a:r>
            <a:r>
              <a:rPr sz="1500" spc="75" dirty="0">
                <a:latin typeface="Cambria"/>
                <a:cs typeface="Cambria"/>
              </a:rPr>
              <a:t> </a:t>
            </a:r>
            <a:r>
              <a:rPr sz="1500" spc="35" dirty="0">
                <a:latin typeface="Cambria"/>
                <a:cs typeface="Cambria"/>
              </a:rPr>
              <a:t>OverloadDemo();</a:t>
            </a:r>
            <a:endParaRPr sz="15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500" spc="-320" dirty="0">
                <a:latin typeface="Cambria"/>
                <a:cs typeface="Cambria"/>
              </a:rPr>
              <a:t>//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-10" dirty="0">
                <a:latin typeface="Cambria"/>
                <a:cs typeface="Cambria"/>
              </a:rPr>
              <a:t>c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65" dirty="0">
                <a:latin typeface="Cambria"/>
                <a:cs typeface="Cambria"/>
              </a:rPr>
              <a:t>l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100" dirty="0">
                <a:latin typeface="Cambria"/>
                <a:cs typeface="Cambria"/>
              </a:rPr>
              <a:t>a</a:t>
            </a:r>
            <a:r>
              <a:rPr sz="1500" spc="60" dirty="0">
                <a:latin typeface="Cambria"/>
                <a:cs typeface="Cambria"/>
              </a:rPr>
              <a:t>l</a:t>
            </a:r>
            <a:r>
              <a:rPr sz="1500" spc="65" dirty="0">
                <a:latin typeface="Cambria"/>
                <a:cs typeface="Cambria"/>
              </a:rPr>
              <a:t>l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25" dirty="0">
                <a:latin typeface="Cambria"/>
                <a:cs typeface="Cambria"/>
              </a:rPr>
              <a:t>v</a:t>
            </a:r>
            <a:r>
              <a:rPr sz="1500" spc="35" dirty="0">
                <a:latin typeface="Cambria"/>
                <a:cs typeface="Cambria"/>
              </a:rPr>
              <a:t>ersions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-45" dirty="0">
                <a:latin typeface="Cambria"/>
                <a:cs typeface="Cambria"/>
              </a:rPr>
              <a:t>o</a:t>
            </a:r>
            <a:r>
              <a:rPr sz="1500" spc="45" dirty="0">
                <a:latin typeface="Cambria"/>
                <a:cs typeface="Cambria"/>
              </a:rPr>
              <a:t>f</a:t>
            </a:r>
            <a:r>
              <a:rPr sz="1500" spc="70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t</a:t>
            </a:r>
            <a:r>
              <a:rPr sz="1500" spc="15" dirty="0">
                <a:latin typeface="Cambria"/>
                <a:cs typeface="Cambria"/>
              </a:rPr>
              <a:t>e</a:t>
            </a:r>
            <a:r>
              <a:rPr sz="1500" spc="60" dirty="0">
                <a:latin typeface="Cambria"/>
                <a:cs typeface="Cambria"/>
              </a:rPr>
              <a:t>st</a:t>
            </a:r>
            <a:r>
              <a:rPr sz="1500" spc="-75" dirty="0">
                <a:latin typeface="Cambria"/>
                <a:cs typeface="Cambria"/>
              </a:rPr>
              <a:t>()</a:t>
            </a:r>
            <a:endParaRPr sz="15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500" spc="15" dirty="0">
                <a:latin typeface="Cambria"/>
                <a:cs typeface="Cambria"/>
              </a:rPr>
              <a:t>ob.test();</a:t>
            </a:r>
            <a:endParaRPr sz="15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500" spc="15" dirty="0">
                <a:latin typeface="Cambria"/>
                <a:cs typeface="Cambria"/>
              </a:rPr>
              <a:t>ob.test(10);</a:t>
            </a:r>
            <a:endParaRPr sz="1500">
              <a:latin typeface="Cambria"/>
              <a:cs typeface="Cambria"/>
            </a:endParaRPr>
          </a:p>
          <a:p>
            <a:pPr marL="744220" marR="5080">
              <a:lnSpc>
                <a:spcPct val="100000"/>
              </a:lnSpc>
            </a:pPr>
            <a:r>
              <a:rPr sz="1500" spc="25" dirty="0">
                <a:latin typeface="Cambria"/>
                <a:cs typeface="Cambria"/>
              </a:rPr>
              <a:t>double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50" dirty="0">
                <a:latin typeface="Cambria"/>
                <a:cs typeface="Cambria"/>
              </a:rPr>
              <a:t>result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=</a:t>
            </a:r>
            <a:r>
              <a:rPr sz="1500" spc="9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ob.test(123.25); </a:t>
            </a:r>
            <a:r>
              <a:rPr sz="1500" spc="20" dirty="0">
                <a:latin typeface="Cambria"/>
                <a:cs typeface="Cambria"/>
              </a:rPr>
              <a:t> </a:t>
            </a:r>
            <a:r>
              <a:rPr sz="1500" spc="60" dirty="0">
                <a:latin typeface="Cambria"/>
                <a:cs typeface="Cambria"/>
              </a:rPr>
              <a:t>System.out.println("Result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dirty="0">
                <a:latin typeface="Cambria"/>
                <a:cs typeface="Cambria"/>
              </a:rPr>
              <a:t>of</a:t>
            </a:r>
            <a:r>
              <a:rPr sz="1500" spc="80" dirty="0">
                <a:latin typeface="Cambria"/>
                <a:cs typeface="Cambria"/>
              </a:rPr>
              <a:t> </a:t>
            </a:r>
            <a:r>
              <a:rPr sz="1500" spc="15" dirty="0">
                <a:latin typeface="Cambria"/>
                <a:cs typeface="Cambria"/>
              </a:rPr>
              <a:t>ob.test(123.25):</a:t>
            </a:r>
            <a:r>
              <a:rPr sz="1500" spc="50" dirty="0">
                <a:latin typeface="Cambria"/>
                <a:cs typeface="Cambria"/>
              </a:rPr>
              <a:t> </a:t>
            </a:r>
            <a:r>
              <a:rPr sz="1500" spc="-10" dirty="0">
                <a:latin typeface="Cambria"/>
                <a:cs typeface="Cambria"/>
              </a:rPr>
              <a:t>"</a:t>
            </a:r>
            <a:r>
              <a:rPr sz="1500" spc="85" dirty="0">
                <a:latin typeface="Cambria"/>
                <a:cs typeface="Cambria"/>
              </a:rPr>
              <a:t> </a:t>
            </a:r>
            <a:r>
              <a:rPr sz="1500" spc="75" dirty="0">
                <a:latin typeface="Cambria"/>
                <a:cs typeface="Cambria"/>
              </a:rPr>
              <a:t>+</a:t>
            </a:r>
            <a:r>
              <a:rPr sz="1500" spc="95" dirty="0">
                <a:latin typeface="Cambria"/>
                <a:cs typeface="Cambria"/>
              </a:rPr>
              <a:t> </a:t>
            </a:r>
            <a:r>
              <a:rPr sz="1500" spc="30" dirty="0">
                <a:latin typeface="Cambria"/>
                <a:cs typeface="Cambria"/>
              </a:rPr>
              <a:t>result);</a:t>
            </a:r>
            <a:endParaRPr sz="15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500" spc="-85" dirty="0">
                <a:latin typeface="Cambria"/>
                <a:cs typeface="Cambria"/>
              </a:rPr>
              <a:t>}</a:t>
            </a:r>
            <a:endParaRPr sz="15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410200" y="3048063"/>
            <a:ext cx="3187700" cy="1230630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005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15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 marR="1911985">
              <a:lnSpc>
                <a:spcPct val="100000"/>
              </a:lnSpc>
              <a:spcBef>
                <a:spcPts val="5"/>
              </a:spcBef>
            </a:pPr>
            <a:r>
              <a:rPr sz="1400" spc="-5" dirty="0">
                <a:latin typeface="Arial MT"/>
                <a:cs typeface="Arial MT"/>
              </a:rPr>
              <a:t>No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spc="-5" dirty="0">
                <a:latin typeface="Arial MT"/>
                <a:cs typeface="Arial MT"/>
              </a:rPr>
              <a:t>parameters </a:t>
            </a:r>
            <a:r>
              <a:rPr sz="1400" spc="-37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a:</a:t>
            </a:r>
            <a:r>
              <a:rPr sz="1400" spc="-2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10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double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a:</a:t>
            </a:r>
            <a:r>
              <a:rPr sz="1400" spc="-40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123.25</a:t>
            </a:r>
            <a:endParaRPr sz="14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400" dirty="0">
                <a:latin typeface="Arial MT"/>
                <a:cs typeface="Arial MT"/>
              </a:rPr>
              <a:t>Result</a:t>
            </a:r>
            <a:r>
              <a:rPr sz="1400" spc="-35" dirty="0">
                <a:latin typeface="Arial MT"/>
                <a:cs typeface="Arial MT"/>
              </a:rPr>
              <a:t> </a:t>
            </a:r>
            <a:r>
              <a:rPr sz="1400" dirty="0">
                <a:latin typeface="Arial MT"/>
                <a:cs typeface="Arial MT"/>
              </a:rPr>
              <a:t>of</a:t>
            </a:r>
            <a:r>
              <a:rPr sz="1400" spc="-5" dirty="0">
                <a:latin typeface="Arial MT"/>
                <a:cs typeface="Arial MT"/>
              </a:rPr>
              <a:t> ob.test(123.25):</a:t>
            </a:r>
            <a:r>
              <a:rPr sz="1400" spc="-45" dirty="0">
                <a:latin typeface="Arial MT"/>
                <a:cs typeface="Arial MT"/>
              </a:rPr>
              <a:t> </a:t>
            </a:r>
            <a:r>
              <a:rPr sz="1400" spc="-5" dirty="0">
                <a:latin typeface="Arial MT"/>
                <a:cs typeface="Arial MT"/>
              </a:rPr>
              <a:t>15190.5625</a:t>
            </a:r>
            <a:endParaRPr sz="1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509778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ONSTRUCTOR</a:t>
            </a:r>
            <a:r>
              <a:rPr sz="2400" spc="270" dirty="0"/>
              <a:t> </a:t>
            </a:r>
            <a:r>
              <a:rPr sz="3000" spc="295" dirty="0"/>
              <a:t>O</a:t>
            </a:r>
            <a:r>
              <a:rPr sz="2400" spc="295" dirty="0"/>
              <a:t>VERLOADING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142480" cy="1931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In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addition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overloading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normal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methods,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you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also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overload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methods.</a:t>
            </a:r>
            <a:endParaRPr sz="24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In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fact,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most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real-world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classes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you </a:t>
            </a:r>
            <a:r>
              <a:rPr sz="2400" spc="4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create,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overloaded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norm,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not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exception.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06374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ONSTRUCTOR </a:t>
            </a:r>
            <a:r>
              <a:rPr sz="3000" spc="295" dirty="0"/>
              <a:t>O</a:t>
            </a:r>
            <a:r>
              <a:rPr sz="2400" spc="295" dirty="0"/>
              <a:t>VERLOADING</a:t>
            </a:r>
            <a:r>
              <a:rPr sz="2400" spc="320" dirty="0"/>
              <a:t> </a:t>
            </a:r>
            <a:r>
              <a:rPr sz="3000" dirty="0"/>
              <a:t>-</a:t>
            </a:r>
            <a:r>
              <a:rPr sz="3000" spc="170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pc="90" dirty="0"/>
              <a:t>public</a:t>
            </a:r>
            <a:r>
              <a:rPr spc="70" dirty="0"/>
              <a:t> </a:t>
            </a:r>
            <a:r>
              <a:rPr spc="75" dirty="0"/>
              <a:t>class</a:t>
            </a:r>
            <a:r>
              <a:rPr spc="55" dirty="0"/>
              <a:t> </a:t>
            </a:r>
            <a:r>
              <a:rPr spc="114" dirty="0"/>
              <a:t>Box</a:t>
            </a:r>
            <a:r>
              <a:rPr spc="60" dirty="0"/>
              <a:t> </a:t>
            </a:r>
            <a:r>
              <a:rPr spc="-5" dirty="0"/>
              <a:t>{</a:t>
            </a:r>
          </a:p>
          <a:p>
            <a:pPr marL="379730" algn="just">
              <a:lnSpc>
                <a:spcPct val="100000"/>
              </a:lnSpc>
            </a:pPr>
            <a:r>
              <a:rPr spc="75" dirty="0"/>
              <a:t>double</a:t>
            </a:r>
            <a:r>
              <a:rPr spc="70" dirty="0"/>
              <a:t> </a:t>
            </a:r>
            <a:r>
              <a:rPr spc="90" dirty="0"/>
              <a:t>width,</a:t>
            </a:r>
            <a:r>
              <a:rPr spc="80" dirty="0"/>
              <a:t> </a:t>
            </a:r>
            <a:r>
              <a:rPr spc="90" dirty="0"/>
              <a:t>height,</a:t>
            </a:r>
            <a:r>
              <a:rPr spc="75" dirty="0"/>
              <a:t> depth;</a:t>
            </a:r>
          </a:p>
          <a:p>
            <a:pPr marL="379730" marR="5080" algn="just">
              <a:lnSpc>
                <a:spcPct val="100000"/>
              </a:lnSpc>
              <a:spcBef>
                <a:spcPts val="10"/>
              </a:spcBef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30" dirty="0">
                <a:latin typeface="Cambria"/>
                <a:cs typeface="Cambria"/>
              </a:rPr>
              <a:t>constructor </a:t>
            </a:r>
            <a:r>
              <a:rPr b="0" spc="40" dirty="0">
                <a:latin typeface="Cambria"/>
                <a:cs typeface="Cambria"/>
              </a:rPr>
              <a:t>used when </a:t>
            </a:r>
            <a:r>
              <a:rPr b="0" spc="70" dirty="0">
                <a:latin typeface="Cambria"/>
                <a:cs typeface="Cambria"/>
              </a:rPr>
              <a:t>all </a:t>
            </a:r>
            <a:r>
              <a:rPr b="0" spc="40" dirty="0">
                <a:latin typeface="Cambria"/>
                <a:cs typeface="Cambria"/>
              </a:rPr>
              <a:t>dimensions </a:t>
            </a:r>
            <a:r>
              <a:rPr b="0" spc="30" dirty="0">
                <a:latin typeface="Cambria"/>
                <a:cs typeface="Cambria"/>
              </a:rPr>
              <a:t>specified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55" dirty="0">
                <a:latin typeface="Cambria"/>
                <a:cs typeface="Cambria"/>
              </a:rPr>
              <a:t>Box(</a:t>
            </a:r>
            <a:r>
              <a:rPr spc="55" dirty="0"/>
              <a:t>double</a:t>
            </a:r>
            <a:r>
              <a:rPr spc="65" dirty="0"/>
              <a:t> </a:t>
            </a:r>
            <a:r>
              <a:rPr spc="95" dirty="0"/>
              <a:t>w,</a:t>
            </a:r>
            <a:r>
              <a:rPr spc="80" dirty="0"/>
              <a:t>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90" dirty="0"/>
              <a:t>h,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35" dirty="0"/>
              <a:t>d)</a:t>
            </a:r>
            <a:r>
              <a:rPr spc="90" dirty="0"/>
              <a:t> </a:t>
            </a:r>
            <a:r>
              <a:rPr spc="-5" dirty="0"/>
              <a:t>{</a:t>
            </a:r>
          </a:p>
          <a:p>
            <a:pPr marL="744220" marR="2757805" algn="just">
              <a:lnSpc>
                <a:spcPct val="100000"/>
              </a:lnSpc>
              <a:spcBef>
                <a:spcPts val="5"/>
              </a:spcBef>
            </a:pPr>
            <a:r>
              <a:rPr b="0" spc="45" dirty="0">
                <a:latin typeface="Cambria"/>
                <a:cs typeface="Cambria"/>
              </a:rPr>
              <a:t>width </a:t>
            </a:r>
            <a:r>
              <a:rPr b="0" spc="75" dirty="0">
                <a:latin typeface="Cambria"/>
                <a:cs typeface="Cambria"/>
              </a:rPr>
              <a:t>= </a:t>
            </a:r>
            <a:r>
              <a:rPr b="0" spc="10" dirty="0">
                <a:latin typeface="Cambria"/>
                <a:cs typeface="Cambria"/>
              </a:rPr>
              <a:t>w;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60" dirty="0">
                <a:latin typeface="Cambria"/>
                <a:cs typeface="Cambria"/>
              </a:rPr>
              <a:t>height</a:t>
            </a:r>
            <a:r>
              <a:rPr b="0" spc="1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35" dirty="0">
                <a:latin typeface="Cambria"/>
                <a:cs typeface="Cambria"/>
              </a:rPr>
              <a:t> </a:t>
            </a:r>
            <a:r>
              <a:rPr b="0" spc="45" dirty="0">
                <a:latin typeface="Cambria"/>
                <a:cs typeface="Cambria"/>
              </a:rPr>
              <a:t>h;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depth</a:t>
            </a:r>
            <a:r>
              <a:rPr b="0" spc="3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d;</a:t>
            </a:r>
          </a:p>
          <a:p>
            <a:pPr marL="379730">
              <a:lnSpc>
                <a:spcPct val="100000"/>
              </a:lnSpc>
            </a:pPr>
            <a:r>
              <a:rPr b="0" spc="-75" dirty="0">
                <a:latin typeface="Cambria"/>
                <a:cs typeface="Cambria"/>
              </a:rPr>
              <a:t>}</a:t>
            </a:r>
          </a:p>
          <a:p>
            <a:pPr marL="379730">
              <a:lnSpc>
                <a:spcPct val="100000"/>
              </a:lnSpc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-20" dirty="0">
                <a:latin typeface="Cambria"/>
                <a:cs typeface="Cambria"/>
              </a:rPr>
              <a:t>c</a:t>
            </a:r>
            <a:r>
              <a:rPr b="0" spc="-15" dirty="0">
                <a:latin typeface="Cambria"/>
                <a:cs typeface="Cambria"/>
              </a:rPr>
              <a:t>o</a:t>
            </a:r>
            <a:r>
              <a:rPr b="0" spc="6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str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40" dirty="0">
                <a:latin typeface="Cambria"/>
                <a:cs typeface="Cambria"/>
              </a:rPr>
              <a:t>c</a:t>
            </a:r>
            <a:r>
              <a:rPr b="0" spc="35" dirty="0">
                <a:latin typeface="Cambria"/>
                <a:cs typeface="Cambria"/>
              </a:rPr>
              <a:t>t</a:t>
            </a:r>
            <a:r>
              <a:rPr b="0" spc="-45" dirty="0">
                <a:latin typeface="Cambria"/>
                <a:cs typeface="Cambria"/>
              </a:rPr>
              <a:t>o</a:t>
            </a:r>
            <a:r>
              <a:rPr b="0" spc="40" dirty="0">
                <a:latin typeface="Cambria"/>
                <a:cs typeface="Cambria"/>
              </a:rPr>
              <a:t>r</a:t>
            </a:r>
            <a:r>
              <a:rPr b="0" spc="60" dirty="0">
                <a:latin typeface="Cambria"/>
                <a:cs typeface="Cambria"/>
              </a:rPr>
              <a:t> 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30" dirty="0">
                <a:latin typeface="Cambria"/>
                <a:cs typeface="Cambria"/>
              </a:rPr>
              <a:t>sed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w</a:t>
            </a:r>
            <a:r>
              <a:rPr b="0" spc="25" dirty="0">
                <a:latin typeface="Cambria"/>
                <a:cs typeface="Cambria"/>
              </a:rPr>
              <a:t>h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7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cu</a:t>
            </a:r>
            <a:r>
              <a:rPr b="0" spc="10" dirty="0">
                <a:latin typeface="Cambria"/>
                <a:cs typeface="Cambria"/>
              </a:rPr>
              <a:t>b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is</a:t>
            </a:r>
            <a:r>
              <a:rPr b="0" spc="7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cr</a:t>
            </a:r>
            <a:r>
              <a:rPr b="0" spc="30" dirty="0">
                <a:latin typeface="Cambria"/>
                <a:cs typeface="Cambria"/>
              </a:rPr>
              <a:t>e</a:t>
            </a:r>
            <a:r>
              <a:rPr b="0" spc="95" dirty="0">
                <a:latin typeface="Cambria"/>
                <a:cs typeface="Cambria"/>
              </a:rPr>
              <a:t>a</a:t>
            </a:r>
            <a:r>
              <a:rPr b="0" spc="65" dirty="0">
                <a:latin typeface="Cambria"/>
                <a:cs typeface="Cambria"/>
              </a:rPr>
              <a:t>t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25" dirty="0">
                <a:latin typeface="Cambria"/>
                <a:cs typeface="Cambria"/>
              </a:rPr>
              <a:t>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03224" y="3551301"/>
            <a:ext cx="5187950" cy="3056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75"/>
              </a:lnSpc>
              <a:spcBef>
                <a:spcPts val="105"/>
              </a:spcBef>
            </a:pPr>
            <a:r>
              <a:rPr sz="1400" spc="55" dirty="0">
                <a:latin typeface="Cambria"/>
                <a:cs typeface="Cambria"/>
              </a:rPr>
              <a:t>Box(</a:t>
            </a:r>
            <a:r>
              <a:rPr sz="1400" b="1" spc="55" dirty="0">
                <a:latin typeface="Cambria"/>
                <a:cs typeface="Cambria"/>
              </a:rPr>
              <a:t>double </a:t>
            </a:r>
            <a:r>
              <a:rPr sz="1400" b="1" spc="45" dirty="0">
                <a:latin typeface="Cambria"/>
                <a:cs typeface="Cambria"/>
              </a:rPr>
              <a:t>len)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35915">
              <a:lnSpc>
                <a:spcPts val="1675"/>
              </a:lnSpc>
            </a:pP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depth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len;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-20" dirty="0">
                <a:latin typeface="Cambria"/>
                <a:cs typeface="Cambria"/>
              </a:rPr>
              <a:t>co</a:t>
            </a:r>
            <a:r>
              <a:rPr sz="1400" spc="60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p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20" dirty="0">
                <a:latin typeface="Cambria"/>
                <a:cs typeface="Cambria"/>
              </a:rPr>
              <a:t>e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an</a:t>
            </a:r>
            <a:r>
              <a:rPr sz="1400" spc="30" dirty="0">
                <a:latin typeface="Cambria"/>
                <a:cs typeface="Cambria"/>
              </a:rPr>
              <a:t>d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re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60" dirty="0">
                <a:latin typeface="Cambria"/>
                <a:cs typeface="Cambria"/>
              </a:rPr>
              <a:t>rn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5" dirty="0">
                <a:latin typeface="Cambria"/>
                <a:cs typeface="Cambria"/>
              </a:rPr>
              <a:t>v</a:t>
            </a:r>
            <a:r>
              <a:rPr sz="1400" spc="5" dirty="0">
                <a:latin typeface="Cambria"/>
                <a:cs typeface="Cambria"/>
              </a:rPr>
              <a:t>o</a:t>
            </a:r>
            <a:r>
              <a:rPr sz="1400" spc="45" dirty="0">
                <a:latin typeface="Cambria"/>
                <a:cs typeface="Cambria"/>
              </a:rPr>
              <a:t>l</a:t>
            </a:r>
            <a:r>
              <a:rPr sz="1400" spc="85" dirty="0">
                <a:latin typeface="Cambria"/>
                <a:cs typeface="Cambria"/>
              </a:rPr>
              <a:t>u</a:t>
            </a:r>
            <a:r>
              <a:rPr sz="1400" spc="45" dirty="0">
                <a:latin typeface="Cambria"/>
                <a:cs typeface="Cambria"/>
              </a:rPr>
              <a:t>me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double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volume()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285750">
              <a:lnSpc>
                <a:spcPct val="100000"/>
              </a:lnSpc>
              <a:spcBef>
                <a:spcPts val="5"/>
              </a:spcBef>
            </a:pPr>
            <a:r>
              <a:rPr sz="1400" b="1" spc="85" dirty="0">
                <a:latin typeface="Cambria"/>
                <a:cs typeface="Cambria"/>
              </a:rPr>
              <a:t>return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depth;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55" dirty="0">
                <a:latin typeface="Cambria"/>
                <a:cs typeface="Cambria"/>
              </a:rPr>
              <a:t>args){</a:t>
            </a:r>
            <a:endParaRPr sz="1400">
              <a:latin typeface="Cambria"/>
              <a:cs typeface="Cambria"/>
            </a:endParaRPr>
          </a:p>
          <a:p>
            <a:pPr marL="376555" marR="225425">
              <a:lnSpc>
                <a:spcPct val="1201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45" dirty="0">
                <a:latin typeface="Cambria"/>
                <a:cs typeface="Cambria"/>
              </a:rPr>
              <a:t>Box(10,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15" dirty="0">
                <a:latin typeface="Cambria"/>
                <a:cs typeface="Cambria"/>
              </a:rPr>
              <a:t>8,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25" dirty="0">
                <a:latin typeface="Cambria"/>
                <a:cs typeface="Cambria"/>
              </a:rPr>
              <a:t>5); </a:t>
            </a:r>
            <a:r>
              <a:rPr sz="1400" b="1" spc="-20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35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95" dirty="0">
                <a:latin typeface="Cambria"/>
                <a:cs typeface="Cambria"/>
              </a:rPr>
              <a:t>Box: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60" dirty="0">
                <a:latin typeface="Cambria"/>
                <a:cs typeface="Cambria"/>
              </a:rPr>
              <a:t>b.volume());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b1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35" dirty="0">
                <a:latin typeface="Cambria"/>
                <a:cs typeface="Cambria"/>
              </a:rPr>
              <a:t>Box(5);</a:t>
            </a:r>
            <a:endParaRPr sz="14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  <a:spcBef>
                <a:spcPts val="335"/>
              </a:spcBef>
            </a:pP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40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105" dirty="0">
                <a:latin typeface="Cambria"/>
                <a:cs typeface="Cambria"/>
              </a:rPr>
              <a:t>Cube:</a:t>
            </a:r>
            <a:r>
              <a:rPr sz="1400" b="1" i="1" spc="6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55" dirty="0">
                <a:latin typeface="Cambria"/>
                <a:cs typeface="Cambria"/>
              </a:rPr>
              <a:t>b1.volume());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6581647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54801" y="3657536"/>
            <a:ext cx="2272030" cy="862330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Box: 400.0</a:t>
            </a:r>
            <a:endParaRPr sz="16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Cube: 125.0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928242"/>
            <a:ext cx="77597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275" dirty="0"/>
              <a:t>I</a:t>
            </a:r>
            <a:r>
              <a:rPr spc="275" dirty="0"/>
              <a:t>NVOKING</a:t>
            </a:r>
            <a:r>
              <a:rPr spc="245" dirty="0"/>
              <a:t> </a:t>
            </a:r>
            <a:r>
              <a:rPr sz="2800" spc="270" dirty="0"/>
              <a:t>O</a:t>
            </a:r>
            <a:r>
              <a:rPr spc="270" dirty="0"/>
              <a:t>VERLOADED</a:t>
            </a:r>
            <a:r>
              <a:rPr spc="235" dirty="0"/>
              <a:t> </a:t>
            </a:r>
            <a:r>
              <a:rPr sz="2800" spc="280" dirty="0"/>
              <a:t>C</a:t>
            </a:r>
            <a:r>
              <a:rPr spc="280" dirty="0"/>
              <a:t>ONSTRUCTORS</a:t>
            </a:r>
            <a:r>
              <a:rPr spc="254" dirty="0"/>
              <a:t> </a:t>
            </a:r>
            <a:r>
              <a:rPr sz="2800" spc="135" dirty="0"/>
              <a:t>-</a:t>
            </a:r>
            <a:r>
              <a:rPr spc="135" dirty="0"/>
              <a:t>THIS</a:t>
            </a:r>
            <a:r>
              <a:rPr sz="2800" spc="135" dirty="0"/>
              <a:t>(</a:t>
            </a:r>
            <a:r>
              <a:rPr sz="2800" spc="160" dirty="0"/>
              <a:t> </a:t>
            </a:r>
            <a:r>
              <a:rPr sz="2800" spc="-140" dirty="0"/>
              <a:t>)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47255" cy="454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5" dirty="0">
                <a:latin typeface="Cambria"/>
                <a:cs typeface="Cambria"/>
              </a:rPr>
              <a:t>Sometimes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useful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for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one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constructor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65" dirty="0">
                <a:latin typeface="Cambria"/>
                <a:cs typeface="Cambria"/>
              </a:rPr>
              <a:t>invoke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another.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0" dirty="0">
                <a:latin typeface="Cambria"/>
                <a:cs typeface="Cambria"/>
              </a:rPr>
              <a:t>this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accomplished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by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using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50" dirty="0">
                <a:latin typeface="Cambria"/>
                <a:cs typeface="Cambria"/>
              </a:rPr>
              <a:t> </a:t>
            </a:r>
            <a:r>
              <a:rPr sz="2100" b="1" spc="125" dirty="0">
                <a:latin typeface="Cambria"/>
                <a:cs typeface="Cambria"/>
              </a:rPr>
              <a:t>this</a:t>
            </a:r>
            <a:r>
              <a:rPr sz="2100" b="1" spc="130" dirty="0">
                <a:latin typeface="Cambria"/>
                <a:cs typeface="Cambria"/>
              </a:rPr>
              <a:t> keyword.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general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form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endParaRPr sz="2100">
              <a:latin typeface="Cambria"/>
              <a:cs typeface="Cambria"/>
            </a:endParaRPr>
          </a:p>
          <a:p>
            <a:pPr marL="927100" lvl="2" indent="-183515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45" dirty="0">
                <a:latin typeface="Cambria"/>
                <a:cs typeface="Cambria"/>
              </a:rPr>
              <a:t>this(</a:t>
            </a:r>
            <a:r>
              <a:rPr sz="1800" i="1" spc="45" dirty="0">
                <a:latin typeface="Cambria"/>
                <a:cs typeface="Cambria"/>
              </a:rPr>
              <a:t>arg-list)</a:t>
            </a:r>
            <a:endParaRPr sz="18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58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When </a:t>
            </a:r>
            <a:r>
              <a:rPr sz="2400" b="1" spc="105" dirty="0">
                <a:latin typeface="Cambria"/>
                <a:cs typeface="Cambria"/>
              </a:rPr>
              <a:t>this( </a:t>
            </a:r>
            <a:r>
              <a:rPr sz="2400" b="1" spc="-50" dirty="0">
                <a:latin typeface="Cambria"/>
                <a:cs typeface="Cambria"/>
              </a:rPr>
              <a:t>)</a:t>
            </a:r>
            <a:r>
              <a:rPr sz="2400" b="1" spc="-45" dirty="0">
                <a:latin typeface="Cambria"/>
                <a:cs typeface="Cambria"/>
              </a:rPr>
              <a:t> </a:t>
            </a:r>
            <a:r>
              <a:rPr sz="2400" b="1" spc="110" dirty="0">
                <a:latin typeface="Cambria"/>
                <a:cs typeface="Cambria"/>
              </a:rPr>
              <a:t>is </a:t>
            </a:r>
            <a:r>
              <a:rPr sz="2400" b="1" spc="145" dirty="0">
                <a:latin typeface="Cambria"/>
                <a:cs typeface="Cambria"/>
              </a:rPr>
              <a:t>executed, </a:t>
            </a:r>
            <a:r>
              <a:rPr sz="2400" b="1" spc="150" dirty="0">
                <a:latin typeface="Cambria"/>
                <a:cs typeface="Cambria"/>
              </a:rPr>
              <a:t>the </a:t>
            </a:r>
            <a:r>
              <a:rPr sz="2400" b="1" spc="130" dirty="0">
                <a:latin typeface="Cambria"/>
                <a:cs typeface="Cambria"/>
              </a:rPr>
              <a:t>overloaded </a:t>
            </a:r>
            <a:r>
              <a:rPr sz="2400" b="1" spc="13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constructor</a:t>
            </a:r>
            <a:r>
              <a:rPr sz="2400" b="1" spc="185" dirty="0">
                <a:latin typeface="Cambria"/>
                <a:cs typeface="Cambria"/>
              </a:rPr>
              <a:t> </a:t>
            </a:r>
            <a:r>
              <a:rPr sz="2400" b="1" spc="170" dirty="0">
                <a:latin typeface="Cambria"/>
                <a:cs typeface="Cambria"/>
              </a:rPr>
              <a:t>that </a:t>
            </a:r>
            <a:r>
              <a:rPr sz="2400" b="1" spc="160" dirty="0">
                <a:latin typeface="Cambria"/>
                <a:cs typeface="Cambria"/>
              </a:rPr>
              <a:t>matches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the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parameter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10" dirty="0">
                <a:latin typeface="Cambria"/>
                <a:cs typeface="Cambria"/>
              </a:rPr>
              <a:t>list </a:t>
            </a:r>
            <a:r>
              <a:rPr sz="2400" b="1" spc="-51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specified</a:t>
            </a:r>
            <a:r>
              <a:rPr sz="2400" spc="8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i="1" spc="90" dirty="0">
                <a:latin typeface="Cambria"/>
                <a:cs typeface="Cambria"/>
              </a:rPr>
              <a:t>arg-list</a:t>
            </a:r>
            <a:r>
              <a:rPr sz="2400" i="1" spc="114" dirty="0">
                <a:latin typeface="Cambria"/>
                <a:cs typeface="Cambria"/>
              </a:rPr>
              <a:t> </a:t>
            </a:r>
            <a:r>
              <a:rPr sz="2400" i="1" spc="145" dirty="0">
                <a:latin typeface="Cambria"/>
                <a:cs typeface="Cambria"/>
              </a:rPr>
              <a:t>is</a:t>
            </a:r>
            <a:r>
              <a:rPr sz="2400" i="1" spc="135" dirty="0">
                <a:latin typeface="Cambria"/>
                <a:cs typeface="Cambria"/>
              </a:rPr>
              <a:t> </a:t>
            </a:r>
            <a:r>
              <a:rPr sz="2400" i="1" spc="70" dirty="0">
                <a:latin typeface="Cambria"/>
                <a:cs typeface="Cambria"/>
              </a:rPr>
              <a:t>executed.</a:t>
            </a:r>
            <a:endParaRPr sz="2400">
              <a:latin typeface="Cambria"/>
              <a:cs typeface="Cambria"/>
            </a:endParaRPr>
          </a:p>
          <a:p>
            <a:pPr marL="285115" marR="102235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4" dirty="0">
                <a:latin typeface="Cambria"/>
                <a:cs typeface="Cambria"/>
              </a:rPr>
              <a:t>The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call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b="1" spc="105" dirty="0">
                <a:latin typeface="Cambria"/>
                <a:cs typeface="Cambria"/>
              </a:rPr>
              <a:t>this(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b="1" spc="-50" dirty="0">
                <a:latin typeface="Cambria"/>
                <a:cs typeface="Cambria"/>
              </a:rPr>
              <a:t>)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55" dirty="0">
                <a:latin typeface="Cambria"/>
                <a:cs typeface="Cambria"/>
              </a:rPr>
              <a:t>must</a:t>
            </a:r>
            <a:r>
              <a:rPr sz="2400" b="1" spc="165" dirty="0">
                <a:latin typeface="Cambria"/>
                <a:cs typeface="Cambria"/>
              </a:rPr>
              <a:t> </a:t>
            </a:r>
            <a:r>
              <a:rPr sz="2400" b="1" spc="120" dirty="0">
                <a:latin typeface="Cambria"/>
                <a:cs typeface="Cambria"/>
              </a:rPr>
              <a:t>be</a:t>
            </a:r>
            <a:r>
              <a:rPr sz="2400" b="1" spc="140" dirty="0">
                <a:latin typeface="Cambria"/>
                <a:cs typeface="Cambria"/>
              </a:rPr>
              <a:t> </a:t>
            </a:r>
            <a:r>
              <a:rPr sz="2400" b="1" spc="150" dirty="0">
                <a:latin typeface="Cambria"/>
                <a:cs typeface="Cambria"/>
              </a:rPr>
              <a:t>the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b="1" spc="125" dirty="0">
                <a:latin typeface="Cambria"/>
                <a:cs typeface="Cambria"/>
              </a:rPr>
              <a:t>first</a:t>
            </a:r>
            <a:r>
              <a:rPr sz="2400" b="1" spc="16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statement </a:t>
            </a:r>
            <a:r>
              <a:rPr sz="2400" b="1" spc="-515" dirty="0">
                <a:latin typeface="Cambria"/>
                <a:cs typeface="Cambria"/>
              </a:rPr>
              <a:t> </a:t>
            </a:r>
            <a:r>
              <a:rPr sz="2400" b="1" spc="165" dirty="0">
                <a:latin typeface="Cambria"/>
                <a:cs typeface="Cambria"/>
              </a:rPr>
              <a:t>within</a:t>
            </a:r>
            <a:r>
              <a:rPr sz="2400" b="1" spc="17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constructor.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1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4" dirty="0">
                <a:latin typeface="Cambria"/>
                <a:cs typeface="Cambria"/>
              </a:rPr>
              <a:t>General </a:t>
            </a:r>
            <a:r>
              <a:rPr sz="2100" spc="65" dirty="0">
                <a:latin typeface="Cambria"/>
                <a:cs typeface="Cambria"/>
              </a:rPr>
              <a:t>rule: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Constructor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call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05" dirty="0">
                <a:latin typeface="Cambria"/>
                <a:cs typeface="Cambria"/>
              </a:rPr>
              <a:t>must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be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first</a:t>
            </a:r>
            <a:endParaRPr sz="21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2100" spc="90" dirty="0">
                <a:latin typeface="Cambria"/>
                <a:cs typeface="Cambria"/>
              </a:rPr>
              <a:t>statement</a:t>
            </a:r>
            <a:r>
              <a:rPr sz="2100" spc="8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constructor.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706374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ONSTRUCTOR </a:t>
            </a:r>
            <a:r>
              <a:rPr sz="3000" spc="295" dirty="0"/>
              <a:t>O</a:t>
            </a:r>
            <a:r>
              <a:rPr sz="2400" spc="295" dirty="0"/>
              <a:t>VERLOADING</a:t>
            </a:r>
            <a:r>
              <a:rPr sz="2400" spc="320" dirty="0"/>
              <a:t> </a:t>
            </a:r>
            <a:r>
              <a:rPr sz="3000" dirty="0"/>
              <a:t>-</a:t>
            </a:r>
            <a:r>
              <a:rPr sz="3000" spc="170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pc="90" dirty="0"/>
              <a:t>public</a:t>
            </a:r>
            <a:r>
              <a:rPr spc="70" dirty="0"/>
              <a:t> </a:t>
            </a:r>
            <a:r>
              <a:rPr spc="75" dirty="0"/>
              <a:t>class</a:t>
            </a:r>
            <a:r>
              <a:rPr spc="55" dirty="0"/>
              <a:t> </a:t>
            </a:r>
            <a:r>
              <a:rPr spc="114" dirty="0"/>
              <a:t>Box</a:t>
            </a:r>
            <a:r>
              <a:rPr spc="60" dirty="0"/>
              <a:t> </a:t>
            </a:r>
            <a:r>
              <a:rPr spc="-5" dirty="0"/>
              <a:t>{</a:t>
            </a:r>
          </a:p>
          <a:p>
            <a:pPr marL="379730" algn="just">
              <a:lnSpc>
                <a:spcPct val="100000"/>
              </a:lnSpc>
            </a:pPr>
            <a:r>
              <a:rPr spc="75" dirty="0"/>
              <a:t>double</a:t>
            </a:r>
            <a:r>
              <a:rPr spc="70" dirty="0"/>
              <a:t> </a:t>
            </a:r>
            <a:r>
              <a:rPr spc="90" dirty="0"/>
              <a:t>width,</a:t>
            </a:r>
            <a:r>
              <a:rPr spc="80" dirty="0"/>
              <a:t> </a:t>
            </a:r>
            <a:r>
              <a:rPr spc="90" dirty="0"/>
              <a:t>height,</a:t>
            </a:r>
            <a:r>
              <a:rPr spc="75" dirty="0"/>
              <a:t> depth;</a:t>
            </a:r>
          </a:p>
          <a:p>
            <a:pPr marL="379730" marR="5080" algn="just">
              <a:lnSpc>
                <a:spcPct val="100000"/>
              </a:lnSpc>
              <a:spcBef>
                <a:spcPts val="10"/>
              </a:spcBef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30" dirty="0">
                <a:latin typeface="Cambria"/>
                <a:cs typeface="Cambria"/>
              </a:rPr>
              <a:t>constructor </a:t>
            </a:r>
            <a:r>
              <a:rPr b="0" spc="40" dirty="0">
                <a:latin typeface="Cambria"/>
                <a:cs typeface="Cambria"/>
              </a:rPr>
              <a:t>used when </a:t>
            </a:r>
            <a:r>
              <a:rPr b="0" spc="70" dirty="0">
                <a:latin typeface="Cambria"/>
                <a:cs typeface="Cambria"/>
              </a:rPr>
              <a:t>all </a:t>
            </a:r>
            <a:r>
              <a:rPr b="0" spc="40" dirty="0">
                <a:latin typeface="Cambria"/>
                <a:cs typeface="Cambria"/>
              </a:rPr>
              <a:t>dimensions </a:t>
            </a:r>
            <a:r>
              <a:rPr b="0" spc="30" dirty="0">
                <a:latin typeface="Cambria"/>
                <a:cs typeface="Cambria"/>
              </a:rPr>
              <a:t>specified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55" dirty="0">
                <a:latin typeface="Cambria"/>
                <a:cs typeface="Cambria"/>
              </a:rPr>
              <a:t>Box(</a:t>
            </a:r>
            <a:r>
              <a:rPr spc="55" dirty="0"/>
              <a:t>double</a:t>
            </a:r>
            <a:r>
              <a:rPr spc="65" dirty="0"/>
              <a:t> </a:t>
            </a:r>
            <a:r>
              <a:rPr spc="95" dirty="0"/>
              <a:t>w,</a:t>
            </a:r>
            <a:r>
              <a:rPr spc="80" dirty="0"/>
              <a:t>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90" dirty="0"/>
              <a:t>h,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35" dirty="0"/>
              <a:t>d)</a:t>
            </a:r>
            <a:r>
              <a:rPr spc="90" dirty="0"/>
              <a:t> </a:t>
            </a:r>
            <a:r>
              <a:rPr spc="-5" dirty="0"/>
              <a:t>{</a:t>
            </a:r>
          </a:p>
          <a:p>
            <a:pPr marL="744220" marR="2757805" algn="just">
              <a:lnSpc>
                <a:spcPct val="100000"/>
              </a:lnSpc>
              <a:spcBef>
                <a:spcPts val="5"/>
              </a:spcBef>
            </a:pPr>
            <a:r>
              <a:rPr b="0" spc="45" dirty="0">
                <a:latin typeface="Cambria"/>
                <a:cs typeface="Cambria"/>
              </a:rPr>
              <a:t>width </a:t>
            </a:r>
            <a:r>
              <a:rPr b="0" spc="75" dirty="0">
                <a:latin typeface="Cambria"/>
                <a:cs typeface="Cambria"/>
              </a:rPr>
              <a:t>= </a:t>
            </a:r>
            <a:r>
              <a:rPr b="0" spc="10" dirty="0">
                <a:latin typeface="Cambria"/>
                <a:cs typeface="Cambria"/>
              </a:rPr>
              <a:t>w;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60" dirty="0">
                <a:latin typeface="Cambria"/>
                <a:cs typeface="Cambria"/>
              </a:rPr>
              <a:t>height</a:t>
            </a:r>
            <a:r>
              <a:rPr b="0" spc="1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35" dirty="0">
                <a:latin typeface="Cambria"/>
                <a:cs typeface="Cambria"/>
              </a:rPr>
              <a:t> </a:t>
            </a:r>
            <a:r>
              <a:rPr b="0" spc="45" dirty="0">
                <a:latin typeface="Cambria"/>
                <a:cs typeface="Cambria"/>
              </a:rPr>
              <a:t>h;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depth</a:t>
            </a:r>
            <a:r>
              <a:rPr b="0" spc="3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d;</a:t>
            </a:r>
          </a:p>
          <a:p>
            <a:pPr marL="379730">
              <a:lnSpc>
                <a:spcPct val="100000"/>
              </a:lnSpc>
            </a:pPr>
            <a:r>
              <a:rPr b="0" spc="-75" dirty="0">
                <a:latin typeface="Cambria"/>
                <a:cs typeface="Cambria"/>
              </a:rPr>
              <a:t>}</a:t>
            </a:r>
          </a:p>
          <a:p>
            <a:pPr marL="379730">
              <a:lnSpc>
                <a:spcPct val="100000"/>
              </a:lnSpc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-20" dirty="0">
                <a:latin typeface="Cambria"/>
                <a:cs typeface="Cambria"/>
              </a:rPr>
              <a:t>c</a:t>
            </a:r>
            <a:r>
              <a:rPr b="0" spc="-15" dirty="0">
                <a:latin typeface="Cambria"/>
                <a:cs typeface="Cambria"/>
              </a:rPr>
              <a:t>o</a:t>
            </a:r>
            <a:r>
              <a:rPr b="0" spc="6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str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40" dirty="0">
                <a:latin typeface="Cambria"/>
                <a:cs typeface="Cambria"/>
              </a:rPr>
              <a:t>c</a:t>
            </a:r>
            <a:r>
              <a:rPr b="0" spc="35" dirty="0">
                <a:latin typeface="Cambria"/>
                <a:cs typeface="Cambria"/>
              </a:rPr>
              <a:t>t</a:t>
            </a:r>
            <a:r>
              <a:rPr b="0" spc="-45" dirty="0">
                <a:latin typeface="Cambria"/>
                <a:cs typeface="Cambria"/>
              </a:rPr>
              <a:t>o</a:t>
            </a:r>
            <a:r>
              <a:rPr b="0" spc="40" dirty="0">
                <a:latin typeface="Cambria"/>
                <a:cs typeface="Cambria"/>
              </a:rPr>
              <a:t>r</a:t>
            </a:r>
            <a:r>
              <a:rPr b="0" spc="60" dirty="0">
                <a:latin typeface="Cambria"/>
                <a:cs typeface="Cambria"/>
              </a:rPr>
              <a:t> 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30" dirty="0">
                <a:latin typeface="Cambria"/>
                <a:cs typeface="Cambria"/>
              </a:rPr>
              <a:t>sed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w</a:t>
            </a:r>
            <a:r>
              <a:rPr b="0" spc="25" dirty="0">
                <a:latin typeface="Cambria"/>
                <a:cs typeface="Cambria"/>
              </a:rPr>
              <a:t>h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7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cu</a:t>
            </a:r>
            <a:r>
              <a:rPr b="0" spc="10" dirty="0">
                <a:latin typeface="Cambria"/>
                <a:cs typeface="Cambria"/>
              </a:rPr>
              <a:t>b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is</a:t>
            </a:r>
            <a:r>
              <a:rPr b="0" spc="7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cr</a:t>
            </a:r>
            <a:r>
              <a:rPr b="0" spc="30" dirty="0">
                <a:latin typeface="Cambria"/>
                <a:cs typeface="Cambria"/>
              </a:rPr>
              <a:t>e</a:t>
            </a:r>
            <a:r>
              <a:rPr b="0" spc="95" dirty="0">
                <a:latin typeface="Cambria"/>
                <a:cs typeface="Cambria"/>
              </a:rPr>
              <a:t>a</a:t>
            </a:r>
            <a:r>
              <a:rPr b="0" spc="65" dirty="0">
                <a:latin typeface="Cambria"/>
                <a:cs typeface="Cambria"/>
              </a:rPr>
              <a:t>t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25" dirty="0">
                <a:latin typeface="Cambria"/>
                <a:cs typeface="Cambria"/>
              </a:rPr>
              <a:t>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03224" y="3551301"/>
            <a:ext cx="5187950" cy="30568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675"/>
              </a:lnSpc>
              <a:spcBef>
                <a:spcPts val="105"/>
              </a:spcBef>
            </a:pPr>
            <a:r>
              <a:rPr sz="1400" spc="55" dirty="0">
                <a:latin typeface="Cambria"/>
                <a:cs typeface="Cambria"/>
              </a:rPr>
              <a:t>Box(</a:t>
            </a:r>
            <a:r>
              <a:rPr sz="1400" b="1" spc="55" dirty="0">
                <a:latin typeface="Cambria"/>
                <a:cs typeface="Cambria"/>
              </a:rPr>
              <a:t>double </a:t>
            </a:r>
            <a:r>
              <a:rPr sz="1400" b="1" spc="45" dirty="0">
                <a:latin typeface="Cambria"/>
                <a:cs typeface="Cambria"/>
              </a:rPr>
              <a:t>len)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35915">
              <a:lnSpc>
                <a:spcPts val="1675"/>
              </a:lnSpc>
            </a:pP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depth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20" dirty="0">
                <a:latin typeface="Cambria"/>
                <a:cs typeface="Cambria"/>
              </a:rPr>
              <a:t>=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len;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-20" dirty="0">
                <a:latin typeface="Cambria"/>
                <a:cs typeface="Cambria"/>
              </a:rPr>
              <a:t>co</a:t>
            </a:r>
            <a:r>
              <a:rPr sz="1400" spc="60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p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20" dirty="0">
                <a:latin typeface="Cambria"/>
                <a:cs typeface="Cambria"/>
              </a:rPr>
              <a:t>e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an</a:t>
            </a:r>
            <a:r>
              <a:rPr sz="1400" spc="30" dirty="0">
                <a:latin typeface="Cambria"/>
                <a:cs typeface="Cambria"/>
              </a:rPr>
              <a:t>d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re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60" dirty="0">
                <a:latin typeface="Cambria"/>
                <a:cs typeface="Cambria"/>
              </a:rPr>
              <a:t>rn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5" dirty="0">
                <a:latin typeface="Cambria"/>
                <a:cs typeface="Cambria"/>
              </a:rPr>
              <a:t>v</a:t>
            </a:r>
            <a:r>
              <a:rPr sz="1400" spc="5" dirty="0">
                <a:latin typeface="Cambria"/>
                <a:cs typeface="Cambria"/>
              </a:rPr>
              <a:t>o</a:t>
            </a:r>
            <a:r>
              <a:rPr sz="1400" spc="45" dirty="0">
                <a:latin typeface="Cambria"/>
                <a:cs typeface="Cambria"/>
              </a:rPr>
              <a:t>l</a:t>
            </a:r>
            <a:r>
              <a:rPr sz="1400" spc="85" dirty="0">
                <a:latin typeface="Cambria"/>
                <a:cs typeface="Cambria"/>
              </a:rPr>
              <a:t>u</a:t>
            </a:r>
            <a:r>
              <a:rPr sz="1400" spc="45" dirty="0">
                <a:latin typeface="Cambria"/>
                <a:cs typeface="Cambria"/>
              </a:rPr>
              <a:t>me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double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volume()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285750">
              <a:lnSpc>
                <a:spcPct val="100000"/>
              </a:lnSpc>
              <a:spcBef>
                <a:spcPts val="5"/>
              </a:spcBef>
            </a:pPr>
            <a:r>
              <a:rPr sz="1400" b="1" spc="85" dirty="0">
                <a:latin typeface="Cambria"/>
                <a:cs typeface="Cambria"/>
              </a:rPr>
              <a:t>return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depth;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55" dirty="0">
                <a:latin typeface="Cambria"/>
                <a:cs typeface="Cambria"/>
              </a:rPr>
              <a:t>args){</a:t>
            </a:r>
            <a:endParaRPr sz="1400">
              <a:latin typeface="Cambria"/>
              <a:cs typeface="Cambria"/>
            </a:endParaRPr>
          </a:p>
          <a:p>
            <a:pPr marL="376555" marR="225425">
              <a:lnSpc>
                <a:spcPct val="1201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45" dirty="0">
                <a:latin typeface="Cambria"/>
                <a:cs typeface="Cambria"/>
              </a:rPr>
              <a:t>Box(10,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15" dirty="0">
                <a:latin typeface="Cambria"/>
                <a:cs typeface="Cambria"/>
              </a:rPr>
              <a:t>8,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25" dirty="0">
                <a:latin typeface="Cambria"/>
                <a:cs typeface="Cambria"/>
              </a:rPr>
              <a:t>5); </a:t>
            </a:r>
            <a:r>
              <a:rPr sz="1400" b="1" spc="-20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35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95" dirty="0">
                <a:latin typeface="Cambria"/>
                <a:cs typeface="Cambria"/>
              </a:rPr>
              <a:t>Box: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60" dirty="0">
                <a:latin typeface="Cambria"/>
                <a:cs typeface="Cambria"/>
              </a:rPr>
              <a:t>b.volume());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b1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35" dirty="0">
                <a:latin typeface="Cambria"/>
                <a:cs typeface="Cambria"/>
              </a:rPr>
              <a:t>Box(5);</a:t>
            </a:r>
            <a:endParaRPr sz="14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  <a:spcBef>
                <a:spcPts val="335"/>
              </a:spcBef>
            </a:pP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40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105" dirty="0">
                <a:latin typeface="Cambria"/>
                <a:cs typeface="Cambria"/>
              </a:rPr>
              <a:t>Cube:</a:t>
            </a:r>
            <a:r>
              <a:rPr sz="1400" b="1" i="1" spc="6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55" dirty="0">
                <a:latin typeface="Cambria"/>
                <a:cs typeface="Cambria"/>
              </a:rPr>
              <a:t>b1.volume());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6581647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54801" y="3657536"/>
            <a:ext cx="2272030" cy="862330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Box: 400.0</a:t>
            </a:r>
            <a:endParaRPr sz="16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Cube: 125.0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438734"/>
            <a:ext cx="714819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ONSTRUCTOR</a:t>
            </a:r>
            <a:r>
              <a:rPr sz="2400" spc="295" dirty="0"/>
              <a:t> </a:t>
            </a:r>
            <a:r>
              <a:rPr sz="3000" spc="295" dirty="0"/>
              <a:t>O</a:t>
            </a:r>
            <a:r>
              <a:rPr sz="2400" spc="295" dirty="0"/>
              <a:t>VERLOADING</a:t>
            </a:r>
            <a:r>
              <a:rPr sz="2400" spc="320" dirty="0"/>
              <a:t> </a:t>
            </a:r>
            <a:r>
              <a:rPr sz="3000" spc="165" dirty="0"/>
              <a:t>–</a:t>
            </a:r>
            <a:r>
              <a:rPr sz="3000" spc="160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  <a:p>
            <a:pPr marL="12700">
              <a:lnSpc>
                <a:spcPct val="100000"/>
              </a:lnSpc>
            </a:pPr>
            <a:r>
              <a:rPr sz="2400" spc="215" dirty="0"/>
              <a:t>WITH</a:t>
            </a:r>
            <a:r>
              <a:rPr sz="2400" spc="265" dirty="0"/>
              <a:t> </a:t>
            </a:r>
            <a:r>
              <a:rPr sz="2400" spc="120" dirty="0"/>
              <a:t>THIS</a:t>
            </a:r>
            <a:r>
              <a:rPr sz="3000" spc="120" dirty="0"/>
              <a:t>()</a:t>
            </a:r>
            <a:endParaRPr sz="30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pc="90" dirty="0"/>
              <a:t>public</a:t>
            </a:r>
            <a:r>
              <a:rPr spc="70" dirty="0"/>
              <a:t> </a:t>
            </a:r>
            <a:r>
              <a:rPr spc="75" dirty="0"/>
              <a:t>class</a:t>
            </a:r>
            <a:r>
              <a:rPr spc="55" dirty="0"/>
              <a:t> </a:t>
            </a:r>
            <a:r>
              <a:rPr spc="114" dirty="0"/>
              <a:t>Box</a:t>
            </a:r>
            <a:r>
              <a:rPr spc="60" dirty="0"/>
              <a:t> </a:t>
            </a:r>
            <a:r>
              <a:rPr spc="-5" dirty="0"/>
              <a:t>{</a:t>
            </a:r>
          </a:p>
          <a:p>
            <a:pPr marL="379730" algn="just">
              <a:lnSpc>
                <a:spcPct val="100000"/>
              </a:lnSpc>
            </a:pPr>
            <a:r>
              <a:rPr spc="75" dirty="0"/>
              <a:t>double</a:t>
            </a:r>
            <a:r>
              <a:rPr spc="70" dirty="0"/>
              <a:t> </a:t>
            </a:r>
            <a:r>
              <a:rPr spc="90" dirty="0"/>
              <a:t>width,</a:t>
            </a:r>
            <a:r>
              <a:rPr spc="80" dirty="0"/>
              <a:t> </a:t>
            </a:r>
            <a:r>
              <a:rPr spc="90" dirty="0"/>
              <a:t>height,</a:t>
            </a:r>
            <a:r>
              <a:rPr spc="75" dirty="0"/>
              <a:t> depth;</a:t>
            </a:r>
          </a:p>
          <a:p>
            <a:pPr marL="379730" marR="5080" algn="just">
              <a:lnSpc>
                <a:spcPct val="100000"/>
              </a:lnSpc>
              <a:spcBef>
                <a:spcPts val="10"/>
              </a:spcBef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30" dirty="0">
                <a:latin typeface="Cambria"/>
                <a:cs typeface="Cambria"/>
              </a:rPr>
              <a:t>constructor </a:t>
            </a:r>
            <a:r>
              <a:rPr b="0" spc="40" dirty="0">
                <a:latin typeface="Cambria"/>
                <a:cs typeface="Cambria"/>
              </a:rPr>
              <a:t>used when </a:t>
            </a:r>
            <a:r>
              <a:rPr b="0" spc="70" dirty="0">
                <a:latin typeface="Cambria"/>
                <a:cs typeface="Cambria"/>
              </a:rPr>
              <a:t>all </a:t>
            </a:r>
            <a:r>
              <a:rPr b="0" spc="40" dirty="0">
                <a:latin typeface="Cambria"/>
                <a:cs typeface="Cambria"/>
              </a:rPr>
              <a:t>dimensions </a:t>
            </a:r>
            <a:r>
              <a:rPr b="0" spc="30" dirty="0">
                <a:latin typeface="Cambria"/>
                <a:cs typeface="Cambria"/>
              </a:rPr>
              <a:t>specified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55" dirty="0">
                <a:latin typeface="Cambria"/>
                <a:cs typeface="Cambria"/>
              </a:rPr>
              <a:t>Box(</a:t>
            </a:r>
            <a:r>
              <a:rPr spc="55" dirty="0"/>
              <a:t>double</a:t>
            </a:r>
            <a:r>
              <a:rPr spc="65" dirty="0"/>
              <a:t> </a:t>
            </a:r>
            <a:r>
              <a:rPr spc="95" dirty="0"/>
              <a:t>w,</a:t>
            </a:r>
            <a:r>
              <a:rPr spc="80" dirty="0"/>
              <a:t>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90" dirty="0"/>
              <a:t>h, </a:t>
            </a:r>
            <a:r>
              <a:rPr spc="75" dirty="0"/>
              <a:t>double</a:t>
            </a:r>
            <a:r>
              <a:rPr spc="80" dirty="0"/>
              <a:t> </a:t>
            </a:r>
            <a:r>
              <a:rPr spc="35" dirty="0"/>
              <a:t>d)</a:t>
            </a:r>
            <a:r>
              <a:rPr spc="90" dirty="0"/>
              <a:t> </a:t>
            </a:r>
            <a:r>
              <a:rPr spc="-5" dirty="0"/>
              <a:t>{</a:t>
            </a:r>
          </a:p>
          <a:p>
            <a:pPr marL="744220" marR="2757805" algn="just">
              <a:lnSpc>
                <a:spcPct val="100000"/>
              </a:lnSpc>
              <a:spcBef>
                <a:spcPts val="5"/>
              </a:spcBef>
            </a:pPr>
            <a:r>
              <a:rPr b="0" spc="45" dirty="0">
                <a:latin typeface="Cambria"/>
                <a:cs typeface="Cambria"/>
              </a:rPr>
              <a:t>width </a:t>
            </a:r>
            <a:r>
              <a:rPr b="0" spc="75" dirty="0">
                <a:latin typeface="Cambria"/>
                <a:cs typeface="Cambria"/>
              </a:rPr>
              <a:t>= </a:t>
            </a:r>
            <a:r>
              <a:rPr b="0" spc="10" dirty="0">
                <a:latin typeface="Cambria"/>
                <a:cs typeface="Cambria"/>
              </a:rPr>
              <a:t>w;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60" dirty="0">
                <a:latin typeface="Cambria"/>
                <a:cs typeface="Cambria"/>
              </a:rPr>
              <a:t>height</a:t>
            </a:r>
            <a:r>
              <a:rPr b="0" spc="1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35" dirty="0">
                <a:latin typeface="Cambria"/>
                <a:cs typeface="Cambria"/>
              </a:rPr>
              <a:t> </a:t>
            </a:r>
            <a:r>
              <a:rPr b="0" spc="45" dirty="0">
                <a:latin typeface="Cambria"/>
                <a:cs typeface="Cambria"/>
              </a:rPr>
              <a:t>h; </a:t>
            </a:r>
            <a:r>
              <a:rPr b="0" spc="-29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depth</a:t>
            </a:r>
            <a:r>
              <a:rPr b="0" spc="30" dirty="0">
                <a:latin typeface="Cambria"/>
                <a:cs typeface="Cambria"/>
              </a:rPr>
              <a:t> </a:t>
            </a:r>
            <a:r>
              <a:rPr b="0" spc="75" dirty="0">
                <a:latin typeface="Cambria"/>
                <a:cs typeface="Cambria"/>
              </a:rPr>
              <a:t>=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d;</a:t>
            </a:r>
          </a:p>
          <a:p>
            <a:pPr marL="379730">
              <a:lnSpc>
                <a:spcPct val="100000"/>
              </a:lnSpc>
            </a:pPr>
            <a:r>
              <a:rPr b="0" spc="-75" dirty="0">
                <a:latin typeface="Cambria"/>
                <a:cs typeface="Cambria"/>
              </a:rPr>
              <a:t>}</a:t>
            </a:r>
          </a:p>
          <a:p>
            <a:pPr marL="379730">
              <a:lnSpc>
                <a:spcPct val="100000"/>
              </a:lnSpc>
            </a:pPr>
            <a:r>
              <a:rPr b="0" spc="-300" dirty="0">
                <a:latin typeface="Cambria"/>
                <a:cs typeface="Cambria"/>
              </a:rPr>
              <a:t>//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-20" dirty="0">
                <a:latin typeface="Cambria"/>
                <a:cs typeface="Cambria"/>
              </a:rPr>
              <a:t>c</a:t>
            </a:r>
            <a:r>
              <a:rPr b="0" spc="-15" dirty="0">
                <a:latin typeface="Cambria"/>
                <a:cs typeface="Cambria"/>
              </a:rPr>
              <a:t>o</a:t>
            </a:r>
            <a:r>
              <a:rPr b="0" spc="6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str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40" dirty="0">
                <a:latin typeface="Cambria"/>
                <a:cs typeface="Cambria"/>
              </a:rPr>
              <a:t>c</a:t>
            </a:r>
            <a:r>
              <a:rPr b="0" spc="35" dirty="0">
                <a:latin typeface="Cambria"/>
                <a:cs typeface="Cambria"/>
              </a:rPr>
              <a:t>t</a:t>
            </a:r>
            <a:r>
              <a:rPr b="0" spc="-45" dirty="0">
                <a:latin typeface="Cambria"/>
                <a:cs typeface="Cambria"/>
              </a:rPr>
              <a:t>o</a:t>
            </a:r>
            <a:r>
              <a:rPr b="0" spc="40" dirty="0">
                <a:latin typeface="Cambria"/>
                <a:cs typeface="Cambria"/>
              </a:rPr>
              <a:t>r</a:t>
            </a:r>
            <a:r>
              <a:rPr b="0" spc="60" dirty="0">
                <a:latin typeface="Cambria"/>
                <a:cs typeface="Cambria"/>
              </a:rPr>
              <a:t> </a:t>
            </a:r>
            <a:r>
              <a:rPr b="0" spc="70" dirty="0">
                <a:latin typeface="Cambria"/>
                <a:cs typeface="Cambria"/>
              </a:rPr>
              <a:t>u</a:t>
            </a:r>
            <a:r>
              <a:rPr b="0" spc="30" dirty="0">
                <a:latin typeface="Cambria"/>
                <a:cs typeface="Cambria"/>
              </a:rPr>
              <a:t>sed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w</a:t>
            </a:r>
            <a:r>
              <a:rPr b="0" spc="25" dirty="0">
                <a:latin typeface="Cambria"/>
                <a:cs typeface="Cambria"/>
              </a:rPr>
              <a:t>h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75" dirty="0">
                <a:latin typeface="Cambria"/>
                <a:cs typeface="Cambria"/>
              </a:rPr>
              <a:t>n</a:t>
            </a:r>
            <a:r>
              <a:rPr b="0" spc="55" dirty="0">
                <a:latin typeface="Cambria"/>
                <a:cs typeface="Cambria"/>
              </a:rPr>
              <a:t> </a:t>
            </a:r>
            <a:r>
              <a:rPr b="0" spc="40" dirty="0">
                <a:latin typeface="Cambria"/>
                <a:cs typeface="Cambria"/>
              </a:rPr>
              <a:t>cu</a:t>
            </a:r>
            <a:r>
              <a:rPr b="0" spc="10" dirty="0">
                <a:latin typeface="Cambria"/>
                <a:cs typeface="Cambria"/>
              </a:rPr>
              <a:t>b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65" dirty="0">
                <a:latin typeface="Cambria"/>
                <a:cs typeface="Cambria"/>
              </a:rPr>
              <a:t> </a:t>
            </a:r>
            <a:r>
              <a:rPr b="0" spc="50" dirty="0">
                <a:latin typeface="Cambria"/>
                <a:cs typeface="Cambria"/>
              </a:rPr>
              <a:t>is</a:t>
            </a:r>
            <a:r>
              <a:rPr b="0" spc="75" dirty="0">
                <a:latin typeface="Cambria"/>
                <a:cs typeface="Cambria"/>
              </a:rPr>
              <a:t> </a:t>
            </a:r>
            <a:r>
              <a:rPr b="0" spc="20" dirty="0">
                <a:latin typeface="Cambria"/>
                <a:cs typeface="Cambria"/>
              </a:rPr>
              <a:t>cr</a:t>
            </a:r>
            <a:r>
              <a:rPr b="0" spc="30" dirty="0">
                <a:latin typeface="Cambria"/>
                <a:cs typeface="Cambria"/>
              </a:rPr>
              <a:t>e</a:t>
            </a:r>
            <a:r>
              <a:rPr b="0" spc="95" dirty="0">
                <a:latin typeface="Cambria"/>
                <a:cs typeface="Cambria"/>
              </a:rPr>
              <a:t>a</a:t>
            </a:r>
            <a:r>
              <a:rPr b="0" spc="65" dirty="0">
                <a:latin typeface="Cambria"/>
                <a:cs typeface="Cambria"/>
              </a:rPr>
              <a:t>t</a:t>
            </a:r>
            <a:r>
              <a:rPr b="0" spc="15" dirty="0">
                <a:latin typeface="Cambria"/>
                <a:cs typeface="Cambria"/>
              </a:rPr>
              <a:t>e</a:t>
            </a:r>
            <a:r>
              <a:rPr b="0" spc="25" dirty="0">
                <a:latin typeface="Cambria"/>
                <a:cs typeface="Cambria"/>
              </a:rPr>
              <a:t>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03224" y="3551301"/>
            <a:ext cx="5187950" cy="3056890"/>
          </a:xfrm>
          <a:prstGeom prst="rect">
            <a:avLst/>
          </a:prstGeom>
        </p:spPr>
        <p:txBody>
          <a:bodyPr vert="horz" wrap="square" lIns="0" tIns="20955" rIns="0" bIns="0" rtlCol="0">
            <a:spAutoFit/>
          </a:bodyPr>
          <a:lstStyle/>
          <a:p>
            <a:pPr marL="285750" marR="3295015" indent="-273685">
              <a:lnSpc>
                <a:spcPts val="1670"/>
              </a:lnSpc>
              <a:spcBef>
                <a:spcPts val="165"/>
              </a:spcBef>
            </a:pPr>
            <a:r>
              <a:rPr sz="1400" spc="55" dirty="0">
                <a:latin typeface="Cambria"/>
                <a:cs typeface="Cambria"/>
              </a:rPr>
              <a:t>Box(</a:t>
            </a:r>
            <a:r>
              <a:rPr sz="1400" b="1" spc="55" dirty="0">
                <a:latin typeface="Cambria"/>
                <a:cs typeface="Cambria"/>
              </a:rPr>
              <a:t>double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45" dirty="0">
                <a:latin typeface="Cambria"/>
                <a:cs typeface="Cambria"/>
              </a:rPr>
              <a:t>len)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 </a:t>
            </a:r>
            <a:r>
              <a:rPr sz="1400" b="1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this(len,</a:t>
            </a:r>
            <a:r>
              <a:rPr sz="1400" b="1" spc="45" dirty="0">
                <a:latin typeface="Cambria"/>
                <a:cs typeface="Cambria"/>
              </a:rPr>
              <a:t> </a:t>
            </a:r>
            <a:r>
              <a:rPr sz="1400" b="1" spc="70" dirty="0">
                <a:latin typeface="Cambria"/>
                <a:cs typeface="Cambria"/>
              </a:rPr>
              <a:t>len,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35" dirty="0">
                <a:latin typeface="Cambria"/>
                <a:cs typeface="Cambria"/>
              </a:rPr>
              <a:t>len);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35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  <a:spcBef>
                <a:spcPts val="5"/>
              </a:spcBef>
            </a:pP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-20" dirty="0">
                <a:latin typeface="Cambria"/>
                <a:cs typeface="Cambria"/>
              </a:rPr>
              <a:t>co</a:t>
            </a:r>
            <a:r>
              <a:rPr sz="1400" spc="60" dirty="0">
                <a:latin typeface="Cambria"/>
                <a:cs typeface="Cambria"/>
              </a:rPr>
              <a:t>m</a:t>
            </a:r>
            <a:r>
              <a:rPr sz="1400" spc="35" dirty="0">
                <a:latin typeface="Cambria"/>
                <a:cs typeface="Cambria"/>
              </a:rPr>
              <a:t>p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20" dirty="0">
                <a:latin typeface="Cambria"/>
                <a:cs typeface="Cambria"/>
              </a:rPr>
              <a:t>e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an</a:t>
            </a:r>
            <a:r>
              <a:rPr sz="1400" spc="30" dirty="0">
                <a:latin typeface="Cambria"/>
                <a:cs typeface="Cambria"/>
              </a:rPr>
              <a:t>d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re</a:t>
            </a:r>
            <a:r>
              <a:rPr sz="1400" spc="70" dirty="0">
                <a:latin typeface="Cambria"/>
                <a:cs typeface="Cambria"/>
              </a:rPr>
              <a:t>t</a:t>
            </a:r>
            <a:r>
              <a:rPr sz="1400" spc="75" dirty="0">
                <a:latin typeface="Cambria"/>
                <a:cs typeface="Cambria"/>
              </a:rPr>
              <a:t>u</a:t>
            </a:r>
            <a:r>
              <a:rPr sz="1400" spc="60" dirty="0">
                <a:latin typeface="Cambria"/>
                <a:cs typeface="Cambria"/>
              </a:rPr>
              <a:t>rn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5" dirty="0">
                <a:latin typeface="Cambria"/>
                <a:cs typeface="Cambria"/>
              </a:rPr>
              <a:t>v</a:t>
            </a:r>
            <a:r>
              <a:rPr sz="1400" spc="5" dirty="0">
                <a:latin typeface="Cambria"/>
                <a:cs typeface="Cambria"/>
              </a:rPr>
              <a:t>o</a:t>
            </a:r>
            <a:r>
              <a:rPr sz="1400" spc="45" dirty="0">
                <a:latin typeface="Cambria"/>
                <a:cs typeface="Cambria"/>
              </a:rPr>
              <a:t>l</a:t>
            </a:r>
            <a:r>
              <a:rPr sz="1400" spc="85" dirty="0">
                <a:latin typeface="Cambria"/>
                <a:cs typeface="Cambria"/>
              </a:rPr>
              <a:t>u</a:t>
            </a:r>
            <a:r>
              <a:rPr sz="1400" spc="45" dirty="0">
                <a:latin typeface="Cambria"/>
                <a:cs typeface="Cambria"/>
              </a:rPr>
              <a:t>me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b="1" spc="75" dirty="0">
                <a:latin typeface="Cambria"/>
                <a:cs typeface="Cambria"/>
              </a:rPr>
              <a:t>double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volume()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285750">
              <a:lnSpc>
                <a:spcPct val="100000"/>
              </a:lnSpc>
            </a:pPr>
            <a:r>
              <a:rPr sz="1400" b="1" spc="85" dirty="0">
                <a:latin typeface="Cambria"/>
                <a:cs typeface="Cambria"/>
              </a:rPr>
              <a:t>return</a:t>
            </a:r>
            <a:r>
              <a:rPr sz="1400" b="1" spc="65" dirty="0">
                <a:latin typeface="Cambria"/>
                <a:cs typeface="Cambria"/>
              </a:rPr>
              <a:t> </a:t>
            </a:r>
            <a:r>
              <a:rPr sz="1400" b="1" spc="100" dirty="0">
                <a:latin typeface="Cambria"/>
                <a:cs typeface="Cambria"/>
              </a:rPr>
              <a:t>width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95" dirty="0">
                <a:latin typeface="Cambria"/>
                <a:cs typeface="Cambria"/>
              </a:rPr>
              <a:t>height</a:t>
            </a:r>
            <a:r>
              <a:rPr sz="1400" b="1" spc="80" dirty="0">
                <a:latin typeface="Cambria"/>
                <a:cs typeface="Cambria"/>
              </a:rPr>
              <a:t> </a:t>
            </a:r>
            <a:r>
              <a:rPr sz="1400" b="1" spc="65" dirty="0">
                <a:latin typeface="Cambria"/>
                <a:cs typeface="Cambria"/>
              </a:rPr>
              <a:t>*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75" dirty="0">
                <a:latin typeface="Cambria"/>
                <a:cs typeface="Cambria"/>
              </a:rPr>
              <a:t>depth;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25"/>
              </a:spcBef>
            </a:pPr>
            <a:r>
              <a:rPr sz="1400" b="1" spc="90" dirty="0">
                <a:latin typeface="Cambria"/>
                <a:cs typeface="Cambria"/>
              </a:rPr>
              <a:t>public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static</a:t>
            </a:r>
            <a:r>
              <a:rPr sz="1400" b="1" spc="55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void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main(String[]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55" dirty="0">
                <a:latin typeface="Cambria"/>
                <a:cs typeface="Cambria"/>
              </a:rPr>
              <a:t>args){</a:t>
            </a:r>
            <a:endParaRPr sz="1400">
              <a:latin typeface="Cambria"/>
              <a:cs typeface="Cambria"/>
            </a:endParaRPr>
          </a:p>
          <a:p>
            <a:pPr marL="376555" marR="225425">
              <a:lnSpc>
                <a:spcPct val="120100"/>
              </a:lnSpc>
              <a:spcBef>
                <a:spcPts val="10"/>
              </a:spcBef>
            </a:pP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45" dirty="0">
                <a:latin typeface="Cambria"/>
                <a:cs typeface="Cambria"/>
              </a:rPr>
              <a:t>Box(10,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15" dirty="0">
                <a:latin typeface="Cambria"/>
                <a:cs typeface="Cambria"/>
              </a:rPr>
              <a:t>8,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-25" dirty="0">
                <a:latin typeface="Cambria"/>
                <a:cs typeface="Cambria"/>
              </a:rPr>
              <a:t>5); </a:t>
            </a:r>
            <a:r>
              <a:rPr sz="1400" b="1" spc="-20" dirty="0">
                <a:latin typeface="Cambria"/>
                <a:cs typeface="Cambria"/>
              </a:rPr>
              <a:t> </a:t>
            </a: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35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95" dirty="0">
                <a:latin typeface="Cambria"/>
                <a:cs typeface="Cambria"/>
              </a:rPr>
              <a:t>Box:</a:t>
            </a:r>
            <a:r>
              <a:rPr sz="1400" b="1" i="1" spc="5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85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60" dirty="0">
                <a:latin typeface="Cambria"/>
                <a:cs typeface="Cambria"/>
              </a:rPr>
              <a:t>b.volume()); </a:t>
            </a:r>
            <a:r>
              <a:rPr sz="1400" b="1" i="1" spc="-295" dirty="0">
                <a:latin typeface="Cambria"/>
                <a:cs typeface="Cambria"/>
              </a:rPr>
              <a:t> </a:t>
            </a:r>
            <a:r>
              <a:rPr sz="1400" spc="60" dirty="0">
                <a:latin typeface="Cambria"/>
                <a:cs typeface="Cambria"/>
              </a:rPr>
              <a:t>Box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b1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35" dirty="0">
                <a:latin typeface="Cambria"/>
                <a:cs typeface="Cambria"/>
              </a:rPr>
              <a:t>Box(5);</a:t>
            </a:r>
            <a:endParaRPr sz="1400">
              <a:latin typeface="Cambria"/>
              <a:cs typeface="Cambria"/>
            </a:endParaRPr>
          </a:p>
          <a:p>
            <a:pPr marL="376555">
              <a:lnSpc>
                <a:spcPct val="100000"/>
              </a:lnSpc>
              <a:spcBef>
                <a:spcPts val="335"/>
              </a:spcBef>
            </a:pPr>
            <a:r>
              <a:rPr sz="1400" spc="90" dirty="0">
                <a:latin typeface="Cambria"/>
                <a:cs typeface="Cambria"/>
              </a:rPr>
              <a:t>System.</a:t>
            </a:r>
            <a:r>
              <a:rPr sz="1400" b="1" i="1" spc="90" dirty="0">
                <a:latin typeface="Cambria"/>
                <a:cs typeface="Cambria"/>
              </a:rPr>
              <a:t>out.println("Volume</a:t>
            </a:r>
            <a:r>
              <a:rPr sz="1400" b="1" i="1" spc="40" dirty="0">
                <a:latin typeface="Cambria"/>
                <a:cs typeface="Cambria"/>
              </a:rPr>
              <a:t> </a:t>
            </a:r>
            <a:r>
              <a:rPr sz="1400" b="1" i="1" spc="70" dirty="0">
                <a:latin typeface="Cambria"/>
                <a:cs typeface="Cambria"/>
              </a:rPr>
              <a:t>of</a:t>
            </a:r>
            <a:r>
              <a:rPr sz="1400" b="1" i="1" spc="80" dirty="0">
                <a:latin typeface="Cambria"/>
                <a:cs typeface="Cambria"/>
              </a:rPr>
              <a:t> </a:t>
            </a:r>
            <a:r>
              <a:rPr sz="1400" b="1" i="1" spc="105" dirty="0">
                <a:latin typeface="Cambria"/>
                <a:cs typeface="Cambria"/>
              </a:rPr>
              <a:t>Cube:</a:t>
            </a:r>
            <a:r>
              <a:rPr sz="1400" b="1" i="1" spc="65" dirty="0">
                <a:latin typeface="Cambria"/>
                <a:cs typeface="Cambria"/>
              </a:rPr>
              <a:t> </a:t>
            </a:r>
            <a:r>
              <a:rPr sz="1400" b="1" i="1" dirty="0">
                <a:latin typeface="Cambria"/>
                <a:cs typeface="Cambria"/>
              </a:rPr>
              <a:t>"</a:t>
            </a:r>
            <a:r>
              <a:rPr sz="1400" b="1" i="1" spc="90" dirty="0">
                <a:latin typeface="Cambria"/>
                <a:cs typeface="Cambria"/>
              </a:rPr>
              <a:t> </a:t>
            </a:r>
            <a:r>
              <a:rPr sz="1400" b="1" i="1" spc="45" dirty="0">
                <a:latin typeface="Cambria"/>
                <a:cs typeface="Cambria"/>
              </a:rPr>
              <a:t>+</a:t>
            </a:r>
            <a:r>
              <a:rPr sz="1400" b="1" i="1" spc="75" dirty="0">
                <a:latin typeface="Cambria"/>
                <a:cs typeface="Cambria"/>
              </a:rPr>
              <a:t> </a:t>
            </a:r>
            <a:r>
              <a:rPr sz="1400" b="1" i="1" spc="55" dirty="0">
                <a:latin typeface="Cambria"/>
                <a:cs typeface="Cambria"/>
              </a:rPr>
              <a:t>b1.volume());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6581647"/>
            <a:ext cx="8509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54801" y="3657536"/>
            <a:ext cx="2272030" cy="862330"/>
          </a:xfrm>
          <a:prstGeom prst="rect">
            <a:avLst/>
          </a:prstGeom>
          <a:solidFill>
            <a:srgbClr val="FFC000"/>
          </a:solidFill>
        </p:spPr>
        <p:txBody>
          <a:bodyPr vert="horz" wrap="square" lIns="0" tIns="4064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20"/>
              </a:spcBef>
            </a:pPr>
            <a:r>
              <a:rPr sz="1800" spc="-5" dirty="0">
                <a:latin typeface="Arial MT"/>
                <a:cs typeface="Arial MT"/>
              </a:rPr>
              <a:t>Output:</a:t>
            </a:r>
            <a:endParaRPr sz="18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Box: 400.0</a:t>
            </a:r>
            <a:endParaRPr sz="160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Arial MT"/>
                <a:cs typeface="Arial MT"/>
              </a:rPr>
              <a:t>Volume </a:t>
            </a:r>
            <a:r>
              <a:rPr sz="1600" spc="-5" dirty="0">
                <a:latin typeface="Arial MT"/>
                <a:cs typeface="Arial MT"/>
              </a:rPr>
              <a:t>of</a:t>
            </a:r>
            <a:r>
              <a:rPr sz="1600" dirty="0">
                <a:latin typeface="Arial MT"/>
                <a:cs typeface="Arial MT"/>
              </a:rPr>
              <a:t> </a:t>
            </a:r>
            <a:r>
              <a:rPr sz="1600" spc="-5" dirty="0">
                <a:latin typeface="Arial MT"/>
                <a:cs typeface="Arial MT"/>
              </a:rPr>
              <a:t>Cube: 125.0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58343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25" dirty="0"/>
              <a:t>S</a:t>
            </a:r>
            <a:r>
              <a:rPr sz="2400" spc="325" dirty="0"/>
              <a:t>UBCLASS</a:t>
            </a:r>
            <a:r>
              <a:rPr sz="2400" spc="265" dirty="0"/>
              <a:t> </a:t>
            </a:r>
            <a:r>
              <a:rPr sz="3000" spc="290" dirty="0"/>
              <a:t>P</a:t>
            </a:r>
            <a:r>
              <a:rPr sz="2400" spc="290" dirty="0"/>
              <a:t>OLYMORPHISM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7454"/>
            <a:ext cx="7263130" cy="378332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8935" indent="-35687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368935" algn="l"/>
                <a:tab pos="369570" algn="l"/>
              </a:tabLst>
            </a:pPr>
            <a:r>
              <a:rPr sz="2400" spc="235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b="1" spc="150" dirty="0">
                <a:latin typeface="Cambria"/>
                <a:cs typeface="Cambria"/>
              </a:rPr>
              <a:t>parent</a:t>
            </a:r>
            <a:r>
              <a:rPr sz="2400" b="1" spc="155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class</a:t>
            </a:r>
            <a:r>
              <a:rPr sz="2400" b="1" spc="175" dirty="0">
                <a:latin typeface="Cambria"/>
                <a:cs typeface="Cambria"/>
              </a:rPr>
              <a:t> </a:t>
            </a:r>
            <a:r>
              <a:rPr sz="2400" b="1" spc="135" dirty="0">
                <a:latin typeface="Cambria"/>
                <a:cs typeface="Cambria"/>
              </a:rPr>
              <a:t>reference</a:t>
            </a:r>
            <a:r>
              <a:rPr sz="2400" b="1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used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b="1" spc="125" dirty="0">
                <a:latin typeface="Cambria"/>
                <a:cs typeface="Cambria"/>
              </a:rPr>
              <a:t>refer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b="1" spc="160" dirty="0">
                <a:latin typeface="Cambria"/>
                <a:cs typeface="Cambria"/>
              </a:rPr>
              <a:t>child</a:t>
            </a:r>
            <a:r>
              <a:rPr sz="2400" b="1" spc="135" dirty="0">
                <a:latin typeface="Cambria"/>
                <a:cs typeface="Cambria"/>
              </a:rPr>
              <a:t> class</a:t>
            </a:r>
            <a:r>
              <a:rPr sz="2400" b="1" spc="150" dirty="0">
                <a:latin typeface="Cambria"/>
                <a:cs typeface="Cambria"/>
              </a:rPr>
              <a:t> </a:t>
            </a:r>
            <a:r>
              <a:rPr sz="2400" b="1" spc="140" dirty="0">
                <a:latin typeface="Cambria"/>
                <a:cs typeface="Cambria"/>
              </a:rPr>
              <a:t>object</a:t>
            </a:r>
            <a:r>
              <a:rPr sz="2400" spc="140" dirty="0">
                <a:latin typeface="Cambria"/>
                <a:cs typeface="Cambria"/>
              </a:rPr>
              <a:t>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1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0" dirty="0">
                <a:latin typeface="Cambria"/>
                <a:cs typeface="Cambria"/>
              </a:rPr>
              <a:t>Couple </a:t>
            </a:r>
            <a:r>
              <a:rPr sz="2400" spc="105" dirty="0">
                <a:latin typeface="Cambria"/>
                <a:cs typeface="Cambria"/>
              </a:rPr>
              <a:t>things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remember: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only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possible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way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access</a:t>
            </a:r>
            <a:r>
              <a:rPr sz="2100" spc="120" dirty="0">
                <a:latin typeface="Cambria"/>
                <a:cs typeface="Cambria"/>
              </a:rPr>
              <a:t> an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object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through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40" dirty="0">
                <a:latin typeface="Cambria"/>
                <a:cs typeface="Cambria"/>
              </a:rPr>
              <a:t>a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reference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variable.</a:t>
            </a:r>
            <a:endParaRPr sz="2100">
              <a:latin typeface="Cambria"/>
              <a:cs typeface="Cambria"/>
            </a:endParaRPr>
          </a:p>
          <a:p>
            <a:pPr marL="652780" marR="30289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reference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would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determine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14" dirty="0">
                <a:latin typeface="Cambria"/>
                <a:cs typeface="Cambria"/>
              </a:rPr>
              <a:t>that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can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invoke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on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object.</a:t>
            </a:r>
            <a:endParaRPr sz="2100">
              <a:latin typeface="Cambria"/>
              <a:cs typeface="Cambria"/>
            </a:endParaRPr>
          </a:p>
          <a:p>
            <a:pPr marL="285115" marR="17907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Using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subclass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polymorphism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we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call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or </a:t>
            </a:r>
            <a:r>
              <a:rPr sz="2400" spc="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execute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child-class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overriding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parent-class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5468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25" dirty="0"/>
              <a:t>S</a:t>
            </a:r>
            <a:r>
              <a:rPr sz="2400" spc="325" dirty="0"/>
              <a:t>UBCLASS</a:t>
            </a:r>
            <a:r>
              <a:rPr sz="2400" spc="310" dirty="0"/>
              <a:t> </a:t>
            </a: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75" dirty="0"/>
              <a:t> </a:t>
            </a:r>
            <a:r>
              <a:rPr sz="3000" dirty="0"/>
              <a:t>-</a:t>
            </a:r>
            <a:r>
              <a:rPr sz="3000" spc="165" dirty="0"/>
              <a:t> </a:t>
            </a:r>
            <a:r>
              <a:rPr sz="3000" spc="310" dirty="0"/>
              <a:t>E</a:t>
            </a:r>
            <a:r>
              <a:rPr sz="2400" spc="310" dirty="0"/>
              <a:t>XAMPLE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842643"/>
            <a:ext cx="5516880" cy="19481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90" dirty="0">
                <a:latin typeface="Cambria"/>
                <a:cs typeface="Cambria"/>
              </a:rPr>
              <a:t>public </a:t>
            </a:r>
            <a:r>
              <a:rPr sz="1400" b="1" spc="75" dirty="0">
                <a:latin typeface="Cambria"/>
                <a:cs typeface="Cambria"/>
              </a:rPr>
              <a:t>class</a:t>
            </a:r>
            <a:r>
              <a:rPr sz="1400" b="1" spc="7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TestPolymorphism</a:t>
            </a:r>
            <a:r>
              <a:rPr sz="1400" b="1" spc="60" dirty="0">
                <a:latin typeface="Cambria"/>
                <a:cs typeface="Cambria"/>
              </a:rPr>
              <a:t> </a:t>
            </a:r>
            <a:r>
              <a:rPr sz="1400" b="1" spc="-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1593850" indent="-364490">
              <a:lnSpc>
                <a:spcPct val="100000"/>
              </a:lnSpc>
              <a:spcBef>
                <a:spcPts val="10"/>
              </a:spcBef>
            </a:pPr>
            <a:r>
              <a:rPr sz="1400" b="1" spc="90" dirty="0">
                <a:latin typeface="Cambria"/>
                <a:cs typeface="Cambria"/>
              </a:rPr>
              <a:t>public </a:t>
            </a:r>
            <a:r>
              <a:rPr sz="1400" b="1" spc="85" dirty="0">
                <a:latin typeface="Cambria"/>
                <a:cs typeface="Cambria"/>
              </a:rPr>
              <a:t>static </a:t>
            </a:r>
            <a:r>
              <a:rPr sz="1400" b="1" spc="80" dirty="0">
                <a:latin typeface="Cambria"/>
                <a:cs typeface="Cambria"/>
              </a:rPr>
              <a:t>void </a:t>
            </a:r>
            <a:r>
              <a:rPr sz="1400" b="1" spc="85" dirty="0">
                <a:latin typeface="Cambria"/>
                <a:cs typeface="Cambria"/>
              </a:rPr>
              <a:t>main(String[] </a:t>
            </a:r>
            <a:r>
              <a:rPr sz="1400" b="1" spc="65" dirty="0">
                <a:latin typeface="Cambria"/>
                <a:cs typeface="Cambria"/>
              </a:rPr>
              <a:t>args)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80" dirty="0">
                <a:latin typeface="Cambria"/>
                <a:cs typeface="Cambria"/>
              </a:rPr>
              <a:t>Animal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95" dirty="0">
                <a:latin typeface="Cambria"/>
                <a:cs typeface="Cambria"/>
              </a:rPr>
              <a:t>a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55" dirty="0">
                <a:latin typeface="Cambria"/>
                <a:cs typeface="Cambria"/>
              </a:rPr>
              <a:t>Bird();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0" dirty="0">
                <a:latin typeface="Cambria"/>
                <a:cs typeface="Cambria"/>
              </a:rPr>
              <a:t>a.sleep();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55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sleep()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method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of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animal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will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be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executed</a:t>
            </a:r>
            <a:endParaRPr sz="1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80" dirty="0">
                <a:latin typeface="Cambria"/>
                <a:cs typeface="Cambria"/>
              </a:rPr>
              <a:t>Animal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85" dirty="0">
                <a:latin typeface="Cambria"/>
                <a:cs typeface="Cambria"/>
              </a:rPr>
              <a:t>h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b="1" spc="100" dirty="0">
                <a:latin typeface="Cambria"/>
                <a:cs typeface="Cambria"/>
              </a:rPr>
              <a:t>new</a:t>
            </a:r>
            <a:r>
              <a:rPr sz="1400" b="1" spc="75" dirty="0">
                <a:latin typeface="Cambria"/>
                <a:cs typeface="Cambria"/>
              </a:rPr>
              <a:t> </a:t>
            </a:r>
            <a:r>
              <a:rPr sz="1400" b="1" spc="50" dirty="0">
                <a:latin typeface="Cambria"/>
                <a:cs typeface="Cambria"/>
              </a:rPr>
              <a:t>Horse();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0" dirty="0">
                <a:latin typeface="Cambria"/>
                <a:cs typeface="Cambria"/>
              </a:rPr>
              <a:t>h.sleep();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85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sleep()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method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of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Horse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will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be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executed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833748" y="4187633"/>
            <a:ext cx="441959" cy="0"/>
          </a:xfrm>
          <a:custGeom>
            <a:avLst/>
            <a:gdLst/>
            <a:ahLst/>
            <a:cxnLst/>
            <a:rect l="l" t="t" r="r" b="b"/>
            <a:pathLst>
              <a:path w="441960">
                <a:moveTo>
                  <a:pt x="0" y="0"/>
                </a:moveTo>
                <a:lnTo>
                  <a:pt x="441957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833748" y="4668075"/>
            <a:ext cx="486409" cy="0"/>
          </a:xfrm>
          <a:custGeom>
            <a:avLst/>
            <a:gdLst/>
            <a:ahLst/>
            <a:cxnLst/>
            <a:rect l="l" t="t" r="r" b="b"/>
            <a:pathLst>
              <a:path w="486410">
                <a:moveTo>
                  <a:pt x="0" y="0"/>
                </a:moveTo>
                <a:lnTo>
                  <a:pt x="486153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741801" y="3886136"/>
            <a:ext cx="678180" cy="122428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050" dirty="0">
                <a:latin typeface="Arial MT"/>
                <a:cs typeface="Arial MT"/>
              </a:rPr>
              <a:t>Animal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100">
              <a:latin typeface="Arial MT"/>
              <a:cs typeface="Arial MT"/>
            </a:endParaRPr>
          </a:p>
          <a:p>
            <a:pPr marL="91440">
              <a:lnSpc>
                <a:spcPct val="100000"/>
              </a:lnSpc>
            </a:pPr>
            <a:r>
              <a:rPr sz="1050" spc="5" dirty="0">
                <a:latin typeface="Arial MT"/>
                <a:cs typeface="Arial MT"/>
              </a:rPr>
              <a:t>Weight</a:t>
            </a:r>
            <a:endParaRPr sz="1050">
              <a:latin typeface="Arial MT"/>
              <a:cs typeface="Arial MT"/>
            </a:endParaRPr>
          </a:p>
          <a:p>
            <a:pPr marL="91440">
              <a:lnSpc>
                <a:spcPct val="100000"/>
              </a:lnSpc>
            </a:pPr>
            <a:r>
              <a:rPr sz="1050" dirty="0">
                <a:latin typeface="Arial MT"/>
                <a:cs typeface="Arial MT"/>
              </a:rPr>
              <a:t>Color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050">
              <a:latin typeface="Arial MT"/>
              <a:cs typeface="Arial MT"/>
            </a:endParaRPr>
          </a:p>
          <a:p>
            <a:pPr marL="91440" marR="167640">
              <a:lnSpc>
                <a:spcPct val="100000"/>
              </a:lnSpc>
            </a:pPr>
            <a:r>
              <a:rPr sz="1050" dirty="0">
                <a:latin typeface="Arial MT"/>
                <a:cs typeface="Arial MT"/>
              </a:rPr>
              <a:t>eat() </a:t>
            </a:r>
            <a:r>
              <a:rPr sz="1050" spc="5" dirty="0">
                <a:latin typeface="Arial MT"/>
                <a:cs typeface="Arial MT"/>
              </a:rPr>
              <a:t> </a:t>
            </a:r>
            <a:r>
              <a:rPr sz="1050" dirty="0">
                <a:latin typeface="Arial MT"/>
                <a:cs typeface="Arial MT"/>
              </a:rPr>
              <a:t>sleep()</a:t>
            </a:r>
            <a:endParaRPr sz="105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987675" y="5573889"/>
            <a:ext cx="441959" cy="0"/>
          </a:xfrm>
          <a:custGeom>
            <a:avLst/>
            <a:gdLst/>
            <a:ahLst/>
            <a:cxnLst/>
            <a:rect l="l" t="t" r="r" b="b"/>
            <a:pathLst>
              <a:path w="441960">
                <a:moveTo>
                  <a:pt x="0" y="0"/>
                </a:moveTo>
                <a:lnTo>
                  <a:pt x="441957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87675" y="5894234"/>
            <a:ext cx="486409" cy="0"/>
          </a:xfrm>
          <a:custGeom>
            <a:avLst/>
            <a:gdLst/>
            <a:ahLst/>
            <a:cxnLst/>
            <a:rect l="l" t="t" r="r" b="b"/>
            <a:pathLst>
              <a:path w="486410">
                <a:moveTo>
                  <a:pt x="0" y="0"/>
                </a:moveTo>
                <a:lnTo>
                  <a:pt x="486153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895600" y="5272087"/>
            <a:ext cx="678180" cy="90043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318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340"/>
              </a:spcBef>
            </a:pPr>
            <a:r>
              <a:rPr sz="1050" dirty="0">
                <a:latin typeface="Arial MT"/>
                <a:cs typeface="Arial MT"/>
              </a:rPr>
              <a:t>Bird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05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sz="1050" dirty="0">
                <a:latin typeface="Arial MT"/>
                <a:cs typeface="Arial MT"/>
              </a:rPr>
              <a:t>canFly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050">
              <a:latin typeface="Arial MT"/>
              <a:cs typeface="Arial MT"/>
            </a:endParaRPr>
          </a:p>
          <a:p>
            <a:pPr marL="92075">
              <a:lnSpc>
                <a:spcPct val="100000"/>
              </a:lnSpc>
            </a:pPr>
            <a:r>
              <a:rPr sz="1050" spc="-5" dirty="0">
                <a:latin typeface="Arial MT"/>
                <a:cs typeface="Arial MT"/>
              </a:rPr>
              <a:t>fly()</a:t>
            </a:r>
            <a:endParaRPr sz="105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671948" y="5559790"/>
            <a:ext cx="441959" cy="0"/>
          </a:xfrm>
          <a:custGeom>
            <a:avLst/>
            <a:gdLst/>
            <a:ahLst/>
            <a:cxnLst/>
            <a:rect l="l" t="t" r="r" b="b"/>
            <a:pathLst>
              <a:path w="441960">
                <a:moveTo>
                  <a:pt x="0" y="0"/>
                </a:moveTo>
                <a:lnTo>
                  <a:pt x="441956" y="0"/>
                </a:lnTo>
              </a:path>
            </a:pathLst>
          </a:custGeom>
          <a:ln w="11828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671948" y="5879908"/>
            <a:ext cx="486409" cy="0"/>
          </a:xfrm>
          <a:custGeom>
            <a:avLst/>
            <a:gdLst/>
            <a:ahLst/>
            <a:cxnLst/>
            <a:rect l="l" t="t" r="r" b="b"/>
            <a:pathLst>
              <a:path w="486410">
                <a:moveTo>
                  <a:pt x="0" y="0"/>
                </a:moveTo>
                <a:lnTo>
                  <a:pt x="486153" y="0"/>
                </a:lnTo>
              </a:path>
            </a:pathLst>
          </a:custGeom>
          <a:ln w="1180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580001" y="5257800"/>
            <a:ext cx="678180" cy="90043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050" dirty="0">
                <a:latin typeface="Arial MT"/>
                <a:cs typeface="Arial MT"/>
              </a:rPr>
              <a:t>Horse</a:t>
            </a:r>
            <a:endParaRPr sz="105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20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200">
              <a:latin typeface="Arial MT"/>
              <a:cs typeface="Arial MT"/>
            </a:endParaRPr>
          </a:p>
          <a:p>
            <a:pPr marL="91440">
              <a:lnSpc>
                <a:spcPct val="100000"/>
              </a:lnSpc>
              <a:spcBef>
                <a:spcPts val="1019"/>
              </a:spcBef>
            </a:pPr>
            <a:r>
              <a:rPr sz="1050" dirty="0">
                <a:latin typeface="Arial MT"/>
                <a:cs typeface="Arial MT"/>
              </a:rPr>
              <a:t>sleep()</a:t>
            </a:r>
            <a:endParaRPr sz="105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230626" y="4724400"/>
            <a:ext cx="503555" cy="552450"/>
          </a:xfrm>
          <a:custGeom>
            <a:avLst/>
            <a:gdLst/>
            <a:ahLst/>
            <a:cxnLst/>
            <a:rect l="l" t="t" r="r" b="b"/>
            <a:pathLst>
              <a:path w="503554" h="552450">
                <a:moveTo>
                  <a:pt x="486171" y="18634"/>
                </a:moveTo>
                <a:lnTo>
                  <a:pt x="474209" y="22392"/>
                </a:lnTo>
                <a:lnTo>
                  <a:pt x="0" y="543433"/>
                </a:lnTo>
                <a:lnTo>
                  <a:pt x="9398" y="551941"/>
                </a:lnTo>
                <a:lnTo>
                  <a:pt x="483534" y="30981"/>
                </a:lnTo>
                <a:lnTo>
                  <a:pt x="486171" y="18634"/>
                </a:lnTo>
                <a:close/>
              </a:path>
              <a:path w="503554" h="552450">
                <a:moveTo>
                  <a:pt x="502088" y="5080"/>
                </a:moveTo>
                <a:lnTo>
                  <a:pt x="489965" y="5080"/>
                </a:lnTo>
                <a:lnTo>
                  <a:pt x="499363" y="13588"/>
                </a:lnTo>
                <a:lnTo>
                  <a:pt x="483534" y="30981"/>
                </a:lnTo>
                <a:lnTo>
                  <a:pt x="470026" y="94233"/>
                </a:lnTo>
                <a:lnTo>
                  <a:pt x="469391" y="97662"/>
                </a:lnTo>
                <a:lnTo>
                  <a:pt x="471550" y="101092"/>
                </a:lnTo>
                <a:lnTo>
                  <a:pt x="474979" y="101726"/>
                </a:lnTo>
                <a:lnTo>
                  <a:pt x="478409" y="102488"/>
                </a:lnTo>
                <a:lnTo>
                  <a:pt x="481711" y="100330"/>
                </a:lnTo>
                <a:lnTo>
                  <a:pt x="482473" y="96900"/>
                </a:lnTo>
                <a:lnTo>
                  <a:pt x="502088" y="5080"/>
                </a:lnTo>
                <a:close/>
              </a:path>
              <a:path w="503554" h="552450">
                <a:moveTo>
                  <a:pt x="503174" y="0"/>
                </a:moveTo>
                <a:lnTo>
                  <a:pt x="408686" y="29718"/>
                </a:lnTo>
                <a:lnTo>
                  <a:pt x="405257" y="30733"/>
                </a:lnTo>
                <a:lnTo>
                  <a:pt x="403478" y="34289"/>
                </a:lnTo>
                <a:lnTo>
                  <a:pt x="404495" y="37592"/>
                </a:lnTo>
                <a:lnTo>
                  <a:pt x="405511" y="41020"/>
                </a:lnTo>
                <a:lnTo>
                  <a:pt x="409066" y="42799"/>
                </a:lnTo>
                <a:lnTo>
                  <a:pt x="412496" y="41782"/>
                </a:lnTo>
                <a:lnTo>
                  <a:pt x="474209" y="22392"/>
                </a:lnTo>
                <a:lnTo>
                  <a:pt x="489965" y="5080"/>
                </a:lnTo>
                <a:lnTo>
                  <a:pt x="502088" y="5080"/>
                </a:lnTo>
                <a:lnTo>
                  <a:pt x="503174" y="0"/>
                </a:lnTo>
                <a:close/>
              </a:path>
              <a:path w="503554" h="552450">
                <a:moveTo>
                  <a:pt x="493192" y="8000"/>
                </a:moveTo>
                <a:lnTo>
                  <a:pt x="488441" y="8000"/>
                </a:lnTo>
                <a:lnTo>
                  <a:pt x="496570" y="15367"/>
                </a:lnTo>
                <a:lnTo>
                  <a:pt x="486171" y="18634"/>
                </a:lnTo>
                <a:lnTo>
                  <a:pt x="483534" y="30981"/>
                </a:lnTo>
                <a:lnTo>
                  <a:pt x="499363" y="13588"/>
                </a:lnTo>
                <a:lnTo>
                  <a:pt x="493192" y="8000"/>
                </a:lnTo>
                <a:close/>
              </a:path>
              <a:path w="503554" h="552450">
                <a:moveTo>
                  <a:pt x="489965" y="5080"/>
                </a:moveTo>
                <a:lnTo>
                  <a:pt x="474209" y="22392"/>
                </a:lnTo>
                <a:lnTo>
                  <a:pt x="486171" y="18634"/>
                </a:lnTo>
                <a:lnTo>
                  <a:pt x="488441" y="8000"/>
                </a:lnTo>
                <a:lnTo>
                  <a:pt x="493192" y="8000"/>
                </a:lnTo>
                <a:lnTo>
                  <a:pt x="489965" y="5080"/>
                </a:lnTo>
                <a:close/>
              </a:path>
              <a:path w="503554" h="552450">
                <a:moveTo>
                  <a:pt x="488441" y="8000"/>
                </a:moveTo>
                <a:lnTo>
                  <a:pt x="486171" y="18634"/>
                </a:lnTo>
                <a:lnTo>
                  <a:pt x="496570" y="15367"/>
                </a:lnTo>
                <a:lnTo>
                  <a:pt x="488441" y="8000"/>
                </a:lnTo>
                <a:close/>
              </a:path>
            </a:pathLst>
          </a:custGeom>
          <a:solidFill>
            <a:srgbClr val="FF690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419600" y="4724400"/>
            <a:ext cx="503555" cy="537845"/>
          </a:xfrm>
          <a:custGeom>
            <a:avLst/>
            <a:gdLst/>
            <a:ahLst/>
            <a:cxnLst/>
            <a:rect l="l" t="t" r="r" b="b"/>
            <a:pathLst>
              <a:path w="503554" h="537845">
                <a:moveTo>
                  <a:pt x="17144" y="18367"/>
                </a:moveTo>
                <a:lnTo>
                  <a:pt x="19914" y="30561"/>
                </a:lnTo>
                <a:lnTo>
                  <a:pt x="493775" y="537718"/>
                </a:lnTo>
                <a:lnTo>
                  <a:pt x="503174" y="529082"/>
                </a:lnTo>
                <a:lnTo>
                  <a:pt x="29265" y="22007"/>
                </a:lnTo>
                <a:lnTo>
                  <a:pt x="17144" y="18367"/>
                </a:lnTo>
                <a:close/>
              </a:path>
              <a:path w="503554" h="537845">
                <a:moveTo>
                  <a:pt x="0" y="0"/>
                </a:moveTo>
                <a:lnTo>
                  <a:pt x="21971" y="96647"/>
                </a:lnTo>
                <a:lnTo>
                  <a:pt x="22733" y="100075"/>
                </a:lnTo>
                <a:lnTo>
                  <a:pt x="26162" y="102235"/>
                </a:lnTo>
                <a:lnTo>
                  <a:pt x="29590" y="101345"/>
                </a:lnTo>
                <a:lnTo>
                  <a:pt x="33020" y="100583"/>
                </a:lnTo>
                <a:lnTo>
                  <a:pt x="35051" y="97281"/>
                </a:lnTo>
                <a:lnTo>
                  <a:pt x="34289" y="93852"/>
                </a:lnTo>
                <a:lnTo>
                  <a:pt x="19914" y="30561"/>
                </a:lnTo>
                <a:lnTo>
                  <a:pt x="3937" y="13462"/>
                </a:lnTo>
                <a:lnTo>
                  <a:pt x="13208" y="4825"/>
                </a:lnTo>
                <a:lnTo>
                  <a:pt x="16093" y="4825"/>
                </a:lnTo>
                <a:lnTo>
                  <a:pt x="0" y="0"/>
                </a:lnTo>
                <a:close/>
              </a:path>
              <a:path w="503554" h="537845">
                <a:moveTo>
                  <a:pt x="16093" y="4825"/>
                </a:moveTo>
                <a:lnTo>
                  <a:pt x="13208" y="4825"/>
                </a:lnTo>
                <a:lnTo>
                  <a:pt x="29265" y="22007"/>
                </a:lnTo>
                <a:lnTo>
                  <a:pt x="94614" y="41656"/>
                </a:lnTo>
                <a:lnTo>
                  <a:pt x="98171" y="39750"/>
                </a:lnTo>
                <a:lnTo>
                  <a:pt x="99187" y="36322"/>
                </a:lnTo>
                <a:lnTo>
                  <a:pt x="100202" y="33019"/>
                </a:lnTo>
                <a:lnTo>
                  <a:pt x="98298" y="29463"/>
                </a:lnTo>
                <a:lnTo>
                  <a:pt x="16093" y="4825"/>
                </a:lnTo>
                <a:close/>
              </a:path>
              <a:path w="503554" h="537845">
                <a:moveTo>
                  <a:pt x="13208" y="4825"/>
                </a:moveTo>
                <a:lnTo>
                  <a:pt x="3937" y="13462"/>
                </a:lnTo>
                <a:lnTo>
                  <a:pt x="19914" y="30561"/>
                </a:lnTo>
                <a:lnTo>
                  <a:pt x="17144" y="18367"/>
                </a:lnTo>
                <a:lnTo>
                  <a:pt x="6730" y="15239"/>
                </a:lnTo>
                <a:lnTo>
                  <a:pt x="14732" y="7747"/>
                </a:lnTo>
                <a:lnTo>
                  <a:pt x="15937" y="7747"/>
                </a:lnTo>
                <a:lnTo>
                  <a:pt x="13208" y="4825"/>
                </a:lnTo>
                <a:close/>
              </a:path>
              <a:path w="503554" h="537845">
                <a:moveTo>
                  <a:pt x="15937" y="7747"/>
                </a:moveTo>
                <a:lnTo>
                  <a:pt x="14732" y="7747"/>
                </a:lnTo>
                <a:lnTo>
                  <a:pt x="17144" y="18367"/>
                </a:lnTo>
                <a:lnTo>
                  <a:pt x="29265" y="22007"/>
                </a:lnTo>
                <a:lnTo>
                  <a:pt x="15937" y="7747"/>
                </a:lnTo>
                <a:close/>
              </a:path>
              <a:path w="503554" h="537845">
                <a:moveTo>
                  <a:pt x="14732" y="7747"/>
                </a:moveTo>
                <a:lnTo>
                  <a:pt x="6730" y="15239"/>
                </a:lnTo>
                <a:lnTo>
                  <a:pt x="17144" y="18367"/>
                </a:lnTo>
                <a:lnTo>
                  <a:pt x="14732" y="7747"/>
                </a:lnTo>
                <a:close/>
              </a:path>
            </a:pathLst>
          </a:custGeom>
          <a:solidFill>
            <a:srgbClr val="FF6903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82130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25" dirty="0"/>
              <a:t>S</a:t>
            </a:r>
            <a:r>
              <a:rPr sz="2400" spc="325" dirty="0"/>
              <a:t>UBCLASS</a:t>
            </a:r>
            <a:r>
              <a:rPr sz="2400" spc="310" dirty="0"/>
              <a:t> </a:t>
            </a: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75" dirty="0"/>
              <a:t> </a:t>
            </a:r>
            <a:r>
              <a:rPr sz="3000" spc="220" dirty="0"/>
              <a:t>–C</a:t>
            </a:r>
            <a:r>
              <a:rPr sz="2400" spc="220" dirty="0"/>
              <a:t>OMPILE</a:t>
            </a:r>
            <a:r>
              <a:rPr sz="3000" spc="220" dirty="0"/>
              <a:t>/</a:t>
            </a:r>
            <a:r>
              <a:rPr sz="2400" spc="220" dirty="0"/>
              <a:t>RUN</a:t>
            </a:r>
            <a:r>
              <a:rPr sz="2400" spc="290" dirty="0"/>
              <a:t> </a:t>
            </a:r>
            <a:r>
              <a:rPr sz="2400" spc="254" dirty="0"/>
              <a:t>TIME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55822"/>
            <a:ext cx="7225665" cy="405130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" dirty="0">
                <a:latin typeface="Cambria"/>
                <a:cs typeface="Cambria"/>
              </a:rPr>
              <a:t>2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types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check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  <a:tab pos="4095750" algn="l"/>
              </a:tabLst>
            </a:pPr>
            <a:r>
              <a:rPr sz="2100" spc="45" dirty="0">
                <a:latin typeface="Cambria"/>
                <a:cs typeface="Cambria"/>
              </a:rPr>
              <a:t>reference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would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determine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114" dirty="0">
                <a:latin typeface="Cambria"/>
                <a:cs typeface="Cambria"/>
              </a:rPr>
              <a:t>that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it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can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invoke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on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object.	</a:t>
            </a:r>
            <a:r>
              <a:rPr sz="2100" b="1" spc="160" dirty="0">
                <a:latin typeface="Cambria"/>
                <a:cs typeface="Cambria"/>
              </a:rPr>
              <a:t>Compile</a:t>
            </a:r>
            <a:r>
              <a:rPr sz="2100" b="1" spc="120" dirty="0">
                <a:latin typeface="Cambria"/>
                <a:cs typeface="Cambria"/>
              </a:rPr>
              <a:t> time</a:t>
            </a:r>
            <a:r>
              <a:rPr sz="2100" b="1" spc="114" dirty="0">
                <a:latin typeface="Cambria"/>
                <a:cs typeface="Cambria"/>
              </a:rPr>
              <a:t> </a:t>
            </a:r>
            <a:r>
              <a:rPr sz="2100" b="1" spc="140" dirty="0">
                <a:latin typeface="Cambria"/>
                <a:cs typeface="Cambria"/>
              </a:rPr>
              <a:t>check.</a:t>
            </a:r>
            <a:endParaRPr sz="2100">
              <a:latin typeface="Cambria"/>
              <a:cs typeface="Cambria"/>
            </a:endParaRPr>
          </a:p>
          <a:p>
            <a:pPr marL="652780" marR="2413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25" dirty="0">
                <a:latin typeface="Cambria"/>
                <a:cs typeface="Cambria"/>
              </a:rPr>
              <a:t>object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type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45" dirty="0">
                <a:latin typeface="Cambria"/>
                <a:cs typeface="Cambria"/>
              </a:rPr>
              <a:t>(NOT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reference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variable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type)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determines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overridden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will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used</a:t>
            </a:r>
            <a:r>
              <a:rPr sz="2100" spc="120" dirty="0">
                <a:latin typeface="Cambria"/>
                <a:cs typeface="Cambria"/>
              </a:rPr>
              <a:t> at </a:t>
            </a:r>
            <a:r>
              <a:rPr sz="2100" b="1" spc="130" dirty="0">
                <a:latin typeface="Cambria"/>
                <a:cs typeface="Cambria"/>
              </a:rPr>
              <a:t>runtime.</a:t>
            </a:r>
            <a:endParaRPr sz="2100">
              <a:latin typeface="Cambria"/>
              <a:cs typeface="Cambria"/>
            </a:endParaRPr>
          </a:p>
          <a:p>
            <a:pPr marL="1017269" marR="3596004" lvl="1" indent="-637540">
              <a:lnSpc>
                <a:spcPct val="117900"/>
              </a:lnSpc>
              <a:spcBef>
                <a:spcPts val="5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5" dirty="0">
                <a:latin typeface="Cambria"/>
                <a:cs typeface="Cambria"/>
              </a:rPr>
              <a:t>Consider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code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10" dirty="0">
                <a:latin typeface="Cambria"/>
                <a:cs typeface="Cambria"/>
              </a:rPr>
              <a:t>below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1600" spc="85" dirty="0">
                <a:latin typeface="Cambria"/>
                <a:cs typeface="Cambria"/>
              </a:rPr>
              <a:t>Animal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a</a:t>
            </a:r>
            <a:r>
              <a:rPr sz="1600" spc="85" dirty="0">
                <a:latin typeface="Cambria"/>
                <a:cs typeface="Cambria"/>
              </a:rPr>
              <a:t> </a:t>
            </a:r>
            <a:r>
              <a:rPr sz="1600" spc="80" dirty="0">
                <a:latin typeface="Cambria"/>
                <a:cs typeface="Cambria"/>
              </a:rPr>
              <a:t>=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new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Bird(); </a:t>
            </a:r>
            <a:r>
              <a:rPr sz="1600" spc="25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a.sleep();</a:t>
            </a:r>
            <a:endParaRPr sz="1600">
              <a:latin typeface="Cambria"/>
              <a:cs typeface="Cambria"/>
            </a:endParaRPr>
          </a:p>
          <a:p>
            <a:pPr marL="927100" marR="172720" lvl="2" indent="-182880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110" dirty="0">
                <a:latin typeface="Cambria"/>
                <a:cs typeface="Cambria"/>
              </a:rPr>
              <a:t>Can’t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call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30" dirty="0">
                <a:latin typeface="Cambria"/>
                <a:cs typeface="Cambria"/>
              </a:rPr>
              <a:t>a.sleep()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if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the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dirty="0">
                <a:latin typeface="Cambria"/>
                <a:cs typeface="Cambria"/>
              </a:rPr>
              <a:t>sleep()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method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is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40" dirty="0">
                <a:latin typeface="Cambria"/>
                <a:cs typeface="Cambria"/>
              </a:rPr>
              <a:t>not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available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80" dirty="0">
                <a:latin typeface="Cambria"/>
                <a:cs typeface="Cambria"/>
              </a:rPr>
              <a:t>in </a:t>
            </a:r>
            <a:r>
              <a:rPr sz="1800" spc="-380" dirty="0">
                <a:latin typeface="Cambria"/>
                <a:cs typeface="Cambria"/>
              </a:rPr>
              <a:t> </a:t>
            </a:r>
            <a:r>
              <a:rPr sz="1800" spc="100" dirty="0">
                <a:latin typeface="Cambria"/>
                <a:cs typeface="Cambria"/>
              </a:rPr>
              <a:t>Animal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class.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80" dirty="0">
                <a:latin typeface="Cambria"/>
                <a:cs typeface="Cambria"/>
              </a:rPr>
              <a:t>Will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25" dirty="0">
                <a:latin typeface="Cambria"/>
                <a:cs typeface="Cambria"/>
              </a:rPr>
              <a:t>produce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30" dirty="0">
                <a:latin typeface="Cambria"/>
                <a:cs typeface="Cambria"/>
              </a:rPr>
              <a:t>compile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error.</a:t>
            </a:r>
            <a:endParaRPr sz="1800">
              <a:latin typeface="Cambria"/>
              <a:cs typeface="Cambria"/>
            </a:endParaRPr>
          </a:p>
          <a:p>
            <a:pPr marL="927100" marR="5080" lvl="2" indent="-182880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100" dirty="0">
                <a:latin typeface="Cambria"/>
                <a:cs typeface="Cambria"/>
              </a:rPr>
              <a:t>During</a:t>
            </a:r>
            <a:r>
              <a:rPr sz="1800" spc="75" dirty="0">
                <a:latin typeface="Cambria"/>
                <a:cs typeface="Cambria"/>
              </a:rPr>
              <a:t> runtime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the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Horse’s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dirty="0">
                <a:latin typeface="Cambria"/>
                <a:cs typeface="Cambria"/>
              </a:rPr>
              <a:t>sleep()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method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will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be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executed </a:t>
            </a:r>
            <a:r>
              <a:rPr sz="1800" spc="-380" dirty="0">
                <a:latin typeface="Cambria"/>
                <a:cs typeface="Cambria"/>
              </a:rPr>
              <a:t> </a:t>
            </a:r>
            <a:r>
              <a:rPr sz="1800" spc="40" dirty="0">
                <a:latin typeface="Cambria"/>
                <a:cs typeface="Cambria"/>
              </a:rPr>
              <a:t>not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85" dirty="0">
                <a:latin typeface="Cambria"/>
                <a:cs typeface="Cambria"/>
              </a:rPr>
              <a:t>Animal’s.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438734"/>
            <a:ext cx="6269355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25" dirty="0"/>
              <a:t>S</a:t>
            </a:r>
            <a:r>
              <a:rPr sz="2400" spc="325" dirty="0"/>
              <a:t>UBCLASS</a:t>
            </a:r>
            <a:r>
              <a:rPr sz="2400" spc="315" dirty="0"/>
              <a:t> </a:t>
            </a: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70" dirty="0"/>
              <a:t> </a:t>
            </a:r>
            <a:r>
              <a:rPr sz="3000" spc="165" dirty="0"/>
              <a:t>–</a:t>
            </a:r>
            <a:r>
              <a:rPr sz="3000" spc="160" dirty="0"/>
              <a:t> </a:t>
            </a:r>
            <a:r>
              <a:rPr sz="2400" spc="325" dirty="0"/>
              <a:t>ACCESS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972439"/>
            <a:ext cx="7251700" cy="46018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90" dirty="0">
                <a:solidFill>
                  <a:srgbClr val="565F6C"/>
                </a:solidFill>
                <a:latin typeface="Cambria"/>
                <a:cs typeface="Cambria"/>
              </a:rPr>
              <a:t>METHOD</a:t>
            </a:r>
            <a:r>
              <a:rPr sz="2400" spc="29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65" dirty="0">
                <a:solidFill>
                  <a:srgbClr val="565F6C"/>
                </a:solidFill>
                <a:latin typeface="Cambria"/>
                <a:cs typeface="Cambria"/>
              </a:rPr>
              <a:t>NOT</a:t>
            </a:r>
            <a:r>
              <a:rPr sz="2400" spc="280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60" dirty="0">
                <a:solidFill>
                  <a:srgbClr val="565F6C"/>
                </a:solidFill>
                <a:latin typeface="Cambria"/>
                <a:cs typeface="Cambria"/>
              </a:rPr>
              <a:t>AVAILABLE</a:t>
            </a:r>
            <a:r>
              <a:rPr sz="2400" spc="36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54" dirty="0">
                <a:solidFill>
                  <a:srgbClr val="565F6C"/>
                </a:solidFill>
                <a:latin typeface="Cambria"/>
                <a:cs typeface="Cambria"/>
              </a:rPr>
              <a:t>IN</a:t>
            </a:r>
            <a:r>
              <a:rPr sz="2400" spc="29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54" dirty="0">
                <a:solidFill>
                  <a:srgbClr val="565F6C"/>
                </a:solidFill>
                <a:latin typeface="Cambria"/>
                <a:cs typeface="Cambria"/>
              </a:rPr>
              <a:t>PARENT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2305"/>
              </a:spcBef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TestPolymorphism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3731260" indent="-36449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static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void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main(String[]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args)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80" dirty="0">
                <a:latin typeface="Cambria"/>
                <a:cs typeface="Cambria"/>
              </a:rPr>
              <a:t>Animal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95" dirty="0">
                <a:latin typeface="Cambria"/>
                <a:cs typeface="Cambria"/>
              </a:rPr>
              <a:t>a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spc="30" dirty="0">
                <a:latin typeface="Cambria"/>
                <a:cs typeface="Cambria"/>
              </a:rPr>
              <a:t>new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Bird();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25" dirty="0">
                <a:latin typeface="Cambria"/>
                <a:cs typeface="Cambria"/>
              </a:rPr>
              <a:t>a.fly();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80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Compile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error: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65" dirty="0">
                <a:latin typeface="Cambria"/>
                <a:cs typeface="Cambria"/>
              </a:rPr>
              <a:t>The </a:t>
            </a:r>
            <a:r>
              <a:rPr sz="1400" spc="10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method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dirty="0">
                <a:latin typeface="Cambria"/>
                <a:cs typeface="Cambria"/>
              </a:rPr>
              <a:t>fly()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is</a:t>
            </a:r>
            <a:r>
              <a:rPr sz="1400" spc="8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undefined </a:t>
            </a:r>
            <a:r>
              <a:rPr sz="1400" spc="15" dirty="0">
                <a:latin typeface="Cambria"/>
                <a:cs typeface="Cambria"/>
              </a:rPr>
              <a:t>for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the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type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80" dirty="0">
                <a:latin typeface="Cambria"/>
                <a:cs typeface="Cambria"/>
              </a:rPr>
              <a:t>Animal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ts val="1675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285115" indent="-273050">
              <a:lnSpc>
                <a:spcPts val="2875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5" dirty="0">
                <a:latin typeface="Cambria"/>
                <a:cs typeface="Cambria"/>
              </a:rPr>
              <a:t>So </a:t>
            </a:r>
            <a:r>
              <a:rPr sz="2400" spc="110" dirty="0">
                <a:latin typeface="Cambria"/>
                <a:cs typeface="Cambria"/>
              </a:rPr>
              <a:t>what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-15" dirty="0">
                <a:latin typeface="Cambria"/>
                <a:cs typeface="Cambria"/>
              </a:rPr>
              <a:t>do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need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call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subclass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not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available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in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Parent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class?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25" dirty="0">
                <a:latin typeface="Cambria"/>
                <a:cs typeface="Cambria"/>
              </a:rPr>
              <a:t>Casting</a:t>
            </a:r>
            <a:endParaRPr sz="20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215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TestPolymorphism</a:t>
            </a:r>
            <a:r>
              <a:rPr sz="1400" spc="20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3731260" indent="-36449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static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void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main(String[]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args)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80" dirty="0">
                <a:latin typeface="Cambria"/>
                <a:cs typeface="Cambria"/>
              </a:rPr>
              <a:t>Animal </a:t>
            </a:r>
            <a:r>
              <a:rPr sz="1400" spc="95" dirty="0">
                <a:latin typeface="Cambria"/>
                <a:cs typeface="Cambria"/>
              </a:rPr>
              <a:t>a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spc="30" dirty="0">
                <a:latin typeface="Cambria"/>
                <a:cs typeface="Cambria"/>
              </a:rPr>
              <a:t>new </a:t>
            </a:r>
            <a:r>
              <a:rPr sz="1400" spc="20" dirty="0">
                <a:latin typeface="Cambria"/>
                <a:cs typeface="Cambria"/>
              </a:rPr>
              <a:t>Bird(); </a:t>
            </a:r>
            <a:r>
              <a:rPr sz="1400" spc="25" dirty="0">
                <a:latin typeface="Cambria"/>
                <a:cs typeface="Cambria"/>
              </a:rPr>
              <a:t> </a:t>
            </a:r>
            <a:r>
              <a:rPr sz="1400" spc="5" dirty="0">
                <a:latin typeface="Cambria"/>
                <a:cs typeface="Cambria"/>
              </a:rPr>
              <a:t>((B</a:t>
            </a:r>
            <a:r>
              <a:rPr sz="1400" spc="15" dirty="0">
                <a:latin typeface="Cambria"/>
                <a:cs typeface="Cambria"/>
              </a:rPr>
              <a:t>ird)a</a:t>
            </a:r>
            <a:r>
              <a:rPr sz="1400" spc="-5" dirty="0">
                <a:latin typeface="Cambria"/>
                <a:cs typeface="Cambria"/>
              </a:rPr>
              <a:t>)</a:t>
            </a:r>
            <a:r>
              <a:rPr sz="1400" spc="100" dirty="0">
                <a:latin typeface="Cambria"/>
                <a:cs typeface="Cambria"/>
              </a:rPr>
              <a:t>.</a:t>
            </a:r>
            <a:r>
              <a:rPr sz="1400" spc="25" dirty="0">
                <a:latin typeface="Cambria"/>
                <a:cs typeface="Cambria"/>
              </a:rPr>
              <a:t>f</a:t>
            </a:r>
            <a:r>
              <a:rPr sz="1400" spc="35" dirty="0">
                <a:latin typeface="Cambria"/>
                <a:cs typeface="Cambria"/>
              </a:rPr>
              <a:t>l</a:t>
            </a:r>
            <a:r>
              <a:rPr sz="1400" spc="60" dirty="0">
                <a:latin typeface="Cambria"/>
                <a:cs typeface="Cambria"/>
              </a:rPr>
              <a:t>y</a:t>
            </a:r>
            <a:r>
              <a:rPr sz="1400" spc="-70" dirty="0">
                <a:latin typeface="Cambria"/>
                <a:cs typeface="Cambria"/>
              </a:rPr>
              <a:t>(</a:t>
            </a:r>
            <a:r>
              <a:rPr sz="1400" spc="-85" dirty="0">
                <a:latin typeface="Cambria"/>
                <a:cs typeface="Cambria"/>
              </a:rPr>
              <a:t>)</a:t>
            </a:r>
            <a:r>
              <a:rPr sz="1400" spc="20" dirty="0">
                <a:latin typeface="Cambria"/>
                <a:cs typeface="Cambria"/>
              </a:rPr>
              <a:t>;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190" dirty="0">
                <a:latin typeface="Cambria"/>
                <a:cs typeface="Cambria"/>
              </a:rPr>
              <a:t>OK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93636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ASTING</a:t>
            </a:r>
            <a:r>
              <a:rPr sz="2400" spc="275" dirty="0"/>
              <a:t> AND </a:t>
            </a:r>
            <a:r>
              <a:rPr sz="3000" spc="330" dirty="0"/>
              <a:t>C</a:t>
            </a:r>
            <a:r>
              <a:rPr sz="2400" spc="330" dirty="0"/>
              <a:t>LASSES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60590" cy="4589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80" dirty="0">
                <a:latin typeface="Cambria"/>
                <a:cs typeface="Cambria"/>
              </a:rPr>
              <a:t>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instance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child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class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assigned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5" dirty="0">
                <a:latin typeface="Cambria"/>
                <a:cs typeface="Cambria"/>
              </a:rPr>
              <a:t>variable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5" dirty="0">
                <a:latin typeface="Cambria"/>
                <a:cs typeface="Cambria"/>
              </a:rPr>
              <a:t>(field)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parent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class.</a:t>
            </a:r>
            <a:endParaRPr sz="2400">
              <a:latin typeface="Cambria"/>
              <a:cs typeface="Cambria"/>
            </a:endParaRPr>
          </a:p>
          <a:p>
            <a:pPr marL="285115" marR="124460" indent="-273050">
              <a:lnSpc>
                <a:spcPts val="2870"/>
              </a:lnSpc>
              <a:spcBef>
                <a:spcPts val="7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5" dirty="0">
                <a:latin typeface="Cambria"/>
                <a:cs typeface="Cambria"/>
              </a:rPr>
              <a:t>variable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references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subtype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cast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down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its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subclass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with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an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b="1" spc="145" dirty="0">
                <a:latin typeface="Cambria"/>
                <a:cs typeface="Cambria"/>
              </a:rPr>
              <a:t>explicit</a:t>
            </a:r>
            <a:r>
              <a:rPr sz="2400" b="1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cast.</a:t>
            </a:r>
            <a:endParaRPr sz="24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52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235" dirty="0">
                <a:latin typeface="Cambria"/>
                <a:cs typeface="Cambria"/>
              </a:rPr>
              <a:t>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runtime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error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occurs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when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explicitly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casting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an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not.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55" dirty="0">
                <a:latin typeface="Cambria"/>
                <a:cs typeface="Cambria"/>
              </a:rPr>
              <a:t>An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20" dirty="0">
                <a:latin typeface="Cambria"/>
                <a:cs typeface="Cambria"/>
              </a:rPr>
              <a:t>object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Parent </a:t>
            </a:r>
            <a:r>
              <a:rPr sz="2100" spc="65" dirty="0">
                <a:latin typeface="Cambria"/>
                <a:cs typeface="Cambria"/>
              </a:rPr>
              <a:t>cannot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cast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30" dirty="0">
                <a:latin typeface="Cambria"/>
                <a:cs typeface="Cambria"/>
              </a:rPr>
              <a:t>Child.</a:t>
            </a:r>
            <a:endParaRPr sz="2100">
              <a:latin typeface="Cambria"/>
              <a:cs typeface="Cambria"/>
            </a:endParaRPr>
          </a:p>
          <a:p>
            <a:pPr marL="285115" marR="1193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60" dirty="0">
                <a:latin typeface="Cambria"/>
                <a:cs typeface="Cambria"/>
              </a:rPr>
              <a:t>In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code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shown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next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page,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cast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"(Uncle)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object"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runtime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error</a:t>
            </a:r>
            <a:endParaRPr sz="2400">
              <a:latin typeface="Cambria"/>
              <a:cs typeface="Cambria"/>
            </a:endParaRPr>
          </a:p>
          <a:p>
            <a:pPr marL="652780" marR="21717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  <a:tab pos="3317875" algn="l"/>
              </a:tabLst>
            </a:pPr>
            <a:r>
              <a:rPr sz="2100" spc="50" dirty="0">
                <a:latin typeface="Cambria"/>
                <a:cs typeface="Cambria"/>
              </a:rPr>
              <a:t>because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at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114" dirty="0">
                <a:latin typeface="Cambria"/>
                <a:cs typeface="Cambria"/>
              </a:rPr>
              <a:t>that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time	</a:t>
            </a:r>
            <a:r>
              <a:rPr sz="2100" spc="25" dirty="0">
                <a:latin typeface="Cambria"/>
                <a:cs typeface="Cambria"/>
              </a:rPr>
              <a:t>object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holds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an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instance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125" dirty="0">
                <a:latin typeface="Cambria"/>
                <a:cs typeface="Cambria"/>
              </a:rPr>
              <a:t>Child </a:t>
            </a:r>
            <a:r>
              <a:rPr sz="2100" spc="85" dirty="0">
                <a:latin typeface="Cambria"/>
                <a:cs typeface="Cambria"/>
              </a:rPr>
              <a:t>class,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</a:t>
            </a:r>
            <a:r>
              <a:rPr sz="2100" spc="15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not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-35" dirty="0">
                <a:latin typeface="Cambria"/>
                <a:cs typeface="Cambria"/>
              </a:rPr>
              <a:t>(or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subclass)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 </a:t>
            </a:r>
            <a:r>
              <a:rPr sz="2100" dirty="0">
                <a:latin typeface="Cambria"/>
                <a:cs typeface="Cambria"/>
              </a:rPr>
              <a:t> </a:t>
            </a:r>
            <a:r>
              <a:rPr sz="2100" spc="120" dirty="0">
                <a:latin typeface="Cambria"/>
                <a:cs typeface="Cambria"/>
              </a:rPr>
              <a:t>Uncle.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93636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0" dirty="0"/>
              <a:t>C</a:t>
            </a:r>
            <a:r>
              <a:rPr sz="2400" spc="300" dirty="0"/>
              <a:t>ASTING</a:t>
            </a:r>
            <a:r>
              <a:rPr sz="2400" spc="275" dirty="0"/>
              <a:t> AND </a:t>
            </a:r>
            <a:r>
              <a:rPr sz="3000" spc="330" dirty="0"/>
              <a:t>C</a:t>
            </a:r>
            <a:r>
              <a:rPr sz="2400" spc="330" dirty="0"/>
              <a:t>LASSES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30426"/>
            <a:ext cx="4431665" cy="3180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85" dirty="0">
                <a:latin typeface="Cambria"/>
                <a:cs typeface="Cambria"/>
              </a:rPr>
              <a:t>Casting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 marR="813435" indent="-36449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 </a:t>
            </a:r>
            <a:r>
              <a:rPr sz="1400" spc="55" dirty="0">
                <a:latin typeface="Cambria"/>
                <a:cs typeface="Cambria"/>
              </a:rPr>
              <a:t>static </a:t>
            </a:r>
            <a:r>
              <a:rPr sz="1400" spc="20" dirty="0">
                <a:latin typeface="Cambria"/>
                <a:cs typeface="Cambria"/>
              </a:rPr>
              <a:t>void </a:t>
            </a:r>
            <a:r>
              <a:rPr sz="1400" spc="40" dirty="0">
                <a:latin typeface="Cambria"/>
                <a:cs typeface="Cambria"/>
              </a:rPr>
              <a:t>main( </a:t>
            </a:r>
            <a:r>
              <a:rPr sz="1400" spc="80" dirty="0">
                <a:latin typeface="Cambria"/>
                <a:cs typeface="Cambria"/>
              </a:rPr>
              <a:t>String </a:t>
            </a:r>
            <a:r>
              <a:rPr sz="1400" spc="30" dirty="0">
                <a:latin typeface="Cambria"/>
                <a:cs typeface="Cambria"/>
              </a:rPr>
              <a:t>args[] </a:t>
            </a:r>
            <a:r>
              <a:rPr sz="1400" spc="-70" dirty="0">
                <a:latin typeface="Cambria"/>
                <a:cs typeface="Cambria"/>
              </a:rPr>
              <a:t>)</a:t>
            </a:r>
            <a:r>
              <a:rPr sz="1400" spc="-6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Object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object;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70" dirty="0">
                <a:latin typeface="Cambria"/>
                <a:cs typeface="Cambria"/>
              </a:rPr>
              <a:t>Parent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parent;</a:t>
            </a:r>
            <a:endParaRPr sz="1400">
              <a:latin typeface="Cambria"/>
              <a:cs typeface="Cambria"/>
            </a:endParaRPr>
          </a:p>
          <a:p>
            <a:pPr marL="744220" marR="1570990">
              <a:lnSpc>
                <a:spcPct val="100000"/>
              </a:lnSpc>
            </a:pPr>
            <a:r>
              <a:rPr sz="1400" spc="85" dirty="0">
                <a:latin typeface="Cambria"/>
                <a:cs typeface="Cambria"/>
              </a:rPr>
              <a:t>Child</a:t>
            </a:r>
            <a:r>
              <a:rPr sz="1400" spc="45" dirty="0">
                <a:latin typeface="Cambria"/>
                <a:cs typeface="Cambria"/>
              </a:rPr>
              <a:t> child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new</a:t>
            </a:r>
            <a:r>
              <a:rPr sz="1400" spc="40" dirty="0">
                <a:latin typeface="Cambria"/>
                <a:cs typeface="Cambria"/>
              </a:rPr>
              <a:t> Child();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Uncle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uncle;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50" dirty="0">
                <a:latin typeface="Cambria"/>
                <a:cs typeface="Cambria"/>
              </a:rPr>
              <a:t>parent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child;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</a:pPr>
            <a:r>
              <a:rPr sz="1400" spc="15" dirty="0">
                <a:latin typeface="Cambria"/>
                <a:cs typeface="Cambria"/>
              </a:rPr>
              <a:t>object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child;</a:t>
            </a:r>
            <a:endParaRPr sz="1400">
              <a:latin typeface="Cambria"/>
              <a:cs typeface="Cambria"/>
            </a:endParaRPr>
          </a:p>
          <a:p>
            <a:pPr marL="744220" marR="5080">
              <a:lnSpc>
                <a:spcPct val="100000"/>
              </a:lnSpc>
            </a:pPr>
            <a:r>
              <a:rPr sz="1400" spc="50" dirty="0">
                <a:latin typeface="Cambria"/>
                <a:cs typeface="Cambria"/>
              </a:rPr>
              <a:t>parent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(Parent)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object;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explicit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cast</a:t>
            </a:r>
            <a:r>
              <a:rPr sz="1400" spc="85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down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child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 </a:t>
            </a:r>
            <a:r>
              <a:rPr sz="1400" spc="40" dirty="0">
                <a:latin typeface="Cambria"/>
                <a:cs typeface="Cambria"/>
              </a:rPr>
              <a:t>(Child)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object;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40" dirty="0">
                <a:latin typeface="Cambria"/>
                <a:cs typeface="Cambria"/>
              </a:rPr>
              <a:t>explicit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cast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down </a:t>
            </a:r>
            <a:r>
              <a:rPr sz="1400" spc="20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uncle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(Uncle)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15" dirty="0">
                <a:latin typeface="Cambria"/>
                <a:cs typeface="Cambria"/>
              </a:rPr>
              <a:t>object;</a:t>
            </a:r>
            <a:r>
              <a:rPr sz="1400" spc="35" dirty="0">
                <a:latin typeface="Cambria"/>
                <a:cs typeface="Cambria"/>
              </a:rPr>
              <a:t> </a:t>
            </a:r>
            <a:r>
              <a:rPr sz="1400" spc="-10" dirty="0">
                <a:latin typeface="Cambria"/>
                <a:cs typeface="Cambria"/>
              </a:rPr>
              <a:t>//Runtime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exception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59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b="1" spc="165" dirty="0">
                <a:latin typeface="Cambria"/>
                <a:cs typeface="Cambria"/>
              </a:rPr>
              <a:t>Output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862321"/>
            <a:ext cx="7271384" cy="1670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100"/>
              </a:spcBef>
            </a:pPr>
            <a:r>
              <a:rPr sz="1800" spc="90" dirty="0">
                <a:latin typeface="Cambria"/>
                <a:cs typeface="Cambria"/>
              </a:rPr>
              <a:t>java.lang.ClassCastException:</a:t>
            </a:r>
            <a:r>
              <a:rPr sz="1800" spc="145" dirty="0">
                <a:latin typeface="Cambria"/>
                <a:cs typeface="Cambria"/>
              </a:rPr>
              <a:t> </a:t>
            </a:r>
            <a:r>
              <a:rPr sz="1800" spc="90" dirty="0">
                <a:latin typeface="Cambria"/>
                <a:cs typeface="Cambria"/>
              </a:rPr>
              <a:t>Child: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cannot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cast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to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100" dirty="0">
                <a:latin typeface="Cambria"/>
                <a:cs typeface="Cambria"/>
              </a:rPr>
              <a:t>Uncle</a:t>
            </a:r>
            <a:endParaRPr sz="18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305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  <a:tab pos="956310" algn="l"/>
              </a:tabLst>
            </a:pP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cast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"(Uncle)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object"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runtime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30" dirty="0">
                <a:latin typeface="Cambria"/>
                <a:cs typeface="Cambria"/>
              </a:rPr>
              <a:t>error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-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because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14" dirty="0">
                <a:latin typeface="Cambria"/>
                <a:cs typeface="Cambria"/>
              </a:rPr>
              <a:t>at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that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time	</a:t>
            </a:r>
            <a:r>
              <a:rPr sz="2000" spc="25" dirty="0">
                <a:latin typeface="Cambria"/>
                <a:cs typeface="Cambria"/>
              </a:rPr>
              <a:t>object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holds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20" dirty="0">
                <a:latin typeface="Cambria"/>
                <a:cs typeface="Cambria"/>
              </a:rPr>
              <a:t>an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instance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25" dirty="0">
                <a:latin typeface="Cambria"/>
                <a:cs typeface="Cambria"/>
              </a:rPr>
              <a:t>Child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class,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which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is 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not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type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-30" dirty="0">
                <a:latin typeface="Cambria"/>
                <a:cs typeface="Cambria"/>
              </a:rPr>
              <a:t>(or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50" dirty="0">
                <a:latin typeface="Cambria"/>
                <a:cs typeface="Cambria"/>
              </a:rPr>
              <a:t>subclass)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14" dirty="0">
                <a:latin typeface="Cambria"/>
                <a:cs typeface="Cambria"/>
              </a:rPr>
              <a:t>Uncle.</a:t>
            </a:r>
            <a:endParaRPr sz="2000">
              <a:latin typeface="Cambria"/>
              <a:cs typeface="Cambri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568058" y="2198497"/>
            <a:ext cx="813435" cy="1218565"/>
            <a:chOff x="6568058" y="2198497"/>
            <a:chExt cx="813435" cy="1218565"/>
          </a:xfrm>
        </p:grpSpPr>
        <p:sp>
          <p:nvSpPr>
            <p:cNvPr id="6" name="object 6"/>
            <p:cNvSpPr/>
            <p:nvPr/>
          </p:nvSpPr>
          <p:spPr>
            <a:xfrm>
              <a:off x="6580758" y="2620391"/>
              <a:ext cx="788035" cy="187960"/>
            </a:xfrm>
            <a:custGeom>
              <a:avLst/>
              <a:gdLst/>
              <a:ahLst/>
              <a:cxnLst/>
              <a:rect l="l" t="t" r="r" b="b"/>
              <a:pathLst>
                <a:path w="788034" h="187960">
                  <a:moveTo>
                    <a:pt x="393826" y="0"/>
                  </a:moveTo>
                  <a:lnTo>
                    <a:pt x="393826" y="127762"/>
                  </a:lnTo>
                  <a:lnTo>
                    <a:pt x="787654" y="127762"/>
                  </a:lnTo>
                  <a:lnTo>
                    <a:pt x="787654" y="187451"/>
                  </a:lnTo>
                </a:path>
                <a:path w="788034" h="187960">
                  <a:moveTo>
                    <a:pt x="393826" y="0"/>
                  </a:moveTo>
                  <a:lnTo>
                    <a:pt x="393826" y="127762"/>
                  </a:lnTo>
                  <a:lnTo>
                    <a:pt x="0" y="127762"/>
                  </a:lnTo>
                  <a:lnTo>
                    <a:pt x="0" y="187451"/>
                  </a:lnTo>
                </a:path>
              </a:pathLst>
            </a:custGeom>
            <a:ln w="25400">
              <a:solidFill>
                <a:srgbClr val="CA6A2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652386" y="221119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4" y="0"/>
                  </a:lnTo>
                  <a:lnTo>
                    <a:pt x="24967" y="3210"/>
                  </a:lnTo>
                  <a:lnTo>
                    <a:pt x="11969" y="11969"/>
                  </a:lnTo>
                  <a:lnTo>
                    <a:pt x="3210" y="24967"/>
                  </a:lnTo>
                  <a:lnTo>
                    <a:pt x="0" y="40893"/>
                  </a:lnTo>
                  <a:lnTo>
                    <a:pt x="0" y="368300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4" y="409193"/>
                  </a:lnTo>
                  <a:lnTo>
                    <a:pt x="603504" y="409193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8" y="368300"/>
                  </a:lnTo>
                  <a:lnTo>
                    <a:pt x="644398" y="40893"/>
                  </a:lnTo>
                  <a:lnTo>
                    <a:pt x="641187" y="24967"/>
                  </a:lnTo>
                  <a:lnTo>
                    <a:pt x="632428" y="11969"/>
                  </a:lnTo>
                  <a:lnTo>
                    <a:pt x="619430" y="3210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652386" y="221119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3"/>
                  </a:moveTo>
                  <a:lnTo>
                    <a:pt x="3210" y="24967"/>
                  </a:lnTo>
                  <a:lnTo>
                    <a:pt x="11969" y="11969"/>
                  </a:lnTo>
                  <a:lnTo>
                    <a:pt x="24967" y="3210"/>
                  </a:lnTo>
                  <a:lnTo>
                    <a:pt x="40894" y="0"/>
                  </a:lnTo>
                  <a:lnTo>
                    <a:pt x="603504" y="0"/>
                  </a:lnTo>
                  <a:lnTo>
                    <a:pt x="619430" y="3210"/>
                  </a:lnTo>
                  <a:lnTo>
                    <a:pt x="632428" y="11969"/>
                  </a:lnTo>
                  <a:lnTo>
                    <a:pt x="641187" y="24967"/>
                  </a:lnTo>
                  <a:lnTo>
                    <a:pt x="644398" y="40893"/>
                  </a:lnTo>
                  <a:lnTo>
                    <a:pt x="644398" y="368300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4" y="409193"/>
                  </a:lnTo>
                  <a:lnTo>
                    <a:pt x="40894" y="409193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300"/>
                  </a:lnTo>
                  <a:lnTo>
                    <a:pt x="0" y="4089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724014" y="22791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3" y="0"/>
                  </a:moveTo>
                  <a:lnTo>
                    <a:pt x="40893" y="0"/>
                  </a:lnTo>
                  <a:lnTo>
                    <a:pt x="24967" y="3230"/>
                  </a:lnTo>
                  <a:lnTo>
                    <a:pt x="11969" y="12033"/>
                  </a:lnTo>
                  <a:lnTo>
                    <a:pt x="3210" y="25074"/>
                  </a:lnTo>
                  <a:lnTo>
                    <a:pt x="0" y="41021"/>
                  </a:lnTo>
                  <a:lnTo>
                    <a:pt x="0" y="368300"/>
                  </a:lnTo>
                  <a:lnTo>
                    <a:pt x="3210" y="384246"/>
                  </a:lnTo>
                  <a:lnTo>
                    <a:pt x="11969" y="397287"/>
                  </a:lnTo>
                  <a:lnTo>
                    <a:pt x="24967" y="406090"/>
                  </a:lnTo>
                  <a:lnTo>
                    <a:pt x="40893" y="409321"/>
                  </a:lnTo>
                  <a:lnTo>
                    <a:pt x="603503" y="409321"/>
                  </a:lnTo>
                  <a:lnTo>
                    <a:pt x="619430" y="406090"/>
                  </a:lnTo>
                  <a:lnTo>
                    <a:pt x="632428" y="397287"/>
                  </a:lnTo>
                  <a:lnTo>
                    <a:pt x="641187" y="384246"/>
                  </a:lnTo>
                  <a:lnTo>
                    <a:pt x="644398" y="368300"/>
                  </a:lnTo>
                  <a:lnTo>
                    <a:pt x="644398" y="41021"/>
                  </a:lnTo>
                  <a:lnTo>
                    <a:pt x="641187" y="25074"/>
                  </a:lnTo>
                  <a:lnTo>
                    <a:pt x="632428" y="12033"/>
                  </a:lnTo>
                  <a:lnTo>
                    <a:pt x="619430" y="3230"/>
                  </a:lnTo>
                  <a:lnTo>
                    <a:pt x="603503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6724014" y="22791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1021"/>
                  </a:moveTo>
                  <a:lnTo>
                    <a:pt x="3210" y="25074"/>
                  </a:lnTo>
                  <a:lnTo>
                    <a:pt x="11969" y="12033"/>
                  </a:lnTo>
                  <a:lnTo>
                    <a:pt x="24967" y="3230"/>
                  </a:lnTo>
                  <a:lnTo>
                    <a:pt x="40893" y="0"/>
                  </a:lnTo>
                  <a:lnTo>
                    <a:pt x="603503" y="0"/>
                  </a:lnTo>
                  <a:lnTo>
                    <a:pt x="619430" y="3230"/>
                  </a:lnTo>
                  <a:lnTo>
                    <a:pt x="632428" y="12033"/>
                  </a:lnTo>
                  <a:lnTo>
                    <a:pt x="641187" y="25074"/>
                  </a:lnTo>
                  <a:lnTo>
                    <a:pt x="644398" y="41021"/>
                  </a:lnTo>
                  <a:lnTo>
                    <a:pt x="644398" y="368300"/>
                  </a:lnTo>
                  <a:lnTo>
                    <a:pt x="641187" y="384246"/>
                  </a:lnTo>
                  <a:lnTo>
                    <a:pt x="632428" y="397287"/>
                  </a:lnTo>
                  <a:lnTo>
                    <a:pt x="619430" y="406090"/>
                  </a:lnTo>
                  <a:lnTo>
                    <a:pt x="603503" y="409321"/>
                  </a:lnTo>
                  <a:lnTo>
                    <a:pt x="40893" y="409321"/>
                  </a:lnTo>
                  <a:lnTo>
                    <a:pt x="24967" y="406090"/>
                  </a:lnTo>
                  <a:lnTo>
                    <a:pt x="11969" y="397287"/>
                  </a:lnTo>
                  <a:lnTo>
                    <a:pt x="3210" y="384246"/>
                  </a:lnTo>
                  <a:lnTo>
                    <a:pt x="0" y="368300"/>
                  </a:lnTo>
                  <a:lnTo>
                    <a:pt x="0" y="41021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580758" y="3217036"/>
              <a:ext cx="0" cy="187325"/>
            </a:xfrm>
            <a:custGeom>
              <a:avLst/>
              <a:gdLst/>
              <a:ahLst/>
              <a:cxnLst/>
              <a:rect l="l" t="t" r="r" b="b"/>
              <a:pathLst>
                <a:path h="187325">
                  <a:moveTo>
                    <a:pt x="0" y="0"/>
                  </a:moveTo>
                  <a:lnTo>
                    <a:pt x="0" y="187325"/>
                  </a:lnTo>
                </a:path>
              </a:pathLst>
            </a:custGeom>
            <a:ln w="25400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6808089" y="2369311"/>
            <a:ext cx="4781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85" dirty="0">
                <a:latin typeface="Cambria"/>
                <a:cs typeface="Cambria"/>
              </a:rPr>
              <a:t>O</a:t>
            </a:r>
            <a:r>
              <a:rPr sz="1200" spc="75" dirty="0">
                <a:latin typeface="Cambria"/>
                <a:cs typeface="Cambria"/>
              </a:rPr>
              <a:t>b</a:t>
            </a:r>
            <a:r>
              <a:rPr sz="1200" spc="35" dirty="0">
                <a:latin typeface="Cambria"/>
                <a:cs typeface="Cambria"/>
              </a:rPr>
              <a:t>j</a:t>
            </a:r>
            <a:r>
              <a:rPr sz="1200" spc="5" dirty="0">
                <a:latin typeface="Cambria"/>
                <a:cs typeface="Cambria"/>
              </a:rPr>
              <a:t>e</a:t>
            </a:r>
            <a:r>
              <a:rPr sz="1200" dirty="0">
                <a:latin typeface="Cambria"/>
                <a:cs typeface="Cambria"/>
              </a:rPr>
              <a:t>c</a:t>
            </a:r>
            <a:r>
              <a:rPr sz="1200" spc="60" dirty="0">
                <a:latin typeface="Cambria"/>
                <a:cs typeface="Cambria"/>
              </a:rPr>
              <a:t>t</a:t>
            </a:r>
            <a:endParaRPr sz="1200">
              <a:latin typeface="Cambria"/>
              <a:cs typeface="Cambri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245859" y="2795142"/>
            <a:ext cx="741680" cy="502920"/>
            <a:chOff x="6245859" y="2795142"/>
            <a:chExt cx="741680" cy="502920"/>
          </a:xfrm>
        </p:grpSpPr>
        <p:sp>
          <p:nvSpPr>
            <p:cNvPr id="14" name="object 14"/>
            <p:cNvSpPr/>
            <p:nvPr/>
          </p:nvSpPr>
          <p:spPr>
            <a:xfrm>
              <a:off x="6258559" y="28078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3" y="0"/>
                  </a:lnTo>
                  <a:lnTo>
                    <a:pt x="24967" y="3210"/>
                  </a:lnTo>
                  <a:lnTo>
                    <a:pt x="11969" y="11969"/>
                  </a:lnTo>
                  <a:lnTo>
                    <a:pt x="3210" y="24967"/>
                  </a:lnTo>
                  <a:lnTo>
                    <a:pt x="0" y="40894"/>
                  </a:lnTo>
                  <a:lnTo>
                    <a:pt x="0" y="368300"/>
                  </a:lnTo>
                  <a:lnTo>
                    <a:pt x="3210" y="384173"/>
                  </a:lnTo>
                  <a:lnTo>
                    <a:pt x="11969" y="397176"/>
                  </a:lnTo>
                  <a:lnTo>
                    <a:pt x="24967" y="405965"/>
                  </a:lnTo>
                  <a:lnTo>
                    <a:pt x="40893" y="409194"/>
                  </a:lnTo>
                  <a:lnTo>
                    <a:pt x="603504" y="409194"/>
                  </a:lnTo>
                  <a:lnTo>
                    <a:pt x="619430" y="405965"/>
                  </a:lnTo>
                  <a:lnTo>
                    <a:pt x="632428" y="397176"/>
                  </a:lnTo>
                  <a:lnTo>
                    <a:pt x="641187" y="384173"/>
                  </a:lnTo>
                  <a:lnTo>
                    <a:pt x="644397" y="368300"/>
                  </a:lnTo>
                  <a:lnTo>
                    <a:pt x="644397" y="40894"/>
                  </a:lnTo>
                  <a:lnTo>
                    <a:pt x="641187" y="24967"/>
                  </a:lnTo>
                  <a:lnTo>
                    <a:pt x="632428" y="11969"/>
                  </a:lnTo>
                  <a:lnTo>
                    <a:pt x="619430" y="3210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258559" y="28078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4"/>
                  </a:moveTo>
                  <a:lnTo>
                    <a:pt x="3210" y="24967"/>
                  </a:lnTo>
                  <a:lnTo>
                    <a:pt x="11969" y="11969"/>
                  </a:lnTo>
                  <a:lnTo>
                    <a:pt x="24967" y="3210"/>
                  </a:lnTo>
                  <a:lnTo>
                    <a:pt x="40893" y="0"/>
                  </a:lnTo>
                  <a:lnTo>
                    <a:pt x="603504" y="0"/>
                  </a:lnTo>
                  <a:lnTo>
                    <a:pt x="619430" y="3210"/>
                  </a:lnTo>
                  <a:lnTo>
                    <a:pt x="632428" y="11969"/>
                  </a:lnTo>
                  <a:lnTo>
                    <a:pt x="641187" y="24967"/>
                  </a:lnTo>
                  <a:lnTo>
                    <a:pt x="644397" y="40894"/>
                  </a:lnTo>
                  <a:lnTo>
                    <a:pt x="644397" y="368300"/>
                  </a:lnTo>
                  <a:lnTo>
                    <a:pt x="641187" y="384173"/>
                  </a:lnTo>
                  <a:lnTo>
                    <a:pt x="632428" y="397176"/>
                  </a:lnTo>
                  <a:lnTo>
                    <a:pt x="619430" y="405965"/>
                  </a:lnTo>
                  <a:lnTo>
                    <a:pt x="603504" y="409194"/>
                  </a:lnTo>
                  <a:lnTo>
                    <a:pt x="40893" y="409194"/>
                  </a:lnTo>
                  <a:lnTo>
                    <a:pt x="24967" y="405965"/>
                  </a:lnTo>
                  <a:lnTo>
                    <a:pt x="11969" y="397176"/>
                  </a:lnTo>
                  <a:lnTo>
                    <a:pt x="3210" y="384173"/>
                  </a:lnTo>
                  <a:lnTo>
                    <a:pt x="0" y="368300"/>
                  </a:lnTo>
                  <a:lnTo>
                    <a:pt x="0" y="4089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330187" y="287578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4" y="0"/>
                  </a:lnTo>
                  <a:lnTo>
                    <a:pt x="24967" y="3228"/>
                  </a:lnTo>
                  <a:lnTo>
                    <a:pt x="11969" y="12017"/>
                  </a:lnTo>
                  <a:lnTo>
                    <a:pt x="3210" y="25020"/>
                  </a:lnTo>
                  <a:lnTo>
                    <a:pt x="0" y="40894"/>
                  </a:lnTo>
                  <a:lnTo>
                    <a:pt x="0" y="368300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4" y="409194"/>
                  </a:lnTo>
                  <a:lnTo>
                    <a:pt x="603504" y="409194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7" y="368300"/>
                  </a:lnTo>
                  <a:lnTo>
                    <a:pt x="644397" y="40894"/>
                  </a:lnTo>
                  <a:lnTo>
                    <a:pt x="641187" y="25020"/>
                  </a:lnTo>
                  <a:lnTo>
                    <a:pt x="632428" y="12017"/>
                  </a:lnTo>
                  <a:lnTo>
                    <a:pt x="619430" y="3228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330187" y="287578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4"/>
                  </a:moveTo>
                  <a:lnTo>
                    <a:pt x="3210" y="25020"/>
                  </a:lnTo>
                  <a:lnTo>
                    <a:pt x="11969" y="12017"/>
                  </a:lnTo>
                  <a:lnTo>
                    <a:pt x="24967" y="3228"/>
                  </a:lnTo>
                  <a:lnTo>
                    <a:pt x="40894" y="0"/>
                  </a:lnTo>
                  <a:lnTo>
                    <a:pt x="603504" y="0"/>
                  </a:lnTo>
                  <a:lnTo>
                    <a:pt x="619430" y="3228"/>
                  </a:lnTo>
                  <a:lnTo>
                    <a:pt x="632428" y="12017"/>
                  </a:lnTo>
                  <a:lnTo>
                    <a:pt x="641187" y="25020"/>
                  </a:lnTo>
                  <a:lnTo>
                    <a:pt x="644397" y="40894"/>
                  </a:lnTo>
                  <a:lnTo>
                    <a:pt x="644397" y="368300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4" y="409194"/>
                  </a:lnTo>
                  <a:lnTo>
                    <a:pt x="40894" y="409194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300"/>
                  </a:lnTo>
                  <a:lnTo>
                    <a:pt x="0" y="4089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399021" y="2966084"/>
            <a:ext cx="50863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114" dirty="0">
                <a:latin typeface="Cambria"/>
                <a:cs typeface="Cambria"/>
              </a:rPr>
              <a:t>P</a:t>
            </a:r>
            <a:r>
              <a:rPr sz="1200" spc="80" dirty="0">
                <a:latin typeface="Cambria"/>
                <a:cs typeface="Cambria"/>
              </a:rPr>
              <a:t>a</a:t>
            </a:r>
            <a:r>
              <a:rPr sz="1200" spc="30" dirty="0">
                <a:latin typeface="Cambria"/>
                <a:cs typeface="Cambria"/>
              </a:rPr>
              <a:t>r</a:t>
            </a:r>
            <a:r>
              <a:rPr sz="1200" spc="45" dirty="0">
                <a:latin typeface="Cambria"/>
                <a:cs typeface="Cambria"/>
              </a:rPr>
              <a:t>ent</a:t>
            </a:r>
            <a:endParaRPr sz="1200">
              <a:latin typeface="Cambria"/>
              <a:cs typeface="Cambri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6245859" y="3391661"/>
            <a:ext cx="741680" cy="502920"/>
            <a:chOff x="6245859" y="3391661"/>
            <a:chExt cx="741680" cy="502920"/>
          </a:xfrm>
        </p:grpSpPr>
        <p:sp>
          <p:nvSpPr>
            <p:cNvPr id="20" name="object 20"/>
            <p:cNvSpPr/>
            <p:nvPr/>
          </p:nvSpPr>
          <p:spPr>
            <a:xfrm>
              <a:off x="6258559" y="3404361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3" y="0"/>
                  </a:lnTo>
                  <a:lnTo>
                    <a:pt x="24967" y="3230"/>
                  </a:lnTo>
                  <a:lnTo>
                    <a:pt x="11969" y="12033"/>
                  </a:lnTo>
                  <a:lnTo>
                    <a:pt x="3210" y="25074"/>
                  </a:lnTo>
                  <a:lnTo>
                    <a:pt x="0" y="41021"/>
                  </a:lnTo>
                  <a:lnTo>
                    <a:pt x="0" y="368300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3" y="409194"/>
                  </a:lnTo>
                  <a:lnTo>
                    <a:pt x="603504" y="409194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7" y="368300"/>
                  </a:lnTo>
                  <a:lnTo>
                    <a:pt x="644397" y="41021"/>
                  </a:lnTo>
                  <a:lnTo>
                    <a:pt x="641187" y="25074"/>
                  </a:lnTo>
                  <a:lnTo>
                    <a:pt x="632428" y="12033"/>
                  </a:lnTo>
                  <a:lnTo>
                    <a:pt x="619430" y="3230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258559" y="3404361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1021"/>
                  </a:moveTo>
                  <a:lnTo>
                    <a:pt x="3210" y="25074"/>
                  </a:lnTo>
                  <a:lnTo>
                    <a:pt x="11969" y="12033"/>
                  </a:lnTo>
                  <a:lnTo>
                    <a:pt x="24967" y="3230"/>
                  </a:lnTo>
                  <a:lnTo>
                    <a:pt x="40893" y="0"/>
                  </a:lnTo>
                  <a:lnTo>
                    <a:pt x="603504" y="0"/>
                  </a:lnTo>
                  <a:lnTo>
                    <a:pt x="619430" y="3230"/>
                  </a:lnTo>
                  <a:lnTo>
                    <a:pt x="632428" y="12033"/>
                  </a:lnTo>
                  <a:lnTo>
                    <a:pt x="641187" y="25074"/>
                  </a:lnTo>
                  <a:lnTo>
                    <a:pt x="644397" y="41021"/>
                  </a:lnTo>
                  <a:lnTo>
                    <a:pt x="644397" y="368300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4" y="409194"/>
                  </a:lnTo>
                  <a:lnTo>
                    <a:pt x="40893" y="409194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300"/>
                  </a:lnTo>
                  <a:lnTo>
                    <a:pt x="0" y="41021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330187" y="3472433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4" y="0"/>
                  </a:moveTo>
                  <a:lnTo>
                    <a:pt x="40894" y="0"/>
                  </a:lnTo>
                  <a:lnTo>
                    <a:pt x="24967" y="3210"/>
                  </a:lnTo>
                  <a:lnTo>
                    <a:pt x="11969" y="11969"/>
                  </a:lnTo>
                  <a:lnTo>
                    <a:pt x="3210" y="24967"/>
                  </a:lnTo>
                  <a:lnTo>
                    <a:pt x="0" y="40893"/>
                  </a:lnTo>
                  <a:lnTo>
                    <a:pt x="0" y="368299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4" y="409193"/>
                  </a:lnTo>
                  <a:lnTo>
                    <a:pt x="603504" y="409193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7" y="368299"/>
                  </a:lnTo>
                  <a:lnTo>
                    <a:pt x="644397" y="40893"/>
                  </a:lnTo>
                  <a:lnTo>
                    <a:pt x="641187" y="24967"/>
                  </a:lnTo>
                  <a:lnTo>
                    <a:pt x="632428" y="11969"/>
                  </a:lnTo>
                  <a:lnTo>
                    <a:pt x="619430" y="3210"/>
                  </a:lnTo>
                  <a:lnTo>
                    <a:pt x="603504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330187" y="3472433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3"/>
                  </a:moveTo>
                  <a:lnTo>
                    <a:pt x="3210" y="24967"/>
                  </a:lnTo>
                  <a:lnTo>
                    <a:pt x="11969" y="11969"/>
                  </a:lnTo>
                  <a:lnTo>
                    <a:pt x="24967" y="3210"/>
                  </a:lnTo>
                  <a:lnTo>
                    <a:pt x="40894" y="0"/>
                  </a:lnTo>
                  <a:lnTo>
                    <a:pt x="603504" y="0"/>
                  </a:lnTo>
                  <a:lnTo>
                    <a:pt x="619430" y="3210"/>
                  </a:lnTo>
                  <a:lnTo>
                    <a:pt x="632428" y="11969"/>
                  </a:lnTo>
                  <a:lnTo>
                    <a:pt x="641187" y="24967"/>
                  </a:lnTo>
                  <a:lnTo>
                    <a:pt x="644397" y="40893"/>
                  </a:lnTo>
                  <a:lnTo>
                    <a:pt x="644397" y="368299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4" y="409193"/>
                  </a:lnTo>
                  <a:lnTo>
                    <a:pt x="40894" y="409193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299"/>
                  </a:lnTo>
                  <a:lnTo>
                    <a:pt x="0" y="4089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446265" y="3562857"/>
            <a:ext cx="41338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70" dirty="0">
                <a:latin typeface="Cambria"/>
                <a:cs typeface="Cambria"/>
              </a:rPr>
              <a:t>Child</a:t>
            </a:r>
            <a:endParaRPr sz="1200">
              <a:latin typeface="Cambria"/>
              <a:cs typeface="Cambria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7033514" y="2795142"/>
            <a:ext cx="741680" cy="502920"/>
            <a:chOff x="7033514" y="2795142"/>
            <a:chExt cx="741680" cy="502920"/>
          </a:xfrm>
        </p:grpSpPr>
        <p:sp>
          <p:nvSpPr>
            <p:cNvPr id="26" name="object 26"/>
            <p:cNvSpPr/>
            <p:nvPr/>
          </p:nvSpPr>
          <p:spPr>
            <a:xfrm>
              <a:off x="7046214" y="28078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3" y="0"/>
                  </a:moveTo>
                  <a:lnTo>
                    <a:pt x="40893" y="0"/>
                  </a:lnTo>
                  <a:lnTo>
                    <a:pt x="24967" y="3210"/>
                  </a:lnTo>
                  <a:lnTo>
                    <a:pt x="11969" y="11969"/>
                  </a:lnTo>
                  <a:lnTo>
                    <a:pt x="3210" y="24967"/>
                  </a:lnTo>
                  <a:lnTo>
                    <a:pt x="0" y="40894"/>
                  </a:lnTo>
                  <a:lnTo>
                    <a:pt x="0" y="368300"/>
                  </a:lnTo>
                  <a:lnTo>
                    <a:pt x="3210" y="384173"/>
                  </a:lnTo>
                  <a:lnTo>
                    <a:pt x="11969" y="397176"/>
                  </a:lnTo>
                  <a:lnTo>
                    <a:pt x="24967" y="405965"/>
                  </a:lnTo>
                  <a:lnTo>
                    <a:pt x="40893" y="409194"/>
                  </a:lnTo>
                  <a:lnTo>
                    <a:pt x="603503" y="409194"/>
                  </a:lnTo>
                  <a:lnTo>
                    <a:pt x="619430" y="405965"/>
                  </a:lnTo>
                  <a:lnTo>
                    <a:pt x="632428" y="397176"/>
                  </a:lnTo>
                  <a:lnTo>
                    <a:pt x="641187" y="384173"/>
                  </a:lnTo>
                  <a:lnTo>
                    <a:pt x="644397" y="368300"/>
                  </a:lnTo>
                  <a:lnTo>
                    <a:pt x="644397" y="40894"/>
                  </a:lnTo>
                  <a:lnTo>
                    <a:pt x="641187" y="24967"/>
                  </a:lnTo>
                  <a:lnTo>
                    <a:pt x="632428" y="11969"/>
                  </a:lnTo>
                  <a:lnTo>
                    <a:pt x="619430" y="3210"/>
                  </a:lnTo>
                  <a:lnTo>
                    <a:pt x="603503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7046214" y="2807842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4"/>
                  </a:moveTo>
                  <a:lnTo>
                    <a:pt x="3210" y="24967"/>
                  </a:lnTo>
                  <a:lnTo>
                    <a:pt x="11969" y="11969"/>
                  </a:lnTo>
                  <a:lnTo>
                    <a:pt x="24967" y="3210"/>
                  </a:lnTo>
                  <a:lnTo>
                    <a:pt x="40893" y="0"/>
                  </a:lnTo>
                  <a:lnTo>
                    <a:pt x="603503" y="0"/>
                  </a:lnTo>
                  <a:lnTo>
                    <a:pt x="619430" y="3210"/>
                  </a:lnTo>
                  <a:lnTo>
                    <a:pt x="632428" y="11969"/>
                  </a:lnTo>
                  <a:lnTo>
                    <a:pt x="641187" y="24967"/>
                  </a:lnTo>
                  <a:lnTo>
                    <a:pt x="644397" y="40894"/>
                  </a:lnTo>
                  <a:lnTo>
                    <a:pt x="644397" y="368300"/>
                  </a:lnTo>
                  <a:lnTo>
                    <a:pt x="641187" y="384173"/>
                  </a:lnTo>
                  <a:lnTo>
                    <a:pt x="632428" y="397176"/>
                  </a:lnTo>
                  <a:lnTo>
                    <a:pt x="619430" y="405965"/>
                  </a:lnTo>
                  <a:lnTo>
                    <a:pt x="603503" y="409194"/>
                  </a:lnTo>
                  <a:lnTo>
                    <a:pt x="40893" y="409194"/>
                  </a:lnTo>
                  <a:lnTo>
                    <a:pt x="24967" y="405965"/>
                  </a:lnTo>
                  <a:lnTo>
                    <a:pt x="11969" y="397176"/>
                  </a:lnTo>
                  <a:lnTo>
                    <a:pt x="3210" y="384173"/>
                  </a:lnTo>
                  <a:lnTo>
                    <a:pt x="0" y="368300"/>
                  </a:lnTo>
                  <a:lnTo>
                    <a:pt x="0" y="40894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117842" y="287578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603503" y="0"/>
                  </a:moveTo>
                  <a:lnTo>
                    <a:pt x="40893" y="0"/>
                  </a:lnTo>
                  <a:lnTo>
                    <a:pt x="24967" y="3228"/>
                  </a:lnTo>
                  <a:lnTo>
                    <a:pt x="11969" y="12017"/>
                  </a:lnTo>
                  <a:lnTo>
                    <a:pt x="3210" y="25020"/>
                  </a:lnTo>
                  <a:lnTo>
                    <a:pt x="0" y="40894"/>
                  </a:lnTo>
                  <a:lnTo>
                    <a:pt x="0" y="368300"/>
                  </a:lnTo>
                  <a:lnTo>
                    <a:pt x="3210" y="384226"/>
                  </a:lnTo>
                  <a:lnTo>
                    <a:pt x="11969" y="397224"/>
                  </a:lnTo>
                  <a:lnTo>
                    <a:pt x="24967" y="405983"/>
                  </a:lnTo>
                  <a:lnTo>
                    <a:pt x="40893" y="409194"/>
                  </a:lnTo>
                  <a:lnTo>
                    <a:pt x="603503" y="409194"/>
                  </a:lnTo>
                  <a:lnTo>
                    <a:pt x="619430" y="405983"/>
                  </a:lnTo>
                  <a:lnTo>
                    <a:pt x="632428" y="397224"/>
                  </a:lnTo>
                  <a:lnTo>
                    <a:pt x="641187" y="384226"/>
                  </a:lnTo>
                  <a:lnTo>
                    <a:pt x="644398" y="368300"/>
                  </a:lnTo>
                  <a:lnTo>
                    <a:pt x="644398" y="40894"/>
                  </a:lnTo>
                  <a:lnTo>
                    <a:pt x="641187" y="25020"/>
                  </a:lnTo>
                  <a:lnTo>
                    <a:pt x="632428" y="12017"/>
                  </a:lnTo>
                  <a:lnTo>
                    <a:pt x="619430" y="3228"/>
                  </a:lnTo>
                  <a:lnTo>
                    <a:pt x="603503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117842" y="2875787"/>
              <a:ext cx="644525" cy="409575"/>
            </a:xfrm>
            <a:custGeom>
              <a:avLst/>
              <a:gdLst/>
              <a:ahLst/>
              <a:cxnLst/>
              <a:rect l="l" t="t" r="r" b="b"/>
              <a:pathLst>
                <a:path w="644525" h="409575">
                  <a:moveTo>
                    <a:pt x="0" y="40894"/>
                  </a:moveTo>
                  <a:lnTo>
                    <a:pt x="3210" y="25020"/>
                  </a:lnTo>
                  <a:lnTo>
                    <a:pt x="11969" y="12017"/>
                  </a:lnTo>
                  <a:lnTo>
                    <a:pt x="24967" y="3228"/>
                  </a:lnTo>
                  <a:lnTo>
                    <a:pt x="40893" y="0"/>
                  </a:lnTo>
                  <a:lnTo>
                    <a:pt x="603503" y="0"/>
                  </a:lnTo>
                  <a:lnTo>
                    <a:pt x="619430" y="3228"/>
                  </a:lnTo>
                  <a:lnTo>
                    <a:pt x="632428" y="12017"/>
                  </a:lnTo>
                  <a:lnTo>
                    <a:pt x="641187" y="25020"/>
                  </a:lnTo>
                  <a:lnTo>
                    <a:pt x="644398" y="40894"/>
                  </a:lnTo>
                  <a:lnTo>
                    <a:pt x="644398" y="368300"/>
                  </a:lnTo>
                  <a:lnTo>
                    <a:pt x="641187" y="384226"/>
                  </a:lnTo>
                  <a:lnTo>
                    <a:pt x="632428" y="397224"/>
                  </a:lnTo>
                  <a:lnTo>
                    <a:pt x="619430" y="405983"/>
                  </a:lnTo>
                  <a:lnTo>
                    <a:pt x="603503" y="409194"/>
                  </a:lnTo>
                  <a:lnTo>
                    <a:pt x="40893" y="409194"/>
                  </a:lnTo>
                  <a:lnTo>
                    <a:pt x="24967" y="405983"/>
                  </a:lnTo>
                  <a:lnTo>
                    <a:pt x="11969" y="397224"/>
                  </a:lnTo>
                  <a:lnTo>
                    <a:pt x="3210" y="384226"/>
                  </a:lnTo>
                  <a:lnTo>
                    <a:pt x="0" y="368300"/>
                  </a:lnTo>
                  <a:lnTo>
                    <a:pt x="0" y="4089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7223506" y="2966084"/>
            <a:ext cx="435609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60" dirty="0">
                <a:latin typeface="Cambria"/>
                <a:cs typeface="Cambria"/>
              </a:rPr>
              <a:t>Uncle</a:t>
            </a:r>
            <a:endParaRPr sz="1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610362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85" dirty="0"/>
              <a:t>P</a:t>
            </a:r>
            <a:r>
              <a:rPr sz="2400" spc="285" dirty="0"/>
              <a:t>RECAUTION</a:t>
            </a:r>
            <a:r>
              <a:rPr sz="2400" spc="320" dirty="0"/>
              <a:t> </a:t>
            </a:r>
            <a:r>
              <a:rPr sz="2400" spc="265" dirty="0"/>
              <a:t>WHILE</a:t>
            </a:r>
            <a:r>
              <a:rPr sz="2400" spc="310" dirty="0"/>
              <a:t> </a:t>
            </a:r>
            <a:r>
              <a:rPr sz="2400" spc="260" dirty="0"/>
              <a:t>DOWN</a:t>
            </a:r>
            <a:r>
              <a:rPr sz="2400" spc="280" dirty="0"/>
              <a:t> </a:t>
            </a:r>
            <a:r>
              <a:rPr sz="2400" spc="285" dirty="0"/>
              <a:t>CASTING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59320" cy="3044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5" dirty="0">
                <a:latin typeface="Cambria"/>
                <a:cs typeface="Cambria"/>
              </a:rPr>
              <a:t>We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need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first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check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type.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5" dirty="0">
                <a:latin typeface="Cambria"/>
                <a:cs typeface="Cambria"/>
              </a:rPr>
              <a:t>How?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b="1" spc="145" dirty="0">
                <a:latin typeface="Cambria"/>
                <a:cs typeface="Cambria"/>
              </a:rPr>
              <a:t>java </a:t>
            </a:r>
            <a:r>
              <a:rPr sz="2100" b="1" spc="130" dirty="0">
                <a:latin typeface="Cambria"/>
                <a:cs typeface="Cambria"/>
              </a:rPr>
              <a:t>instanceof</a:t>
            </a:r>
            <a:r>
              <a:rPr sz="2100" b="1" spc="125" dirty="0">
                <a:latin typeface="Cambria"/>
                <a:cs typeface="Cambria"/>
              </a:rPr>
              <a:t> </a:t>
            </a:r>
            <a:r>
              <a:rPr sz="2100" b="1" spc="114" dirty="0">
                <a:latin typeface="Cambria"/>
                <a:cs typeface="Cambria"/>
              </a:rPr>
              <a:t>operator</a:t>
            </a:r>
            <a:r>
              <a:rPr sz="2100" b="1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used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test </a:t>
            </a:r>
            <a:r>
              <a:rPr sz="2100" spc="7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whether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object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is</a:t>
            </a:r>
            <a:r>
              <a:rPr sz="2100" spc="120" dirty="0">
                <a:latin typeface="Cambria"/>
                <a:cs typeface="Cambria"/>
              </a:rPr>
              <a:t> an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instance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specified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(class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or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subclass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or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interface).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65" dirty="0">
                <a:latin typeface="Cambria"/>
                <a:cs typeface="Cambria"/>
              </a:rPr>
              <a:t>getClass()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return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“class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[ClassName]”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0" dirty="0">
                <a:latin typeface="Cambria"/>
                <a:cs typeface="Cambria"/>
              </a:rPr>
              <a:t>getClass().getName()</a:t>
            </a:r>
            <a:r>
              <a:rPr sz="2100" spc="80" dirty="0">
                <a:latin typeface="Cambria"/>
                <a:cs typeface="Cambria"/>
              </a:rPr>
              <a:t> return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110" dirty="0">
                <a:latin typeface="Cambria"/>
                <a:cs typeface="Cambria"/>
              </a:rPr>
              <a:t>name.</a:t>
            </a:r>
            <a:endParaRPr sz="2100">
              <a:latin typeface="Cambria"/>
              <a:cs typeface="Cambria"/>
            </a:endParaRPr>
          </a:p>
          <a:p>
            <a:pPr lvl="1">
              <a:lnSpc>
                <a:spcPct val="100000"/>
              </a:lnSpc>
              <a:buClr>
                <a:srgbClr val="FD8537"/>
              </a:buClr>
              <a:buFont typeface="Segoe UI Symbol"/>
              <a:buChar char="⚫"/>
            </a:pPr>
            <a:endParaRPr sz="215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0" dirty="0">
                <a:latin typeface="Cambria"/>
                <a:cs typeface="Cambria"/>
              </a:rPr>
              <a:t>Let’s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revisit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example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polymorphism.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969002"/>
            <a:ext cx="7258684" cy="1550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class</a:t>
            </a:r>
            <a:r>
              <a:rPr sz="1400" spc="60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TestPolymorphism</a:t>
            </a:r>
            <a:r>
              <a:rPr sz="1400" spc="30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35" dirty="0">
                <a:latin typeface="Cambria"/>
                <a:cs typeface="Cambria"/>
              </a:rPr>
              <a:t>public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static</a:t>
            </a:r>
            <a:r>
              <a:rPr sz="1400" spc="7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void</a:t>
            </a:r>
            <a:r>
              <a:rPr sz="1400" spc="45" dirty="0">
                <a:latin typeface="Cambria"/>
                <a:cs typeface="Cambria"/>
              </a:rPr>
              <a:t> </a:t>
            </a:r>
            <a:r>
              <a:rPr sz="1400" spc="50" dirty="0">
                <a:latin typeface="Cambria"/>
                <a:cs typeface="Cambria"/>
              </a:rPr>
              <a:t>main(String[]</a:t>
            </a:r>
            <a:r>
              <a:rPr sz="1400" spc="30" dirty="0">
                <a:latin typeface="Cambria"/>
                <a:cs typeface="Cambria"/>
              </a:rPr>
              <a:t> args)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-75" dirty="0">
                <a:latin typeface="Cambria"/>
                <a:cs typeface="Cambria"/>
              </a:rPr>
              <a:t>{</a:t>
            </a:r>
            <a:endParaRPr sz="1400">
              <a:latin typeface="Cambria"/>
              <a:cs typeface="Cambria"/>
            </a:endParaRPr>
          </a:p>
          <a:p>
            <a:pPr marL="744220">
              <a:lnSpc>
                <a:spcPct val="100000"/>
              </a:lnSpc>
              <a:spcBef>
                <a:spcPts val="5"/>
              </a:spcBef>
            </a:pPr>
            <a:r>
              <a:rPr sz="1400" spc="80" dirty="0">
                <a:latin typeface="Cambria"/>
                <a:cs typeface="Cambria"/>
              </a:rPr>
              <a:t>Animal</a:t>
            </a:r>
            <a:r>
              <a:rPr sz="1400" spc="50" dirty="0">
                <a:latin typeface="Cambria"/>
                <a:cs typeface="Cambria"/>
              </a:rPr>
              <a:t> </a:t>
            </a:r>
            <a:r>
              <a:rPr sz="1400" spc="95" dirty="0">
                <a:latin typeface="Cambria"/>
                <a:cs typeface="Cambria"/>
              </a:rPr>
              <a:t>a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75" dirty="0">
                <a:latin typeface="Cambria"/>
                <a:cs typeface="Cambria"/>
              </a:rPr>
              <a:t>=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30" dirty="0">
                <a:latin typeface="Cambria"/>
                <a:cs typeface="Cambria"/>
              </a:rPr>
              <a:t>new</a:t>
            </a:r>
            <a:r>
              <a:rPr sz="1400" spc="55" dirty="0">
                <a:latin typeface="Cambria"/>
                <a:cs typeface="Cambria"/>
              </a:rPr>
              <a:t> </a:t>
            </a:r>
            <a:r>
              <a:rPr sz="1400" spc="20" dirty="0">
                <a:latin typeface="Cambria"/>
                <a:cs typeface="Cambria"/>
              </a:rPr>
              <a:t>Bird();</a:t>
            </a:r>
            <a:endParaRPr sz="1400">
              <a:latin typeface="Cambria"/>
              <a:cs typeface="Cambria"/>
            </a:endParaRPr>
          </a:p>
          <a:p>
            <a:pPr marL="927100" marR="5080" indent="-192405">
              <a:lnSpc>
                <a:spcPct val="102899"/>
              </a:lnSpc>
              <a:spcBef>
                <a:spcPts val="145"/>
              </a:spcBef>
            </a:pPr>
            <a:r>
              <a:rPr sz="1400" b="1" spc="80" dirty="0">
                <a:latin typeface="Cambria"/>
                <a:cs typeface="Cambria"/>
              </a:rPr>
              <a:t>if</a:t>
            </a:r>
            <a:r>
              <a:rPr sz="1400" b="1" spc="85" dirty="0">
                <a:latin typeface="Cambria"/>
                <a:cs typeface="Cambria"/>
              </a:rPr>
              <a:t> </a:t>
            </a:r>
            <a:r>
              <a:rPr sz="1400" b="1" spc="40" dirty="0">
                <a:latin typeface="Cambria"/>
                <a:cs typeface="Cambria"/>
              </a:rPr>
              <a:t>(a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85" dirty="0">
                <a:latin typeface="Cambria"/>
                <a:cs typeface="Cambria"/>
              </a:rPr>
              <a:t>instanceof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b="1" spc="80" dirty="0">
                <a:latin typeface="Cambria"/>
                <a:cs typeface="Cambria"/>
              </a:rPr>
              <a:t>Bird)</a:t>
            </a:r>
            <a:r>
              <a:rPr sz="1400" b="1" spc="9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55" dirty="0">
                <a:latin typeface="Cambria"/>
                <a:cs typeface="Cambria"/>
              </a:rPr>
              <a:t>can</a:t>
            </a:r>
            <a:r>
              <a:rPr sz="1400" spc="8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also</a:t>
            </a:r>
            <a:r>
              <a:rPr sz="1400" spc="6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use</a:t>
            </a:r>
            <a:r>
              <a:rPr sz="1400" spc="95" dirty="0">
                <a:latin typeface="Cambria"/>
                <a:cs typeface="Cambria"/>
              </a:rPr>
              <a:t> </a:t>
            </a:r>
            <a:r>
              <a:rPr sz="1400" spc="45" dirty="0">
                <a:latin typeface="Cambria"/>
                <a:cs typeface="Cambria"/>
              </a:rPr>
              <a:t>if</a:t>
            </a:r>
            <a:r>
              <a:rPr sz="1400" spc="70" dirty="0">
                <a:latin typeface="Cambria"/>
                <a:cs typeface="Cambria"/>
              </a:rPr>
              <a:t> </a:t>
            </a:r>
            <a:r>
              <a:rPr sz="1400" spc="35" dirty="0">
                <a:latin typeface="Cambria"/>
                <a:cs typeface="Cambria"/>
              </a:rPr>
              <a:t>(a.getClass().getName().equals("Bird"))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10" dirty="0">
                <a:latin typeface="Cambria"/>
                <a:cs typeface="Cambria"/>
              </a:rPr>
              <a:t>((Bird)a).fly();</a:t>
            </a:r>
            <a:r>
              <a:rPr sz="1400" spc="40" dirty="0">
                <a:latin typeface="Cambria"/>
                <a:cs typeface="Cambria"/>
              </a:rPr>
              <a:t> </a:t>
            </a:r>
            <a:r>
              <a:rPr sz="1400" spc="-300" dirty="0">
                <a:latin typeface="Cambria"/>
                <a:cs typeface="Cambria"/>
              </a:rPr>
              <a:t>// </a:t>
            </a:r>
            <a:r>
              <a:rPr sz="1400" spc="-295" dirty="0">
                <a:latin typeface="Cambria"/>
                <a:cs typeface="Cambria"/>
              </a:rPr>
              <a:t> </a:t>
            </a:r>
            <a:r>
              <a:rPr sz="1400" spc="190" dirty="0">
                <a:latin typeface="Cambria"/>
                <a:cs typeface="Cambria"/>
              </a:rPr>
              <a:t>OK</a:t>
            </a:r>
            <a:endParaRPr sz="1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1400" spc="-75" dirty="0">
                <a:latin typeface="Cambria"/>
                <a:cs typeface="Cambria"/>
              </a:rPr>
              <a:t>}</a:t>
            </a:r>
            <a:endParaRPr sz="1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8475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60" dirty="0"/>
              <a:t> </a:t>
            </a:r>
            <a:r>
              <a:rPr sz="3000" spc="165" dirty="0"/>
              <a:t>–</a:t>
            </a:r>
            <a:r>
              <a:rPr sz="3000" spc="140" dirty="0"/>
              <a:t> </a:t>
            </a:r>
            <a:r>
              <a:rPr sz="3000" spc="290" dirty="0"/>
              <a:t>B</a:t>
            </a:r>
            <a:r>
              <a:rPr sz="2400" spc="290" dirty="0"/>
              <a:t>ENEFITS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3458946"/>
            <a:ext cx="7569834" cy="304419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95" dirty="0">
                <a:latin typeface="Cambria"/>
                <a:cs typeface="Cambria"/>
              </a:rPr>
              <a:t>Assume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35" dirty="0">
                <a:latin typeface="Cambria"/>
                <a:cs typeface="Cambria"/>
              </a:rPr>
              <a:t>above</a:t>
            </a:r>
            <a:r>
              <a:rPr sz="2000" spc="80" dirty="0">
                <a:latin typeface="Cambria"/>
                <a:cs typeface="Cambria"/>
              </a:rPr>
              <a:t> hierarchy.</a:t>
            </a:r>
            <a:endParaRPr sz="20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80" dirty="0">
                <a:latin typeface="Cambria"/>
                <a:cs typeface="Cambria"/>
              </a:rPr>
              <a:t>Consider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each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class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has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" dirty="0">
                <a:latin typeface="Cambria"/>
                <a:cs typeface="Cambria"/>
              </a:rPr>
              <a:t>draw()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method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draw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specific</a:t>
            </a:r>
            <a:endParaRPr sz="20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000" spc="85" dirty="0">
                <a:latin typeface="Cambria"/>
                <a:cs typeface="Cambria"/>
              </a:rPr>
              <a:t>shape.</a:t>
            </a:r>
            <a:endParaRPr sz="200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70" dirty="0">
                <a:latin typeface="Cambria"/>
                <a:cs typeface="Cambria"/>
              </a:rPr>
              <a:t>Also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consider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method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that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will </a:t>
            </a:r>
            <a:r>
              <a:rPr sz="2000" spc="95" dirty="0">
                <a:latin typeface="Cambria"/>
                <a:cs typeface="Cambria"/>
              </a:rPr>
              <a:t>take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114" dirty="0">
                <a:latin typeface="Cambria"/>
                <a:cs typeface="Cambria"/>
              </a:rPr>
              <a:t>Shape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reference </a:t>
            </a:r>
            <a:r>
              <a:rPr sz="2000" spc="5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variable</a:t>
            </a:r>
            <a:r>
              <a:rPr sz="2000" spc="6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(which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can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hold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shape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25" dirty="0">
                <a:latin typeface="Cambria"/>
                <a:cs typeface="Cambria"/>
              </a:rPr>
              <a:t>object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or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any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of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its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subclass’s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5" dirty="0">
                <a:latin typeface="Cambria"/>
                <a:cs typeface="Cambria"/>
              </a:rPr>
              <a:t>object)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as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argument and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call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draw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method.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160" dirty="0">
                <a:latin typeface="Cambria"/>
                <a:cs typeface="Cambria"/>
              </a:rPr>
              <a:t>E.g.</a:t>
            </a:r>
            <a:endParaRPr sz="20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  <a:spcBef>
                <a:spcPts val="605"/>
              </a:spcBef>
            </a:pPr>
            <a:r>
              <a:rPr sz="1600" spc="60" dirty="0">
                <a:latin typeface="Cambria"/>
                <a:cs typeface="Cambria"/>
              </a:rPr>
              <a:t>static</a:t>
            </a:r>
            <a:r>
              <a:rPr sz="1600" spc="75" dirty="0">
                <a:latin typeface="Cambria"/>
                <a:cs typeface="Cambria"/>
              </a:rPr>
              <a:t> </a:t>
            </a:r>
            <a:r>
              <a:rPr sz="1600" spc="20" dirty="0">
                <a:latin typeface="Cambria"/>
                <a:cs typeface="Cambria"/>
              </a:rPr>
              <a:t>void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65" dirty="0">
                <a:latin typeface="Cambria"/>
                <a:cs typeface="Cambria"/>
              </a:rPr>
              <a:t>drawShape(Shape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shape){</a:t>
            </a:r>
            <a:endParaRPr sz="1600">
              <a:latin typeface="Cambria"/>
              <a:cs typeface="Cambria"/>
            </a:endParaRPr>
          </a:p>
          <a:p>
            <a:pPr marL="742950">
              <a:lnSpc>
                <a:spcPct val="100000"/>
              </a:lnSpc>
              <a:spcBef>
                <a:spcPts val="600"/>
              </a:spcBef>
            </a:pPr>
            <a:r>
              <a:rPr sz="1600" spc="30" dirty="0">
                <a:latin typeface="Cambria"/>
                <a:cs typeface="Cambria"/>
              </a:rPr>
              <a:t>shape.draw();</a:t>
            </a:r>
            <a:endParaRPr sz="1600">
              <a:latin typeface="Cambria"/>
              <a:cs typeface="Cambria"/>
            </a:endParaRPr>
          </a:p>
          <a:p>
            <a:pPr marL="469900">
              <a:lnSpc>
                <a:spcPct val="100000"/>
              </a:lnSpc>
              <a:spcBef>
                <a:spcPts val="600"/>
              </a:spcBef>
            </a:pPr>
            <a:r>
              <a:rPr sz="1600" spc="-90" dirty="0">
                <a:latin typeface="Cambria"/>
                <a:cs typeface="Cambria"/>
              </a:rPr>
              <a:t>}</a:t>
            </a:r>
            <a:endParaRPr sz="1600">
              <a:latin typeface="Cambria"/>
              <a:cs typeface="Cambri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166239" y="1588897"/>
            <a:ext cx="4197985" cy="1331595"/>
            <a:chOff x="2166239" y="1588897"/>
            <a:chExt cx="4197985" cy="1331595"/>
          </a:xfrm>
        </p:grpSpPr>
        <p:sp>
          <p:nvSpPr>
            <p:cNvPr id="5" name="object 5"/>
            <p:cNvSpPr/>
            <p:nvPr/>
          </p:nvSpPr>
          <p:spPr>
            <a:xfrm>
              <a:off x="4976241" y="2701036"/>
              <a:ext cx="3810" cy="205104"/>
            </a:xfrm>
            <a:custGeom>
              <a:avLst/>
              <a:gdLst/>
              <a:ahLst/>
              <a:cxnLst/>
              <a:rect l="l" t="t" r="r" b="b"/>
              <a:pathLst>
                <a:path w="3810" h="205105">
                  <a:moveTo>
                    <a:pt x="3556" y="0"/>
                  </a:moveTo>
                  <a:lnTo>
                    <a:pt x="3556" y="139573"/>
                  </a:lnTo>
                  <a:lnTo>
                    <a:pt x="0" y="139573"/>
                  </a:lnTo>
                  <a:lnTo>
                    <a:pt x="0" y="204850"/>
                  </a:lnTo>
                </a:path>
              </a:pathLst>
            </a:custGeom>
            <a:ln w="25399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039872" y="2048891"/>
              <a:ext cx="3311525" cy="205104"/>
            </a:xfrm>
            <a:custGeom>
              <a:avLst/>
              <a:gdLst/>
              <a:ahLst/>
              <a:cxnLst/>
              <a:rect l="l" t="t" r="r" b="b"/>
              <a:pathLst>
                <a:path w="3311525" h="205105">
                  <a:moveTo>
                    <a:pt x="1847214" y="0"/>
                  </a:moveTo>
                  <a:lnTo>
                    <a:pt x="1847214" y="139573"/>
                  </a:lnTo>
                  <a:lnTo>
                    <a:pt x="1939925" y="139573"/>
                  </a:lnTo>
                  <a:lnTo>
                    <a:pt x="1939925" y="204850"/>
                  </a:lnTo>
                </a:path>
                <a:path w="3311525" h="205105">
                  <a:moveTo>
                    <a:pt x="1847214" y="0"/>
                  </a:moveTo>
                  <a:lnTo>
                    <a:pt x="1847214" y="139573"/>
                  </a:lnTo>
                  <a:lnTo>
                    <a:pt x="3311525" y="139573"/>
                  </a:lnTo>
                  <a:lnTo>
                    <a:pt x="3311525" y="204850"/>
                  </a:lnTo>
                </a:path>
                <a:path w="3311525" h="205105">
                  <a:moveTo>
                    <a:pt x="1847214" y="0"/>
                  </a:moveTo>
                  <a:lnTo>
                    <a:pt x="1847214" y="139573"/>
                  </a:lnTo>
                  <a:lnTo>
                    <a:pt x="0" y="139573"/>
                  </a:lnTo>
                  <a:lnTo>
                    <a:pt x="0" y="204850"/>
                  </a:lnTo>
                </a:path>
              </a:pathLst>
            </a:custGeom>
            <a:ln w="25400">
              <a:solidFill>
                <a:srgbClr val="CA6A2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534916" y="1601597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324" y="3522"/>
                  </a:lnTo>
                  <a:lnTo>
                    <a:pt x="13112" y="13128"/>
                  </a:lnTo>
                  <a:lnTo>
                    <a:pt x="3520" y="27378"/>
                  </a:lnTo>
                  <a:lnTo>
                    <a:pt x="0" y="44830"/>
                  </a:lnTo>
                  <a:lnTo>
                    <a:pt x="0" y="402589"/>
                  </a:lnTo>
                  <a:lnTo>
                    <a:pt x="3520" y="420022"/>
                  </a:lnTo>
                  <a:lnTo>
                    <a:pt x="13112" y="434228"/>
                  </a:lnTo>
                  <a:lnTo>
                    <a:pt x="27324" y="44379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70" y="443791"/>
                  </a:lnTo>
                  <a:lnTo>
                    <a:pt x="691276" y="434228"/>
                  </a:lnTo>
                  <a:lnTo>
                    <a:pt x="700839" y="420022"/>
                  </a:lnTo>
                  <a:lnTo>
                    <a:pt x="704342" y="402589"/>
                  </a:lnTo>
                  <a:lnTo>
                    <a:pt x="704342" y="44830"/>
                  </a:lnTo>
                  <a:lnTo>
                    <a:pt x="700839" y="27378"/>
                  </a:lnTo>
                  <a:lnTo>
                    <a:pt x="691276" y="13128"/>
                  </a:lnTo>
                  <a:lnTo>
                    <a:pt x="677070" y="352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534916" y="1601597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830"/>
                  </a:moveTo>
                  <a:lnTo>
                    <a:pt x="3520" y="27378"/>
                  </a:lnTo>
                  <a:lnTo>
                    <a:pt x="13112" y="13128"/>
                  </a:lnTo>
                  <a:lnTo>
                    <a:pt x="27324" y="352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70" y="3522"/>
                  </a:lnTo>
                  <a:lnTo>
                    <a:pt x="691276" y="13128"/>
                  </a:lnTo>
                  <a:lnTo>
                    <a:pt x="700839" y="27378"/>
                  </a:lnTo>
                  <a:lnTo>
                    <a:pt x="704342" y="44830"/>
                  </a:lnTo>
                  <a:lnTo>
                    <a:pt x="704342" y="402589"/>
                  </a:lnTo>
                  <a:lnTo>
                    <a:pt x="700839" y="420022"/>
                  </a:lnTo>
                  <a:lnTo>
                    <a:pt x="691276" y="434228"/>
                  </a:lnTo>
                  <a:lnTo>
                    <a:pt x="677070" y="44379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324" y="443791"/>
                  </a:lnTo>
                  <a:lnTo>
                    <a:pt x="13112" y="434228"/>
                  </a:lnTo>
                  <a:lnTo>
                    <a:pt x="3520" y="420022"/>
                  </a:lnTo>
                  <a:lnTo>
                    <a:pt x="0" y="402589"/>
                  </a:lnTo>
                  <a:lnTo>
                    <a:pt x="0" y="4483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613148" y="1676019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764" y="0"/>
                  </a:moveTo>
                  <a:lnTo>
                    <a:pt x="44830" y="0"/>
                  </a:lnTo>
                  <a:lnTo>
                    <a:pt x="27378" y="3502"/>
                  </a:lnTo>
                  <a:lnTo>
                    <a:pt x="13128" y="13065"/>
                  </a:lnTo>
                  <a:lnTo>
                    <a:pt x="3522" y="27271"/>
                  </a:lnTo>
                  <a:lnTo>
                    <a:pt x="0" y="44703"/>
                  </a:lnTo>
                  <a:lnTo>
                    <a:pt x="0" y="402589"/>
                  </a:lnTo>
                  <a:lnTo>
                    <a:pt x="3522" y="419969"/>
                  </a:lnTo>
                  <a:lnTo>
                    <a:pt x="13128" y="434181"/>
                  </a:lnTo>
                  <a:lnTo>
                    <a:pt x="27378" y="443773"/>
                  </a:lnTo>
                  <a:lnTo>
                    <a:pt x="44830" y="447293"/>
                  </a:lnTo>
                  <a:lnTo>
                    <a:pt x="659764" y="447293"/>
                  </a:lnTo>
                  <a:lnTo>
                    <a:pt x="677144" y="443773"/>
                  </a:lnTo>
                  <a:lnTo>
                    <a:pt x="691356" y="434181"/>
                  </a:lnTo>
                  <a:lnTo>
                    <a:pt x="700948" y="419969"/>
                  </a:lnTo>
                  <a:lnTo>
                    <a:pt x="704468" y="402589"/>
                  </a:lnTo>
                  <a:lnTo>
                    <a:pt x="704468" y="44703"/>
                  </a:lnTo>
                  <a:lnTo>
                    <a:pt x="700948" y="27271"/>
                  </a:lnTo>
                  <a:lnTo>
                    <a:pt x="691356" y="13065"/>
                  </a:lnTo>
                  <a:lnTo>
                    <a:pt x="677144" y="3502"/>
                  </a:lnTo>
                  <a:lnTo>
                    <a:pt x="659764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613148" y="1676019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2" y="27271"/>
                  </a:lnTo>
                  <a:lnTo>
                    <a:pt x="13128" y="13065"/>
                  </a:lnTo>
                  <a:lnTo>
                    <a:pt x="27378" y="3502"/>
                  </a:lnTo>
                  <a:lnTo>
                    <a:pt x="44830" y="0"/>
                  </a:lnTo>
                  <a:lnTo>
                    <a:pt x="659764" y="0"/>
                  </a:lnTo>
                  <a:lnTo>
                    <a:pt x="677144" y="3502"/>
                  </a:lnTo>
                  <a:lnTo>
                    <a:pt x="691356" y="13065"/>
                  </a:lnTo>
                  <a:lnTo>
                    <a:pt x="700948" y="27271"/>
                  </a:lnTo>
                  <a:lnTo>
                    <a:pt x="704468" y="44703"/>
                  </a:lnTo>
                  <a:lnTo>
                    <a:pt x="704468" y="402589"/>
                  </a:lnTo>
                  <a:lnTo>
                    <a:pt x="700948" y="419969"/>
                  </a:lnTo>
                  <a:lnTo>
                    <a:pt x="691356" y="434181"/>
                  </a:lnTo>
                  <a:lnTo>
                    <a:pt x="677144" y="443773"/>
                  </a:lnTo>
                  <a:lnTo>
                    <a:pt x="659764" y="447293"/>
                  </a:lnTo>
                  <a:lnTo>
                    <a:pt x="44830" y="447293"/>
                  </a:lnTo>
                  <a:lnTo>
                    <a:pt x="27378" y="443773"/>
                  </a:lnTo>
                  <a:lnTo>
                    <a:pt x="13128" y="434181"/>
                  </a:lnTo>
                  <a:lnTo>
                    <a:pt x="3522" y="419969"/>
                  </a:lnTo>
                  <a:lnTo>
                    <a:pt x="0" y="402589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178939" y="2701036"/>
              <a:ext cx="1810385" cy="206375"/>
            </a:xfrm>
            <a:custGeom>
              <a:avLst/>
              <a:gdLst/>
              <a:ahLst/>
              <a:cxnLst/>
              <a:rect l="l" t="t" r="r" b="b"/>
              <a:pathLst>
                <a:path w="1810385" h="206375">
                  <a:moveTo>
                    <a:pt x="860933" y="0"/>
                  </a:moveTo>
                  <a:lnTo>
                    <a:pt x="860933" y="141097"/>
                  </a:lnTo>
                  <a:lnTo>
                    <a:pt x="1810258" y="141097"/>
                  </a:lnTo>
                  <a:lnTo>
                    <a:pt x="1810258" y="206375"/>
                  </a:lnTo>
                </a:path>
                <a:path w="1810385" h="206375">
                  <a:moveTo>
                    <a:pt x="860933" y="0"/>
                  </a:moveTo>
                  <a:lnTo>
                    <a:pt x="860933" y="204850"/>
                  </a:lnTo>
                </a:path>
                <a:path w="1810385" h="206375">
                  <a:moveTo>
                    <a:pt x="860933" y="0"/>
                  </a:moveTo>
                  <a:lnTo>
                    <a:pt x="860933" y="139573"/>
                  </a:lnTo>
                  <a:lnTo>
                    <a:pt x="0" y="139573"/>
                  </a:lnTo>
                  <a:lnTo>
                    <a:pt x="0" y="204850"/>
                  </a:lnTo>
                </a:path>
              </a:pathLst>
            </a:custGeom>
            <a:ln w="25400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4771390" y="1801748"/>
            <a:ext cx="388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25" dirty="0">
                <a:latin typeface="Cambria"/>
                <a:cs typeface="Cambria"/>
              </a:rPr>
              <a:t>S</a:t>
            </a:r>
            <a:r>
              <a:rPr sz="1000" spc="55" dirty="0">
                <a:latin typeface="Cambria"/>
                <a:cs typeface="Cambria"/>
              </a:rPr>
              <a:t>h</a:t>
            </a:r>
            <a:r>
              <a:rPr sz="1000" spc="25" dirty="0">
                <a:latin typeface="Cambria"/>
                <a:cs typeface="Cambria"/>
              </a:rPr>
              <a:t>ape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675001" y="2241042"/>
            <a:ext cx="808355" cy="547370"/>
            <a:chOff x="2675001" y="2241042"/>
            <a:chExt cx="808355" cy="547370"/>
          </a:xfrm>
        </p:grpSpPr>
        <p:sp>
          <p:nvSpPr>
            <p:cNvPr id="14" name="object 14"/>
            <p:cNvSpPr/>
            <p:nvPr/>
          </p:nvSpPr>
          <p:spPr>
            <a:xfrm>
              <a:off x="2687701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271" y="3520"/>
                  </a:lnTo>
                  <a:lnTo>
                    <a:pt x="13065" y="13112"/>
                  </a:lnTo>
                  <a:lnTo>
                    <a:pt x="3502" y="27324"/>
                  </a:lnTo>
                  <a:lnTo>
                    <a:pt x="0" y="44704"/>
                  </a:lnTo>
                  <a:lnTo>
                    <a:pt x="0" y="402590"/>
                  </a:lnTo>
                  <a:lnTo>
                    <a:pt x="3502" y="420022"/>
                  </a:lnTo>
                  <a:lnTo>
                    <a:pt x="13065" y="434228"/>
                  </a:lnTo>
                  <a:lnTo>
                    <a:pt x="27271" y="443791"/>
                  </a:lnTo>
                  <a:lnTo>
                    <a:pt x="44704" y="447294"/>
                  </a:lnTo>
                  <a:lnTo>
                    <a:pt x="659638" y="447294"/>
                  </a:lnTo>
                  <a:lnTo>
                    <a:pt x="677017" y="443791"/>
                  </a:lnTo>
                  <a:lnTo>
                    <a:pt x="691229" y="434228"/>
                  </a:lnTo>
                  <a:lnTo>
                    <a:pt x="700821" y="420022"/>
                  </a:lnTo>
                  <a:lnTo>
                    <a:pt x="704341" y="402590"/>
                  </a:lnTo>
                  <a:lnTo>
                    <a:pt x="704341" y="44704"/>
                  </a:lnTo>
                  <a:lnTo>
                    <a:pt x="700821" y="27324"/>
                  </a:lnTo>
                  <a:lnTo>
                    <a:pt x="691229" y="13112"/>
                  </a:lnTo>
                  <a:lnTo>
                    <a:pt x="677017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687701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4"/>
                  </a:moveTo>
                  <a:lnTo>
                    <a:pt x="3502" y="27324"/>
                  </a:lnTo>
                  <a:lnTo>
                    <a:pt x="13065" y="13112"/>
                  </a:lnTo>
                  <a:lnTo>
                    <a:pt x="27271" y="3520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17" y="3520"/>
                  </a:lnTo>
                  <a:lnTo>
                    <a:pt x="691229" y="13112"/>
                  </a:lnTo>
                  <a:lnTo>
                    <a:pt x="700821" y="27324"/>
                  </a:lnTo>
                  <a:lnTo>
                    <a:pt x="704341" y="44704"/>
                  </a:lnTo>
                  <a:lnTo>
                    <a:pt x="704341" y="402590"/>
                  </a:lnTo>
                  <a:lnTo>
                    <a:pt x="700821" y="420022"/>
                  </a:lnTo>
                  <a:lnTo>
                    <a:pt x="691229" y="434228"/>
                  </a:lnTo>
                  <a:lnTo>
                    <a:pt x="677017" y="443791"/>
                  </a:lnTo>
                  <a:lnTo>
                    <a:pt x="659638" y="447294"/>
                  </a:lnTo>
                  <a:lnTo>
                    <a:pt x="44704" y="447294"/>
                  </a:lnTo>
                  <a:lnTo>
                    <a:pt x="27271" y="443791"/>
                  </a:lnTo>
                  <a:lnTo>
                    <a:pt x="13065" y="434228"/>
                  </a:lnTo>
                  <a:lnTo>
                    <a:pt x="3502" y="420022"/>
                  </a:lnTo>
                  <a:lnTo>
                    <a:pt x="0" y="402590"/>
                  </a:lnTo>
                  <a:lnTo>
                    <a:pt x="0" y="4470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765933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324" y="3502"/>
                  </a:lnTo>
                  <a:lnTo>
                    <a:pt x="13112" y="13065"/>
                  </a:lnTo>
                  <a:lnTo>
                    <a:pt x="3520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20" y="419915"/>
                  </a:lnTo>
                  <a:lnTo>
                    <a:pt x="13112" y="434165"/>
                  </a:lnTo>
                  <a:lnTo>
                    <a:pt x="27324" y="443771"/>
                  </a:lnTo>
                  <a:lnTo>
                    <a:pt x="44704" y="447294"/>
                  </a:lnTo>
                  <a:lnTo>
                    <a:pt x="659638" y="447294"/>
                  </a:lnTo>
                  <a:lnTo>
                    <a:pt x="677070" y="443771"/>
                  </a:lnTo>
                  <a:lnTo>
                    <a:pt x="691276" y="434165"/>
                  </a:lnTo>
                  <a:lnTo>
                    <a:pt x="700839" y="419915"/>
                  </a:lnTo>
                  <a:lnTo>
                    <a:pt x="704342" y="402463"/>
                  </a:lnTo>
                  <a:lnTo>
                    <a:pt x="704342" y="44703"/>
                  </a:lnTo>
                  <a:lnTo>
                    <a:pt x="700839" y="27271"/>
                  </a:lnTo>
                  <a:lnTo>
                    <a:pt x="691276" y="13065"/>
                  </a:lnTo>
                  <a:lnTo>
                    <a:pt x="677070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765933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0" y="27271"/>
                  </a:lnTo>
                  <a:lnTo>
                    <a:pt x="13112" y="13065"/>
                  </a:lnTo>
                  <a:lnTo>
                    <a:pt x="27324" y="350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70" y="3502"/>
                  </a:lnTo>
                  <a:lnTo>
                    <a:pt x="691276" y="13065"/>
                  </a:lnTo>
                  <a:lnTo>
                    <a:pt x="700839" y="27271"/>
                  </a:lnTo>
                  <a:lnTo>
                    <a:pt x="704342" y="44703"/>
                  </a:lnTo>
                  <a:lnTo>
                    <a:pt x="704342" y="402463"/>
                  </a:lnTo>
                  <a:lnTo>
                    <a:pt x="700839" y="419915"/>
                  </a:lnTo>
                  <a:lnTo>
                    <a:pt x="691276" y="434165"/>
                  </a:lnTo>
                  <a:lnTo>
                    <a:pt x="677070" y="443771"/>
                  </a:lnTo>
                  <a:lnTo>
                    <a:pt x="659638" y="447294"/>
                  </a:lnTo>
                  <a:lnTo>
                    <a:pt x="44704" y="447294"/>
                  </a:lnTo>
                  <a:lnTo>
                    <a:pt x="27324" y="443771"/>
                  </a:lnTo>
                  <a:lnTo>
                    <a:pt x="13112" y="434165"/>
                  </a:lnTo>
                  <a:lnTo>
                    <a:pt x="3520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855214" y="2454097"/>
            <a:ext cx="5251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60" dirty="0">
                <a:latin typeface="Cambria"/>
                <a:cs typeface="Cambria"/>
              </a:rPr>
              <a:t>T</a:t>
            </a:r>
            <a:r>
              <a:rPr sz="1000" spc="35" dirty="0">
                <a:latin typeface="Cambria"/>
                <a:cs typeface="Cambria"/>
              </a:rPr>
              <a:t>ri</a:t>
            </a:r>
            <a:r>
              <a:rPr sz="1000" spc="50" dirty="0">
                <a:latin typeface="Cambria"/>
                <a:cs typeface="Cambria"/>
              </a:rPr>
              <a:t>a</a:t>
            </a:r>
            <a:r>
              <a:rPr sz="1000" spc="45" dirty="0">
                <a:latin typeface="Cambria"/>
                <a:cs typeface="Cambria"/>
              </a:rPr>
              <a:t>ng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1814067" y="2893186"/>
            <a:ext cx="808355" cy="547370"/>
            <a:chOff x="1814067" y="2893186"/>
            <a:chExt cx="808355" cy="547370"/>
          </a:xfrm>
        </p:grpSpPr>
        <p:sp>
          <p:nvSpPr>
            <p:cNvPr id="20" name="object 20"/>
            <p:cNvSpPr/>
            <p:nvPr/>
          </p:nvSpPr>
          <p:spPr>
            <a:xfrm>
              <a:off x="1826767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271" y="3520"/>
                  </a:lnTo>
                  <a:lnTo>
                    <a:pt x="13065" y="13112"/>
                  </a:lnTo>
                  <a:lnTo>
                    <a:pt x="3502" y="27324"/>
                  </a:lnTo>
                  <a:lnTo>
                    <a:pt x="0" y="44703"/>
                  </a:lnTo>
                  <a:lnTo>
                    <a:pt x="0" y="402589"/>
                  </a:lnTo>
                  <a:lnTo>
                    <a:pt x="3502" y="420022"/>
                  </a:lnTo>
                  <a:lnTo>
                    <a:pt x="13065" y="434228"/>
                  </a:lnTo>
                  <a:lnTo>
                    <a:pt x="27271" y="44379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17" y="443791"/>
                  </a:lnTo>
                  <a:lnTo>
                    <a:pt x="691229" y="434228"/>
                  </a:lnTo>
                  <a:lnTo>
                    <a:pt x="700821" y="420022"/>
                  </a:lnTo>
                  <a:lnTo>
                    <a:pt x="704342" y="402589"/>
                  </a:lnTo>
                  <a:lnTo>
                    <a:pt x="704342" y="44703"/>
                  </a:lnTo>
                  <a:lnTo>
                    <a:pt x="700821" y="27324"/>
                  </a:lnTo>
                  <a:lnTo>
                    <a:pt x="691229" y="13112"/>
                  </a:lnTo>
                  <a:lnTo>
                    <a:pt x="677017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826767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324"/>
                  </a:lnTo>
                  <a:lnTo>
                    <a:pt x="13065" y="13112"/>
                  </a:lnTo>
                  <a:lnTo>
                    <a:pt x="27271" y="3520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17" y="3520"/>
                  </a:lnTo>
                  <a:lnTo>
                    <a:pt x="691229" y="13112"/>
                  </a:lnTo>
                  <a:lnTo>
                    <a:pt x="700821" y="27324"/>
                  </a:lnTo>
                  <a:lnTo>
                    <a:pt x="704342" y="44703"/>
                  </a:lnTo>
                  <a:lnTo>
                    <a:pt x="704342" y="402589"/>
                  </a:lnTo>
                  <a:lnTo>
                    <a:pt x="700821" y="420022"/>
                  </a:lnTo>
                  <a:lnTo>
                    <a:pt x="691229" y="434228"/>
                  </a:lnTo>
                  <a:lnTo>
                    <a:pt x="677017" y="44379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271" y="443791"/>
                  </a:lnTo>
                  <a:lnTo>
                    <a:pt x="13065" y="434228"/>
                  </a:lnTo>
                  <a:lnTo>
                    <a:pt x="3502" y="420022"/>
                  </a:lnTo>
                  <a:lnTo>
                    <a:pt x="0" y="402589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904999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324" y="3502"/>
                  </a:lnTo>
                  <a:lnTo>
                    <a:pt x="13112" y="13065"/>
                  </a:lnTo>
                  <a:lnTo>
                    <a:pt x="3520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20" y="419915"/>
                  </a:lnTo>
                  <a:lnTo>
                    <a:pt x="13112" y="434165"/>
                  </a:lnTo>
                  <a:lnTo>
                    <a:pt x="27324" y="44377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70" y="443771"/>
                  </a:lnTo>
                  <a:lnTo>
                    <a:pt x="691276" y="434165"/>
                  </a:lnTo>
                  <a:lnTo>
                    <a:pt x="700839" y="419915"/>
                  </a:lnTo>
                  <a:lnTo>
                    <a:pt x="704342" y="402463"/>
                  </a:lnTo>
                  <a:lnTo>
                    <a:pt x="704342" y="44703"/>
                  </a:lnTo>
                  <a:lnTo>
                    <a:pt x="700839" y="27271"/>
                  </a:lnTo>
                  <a:lnTo>
                    <a:pt x="691276" y="13065"/>
                  </a:lnTo>
                  <a:lnTo>
                    <a:pt x="677070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904999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0" y="27271"/>
                  </a:lnTo>
                  <a:lnTo>
                    <a:pt x="13112" y="13065"/>
                  </a:lnTo>
                  <a:lnTo>
                    <a:pt x="27324" y="350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70" y="3502"/>
                  </a:lnTo>
                  <a:lnTo>
                    <a:pt x="691276" y="13065"/>
                  </a:lnTo>
                  <a:lnTo>
                    <a:pt x="700839" y="27271"/>
                  </a:lnTo>
                  <a:lnTo>
                    <a:pt x="704342" y="44703"/>
                  </a:lnTo>
                  <a:lnTo>
                    <a:pt x="704342" y="402463"/>
                  </a:lnTo>
                  <a:lnTo>
                    <a:pt x="700839" y="419915"/>
                  </a:lnTo>
                  <a:lnTo>
                    <a:pt x="691276" y="434165"/>
                  </a:lnTo>
                  <a:lnTo>
                    <a:pt x="677070" y="44377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324" y="443771"/>
                  </a:lnTo>
                  <a:lnTo>
                    <a:pt x="13112" y="434165"/>
                  </a:lnTo>
                  <a:lnTo>
                    <a:pt x="3520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994154" y="3037712"/>
            <a:ext cx="525145" cy="31496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 marR="5080" indent="86360">
              <a:lnSpc>
                <a:spcPts val="1080"/>
              </a:lnSpc>
              <a:spcBef>
                <a:spcPts val="229"/>
              </a:spcBef>
            </a:pPr>
            <a:r>
              <a:rPr sz="1000" spc="50" dirty="0">
                <a:latin typeface="Cambria"/>
                <a:cs typeface="Cambria"/>
              </a:rPr>
              <a:t>Right </a:t>
            </a:r>
            <a:r>
              <a:rPr sz="1000" spc="55" dirty="0">
                <a:latin typeface="Cambria"/>
                <a:cs typeface="Cambria"/>
              </a:rPr>
              <a:t> </a:t>
            </a:r>
            <a:r>
              <a:rPr sz="1000" spc="65" dirty="0">
                <a:latin typeface="Cambria"/>
                <a:cs typeface="Cambria"/>
              </a:rPr>
              <a:t>T</a:t>
            </a:r>
            <a:r>
              <a:rPr sz="1000" spc="40" dirty="0">
                <a:latin typeface="Cambria"/>
                <a:cs typeface="Cambria"/>
              </a:rPr>
              <a:t>rian</a:t>
            </a:r>
            <a:r>
              <a:rPr sz="1000" spc="50" dirty="0">
                <a:latin typeface="Cambria"/>
                <a:cs typeface="Cambria"/>
              </a:rPr>
              <a:t>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675001" y="2893186"/>
            <a:ext cx="808355" cy="547370"/>
            <a:chOff x="2675001" y="2893186"/>
            <a:chExt cx="808355" cy="547370"/>
          </a:xfrm>
        </p:grpSpPr>
        <p:sp>
          <p:nvSpPr>
            <p:cNvPr id="26" name="object 26"/>
            <p:cNvSpPr/>
            <p:nvPr/>
          </p:nvSpPr>
          <p:spPr>
            <a:xfrm>
              <a:off x="2687701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271" y="3520"/>
                  </a:lnTo>
                  <a:lnTo>
                    <a:pt x="13065" y="13112"/>
                  </a:lnTo>
                  <a:lnTo>
                    <a:pt x="3502" y="27324"/>
                  </a:lnTo>
                  <a:lnTo>
                    <a:pt x="0" y="44703"/>
                  </a:lnTo>
                  <a:lnTo>
                    <a:pt x="0" y="402589"/>
                  </a:lnTo>
                  <a:lnTo>
                    <a:pt x="3502" y="420022"/>
                  </a:lnTo>
                  <a:lnTo>
                    <a:pt x="13065" y="434228"/>
                  </a:lnTo>
                  <a:lnTo>
                    <a:pt x="27271" y="44379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17" y="443791"/>
                  </a:lnTo>
                  <a:lnTo>
                    <a:pt x="691229" y="434228"/>
                  </a:lnTo>
                  <a:lnTo>
                    <a:pt x="700821" y="420022"/>
                  </a:lnTo>
                  <a:lnTo>
                    <a:pt x="704341" y="402589"/>
                  </a:lnTo>
                  <a:lnTo>
                    <a:pt x="704341" y="44703"/>
                  </a:lnTo>
                  <a:lnTo>
                    <a:pt x="700821" y="27324"/>
                  </a:lnTo>
                  <a:lnTo>
                    <a:pt x="691229" y="13112"/>
                  </a:lnTo>
                  <a:lnTo>
                    <a:pt x="677017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687701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324"/>
                  </a:lnTo>
                  <a:lnTo>
                    <a:pt x="13065" y="13112"/>
                  </a:lnTo>
                  <a:lnTo>
                    <a:pt x="27271" y="3520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17" y="3520"/>
                  </a:lnTo>
                  <a:lnTo>
                    <a:pt x="691229" y="13112"/>
                  </a:lnTo>
                  <a:lnTo>
                    <a:pt x="700821" y="27324"/>
                  </a:lnTo>
                  <a:lnTo>
                    <a:pt x="704341" y="44703"/>
                  </a:lnTo>
                  <a:lnTo>
                    <a:pt x="704341" y="402589"/>
                  </a:lnTo>
                  <a:lnTo>
                    <a:pt x="700821" y="420022"/>
                  </a:lnTo>
                  <a:lnTo>
                    <a:pt x="691229" y="434228"/>
                  </a:lnTo>
                  <a:lnTo>
                    <a:pt x="677017" y="44379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271" y="443791"/>
                  </a:lnTo>
                  <a:lnTo>
                    <a:pt x="13065" y="434228"/>
                  </a:lnTo>
                  <a:lnTo>
                    <a:pt x="3502" y="420022"/>
                  </a:lnTo>
                  <a:lnTo>
                    <a:pt x="0" y="402589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2765933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324" y="3502"/>
                  </a:lnTo>
                  <a:lnTo>
                    <a:pt x="13112" y="13065"/>
                  </a:lnTo>
                  <a:lnTo>
                    <a:pt x="3520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20" y="419915"/>
                  </a:lnTo>
                  <a:lnTo>
                    <a:pt x="13112" y="434165"/>
                  </a:lnTo>
                  <a:lnTo>
                    <a:pt x="27324" y="44377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70" y="443771"/>
                  </a:lnTo>
                  <a:lnTo>
                    <a:pt x="691276" y="434165"/>
                  </a:lnTo>
                  <a:lnTo>
                    <a:pt x="700839" y="419915"/>
                  </a:lnTo>
                  <a:lnTo>
                    <a:pt x="704342" y="402463"/>
                  </a:lnTo>
                  <a:lnTo>
                    <a:pt x="704342" y="44703"/>
                  </a:lnTo>
                  <a:lnTo>
                    <a:pt x="700839" y="27271"/>
                  </a:lnTo>
                  <a:lnTo>
                    <a:pt x="691276" y="13065"/>
                  </a:lnTo>
                  <a:lnTo>
                    <a:pt x="677070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765933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0" y="27271"/>
                  </a:lnTo>
                  <a:lnTo>
                    <a:pt x="13112" y="13065"/>
                  </a:lnTo>
                  <a:lnTo>
                    <a:pt x="27324" y="350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70" y="3502"/>
                  </a:lnTo>
                  <a:lnTo>
                    <a:pt x="691276" y="13065"/>
                  </a:lnTo>
                  <a:lnTo>
                    <a:pt x="700839" y="27271"/>
                  </a:lnTo>
                  <a:lnTo>
                    <a:pt x="704342" y="44703"/>
                  </a:lnTo>
                  <a:lnTo>
                    <a:pt x="704342" y="402463"/>
                  </a:lnTo>
                  <a:lnTo>
                    <a:pt x="700839" y="419915"/>
                  </a:lnTo>
                  <a:lnTo>
                    <a:pt x="691276" y="434165"/>
                  </a:lnTo>
                  <a:lnTo>
                    <a:pt x="677070" y="44377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324" y="443771"/>
                  </a:lnTo>
                  <a:lnTo>
                    <a:pt x="13112" y="434165"/>
                  </a:lnTo>
                  <a:lnTo>
                    <a:pt x="3520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849117" y="3037712"/>
            <a:ext cx="539750" cy="31496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8415" marR="5080" indent="-6350">
              <a:lnSpc>
                <a:spcPts val="1080"/>
              </a:lnSpc>
              <a:spcBef>
                <a:spcPts val="229"/>
              </a:spcBef>
            </a:pPr>
            <a:r>
              <a:rPr sz="1000" spc="15" dirty="0">
                <a:latin typeface="Cambria"/>
                <a:cs typeface="Cambria"/>
              </a:rPr>
              <a:t>Is</a:t>
            </a:r>
            <a:r>
              <a:rPr sz="1000" spc="30" dirty="0">
                <a:latin typeface="Cambria"/>
                <a:cs typeface="Cambria"/>
              </a:rPr>
              <a:t>o</a:t>
            </a:r>
            <a:r>
              <a:rPr sz="1000" spc="25" dirty="0">
                <a:latin typeface="Cambria"/>
                <a:cs typeface="Cambria"/>
              </a:rPr>
              <a:t>s</a:t>
            </a:r>
            <a:r>
              <a:rPr sz="1000" spc="5" dirty="0">
                <a:latin typeface="Cambria"/>
                <a:cs typeface="Cambria"/>
              </a:rPr>
              <a:t>c</a:t>
            </a:r>
            <a:r>
              <a:rPr sz="1000" spc="10" dirty="0">
                <a:latin typeface="Cambria"/>
                <a:cs typeface="Cambria"/>
              </a:rPr>
              <a:t>e</a:t>
            </a:r>
            <a:r>
              <a:rPr sz="1000" spc="25" dirty="0">
                <a:latin typeface="Cambria"/>
                <a:cs typeface="Cambria"/>
              </a:rPr>
              <a:t>le</a:t>
            </a:r>
            <a:r>
              <a:rPr sz="1000" spc="20" dirty="0">
                <a:latin typeface="Cambria"/>
                <a:cs typeface="Cambria"/>
              </a:rPr>
              <a:t>s  </a:t>
            </a:r>
            <a:r>
              <a:rPr sz="1000" spc="65" dirty="0">
                <a:latin typeface="Cambria"/>
                <a:cs typeface="Cambria"/>
              </a:rPr>
              <a:t>T</a:t>
            </a:r>
            <a:r>
              <a:rPr sz="1000" spc="40" dirty="0">
                <a:latin typeface="Cambria"/>
                <a:cs typeface="Cambria"/>
              </a:rPr>
              <a:t>rian</a:t>
            </a:r>
            <a:r>
              <a:rPr sz="1000" spc="50" dirty="0">
                <a:latin typeface="Cambria"/>
                <a:cs typeface="Cambria"/>
              </a:rPr>
              <a:t>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3624198" y="2894710"/>
            <a:ext cx="808355" cy="547370"/>
            <a:chOff x="3624198" y="2894710"/>
            <a:chExt cx="808355" cy="547370"/>
          </a:xfrm>
        </p:grpSpPr>
        <p:sp>
          <p:nvSpPr>
            <p:cNvPr id="32" name="object 32"/>
            <p:cNvSpPr/>
            <p:nvPr/>
          </p:nvSpPr>
          <p:spPr>
            <a:xfrm>
              <a:off x="3636898" y="2907410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764" y="0"/>
                  </a:moveTo>
                  <a:lnTo>
                    <a:pt x="44830" y="0"/>
                  </a:lnTo>
                  <a:lnTo>
                    <a:pt x="27378" y="3502"/>
                  </a:lnTo>
                  <a:lnTo>
                    <a:pt x="13128" y="13065"/>
                  </a:lnTo>
                  <a:lnTo>
                    <a:pt x="3522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22" y="419915"/>
                  </a:lnTo>
                  <a:lnTo>
                    <a:pt x="13128" y="434165"/>
                  </a:lnTo>
                  <a:lnTo>
                    <a:pt x="27378" y="443771"/>
                  </a:lnTo>
                  <a:lnTo>
                    <a:pt x="44830" y="447293"/>
                  </a:lnTo>
                  <a:lnTo>
                    <a:pt x="659764" y="447293"/>
                  </a:lnTo>
                  <a:lnTo>
                    <a:pt x="677144" y="443771"/>
                  </a:lnTo>
                  <a:lnTo>
                    <a:pt x="691356" y="434165"/>
                  </a:lnTo>
                  <a:lnTo>
                    <a:pt x="700948" y="419915"/>
                  </a:lnTo>
                  <a:lnTo>
                    <a:pt x="704468" y="402463"/>
                  </a:lnTo>
                  <a:lnTo>
                    <a:pt x="704468" y="44703"/>
                  </a:lnTo>
                  <a:lnTo>
                    <a:pt x="700948" y="27271"/>
                  </a:lnTo>
                  <a:lnTo>
                    <a:pt x="691356" y="13065"/>
                  </a:lnTo>
                  <a:lnTo>
                    <a:pt x="677144" y="3502"/>
                  </a:lnTo>
                  <a:lnTo>
                    <a:pt x="65976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3636898" y="2907410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2" y="27271"/>
                  </a:lnTo>
                  <a:lnTo>
                    <a:pt x="13128" y="13065"/>
                  </a:lnTo>
                  <a:lnTo>
                    <a:pt x="27378" y="3502"/>
                  </a:lnTo>
                  <a:lnTo>
                    <a:pt x="44830" y="0"/>
                  </a:lnTo>
                  <a:lnTo>
                    <a:pt x="659764" y="0"/>
                  </a:lnTo>
                  <a:lnTo>
                    <a:pt x="677144" y="3502"/>
                  </a:lnTo>
                  <a:lnTo>
                    <a:pt x="691356" y="13065"/>
                  </a:lnTo>
                  <a:lnTo>
                    <a:pt x="700948" y="27271"/>
                  </a:lnTo>
                  <a:lnTo>
                    <a:pt x="704468" y="44703"/>
                  </a:lnTo>
                  <a:lnTo>
                    <a:pt x="704468" y="402463"/>
                  </a:lnTo>
                  <a:lnTo>
                    <a:pt x="700948" y="419915"/>
                  </a:lnTo>
                  <a:lnTo>
                    <a:pt x="691356" y="434165"/>
                  </a:lnTo>
                  <a:lnTo>
                    <a:pt x="677144" y="443771"/>
                  </a:lnTo>
                  <a:lnTo>
                    <a:pt x="659764" y="447293"/>
                  </a:lnTo>
                  <a:lnTo>
                    <a:pt x="44830" y="447293"/>
                  </a:lnTo>
                  <a:lnTo>
                    <a:pt x="27378" y="443771"/>
                  </a:lnTo>
                  <a:lnTo>
                    <a:pt x="13128" y="434165"/>
                  </a:lnTo>
                  <a:lnTo>
                    <a:pt x="3522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715257" y="2981705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3" y="0"/>
                  </a:lnTo>
                  <a:lnTo>
                    <a:pt x="27271" y="3520"/>
                  </a:lnTo>
                  <a:lnTo>
                    <a:pt x="13065" y="13112"/>
                  </a:lnTo>
                  <a:lnTo>
                    <a:pt x="3502" y="27324"/>
                  </a:lnTo>
                  <a:lnTo>
                    <a:pt x="0" y="44704"/>
                  </a:lnTo>
                  <a:lnTo>
                    <a:pt x="0" y="402590"/>
                  </a:lnTo>
                  <a:lnTo>
                    <a:pt x="3502" y="419969"/>
                  </a:lnTo>
                  <a:lnTo>
                    <a:pt x="13065" y="434181"/>
                  </a:lnTo>
                  <a:lnTo>
                    <a:pt x="27271" y="443773"/>
                  </a:lnTo>
                  <a:lnTo>
                    <a:pt x="44703" y="447294"/>
                  </a:lnTo>
                  <a:lnTo>
                    <a:pt x="659638" y="447294"/>
                  </a:lnTo>
                  <a:lnTo>
                    <a:pt x="677017" y="443773"/>
                  </a:lnTo>
                  <a:lnTo>
                    <a:pt x="691229" y="434181"/>
                  </a:lnTo>
                  <a:lnTo>
                    <a:pt x="700821" y="419969"/>
                  </a:lnTo>
                  <a:lnTo>
                    <a:pt x="704341" y="402590"/>
                  </a:lnTo>
                  <a:lnTo>
                    <a:pt x="704341" y="44704"/>
                  </a:lnTo>
                  <a:lnTo>
                    <a:pt x="700821" y="27324"/>
                  </a:lnTo>
                  <a:lnTo>
                    <a:pt x="691229" y="13112"/>
                  </a:lnTo>
                  <a:lnTo>
                    <a:pt x="677017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715257" y="2981705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4"/>
                  </a:moveTo>
                  <a:lnTo>
                    <a:pt x="3502" y="27324"/>
                  </a:lnTo>
                  <a:lnTo>
                    <a:pt x="13065" y="13112"/>
                  </a:lnTo>
                  <a:lnTo>
                    <a:pt x="27271" y="3520"/>
                  </a:lnTo>
                  <a:lnTo>
                    <a:pt x="44703" y="0"/>
                  </a:lnTo>
                  <a:lnTo>
                    <a:pt x="659638" y="0"/>
                  </a:lnTo>
                  <a:lnTo>
                    <a:pt x="677017" y="3520"/>
                  </a:lnTo>
                  <a:lnTo>
                    <a:pt x="691229" y="13112"/>
                  </a:lnTo>
                  <a:lnTo>
                    <a:pt x="700821" y="27324"/>
                  </a:lnTo>
                  <a:lnTo>
                    <a:pt x="704341" y="44704"/>
                  </a:lnTo>
                  <a:lnTo>
                    <a:pt x="704341" y="402590"/>
                  </a:lnTo>
                  <a:lnTo>
                    <a:pt x="700821" y="419969"/>
                  </a:lnTo>
                  <a:lnTo>
                    <a:pt x="691229" y="434181"/>
                  </a:lnTo>
                  <a:lnTo>
                    <a:pt x="677017" y="443773"/>
                  </a:lnTo>
                  <a:lnTo>
                    <a:pt x="659638" y="447294"/>
                  </a:lnTo>
                  <a:lnTo>
                    <a:pt x="44703" y="447294"/>
                  </a:lnTo>
                  <a:lnTo>
                    <a:pt x="27271" y="443773"/>
                  </a:lnTo>
                  <a:lnTo>
                    <a:pt x="13065" y="434181"/>
                  </a:lnTo>
                  <a:lnTo>
                    <a:pt x="3502" y="419969"/>
                  </a:lnTo>
                  <a:lnTo>
                    <a:pt x="0" y="402590"/>
                  </a:lnTo>
                  <a:lnTo>
                    <a:pt x="0" y="4470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3804665" y="3039236"/>
            <a:ext cx="525145" cy="31496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2700" marR="5080" indent="80645">
              <a:lnSpc>
                <a:spcPts val="1080"/>
              </a:lnSpc>
              <a:spcBef>
                <a:spcPts val="229"/>
              </a:spcBef>
            </a:pPr>
            <a:r>
              <a:rPr sz="1000" spc="35" dirty="0">
                <a:latin typeface="Cambria"/>
                <a:cs typeface="Cambria"/>
              </a:rPr>
              <a:t>Acute </a:t>
            </a:r>
            <a:r>
              <a:rPr sz="1000" spc="40" dirty="0">
                <a:latin typeface="Cambria"/>
                <a:cs typeface="Cambria"/>
              </a:rPr>
              <a:t> </a:t>
            </a:r>
            <a:r>
              <a:rPr sz="1000" spc="65" dirty="0">
                <a:latin typeface="Cambria"/>
                <a:cs typeface="Cambria"/>
              </a:rPr>
              <a:t>T</a:t>
            </a:r>
            <a:r>
              <a:rPr sz="1000" spc="40" dirty="0">
                <a:latin typeface="Cambria"/>
                <a:cs typeface="Cambria"/>
              </a:rPr>
              <a:t>rian</a:t>
            </a:r>
            <a:r>
              <a:rPr sz="1000" spc="50" dirty="0">
                <a:latin typeface="Cambria"/>
                <a:cs typeface="Cambria"/>
              </a:rPr>
              <a:t>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5986398" y="2241042"/>
            <a:ext cx="808355" cy="547370"/>
            <a:chOff x="5986398" y="2241042"/>
            <a:chExt cx="808355" cy="547370"/>
          </a:xfrm>
        </p:grpSpPr>
        <p:sp>
          <p:nvSpPr>
            <p:cNvPr id="38" name="object 38"/>
            <p:cNvSpPr/>
            <p:nvPr/>
          </p:nvSpPr>
          <p:spPr>
            <a:xfrm>
              <a:off x="5999098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765" y="0"/>
                  </a:moveTo>
                  <a:lnTo>
                    <a:pt x="44830" y="0"/>
                  </a:lnTo>
                  <a:lnTo>
                    <a:pt x="27378" y="3520"/>
                  </a:lnTo>
                  <a:lnTo>
                    <a:pt x="13128" y="13112"/>
                  </a:lnTo>
                  <a:lnTo>
                    <a:pt x="3522" y="27324"/>
                  </a:lnTo>
                  <a:lnTo>
                    <a:pt x="0" y="44704"/>
                  </a:lnTo>
                  <a:lnTo>
                    <a:pt x="0" y="402590"/>
                  </a:lnTo>
                  <a:lnTo>
                    <a:pt x="3522" y="420022"/>
                  </a:lnTo>
                  <a:lnTo>
                    <a:pt x="13128" y="434228"/>
                  </a:lnTo>
                  <a:lnTo>
                    <a:pt x="27378" y="443791"/>
                  </a:lnTo>
                  <a:lnTo>
                    <a:pt x="44830" y="447294"/>
                  </a:lnTo>
                  <a:lnTo>
                    <a:pt x="659765" y="447294"/>
                  </a:lnTo>
                  <a:lnTo>
                    <a:pt x="677144" y="443791"/>
                  </a:lnTo>
                  <a:lnTo>
                    <a:pt x="691356" y="434228"/>
                  </a:lnTo>
                  <a:lnTo>
                    <a:pt x="700948" y="420022"/>
                  </a:lnTo>
                  <a:lnTo>
                    <a:pt x="704469" y="402590"/>
                  </a:lnTo>
                  <a:lnTo>
                    <a:pt x="704469" y="44704"/>
                  </a:lnTo>
                  <a:lnTo>
                    <a:pt x="700948" y="27324"/>
                  </a:lnTo>
                  <a:lnTo>
                    <a:pt x="691356" y="13112"/>
                  </a:lnTo>
                  <a:lnTo>
                    <a:pt x="677144" y="3520"/>
                  </a:lnTo>
                  <a:lnTo>
                    <a:pt x="65976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999098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4"/>
                  </a:moveTo>
                  <a:lnTo>
                    <a:pt x="3522" y="27324"/>
                  </a:lnTo>
                  <a:lnTo>
                    <a:pt x="13128" y="13112"/>
                  </a:lnTo>
                  <a:lnTo>
                    <a:pt x="27378" y="3520"/>
                  </a:lnTo>
                  <a:lnTo>
                    <a:pt x="44830" y="0"/>
                  </a:lnTo>
                  <a:lnTo>
                    <a:pt x="659765" y="0"/>
                  </a:lnTo>
                  <a:lnTo>
                    <a:pt x="677144" y="3520"/>
                  </a:lnTo>
                  <a:lnTo>
                    <a:pt x="691356" y="13112"/>
                  </a:lnTo>
                  <a:lnTo>
                    <a:pt x="700948" y="27324"/>
                  </a:lnTo>
                  <a:lnTo>
                    <a:pt x="704469" y="44704"/>
                  </a:lnTo>
                  <a:lnTo>
                    <a:pt x="704469" y="402590"/>
                  </a:lnTo>
                  <a:lnTo>
                    <a:pt x="700948" y="420022"/>
                  </a:lnTo>
                  <a:lnTo>
                    <a:pt x="691356" y="434228"/>
                  </a:lnTo>
                  <a:lnTo>
                    <a:pt x="677144" y="443791"/>
                  </a:lnTo>
                  <a:lnTo>
                    <a:pt x="659765" y="447294"/>
                  </a:lnTo>
                  <a:lnTo>
                    <a:pt x="44830" y="447294"/>
                  </a:lnTo>
                  <a:lnTo>
                    <a:pt x="27378" y="443791"/>
                  </a:lnTo>
                  <a:lnTo>
                    <a:pt x="13128" y="434228"/>
                  </a:lnTo>
                  <a:lnTo>
                    <a:pt x="3522" y="420022"/>
                  </a:lnTo>
                  <a:lnTo>
                    <a:pt x="0" y="402590"/>
                  </a:lnTo>
                  <a:lnTo>
                    <a:pt x="0" y="44704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6077457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3" y="0"/>
                  </a:lnTo>
                  <a:lnTo>
                    <a:pt x="27271" y="3502"/>
                  </a:lnTo>
                  <a:lnTo>
                    <a:pt x="13065" y="13065"/>
                  </a:lnTo>
                  <a:lnTo>
                    <a:pt x="3502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02" y="419915"/>
                  </a:lnTo>
                  <a:lnTo>
                    <a:pt x="13065" y="434165"/>
                  </a:lnTo>
                  <a:lnTo>
                    <a:pt x="27271" y="443771"/>
                  </a:lnTo>
                  <a:lnTo>
                    <a:pt x="44703" y="447294"/>
                  </a:lnTo>
                  <a:lnTo>
                    <a:pt x="659638" y="447294"/>
                  </a:lnTo>
                  <a:lnTo>
                    <a:pt x="677017" y="443771"/>
                  </a:lnTo>
                  <a:lnTo>
                    <a:pt x="691229" y="434165"/>
                  </a:lnTo>
                  <a:lnTo>
                    <a:pt x="700821" y="419915"/>
                  </a:lnTo>
                  <a:lnTo>
                    <a:pt x="704341" y="402463"/>
                  </a:lnTo>
                  <a:lnTo>
                    <a:pt x="704341" y="44703"/>
                  </a:lnTo>
                  <a:lnTo>
                    <a:pt x="700821" y="27271"/>
                  </a:lnTo>
                  <a:lnTo>
                    <a:pt x="691229" y="13065"/>
                  </a:lnTo>
                  <a:lnTo>
                    <a:pt x="677017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077457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271"/>
                  </a:lnTo>
                  <a:lnTo>
                    <a:pt x="13065" y="13065"/>
                  </a:lnTo>
                  <a:lnTo>
                    <a:pt x="27271" y="3502"/>
                  </a:lnTo>
                  <a:lnTo>
                    <a:pt x="44703" y="0"/>
                  </a:lnTo>
                  <a:lnTo>
                    <a:pt x="659638" y="0"/>
                  </a:lnTo>
                  <a:lnTo>
                    <a:pt x="677017" y="3502"/>
                  </a:lnTo>
                  <a:lnTo>
                    <a:pt x="691229" y="13065"/>
                  </a:lnTo>
                  <a:lnTo>
                    <a:pt x="700821" y="27271"/>
                  </a:lnTo>
                  <a:lnTo>
                    <a:pt x="704341" y="44703"/>
                  </a:lnTo>
                  <a:lnTo>
                    <a:pt x="704341" y="402463"/>
                  </a:lnTo>
                  <a:lnTo>
                    <a:pt x="700821" y="419915"/>
                  </a:lnTo>
                  <a:lnTo>
                    <a:pt x="691229" y="434165"/>
                  </a:lnTo>
                  <a:lnTo>
                    <a:pt x="677017" y="443771"/>
                  </a:lnTo>
                  <a:lnTo>
                    <a:pt x="659638" y="447294"/>
                  </a:lnTo>
                  <a:lnTo>
                    <a:pt x="44703" y="447294"/>
                  </a:lnTo>
                  <a:lnTo>
                    <a:pt x="27271" y="443771"/>
                  </a:lnTo>
                  <a:lnTo>
                    <a:pt x="13065" y="434165"/>
                  </a:lnTo>
                  <a:lnTo>
                    <a:pt x="3502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6127496" y="2454097"/>
            <a:ext cx="6057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55" dirty="0">
                <a:latin typeface="Cambria"/>
                <a:cs typeface="Cambria"/>
              </a:rPr>
              <a:t>R</a:t>
            </a:r>
            <a:r>
              <a:rPr sz="1000" spc="45" dirty="0">
                <a:latin typeface="Cambria"/>
                <a:cs typeface="Cambria"/>
              </a:rPr>
              <a:t>e</a:t>
            </a:r>
            <a:r>
              <a:rPr sz="1000" spc="25" dirty="0">
                <a:latin typeface="Cambria"/>
                <a:cs typeface="Cambria"/>
              </a:rPr>
              <a:t>c</a:t>
            </a:r>
            <a:r>
              <a:rPr sz="1000" spc="15" dirty="0">
                <a:latin typeface="Cambria"/>
                <a:cs typeface="Cambria"/>
              </a:rPr>
              <a:t>t</a:t>
            </a:r>
            <a:r>
              <a:rPr sz="1000" spc="60" dirty="0">
                <a:latin typeface="Cambria"/>
                <a:cs typeface="Cambria"/>
              </a:rPr>
              <a:t>a</a:t>
            </a:r>
            <a:r>
              <a:rPr sz="1000" spc="45" dirty="0">
                <a:latin typeface="Cambria"/>
                <a:cs typeface="Cambria"/>
              </a:rPr>
              <a:t>ng</a:t>
            </a:r>
            <a:r>
              <a:rPr sz="1000" spc="25" dirty="0">
                <a:latin typeface="Cambria"/>
                <a:cs typeface="Cambria"/>
              </a:rPr>
              <a:t>le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4614798" y="2241042"/>
            <a:ext cx="808355" cy="547370"/>
            <a:chOff x="4614798" y="2241042"/>
            <a:chExt cx="808355" cy="547370"/>
          </a:xfrm>
        </p:grpSpPr>
        <p:sp>
          <p:nvSpPr>
            <p:cNvPr id="44" name="object 44"/>
            <p:cNvSpPr/>
            <p:nvPr/>
          </p:nvSpPr>
          <p:spPr>
            <a:xfrm>
              <a:off x="4627498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764" y="0"/>
                  </a:moveTo>
                  <a:lnTo>
                    <a:pt x="44830" y="0"/>
                  </a:lnTo>
                  <a:lnTo>
                    <a:pt x="27378" y="3520"/>
                  </a:lnTo>
                  <a:lnTo>
                    <a:pt x="13128" y="13112"/>
                  </a:lnTo>
                  <a:lnTo>
                    <a:pt x="3522" y="27324"/>
                  </a:lnTo>
                  <a:lnTo>
                    <a:pt x="0" y="44704"/>
                  </a:lnTo>
                  <a:lnTo>
                    <a:pt x="0" y="402590"/>
                  </a:lnTo>
                  <a:lnTo>
                    <a:pt x="3522" y="420022"/>
                  </a:lnTo>
                  <a:lnTo>
                    <a:pt x="13128" y="434228"/>
                  </a:lnTo>
                  <a:lnTo>
                    <a:pt x="27378" y="443791"/>
                  </a:lnTo>
                  <a:lnTo>
                    <a:pt x="44830" y="447294"/>
                  </a:lnTo>
                  <a:lnTo>
                    <a:pt x="659764" y="447294"/>
                  </a:lnTo>
                  <a:lnTo>
                    <a:pt x="677144" y="443791"/>
                  </a:lnTo>
                  <a:lnTo>
                    <a:pt x="691356" y="434228"/>
                  </a:lnTo>
                  <a:lnTo>
                    <a:pt x="700948" y="420022"/>
                  </a:lnTo>
                  <a:lnTo>
                    <a:pt x="704468" y="402590"/>
                  </a:lnTo>
                  <a:lnTo>
                    <a:pt x="704468" y="44704"/>
                  </a:lnTo>
                  <a:lnTo>
                    <a:pt x="700948" y="27324"/>
                  </a:lnTo>
                  <a:lnTo>
                    <a:pt x="691356" y="13112"/>
                  </a:lnTo>
                  <a:lnTo>
                    <a:pt x="677144" y="3520"/>
                  </a:lnTo>
                  <a:lnTo>
                    <a:pt x="659764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627498" y="2253742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4"/>
                  </a:moveTo>
                  <a:lnTo>
                    <a:pt x="3522" y="27324"/>
                  </a:lnTo>
                  <a:lnTo>
                    <a:pt x="13128" y="13112"/>
                  </a:lnTo>
                  <a:lnTo>
                    <a:pt x="27378" y="3520"/>
                  </a:lnTo>
                  <a:lnTo>
                    <a:pt x="44830" y="0"/>
                  </a:lnTo>
                  <a:lnTo>
                    <a:pt x="659764" y="0"/>
                  </a:lnTo>
                  <a:lnTo>
                    <a:pt x="677144" y="3520"/>
                  </a:lnTo>
                  <a:lnTo>
                    <a:pt x="691356" y="13112"/>
                  </a:lnTo>
                  <a:lnTo>
                    <a:pt x="700948" y="27324"/>
                  </a:lnTo>
                  <a:lnTo>
                    <a:pt x="704468" y="44704"/>
                  </a:lnTo>
                  <a:lnTo>
                    <a:pt x="704468" y="402590"/>
                  </a:lnTo>
                  <a:lnTo>
                    <a:pt x="700948" y="420022"/>
                  </a:lnTo>
                  <a:lnTo>
                    <a:pt x="691356" y="434228"/>
                  </a:lnTo>
                  <a:lnTo>
                    <a:pt x="677144" y="443791"/>
                  </a:lnTo>
                  <a:lnTo>
                    <a:pt x="659764" y="447294"/>
                  </a:lnTo>
                  <a:lnTo>
                    <a:pt x="44830" y="447294"/>
                  </a:lnTo>
                  <a:lnTo>
                    <a:pt x="27378" y="443791"/>
                  </a:lnTo>
                  <a:lnTo>
                    <a:pt x="13128" y="434228"/>
                  </a:lnTo>
                  <a:lnTo>
                    <a:pt x="3522" y="420022"/>
                  </a:lnTo>
                  <a:lnTo>
                    <a:pt x="0" y="402590"/>
                  </a:lnTo>
                  <a:lnTo>
                    <a:pt x="0" y="4470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705857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3" y="0"/>
                  </a:lnTo>
                  <a:lnTo>
                    <a:pt x="27271" y="3502"/>
                  </a:lnTo>
                  <a:lnTo>
                    <a:pt x="13065" y="13065"/>
                  </a:lnTo>
                  <a:lnTo>
                    <a:pt x="3502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02" y="419915"/>
                  </a:lnTo>
                  <a:lnTo>
                    <a:pt x="13065" y="434165"/>
                  </a:lnTo>
                  <a:lnTo>
                    <a:pt x="27271" y="443771"/>
                  </a:lnTo>
                  <a:lnTo>
                    <a:pt x="44703" y="447294"/>
                  </a:lnTo>
                  <a:lnTo>
                    <a:pt x="659638" y="447294"/>
                  </a:lnTo>
                  <a:lnTo>
                    <a:pt x="677017" y="443771"/>
                  </a:lnTo>
                  <a:lnTo>
                    <a:pt x="691229" y="434165"/>
                  </a:lnTo>
                  <a:lnTo>
                    <a:pt x="700821" y="419915"/>
                  </a:lnTo>
                  <a:lnTo>
                    <a:pt x="704341" y="402463"/>
                  </a:lnTo>
                  <a:lnTo>
                    <a:pt x="704341" y="44703"/>
                  </a:lnTo>
                  <a:lnTo>
                    <a:pt x="700821" y="27271"/>
                  </a:lnTo>
                  <a:lnTo>
                    <a:pt x="691229" y="13065"/>
                  </a:lnTo>
                  <a:lnTo>
                    <a:pt x="677017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705857" y="2328164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271"/>
                  </a:lnTo>
                  <a:lnTo>
                    <a:pt x="13065" y="13065"/>
                  </a:lnTo>
                  <a:lnTo>
                    <a:pt x="27271" y="3502"/>
                  </a:lnTo>
                  <a:lnTo>
                    <a:pt x="44703" y="0"/>
                  </a:lnTo>
                  <a:lnTo>
                    <a:pt x="659638" y="0"/>
                  </a:lnTo>
                  <a:lnTo>
                    <a:pt x="677017" y="3502"/>
                  </a:lnTo>
                  <a:lnTo>
                    <a:pt x="691229" y="13065"/>
                  </a:lnTo>
                  <a:lnTo>
                    <a:pt x="700821" y="27271"/>
                  </a:lnTo>
                  <a:lnTo>
                    <a:pt x="704341" y="44703"/>
                  </a:lnTo>
                  <a:lnTo>
                    <a:pt x="704341" y="402463"/>
                  </a:lnTo>
                  <a:lnTo>
                    <a:pt x="700821" y="419915"/>
                  </a:lnTo>
                  <a:lnTo>
                    <a:pt x="691229" y="434165"/>
                  </a:lnTo>
                  <a:lnTo>
                    <a:pt x="677017" y="443771"/>
                  </a:lnTo>
                  <a:lnTo>
                    <a:pt x="659638" y="447294"/>
                  </a:lnTo>
                  <a:lnTo>
                    <a:pt x="44703" y="447294"/>
                  </a:lnTo>
                  <a:lnTo>
                    <a:pt x="27271" y="443771"/>
                  </a:lnTo>
                  <a:lnTo>
                    <a:pt x="13065" y="434165"/>
                  </a:lnTo>
                  <a:lnTo>
                    <a:pt x="3502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4906771" y="2454097"/>
            <a:ext cx="3028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120" dirty="0">
                <a:latin typeface="Cambria"/>
                <a:cs typeface="Cambria"/>
              </a:rPr>
              <a:t>O</a:t>
            </a:r>
            <a:r>
              <a:rPr sz="1000" spc="30" dirty="0">
                <a:latin typeface="Cambria"/>
                <a:cs typeface="Cambria"/>
              </a:rPr>
              <a:t>v</a:t>
            </a:r>
            <a:r>
              <a:rPr sz="1000" spc="60" dirty="0">
                <a:latin typeface="Cambria"/>
                <a:cs typeface="Cambria"/>
              </a:rPr>
              <a:t>a</a:t>
            </a:r>
            <a:r>
              <a:rPr sz="1000" spc="40" dirty="0">
                <a:latin typeface="Cambria"/>
                <a:cs typeface="Cambria"/>
              </a:rPr>
              <a:t>l</a:t>
            </a:r>
            <a:endParaRPr sz="1000">
              <a:latin typeface="Cambria"/>
              <a:cs typeface="Cambria"/>
            </a:endParaRPr>
          </a:p>
        </p:txBody>
      </p:sp>
      <p:grpSp>
        <p:nvGrpSpPr>
          <p:cNvPr id="49" name="object 49"/>
          <p:cNvGrpSpPr/>
          <p:nvPr/>
        </p:nvGrpSpPr>
        <p:grpSpPr>
          <a:xfrm>
            <a:off x="4611370" y="2893186"/>
            <a:ext cx="808355" cy="547370"/>
            <a:chOff x="4611370" y="2893186"/>
            <a:chExt cx="808355" cy="547370"/>
          </a:xfrm>
        </p:grpSpPr>
        <p:sp>
          <p:nvSpPr>
            <p:cNvPr id="50" name="object 50"/>
            <p:cNvSpPr/>
            <p:nvPr/>
          </p:nvSpPr>
          <p:spPr>
            <a:xfrm>
              <a:off x="4624070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3" y="0"/>
                  </a:lnTo>
                  <a:lnTo>
                    <a:pt x="27324" y="3520"/>
                  </a:lnTo>
                  <a:lnTo>
                    <a:pt x="13112" y="13112"/>
                  </a:lnTo>
                  <a:lnTo>
                    <a:pt x="3520" y="27324"/>
                  </a:lnTo>
                  <a:lnTo>
                    <a:pt x="0" y="44703"/>
                  </a:lnTo>
                  <a:lnTo>
                    <a:pt x="0" y="402589"/>
                  </a:lnTo>
                  <a:lnTo>
                    <a:pt x="3520" y="420022"/>
                  </a:lnTo>
                  <a:lnTo>
                    <a:pt x="13112" y="434228"/>
                  </a:lnTo>
                  <a:lnTo>
                    <a:pt x="27324" y="443791"/>
                  </a:lnTo>
                  <a:lnTo>
                    <a:pt x="44703" y="447293"/>
                  </a:lnTo>
                  <a:lnTo>
                    <a:pt x="659638" y="447293"/>
                  </a:lnTo>
                  <a:lnTo>
                    <a:pt x="677090" y="443791"/>
                  </a:lnTo>
                  <a:lnTo>
                    <a:pt x="691340" y="434228"/>
                  </a:lnTo>
                  <a:lnTo>
                    <a:pt x="700946" y="420022"/>
                  </a:lnTo>
                  <a:lnTo>
                    <a:pt x="704468" y="402589"/>
                  </a:lnTo>
                  <a:lnTo>
                    <a:pt x="704468" y="44703"/>
                  </a:lnTo>
                  <a:lnTo>
                    <a:pt x="700946" y="27324"/>
                  </a:lnTo>
                  <a:lnTo>
                    <a:pt x="691340" y="13112"/>
                  </a:lnTo>
                  <a:lnTo>
                    <a:pt x="677090" y="3520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624070" y="2905886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20" y="27324"/>
                  </a:lnTo>
                  <a:lnTo>
                    <a:pt x="13112" y="13112"/>
                  </a:lnTo>
                  <a:lnTo>
                    <a:pt x="27324" y="3520"/>
                  </a:lnTo>
                  <a:lnTo>
                    <a:pt x="44703" y="0"/>
                  </a:lnTo>
                  <a:lnTo>
                    <a:pt x="659638" y="0"/>
                  </a:lnTo>
                  <a:lnTo>
                    <a:pt x="677090" y="3520"/>
                  </a:lnTo>
                  <a:lnTo>
                    <a:pt x="691340" y="13112"/>
                  </a:lnTo>
                  <a:lnTo>
                    <a:pt x="700946" y="27324"/>
                  </a:lnTo>
                  <a:lnTo>
                    <a:pt x="704468" y="44703"/>
                  </a:lnTo>
                  <a:lnTo>
                    <a:pt x="704468" y="402589"/>
                  </a:lnTo>
                  <a:lnTo>
                    <a:pt x="700946" y="420022"/>
                  </a:lnTo>
                  <a:lnTo>
                    <a:pt x="691340" y="434228"/>
                  </a:lnTo>
                  <a:lnTo>
                    <a:pt x="677090" y="443791"/>
                  </a:lnTo>
                  <a:lnTo>
                    <a:pt x="659638" y="447293"/>
                  </a:lnTo>
                  <a:lnTo>
                    <a:pt x="44703" y="447293"/>
                  </a:lnTo>
                  <a:lnTo>
                    <a:pt x="27324" y="443791"/>
                  </a:lnTo>
                  <a:lnTo>
                    <a:pt x="13112" y="434228"/>
                  </a:lnTo>
                  <a:lnTo>
                    <a:pt x="3520" y="420022"/>
                  </a:lnTo>
                  <a:lnTo>
                    <a:pt x="0" y="402589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702429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659638" y="0"/>
                  </a:moveTo>
                  <a:lnTo>
                    <a:pt x="44704" y="0"/>
                  </a:lnTo>
                  <a:lnTo>
                    <a:pt x="27271" y="3502"/>
                  </a:lnTo>
                  <a:lnTo>
                    <a:pt x="13065" y="13065"/>
                  </a:lnTo>
                  <a:lnTo>
                    <a:pt x="3502" y="27271"/>
                  </a:lnTo>
                  <a:lnTo>
                    <a:pt x="0" y="44703"/>
                  </a:lnTo>
                  <a:lnTo>
                    <a:pt x="0" y="402463"/>
                  </a:lnTo>
                  <a:lnTo>
                    <a:pt x="3502" y="419915"/>
                  </a:lnTo>
                  <a:lnTo>
                    <a:pt x="13065" y="434165"/>
                  </a:lnTo>
                  <a:lnTo>
                    <a:pt x="27271" y="443771"/>
                  </a:lnTo>
                  <a:lnTo>
                    <a:pt x="44704" y="447293"/>
                  </a:lnTo>
                  <a:lnTo>
                    <a:pt x="659638" y="447293"/>
                  </a:lnTo>
                  <a:lnTo>
                    <a:pt x="677017" y="443771"/>
                  </a:lnTo>
                  <a:lnTo>
                    <a:pt x="691229" y="434165"/>
                  </a:lnTo>
                  <a:lnTo>
                    <a:pt x="700821" y="419915"/>
                  </a:lnTo>
                  <a:lnTo>
                    <a:pt x="704342" y="402463"/>
                  </a:lnTo>
                  <a:lnTo>
                    <a:pt x="704342" y="44703"/>
                  </a:lnTo>
                  <a:lnTo>
                    <a:pt x="700821" y="27271"/>
                  </a:lnTo>
                  <a:lnTo>
                    <a:pt x="691229" y="13065"/>
                  </a:lnTo>
                  <a:lnTo>
                    <a:pt x="677017" y="3502"/>
                  </a:lnTo>
                  <a:lnTo>
                    <a:pt x="659638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702429" y="2980308"/>
              <a:ext cx="704850" cy="447675"/>
            </a:xfrm>
            <a:custGeom>
              <a:avLst/>
              <a:gdLst/>
              <a:ahLst/>
              <a:cxnLst/>
              <a:rect l="l" t="t" r="r" b="b"/>
              <a:pathLst>
                <a:path w="704850" h="447675">
                  <a:moveTo>
                    <a:pt x="0" y="44703"/>
                  </a:moveTo>
                  <a:lnTo>
                    <a:pt x="3502" y="27271"/>
                  </a:lnTo>
                  <a:lnTo>
                    <a:pt x="13065" y="13065"/>
                  </a:lnTo>
                  <a:lnTo>
                    <a:pt x="27271" y="3502"/>
                  </a:lnTo>
                  <a:lnTo>
                    <a:pt x="44704" y="0"/>
                  </a:lnTo>
                  <a:lnTo>
                    <a:pt x="659638" y="0"/>
                  </a:lnTo>
                  <a:lnTo>
                    <a:pt x="677017" y="3502"/>
                  </a:lnTo>
                  <a:lnTo>
                    <a:pt x="691229" y="13065"/>
                  </a:lnTo>
                  <a:lnTo>
                    <a:pt x="700821" y="27271"/>
                  </a:lnTo>
                  <a:lnTo>
                    <a:pt x="704342" y="44703"/>
                  </a:lnTo>
                  <a:lnTo>
                    <a:pt x="704342" y="402463"/>
                  </a:lnTo>
                  <a:lnTo>
                    <a:pt x="700821" y="419915"/>
                  </a:lnTo>
                  <a:lnTo>
                    <a:pt x="691229" y="434165"/>
                  </a:lnTo>
                  <a:lnTo>
                    <a:pt x="677017" y="443771"/>
                  </a:lnTo>
                  <a:lnTo>
                    <a:pt x="659638" y="447293"/>
                  </a:lnTo>
                  <a:lnTo>
                    <a:pt x="44704" y="447293"/>
                  </a:lnTo>
                  <a:lnTo>
                    <a:pt x="27271" y="443771"/>
                  </a:lnTo>
                  <a:lnTo>
                    <a:pt x="13065" y="434165"/>
                  </a:lnTo>
                  <a:lnTo>
                    <a:pt x="3502" y="419915"/>
                  </a:lnTo>
                  <a:lnTo>
                    <a:pt x="0" y="402463"/>
                  </a:lnTo>
                  <a:lnTo>
                    <a:pt x="0" y="4470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4868036" y="3106673"/>
            <a:ext cx="3721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40" dirty="0">
                <a:latin typeface="Cambria"/>
                <a:cs typeface="Cambria"/>
              </a:rPr>
              <a:t>Circle</a:t>
            </a:r>
            <a:endParaRPr sz="1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8475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60" dirty="0"/>
              <a:t> </a:t>
            </a:r>
            <a:r>
              <a:rPr sz="3000" spc="165" dirty="0"/>
              <a:t>–</a:t>
            </a:r>
            <a:r>
              <a:rPr sz="3000" spc="140" dirty="0"/>
              <a:t> </a:t>
            </a:r>
            <a:r>
              <a:rPr sz="3000" spc="290" dirty="0"/>
              <a:t>B</a:t>
            </a:r>
            <a:r>
              <a:rPr sz="2400" spc="290" dirty="0"/>
              <a:t>ENEFITS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153275" cy="36753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40" dirty="0">
                <a:latin typeface="Cambria"/>
                <a:cs typeface="Cambria"/>
              </a:rPr>
              <a:t>What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will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happen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you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call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using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105" dirty="0">
                <a:latin typeface="Cambria"/>
                <a:cs typeface="Cambria"/>
              </a:rPr>
              <a:t>Triangle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or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60" dirty="0">
                <a:latin typeface="Cambria"/>
                <a:cs typeface="Cambria"/>
              </a:rPr>
              <a:t>a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Circle </a:t>
            </a:r>
            <a:r>
              <a:rPr sz="2400" spc="50" dirty="0">
                <a:latin typeface="Cambria"/>
                <a:cs typeface="Cambria"/>
              </a:rPr>
              <a:t>object.</a:t>
            </a:r>
            <a:endParaRPr sz="2400">
              <a:latin typeface="Cambria"/>
              <a:cs typeface="Cambria"/>
            </a:endParaRPr>
          </a:p>
          <a:p>
            <a:pPr marL="285115" marR="5080">
              <a:lnSpc>
                <a:spcPct val="101899"/>
              </a:lnSpc>
              <a:spcBef>
                <a:spcPts val="175"/>
              </a:spcBef>
            </a:pPr>
            <a:r>
              <a:rPr sz="1600" spc="45" dirty="0">
                <a:latin typeface="Cambria"/>
                <a:cs typeface="Cambria"/>
              </a:rPr>
              <a:t>drawShape(new </a:t>
            </a:r>
            <a:r>
              <a:rPr sz="1600" spc="25" dirty="0">
                <a:latin typeface="Cambria"/>
                <a:cs typeface="Cambria"/>
              </a:rPr>
              <a:t>Triangle());</a:t>
            </a:r>
            <a:r>
              <a:rPr sz="1600" spc="30" dirty="0">
                <a:latin typeface="Cambria"/>
                <a:cs typeface="Cambria"/>
              </a:rPr>
              <a:t> </a:t>
            </a: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will </a:t>
            </a:r>
            <a:r>
              <a:rPr sz="1600" spc="60" dirty="0">
                <a:latin typeface="Cambria"/>
                <a:cs typeface="Cambria"/>
              </a:rPr>
              <a:t>call the </a:t>
            </a:r>
            <a:r>
              <a:rPr sz="1600" spc="40" dirty="0">
                <a:latin typeface="Cambria"/>
                <a:cs typeface="Cambria"/>
              </a:rPr>
              <a:t>draw method </a:t>
            </a:r>
            <a:r>
              <a:rPr sz="1600" spc="-5" dirty="0">
                <a:latin typeface="Cambria"/>
                <a:cs typeface="Cambria"/>
              </a:rPr>
              <a:t>of</a:t>
            </a:r>
            <a:r>
              <a:rPr sz="1600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Triangle </a:t>
            </a:r>
            <a:r>
              <a:rPr sz="1600" spc="55" dirty="0">
                <a:latin typeface="Cambria"/>
                <a:cs typeface="Cambria"/>
              </a:rPr>
              <a:t>class 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drawShape(new</a:t>
            </a:r>
            <a:r>
              <a:rPr sz="1600" spc="140" dirty="0">
                <a:latin typeface="Cambria"/>
                <a:cs typeface="Cambria"/>
              </a:rPr>
              <a:t> </a:t>
            </a:r>
            <a:r>
              <a:rPr sz="1600" spc="15" dirty="0">
                <a:latin typeface="Cambria"/>
                <a:cs typeface="Cambria"/>
              </a:rPr>
              <a:t>Circle());</a:t>
            </a:r>
            <a:r>
              <a:rPr sz="1600" spc="125" dirty="0">
                <a:latin typeface="Cambria"/>
                <a:cs typeface="Cambria"/>
              </a:rPr>
              <a:t> </a:t>
            </a:r>
            <a:r>
              <a:rPr sz="1600" spc="-345" dirty="0">
                <a:latin typeface="Cambria"/>
                <a:cs typeface="Cambria"/>
              </a:rPr>
              <a:t>//</a:t>
            </a:r>
            <a:r>
              <a:rPr sz="1600" spc="-335" dirty="0">
                <a:latin typeface="Cambria"/>
                <a:cs typeface="Cambria"/>
              </a:rPr>
              <a:t> </a:t>
            </a:r>
            <a:r>
              <a:rPr sz="1600" spc="45" dirty="0">
                <a:latin typeface="Cambria"/>
                <a:cs typeface="Cambria"/>
              </a:rPr>
              <a:t>will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call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the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draw</a:t>
            </a:r>
            <a:r>
              <a:rPr sz="1600" spc="120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method</a:t>
            </a:r>
            <a:r>
              <a:rPr sz="1600" spc="114" dirty="0">
                <a:latin typeface="Cambria"/>
                <a:cs typeface="Cambria"/>
              </a:rPr>
              <a:t> </a:t>
            </a:r>
            <a:r>
              <a:rPr sz="1600" spc="-5" dirty="0">
                <a:latin typeface="Cambria"/>
                <a:cs typeface="Cambria"/>
              </a:rPr>
              <a:t>of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70" dirty="0">
                <a:latin typeface="Cambria"/>
                <a:cs typeface="Cambria"/>
              </a:rPr>
              <a:t>Circle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class</a:t>
            </a:r>
            <a:endParaRPr sz="16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750">
              <a:latin typeface="Cambria"/>
              <a:cs typeface="Cambria"/>
            </a:endParaRPr>
          </a:p>
          <a:p>
            <a:pPr marL="652780" marR="358140" lvl="1" indent="-273685">
              <a:lnSpc>
                <a:spcPct val="100000"/>
              </a:lnSpc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invocation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produce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“many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forms”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results</a:t>
            </a:r>
            <a:endParaRPr sz="2100">
              <a:latin typeface="Cambria"/>
              <a:cs typeface="Cambria"/>
            </a:endParaRPr>
          </a:p>
          <a:p>
            <a:pPr marL="652780" marR="26543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5" dirty="0">
                <a:latin typeface="Cambria"/>
                <a:cs typeface="Cambria"/>
              </a:rPr>
              <a:t>We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can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35" dirty="0">
                <a:latin typeface="Cambria"/>
                <a:cs typeface="Cambria"/>
              </a:rPr>
              <a:t>override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subclasses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which </a:t>
            </a:r>
            <a:r>
              <a:rPr sz="2100" spc="7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implementation</a:t>
            </a:r>
            <a:r>
              <a:rPr sz="2100" spc="8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be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used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30" dirty="0">
                <a:latin typeface="Cambria"/>
                <a:cs typeface="Cambria"/>
              </a:rPr>
              <a:t>decided</a:t>
            </a:r>
            <a:r>
              <a:rPr sz="2100" spc="120" dirty="0">
                <a:latin typeface="Cambria"/>
                <a:cs typeface="Cambria"/>
              </a:rPr>
              <a:t> at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runtime 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depending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upon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situation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(i.e.,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data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real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" dirty="0">
                <a:latin typeface="Cambria"/>
                <a:cs typeface="Cambria"/>
              </a:rPr>
              <a:t>object)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76377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60" dirty="0"/>
              <a:t> </a:t>
            </a:r>
            <a:r>
              <a:rPr sz="3000" dirty="0"/>
              <a:t>-</a:t>
            </a:r>
            <a:r>
              <a:rPr sz="3000" spc="150" dirty="0"/>
              <a:t> </a:t>
            </a:r>
            <a:r>
              <a:rPr sz="3000" spc="290" dirty="0"/>
              <a:t>B</a:t>
            </a:r>
            <a:r>
              <a:rPr sz="2400" spc="290" dirty="0"/>
              <a:t>ENEFITS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30745" cy="33578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80" dirty="0">
                <a:latin typeface="Cambria"/>
                <a:cs typeface="Cambria"/>
              </a:rPr>
              <a:t>Polymorphism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enables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programmers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deal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with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0" dirty="0">
                <a:latin typeface="Cambria"/>
                <a:cs typeface="Cambria"/>
              </a:rPr>
              <a:t>generalities</a:t>
            </a:r>
            <a:r>
              <a:rPr sz="2400" spc="105" dirty="0">
                <a:latin typeface="Cambria"/>
                <a:cs typeface="Cambria"/>
              </a:rPr>
              <a:t> and</a:t>
            </a:r>
            <a:endParaRPr sz="2400">
              <a:latin typeface="Cambria"/>
              <a:cs typeface="Cambria"/>
            </a:endParaRPr>
          </a:p>
          <a:p>
            <a:pPr marL="652780" marR="833119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0" dirty="0">
                <a:latin typeface="Cambria"/>
                <a:cs typeface="Cambria"/>
              </a:rPr>
              <a:t>let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execution-time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environment</a:t>
            </a:r>
            <a:r>
              <a:rPr sz="2100" spc="10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handle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specifics.</a:t>
            </a:r>
            <a:endParaRPr sz="2100">
              <a:latin typeface="Cambria"/>
              <a:cs typeface="Cambria"/>
            </a:endParaRPr>
          </a:p>
          <a:p>
            <a:pPr marL="285115" marR="14351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90" dirty="0">
                <a:latin typeface="Cambria"/>
                <a:cs typeface="Cambria"/>
              </a:rPr>
              <a:t>Programmers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command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objects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behave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manners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appropriate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those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objects,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65" dirty="0">
                <a:latin typeface="Cambria"/>
                <a:cs typeface="Cambria"/>
              </a:rPr>
              <a:t>without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knowing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types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-5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objects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30" dirty="0">
                <a:latin typeface="Cambria"/>
                <a:cs typeface="Cambria"/>
              </a:rPr>
              <a:t>(as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long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30" dirty="0">
                <a:latin typeface="Cambria"/>
                <a:cs typeface="Cambria"/>
              </a:rPr>
              <a:t>objects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belong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5" dirty="0">
                <a:latin typeface="Cambria"/>
                <a:cs typeface="Cambria"/>
              </a:rPr>
              <a:t>to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same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inheritance</a:t>
            </a:r>
            <a:endParaRPr sz="2100">
              <a:latin typeface="Cambria"/>
              <a:cs typeface="Cambria"/>
            </a:endParaRPr>
          </a:p>
          <a:p>
            <a:pPr marL="652780">
              <a:lnSpc>
                <a:spcPct val="100000"/>
              </a:lnSpc>
            </a:pPr>
            <a:r>
              <a:rPr sz="2100" spc="65" dirty="0">
                <a:latin typeface="Cambria"/>
                <a:cs typeface="Cambria"/>
              </a:rPr>
              <a:t>hierarchy).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76377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0" dirty="0"/>
              <a:t>P</a:t>
            </a:r>
            <a:r>
              <a:rPr sz="2400" spc="290" dirty="0"/>
              <a:t>OLYMORPHISM</a:t>
            </a:r>
            <a:r>
              <a:rPr sz="2400" spc="260" dirty="0"/>
              <a:t> </a:t>
            </a:r>
            <a:r>
              <a:rPr sz="3000" dirty="0"/>
              <a:t>-</a:t>
            </a:r>
            <a:r>
              <a:rPr sz="3000" spc="150" dirty="0"/>
              <a:t> </a:t>
            </a:r>
            <a:r>
              <a:rPr sz="3000" spc="290" dirty="0"/>
              <a:t>B</a:t>
            </a:r>
            <a:r>
              <a:rPr sz="2400" spc="290" dirty="0"/>
              <a:t>ENEFITS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98117"/>
            <a:ext cx="7174230" cy="880744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85115" marR="5080" indent="-273050">
              <a:lnSpc>
                <a:spcPct val="90100"/>
              </a:lnSpc>
              <a:spcBef>
                <a:spcPts val="34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75" dirty="0">
                <a:latin typeface="Cambria"/>
                <a:cs typeface="Cambria"/>
              </a:rPr>
              <a:t>Now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05" dirty="0">
                <a:latin typeface="Cambria"/>
                <a:cs typeface="Cambria"/>
              </a:rPr>
              <a:t>think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30" dirty="0">
                <a:latin typeface="Cambria"/>
                <a:cs typeface="Cambria"/>
              </a:rPr>
              <a:t>: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-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20" dirty="0">
                <a:latin typeface="Cambria"/>
                <a:cs typeface="Cambria"/>
              </a:rPr>
              <a:t>What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needs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20" dirty="0">
                <a:latin typeface="Cambria"/>
                <a:cs typeface="Cambria"/>
              </a:rPr>
              <a:t>to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change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90" dirty="0">
                <a:latin typeface="Cambria"/>
                <a:cs typeface="Cambria"/>
              </a:rPr>
              <a:t>in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the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25" dirty="0">
                <a:latin typeface="Cambria"/>
                <a:cs typeface="Cambria"/>
              </a:rPr>
              <a:t>old</a:t>
            </a:r>
            <a:r>
              <a:rPr sz="2000" spc="80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hierarchy</a:t>
            </a:r>
            <a:r>
              <a:rPr sz="2000" spc="7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or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1600" b="1" i="1" spc="130" dirty="0">
                <a:latin typeface="Cambria"/>
                <a:cs typeface="Cambria"/>
              </a:rPr>
              <a:t>drawShape(Shape</a:t>
            </a:r>
            <a:r>
              <a:rPr sz="1600" b="1" i="1" spc="125" dirty="0">
                <a:latin typeface="Cambria"/>
                <a:cs typeface="Cambria"/>
              </a:rPr>
              <a:t> </a:t>
            </a:r>
            <a:r>
              <a:rPr sz="1600" b="1" i="1" spc="90" dirty="0">
                <a:latin typeface="Cambria"/>
                <a:cs typeface="Cambria"/>
              </a:rPr>
              <a:t>shape)</a:t>
            </a:r>
            <a:r>
              <a:rPr sz="1600" b="1" i="1" spc="21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method,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65" dirty="0">
                <a:latin typeface="Cambria"/>
                <a:cs typeface="Cambria"/>
              </a:rPr>
              <a:t>if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you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add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135" dirty="0">
                <a:latin typeface="Cambria"/>
                <a:cs typeface="Cambria"/>
              </a:rPr>
              <a:t>a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new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60" dirty="0">
                <a:latin typeface="Cambria"/>
                <a:cs typeface="Cambria"/>
              </a:rPr>
              <a:t>subtype 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“Square”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00" dirty="0">
                <a:latin typeface="Cambria"/>
                <a:cs typeface="Cambria"/>
              </a:rPr>
              <a:t>as</a:t>
            </a:r>
            <a:r>
              <a:rPr sz="2000" spc="105" dirty="0">
                <a:latin typeface="Cambria"/>
                <a:cs typeface="Cambria"/>
              </a:rPr>
              <a:t> </a:t>
            </a:r>
            <a:r>
              <a:rPr sz="2000" spc="45" dirty="0">
                <a:latin typeface="Cambria"/>
                <a:cs typeface="Cambria"/>
              </a:rPr>
              <a:t>shown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35" dirty="0">
                <a:latin typeface="Cambria"/>
                <a:cs typeface="Cambria"/>
              </a:rPr>
              <a:t>below.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544415"/>
            <a:ext cx="7214870" cy="2037714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580"/>
              </a:spcBef>
              <a:buClr>
                <a:srgbClr val="FD8537"/>
              </a:buClr>
              <a:buSzPct val="70000"/>
              <a:buFont typeface="Wingdings"/>
              <a:buChar char=""/>
              <a:tabLst>
                <a:tab pos="285750" algn="l"/>
              </a:tabLst>
            </a:pPr>
            <a:r>
              <a:rPr sz="2000" spc="65" dirty="0">
                <a:latin typeface="Cambria"/>
                <a:cs typeface="Cambria"/>
              </a:rPr>
              <a:t>Polymorphism</a:t>
            </a:r>
            <a:r>
              <a:rPr sz="2000" spc="40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Promotes </a:t>
            </a:r>
            <a:r>
              <a:rPr sz="2000" spc="90" dirty="0">
                <a:latin typeface="Cambria"/>
                <a:cs typeface="Cambria"/>
              </a:rPr>
              <a:t>Extensibility</a:t>
            </a:r>
            <a:endParaRPr sz="2000">
              <a:latin typeface="Cambria"/>
              <a:cs typeface="Cambria"/>
            </a:endParaRPr>
          </a:p>
          <a:p>
            <a:pPr marL="652780" marR="287020" lvl="1" indent="-273685">
              <a:lnSpc>
                <a:spcPct val="100000"/>
              </a:lnSpc>
              <a:spcBef>
                <a:spcPts val="480"/>
              </a:spcBef>
              <a:buClr>
                <a:srgbClr val="FD8537"/>
              </a:buClr>
              <a:buSzPct val="80000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000" spc="100" dirty="0">
                <a:latin typeface="Cambria"/>
                <a:cs typeface="Cambria"/>
              </a:rPr>
              <a:t>New</a:t>
            </a:r>
            <a:r>
              <a:rPr sz="2000" spc="90" dirty="0">
                <a:latin typeface="Cambria"/>
                <a:cs typeface="Cambria"/>
              </a:rPr>
              <a:t> </a:t>
            </a:r>
            <a:r>
              <a:rPr sz="2000" spc="25" dirty="0">
                <a:latin typeface="Cambria"/>
                <a:cs typeface="Cambria"/>
              </a:rPr>
              <a:t>object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types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10" dirty="0">
                <a:latin typeface="Cambria"/>
                <a:cs typeface="Cambria"/>
              </a:rPr>
              <a:t>that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can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40" dirty="0">
                <a:latin typeface="Cambria"/>
                <a:cs typeface="Cambria"/>
              </a:rPr>
              <a:t>respond</a:t>
            </a:r>
            <a:r>
              <a:rPr sz="2000" spc="8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to</a:t>
            </a:r>
            <a:r>
              <a:rPr sz="2000" spc="100" dirty="0">
                <a:latin typeface="Cambria"/>
                <a:cs typeface="Cambria"/>
              </a:rPr>
              <a:t> </a:t>
            </a:r>
            <a:r>
              <a:rPr sz="2000" spc="80" dirty="0">
                <a:latin typeface="Cambria"/>
                <a:cs typeface="Cambria"/>
              </a:rPr>
              <a:t>existing</a:t>
            </a:r>
            <a:r>
              <a:rPr sz="2000" spc="65" dirty="0">
                <a:latin typeface="Cambria"/>
                <a:cs typeface="Cambria"/>
              </a:rPr>
              <a:t> </a:t>
            </a:r>
            <a:r>
              <a:rPr sz="2000" spc="55" dirty="0">
                <a:latin typeface="Cambria"/>
                <a:cs typeface="Cambria"/>
              </a:rPr>
              <a:t>method </a:t>
            </a:r>
            <a:r>
              <a:rPr sz="2000" spc="-425" dirty="0">
                <a:latin typeface="Cambria"/>
                <a:cs typeface="Cambria"/>
              </a:rPr>
              <a:t> </a:t>
            </a:r>
            <a:r>
              <a:rPr sz="2000" spc="75" dirty="0">
                <a:latin typeface="Cambria"/>
                <a:cs typeface="Cambria"/>
              </a:rPr>
              <a:t>calls</a:t>
            </a:r>
            <a:r>
              <a:rPr sz="2000" spc="80" dirty="0">
                <a:latin typeface="Cambria"/>
                <a:cs typeface="Cambria"/>
              </a:rPr>
              <a:t> can</a:t>
            </a:r>
            <a:r>
              <a:rPr sz="2000" spc="95" dirty="0">
                <a:latin typeface="Cambria"/>
                <a:cs typeface="Cambria"/>
              </a:rPr>
              <a:t> </a:t>
            </a:r>
            <a:r>
              <a:rPr sz="2000" spc="15" dirty="0">
                <a:latin typeface="Cambria"/>
                <a:cs typeface="Cambria"/>
              </a:rPr>
              <a:t>be</a:t>
            </a:r>
            <a:endParaRPr sz="2000">
              <a:latin typeface="Cambria"/>
              <a:cs typeface="Cambria"/>
            </a:endParaRPr>
          </a:p>
          <a:p>
            <a:pPr marL="927100" marR="5080" lvl="2" indent="-182880">
              <a:lnSpc>
                <a:spcPts val="1730"/>
              </a:lnSpc>
              <a:spcBef>
                <a:spcPts val="409"/>
              </a:spcBef>
              <a:buClr>
                <a:srgbClr val="DF752E"/>
              </a:buClr>
              <a:buSzPct val="59375"/>
              <a:buFont typeface="Wingdings"/>
              <a:buChar char=""/>
              <a:tabLst>
                <a:tab pos="927735" algn="l"/>
              </a:tabLst>
            </a:pPr>
            <a:r>
              <a:rPr sz="1600" spc="30" dirty="0">
                <a:latin typeface="Cambria"/>
                <a:cs typeface="Cambria"/>
              </a:rPr>
              <a:t>incorporated</a:t>
            </a:r>
            <a:r>
              <a:rPr sz="1600" spc="125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into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105" dirty="0">
                <a:latin typeface="Cambria"/>
                <a:cs typeface="Cambria"/>
              </a:rPr>
              <a:t>a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system</a:t>
            </a:r>
            <a:r>
              <a:rPr sz="1600" spc="114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without</a:t>
            </a:r>
            <a:r>
              <a:rPr sz="1600" b="1" spc="155" dirty="0">
                <a:latin typeface="Cambria"/>
                <a:cs typeface="Cambria"/>
              </a:rPr>
              <a:t> </a:t>
            </a:r>
            <a:r>
              <a:rPr sz="1600" b="1" spc="95" dirty="0">
                <a:latin typeface="Cambria"/>
                <a:cs typeface="Cambria"/>
              </a:rPr>
              <a:t>requiring</a:t>
            </a:r>
            <a:r>
              <a:rPr sz="1600" b="1" spc="125" dirty="0">
                <a:latin typeface="Cambria"/>
                <a:cs typeface="Cambria"/>
              </a:rPr>
              <a:t> </a:t>
            </a:r>
            <a:r>
              <a:rPr sz="1600" spc="35" dirty="0">
                <a:latin typeface="Cambria"/>
                <a:cs typeface="Cambria"/>
              </a:rPr>
              <a:t>modification</a:t>
            </a:r>
            <a:r>
              <a:rPr sz="1600" spc="114" dirty="0">
                <a:latin typeface="Cambria"/>
                <a:cs typeface="Cambria"/>
              </a:rPr>
              <a:t> </a:t>
            </a:r>
            <a:r>
              <a:rPr sz="1600" spc="-5" dirty="0">
                <a:latin typeface="Cambria"/>
                <a:cs typeface="Cambria"/>
              </a:rPr>
              <a:t>of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55" dirty="0">
                <a:latin typeface="Cambria"/>
                <a:cs typeface="Cambria"/>
              </a:rPr>
              <a:t>the </a:t>
            </a:r>
            <a:r>
              <a:rPr sz="1600" spc="-340" dirty="0">
                <a:latin typeface="Cambria"/>
                <a:cs typeface="Cambria"/>
              </a:rPr>
              <a:t> </a:t>
            </a:r>
            <a:r>
              <a:rPr sz="1600" spc="40" dirty="0">
                <a:latin typeface="Cambria"/>
                <a:cs typeface="Cambria"/>
              </a:rPr>
              <a:t>base</a:t>
            </a:r>
            <a:r>
              <a:rPr sz="1600" spc="90" dirty="0">
                <a:latin typeface="Cambria"/>
                <a:cs typeface="Cambria"/>
              </a:rPr>
              <a:t> </a:t>
            </a:r>
            <a:r>
              <a:rPr sz="1600" spc="60" dirty="0">
                <a:latin typeface="Cambria"/>
                <a:cs typeface="Cambria"/>
              </a:rPr>
              <a:t>system.</a:t>
            </a:r>
            <a:endParaRPr sz="1600">
              <a:latin typeface="Cambria"/>
              <a:cs typeface="Cambria"/>
            </a:endParaRPr>
          </a:p>
          <a:p>
            <a:pPr marL="927100" marR="773430" lvl="2" indent="-182880">
              <a:lnSpc>
                <a:spcPts val="1730"/>
              </a:lnSpc>
              <a:spcBef>
                <a:spcPts val="380"/>
              </a:spcBef>
              <a:buClr>
                <a:srgbClr val="DF752E"/>
              </a:buClr>
              <a:buSzPct val="59375"/>
              <a:buFont typeface="Wingdings"/>
              <a:buChar char=""/>
              <a:tabLst>
                <a:tab pos="927735" algn="l"/>
              </a:tabLst>
            </a:pPr>
            <a:r>
              <a:rPr sz="1600" spc="95" dirty="0">
                <a:latin typeface="Cambria"/>
                <a:cs typeface="Cambria"/>
              </a:rPr>
              <a:t>Only</a:t>
            </a:r>
            <a:r>
              <a:rPr sz="1600" spc="105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client</a:t>
            </a:r>
            <a:r>
              <a:rPr sz="1600" spc="100" dirty="0">
                <a:latin typeface="Cambria"/>
                <a:cs typeface="Cambria"/>
              </a:rPr>
              <a:t> </a:t>
            </a:r>
            <a:r>
              <a:rPr sz="1600" spc="-5" dirty="0">
                <a:latin typeface="Cambria"/>
                <a:cs typeface="Cambria"/>
              </a:rPr>
              <a:t>code</a:t>
            </a:r>
            <a:r>
              <a:rPr sz="1600" spc="114" dirty="0">
                <a:latin typeface="Cambria"/>
                <a:cs typeface="Cambria"/>
              </a:rPr>
              <a:t> </a:t>
            </a:r>
            <a:r>
              <a:rPr sz="1600" b="1" spc="110" dirty="0">
                <a:latin typeface="Cambria"/>
                <a:cs typeface="Cambria"/>
              </a:rPr>
              <a:t>that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instantiates</a:t>
            </a:r>
            <a:r>
              <a:rPr sz="1600" b="1" spc="160" dirty="0">
                <a:latin typeface="Cambria"/>
                <a:cs typeface="Cambria"/>
              </a:rPr>
              <a:t> </a:t>
            </a:r>
            <a:r>
              <a:rPr sz="1600" b="1" spc="105" dirty="0">
                <a:latin typeface="Cambria"/>
                <a:cs typeface="Cambria"/>
              </a:rPr>
              <a:t>new</a:t>
            </a:r>
            <a:r>
              <a:rPr sz="1600" b="1" spc="130" dirty="0">
                <a:latin typeface="Cambria"/>
                <a:cs typeface="Cambria"/>
              </a:rPr>
              <a:t> </a:t>
            </a:r>
            <a:r>
              <a:rPr sz="1600" b="1" spc="80" dirty="0">
                <a:latin typeface="Cambria"/>
                <a:cs typeface="Cambria"/>
              </a:rPr>
              <a:t>objects</a:t>
            </a:r>
            <a:r>
              <a:rPr sz="1600" b="1" spc="135" dirty="0">
                <a:latin typeface="Cambria"/>
                <a:cs typeface="Cambria"/>
              </a:rPr>
              <a:t> </a:t>
            </a:r>
            <a:r>
              <a:rPr sz="1600" b="1" spc="100" dirty="0">
                <a:latin typeface="Cambria"/>
                <a:cs typeface="Cambria"/>
              </a:rPr>
              <a:t>must</a:t>
            </a:r>
            <a:r>
              <a:rPr sz="1600" b="1" spc="120" dirty="0">
                <a:latin typeface="Cambria"/>
                <a:cs typeface="Cambria"/>
              </a:rPr>
              <a:t> </a:t>
            </a:r>
            <a:r>
              <a:rPr sz="1600" b="1" spc="75" dirty="0">
                <a:latin typeface="Cambria"/>
                <a:cs typeface="Cambria"/>
              </a:rPr>
              <a:t>be </a:t>
            </a:r>
            <a:r>
              <a:rPr sz="1600" b="1" spc="-335" dirty="0">
                <a:latin typeface="Cambria"/>
                <a:cs typeface="Cambria"/>
              </a:rPr>
              <a:t> </a:t>
            </a:r>
            <a:r>
              <a:rPr sz="1600" b="1" spc="90" dirty="0">
                <a:latin typeface="Cambria"/>
                <a:cs typeface="Cambria"/>
              </a:rPr>
              <a:t>modified</a:t>
            </a:r>
            <a:r>
              <a:rPr sz="1600" b="1" spc="100" dirty="0">
                <a:latin typeface="Cambria"/>
                <a:cs typeface="Cambria"/>
              </a:rPr>
              <a:t> </a:t>
            </a:r>
            <a:r>
              <a:rPr sz="1600" spc="10" dirty="0">
                <a:latin typeface="Cambria"/>
                <a:cs typeface="Cambria"/>
              </a:rPr>
              <a:t>to</a:t>
            </a:r>
            <a:r>
              <a:rPr sz="1600" spc="95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accommodate</a:t>
            </a:r>
            <a:r>
              <a:rPr sz="1600" spc="130" dirty="0">
                <a:latin typeface="Cambria"/>
                <a:cs typeface="Cambria"/>
              </a:rPr>
              <a:t> </a:t>
            </a:r>
            <a:r>
              <a:rPr sz="1600" spc="30" dirty="0">
                <a:latin typeface="Cambria"/>
                <a:cs typeface="Cambria"/>
              </a:rPr>
              <a:t>new</a:t>
            </a:r>
            <a:r>
              <a:rPr sz="1600" spc="110" dirty="0">
                <a:latin typeface="Cambria"/>
                <a:cs typeface="Cambria"/>
              </a:rPr>
              <a:t> </a:t>
            </a:r>
            <a:r>
              <a:rPr sz="1600" spc="50" dirty="0">
                <a:latin typeface="Cambria"/>
                <a:cs typeface="Cambria"/>
              </a:rPr>
              <a:t>types.</a:t>
            </a:r>
            <a:endParaRPr sz="1600">
              <a:latin typeface="Cambria"/>
              <a:cs typeface="Cambri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808098" y="2503297"/>
            <a:ext cx="4900930" cy="1440180"/>
            <a:chOff x="1808098" y="2503297"/>
            <a:chExt cx="4900930" cy="1440180"/>
          </a:xfrm>
        </p:grpSpPr>
        <p:sp>
          <p:nvSpPr>
            <p:cNvPr id="6" name="object 6"/>
            <p:cNvSpPr/>
            <p:nvPr/>
          </p:nvSpPr>
          <p:spPr>
            <a:xfrm>
              <a:off x="4769357" y="3707257"/>
              <a:ext cx="2540" cy="222250"/>
            </a:xfrm>
            <a:custGeom>
              <a:avLst/>
              <a:gdLst/>
              <a:ahLst/>
              <a:cxnLst/>
              <a:rect l="l" t="t" r="r" b="b"/>
              <a:pathLst>
                <a:path w="2539" h="222250">
                  <a:moveTo>
                    <a:pt x="1079" y="-12700"/>
                  </a:moveTo>
                  <a:lnTo>
                    <a:pt x="1079" y="234696"/>
                  </a:lnTo>
                </a:path>
              </a:pathLst>
            </a:custGeom>
            <a:ln w="27558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67452" y="3000629"/>
              <a:ext cx="1905" cy="222250"/>
            </a:xfrm>
            <a:custGeom>
              <a:avLst/>
              <a:gdLst/>
              <a:ahLst/>
              <a:cxnLst/>
              <a:rect l="l" t="t" r="r" b="b"/>
              <a:pathLst>
                <a:path w="1904" h="222250">
                  <a:moveTo>
                    <a:pt x="952" y="-12700"/>
                  </a:moveTo>
                  <a:lnTo>
                    <a:pt x="952" y="234696"/>
                  </a:lnTo>
                </a:path>
              </a:pathLst>
            </a:custGeom>
            <a:ln w="27305">
              <a:solidFill>
                <a:srgbClr val="CA6A2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677413" y="3000629"/>
              <a:ext cx="4018915" cy="222250"/>
            </a:xfrm>
            <a:custGeom>
              <a:avLst/>
              <a:gdLst/>
              <a:ahLst/>
              <a:cxnLst/>
              <a:rect l="l" t="t" r="r" b="b"/>
              <a:pathLst>
                <a:path w="4018915" h="222250">
                  <a:moveTo>
                    <a:pt x="2090039" y="0"/>
                  </a:moveTo>
                  <a:lnTo>
                    <a:pt x="2090039" y="151257"/>
                  </a:lnTo>
                  <a:lnTo>
                    <a:pt x="4018915" y="151257"/>
                  </a:lnTo>
                  <a:lnTo>
                    <a:pt x="4018915" y="221996"/>
                  </a:lnTo>
                </a:path>
                <a:path w="4018915" h="222250">
                  <a:moveTo>
                    <a:pt x="2090039" y="0"/>
                  </a:moveTo>
                  <a:lnTo>
                    <a:pt x="2090039" y="151257"/>
                  </a:lnTo>
                  <a:lnTo>
                    <a:pt x="0" y="151257"/>
                  </a:lnTo>
                  <a:lnTo>
                    <a:pt x="0" y="221996"/>
                  </a:lnTo>
                </a:path>
              </a:pathLst>
            </a:custGeom>
            <a:ln w="25400">
              <a:solidFill>
                <a:srgbClr val="CA6A2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385817" y="2515997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387" y="0"/>
                  </a:lnTo>
                  <a:lnTo>
                    <a:pt x="29575" y="3810"/>
                  </a:lnTo>
                  <a:lnTo>
                    <a:pt x="14192" y="14192"/>
                  </a:lnTo>
                  <a:lnTo>
                    <a:pt x="3810" y="29575"/>
                  </a:lnTo>
                  <a:lnTo>
                    <a:pt x="0" y="48387"/>
                  </a:lnTo>
                  <a:lnTo>
                    <a:pt x="0" y="436117"/>
                  </a:lnTo>
                  <a:lnTo>
                    <a:pt x="3810" y="455003"/>
                  </a:lnTo>
                  <a:lnTo>
                    <a:pt x="14192" y="470423"/>
                  </a:lnTo>
                  <a:lnTo>
                    <a:pt x="29575" y="480820"/>
                  </a:lnTo>
                  <a:lnTo>
                    <a:pt x="48387" y="484631"/>
                  </a:lnTo>
                  <a:lnTo>
                    <a:pt x="714756" y="484631"/>
                  </a:lnTo>
                  <a:lnTo>
                    <a:pt x="733621" y="480820"/>
                  </a:lnTo>
                  <a:lnTo>
                    <a:pt x="748998" y="470423"/>
                  </a:lnTo>
                  <a:lnTo>
                    <a:pt x="759350" y="455003"/>
                  </a:lnTo>
                  <a:lnTo>
                    <a:pt x="763143" y="436117"/>
                  </a:lnTo>
                  <a:lnTo>
                    <a:pt x="763143" y="48387"/>
                  </a:lnTo>
                  <a:lnTo>
                    <a:pt x="759350" y="29575"/>
                  </a:lnTo>
                  <a:lnTo>
                    <a:pt x="748998" y="14192"/>
                  </a:lnTo>
                  <a:lnTo>
                    <a:pt x="73362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385817" y="2515997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0" y="29575"/>
                  </a:lnTo>
                  <a:lnTo>
                    <a:pt x="14192" y="14192"/>
                  </a:lnTo>
                  <a:lnTo>
                    <a:pt x="29575" y="3810"/>
                  </a:lnTo>
                  <a:lnTo>
                    <a:pt x="48387" y="0"/>
                  </a:lnTo>
                  <a:lnTo>
                    <a:pt x="714756" y="0"/>
                  </a:lnTo>
                  <a:lnTo>
                    <a:pt x="733621" y="3810"/>
                  </a:lnTo>
                  <a:lnTo>
                    <a:pt x="748998" y="14192"/>
                  </a:lnTo>
                  <a:lnTo>
                    <a:pt x="759350" y="29575"/>
                  </a:lnTo>
                  <a:lnTo>
                    <a:pt x="763143" y="48387"/>
                  </a:lnTo>
                  <a:lnTo>
                    <a:pt x="763143" y="436117"/>
                  </a:lnTo>
                  <a:lnTo>
                    <a:pt x="759350" y="455003"/>
                  </a:lnTo>
                  <a:lnTo>
                    <a:pt x="748998" y="470423"/>
                  </a:lnTo>
                  <a:lnTo>
                    <a:pt x="733621" y="480820"/>
                  </a:lnTo>
                  <a:lnTo>
                    <a:pt x="714756" y="484631"/>
                  </a:lnTo>
                  <a:lnTo>
                    <a:pt x="48387" y="484631"/>
                  </a:lnTo>
                  <a:lnTo>
                    <a:pt x="29575" y="480820"/>
                  </a:lnTo>
                  <a:lnTo>
                    <a:pt x="14192" y="470423"/>
                  </a:lnTo>
                  <a:lnTo>
                    <a:pt x="3810" y="455003"/>
                  </a:lnTo>
                  <a:lnTo>
                    <a:pt x="0" y="436117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470653" y="259651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387" y="0"/>
                  </a:lnTo>
                  <a:lnTo>
                    <a:pt x="29521" y="3811"/>
                  </a:lnTo>
                  <a:lnTo>
                    <a:pt x="14144" y="14208"/>
                  </a:lnTo>
                  <a:lnTo>
                    <a:pt x="3792" y="29628"/>
                  </a:lnTo>
                  <a:lnTo>
                    <a:pt x="0" y="48513"/>
                  </a:lnTo>
                  <a:lnTo>
                    <a:pt x="0" y="436245"/>
                  </a:lnTo>
                  <a:lnTo>
                    <a:pt x="3792" y="455056"/>
                  </a:lnTo>
                  <a:lnTo>
                    <a:pt x="14144" y="470439"/>
                  </a:lnTo>
                  <a:lnTo>
                    <a:pt x="29521" y="480822"/>
                  </a:lnTo>
                  <a:lnTo>
                    <a:pt x="48387" y="484632"/>
                  </a:lnTo>
                  <a:lnTo>
                    <a:pt x="714756" y="484632"/>
                  </a:lnTo>
                  <a:lnTo>
                    <a:pt x="733567" y="480822"/>
                  </a:lnTo>
                  <a:lnTo>
                    <a:pt x="748950" y="470439"/>
                  </a:lnTo>
                  <a:lnTo>
                    <a:pt x="759333" y="455056"/>
                  </a:lnTo>
                  <a:lnTo>
                    <a:pt x="763143" y="436245"/>
                  </a:lnTo>
                  <a:lnTo>
                    <a:pt x="763143" y="48513"/>
                  </a:lnTo>
                  <a:lnTo>
                    <a:pt x="759333" y="29628"/>
                  </a:lnTo>
                  <a:lnTo>
                    <a:pt x="748950" y="14208"/>
                  </a:lnTo>
                  <a:lnTo>
                    <a:pt x="733567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70653" y="259651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3"/>
                  </a:moveTo>
                  <a:lnTo>
                    <a:pt x="3792" y="29628"/>
                  </a:lnTo>
                  <a:lnTo>
                    <a:pt x="14144" y="14208"/>
                  </a:lnTo>
                  <a:lnTo>
                    <a:pt x="29521" y="3811"/>
                  </a:lnTo>
                  <a:lnTo>
                    <a:pt x="48387" y="0"/>
                  </a:lnTo>
                  <a:lnTo>
                    <a:pt x="714756" y="0"/>
                  </a:lnTo>
                  <a:lnTo>
                    <a:pt x="733567" y="3811"/>
                  </a:lnTo>
                  <a:lnTo>
                    <a:pt x="748950" y="14208"/>
                  </a:lnTo>
                  <a:lnTo>
                    <a:pt x="759333" y="29628"/>
                  </a:lnTo>
                  <a:lnTo>
                    <a:pt x="763143" y="48513"/>
                  </a:lnTo>
                  <a:lnTo>
                    <a:pt x="763143" y="436245"/>
                  </a:lnTo>
                  <a:lnTo>
                    <a:pt x="759333" y="455056"/>
                  </a:lnTo>
                  <a:lnTo>
                    <a:pt x="748950" y="470439"/>
                  </a:lnTo>
                  <a:lnTo>
                    <a:pt x="733567" y="480822"/>
                  </a:lnTo>
                  <a:lnTo>
                    <a:pt x="714756" y="484632"/>
                  </a:lnTo>
                  <a:lnTo>
                    <a:pt x="48387" y="484632"/>
                  </a:lnTo>
                  <a:lnTo>
                    <a:pt x="29521" y="480822"/>
                  </a:lnTo>
                  <a:lnTo>
                    <a:pt x="14144" y="470439"/>
                  </a:lnTo>
                  <a:lnTo>
                    <a:pt x="3792" y="455056"/>
                  </a:lnTo>
                  <a:lnTo>
                    <a:pt x="0" y="436245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820798" y="3707257"/>
              <a:ext cx="4875530" cy="222250"/>
            </a:xfrm>
            <a:custGeom>
              <a:avLst/>
              <a:gdLst/>
              <a:ahLst/>
              <a:cxnLst/>
              <a:rect l="l" t="t" r="r" b="b"/>
              <a:pathLst>
                <a:path w="4875530" h="222250">
                  <a:moveTo>
                    <a:pt x="856614" y="0"/>
                  </a:moveTo>
                  <a:lnTo>
                    <a:pt x="856614" y="151257"/>
                  </a:lnTo>
                  <a:lnTo>
                    <a:pt x="1789429" y="151257"/>
                  </a:lnTo>
                  <a:lnTo>
                    <a:pt x="1789429" y="221996"/>
                  </a:lnTo>
                </a:path>
                <a:path w="4875530" h="222250">
                  <a:moveTo>
                    <a:pt x="856614" y="0"/>
                  </a:moveTo>
                  <a:lnTo>
                    <a:pt x="856614" y="221996"/>
                  </a:lnTo>
                </a:path>
                <a:path w="4875530" h="222250">
                  <a:moveTo>
                    <a:pt x="856614" y="0"/>
                  </a:moveTo>
                  <a:lnTo>
                    <a:pt x="856614" y="151257"/>
                  </a:lnTo>
                  <a:lnTo>
                    <a:pt x="0" y="151257"/>
                  </a:lnTo>
                  <a:lnTo>
                    <a:pt x="0" y="221996"/>
                  </a:lnTo>
                </a:path>
                <a:path w="4875530" h="222250">
                  <a:moveTo>
                    <a:pt x="4875530" y="0"/>
                  </a:moveTo>
                  <a:lnTo>
                    <a:pt x="4875530" y="221996"/>
                  </a:lnTo>
                </a:path>
              </a:pathLst>
            </a:custGeom>
            <a:ln w="25400">
              <a:solidFill>
                <a:srgbClr val="E679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638294" y="2731388"/>
            <a:ext cx="42799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100" dirty="0">
                <a:latin typeface="Cambria"/>
                <a:cs typeface="Cambria"/>
              </a:rPr>
              <a:t>Sh</a:t>
            </a:r>
            <a:r>
              <a:rPr sz="1100" spc="85" dirty="0">
                <a:latin typeface="Cambria"/>
                <a:cs typeface="Cambria"/>
              </a:rPr>
              <a:t>a</a:t>
            </a:r>
            <a:r>
              <a:rPr sz="1100" spc="10" dirty="0">
                <a:latin typeface="Cambria"/>
                <a:cs typeface="Cambria"/>
              </a:rPr>
              <a:t>pe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283079" y="3209925"/>
            <a:ext cx="873760" cy="590550"/>
            <a:chOff x="2283079" y="3209925"/>
            <a:chExt cx="873760" cy="590550"/>
          </a:xfrm>
        </p:grpSpPr>
        <p:sp>
          <p:nvSpPr>
            <p:cNvPr id="16" name="object 16"/>
            <p:cNvSpPr/>
            <p:nvPr/>
          </p:nvSpPr>
          <p:spPr>
            <a:xfrm>
              <a:off x="2295779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3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3" y="484631"/>
                  </a:lnTo>
                  <a:lnTo>
                    <a:pt x="714756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295779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3" y="0"/>
                  </a:lnTo>
                  <a:lnTo>
                    <a:pt x="714756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1"/>
                  </a:lnTo>
                  <a:lnTo>
                    <a:pt x="48513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380615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4"/>
                  </a:lnTo>
                  <a:lnTo>
                    <a:pt x="0" y="436245"/>
                  </a:lnTo>
                  <a:lnTo>
                    <a:pt x="3811" y="455056"/>
                  </a:lnTo>
                  <a:lnTo>
                    <a:pt x="14208" y="470439"/>
                  </a:lnTo>
                  <a:lnTo>
                    <a:pt x="29628" y="480822"/>
                  </a:lnTo>
                  <a:lnTo>
                    <a:pt x="48514" y="484632"/>
                  </a:lnTo>
                  <a:lnTo>
                    <a:pt x="714756" y="484632"/>
                  </a:lnTo>
                  <a:lnTo>
                    <a:pt x="733641" y="480822"/>
                  </a:lnTo>
                  <a:lnTo>
                    <a:pt x="749061" y="470439"/>
                  </a:lnTo>
                  <a:lnTo>
                    <a:pt x="759458" y="455056"/>
                  </a:lnTo>
                  <a:lnTo>
                    <a:pt x="763270" y="436245"/>
                  </a:lnTo>
                  <a:lnTo>
                    <a:pt x="763270" y="48514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380615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514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4"/>
                  </a:lnTo>
                  <a:lnTo>
                    <a:pt x="763270" y="436245"/>
                  </a:lnTo>
                  <a:lnTo>
                    <a:pt x="759458" y="455056"/>
                  </a:lnTo>
                  <a:lnTo>
                    <a:pt x="749061" y="470439"/>
                  </a:lnTo>
                  <a:lnTo>
                    <a:pt x="733641" y="480822"/>
                  </a:lnTo>
                  <a:lnTo>
                    <a:pt x="714756" y="484632"/>
                  </a:lnTo>
                  <a:lnTo>
                    <a:pt x="48514" y="484632"/>
                  </a:lnTo>
                  <a:lnTo>
                    <a:pt x="29628" y="480822"/>
                  </a:lnTo>
                  <a:lnTo>
                    <a:pt x="14208" y="470439"/>
                  </a:lnTo>
                  <a:lnTo>
                    <a:pt x="3811" y="455056"/>
                  </a:lnTo>
                  <a:lnTo>
                    <a:pt x="0" y="436245"/>
                  </a:lnTo>
                  <a:lnTo>
                    <a:pt x="0" y="4851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473198" y="3438270"/>
            <a:ext cx="57721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45" dirty="0">
                <a:latin typeface="Cambria"/>
                <a:cs typeface="Cambria"/>
              </a:rPr>
              <a:t>Triangle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1426463" y="3916553"/>
            <a:ext cx="873760" cy="590550"/>
            <a:chOff x="1426463" y="3916553"/>
            <a:chExt cx="873760" cy="590550"/>
          </a:xfrm>
        </p:grpSpPr>
        <p:sp>
          <p:nvSpPr>
            <p:cNvPr id="22" name="object 22"/>
            <p:cNvSpPr/>
            <p:nvPr/>
          </p:nvSpPr>
          <p:spPr>
            <a:xfrm>
              <a:off x="1439163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2"/>
                  </a:lnTo>
                  <a:lnTo>
                    <a:pt x="714756" y="484632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439163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2"/>
                  </a:lnTo>
                  <a:lnTo>
                    <a:pt x="48514" y="484632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1523999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3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3" y="484631"/>
                  </a:lnTo>
                  <a:lnTo>
                    <a:pt x="714756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7"/>
                  </a:lnTo>
                  <a:lnTo>
                    <a:pt x="763269" y="48513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523999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513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3" y="0"/>
                  </a:lnTo>
                  <a:lnTo>
                    <a:pt x="714756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69" y="48513"/>
                  </a:lnTo>
                  <a:lnTo>
                    <a:pt x="763269" y="436117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1"/>
                  </a:lnTo>
                  <a:lnTo>
                    <a:pt x="48513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616455" y="4069460"/>
            <a:ext cx="577215" cy="346075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 indent="95885">
              <a:lnSpc>
                <a:spcPts val="1200"/>
              </a:lnSpc>
              <a:spcBef>
                <a:spcPts val="240"/>
              </a:spcBef>
            </a:pPr>
            <a:r>
              <a:rPr sz="1100" spc="60" dirty="0">
                <a:latin typeface="Cambria"/>
                <a:cs typeface="Cambria"/>
              </a:rPr>
              <a:t>Right </a:t>
            </a:r>
            <a:r>
              <a:rPr sz="1100" spc="65" dirty="0">
                <a:latin typeface="Cambria"/>
                <a:cs typeface="Cambria"/>
              </a:rPr>
              <a:t> </a:t>
            </a:r>
            <a:r>
              <a:rPr sz="1100" spc="75" dirty="0">
                <a:latin typeface="Cambria"/>
                <a:cs typeface="Cambria"/>
              </a:rPr>
              <a:t>T</a:t>
            </a:r>
            <a:r>
              <a:rPr sz="1100" spc="50" dirty="0">
                <a:latin typeface="Cambria"/>
                <a:cs typeface="Cambria"/>
              </a:rPr>
              <a:t>rian</a:t>
            </a:r>
            <a:r>
              <a:rPr sz="1100" spc="45" dirty="0">
                <a:latin typeface="Cambria"/>
                <a:cs typeface="Cambria"/>
              </a:rPr>
              <a:t>g</a:t>
            </a:r>
            <a:r>
              <a:rPr sz="1100" spc="30" dirty="0">
                <a:latin typeface="Cambria"/>
                <a:cs typeface="Cambria"/>
              </a:rPr>
              <a:t>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2283079" y="3916553"/>
            <a:ext cx="873760" cy="590550"/>
            <a:chOff x="2283079" y="3916553"/>
            <a:chExt cx="873760" cy="590550"/>
          </a:xfrm>
        </p:grpSpPr>
        <p:sp>
          <p:nvSpPr>
            <p:cNvPr id="28" name="object 28"/>
            <p:cNvSpPr/>
            <p:nvPr/>
          </p:nvSpPr>
          <p:spPr>
            <a:xfrm>
              <a:off x="2295779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3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3" y="484632"/>
                  </a:lnTo>
                  <a:lnTo>
                    <a:pt x="714756" y="484632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295779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3" y="0"/>
                  </a:lnTo>
                  <a:lnTo>
                    <a:pt x="714756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2"/>
                  </a:lnTo>
                  <a:lnTo>
                    <a:pt x="48513" y="484632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380615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1"/>
                  </a:lnTo>
                  <a:lnTo>
                    <a:pt x="714756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70" y="436117"/>
                  </a:lnTo>
                  <a:lnTo>
                    <a:pt x="763270" y="48513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380615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69" h="485139">
                  <a:moveTo>
                    <a:pt x="0" y="48513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3"/>
                  </a:lnTo>
                  <a:lnTo>
                    <a:pt x="763270" y="436117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1"/>
                  </a:lnTo>
                  <a:lnTo>
                    <a:pt x="48514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2464054" y="4069460"/>
            <a:ext cx="594360" cy="346075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21590" marR="5080" indent="-9525">
              <a:lnSpc>
                <a:spcPts val="1200"/>
              </a:lnSpc>
              <a:spcBef>
                <a:spcPts val="240"/>
              </a:spcBef>
            </a:pPr>
            <a:r>
              <a:rPr sz="1100" spc="80" dirty="0">
                <a:latin typeface="Cambria"/>
                <a:cs typeface="Cambria"/>
              </a:rPr>
              <a:t>I</a:t>
            </a:r>
            <a:r>
              <a:rPr sz="1100" spc="35" dirty="0">
                <a:latin typeface="Cambria"/>
                <a:cs typeface="Cambria"/>
              </a:rPr>
              <a:t>s</a:t>
            </a:r>
            <a:r>
              <a:rPr sz="1100" dirty="0">
                <a:latin typeface="Cambria"/>
                <a:cs typeface="Cambria"/>
              </a:rPr>
              <a:t>os</a:t>
            </a:r>
            <a:r>
              <a:rPr sz="1100" spc="20" dirty="0">
                <a:latin typeface="Cambria"/>
                <a:cs typeface="Cambria"/>
              </a:rPr>
              <a:t>celes  </a:t>
            </a:r>
            <a:r>
              <a:rPr sz="1100" spc="75" dirty="0">
                <a:latin typeface="Cambria"/>
                <a:cs typeface="Cambria"/>
              </a:rPr>
              <a:t>T</a:t>
            </a:r>
            <a:r>
              <a:rPr sz="1100" spc="50" dirty="0">
                <a:latin typeface="Cambria"/>
                <a:cs typeface="Cambria"/>
              </a:rPr>
              <a:t>rian</a:t>
            </a:r>
            <a:r>
              <a:rPr sz="1100" spc="45" dirty="0">
                <a:latin typeface="Cambria"/>
                <a:cs typeface="Cambria"/>
              </a:rPr>
              <a:t>g</a:t>
            </a:r>
            <a:r>
              <a:rPr sz="1100" spc="30" dirty="0">
                <a:latin typeface="Cambria"/>
                <a:cs typeface="Cambria"/>
              </a:rPr>
              <a:t>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3215894" y="3916553"/>
            <a:ext cx="873760" cy="590550"/>
            <a:chOff x="3215894" y="3916553"/>
            <a:chExt cx="873760" cy="590550"/>
          </a:xfrm>
        </p:grpSpPr>
        <p:sp>
          <p:nvSpPr>
            <p:cNvPr id="34" name="object 34"/>
            <p:cNvSpPr/>
            <p:nvPr/>
          </p:nvSpPr>
          <p:spPr>
            <a:xfrm>
              <a:off x="3228594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2"/>
                  </a:lnTo>
                  <a:lnTo>
                    <a:pt x="714756" y="484632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228594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2"/>
                  </a:lnTo>
                  <a:lnTo>
                    <a:pt x="48514" y="484632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313430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1"/>
                  </a:lnTo>
                  <a:lnTo>
                    <a:pt x="714756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70" y="436117"/>
                  </a:lnTo>
                  <a:lnTo>
                    <a:pt x="763270" y="48513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3313430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3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6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3"/>
                  </a:lnTo>
                  <a:lnTo>
                    <a:pt x="763270" y="436117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6" y="484631"/>
                  </a:lnTo>
                  <a:lnTo>
                    <a:pt x="48514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3406266" y="4069460"/>
            <a:ext cx="577215" cy="346075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 marR="5080" indent="89535">
              <a:lnSpc>
                <a:spcPts val="1200"/>
              </a:lnSpc>
              <a:spcBef>
                <a:spcPts val="240"/>
              </a:spcBef>
            </a:pPr>
            <a:r>
              <a:rPr sz="1100" spc="45" dirty="0">
                <a:latin typeface="Cambria"/>
                <a:cs typeface="Cambria"/>
              </a:rPr>
              <a:t>Acute </a:t>
            </a:r>
            <a:r>
              <a:rPr sz="1100" spc="50" dirty="0">
                <a:latin typeface="Cambria"/>
                <a:cs typeface="Cambria"/>
              </a:rPr>
              <a:t> </a:t>
            </a:r>
            <a:r>
              <a:rPr sz="1100" spc="75" dirty="0">
                <a:latin typeface="Cambria"/>
                <a:cs typeface="Cambria"/>
              </a:rPr>
              <a:t>T</a:t>
            </a:r>
            <a:r>
              <a:rPr sz="1100" spc="50" dirty="0">
                <a:latin typeface="Cambria"/>
                <a:cs typeface="Cambria"/>
              </a:rPr>
              <a:t>rian</a:t>
            </a:r>
            <a:r>
              <a:rPr sz="1100" spc="45" dirty="0">
                <a:latin typeface="Cambria"/>
                <a:cs typeface="Cambria"/>
              </a:rPr>
              <a:t>g</a:t>
            </a:r>
            <a:r>
              <a:rPr sz="1100" spc="30" dirty="0">
                <a:latin typeface="Cambria"/>
                <a:cs typeface="Cambria"/>
              </a:rPr>
              <a:t>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6302121" y="3209925"/>
            <a:ext cx="873760" cy="590550"/>
            <a:chOff x="6302121" y="3209925"/>
            <a:chExt cx="873760" cy="590550"/>
          </a:xfrm>
        </p:grpSpPr>
        <p:sp>
          <p:nvSpPr>
            <p:cNvPr id="40" name="object 40"/>
            <p:cNvSpPr/>
            <p:nvPr/>
          </p:nvSpPr>
          <p:spPr>
            <a:xfrm>
              <a:off x="6314821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387" y="0"/>
                  </a:lnTo>
                  <a:lnTo>
                    <a:pt x="29575" y="3810"/>
                  </a:lnTo>
                  <a:lnTo>
                    <a:pt x="14192" y="14192"/>
                  </a:lnTo>
                  <a:lnTo>
                    <a:pt x="3810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0" y="455003"/>
                  </a:lnTo>
                  <a:lnTo>
                    <a:pt x="14192" y="470423"/>
                  </a:lnTo>
                  <a:lnTo>
                    <a:pt x="29575" y="480820"/>
                  </a:lnTo>
                  <a:lnTo>
                    <a:pt x="48387" y="484631"/>
                  </a:lnTo>
                  <a:lnTo>
                    <a:pt x="714755" y="484631"/>
                  </a:lnTo>
                  <a:lnTo>
                    <a:pt x="733567" y="480820"/>
                  </a:lnTo>
                  <a:lnTo>
                    <a:pt x="748950" y="470423"/>
                  </a:lnTo>
                  <a:lnTo>
                    <a:pt x="759333" y="455003"/>
                  </a:lnTo>
                  <a:lnTo>
                    <a:pt x="763143" y="436118"/>
                  </a:lnTo>
                  <a:lnTo>
                    <a:pt x="763143" y="48387"/>
                  </a:lnTo>
                  <a:lnTo>
                    <a:pt x="759333" y="29575"/>
                  </a:lnTo>
                  <a:lnTo>
                    <a:pt x="748950" y="14192"/>
                  </a:lnTo>
                  <a:lnTo>
                    <a:pt x="733567" y="3810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314821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0" y="29575"/>
                  </a:lnTo>
                  <a:lnTo>
                    <a:pt x="14192" y="14192"/>
                  </a:lnTo>
                  <a:lnTo>
                    <a:pt x="29575" y="3810"/>
                  </a:lnTo>
                  <a:lnTo>
                    <a:pt x="48387" y="0"/>
                  </a:lnTo>
                  <a:lnTo>
                    <a:pt x="714755" y="0"/>
                  </a:lnTo>
                  <a:lnTo>
                    <a:pt x="733567" y="3810"/>
                  </a:lnTo>
                  <a:lnTo>
                    <a:pt x="748950" y="14192"/>
                  </a:lnTo>
                  <a:lnTo>
                    <a:pt x="759333" y="29575"/>
                  </a:lnTo>
                  <a:lnTo>
                    <a:pt x="763143" y="48387"/>
                  </a:lnTo>
                  <a:lnTo>
                    <a:pt x="763143" y="436118"/>
                  </a:lnTo>
                  <a:lnTo>
                    <a:pt x="759333" y="455003"/>
                  </a:lnTo>
                  <a:lnTo>
                    <a:pt x="748950" y="470423"/>
                  </a:lnTo>
                  <a:lnTo>
                    <a:pt x="733567" y="480820"/>
                  </a:lnTo>
                  <a:lnTo>
                    <a:pt x="714755" y="484631"/>
                  </a:lnTo>
                  <a:lnTo>
                    <a:pt x="48387" y="484631"/>
                  </a:lnTo>
                  <a:lnTo>
                    <a:pt x="29575" y="480820"/>
                  </a:lnTo>
                  <a:lnTo>
                    <a:pt x="14192" y="470423"/>
                  </a:lnTo>
                  <a:lnTo>
                    <a:pt x="3810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6399530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4"/>
                  </a:lnTo>
                  <a:lnTo>
                    <a:pt x="0" y="436245"/>
                  </a:lnTo>
                  <a:lnTo>
                    <a:pt x="3811" y="455056"/>
                  </a:lnTo>
                  <a:lnTo>
                    <a:pt x="14208" y="470439"/>
                  </a:lnTo>
                  <a:lnTo>
                    <a:pt x="29628" y="480822"/>
                  </a:lnTo>
                  <a:lnTo>
                    <a:pt x="48514" y="484632"/>
                  </a:lnTo>
                  <a:lnTo>
                    <a:pt x="714755" y="484632"/>
                  </a:lnTo>
                  <a:lnTo>
                    <a:pt x="733641" y="480822"/>
                  </a:lnTo>
                  <a:lnTo>
                    <a:pt x="749061" y="470439"/>
                  </a:lnTo>
                  <a:lnTo>
                    <a:pt x="759458" y="455056"/>
                  </a:lnTo>
                  <a:lnTo>
                    <a:pt x="763270" y="436245"/>
                  </a:lnTo>
                  <a:lnTo>
                    <a:pt x="763270" y="48514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399530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4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5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4"/>
                  </a:lnTo>
                  <a:lnTo>
                    <a:pt x="763270" y="436245"/>
                  </a:lnTo>
                  <a:lnTo>
                    <a:pt x="759458" y="455056"/>
                  </a:lnTo>
                  <a:lnTo>
                    <a:pt x="749061" y="470439"/>
                  </a:lnTo>
                  <a:lnTo>
                    <a:pt x="733641" y="480822"/>
                  </a:lnTo>
                  <a:lnTo>
                    <a:pt x="714755" y="484632"/>
                  </a:lnTo>
                  <a:lnTo>
                    <a:pt x="48514" y="484632"/>
                  </a:lnTo>
                  <a:lnTo>
                    <a:pt x="29628" y="480822"/>
                  </a:lnTo>
                  <a:lnTo>
                    <a:pt x="14208" y="470439"/>
                  </a:lnTo>
                  <a:lnTo>
                    <a:pt x="3811" y="455056"/>
                  </a:lnTo>
                  <a:lnTo>
                    <a:pt x="0" y="436245"/>
                  </a:lnTo>
                  <a:lnTo>
                    <a:pt x="0" y="4851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6448805" y="3438270"/>
            <a:ext cx="66548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100" dirty="0">
                <a:latin typeface="Cambria"/>
                <a:cs typeface="Cambria"/>
              </a:rPr>
              <a:t>R</a:t>
            </a:r>
            <a:r>
              <a:rPr sz="1100" spc="25" dirty="0">
                <a:latin typeface="Cambria"/>
                <a:cs typeface="Cambria"/>
              </a:rPr>
              <a:t>ect</a:t>
            </a:r>
            <a:r>
              <a:rPr sz="1100" spc="60" dirty="0">
                <a:latin typeface="Cambria"/>
                <a:cs typeface="Cambria"/>
              </a:rPr>
              <a:t>an</a:t>
            </a:r>
            <a:r>
              <a:rPr sz="1100" spc="40" dirty="0">
                <a:latin typeface="Cambria"/>
                <a:cs typeface="Cambria"/>
              </a:rPr>
              <a:t>g</a:t>
            </a:r>
            <a:r>
              <a:rPr sz="1100" spc="30" dirty="0">
                <a:latin typeface="Cambria"/>
                <a:cs typeface="Cambria"/>
              </a:rPr>
              <a:t>le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4375022" y="3209925"/>
            <a:ext cx="2800985" cy="1297305"/>
            <a:chOff x="4375022" y="3209925"/>
            <a:chExt cx="2800985" cy="1297305"/>
          </a:xfrm>
        </p:grpSpPr>
        <p:sp>
          <p:nvSpPr>
            <p:cNvPr id="46" name="object 46"/>
            <p:cNvSpPr/>
            <p:nvPr/>
          </p:nvSpPr>
          <p:spPr>
            <a:xfrm>
              <a:off x="6314820" y="3929252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387" y="0"/>
                  </a:lnTo>
                  <a:lnTo>
                    <a:pt x="29575" y="3810"/>
                  </a:lnTo>
                  <a:lnTo>
                    <a:pt x="14192" y="14192"/>
                  </a:lnTo>
                  <a:lnTo>
                    <a:pt x="3810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0" y="455003"/>
                  </a:lnTo>
                  <a:lnTo>
                    <a:pt x="14192" y="470423"/>
                  </a:lnTo>
                  <a:lnTo>
                    <a:pt x="29575" y="480820"/>
                  </a:lnTo>
                  <a:lnTo>
                    <a:pt x="48387" y="484632"/>
                  </a:lnTo>
                  <a:lnTo>
                    <a:pt x="714755" y="484632"/>
                  </a:lnTo>
                  <a:lnTo>
                    <a:pt x="733567" y="480820"/>
                  </a:lnTo>
                  <a:lnTo>
                    <a:pt x="748950" y="470423"/>
                  </a:lnTo>
                  <a:lnTo>
                    <a:pt x="759333" y="455003"/>
                  </a:lnTo>
                  <a:lnTo>
                    <a:pt x="763143" y="436118"/>
                  </a:lnTo>
                  <a:lnTo>
                    <a:pt x="763143" y="48387"/>
                  </a:lnTo>
                  <a:lnTo>
                    <a:pt x="759333" y="29575"/>
                  </a:lnTo>
                  <a:lnTo>
                    <a:pt x="748950" y="14192"/>
                  </a:lnTo>
                  <a:lnTo>
                    <a:pt x="733567" y="3810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6314820" y="3929252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0" y="29575"/>
                  </a:lnTo>
                  <a:lnTo>
                    <a:pt x="14192" y="14192"/>
                  </a:lnTo>
                  <a:lnTo>
                    <a:pt x="29575" y="3810"/>
                  </a:lnTo>
                  <a:lnTo>
                    <a:pt x="48387" y="0"/>
                  </a:lnTo>
                  <a:lnTo>
                    <a:pt x="714755" y="0"/>
                  </a:lnTo>
                  <a:lnTo>
                    <a:pt x="733567" y="3810"/>
                  </a:lnTo>
                  <a:lnTo>
                    <a:pt x="748950" y="14192"/>
                  </a:lnTo>
                  <a:lnTo>
                    <a:pt x="759333" y="29575"/>
                  </a:lnTo>
                  <a:lnTo>
                    <a:pt x="763143" y="48387"/>
                  </a:lnTo>
                  <a:lnTo>
                    <a:pt x="763143" y="436118"/>
                  </a:lnTo>
                  <a:lnTo>
                    <a:pt x="759333" y="455003"/>
                  </a:lnTo>
                  <a:lnTo>
                    <a:pt x="748950" y="470423"/>
                  </a:lnTo>
                  <a:lnTo>
                    <a:pt x="733567" y="480820"/>
                  </a:lnTo>
                  <a:lnTo>
                    <a:pt x="714755" y="484632"/>
                  </a:lnTo>
                  <a:lnTo>
                    <a:pt x="48387" y="484632"/>
                  </a:lnTo>
                  <a:lnTo>
                    <a:pt x="29575" y="480820"/>
                  </a:lnTo>
                  <a:lnTo>
                    <a:pt x="14192" y="470423"/>
                  </a:lnTo>
                  <a:lnTo>
                    <a:pt x="3810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6399529" y="4009770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514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4" y="484631"/>
                  </a:lnTo>
                  <a:lnTo>
                    <a:pt x="714755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70" y="436117"/>
                  </a:lnTo>
                  <a:lnTo>
                    <a:pt x="763270" y="48513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399529" y="4009770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3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4" y="0"/>
                  </a:lnTo>
                  <a:lnTo>
                    <a:pt x="714755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70" y="48513"/>
                  </a:lnTo>
                  <a:lnTo>
                    <a:pt x="763270" y="436117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5" y="484631"/>
                  </a:lnTo>
                  <a:lnTo>
                    <a:pt x="48514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387722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513" y="0"/>
                  </a:lnTo>
                  <a:lnTo>
                    <a:pt x="29628" y="3810"/>
                  </a:lnTo>
                  <a:lnTo>
                    <a:pt x="14208" y="14192"/>
                  </a:lnTo>
                  <a:lnTo>
                    <a:pt x="3811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1" y="455003"/>
                  </a:lnTo>
                  <a:lnTo>
                    <a:pt x="14208" y="470423"/>
                  </a:lnTo>
                  <a:lnTo>
                    <a:pt x="29628" y="480820"/>
                  </a:lnTo>
                  <a:lnTo>
                    <a:pt x="48513" y="484631"/>
                  </a:lnTo>
                  <a:lnTo>
                    <a:pt x="714755" y="484631"/>
                  </a:lnTo>
                  <a:lnTo>
                    <a:pt x="733641" y="480820"/>
                  </a:lnTo>
                  <a:lnTo>
                    <a:pt x="749061" y="470423"/>
                  </a:lnTo>
                  <a:lnTo>
                    <a:pt x="759458" y="455003"/>
                  </a:lnTo>
                  <a:lnTo>
                    <a:pt x="763269" y="436118"/>
                  </a:lnTo>
                  <a:lnTo>
                    <a:pt x="763269" y="48387"/>
                  </a:lnTo>
                  <a:lnTo>
                    <a:pt x="759458" y="29575"/>
                  </a:lnTo>
                  <a:lnTo>
                    <a:pt x="749061" y="14192"/>
                  </a:lnTo>
                  <a:lnTo>
                    <a:pt x="733641" y="3810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87722" y="3222625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1" y="29575"/>
                  </a:lnTo>
                  <a:lnTo>
                    <a:pt x="14208" y="14192"/>
                  </a:lnTo>
                  <a:lnTo>
                    <a:pt x="29628" y="3810"/>
                  </a:lnTo>
                  <a:lnTo>
                    <a:pt x="48513" y="0"/>
                  </a:lnTo>
                  <a:lnTo>
                    <a:pt x="714755" y="0"/>
                  </a:lnTo>
                  <a:lnTo>
                    <a:pt x="733641" y="3810"/>
                  </a:lnTo>
                  <a:lnTo>
                    <a:pt x="749061" y="14192"/>
                  </a:lnTo>
                  <a:lnTo>
                    <a:pt x="759458" y="29575"/>
                  </a:lnTo>
                  <a:lnTo>
                    <a:pt x="763269" y="48387"/>
                  </a:lnTo>
                  <a:lnTo>
                    <a:pt x="763269" y="436118"/>
                  </a:lnTo>
                  <a:lnTo>
                    <a:pt x="759458" y="455003"/>
                  </a:lnTo>
                  <a:lnTo>
                    <a:pt x="749061" y="470423"/>
                  </a:lnTo>
                  <a:lnTo>
                    <a:pt x="733641" y="480820"/>
                  </a:lnTo>
                  <a:lnTo>
                    <a:pt x="714755" y="484631"/>
                  </a:lnTo>
                  <a:lnTo>
                    <a:pt x="48513" y="484631"/>
                  </a:lnTo>
                  <a:lnTo>
                    <a:pt x="29628" y="480820"/>
                  </a:lnTo>
                  <a:lnTo>
                    <a:pt x="14208" y="470423"/>
                  </a:lnTo>
                  <a:lnTo>
                    <a:pt x="3811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4472558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513" y="0"/>
                  </a:lnTo>
                  <a:lnTo>
                    <a:pt x="29628" y="3811"/>
                  </a:lnTo>
                  <a:lnTo>
                    <a:pt x="14208" y="14208"/>
                  </a:lnTo>
                  <a:lnTo>
                    <a:pt x="3811" y="29628"/>
                  </a:lnTo>
                  <a:lnTo>
                    <a:pt x="0" y="48514"/>
                  </a:lnTo>
                  <a:lnTo>
                    <a:pt x="0" y="436245"/>
                  </a:lnTo>
                  <a:lnTo>
                    <a:pt x="3811" y="455056"/>
                  </a:lnTo>
                  <a:lnTo>
                    <a:pt x="14208" y="470439"/>
                  </a:lnTo>
                  <a:lnTo>
                    <a:pt x="29628" y="480822"/>
                  </a:lnTo>
                  <a:lnTo>
                    <a:pt x="48513" y="484632"/>
                  </a:lnTo>
                  <a:lnTo>
                    <a:pt x="714755" y="484632"/>
                  </a:lnTo>
                  <a:lnTo>
                    <a:pt x="733641" y="480822"/>
                  </a:lnTo>
                  <a:lnTo>
                    <a:pt x="749061" y="470439"/>
                  </a:lnTo>
                  <a:lnTo>
                    <a:pt x="759458" y="455056"/>
                  </a:lnTo>
                  <a:lnTo>
                    <a:pt x="763269" y="436245"/>
                  </a:lnTo>
                  <a:lnTo>
                    <a:pt x="763269" y="48514"/>
                  </a:lnTo>
                  <a:lnTo>
                    <a:pt x="759458" y="29628"/>
                  </a:lnTo>
                  <a:lnTo>
                    <a:pt x="749061" y="14208"/>
                  </a:lnTo>
                  <a:lnTo>
                    <a:pt x="733641" y="3811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4472558" y="330314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4"/>
                  </a:moveTo>
                  <a:lnTo>
                    <a:pt x="3811" y="29628"/>
                  </a:lnTo>
                  <a:lnTo>
                    <a:pt x="14208" y="14208"/>
                  </a:lnTo>
                  <a:lnTo>
                    <a:pt x="29628" y="3811"/>
                  </a:lnTo>
                  <a:lnTo>
                    <a:pt x="48513" y="0"/>
                  </a:lnTo>
                  <a:lnTo>
                    <a:pt x="714755" y="0"/>
                  </a:lnTo>
                  <a:lnTo>
                    <a:pt x="733641" y="3811"/>
                  </a:lnTo>
                  <a:lnTo>
                    <a:pt x="749061" y="14208"/>
                  </a:lnTo>
                  <a:lnTo>
                    <a:pt x="759458" y="29628"/>
                  </a:lnTo>
                  <a:lnTo>
                    <a:pt x="763269" y="48514"/>
                  </a:lnTo>
                  <a:lnTo>
                    <a:pt x="763269" y="436245"/>
                  </a:lnTo>
                  <a:lnTo>
                    <a:pt x="759458" y="455056"/>
                  </a:lnTo>
                  <a:lnTo>
                    <a:pt x="749061" y="470439"/>
                  </a:lnTo>
                  <a:lnTo>
                    <a:pt x="733641" y="480822"/>
                  </a:lnTo>
                  <a:lnTo>
                    <a:pt x="714755" y="484632"/>
                  </a:lnTo>
                  <a:lnTo>
                    <a:pt x="48513" y="484632"/>
                  </a:lnTo>
                  <a:lnTo>
                    <a:pt x="29628" y="480822"/>
                  </a:lnTo>
                  <a:lnTo>
                    <a:pt x="14208" y="470439"/>
                  </a:lnTo>
                  <a:lnTo>
                    <a:pt x="3811" y="455056"/>
                  </a:lnTo>
                  <a:lnTo>
                    <a:pt x="0" y="436245"/>
                  </a:lnTo>
                  <a:lnTo>
                    <a:pt x="0" y="48514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4688840" y="3438270"/>
            <a:ext cx="33210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00" spc="140" dirty="0">
                <a:latin typeface="Cambria"/>
                <a:cs typeface="Cambria"/>
              </a:rPr>
              <a:t>O</a:t>
            </a:r>
            <a:r>
              <a:rPr sz="1100" spc="30" dirty="0">
                <a:latin typeface="Cambria"/>
                <a:cs typeface="Cambria"/>
              </a:rPr>
              <a:t>v</a:t>
            </a:r>
            <a:r>
              <a:rPr sz="1100" spc="55" dirty="0">
                <a:latin typeface="Cambria"/>
                <a:cs typeface="Cambria"/>
              </a:rPr>
              <a:t>al</a:t>
            </a:r>
            <a:endParaRPr sz="1100">
              <a:latin typeface="Cambria"/>
              <a:cs typeface="Cambria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4377182" y="3916553"/>
            <a:ext cx="873760" cy="590550"/>
            <a:chOff x="4377182" y="3916553"/>
            <a:chExt cx="873760" cy="590550"/>
          </a:xfrm>
        </p:grpSpPr>
        <p:sp>
          <p:nvSpPr>
            <p:cNvPr id="56" name="object 56"/>
            <p:cNvSpPr/>
            <p:nvPr/>
          </p:nvSpPr>
          <p:spPr>
            <a:xfrm>
              <a:off x="4389882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5" y="0"/>
                  </a:moveTo>
                  <a:lnTo>
                    <a:pt x="48387" y="0"/>
                  </a:lnTo>
                  <a:lnTo>
                    <a:pt x="29575" y="3810"/>
                  </a:lnTo>
                  <a:lnTo>
                    <a:pt x="14192" y="14192"/>
                  </a:lnTo>
                  <a:lnTo>
                    <a:pt x="3810" y="29575"/>
                  </a:lnTo>
                  <a:lnTo>
                    <a:pt x="0" y="48387"/>
                  </a:lnTo>
                  <a:lnTo>
                    <a:pt x="0" y="436118"/>
                  </a:lnTo>
                  <a:lnTo>
                    <a:pt x="3810" y="455003"/>
                  </a:lnTo>
                  <a:lnTo>
                    <a:pt x="14192" y="470423"/>
                  </a:lnTo>
                  <a:lnTo>
                    <a:pt x="29575" y="480820"/>
                  </a:lnTo>
                  <a:lnTo>
                    <a:pt x="48387" y="484632"/>
                  </a:lnTo>
                  <a:lnTo>
                    <a:pt x="714755" y="484632"/>
                  </a:lnTo>
                  <a:lnTo>
                    <a:pt x="733621" y="480820"/>
                  </a:lnTo>
                  <a:lnTo>
                    <a:pt x="748998" y="470423"/>
                  </a:lnTo>
                  <a:lnTo>
                    <a:pt x="759350" y="455003"/>
                  </a:lnTo>
                  <a:lnTo>
                    <a:pt x="763142" y="436118"/>
                  </a:lnTo>
                  <a:lnTo>
                    <a:pt x="763142" y="48387"/>
                  </a:lnTo>
                  <a:lnTo>
                    <a:pt x="759350" y="29575"/>
                  </a:lnTo>
                  <a:lnTo>
                    <a:pt x="748998" y="14192"/>
                  </a:lnTo>
                  <a:lnTo>
                    <a:pt x="733621" y="3810"/>
                  </a:lnTo>
                  <a:lnTo>
                    <a:pt x="714755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4389882" y="3929253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387"/>
                  </a:moveTo>
                  <a:lnTo>
                    <a:pt x="3810" y="29575"/>
                  </a:lnTo>
                  <a:lnTo>
                    <a:pt x="14192" y="14192"/>
                  </a:lnTo>
                  <a:lnTo>
                    <a:pt x="29575" y="3810"/>
                  </a:lnTo>
                  <a:lnTo>
                    <a:pt x="48387" y="0"/>
                  </a:lnTo>
                  <a:lnTo>
                    <a:pt x="714755" y="0"/>
                  </a:lnTo>
                  <a:lnTo>
                    <a:pt x="733621" y="3810"/>
                  </a:lnTo>
                  <a:lnTo>
                    <a:pt x="748998" y="14192"/>
                  </a:lnTo>
                  <a:lnTo>
                    <a:pt x="759350" y="29575"/>
                  </a:lnTo>
                  <a:lnTo>
                    <a:pt x="763142" y="48387"/>
                  </a:lnTo>
                  <a:lnTo>
                    <a:pt x="763142" y="436118"/>
                  </a:lnTo>
                  <a:lnTo>
                    <a:pt x="759350" y="455003"/>
                  </a:lnTo>
                  <a:lnTo>
                    <a:pt x="748998" y="470423"/>
                  </a:lnTo>
                  <a:lnTo>
                    <a:pt x="733621" y="480820"/>
                  </a:lnTo>
                  <a:lnTo>
                    <a:pt x="714755" y="484632"/>
                  </a:lnTo>
                  <a:lnTo>
                    <a:pt x="48387" y="484632"/>
                  </a:lnTo>
                  <a:lnTo>
                    <a:pt x="29575" y="480820"/>
                  </a:lnTo>
                  <a:lnTo>
                    <a:pt x="14192" y="470423"/>
                  </a:lnTo>
                  <a:lnTo>
                    <a:pt x="3810" y="455003"/>
                  </a:lnTo>
                  <a:lnTo>
                    <a:pt x="0" y="436118"/>
                  </a:lnTo>
                  <a:lnTo>
                    <a:pt x="0" y="48387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4474718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714756" y="0"/>
                  </a:moveTo>
                  <a:lnTo>
                    <a:pt x="48387" y="0"/>
                  </a:lnTo>
                  <a:lnTo>
                    <a:pt x="29521" y="3811"/>
                  </a:lnTo>
                  <a:lnTo>
                    <a:pt x="14144" y="14208"/>
                  </a:lnTo>
                  <a:lnTo>
                    <a:pt x="3792" y="29628"/>
                  </a:lnTo>
                  <a:lnTo>
                    <a:pt x="0" y="48513"/>
                  </a:lnTo>
                  <a:lnTo>
                    <a:pt x="0" y="436117"/>
                  </a:lnTo>
                  <a:lnTo>
                    <a:pt x="3792" y="455003"/>
                  </a:lnTo>
                  <a:lnTo>
                    <a:pt x="14144" y="470423"/>
                  </a:lnTo>
                  <a:lnTo>
                    <a:pt x="29521" y="480820"/>
                  </a:lnTo>
                  <a:lnTo>
                    <a:pt x="48387" y="484631"/>
                  </a:lnTo>
                  <a:lnTo>
                    <a:pt x="714756" y="484631"/>
                  </a:lnTo>
                  <a:lnTo>
                    <a:pt x="733567" y="480820"/>
                  </a:lnTo>
                  <a:lnTo>
                    <a:pt x="748950" y="470423"/>
                  </a:lnTo>
                  <a:lnTo>
                    <a:pt x="759333" y="455003"/>
                  </a:lnTo>
                  <a:lnTo>
                    <a:pt x="763143" y="436117"/>
                  </a:lnTo>
                  <a:lnTo>
                    <a:pt x="763143" y="48513"/>
                  </a:lnTo>
                  <a:lnTo>
                    <a:pt x="759333" y="29628"/>
                  </a:lnTo>
                  <a:lnTo>
                    <a:pt x="748950" y="14208"/>
                  </a:lnTo>
                  <a:lnTo>
                    <a:pt x="733567" y="3811"/>
                  </a:lnTo>
                  <a:lnTo>
                    <a:pt x="714756" y="0"/>
                  </a:lnTo>
                  <a:close/>
                </a:path>
              </a:pathLst>
            </a:custGeom>
            <a:solidFill>
              <a:srgbClr val="FFFFFF">
                <a:alpha val="90194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4474718" y="4009771"/>
              <a:ext cx="763270" cy="485140"/>
            </a:xfrm>
            <a:custGeom>
              <a:avLst/>
              <a:gdLst/>
              <a:ahLst/>
              <a:cxnLst/>
              <a:rect l="l" t="t" r="r" b="b"/>
              <a:pathLst>
                <a:path w="763270" h="485139">
                  <a:moveTo>
                    <a:pt x="0" y="48513"/>
                  </a:moveTo>
                  <a:lnTo>
                    <a:pt x="3792" y="29628"/>
                  </a:lnTo>
                  <a:lnTo>
                    <a:pt x="14144" y="14208"/>
                  </a:lnTo>
                  <a:lnTo>
                    <a:pt x="29521" y="3811"/>
                  </a:lnTo>
                  <a:lnTo>
                    <a:pt x="48387" y="0"/>
                  </a:lnTo>
                  <a:lnTo>
                    <a:pt x="714756" y="0"/>
                  </a:lnTo>
                  <a:lnTo>
                    <a:pt x="733567" y="3811"/>
                  </a:lnTo>
                  <a:lnTo>
                    <a:pt x="748950" y="14208"/>
                  </a:lnTo>
                  <a:lnTo>
                    <a:pt x="759333" y="29628"/>
                  </a:lnTo>
                  <a:lnTo>
                    <a:pt x="763143" y="48513"/>
                  </a:lnTo>
                  <a:lnTo>
                    <a:pt x="763143" y="436117"/>
                  </a:lnTo>
                  <a:lnTo>
                    <a:pt x="759333" y="455003"/>
                  </a:lnTo>
                  <a:lnTo>
                    <a:pt x="748950" y="470423"/>
                  </a:lnTo>
                  <a:lnTo>
                    <a:pt x="733567" y="480820"/>
                  </a:lnTo>
                  <a:lnTo>
                    <a:pt x="714756" y="484631"/>
                  </a:lnTo>
                  <a:lnTo>
                    <a:pt x="48387" y="484631"/>
                  </a:lnTo>
                  <a:lnTo>
                    <a:pt x="29521" y="480820"/>
                  </a:lnTo>
                  <a:lnTo>
                    <a:pt x="14144" y="470423"/>
                  </a:lnTo>
                  <a:lnTo>
                    <a:pt x="3792" y="455003"/>
                  </a:lnTo>
                  <a:lnTo>
                    <a:pt x="0" y="436117"/>
                  </a:lnTo>
                  <a:lnTo>
                    <a:pt x="0" y="48513"/>
                  </a:lnTo>
                  <a:close/>
                </a:path>
              </a:pathLst>
            </a:custGeom>
            <a:ln w="25400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4651375" y="4145026"/>
            <a:ext cx="237490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99920" algn="l"/>
              </a:tabLst>
            </a:pPr>
            <a:r>
              <a:rPr sz="1100" spc="165" dirty="0">
                <a:latin typeface="Cambria"/>
                <a:cs typeface="Cambria"/>
              </a:rPr>
              <a:t>C</a:t>
            </a:r>
            <a:r>
              <a:rPr sz="1100" spc="25" dirty="0">
                <a:latin typeface="Cambria"/>
                <a:cs typeface="Cambria"/>
              </a:rPr>
              <a:t>irc</a:t>
            </a:r>
            <a:r>
              <a:rPr sz="1100" spc="30" dirty="0">
                <a:latin typeface="Cambria"/>
                <a:cs typeface="Cambria"/>
              </a:rPr>
              <a:t>le</a:t>
            </a:r>
            <a:r>
              <a:rPr sz="1100" dirty="0">
                <a:latin typeface="Cambria"/>
                <a:cs typeface="Cambria"/>
              </a:rPr>
              <a:t>	</a:t>
            </a:r>
            <a:r>
              <a:rPr sz="1100" spc="70" dirty="0">
                <a:latin typeface="Cambria"/>
                <a:cs typeface="Cambria"/>
              </a:rPr>
              <a:t>Squ</a:t>
            </a:r>
            <a:r>
              <a:rPr sz="1100" spc="35" dirty="0">
                <a:latin typeface="Cambria"/>
                <a:cs typeface="Cambria"/>
              </a:rPr>
              <a:t>are</a:t>
            </a:r>
            <a:endParaRPr sz="1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497459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54" dirty="0"/>
              <a:t>S</a:t>
            </a:r>
            <a:r>
              <a:rPr sz="2400" spc="254" dirty="0"/>
              <a:t>TATIC</a:t>
            </a:r>
            <a:r>
              <a:rPr sz="2400" spc="320" dirty="0"/>
              <a:t> </a:t>
            </a:r>
            <a:r>
              <a:rPr sz="3000" spc="380" dirty="0"/>
              <a:t>&amp;</a:t>
            </a:r>
            <a:r>
              <a:rPr sz="3000" spc="155" dirty="0"/>
              <a:t> </a:t>
            </a:r>
            <a:r>
              <a:rPr sz="3000" spc="295" dirty="0"/>
              <a:t>D</a:t>
            </a:r>
            <a:r>
              <a:rPr sz="2400" spc="295" dirty="0"/>
              <a:t>YNAMIC</a:t>
            </a:r>
            <a:r>
              <a:rPr sz="2400" spc="300" dirty="0"/>
              <a:t> </a:t>
            </a:r>
            <a:r>
              <a:rPr sz="3000" spc="290" dirty="0"/>
              <a:t>B</a:t>
            </a:r>
            <a:r>
              <a:rPr sz="2400" spc="290" dirty="0"/>
              <a:t>INDING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6861809" cy="19678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70" dirty="0">
                <a:latin typeface="Cambria"/>
                <a:cs typeface="Cambria"/>
              </a:rPr>
              <a:t>Association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definition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the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method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90" dirty="0">
                <a:latin typeface="Cambria"/>
                <a:cs typeface="Cambria"/>
              </a:rPr>
              <a:t>call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known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binding.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5" dirty="0">
                <a:latin typeface="Cambria"/>
                <a:cs typeface="Cambria"/>
              </a:rPr>
              <a:t>2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types: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80" dirty="0">
                <a:latin typeface="Cambria"/>
                <a:cs typeface="Cambria"/>
              </a:rPr>
              <a:t>static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binding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(also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known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early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binding).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75" dirty="0">
                <a:latin typeface="Cambria"/>
                <a:cs typeface="Cambria"/>
              </a:rPr>
              <a:t>dynamic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binding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25" dirty="0">
                <a:latin typeface="Cambria"/>
                <a:cs typeface="Cambria"/>
              </a:rPr>
              <a:t>(also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known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100" dirty="0">
                <a:latin typeface="Cambria"/>
                <a:cs typeface="Cambria"/>
              </a:rPr>
              <a:t>as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late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binding).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83908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54" dirty="0"/>
              <a:t>S</a:t>
            </a:r>
            <a:r>
              <a:rPr sz="2400" spc="254" dirty="0"/>
              <a:t>TATIC</a:t>
            </a:r>
            <a:r>
              <a:rPr sz="2400" spc="265" dirty="0"/>
              <a:t> </a:t>
            </a:r>
            <a:r>
              <a:rPr sz="3000" spc="290" dirty="0"/>
              <a:t>B</a:t>
            </a:r>
            <a:r>
              <a:rPr sz="2400" spc="290" dirty="0"/>
              <a:t>INDING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291705" cy="4661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The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binding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which</a:t>
            </a:r>
            <a:r>
              <a:rPr sz="2400" spc="100" dirty="0">
                <a:latin typeface="Cambria"/>
                <a:cs typeface="Cambria"/>
              </a:rPr>
              <a:t> can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be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resolved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40" dirty="0">
                <a:latin typeface="Cambria"/>
                <a:cs typeface="Cambria"/>
              </a:rPr>
              <a:t>at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compile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tabLst>
                <a:tab pos="5492750" algn="l"/>
              </a:tabLst>
            </a:pPr>
            <a:r>
              <a:rPr sz="2400" spc="90" dirty="0">
                <a:latin typeface="Cambria"/>
                <a:cs typeface="Cambria"/>
              </a:rPr>
              <a:t>time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compiler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known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static.	</a:t>
            </a:r>
            <a:r>
              <a:rPr sz="2400" spc="185" dirty="0">
                <a:latin typeface="Cambria"/>
                <a:cs typeface="Cambria"/>
              </a:rPr>
              <a:t>Or</a:t>
            </a:r>
            <a:endParaRPr sz="2400">
              <a:latin typeface="Cambria"/>
              <a:cs typeface="Cambria"/>
            </a:endParaRPr>
          </a:p>
          <a:p>
            <a:pPr marL="285115" marR="52895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10" dirty="0">
                <a:latin typeface="Cambria"/>
                <a:cs typeface="Cambria"/>
              </a:rPr>
              <a:t>When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of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object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determined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 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compiled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time(by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compiler),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known</a:t>
            </a:r>
            <a:r>
              <a:rPr sz="2400" spc="114" dirty="0">
                <a:latin typeface="Cambria"/>
                <a:cs typeface="Cambria"/>
              </a:rPr>
              <a:t> as </a:t>
            </a:r>
            <a:r>
              <a:rPr sz="2400" spc="-51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static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binding.</a:t>
            </a:r>
            <a:endParaRPr sz="2400">
              <a:latin typeface="Cambria"/>
              <a:cs typeface="Cambria"/>
            </a:endParaRPr>
          </a:p>
          <a:p>
            <a:pPr marL="285115" marR="623570" indent="-273050">
              <a:lnSpc>
                <a:spcPts val="2870"/>
              </a:lnSpc>
              <a:spcBef>
                <a:spcPts val="7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45" dirty="0">
                <a:latin typeface="Cambria"/>
                <a:cs typeface="Cambria"/>
              </a:rPr>
              <a:t>All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static,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private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final </a:t>
            </a:r>
            <a:r>
              <a:rPr sz="2400" spc="60" dirty="0">
                <a:latin typeface="Cambria"/>
                <a:cs typeface="Cambria"/>
              </a:rPr>
              <a:t>methods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have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always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been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25" dirty="0">
                <a:latin typeface="Cambria"/>
                <a:cs typeface="Cambria"/>
              </a:rPr>
              <a:t>bonded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b="1" spc="125" dirty="0">
                <a:latin typeface="Cambria"/>
                <a:cs typeface="Cambria"/>
              </a:rPr>
              <a:t>compile-time </a:t>
            </a:r>
            <a:r>
              <a:rPr sz="2400" spc="170" dirty="0">
                <a:latin typeface="Cambria"/>
                <a:cs typeface="Cambria"/>
              </a:rPr>
              <a:t>.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42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0" dirty="0">
                <a:latin typeface="Cambria"/>
                <a:cs typeface="Cambria"/>
              </a:rPr>
              <a:t>Why?</a:t>
            </a:r>
            <a:endParaRPr sz="2100">
              <a:latin typeface="Cambria"/>
              <a:cs typeface="Cambria"/>
            </a:endParaRPr>
          </a:p>
          <a:p>
            <a:pPr marL="927100" marR="5080" lvl="2" indent="-182880">
              <a:lnSpc>
                <a:spcPct val="100000"/>
              </a:lnSpc>
              <a:spcBef>
                <a:spcPts val="445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65" dirty="0">
                <a:latin typeface="Cambria"/>
                <a:cs typeface="Cambria"/>
              </a:rPr>
              <a:t>Compiler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knows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95" dirty="0">
                <a:latin typeface="Cambria"/>
                <a:cs typeface="Cambria"/>
              </a:rPr>
              <a:t>that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85" dirty="0">
                <a:latin typeface="Cambria"/>
                <a:cs typeface="Cambria"/>
              </a:rPr>
              <a:t>all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such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methods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cannot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10" dirty="0">
                <a:latin typeface="Cambria"/>
                <a:cs typeface="Cambria"/>
              </a:rPr>
              <a:t>be</a:t>
            </a:r>
            <a:r>
              <a:rPr sz="1800" spc="125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overridden </a:t>
            </a:r>
            <a:r>
              <a:rPr sz="1800" spc="-385" dirty="0">
                <a:latin typeface="Cambria"/>
                <a:cs typeface="Cambria"/>
              </a:rPr>
              <a:t> </a:t>
            </a:r>
            <a:r>
              <a:rPr sz="1800" spc="80" dirty="0">
                <a:latin typeface="Cambria"/>
                <a:cs typeface="Cambria"/>
              </a:rPr>
              <a:t>and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will</a:t>
            </a:r>
            <a:r>
              <a:rPr sz="1800" spc="90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always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be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accessed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by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20" dirty="0">
                <a:latin typeface="Cambria"/>
                <a:cs typeface="Cambria"/>
              </a:rPr>
              <a:t>object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-5" dirty="0">
                <a:latin typeface="Cambria"/>
                <a:cs typeface="Cambria"/>
              </a:rPr>
              <a:t>of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local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70" dirty="0">
                <a:latin typeface="Cambria"/>
                <a:cs typeface="Cambria"/>
              </a:rPr>
              <a:t>class.</a:t>
            </a:r>
            <a:endParaRPr sz="1800">
              <a:latin typeface="Cambria"/>
              <a:cs typeface="Cambria"/>
            </a:endParaRPr>
          </a:p>
          <a:p>
            <a:pPr marL="927100" marR="476884" lvl="2" indent="-182880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80" dirty="0">
                <a:latin typeface="Cambria"/>
                <a:cs typeface="Cambria"/>
              </a:rPr>
              <a:t>Hence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35" dirty="0">
                <a:latin typeface="Cambria"/>
                <a:cs typeface="Cambria"/>
              </a:rPr>
              <a:t>compiler</a:t>
            </a:r>
            <a:r>
              <a:rPr sz="1800" spc="114" dirty="0">
                <a:latin typeface="Cambria"/>
                <a:cs typeface="Cambria"/>
              </a:rPr>
              <a:t> </a:t>
            </a:r>
            <a:r>
              <a:rPr sz="1800" spc="25" dirty="0">
                <a:latin typeface="Cambria"/>
                <a:cs typeface="Cambria"/>
              </a:rPr>
              <a:t>doesn’t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75" dirty="0">
                <a:latin typeface="Cambria"/>
                <a:cs typeface="Cambria"/>
              </a:rPr>
              <a:t>have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85" dirty="0">
                <a:latin typeface="Cambria"/>
                <a:cs typeface="Cambria"/>
              </a:rPr>
              <a:t>any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55" dirty="0">
                <a:latin typeface="Cambria"/>
                <a:cs typeface="Cambria"/>
              </a:rPr>
              <a:t>difficulty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to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determine </a:t>
            </a:r>
            <a:r>
              <a:rPr sz="1800" spc="-380" dirty="0">
                <a:latin typeface="Cambria"/>
                <a:cs typeface="Cambria"/>
              </a:rPr>
              <a:t> </a:t>
            </a:r>
            <a:r>
              <a:rPr sz="1800" spc="20" dirty="0">
                <a:latin typeface="Cambria"/>
                <a:cs typeface="Cambria"/>
              </a:rPr>
              <a:t>object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-5" dirty="0">
                <a:latin typeface="Cambria"/>
                <a:cs typeface="Cambria"/>
              </a:rPr>
              <a:t>of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120" dirty="0">
                <a:latin typeface="Cambria"/>
                <a:cs typeface="Cambria"/>
              </a:rPr>
              <a:t> </a:t>
            </a:r>
            <a:r>
              <a:rPr sz="1800" spc="20" dirty="0">
                <a:latin typeface="Cambria"/>
                <a:cs typeface="Cambria"/>
              </a:rPr>
              <a:t>(local</a:t>
            </a:r>
            <a:r>
              <a:rPr sz="1800" spc="8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class</a:t>
            </a:r>
            <a:r>
              <a:rPr sz="1800" spc="110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for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sure).</a:t>
            </a:r>
            <a:endParaRPr sz="1800">
              <a:latin typeface="Cambria"/>
              <a:cs typeface="Cambria"/>
            </a:endParaRPr>
          </a:p>
          <a:p>
            <a:pPr marL="927100" lvl="2" indent="-183515">
              <a:lnSpc>
                <a:spcPct val="100000"/>
              </a:lnSpc>
              <a:spcBef>
                <a:spcPts val="430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7735" algn="l"/>
              </a:tabLst>
            </a:pPr>
            <a:r>
              <a:rPr sz="1800" spc="75" dirty="0">
                <a:latin typeface="Cambria"/>
                <a:cs typeface="Cambria"/>
              </a:rPr>
              <a:t>That’s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the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45" dirty="0">
                <a:latin typeface="Cambria"/>
                <a:cs typeface="Cambria"/>
              </a:rPr>
              <a:t>reason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binding</a:t>
            </a:r>
            <a:r>
              <a:rPr sz="1800" spc="105" dirty="0">
                <a:latin typeface="Cambria"/>
                <a:cs typeface="Cambria"/>
              </a:rPr>
              <a:t> </a:t>
            </a:r>
            <a:r>
              <a:rPr sz="1800" spc="15" dirty="0">
                <a:latin typeface="Cambria"/>
                <a:cs typeface="Cambria"/>
              </a:rPr>
              <a:t>for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65" dirty="0">
                <a:latin typeface="Cambria"/>
                <a:cs typeface="Cambria"/>
              </a:rPr>
              <a:t>such</a:t>
            </a:r>
            <a:r>
              <a:rPr sz="1800" spc="100" dirty="0">
                <a:latin typeface="Cambria"/>
                <a:cs typeface="Cambria"/>
              </a:rPr>
              <a:t> </a:t>
            </a:r>
            <a:r>
              <a:rPr sz="1800" spc="50" dirty="0">
                <a:latin typeface="Cambria"/>
                <a:cs typeface="Cambria"/>
              </a:rPr>
              <a:t>methods</a:t>
            </a:r>
            <a:r>
              <a:rPr sz="1800" spc="125" dirty="0">
                <a:latin typeface="Cambria"/>
                <a:cs typeface="Cambria"/>
              </a:rPr>
              <a:t> </a:t>
            </a:r>
            <a:r>
              <a:rPr sz="1800" spc="60" dirty="0">
                <a:latin typeface="Cambria"/>
                <a:cs typeface="Cambria"/>
              </a:rPr>
              <a:t>is</a:t>
            </a:r>
            <a:r>
              <a:rPr sz="1800" spc="95" dirty="0">
                <a:latin typeface="Cambria"/>
                <a:cs typeface="Cambria"/>
              </a:rPr>
              <a:t> </a:t>
            </a:r>
            <a:r>
              <a:rPr sz="1800" spc="75" dirty="0">
                <a:latin typeface="Cambria"/>
                <a:cs typeface="Cambria"/>
              </a:rPr>
              <a:t>static.</a:t>
            </a:r>
            <a:endParaRPr sz="18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323786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295" dirty="0"/>
              <a:t>D</a:t>
            </a:r>
            <a:r>
              <a:rPr sz="2400" spc="295" dirty="0"/>
              <a:t>YNAMIC</a:t>
            </a:r>
            <a:r>
              <a:rPr sz="2400" spc="245" dirty="0"/>
              <a:t> </a:t>
            </a:r>
            <a:r>
              <a:rPr sz="3000" spc="290" dirty="0"/>
              <a:t>B</a:t>
            </a:r>
            <a:r>
              <a:rPr sz="2400" spc="290" dirty="0"/>
              <a:t>INDING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628978"/>
            <a:ext cx="7302500" cy="3677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81280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05" dirty="0">
                <a:latin typeface="Cambria"/>
                <a:cs typeface="Cambria"/>
              </a:rPr>
              <a:t>When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compiler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not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able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20" dirty="0">
                <a:latin typeface="Cambria"/>
                <a:cs typeface="Cambria"/>
              </a:rPr>
              <a:t>to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resolve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the </a:t>
            </a:r>
            <a:r>
              <a:rPr sz="2400" spc="95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call/binding</a:t>
            </a:r>
            <a:r>
              <a:rPr sz="2400" spc="10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 </a:t>
            </a:r>
            <a:r>
              <a:rPr sz="2400" spc="45" dirty="0">
                <a:latin typeface="Cambria"/>
                <a:cs typeface="Cambria"/>
              </a:rPr>
              <a:t>compile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time,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such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binding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is </a:t>
            </a:r>
            <a:r>
              <a:rPr sz="2400" spc="-509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known</a:t>
            </a:r>
            <a:r>
              <a:rPr sz="2400" spc="11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as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Dynamic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-5" dirty="0">
                <a:latin typeface="Cambria"/>
                <a:cs typeface="Cambria"/>
              </a:rPr>
              <a:t>or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late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20" dirty="0">
                <a:latin typeface="Cambria"/>
                <a:cs typeface="Cambria"/>
              </a:rPr>
              <a:t>Binding.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  <a:tab pos="1786255" algn="l"/>
              </a:tabLst>
            </a:pPr>
            <a:r>
              <a:rPr sz="2400" spc="114" dirty="0">
                <a:latin typeface="Cambria"/>
                <a:cs typeface="Cambria"/>
              </a:rPr>
              <a:t>Example:	</a:t>
            </a:r>
            <a:r>
              <a:rPr sz="2400" spc="95" dirty="0">
                <a:latin typeface="Cambria"/>
                <a:cs typeface="Cambria"/>
              </a:rPr>
              <a:t>Overriding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90" dirty="0">
                <a:latin typeface="Cambria"/>
                <a:cs typeface="Cambria"/>
              </a:rPr>
              <a:t>in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overriding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both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and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child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classes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have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same </a:t>
            </a:r>
            <a:r>
              <a:rPr sz="2100" spc="-44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method.</a:t>
            </a:r>
            <a:endParaRPr sz="2100">
              <a:latin typeface="Cambria"/>
              <a:cs typeface="Cambria"/>
            </a:endParaRPr>
          </a:p>
          <a:p>
            <a:pPr marL="652780" marR="64452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14" dirty="0">
                <a:latin typeface="Cambria"/>
                <a:cs typeface="Cambria"/>
              </a:rPr>
              <a:t>Thus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while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calling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overridden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method,</a:t>
            </a:r>
            <a:r>
              <a:rPr sz="2100" spc="9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the </a:t>
            </a:r>
            <a:r>
              <a:rPr sz="2100" spc="85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compiler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gets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confused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between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parent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95" dirty="0">
                <a:latin typeface="Cambria"/>
                <a:cs typeface="Cambria"/>
              </a:rPr>
              <a:t>and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child </a:t>
            </a:r>
            <a:r>
              <a:rPr sz="2100" spc="-45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class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method.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spc="100" dirty="0">
                <a:latin typeface="Cambria"/>
                <a:cs typeface="Cambria"/>
              </a:rPr>
              <a:t>The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method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is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30" dirty="0">
                <a:latin typeface="Cambria"/>
                <a:cs typeface="Cambria"/>
              </a:rPr>
              <a:t>decided</a:t>
            </a:r>
            <a:r>
              <a:rPr sz="2100" spc="110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during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95" dirty="0">
                <a:latin typeface="Cambria"/>
                <a:cs typeface="Cambria"/>
              </a:rPr>
              <a:t>runtime.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96239"/>
            <a:ext cx="207010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305" dirty="0"/>
              <a:t>R</a:t>
            </a:r>
            <a:r>
              <a:rPr sz="2400" spc="335" dirty="0"/>
              <a:t>E</a:t>
            </a:r>
            <a:r>
              <a:rPr sz="2400" spc="310" dirty="0"/>
              <a:t>F</a:t>
            </a:r>
            <a:r>
              <a:rPr sz="2400" spc="280" dirty="0"/>
              <a:t>E</a:t>
            </a:r>
            <a:r>
              <a:rPr sz="2400" spc="295" dirty="0"/>
              <a:t>R</a:t>
            </a:r>
            <a:r>
              <a:rPr sz="2400" spc="360" dirty="0"/>
              <a:t>EN</a:t>
            </a:r>
            <a:r>
              <a:rPr sz="2400" spc="315" dirty="0"/>
              <a:t>C</a:t>
            </a:r>
            <a:r>
              <a:rPr sz="2400" spc="350" dirty="0"/>
              <a:t>E</a:t>
            </a:r>
            <a:endParaRPr sz="2400"/>
          </a:p>
        </p:txBody>
      </p:sp>
      <p:sp>
        <p:nvSpPr>
          <p:cNvPr id="3" name="object 3"/>
          <p:cNvSpPr txBox="1"/>
          <p:nvPr/>
        </p:nvSpPr>
        <p:spPr>
          <a:xfrm>
            <a:off x="535940" y="1552763"/>
            <a:ext cx="5837555" cy="206248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3050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35" dirty="0">
                <a:latin typeface="Cambria"/>
                <a:cs typeface="Cambria"/>
              </a:rPr>
              <a:t>Java:Complete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Reference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Chapter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7,8</a:t>
            </a:r>
            <a:endParaRPr sz="2400">
              <a:latin typeface="Cambria"/>
              <a:cs typeface="Cambria"/>
            </a:endParaRPr>
          </a:p>
          <a:p>
            <a:pPr marL="285115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750" algn="l"/>
              </a:tabLst>
            </a:pPr>
            <a:r>
              <a:rPr sz="2400" spc="125" dirty="0">
                <a:latin typeface="Cambria"/>
                <a:cs typeface="Cambria"/>
              </a:rPr>
              <a:t>Online</a:t>
            </a:r>
            <a:r>
              <a:rPr sz="2400" spc="8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Reference:</a:t>
            </a:r>
            <a:endParaRPr sz="24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u="heavy" spc="20" dirty="0">
                <a:solidFill>
                  <a:srgbClr val="D2601C"/>
                </a:solidFill>
                <a:uFill>
                  <a:solidFill>
                    <a:srgbClr val="D2601C"/>
                  </a:solidFill>
                </a:uFill>
                <a:latin typeface="Cambria"/>
                <a:cs typeface="Cambria"/>
                <a:hlinkClick r:id="rId2"/>
              </a:rPr>
              <a:t>http://www.javatpoint.com/super-keyword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u="heavy" spc="10" dirty="0">
                <a:solidFill>
                  <a:srgbClr val="D2601C"/>
                </a:solidFill>
                <a:uFill>
                  <a:solidFill>
                    <a:srgbClr val="D2601C"/>
                  </a:solidFill>
                </a:uFill>
                <a:latin typeface="Cambria"/>
                <a:cs typeface="Cambria"/>
                <a:hlinkClick r:id="rId3"/>
              </a:rPr>
              <a:t>https://www.tutorialspoint.com/java/</a:t>
            </a:r>
            <a:endParaRPr sz="2100">
              <a:latin typeface="Cambria"/>
              <a:cs typeface="Cambria"/>
            </a:endParaRPr>
          </a:p>
          <a:p>
            <a:pPr marL="6527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653415" algn="l"/>
              </a:tabLst>
            </a:pPr>
            <a:r>
              <a:rPr sz="2100" u="heavy" dirty="0">
                <a:solidFill>
                  <a:srgbClr val="D2601C"/>
                </a:solidFill>
                <a:uFill>
                  <a:solidFill>
                    <a:srgbClr val="D2601C"/>
                  </a:solidFill>
                </a:uFill>
                <a:latin typeface="Cambria"/>
                <a:cs typeface="Cambria"/>
                <a:hlinkClick r:id="rId4"/>
              </a:rPr>
              <a:t>https://docs.oracle.com/javase/tutorial/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2601C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Words>4517</Words>
  <Application>Microsoft Office PowerPoint</Application>
  <PresentationFormat>On-screen Show (4:3)</PresentationFormat>
  <Paragraphs>658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Arial</vt:lpstr>
      <vt:lpstr>Arial MT</vt:lpstr>
      <vt:lpstr>Calibri</vt:lpstr>
      <vt:lpstr>Cambria</vt:lpstr>
      <vt:lpstr>Segoe UI Symbol</vt:lpstr>
      <vt:lpstr>Wingdings</vt:lpstr>
      <vt:lpstr>Office Theme</vt:lpstr>
      <vt:lpstr>PowerPoint Presentation</vt:lpstr>
      <vt:lpstr>3 PRINCIPLES</vt:lpstr>
      <vt:lpstr>INHERITANCE</vt:lpstr>
      <vt:lpstr>INHERITANCE</vt:lpstr>
      <vt:lpstr>INHERITANCE</vt:lpstr>
      <vt:lpstr>INHERITANCE</vt:lpstr>
      <vt:lpstr>INHERITANCE - EXAMPLE</vt:lpstr>
      <vt:lpstr>INHERITANCE - EXAMPLE</vt:lpstr>
      <vt:lpstr>TYPES OF INHERITANCE</vt:lpstr>
      <vt:lpstr>TYPES OF INHERITANCE</vt:lpstr>
      <vt:lpstr>INHERITANCE – SUPER KEYWORD</vt:lpstr>
      <vt:lpstr>SUPER – PARENT’S INSTANCE VARIABLE/METHOD</vt:lpstr>
      <vt:lpstr>SUPER – PARENT’S INSTANCE VARIABLE/METHOD</vt:lpstr>
      <vt:lpstr>SUPER – PARENT’S INSTANCE VARIABLE/METHOD</vt:lpstr>
      <vt:lpstr>SUPER-TO INVOKE PARENT CONSTRUCTOR.</vt:lpstr>
      <vt:lpstr>SUPER-TO INVOKE PARENT CONSTRUCTOR.</vt:lpstr>
      <vt:lpstr>SUPER-TO INVOKE PARENT CONSTRUCTOR.</vt:lpstr>
      <vt:lpstr>SUPER-TO INVOKE PARENT CONSTRUCTOR.</vt:lpstr>
      <vt:lpstr>SUPER-TO INVOKE PARENT CONSTRUCTOR.</vt:lpstr>
      <vt:lpstr>SUPER-TO INVOKE PARENT CONSTRUCTOR.</vt:lpstr>
      <vt:lpstr>SUPER-TO INVOKE PARENT CONSTRUCTOR.</vt:lpstr>
      <vt:lpstr>WHEN CONSTRUCTORS ARE EXECUTED</vt:lpstr>
      <vt:lpstr>WHEN CONSTRUCTORS ARE EXECUTED</vt:lpstr>
      <vt:lpstr>OBJECT CLASS</vt:lpstr>
      <vt:lpstr>OBJECT CLASS - METHODS</vt:lpstr>
      <vt:lpstr>ENCAPSULATION</vt:lpstr>
      <vt:lpstr>ENCAPSULATION</vt:lpstr>
      <vt:lpstr>ENCAPSULATION</vt:lpstr>
      <vt:lpstr>GETTER/SETTER METHOD</vt:lpstr>
      <vt:lpstr>BENEFIT OF ENCAPSULATION</vt:lpstr>
      <vt:lpstr>POLYMORPHISM</vt:lpstr>
      <vt:lpstr>POLYMORPHISM</vt:lpstr>
      <vt:lpstr>POLYMORPHISM</vt:lpstr>
      <vt:lpstr>METHOD OVERRIDING</vt:lpstr>
      <vt:lpstr>METHOD OVERRIDING</vt:lpstr>
      <vt:lpstr>METHOD OVERRIDING - EXAMPLE</vt:lpstr>
      <vt:lpstr>METHOD OVERRIDING - EXAMPLE(SUPER KEYWORD)</vt:lpstr>
      <vt:lpstr>METHOD OVERLOADING</vt:lpstr>
      <vt:lpstr>METHOD OVERLOADING</vt:lpstr>
      <vt:lpstr>METHOD OVERLOADING - EXAMPLE</vt:lpstr>
      <vt:lpstr>CONSTRUCTOR OVERLOADING</vt:lpstr>
      <vt:lpstr>CONSTRUCTOR OVERLOADING - EXAMPLE</vt:lpstr>
      <vt:lpstr>INVOKING OVERLOADED CONSTRUCTORS -THIS( )</vt:lpstr>
      <vt:lpstr>CONSTRUCTOR OVERLOADING - EXAMPLE</vt:lpstr>
      <vt:lpstr>CONSTRUCTOR OVERLOADING – EXAMPLE WITH THIS()</vt:lpstr>
      <vt:lpstr>SUBCLASS POLYMORPHISM</vt:lpstr>
      <vt:lpstr>SUBCLASS POLYMORPHISM - EXAMPLE</vt:lpstr>
      <vt:lpstr>SUBCLASS POLYMORPHISM –COMPILE/RUN TIME</vt:lpstr>
      <vt:lpstr>SUBCLASS POLYMORPHISM – ACCESS</vt:lpstr>
      <vt:lpstr>CASTING AND CLASSES</vt:lpstr>
      <vt:lpstr>CASTING AND CLASSES</vt:lpstr>
      <vt:lpstr>PRECAUTION WHILE DOWN CASTING</vt:lpstr>
      <vt:lpstr>POLYMORPHISM – BENEFITS</vt:lpstr>
      <vt:lpstr>POLYMORPHISM – BENEFITS</vt:lpstr>
      <vt:lpstr>POLYMORPHISM - BENEFITS</vt:lpstr>
      <vt:lpstr>POLYMORPHISM - BENEFITS</vt:lpstr>
      <vt:lpstr>STATIC &amp; DYNAMIC BINDING</vt:lpstr>
      <vt:lpstr>STATIC BINDING</vt:lpstr>
      <vt:lpstr>DYNAMIC BINDING</vt:lpstr>
      <vt:lpstr>REFERENCE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user</dc:creator>
  <cp:lastModifiedBy>1705040 - Umama Rahman</cp:lastModifiedBy>
  <cp:revision>1</cp:revision>
  <dcterms:created xsi:type="dcterms:W3CDTF">2023-09-19T16:30:57Z</dcterms:created>
  <dcterms:modified xsi:type="dcterms:W3CDTF">2023-10-09T16:53:56Z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2017-10-08T00:00:00Z</vt:filetime>
  </property>
  <property fmtid="{D5CDD505-2E9C-101B-9397-08002B2CF9AE}" pid="3" name="Creator">
    <vt:lpwstr>Microsoft® PowerPoint® 2010</vt:lpwstr>
  </property>
  <property fmtid="{D5CDD505-2E9C-101B-9397-08002B2CF9AE}" pid="4" name="LastSaved">
    <vt:filetime>2023-09-19T00:00:00Z</vt:filetime>
  </property>
</Properties>
</file>