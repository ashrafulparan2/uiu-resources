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0"/>
            <a:ext cx="444500" cy="6858000"/>
          </a:xfrm>
          <a:custGeom>
            <a:avLst/>
            <a:gdLst/>
            <a:ahLst/>
            <a:cxnLst/>
            <a:rect l="l" t="t" r="r" b="b"/>
            <a:pathLst>
              <a:path w="444500" h="6858000">
                <a:moveTo>
                  <a:pt x="0" y="6858000"/>
                </a:moveTo>
                <a:lnTo>
                  <a:pt x="444500" y="6858000"/>
                </a:lnTo>
                <a:lnTo>
                  <a:pt x="4445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775" y="0"/>
                </a:moveTo>
                <a:lnTo>
                  <a:pt x="0" y="0"/>
                </a:lnTo>
                <a:lnTo>
                  <a:pt x="0" y="6858000"/>
                </a:lnTo>
                <a:lnTo>
                  <a:pt x="104775" y="6858000"/>
                </a:lnTo>
                <a:lnTo>
                  <a:pt x="104775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562" y="0"/>
                </a:moveTo>
                <a:lnTo>
                  <a:pt x="0" y="0"/>
                </a:lnTo>
                <a:lnTo>
                  <a:pt x="0" y="6858000"/>
                </a:lnTo>
                <a:lnTo>
                  <a:pt x="182562" y="6858000"/>
                </a:lnTo>
                <a:lnTo>
                  <a:pt x="182562" y="0"/>
                </a:lnTo>
                <a:close/>
              </a:path>
            </a:pathLst>
          </a:custGeom>
          <a:solidFill>
            <a:srgbClr val="FFD9C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41412" y="0"/>
            <a:ext cx="230504" cy="6858000"/>
          </a:xfrm>
          <a:custGeom>
            <a:avLst/>
            <a:gdLst/>
            <a:ahLst/>
            <a:cxnLst/>
            <a:rect l="l" t="t" r="r" b="b"/>
            <a:pathLst>
              <a:path w="230505" h="6858000">
                <a:moveTo>
                  <a:pt x="230187" y="0"/>
                </a:moveTo>
                <a:lnTo>
                  <a:pt x="0" y="0"/>
                </a:lnTo>
                <a:lnTo>
                  <a:pt x="0" y="6858000"/>
                </a:lnTo>
                <a:lnTo>
                  <a:pt x="230187" y="6858000"/>
                </a:lnTo>
                <a:lnTo>
                  <a:pt x="230187" y="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636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14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FEC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5407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085199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2192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DC3AD">
              <a:alpha val="5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09600" y="3428999"/>
            <a:ext cx="1341755" cy="2079625"/>
          </a:xfrm>
          <a:custGeom>
            <a:avLst/>
            <a:gdLst/>
            <a:ahLst/>
            <a:cxnLst/>
            <a:rect l="l" t="t" r="r" b="b"/>
            <a:pathLst>
              <a:path w="1341755" h="2079625">
                <a:moveTo>
                  <a:pt x="1295400" y="647700"/>
                </a:moveTo>
                <a:lnTo>
                  <a:pt x="1293622" y="599363"/>
                </a:lnTo>
                <a:lnTo>
                  <a:pt x="1288376" y="551980"/>
                </a:lnTo>
                <a:lnTo>
                  <a:pt x="1279779" y="505701"/>
                </a:lnTo>
                <a:lnTo>
                  <a:pt x="1267968" y="460629"/>
                </a:lnTo>
                <a:lnTo>
                  <a:pt x="1253070" y="416890"/>
                </a:lnTo>
                <a:lnTo>
                  <a:pt x="1235202" y="374637"/>
                </a:lnTo>
                <a:lnTo>
                  <a:pt x="1214488" y="333959"/>
                </a:lnTo>
                <a:lnTo>
                  <a:pt x="1191056" y="295008"/>
                </a:lnTo>
                <a:lnTo>
                  <a:pt x="1165034" y="257898"/>
                </a:lnTo>
                <a:lnTo>
                  <a:pt x="1136535" y="222745"/>
                </a:lnTo>
                <a:lnTo>
                  <a:pt x="1105700" y="189699"/>
                </a:lnTo>
                <a:lnTo>
                  <a:pt x="1072654" y="158864"/>
                </a:lnTo>
                <a:lnTo>
                  <a:pt x="1037501" y="130365"/>
                </a:lnTo>
                <a:lnTo>
                  <a:pt x="1000391" y="104343"/>
                </a:lnTo>
                <a:lnTo>
                  <a:pt x="961440" y="80911"/>
                </a:lnTo>
                <a:lnTo>
                  <a:pt x="920762" y="60198"/>
                </a:lnTo>
                <a:lnTo>
                  <a:pt x="878509" y="42329"/>
                </a:lnTo>
                <a:lnTo>
                  <a:pt x="834771" y="27432"/>
                </a:lnTo>
                <a:lnTo>
                  <a:pt x="789698" y="15621"/>
                </a:lnTo>
                <a:lnTo>
                  <a:pt x="743419" y="7023"/>
                </a:lnTo>
                <a:lnTo>
                  <a:pt x="696036" y="1778"/>
                </a:lnTo>
                <a:lnTo>
                  <a:pt x="647700" y="0"/>
                </a:lnTo>
                <a:lnTo>
                  <a:pt x="599351" y="1778"/>
                </a:lnTo>
                <a:lnTo>
                  <a:pt x="551980" y="7023"/>
                </a:lnTo>
                <a:lnTo>
                  <a:pt x="505701" y="15621"/>
                </a:lnTo>
                <a:lnTo>
                  <a:pt x="460629" y="27432"/>
                </a:lnTo>
                <a:lnTo>
                  <a:pt x="416902" y="42329"/>
                </a:lnTo>
                <a:lnTo>
                  <a:pt x="374637" y="60198"/>
                </a:lnTo>
                <a:lnTo>
                  <a:pt x="333971" y="80911"/>
                </a:lnTo>
                <a:lnTo>
                  <a:pt x="295008" y="104343"/>
                </a:lnTo>
                <a:lnTo>
                  <a:pt x="257898" y="130365"/>
                </a:lnTo>
                <a:lnTo>
                  <a:pt x="222758" y="158864"/>
                </a:lnTo>
                <a:lnTo>
                  <a:pt x="189699" y="189699"/>
                </a:lnTo>
                <a:lnTo>
                  <a:pt x="158864" y="222745"/>
                </a:lnTo>
                <a:lnTo>
                  <a:pt x="130365" y="257898"/>
                </a:lnTo>
                <a:lnTo>
                  <a:pt x="104343" y="295008"/>
                </a:lnTo>
                <a:lnTo>
                  <a:pt x="80911" y="333959"/>
                </a:lnTo>
                <a:lnTo>
                  <a:pt x="60185" y="374637"/>
                </a:lnTo>
                <a:lnTo>
                  <a:pt x="42316" y="416890"/>
                </a:lnTo>
                <a:lnTo>
                  <a:pt x="27419" y="460629"/>
                </a:lnTo>
                <a:lnTo>
                  <a:pt x="15608" y="505701"/>
                </a:lnTo>
                <a:lnTo>
                  <a:pt x="7010" y="551980"/>
                </a:lnTo>
                <a:lnTo>
                  <a:pt x="1765" y="599363"/>
                </a:lnTo>
                <a:lnTo>
                  <a:pt x="0" y="647700"/>
                </a:lnTo>
                <a:lnTo>
                  <a:pt x="1765" y="696048"/>
                </a:lnTo>
                <a:lnTo>
                  <a:pt x="7010" y="743432"/>
                </a:lnTo>
                <a:lnTo>
                  <a:pt x="15608" y="789711"/>
                </a:lnTo>
                <a:lnTo>
                  <a:pt x="27419" y="834783"/>
                </a:lnTo>
                <a:lnTo>
                  <a:pt x="42316" y="878522"/>
                </a:lnTo>
                <a:lnTo>
                  <a:pt x="60185" y="920775"/>
                </a:lnTo>
                <a:lnTo>
                  <a:pt x="80911" y="961453"/>
                </a:lnTo>
                <a:lnTo>
                  <a:pt x="104343" y="1000404"/>
                </a:lnTo>
                <a:lnTo>
                  <a:pt x="130365" y="1037513"/>
                </a:lnTo>
                <a:lnTo>
                  <a:pt x="158864" y="1072667"/>
                </a:lnTo>
                <a:lnTo>
                  <a:pt x="189699" y="1105712"/>
                </a:lnTo>
                <a:lnTo>
                  <a:pt x="222758" y="1136548"/>
                </a:lnTo>
                <a:lnTo>
                  <a:pt x="257898" y="1165047"/>
                </a:lnTo>
                <a:lnTo>
                  <a:pt x="295008" y="1191069"/>
                </a:lnTo>
                <a:lnTo>
                  <a:pt x="333971" y="1214501"/>
                </a:lnTo>
                <a:lnTo>
                  <a:pt x="374637" y="1235214"/>
                </a:lnTo>
                <a:lnTo>
                  <a:pt x="416902" y="1253083"/>
                </a:lnTo>
                <a:lnTo>
                  <a:pt x="460629" y="1267980"/>
                </a:lnTo>
                <a:lnTo>
                  <a:pt x="505701" y="1279791"/>
                </a:lnTo>
                <a:lnTo>
                  <a:pt x="551980" y="1288389"/>
                </a:lnTo>
                <a:lnTo>
                  <a:pt x="599351" y="1293634"/>
                </a:lnTo>
                <a:lnTo>
                  <a:pt x="647700" y="1295400"/>
                </a:lnTo>
                <a:lnTo>
                  <a:pt x="696036" y="1293634"/>
                </a:lnTo>
                <a:lnTo>
                  <a:pt x="743419" y="1288389"/>
                </a:lnTo>
                <a:lnTo>
                  <a:pt x="789698" y="1279791"/>
                </a:lnTo>
                <a:lnTo>
                  <a:pt x="834771" y="1267980"/>
                </a:lnTo>
                <a:lnTo>
                  <a:pt x="878509" y="1253083"/>
                </a:lnTo>
                <a:lnTo>
                  <a:pt x="920762" y="1235214"/>
                </a:lnTo>
                <a:lnTo>
                  <a:pt x="961440" y="1214501"/>
                </a:lnTo>
                <a:lnTo>
                  <a:pt x="1000391" y="1191069"/>
                </a:lnTo>
                <a:lnTo>
                  <a:pt x="1037501" y="1165047"/>
                </a:lnTo>
                <a:lnTo>
                  <a:pt x="1072654" y="1136548"/>
                </a:lnTo>
                <a:lnTo>
                  <a:pt x="1105700" y="1105712"/>
                </a:lnTo>
                <a:lnTo>
                  <a:pt x="1136535" y="1072667"/>
                </a:lnTo>
                <a:lnTo>
                  <a:pt x="1165034" y="1037513"/>
                </a:lnTo>
                <a:lnTo>
                  <a:pt x="1191056" y="1000404"/>
                </a:lnTo>
                <a:lnTo>
                  <a:pt x="1214488" y="961453"/>
                </a:lnTo>
                <a:lnTo>
                  <a:pt x="1235202" y="920775"/>
                </a:lnTo>
                <a:lnTo>
                  <a:pt x="1253070" y="878522"/>
                </a:lnTo>
                <a:lnTo>
                  <a:pt x="1267968" y="834783"/>
                </a:lnTo>
                <a:lnTo>
                  <a:pt x="1279779" y="789711"/>
                </a:lnTo>
                <a:lnTo>
                  <a:pt x="1288376" y="743432"/>
                </a:lnTo>
                <a:lnTo>
                  <a:pt x="1293622" y="696048"/>
                </a:lnTo>
                <a:lnTo>
                  <a:pt x="1295400" y="647700"/>
                </a:lnTo>
                <a:close/>
              </a:path>
              <a:path w="1341755" h="2079625">
                <a:moveTo>
                  <a:pt x="1341501" y="1758950"/>
                </a:moveTo>
                <a:lnTo>
                  <a:pt x="1338021" y="1711553"/>
                </a:lnTo>
                <a:lnTo>
                  <a:pt x="1327912" y="1666316"/>
                </a:lnTo>
                <a:lnTo>
                  <a:pt x="1311681" y="1623745"/>
                </a:lnTo>
                <a:lnTo>
                  <a:pt x="1289812" y="1584312"/>
                </a:lnTo>
                <a:lnTo>
                  <a:pt x="1262811" y="1548549"/>
                </a:lnTo>
                <a:lnTo>
                  <a:pt x="1231176" y="1516913"/>
                </a:lnTo>
                <a:lnTo>
                  <a:pt x="1195400" y="1489925"/>
                </a:lnTo>
                <a:lnTo>
                  <a:pt x="1155979" y="1468081"/>
                </a:lnTo>
                <a:lnTo>
                  <a:pt x="1113409" y="1451851"/>
                </a:lnTo>
                <a:lnTo>
                  <a:pt x="1068197" y="1441754"/>
                </a:lnTo>
                <a:lnTo>
                  <a:pt x="1020826" y="1438275"/>
                </a:lnTo>
                <a:lnTo>
                  <a:pt x="973416" y="1441754"/>
                </a:lnTo>
                <a:lnTo>
                  <a:pt x="928179" y="1451851"/>
                </a:lnTo>
                <a:lnTo>
                  <a:pt x="885609" y="1468081"/>
                </a:lnTo>
                <a:lnTo>
                  <a:pt x="846175" y="1489925"/>
                </a:lnTo>
                <a:lnTo>
                  <a:pt x="810412" y="1516913"/>
                </a:lnTo>
                <a:lnTo>
                  <a:pt x="778776" y="1548549"/>
                </a:lnTo>
                <a:lnTo>
                  <a:pt x="751789" y="1584312"/>
                </a:lnTo>
                <a:lnTo>
                  <a:pt x="729945" y="1623745"/>
                </a:lnTo>
                <a:lnTo>
                  <a:pt x="713714" y="1666316"/>
                </a:lnTo>
                <a:lnTo>
                  <a:pt x="703618" y="1711553"/>
                </a:lnTo>
                <a:lnTo>
                  <a:pt x="700151" y="1758950"/>
                </a:lnTo>
                <a:lnTo>
                  <a:pt x="703618" y="1806359"/>
                </a:lnTo>
                <a:lnTo>
                  <a:pt x="713714" y="1851596"/>
                </a:lnTo>
                <a:lnTo>
                  <a:pt x="729945" y="1894166"/>
                </a:lnTo>
                <a:lnTo>
                  <a:pt x="751789" y="1933600"/>
                </a:lnTo>
                <a:lnTo>
                  <a:pt x="778776" y="1969363"/>
                </a:lnTo>
                <a:lnTo>
                  <a:pt x="810412" y="2000999"/>
                </a:lnTo>
                <a:lnTo>
                  <a:pt x="846175" y="2027986"/>
                </a:lnTo>
                <a:lnTo>
                  <a:pt x="885609" y="2049830"/>
                </a:lnTo>
                <a:lnTo>
                  <a:pt x="928179" y="2066061"/>
                </a:lnTo>
                <a:lnTo>
                  <a:pt x="973416" y="2076157"/>
                </a:lnTo>
                <a:lnTo>
                  <a:pt x="1020826" y="2079625"/>
                </a:lnTo>
                <a:lnTo>
                  <a:pt x="1068197" y="2076157"/>
                </a:lnTo>
                <a:lnTo>
                  <a:pt x="1113409" y="2066061"/>
                </a:lnTo>
                <a:lnTo>
                  <a:pt x="1155979" y="2049830"/>
                </a:lnTo>
                <a:lnTo>
                  <a:pt x="1195400" y="2027986"/>
                </a:lnTo>
                <a:lnTo>
                  <a:pt x="1231176" y="2000999"/>
                </a:lnTo>
                <a:lnTo>
                  <a:pt x="1262811" y="1969363"/>
                </a:lnTo>
                <a:lnTo>
                  <a:pt x="1289812" y="1933600"/>
                </a:lnTo>
                <a:lnTo>
                  <a:pt x="1311681" y="1894166"/>
                </a:lnTo>
                <a:lnTo>
                  <a:pt x="1327912" y="1851596"/>
                </a:lnTo>
                <a:lnTo>
                  <a:pt x="1338021" y="1806359"/>
                </a:lnTo>
                <a:lnTo>
                  <a:pt x="1341501" y="175895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" y="5500750"/>
            <a:ext cx="138112" cy="136461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1663700" y="4495799"/>
            <a:ext cx="606425" cy="1567180"/>
          </a:xfrm>
          <a:custGeom>
            <a:avLst/>
            <a:gdLst/>
            <a:ahLst/>
            <a:cxnLst/>
            <a:rect l="l" t="t" r="r" b="b"/>
            <a:pathLst>
              <a:path w="606425" h="1567179">
                <a:moveTo>
                  <a:pt x="274701" y="1429537"/>
                </a:moveTo>
                <a:lnTo>
                  <a:pt x="267677" y="1386141"/>
                </a:lnTo>
                <a:lnTo>
                  <a:pt x="248158" y="1348447"/>
                </a:lnTo>
                <a:lnTo>
                  <a:pt x="218401" y="1318729"/>
                </a:lnTo>
                <a:lnTo>
                  <a:pt x="180682" y="1299235"/>
                </a:lnTo>
                <a:lnTo>
                  <a:pt x="137287" y="1292225"/>
                </a:lnTo>
                <a:lnTo>
                  <a:pt x="93891" y="1299235"/>
                </a:lnTo>
                <a:lnTo>
                  <a:pt x="56197" y="1318729"/>
                </a:lnTo>
                <a:lnTo>
                  <a:pt x="26479" y="1348447"/>
                </a:lnTo>
                <a:lnTo>
                  <a:pt x="6997" y="1386141"/>
                </a:lnTo>
                <a:lnTo>
                  <a:pt x="0" y="1429537"/>
                </a:lnTo>
                <a:lnTo>
                  <a:pt x="6997" y="1472946"/>
                </a:lnTo>
                <a:lnTo>
                  <a:pt x="26479" y="1510652"/>
                </a:lnTo>
                <a:lnTo>
                  <a:pt x="56197" y="1540370"/>
                </a:lnTo>
                <a:lnTo>
                  <a:pt x="93891" y="1559864"/>
                </a:lnTo>
                <a:lnTo>
                  <a:pt x="137287" y="1566862"/>
                </a:lnTo>
                <a:lnTo>
                  <a:pt x="180682" y="1559864"/>
                </a:lnTo>
                <a:lnTo>
                  <a:pt x="218401" y="1540370"/>
                </a:lnTo>
                <a:lnTo>
                  <a:pt x="248158" y="1510652"/>
                </a:lnTo>
                <a:lnTo>
                  <a:pt x="267677" y="1472946"/>
                </a:lnTo>
                <a:lnTo>
                  <a:pt x="274701" y="1429537"/>
                </a:lnTo>
                <a:close/>
              </a:path>
              <a:path w="606425" h="1567179">
                <a:moveTo>
                  <a:pt x="606425" y="182499"/>
                </a:moveTo>
                <a:lnTo>
                  <a:pt x="599897" y="134023"/>
                </a:lnTo>
                <a:lnTo>
                  <a:pt x="581482" y="90424"/>
                </a:lnTo>
                <a:lnTo>
                  <a:pt x="552932" y="53492"/>
                </a:lnTo>
                <a:lnTo>
                  <a:pt x="516001" y="24942"/>
                </a:lnTo>
                <a:lnTo>
                  <a:pt x="472401" y="6527"/>
                </a:lnTo>
                <a:lnTo>
                  <a:pt x="423926" y="0"/>
                </a:lnTo>
                <a:lnTo>
                  <a:pt x="375373" y="6527"/>
                </a:lnTo>
                <a:lnTo>
                  <a:pt x="331749" y="24942"/>
                </a:lnTo>
                <a:lnTo>
                  <a:pt x="294792" y="53492"/>
                </a:lnTo>
                <a:lnTo>
                  <a:pt x="266230" y="90424"/>
                </a:lnTo>
                <a:lnTo>
                  <a:pt x="247815" y="134023"/>
                </a:lnTo>
                <a:lnTo>
                  <a:pt x="241300" y="182499"/>
                </a:lnTo>
                <a:lnTo>
                  <a:pt x="247815" y="231051"/>
                </a:lnTo>
                <a:lnTo>
                  <a:pt x="266230" y="274675"/>
                </a:lnTo>
                <a:lnTo>
                  <a:pt x="294792" y="311632"/>
                </a:lnTo>
                <a:lnTo>
                  <a:pt x="331749" y="340194"/>
                </a:lnTo>
                <a:lnTo>
                  <a:pt x="375373" y="358609"/>
                </a:lnTo>
                <a:lnTo>
                  <a:pt x="423926" y="365125"/>
                </a:lnTo>
                <a:lnTo>
                  <a:pt x="472401" y="358609"/>
                </a:lnTo>
                <a:lnTo>
                  <a:pt x="516001" y="340194"/>
                </a:lnTo>
                <a:lnTo>
                  <a:pt x="552932" y="311632"/>
                </a:lnTo>
                <a:lnTo>
                  <a:pt x="581482" y="274675"/>
                </a:lnTo>
                <a:lnTo>
                  <a:pt x="599897" y="231051"/>
                </a:lnTo>
                <a:lnTo>
                  <a:pt x="606425" y="182499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575" y="5715000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9415" y="4038727"/>
            <a:ext cx="6805168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28978"/>
            <a:ext cx="8072119" cy="3760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searchsoa.techtarget.com/definition/objec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nstructed_language" TargetMode="External"/><Relationship Id="rId2" Type="http://schemas.openxmlformats.org/officeDocument/2006/relationships/hyperlink" Target="https://en.wikipedia.org/wiki/Formal_languag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omputer" TargetMode="External"/><Relationship Id="rId5" Type="http://schemas.openxmlformats.org/officeDocument/2006/relationships/hyperlink" Target="https://en.wikipedia.org/wiki/Machine" TargetMode="External"/><Relationship Id="rId4" Type="http://schemas.openxmlformats.org/officeDocument/2006/relationships/hyperlink" Target="https://en.wikipedia.org/wiki/Machine_instruction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java.sun.com/products/index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9416" y="3429000"/>
            <a:ext cx="6805168" cy="17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7770">
              <a:lnSpc>
                <a:spcPct val="100000"/>
              </a:lnSpc>
              <a:spcBef>
                <a:spcPts val="100"/>
              </a:spcBef>
            </a:pPr>
            <a:r>
              <a:rPr sz="3000" spc="320" dirty="0"/>
              <a:t>I</a:t>
            </a:r>
            <a:r>
              <a:rPr spc="320" dirty="0"/>
              <a:t>NTRODUCTION</a:t>
            </a:r>
            <a:r>
              <a:rPr spc="305" dirty="0"/>
              <a:t> </a:t>
            </a:r>
            <a:r>
              <a:rPr spc="254" dirty="0"/>
              <a:t>TO</a:t>
            </a:r>
            <a:r>
              <a:rPr spc="325" dirty="0"/>
              <a:t> </a:t>
            </a:r>
            <a:r>
              <a:rPr sz="3000" spc="420" dirty="0"/>
              <a:t>OOP</a:t>
            </a:r>
            <a:r>
              <a:rPr sz="3000" spc="175" dirty="0"/>
              <a:t> </a:t>
            </a:r>
            <a:r>
              <a:rPr spc="355" dirty="0"/>
              <a:t>USING</a:t>
            </a:r>
            <a:endParaRPr sz="3000" dirty="0"/>
          </a:p>
          <a:p>
            <a:pPr marL="1207770">
              <a:lnSpc>
                <a:spcPct val="100000"/>
              </a:lnSpc>
            </a:pPr>
            <a:r>
              <a:rPr sz="3000" spc="430" dirty="0"/>
              <a:t>J</a:t>
            </a:r>
            <a:r>
              <a:rPr spc="430" dirty="0"/>
              <a:t>AVA</a:t>
            </a:r>
            <a:br>
              <a:rPr lang="en-GB" spc="430" dirty="0"/>
            </a:br>
            <a:r>
              <a:rPr lang="en-US" spc="430" dirty="0"/>
              <a:t>UMAMA RAHMAN</a:t>
            </a:r>
            <a:br>
              <a:rPr lang="en-US" spc="430" dirty="0"/>
            </a:br>
            <a:endParaRPr sz="3000" dirty="0"/>
          </a:p>
        </p:txBody>
      </p:sp>
      <p:sp>
        <p:nvSpPr>
          <p:cNvPr id="3" name="object 3"/>
          <p:cNvSpPr txBox="1"/>
          <p:nvPr/>
        </p:nvSpPr>
        <p:spPr>
          <a:xfrm>
            <a:off x="2364994" y="5033517"/>
            <a:ext cx="502640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800" b="1" spc="125" dirty="0">
                <a:solidFill>
                  <a:srgbClr val="565F6C"/>
                </a:solidFill>
                <a:latin typeface="Cambria"/>
                <a:cs typeface="Cambria"/>
              </a:rPr>
              <a:t>Acknowledged: </a:t>
            </a:r>
            <a:r>
              <a:rPr sz="1800" b="1" spc="125" dirty="0" err="1">
                <a:solidFill>
                  <a:srgbClr val="565F6C"/>
                </a:solidFill>
                <a:latin typeface="Cambria"/>
                <a:cs typeface="Cambria"/>
              </a:rPr>
              <a:t>Tanjina</a:t>
            </a:r>
            <a:r>
              <a:rPr sz="1800" b="1" spc="5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125" dirty="0">
                <a:solidFill>
                  <a:srgbClr val="565F6C"/>
                </a:solidFill>
                <a:latin typeface="Cambria"/>
                <a:cs typeface="Cambria"/>
              </a:rPr>
              <a:t>Helaly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178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35" dirty="0">
                <a:latin typeface="Cambria"/>
                <a:cs typeface="Cambria"/>
              </a:rPr>
              <a:t>W</a:t>
            </a:r>
            <a:r>
              <a:rPr b="0" spc="235" dirty="0">
                <a:latin typeface="Cambria"/>
                <a:cs typeface="Cambria"/>
              </a:rPr>
              <a:t>HAT</a:t>
            </a:r>
            <a:r>
              <a:rPr b="0" spc="265" dirty="0">
                <a:latin typeface="Cambria"/>
                <a:cs typeface="Cambria"/>
              </a:rPr>
              <a:t> </a:t>
            </a:r>
            <a:r>
              <a:rPr b="0" spc="254" dirty="0">
                <a:latin typeface="Cambria"/>
                <a:cs typeface="Cambria"/>
              </a:rPr>
              <a:t>IS</a:t>
            </a:r>
            <a:r>
              <a:rPr b="0" spc="270" dirty="0">
                <a:latin typeface="Cambria"/>
                <a:cs typeface="Cambria"/>
              </a:rPr>
              <a:t> </a:t>
            </a:r>
            <a:r>
              <a:rPr sz="3000" b="0" spc="290" dirty="0">
                <a:latin typeface="Cambria"/>
                <a:cs typeface="Cambria"/>
              </a:rPr>
              <a:t>P</a:t>
            </a:r>
            <a:r>
              <a:rPr b="0" spc="290" dirty="0">
                <a:latin typeface="Cambria"/>
                <a:cs typeface="Cambria"/>
              </a:rPr>
              <a:t>ROGRAMMING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208520" cy="24676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0" dirty="0">
                <a:latin typeface="Cambria"/>
                <a:cs typeface="Cambria"/>
              </a:rPr>
              <a:t>Instruction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computer/device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perform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task.</a:t>
            </a:r>
            <a:endParaRPr sz="2400">
              <a:latin typeface="Cambria"/>
              <a:cs typeface="Cambria"/>
            </a:endParaRPr>
          </a:p>
          <a:p>
            <a:pPr marL="285115" marR="53213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Computer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understands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only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0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1.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Nothing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else.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0" dirty="0">
                <a:latin typeface="Cambria"/>
                <a:cs typeface="Cambria"/>
              </a:rPr>
              <a:t>So,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we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send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instruction</a:t>
            </a:r>
            <a:r>
              <a:rPr sz="2400" spc="105" dirty="0">
                <a:latin typeface="Cambria"/>
                <a:cs typeface="Cambria"/>
              </a:rPr>
              <a:t> 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form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0,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1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Do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you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write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program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with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just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" dirty="0">
                <a:latin typeface="Cambria"/>
                <a:cs typeface="Cambria"/>
              </a:rPr>
              <a:t>0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1?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55181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0" spc="250" dirty="0">
                <a:latin typeface="Cambria"/>
                <a:cs typeface="Cambria"/>
              </a:rPr>
              <a:t>C</a:t>
            </a:r>
            <a:r>
              <a:rPr b="0" spc="250" dirty="0">
                <a:latin typeface="Cambria"/>
                <a:cs typeface="Cambria"/>
              </a:rPr>
              <a:t>LASSIFICATION</a:t>
            </a:r>
            <a:r>
              <a:rPr sz="3000" b="0" spc="250" dirty="0">
                <a:latin typeface="Cambria"/>
                <a:cs typeface="Cambria"/>
              </a:rPr>
              <a:t>/E</a:t>
            </a:r>
            <a:r>
              <a:rPr b="0" spc="250" dirty="0">
                <a:latin typeface="Cambria"/>
                <a:cs typeface="Cambria"/>
              </a:rPr>
              <a:t>VOLUTION </a:t>
            </a:r>
            <a:r>
              <a:rPr sz="3000" b="0" spc="340" dirty="0">
                <a:latin typeface="Cambria"/>
                <a:cs typeface="Cambria"/>
              </a:rPr>
              <a:t>O</a:t>
            </a:r>
            <a:r>
              <a:rPr b="0" spc="340" dirty="0">
                <a:latin typeface="Cambria"/>
                <a:cs typeface="Cambria"/>
              </a:rPr>
              <a:t>F </a:t>
            </a:r>
            <a:r>
              <a:rPr b="0" spc="-515" dirty="0">
                <a:latin typeface="Cambria"/>
                <a:cs typeface="Cambria"/>
              </a:rPr>
              <a:t> </a:t>
            </a:r>
            <a:r>
              <a:rPr sz="3000" b="0" spc="290" dirty="0">
                <a:latin typeface="Cambria"/>
                <a:cs typeface="Cambria"/>
              </a:rPr>
              <a:t>P</a:t>
            </a:r>
            <a:r>
              <a:rPr b="0" spc="290" dirty="0">
                <a:latin typeface="Cambria"/>
                <a:cs typeface="Cambria"/>
              </a:rPr>
              <a:t>ROGRAMMING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5264785" cy="46431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Machine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level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programming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0" dirty="0">
                <a:latin typeface="Cambria"/>
                <a:cs typeface="Cambria"/>
              </a:rPr>
              <a:t>Send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instruction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b="1" spc="140" dirty="0">
                <a:latin typeface="Cambria"/>
                <a:cs typeface="Cambria"/>
              </a:rPr>
              <a:t>binary</a:t>
            </a:r>
            <a:r>
              <a:rPr sz="2100" b="1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format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0" dirty="0">
                <a:latin typeface="Cambria"/>
                <a:cs typeface="Cambria"/>
              </a:rPr>
              <a:t>Assembly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Programming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60" dirty="0">
                <a:latin typeface="Cambria"/>
                <a:cs typeface="Cambria"/>
              </a:rPr>
              <a:t>send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b="1" spc="120" dirty="0">
                <a:latin typeface="Cambria"/>
                <a:cs typeface="Cambria"/>
              </a:rPr>
              <a:t>code</a:t>
            </a:r>
            <a:r>
              <a:rPr sz="2100" b="1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instead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binary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code.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Need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b="1" spc="110" dirty="0">
                <a:latin typeface="Cambria"/>
                <a:cs typeface="Cambria"/>
              </a:rPr>
              <a:t>assembler</a:t>
            </a:r>
            <a:r>
              <a:rPr sz="2100" b="1" spc="9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convert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binary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70" dirty="0">
                <a:latin typeface="Cambria"/>
                <a:cs typeface="Cambria"/>
              </a:rPr>
              <a:t>High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level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programming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Code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is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b="1" spc="105" dirty="0">
                <a:latin typeface="Cambria"/>
                <a:cs typeface="Cambria"/>
              </a:rPr>
              <a:t>close</a:t>
            </a:r>
            <a:r>
              <a:rPr sz="2100" b="1" spc="130" dirty="0">
                <a:latin typeface="Cambria"/>
                <a:cs typeface="Cambria"/>
              </a:rPr>
              <a:t> </a:t>
            </a:r>
            <a:r>
              <a:rPr sz="2100" b="1" spc="105" dirty="0">
                <a:latin typeface="Cambria"/>
                <a:cs typeface="Cambria"/>
              </a:rPr>
              <a:t>to</a:t>
            </a:r>
            <a:r>
              <a:rPr sz="2100" b="1" spc="135" dirty="0">
                <a:latin typeface="Cambria"/>
                <a:cs typeface="Cambria"/>
              </a:rPr>
              <a:t> </a:t>
            </a:r>
            <a:r>
              <a:rPr sz="2100" b="1" spc="170" dirty="0">
                <a:latin typeface="Cambria"/>
                <a:cs typeface="Cambria"/>
              </a:rPr>
              <a:t>English</a:t>
            </a:r>
            <a:r>
              <a:rPr sz="2100" b="1" spc="114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Language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Need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b="1" spc="150" dirty="0">
                <a:latin typeface="Cambria"/>
                <a:cs typeface="Cambria"/>
              </a:rPr>
              <a:t>Compiler</a:t>
            </a:r>
            <a:r>
              <a:rPr sz="2100" b="1" spc="10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convert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binary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5" dirty="0">
                <a:latin typeface="Cambria"/>
                <a:cs typeface="Cambria"/>
              </a:rPr>
              <a:t>3</a:t>
            </a:r>
            <a:r>
              <a:rPr sz="2100" spc="7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types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90" dirty="0">
                <a:latin typeface="Cambria"/>
                <a:cs typeface="Cambria"/>
              </a:rPr>
              <a:t>Non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structured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45" dirty="0">
                <a:latin typeface="Cambria"/>
                <a:cs typeface="Cambria"/>
              </a:rPr>
              <a:t>Structured/Procedural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65" dirty="0">
                <a:latin typeface="Cambria"/>
                <a:cs typeface="Cambria"/>
              </a:rPr>
              <a:t>Object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Oriented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Programming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55181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0" spc="250" dirty="0">
                <a:latin typeface="Cambria"/>
                <a:cs typeface="Cambria"/>
              </a:rPr>
              <a:t>C</a:t>
            </a:r>
            <a:r>
              <a:rPr b="0" spc="250" dirty="0">
                <a:latin typeface="Cambria"/>
                <a:cs typeface="Cambria"/>
              </a:rPr>
              <a:t>LASSIFICATION</a:t>
            </a:r>
            <a:r>
              <a:rPr sz="3000" b="0" spc="250" dirty="0">
                <a:latin typeface="Cambria"/>
                <a:cs typeface="Cambria"/>
              </a:rPr>
              <a:t>/E</a:t>
            </a:r>
            <a:r>
              <a:rPr b="0" spc="250" dirty="0">
                <a:latin typeface="Cambria"/>
                <a:cs typeface="Cambria"/>
              </a:rPr>
              <a:t>VOLUTION </a:t>
            </a:r>
            <a:r>
              <a:rPr sz="3000" b="0" spc="340" dirty="0">
                <a:latin typeface="Cambria"/>
                <a:cs typeface="Cambria"/>
              </a:rPr>
              <a:t>O</a:t>
            </a:r>
            <a:r>
              <a:rPr b="0" spc="340" dirty="0">
                <a:latin typeface="Cambria"/>
                <a:cs typeface="Cambria"/>
              </a:rPr>
              <a:t>F </a:t>
            </a:r>
            <a:r>
              <a:rPr b="0" spc="-515" dirty="0">
                <a:latin typeface="Cambria"/>
                <a:cs typeface="Cambria"/>
              </a:rPr>
              <a:t> </a:t>
            </a:r>
            <a:r>
              <a:rPr sz="3000" b="0" spc="290" dirty="0">
                <a:latin typeface="Cambria"/>
                <a:cs typeface="Cambria"/>
              </a:rPr>
              <a:t>P</a:t>
            </a:r>
            <a:r>
              <a:rPr b="0" spc="290" dirty="0">
                <a:latin typeface="Cambria"/>
                <a:cs typeface="Cambria"/>
              </a:rPr>
              <a:t>ROGRAMMING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1541"/>
            <a:ext cx="7242809" cy="4584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10" dirty="0">
                <a:latin typeface="Cambria"/>
                <a:cs typeface="Cambria"/>
              </a:rPr>
              <a:t>Non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structured</a:t>
            </a:r>
            <a:endParaRPr sz="22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1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90" dirty="0">
                <a:latin typeface="Cambria"/>
                <a:cs typeface="Cambria"/>
              </a:rPr>
              <a:t>Generate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spaghetti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-5" dirty="0">
                <a:latin typeface="Cambria"/>
                <a:cs typeface="Cambria"/>
              </a:rPr>
              <a:t>code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85" dirty="0">
                <a:latin typeface="Cambria"/>
                <a:cs typeface="Cambria"/>
              </a:rPr>
              <a:t>Sequential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and</a:t>
            </a:r>
            <a:r>
              <a:rPr sz="1900" spc="95" dirty="0">
                <a:latin typeface="Cambria"/>
                <a:cs typeface="Cambria"/>
              </a:rPr>
              <a:t> has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GoTo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220" dirty="0">
                <a:latin typeface="Cambria"/>
                <a:cs typeface="Cambria"/>
              </a:rPr>
              <a:t>COBOL,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spc="200" dirty="0">
                <a:latin typeface="Cambria"/>
                <a:cs typeface="Cambria"/>
              </a:rPr>
              <a:t>BASIC,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200" dirty="0">
                <a:latin typeface="Cambria"/>
                <a:cs typeface="Cambria"/>
              </a:rPr>
              <a:t>FORTRAN</a:t>
            </a:r>
            <a:endParaRPr sz="19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55" dirty="0">
                <a:latin typeface="Cambria"/>
                <a:cs typeface="Cambria"/>
              </a:rPr>
              <a:t>Structured/Procedural</a:t>
            </a:r>
            <a:endParaRPr sz="22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1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130" dirty="0">
                <a:latin typeface="Cambria"/>
                <a:cs typeface="Cambria"/>
              </a:rPr>
              <a:t>Use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Subroutine/Function</a:t>
            </a:r>
            <a:endParaRPr sz="1900">
              <a:latin typeface="Cambria"/>
              <a:cs typeface="Cambria"/>
            </a:endParaRPr>
          </a:p>
          <a:p>
            <a:pPr marL="720090" lvl="1" indent="-342900">
              <a:lnSpc>
                <a:spcPct val="10000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719455" algn="l"/>
                <a:tab pos="720725" algn="l"/>
              </a:tabLst>
            </a:pPr>
            <a:r>
              <a:rPr sz="1900" spc="55" dirty="0">
                <a:latin typeface="Cambria"/>
                <a:cs typeface="Cambria"/>
              </a:rPr>
              <a:t>improving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clarity,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quality,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and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development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time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215" dirty="0">
                <a:latin typeface="Cambria"/>
                <a:cs typeface="Cambria"/>
              </a:rPr>
              <a:t>C,</a:t>
            </a:r>
            <a:r>
              <a:rPr sz="1900" spc="60" dirty="0">
                <a:latin typeface="Cambria"/>
                <a:cs typeface="Cambria"/>
              </a:rPr>
              <a:t> </a:t>
            </a:r>
            <a:r>
              <a:rPr sz="1900" spc="225" dirty="0">
                <a:latin typeface="Cambria"/>
                <a:cs typeface="Cambria"/>
              </a:rPr>
              <a:t>PASCAL</a:t>
            </a:r>
            <a:endParaRPr sz="19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80" dirty="0">
                <a:latin typeface="Cambria"/>
                <a:cs typeface="Cambria"/>
              </a:rPr>
              <a:t>Object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Oriented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Programming</a:t>
            </a:r>
            <a:endParaRPr sz="2200">
              <a:latin typeface="Cambria"/>
              <a:cs typeface="Cambria"/>
            </a:endParaRPr>
          </a:p>
          <a:p>
            <a:pPr marL="652780" marR="476884" lvl="1" indent="-274955">
              <a:lnSpc>
                <a:spcPct val="80000"/>
              </a:lnSpc>
              <a:spcBef>
                <a:spcPts val="47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45" dirty="0">
                <a:latin typeface="Cambria"/>
                <a:cs typeface="Cambria"/>
              </a:rPr>
              <a:t>Object-oriented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programming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spc="90" dirty="0">
                <a:latin typeface="Cambria"/>
                <a:cs typeface="Cambria"/>
              </a:rPr>
              <a:t>(OOP)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is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programming </a:t>
            </a:r>
            <a:r>
              <a:rPr sz="1900" spc="-40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language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model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organized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around</a:t>
            </a:r>
            <a:r>
              <a:rPr sz="1900" spc="140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1900" u="sng" spc="2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2"/>
              </a:rPr>
              <a:t>objects</a:t>
            </a:r>
            <a:r>
              <a:rPr sz="1900" spc="120" dirty="0">
                <a:solidFill>
                  <a:srgbClr val="D2601C"/>
                </a:solidFill>
                <a:latin typeface="Cambria"/>
                <a:cs typeface="Cambria"/>
                <a:hlinkClick r:id="rId2"/>
              </a:rPr>
              <a:t> </a:t>
            </a:r>
            <a:r>
              <a:rPr sz="1900" spc="75" dirty="0">
                <a:latin typeface="Cambria"/>
                <a:cs typeface="Cambria"/>
              </a:rPr>
              <a:t>rather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05" dirty="0">
                <a:latin typeface="Cambria"/>
                <a:cs typeface="Cambria"/>
              </a:rPr>
              <a:t>than 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"actions"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and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90" dirty="0">
                <a:latin typeface="Cambria"/>
                <a:cs typeface="Cambria"/>
              </a:rPr>
              <a:t>data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rather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than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logic.</a:t>
            </a:r>
            <a:endParaRPr sz="1900">
              <a:latin typeface="Cambria"/>
              <a:cs typeface="Cambria"/>
            </a:endParaRPr>
          </a:p>
          <a:p>
            <a:pPr marL="652780" marR="5080" lvl="1" indent="-274955">
              <a:lnSpc>
                <a:spcPct val="80000"/>
              </a:lnSpc>
              <a:spcBef>
                <a:spcPts val="459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80" dirty="0">
                <a:latin typeface="Cambria"/>
                <a:cs typeface="Cambria"/>
              </a:rPr>
              <a:t>Historically,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program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has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been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viewed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90" dirty="0">
                <a:latin typeface="Cambria"/>
                <a:cs typeface="Cambria"/>
              </a:rPr>
              <a:t>as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logical </a:t>
            </a:r>
            <a:r>
              <a:rPr sz="1900" spc="55" dirty="0">
                <a:latin typeface="Cambria"/>
                <a:cs typeface="Cambria"/>
              </a:rPr>
              <a:t> </a:t>
            </a:r>
            <a:r>
              <a:rPr sz="1900" spc="25" dirty="0">
                <a:latin typeface="Cambria"/>
                <a:cs typeface="Cambria"/>
              </a:rPr>
              <a:t>procedure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spc="105" dirty="0">
                <a:latin typeface="Cambria"/>
                <a:cs typeface="Cambria"/>
              </a:rPr>
              <a:t>that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takes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input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data,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25" dirty="0">
                <a:latin typeface="Cambria"/>
                <a:cs typeface="Cambria"/>
              </a:rPr>
              <a:t>processes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it,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and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produces </a:t>
            </a:r>
            <a:r>
              <a:rPr sz="1900" spc="-40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output</a:t>
            </a:r>
            <a:r>
              <a:rPr sz="1900" spc="100" dirty="0">
                <a:latin typeface="Cambria"/>
                <a:cs typeface="Cambria"/>
              </a:rPr>
              <a:t> data.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180" dirty="0">
                <a:latin typeface="Cambria"/>
                <a:cs typeface="Cambria"/>
              </a:rPr>
              <a:t>Java,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50" dirty="0">
                <a:latin typeface="Cambria"/>
                <a:cs typeface="Cambria"/>
              </a:rPr>
              <a:t>C++,</a:t>
            </a:r>
            <a:r>
              <a:rPr sz="1900" spc="80" dirty="0">
                <a:latin typeface="Cambria"/>
                <a:cs typeface="Cambria"/>
              </a:rPr>
              <a:t> C#</a:t>
            </a:r>
            <a:endParaRPr sz="1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5585" y="2449195"/>
            <a:ext cx="19773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heavy" spc="385" dirty="0">
                <a:uFill>
                  <a:solidFill>
                    <a:srgbClr val="565F6C"/>
                  </a:solidFill>
                </a:uFill>
              </a:rPr>
              <a:t>O</a:t>
            </a:r>
            <a:r>
              <a:rPr u="heavy" spc="385" dirty="0">
                <a:uFill>
                  <a:solidFill>
                    <a:srgbClr val="565F6C"/>
                  </a:solidFill>
                </a:uFill>
              </a:rPr>
              <a:t>UR</a:t>
            </a:r>
            <a:r>
              <a:rPr u="heavy" spc="245" dirty="0">
                <a:uFill>
                  <a:solidFill>
                    <a:srgbClr val="565F6C"/>
                  </a:solidFill>
                </a:uFill>
              </a:rPr>
              <a:t> </a:t>
            </a:r>
            <a:r>
              <a:rPr sz="3000" u="heavy" spc="385" dirty="0">
                <a:uFill>
                  <a:solidFill>
                    <a:srgbClr val="565F6C"/>
                  </a:solidFill>
                </a:uFill>
              </a:rPr>
              <a:t>G</a:t>
            </a:r>
            <a:r>
              <a:rPr u="heavy" spc="385" dirty="0">
                <a:uFill>
                  <a:solidFill>
                    <a:srgbClr val="565F6C"/>
                  </a:solidFill>
                </a:uFill>
              </a:rPr>
              <a:t>OAL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725525" y="3363848"/>
            <a:ext cx="76180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spc="305" dirty="0">
                <a:solidFill>
                  <a:srgbClr val="565F6C"/>
                </a:solidFill>
                <a:latin typeface="Cambria"/>
                <a:cs typeface="Cambria"/>
              </a:rPr>
              <a:t>L</a:t>
            </a:r>
            <a:r>
              <a:rPr sz="2400" spc="305" dirty="0">
                <a:solidFill>
                  <a:srgbClr val="565F6C"/>
                </a:solidFill>
                <a:latin typeface="Cambria"/>
                <a:cs typeface="Cambria"/>
              </a:rPr>
              <a:t>EARN</a:t>
            </a:r>
            <a:r>
              <a:rPr sz="2400" spc="30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b="1" spc="430" dirty="0">
                <a:solidFill>
                  <a:srgbClr val="565F6C"/>
                </a:solidFill>
                <a:latin typeface="Cambria"/>
                <a:cs typeface="Cambria"/>
              </a:rPr>
              <a:t>O</a:t>
            </a:r>
            <a:r>
              <a:rPr sz="2400" b="1" spc="430" dirty="0">
                <a:solidFill>
                  <a:srgbClr val="565F6C"/>
                </a:solidFill>
                <a:latin typeface="Cambria"/>
                <a:cs typeface="Cambria"/>
              </a:rPr>
              <a:t>BJECT</a:t>
            </a:r>
            <a:r>
              <a:rPr sz="2400" b="1" spc="30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b="1" spc="340" dirty="0">
                <a:solidFill>
                  <a:srgbClr val="565F6C"/>
                </a:solidFill>
                <a:latin typeface="Cambria"/>
                <a:cs typeface="Cambria"/>
              </a:rPr>
              <a:t>O</a:t>
            </a:r>
            <a:r>
              <a:rPr sz="2400" b="1" spc="340" dirty="0">
                <a:solidFill>
                  <a:srgbClr val="565F6C"/>
                </a:solidFill>
                <a:latin typeface="Cambria"/>
                <a:cs typeface="Cambria"/>
              </a:rPr>
              <a:t>RIENTED</a:t>
            </a:r>
            <a:r>
              <a:rPr sz="2400" b="1" spc="32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b="1" spc="355" dirty="0">
                <a:solidFill>
                  <a:srgbClr val="565F6C"/>
                </a:solidFill>
                <a:latin typeface="Cambria"/>
                <a:cs typeface="Cambria"/>
              </a:rPr>
              <a:t>P</a:t>
            </a:r>
            <a:r>
              <a:rPr sz="2400" b="1" spc="355" dirty="0">
                <a:solidFill>
                  <a:srgbClr val="565F6C"/>
                </a:solidFill>
                <a:latin typeface="Cambria"/>
                <a:cs typeface="Cambria"/>
              </a:rPr>
              <a:t>ROGRAMMING</a:t>
            </a:r>
            <a:endParaRPr sz="24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</a:pPr>
            <a:r>
              <a:rPr sz="2400" spc="325" dirty="0">
                <a:solidFill>
                  <a:srgbClr val="565F6C"/>
                </a:solidFill>
                <a:latin typeface="Cambria"/>
                <a:cs typeface="Cambria"/>
              </a:rPr>
              <a:t>USING</a:t>
            </a:r>
            <a:r>
              <a:rPr sz="2400" spc="27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b="1" spc="434" dirty="0">
                <a:solidFill>
                  <a:srgbClr val="565F6C"/>
                </a:solidFill>
                <a:latin typeface="Cambria"/>
                <a:cs typeface="Cambria"/>
              </a:rPr>
              <a:t>J</a:t>
            </a:r>
            <a:r>
              <a:rPr sz="2400" b="1" spc="434" dirty="0">
                <a:solidFill>
                  <a:srgbClr val="565F6C"/>
                </a:solidFill>
                <a:latin typeface="Cambria"/>
                <a:cs typeface="Cambria"/>
              </a:rPr>
              <a:t>AVA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5897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90" dirty="0">
                <a:latin typeface="Cambria"/>
                <a:cs typeface="Cambria"/>
              </a:rPr>
              <a:t>P</a:t>
            </a:r>
            <a:r>
              <a:rPr b="0" spc="290" dirty="0">
                <a:latin typeface="Cambria"/>
                <a:cs typeface="Cambria"/>
              </a:rPr>
              <a:t>ROGRAMMING</a:t>
            </a:r>
            <a:r>
              <a:rPr b="0" spc="254" dirty="0">
                <a:latin typeface="Cambria"/>
                <a:cs typeface="Cambria"/>
              </a:rPr>
              <a:t> </a:t>
            </a:r>
            <a:r>
              <a:rPr sz="3000" b="0" spc="335" dirty="0">
                <a:latin typeface="Cambria"/>
                <a:cs typeface="Cambria"/>
              </a:rPr>
              <a:t>L</a:t>
            </a:r>
            <a:r>
              <a:rPr b="0" spc="335" dirty="0">
                <a:latin typeface="Cambria"/>
                <a:cs typeface="Cambria"/>
              </a:rPr>
              <a:t>ANGUAGE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989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programming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language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40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2400" u="heavy" spc="8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2"/>
              </a:rPr>
              <a:t>formal</a:t>
            </a:r>
            <a:r>
              <a:rPr sz="2400" spc="114" dirty="0">
                <a:solidFill>
                  <a:srgbClr val="D2601C"/>
                </a:solidFill>
                <a:latin typeface="Cambria"/>
                <a:cs typeface="Cambria"/>
                <a:hlinkClick r:id="rId2"/>
              </a:rPr>
              <a:t> </a:t>
            </a:r>
            <a:r>
              <a:rPr sz="2400" u="heavy" spc="6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3"/>
              </a:rPr>
              <a:t>constructed </a:t>
            </a:r>
            <a:r>
              <a:rPr sz="2400" spc="-515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2400" u="heavy" spc="11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3"/>
              </a:rPr>
              <a:t>language</a:t>
            </a:r>
            <a:r>
              <a:rPr sz="2400" spc="135" dirty="0">
                <a:solidFill>
                  <a:srgbClr val="D2601C"/>
                </a:solidFill>
                <a:latin typeface="Cambria"/>
                <a:cs typeface="Cambria"/>
                <a:hlinkClick r:id="rId3"/>
              </a:rPr>
              <a:t> </a:t>
            </a:r>
            <a:r>
              <a:rPr sz="2400" spc="65" dirty="0">
                <a:latin typeface="Cambria"/>
                <a:cs typeface="Cambria"/>
              </a:rPr>
              <a:t>designed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communicate</a:t>
            </a:r>
            <a:r>
              <a:rPr sz="2400" spc="114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2400" u="heavy" spc="8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4"/>
              </a:rPr>
              <a:t>instructions </a:t>
            </a:r>
            <a:r>
              <a:rPr sz="2400" spc="85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2400" u="heavy" spc="10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5"/>
              </a:rPr>
              <a:t>machine</a:t>
            </a:r>
            <a:r>
              <a:rPr sz="2400" spc="100" dirty="0">
                <a:latin typeface="Cambria"/>
                <a:cs typeface="Cambria"/>
              </a:rPr>
              <a:t>,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particularly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55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2400" u="heavy" spc="7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6"/>
              </a:rPr>
              <a:t>computer</a:t>
            </a:r>
            <a:r>
              <a:rPr sz="2400" spc="70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798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90" dirty="0">
                <a:latin typeface="Cambria"/>
                <a:cs typeface="Cambria"/>
              </a:rPr>
              <a:t>J</a:t>
            </a:r>
            <a:r>
              <a:rPr b="0" spc="290" dirty="0">
                <a:latin typeface="Cambria"/>
                <a:cs typeface="Cambria"/>
              </a:rPr>
              <a:t>AVA</a:t>
            </a:r>
            <a:r>
              <a:rPr sz="3000" b="0" spc="290" dirty="0">
                <a:latin typeface="Cambria"/>
                <a:cs typeface="Cambria"/>
              </a:rPr>
              <a:t>’</a:t>
            </a:r>
            <a:r>
              <a:rPr b="0" spc="290" dirty="0">
                <a:latin typeface="Cambria"/>
                <a:cs typeface="Cambria"/>
              </a:rPr>
              <a:t>S</a:t>
            </a:r>
            <a:r>
              <a:rPr b="0" spc="260" dirty="0">
                <a:latin typeface="Cambria"/>
                <a:cs typeface="Cambria"/>
              </a:rPr>
              <a:t> </a:t>
            </a:r>
            <a:r>
              <a:rPr sz="3000" b="0" spc="315" dirty="0">
                <a:latin typeface="Cambria"/>
                <a:cs typeface="Cambria"/>
              </a:rPr>
              <a:t>L</a:t>
            </a:r>
            <a:r>
              <a:rPr b="0" spc="315" dirty="0">
                <a:latin typeface="Cambria"/>
                <a:cs typeface="Cambria"/>
              </a:rPr>
              <a:t>INEAGE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15505" cy="2711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related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95" dirty="0">
                <a:latin typeface="Cambria"/>
                <a:cs typeface="Cambria"/>
              </a:rPr>
              <a:t>C++,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which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direct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60" dirty="0">
                <a:latin typeface="Cambria"/>
                <a:cs typeface="Cambria"/>
              </a:rPr>
              <a:t>descendent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70" dirty="0">
                <a:latin typeface="Cambria"/>
                <a:cs typeface="Cambria"/>
              </a:rPr>
              <a:t>C.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30" dirty="0">
                <a:latin typeface="Cambria"/>
                <a:cs typeface="Cambria"/>
              </a:rPr>
              <a:t>Much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character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15" dirty="0">
                <a:latin typeface="Cambria"/>
                <a:cs typeface="Cambria"/>
              </a:rPr>
              <a:t>Java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inherited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from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these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10" dirty="0">
                <a:latin typeface="Cambria"/>
                <a:cs typeface="Cambria"/>
              </a:rPr>
              <a:t>two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languages.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0" dirty="0">
                <a:latin typeface="Cambria"/>
                <a:cs typeface="Cambria"/>
              </a:rPr>
              <a:t>From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70" dirty="0">
                <a:latin typeface="Cambria"/>
                <a:cs typeface="Cambria"/>
              </a:rPr>
              <a:t>C,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derives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its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syntax.</a:t>
            </a:r>
            <a:endParaRPr sz="2400">
              <a:latin typeface="Cambria"/>
              <a:cs typeface="Cambria"/>
            </a:endParaRPr>
          </a:p>
          <a:p>
            <a:pPr marL="285115" marR="6407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5" dirty="0">
                <a:latin typeface="Cambria"/>
                <a:cs typeface="Cambria"/>
              </a:rPr>
              <a:t>Many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Java’s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object-oriented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features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were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influenced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95" dirty="0">
                <a:latin typeface="Cambria"/>
                <a:cs typeface="Cambria"/>
              </a:rPr>
              <a:t>C++.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42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70" dirty="0">
                <a:latin typeface="Cambria"/>
                <a:cs typeface="Cambria"/>
              </a:rPr>
              <a:t>J</a:t>
            </a:r>
            <a:r>
              <a:rPr b="0" spc="370" dirty="0">
                <a:latin typeface="Cambria"/>
                <a:cs typeface="Cambria"/>
              </a:rPr>
              <a:t>AVA</a:t>
            </a:r>
            <a:r>
              <a:rPr b="0" spc="300" dirty="0">
                <a:latin typeface="Cambria"/>
                <a:cs typeface="Cambria"/>
              </a:rPr>
              <a:t> </a:t>
            </a:r>
            <a:r>
              <a:rPr sz="3000" b="0" dirty="0">
                <a:latin typeface="Cambria"/>
                <a:cs typeface="Cambria"/>
              </a:rPr>
              <a:t>-</a:t>
            </a:r>
            <a:r>
              <a:rPr sz="3000" b="0" spc="145" dirty="0">
                <a:latin typeface="Cambria"/>
                <a:cs typeface="Cambria"/>
              </a:rPr>
              <a:t> </a:t>
            </a:r>
            <a:r>
              <a:rPr sz="3000" b="0" spc="280" dirty="0">
                <a:latin typeface="Cambria"/>
                <a:cs typeface="Cambria"/>
              </a:rPr>
              <a:t>C</a:t>
            </a:r>
            <a:r>
              <a:rPr b="0" spc="280" dirty="0">
                <a:latin typeface="Cambria"/>
                <a:cs typeface="Cambria"/>
              </a:rPr>
              <a:t>HARACTERISTICS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38365" cy="5026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0" dirty="0">
                <a:latin typeface="Cambria"/>
                <a:cs typeface="Cambria"/>
              </a:rPr>
              <a:t>Uses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C/C++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basic</a:t>
            </a:r>
            <a:r>
              <a:rPr sz="2000" spc="100" dirty="0">
                <a:latin typeface="Cambria"/>
                <a:cs typeface="Cambria"/>
              </a:rPr>
              <a:t> syntax</a:t>
            </a:r>
            <a:r>
              <a:rPr sz="2000" spc="90" dirty="0">
                <a:latin typeface="Cambria"/>
                <a:cs typeface="Cambria"/>
              </a:rPr>
              <a:t> and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basic</a:t>
            </a:r>
            <a:r>
              <a:rPr sz="2000" spc="100" dirty="0">
                <a:latin typeface="Cambria"/>
                <a:cs typeface="Cambria"/>
              </a:rPr>
              <a:t> data </a:t>
            </a:r>
            <a:r>
              <a:rPr sz="2000" spc="60" dirty="0">
                <a:latin typeface="Cambria"/>
                <a:cs typeface="Cambria"/>
              </a:rPr>
              <a:t>types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-int,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char,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80" dirty="0">
                <a:latin typeface="Cambria"/>
                <a:cs typeface="Cambria"/>
              </a:rPr>
              <a:t>float,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double,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long,</a:t>
            </a:r>
            <a:r>
              <a:rPr sz="2000" spc="70" dirty="0">
                <a:latin typeface="Cambria"/>
                <a:cs typeface="Cambria"/>
              </a:rPr>
              <a:t> short,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byte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etc.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5" dirty="0">
                <a:latin typeface="Cambria"/>
                <a:cs typeface="Cambria"/>
              </a:rPr>
              <a:t>Uses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standard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C/C++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control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structures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70" dirty="0">
                <a:latin typeface="Cambria"/>
                <a:cs typeface="Cambria"/>
              </a:rPr>
              <a:t>“Pure”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250" dirty="0">
                <a:latin typeface="Cambria"/>
                <a:cs typeface="Cambria"/>
              </a:rPr>
              <a:t>OO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language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05" dirty="0">
                <a:latin typeface="Cambria"/>
                <a:cs typeface="Cambria"/>
              </a:rPr>
              <a:t>No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stand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alone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functions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-</a:t>
            </a:r>
            <a:r>
              <a:rPr sz="2000" b="1" spc="100" dirty="0">
                <a:latin typeface="Cambria"/>
                <a:cs typeface="Cambria"/>
              </a:rPr>
              <a:t>All </a:t>
            </a:r>
            <a:r>
              <a:rPr sz="2000" b="1" spc="114" dirty="0">
                <a:latin typeface="Cambria"/>
                <a:cs typeface="Cambria"/>
              </a:rPr>
              <a:t>code</a:t>
            </a:r>
            <a:r>
              <a:rPr sz="2000" b="1" spc="130" dirty="0">
                <a:latin typeface="Cambria"/>
                <a:cs typeface="Cambria"/>
              </a:rPr>
              <a:t> </a:t>
            </a:r>
            <a:r>
              <a:rPr sz="2000" b="1" spc="95" dirty="0">
                <a:latin typeface="Cambria"/>
                <a:cs typeface="Cambria"/>
              </a:rPr>
              <a:t>is</a:t>
            </a:r>
            <a:r>
              <a:rPr sz="2000" b="1" spc="125" dirty="0">
                <a:latin typeface="Cambria"/>
                <a:cs typeface="Cambria"/>
              </a:rPr>
              <a:t> </a:t>
            </a:r>
            <a:r>
              <a:rPr sz="2000" b="1" spc="130" dirty="0">
                <a:latin typeface="Cambria"/>
                <a:cs typeface="Cambria"/>
              </a:rPr>
              <a:t>part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of</a:t>
            </a:r>
            <a:r>
              <a:rPr sz="2000" b="1" spc="114" dirty="0">
                <a:latin typeface="Cambria"/>
                <a:cs typeface="Cambria"/>
              </a:rPr>
              <a:t> </a:t>
            </a:r>
            <a:r>
              <a:rPr sz="2000" b="1" spc="155" dirty="0">
                <a:latin typeface="Cambria"/>
                <a:cs typeface="Cambria"/>
              </a:rPr>
              <a:t>a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class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05" dirty="0">
                <a:latin typeface="Cambria"/>
                <a:cs typeface="Cambria"/>
              </a:rPr>
              <a:t>No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explicit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pointers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uses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references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5" dirty="0">
                <a:latin typeface="Cambria"/>
                <a:cs typeface="Cambria"/>
              </a:rPr>
              <a:t>Uses</a:t>
            </a:r>
            <a:r>
              <a:rPr sz="2000" spc="75" dirty="0">
                <a:latin typeface="Cambria"/>
                <a:cs typeface="Cambria"/>
              </a:rPr>
              <a:t> garbage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collection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204" dirty="0">
                <a:latin typeface="Cambria"/>
                <a:cs typeface="Cambria"/>
              </a:rPr>
              <a:t>Java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strongly </a:t>
            </a:r>
            <a:r>
              <a:rPr sz="2000" spc="50" dirty="0">
                <a:latin typeface="Cambria"/>
                <a:cs typeface="Cambria"/>
              </a:rPr>
              <a:t>typed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210" dirty="0">
                <a:latin typeface="Cambria"/>
                <a:cs typeface="Cambria"/>
              </a:rPr>
              <a:t>Java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normally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compiled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bytecode.</a:t>
            </a:r>
            <a:endParaRPr sz="2000">
              <a:latin typeface="Cambria"/>
              <a:cs typeface="Cambria"/>
            </a:endParaRPr>
          </a:p>
          <a:p>
            <a:pPr marL="652780" marR="448309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210" dirty="0">
                <a:latin typeface="Cambria"/>
                <a:cs typeface="Cambria"/>
              </a:rPr>
              <a:t>Java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bytecode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machine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language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for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an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abstract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machine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125" dirty="0">
                <a:latin typeface="Cambria"/>
                <a:cs typeface="Cambria"/>
              </a:rPr>
              <a:t>Makes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Java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secure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Portable</a:t>
            </a:r>
            <a:endParaRPr sz="20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35" dirty="0">
                <a:latin typeface="Cambria"/>
                <a:cs typeface="Cambria"/>
              </a:rPr>
              <a:t>Each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platform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(or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" dirty="0">
                <a:latin typeface="Cambria"/>
                <a:cs typeface="Cambria"/>
              </a:rPr>
              <a:t>browser)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that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runs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204" dirty="0">
                <a:latin typeface="Cambria"/>
                <a:cs typeface="Cambria"/>
              </a:rPr>
              <a:t>Java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has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Java 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Virtual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Machine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60" dirty="0">
                <a:latin typeface="Cambria"/>
                <a:cs typeface="Cambria"/>
              </a:rPr>
              <a:t>(JVM)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45" dirty="0">
                <a:latin typeface="Cambria"/>
                <a:cs typeface="Cambria"/>
              </a:rPr>
              <a:t>.</a:t>
            </a:r>
            <a:r>
              <a:rPr sz="2000" spc="95" dirty="0">
                <a:latin typeface="Cambria"/>
                <a:cs typeface="Cambria"/>
              </a:rPr>
              <a:t> The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330" dirty="0">
                <a:latin typeface="Cambria"/>
                <a:cs typeface="Cambria"/>
              </a:rPr>
              <a:t>JVM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executes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Java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bytecodes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985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70" dirty="0">
                <a:latin typeface="Cambria"/>
                <a:cs typeface="Cambria"/>
              </a:rPr>
              <a:t>J</a:t>
            </a:r>
            <a:r>
              <a:rPr b="0" spc="370" dirty="0">
                <a:latin typeface="Cambria"/>
                <a:cs typeface="Cambria"/>
              </a:rPr>
              <a:t>AVA</a:t>
            </a:r>
            <a:r>
              <a:rPr b="0" spc="305" dirty="0">
                <a:latin typeface="Cambria"/>
                <a:cs typeface="Cambria"/>
              </a:rPr>
              <a:t> </a:t>
            </a:r>
            <a:r>
              <a:rPr sz="3000" b="0" spc="165" dirty="0">
                <a:latin typeface="Cambria"/>
                <a:cs typeface="Cambria"/>
              </a:rPr>
              <a:t>–</a:t>
            </a:r>
            <a:r>
              <a:rPr sz="3000" b="0" spc="140" dirty="0">
                <a:latin typeface="Cambria"/>
                <a:cs typeface="Cambria"/>
              </a:rPr>
              <a:t> </a:t>
            </a:r>
            <a:r>
              <a:rPr sz="3000" b="0" spc="305" dirty="0">
                <a:latin typeface="Cambria"/>
                <a:cs typeface="Cambria"/>
              </a:rPr>
              <a:t>T</a:t>
            </a:r>
            <a:r>
              <a:rPr b="0" spc="305" dirty="0">
                <a:latin typeface="Cambria"/>
                <a:cs typeface="Cambria"/>
              </a:rPr>
              <a:t>HE</a:t>
            </a:r>
            <a:r>
              <a:rPr b="0" spc="280" dirty="0">
                <a:latin typeface="Cambria"/>
                <a:cs typeface="Cambria"/>
              </a:rPr>
              <a:t> </a:t>
            </a:r>
            <a:r>
              <a:rPr sz="3000" b="0" spc="270" dirty="0">
                <a:latin typeface="Cambria"/>
                <a:cs typeface="Cambria"/>
              </a:rPr>
              <a:t>P</a:t>
            </a:r>
            <a:r>
              <a:rPr b="0" spc="270" dirty="0">
                <a:latin typeface="Cambria"/>
                <a:cs typeface="Cambria"/>
              </a:rPr>
              <a:t>LATFORM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96150" cy="3641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17208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 </a:t>
            </a:r>
            <a:r>
              <a:rPr sz="2400" spc="125" dirty="0">
                <a:latin typeface="Cambria"/>
                <a:cs typeface="Cambria"/>
              </a:rPr>
              <a:t>has </a:t>
            </a:r>
            <a:r>
              <a:rPr sz="2400" spc="160" dirty="0">
                <a:latin typeface="Cambria"/>
                <a:cs typeface="Cambria"/>
              </a:rPr>
              <a:t>a </a:t>
            </a:r>
            <a:r>
              <a:rPr sz="2400" spc="95" dirty="0">
                <a:latin typeface="Cambria"/>
                <a:cs typeface="Cambria"/>
              </a:rPr>
              <a:t>large </a:t>
            </a:r>
            <a:r>
              <a:rPr sz="2400" spc="215" dirty="0">
                <a:latin typeface="Cambria"/>
                <a:cs typeface="Cambria"/>
              </a:rPr>
              <a:t>API </a:t>
            </a:r>
            <a:r>
              <a:rPr sz="2400" spc="60" dirty="0">
                <a:latin typeface="Cambria"/>
                <a:cs typeface="Cambria"/>
              </a:rPr>
              <a:t>(application </a:t>
            </a:r>
            <a:r>
              <a:rPr sz="2400" spc="80" dirty="0">
                <a:latin typeface="Cambria"/>
                <a:cs typeface="Cambria"/>
              </a:rPr>
              <a:t>programming 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interface)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covering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wide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range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areas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The 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following</a:t>
            </a:r>
            <a:r>
              <a:rPr sz="2400" spc="95" dirty="0">
                <a:latin typeface="Cambria"/>
                <a:cs typeface="Cambria"/>
              </a:rPr>
              <a:t> list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80" dirty="0">
                <a:latin typeface="Cambria"/>
                <a:cs typeface="Cambria"/>
              </a:rPr>
              <a:t>APIs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applications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95" dirty="0">
                <a:latin typeface="Cambria"/>
                <a:cs typeface="Cambria"/>
              </a:rPr>
              <a:t>Sun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show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range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applications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7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For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reference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  <a:hlinkClick r:id="rId2"/>
              </a:rPr>
              <a:t>http://java.sun.com/products/index.html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Foundation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Classes </a:t>
            </a:r>
            <a:r>
              <a:rPr sz="2400" spc="210" dirty="0">
                <a:latin typeface="Cambria"/>
                <a:cs typeface="Cambria"/>
              </a:rPr>
              <a:t>(JFC)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– </a:t>
            </a:r>
            <a:r>
              <a:rPr sz="2400" spc="330" dirty="0">
                <a:latin typeface="Cambria"/>
                <a:cs typeface="Cambria"/>
              </a:rPr>
              <a:t>GUI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375" dirty="0">
                <a:latin typeface="Cambria"/>
                <a:cs typeface="Cambria"/>
              </a:rPr>
              <a:t>JDBC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Database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Access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Web</a:t>
            </a:r>
            <a:r>
              <a:rPr sz="2400" spc="100" dirty="0">
                <a:latin typeface="Cambria"/>
                <a:cs typeface="Cambria"/>
              </a:rPr>
              <a:t> Server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EmbeddedJava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embedded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devices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84403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80" dirty="0">
                <a:latin typeface="Cambria"/>
                <a:cs typeface="Cambria"/>
              </a:rPr>
              <a:t>W</a:t>
            </a:r>
            <a:r>
              <a:rPr b="0" spc="280" dirty="0">
                <a:latin typeface="Cambria"/>
                <a:cs typeface="Cambria"/>
              </a:rPr>
              <a:t>HY</a:t>
            </a:r>
            <a:r>
              <a:rPr b="0" spc="229" dirty="0">
                <a:latin typeface="Cambria"/>
                <a:cs typeface="Cambria"/>
              </a:rPr>
              <a:t> </a:t>
            </a:r>
            <a:r>
              <a:rPr sz="3000" b="0" spc="365" dirty="0">
                <a:latin typeface="Cambria"/>
                <a:cs typeface="Cambria"/>
              </a:rPr>
              <a:t>J</a:t>
            </a:r>
            <a:r>
              <a:rPr b="0" spc="365" dirty="0">
                <a:latin typeface="Cambria"/>
                <a:cs typeface="Cambria"/>
              </a:rPr>
              <a:t>AVA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555"/>
            <a:ext cx="7149465" cy="256222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Platform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Independent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Code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once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run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anywhere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Byte</a:t>
            </a:r>
            <a:r>
              <a:rPr sz="2100" spc="7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code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5" dirty="0">
                <a:latin typeface="Cambria"/>
                <a:cs typeface="Cambria"/>
              </a:rPr>
              <a:t>Easy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learn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Secure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Byte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code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265" dirty="0">
                <a:latin typeface="Cambria"/>
                <a:cs typeface="Cambria"/>
              </a:rPr>
              <a:t>&amp;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250" dirty="0">
                <a:latin typeface="Cambria"/>
                <a:cs typeface="Cambria"/>
              </a:rPr>
              <a:t>VM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0" dirty="0">
                <a:latin typeface="Cambria"/>
                <a:cs typeface="Cambria"/>
              </a:rPr>
              <a:t>Free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8929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20" dirty="0">
                <a:latin typeface="Cambria"/>
                <a:cs typeface="Cambria"/>
              </a:rPr>
              <a:t>JAVA</a:t>
            </a:r>
            <a:r>
              <a:rPr sz="3000" b="0" spc="70" dirty="0">
                <a:latin typeface="Cambria"/>
                <a:cs typeface="Cambria"/>
              </a:rPr>
              <a:t> </a:t>
            </a:r>
            <a:r>
              <a:rPr sz="3000" b="0" spc="340" dirty="0">
                <a:latin typeface="Cambria"/>
                <a:cs typeface="Cambria"/>
              </a:rPr>
              <a:t>IDE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061710" cy="251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Using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405" dirty="0">
                <a:latin typeface="Cambria"/>
                <a:cs typeface="Cambria"/>
              </a:rPr>
              <a:t>JDK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compile</a:t>
            </a:r>
            <a:r>
              <a:rPr sz="2400" spc="105" dirty="0">
                <a:latin typeface="Cambria"/>
                <a:cs typeface="Cambria"/>
              </a:rPr>
              <a:t> 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run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java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65" dirty="0">
                <a:latin typeface="Cambria"/>
                <a:cs typeface="Cambria"/>
              </a:rPr>
              <a:t>program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command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line.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50" dirty="0">
                <a:latin typeface="Cambria"/>
                <a:cs typeface="Cambria"/>
              </a:rPr>
              <a:t>c:&gt;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javac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HelloWorld.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210" dirty="0">
                <a:latin typeface="Cambria"/>
                <a:cs typeface="Cambria"/>
              </a:rPr>
              <a:t>Java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50" dirty="0">
                <a:latin typeface="Cambria"/>
                <a:cs typeface="Cambria"/>
              </a:rPr>
              <a:t>compiling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here</a:t>
            </a:r>
            <a:r>
              <a:rPr sz="1800" spc="75" dirty="0">
                <a:latin typeface="Cambria"/>
                <a:cs typeface="Cambria"/>
              </a:rPr>
              <a:t> and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75" dirty="0">
                <a:latin typeface="Cambria"/>
                <a:cs typeface="Cambria"/>
              </a:rPr>
              <a:t>it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will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produce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HelloWorld.class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i.e.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bytecode.</a:t>
            </a:r>
            <a:endParaRPr sz="18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9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c:&gt;java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HelloWorld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14" dirty="0">
                <a:latin typeface="Cambria"/>
                <a:cs typeface="Cambria"/>
              </a:rPr>
              <a:t>It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runs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java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byte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code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on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native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machine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8929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20" dirty="0">
                <a:latin typeface="Cambria"/>
                <a:cs typeface="Cambria"/>
              </a:rPr>
              <a:t>JAVA</a:t>
            </a:r>
            <a:r>
              <a:rPr sz="3000" b="0" spc="70" dirty="0">
                <a:latin typeface="Cambria"/>
                <a:cs typeface="Cambria"/>
              </a:rPr>
              <a:t> </a:t>
            </a:r>
            <a:r>
              <a:rPr sz="3000" b="0" spc="340" dirty="0">
                <a:latin typeface="Cambria"/>
                <a:cs typeface="Cambria"/>
              </a:rPr>
              <a:t>IDE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970" y="1676400"/>
            <a:ext cx="8608060" cy="38318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Creating,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Compiling, </a:t>
            </a:r>
            <a:r>
              <a:rPr sz="2400" spc="105" dirty="0">
                <a:latin typeface="Cambria"/>
                <a:cs typeface="Cambria"/>
              </a:rPr>
              <a:t>Debugging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Execution 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these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four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steps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05" dirty="0">
                <a:latin typeface="Cambria"/>
                <a:cs typeface="Cambria"/>
              </a:rPr>
              <a:t>JDK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friendly.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270" dirty="0">
                <a:latin typeface="Cambria"/>
                <a:cs typeface="Cambria"/>
              </a:rPr>
              <a:t>IDE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provided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that.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list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25" dirty="0">
                <a:latin typeface="Cambria"/>
                <a:cs typeface="Cambria"/>
              </a:rPr>
              <a:t>IDEs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are:</a:t>
            </a:r>
            <a:endParaRPr sz="24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Eclipse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Netbeans.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5" dirty="0">
                <a:latin typeface="Cambria"/>
                <a:cs typeface="Cambria"/>
              </a:rPr>
              <a:t>IntelliJ</a:t>
            </a:r>
            <a:r>
              <a:rPr sz="2100" spc="80" dirty="0">
                <a:latin typeface="Cambria"/>
                <a:cs typeface="Cambria"/>
              </a:rPr>
              <a:t> </a:t>
            </a:r>
            <a:r>
              <a:rPr sz="2100" spc="225" dirty="0">
                <a:latin typeface="Cambria"/>
                <a:cs typeface="Cambria"/>
              </a:rPr>
              <a:t>IDEA</a:t>
            </a:r>
            <a:endParaRPr lang="en-GB" sz="2100" spc="225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endParaRPr lang="en-US" sz="2100" spc="225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endParaRPr lang="en-US" sz="2100" spc="225" dirty="0">
              <a:latin typeface="Cambria"/>
              <a:cs typeface="Cambria"/>
            </a:endParaRPr>
          </a:p>
          <a:p>
            <a:pPr marL="379095" lvl="1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tabLst>
                <a:tab pos="652780" algn="l"/>
                <a:tab pos="653415" algn="l"/>
              </a:tabLst>
            </a:pPr>
            <a:r>
              <a:rPr lang="en-US" sz="2100" spc="225" dirty="0">
                <a:latin typeface="Cambria"/>
                <a:cs typeface="Cambria"/>
              </a:rPr>
              <a:t>You can install IntelliJ IDEA using the tutorial</a:t>
            </a:r>
          </a:p>
          <a:p>
            <a:pPr marL="379095" lvl="1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tabLst>
                <a:tab pos="652780" algn="l"/>
                <a:tab pos="653415" algn="l"/>
              </a:tabLst>
            </a:pPr>
            <a:r>
              <a:rPr lang="en-US" sz="2100" spc="225" dirty="0">
                <a:latin typeface="Cambria"/>
                <a:cs typeface="Cambria"/>
              </a:rPr>
              <a:t>https://youtu.be/EMLTOMdIz4w?si=z09ef0tomGEa1Rrj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4715"/>
            <a:ext cx="51187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45" dirty="0"/>
              <a:t>A</a:t>
            </a:r>
            <a:r>
              <a:rPr spc="345" dirty="0"/>
              <a:t>N</a:t>
            </a:r>
            <a:r>
              <a:rPr spc="290" dirty="0"/>
              <a:t> </a:t>
            </a:r>
            <a:r>
              <a:rPr sz="3000" spc="360" dirty="0"/>
              <a:t>E</a:t>
            </a:r>
            <a:r>
              <a:rPr spc="360" dirty="0"/>
              <a:t>XAMPLE</a:t>
            </a:r>
            <a:r>
              <a:rPr spc="310" dirty="0"/>
              <a:t> </a:t>
            </a:r>
            <a:r>
              <a:rPr sz="3000" spc="350" dirty="0"/>
              <a:t>H</a:t>
            </a:r>
            <a:r>
              <a:rPr spc="350" dirty="0"/>
              <a:t>ELLO</a:t>
            </a:r>
            <a:r>
              <a:rPr sz="3000" spc="350" dirty="0"/>
              <a:t>W</a:t>
            </a:r>
            <a:r>
              <a:rPr spc="350" dirty="0"/>
              <a:t>ORLD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5086350" cy="28886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60" dirty="0">
                <a:latin typeface="Cambria"/>
                <a:cs typeface="Cambria"/>
              </a:rPr>
              <a:t>public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HelloWorldExample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35" dirty="0"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05"/>
              </a:spcBef>
            </a:pPr>
            <a:r>
              <a:rPr sz="2100" spc="55" dirty="0">
                <a:latin typeface="Cambria"/>
                <a:cs typeface="Cambria"/>
              </a:rPr>
              <a:t>public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static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void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main(</a:t>
            </a:r>
            <a:r>
              <a:rPr sz="2100" spc="120" dirty="0">
                <a:latin typeface="Cambria"/>
                <a:cs typeface="Cambria"/>
              </a:rPr>
              <a:t> String </a:t>
            </a:r>
            <a:r>
              <a:rPr sz="2100" spc="40" dirty="0">
                <a:latin typeface="Cambria"/>
                <a:cs typeface="Cambria"/>
              </a:rPr>
              <a:t>args[]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-105" dirty="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05"/>
              </a:spcBef>
            </a:pPr>
            <a:r>
              <a:rPr sz="2100" spc="-114" dirty="0">
                <a:latin typeface="Cambria"/>
                <a:cs typeface="Cambria"/>
              </a:rPr>
              <a:t>{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05"/>
              </a:spcBef>
            </a:pPr>
            <a:r>
              <a:rPr sz="2100" spc="80" dirty="0">
                <a:latin typeface="Cambria"/>
                <a:cs typeface="Cambria"/>
              </a:rPr>
              <a:t>System.out.println("Hello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World");</a:t>
            </a:r>
            <a:endParaRPr sz="21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05"/>
              </a:spcBef>
            </a:pPr>
            <a:r>
              <a:rPr sz="2100" spc="-114" dirty="0">
                <a:latin typeface="Cambria"/>
                <a:cs typeface="Cambria"/>
              </a:rPr>
              <a:t>}</a:t>
            </a:r>
            <a:endParaRPr sz="2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35" dirty="0"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7210"/>
            <a:ext cx="53035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430" dirty="0"/>
              <a:t>J</a:t>
            </a:r>
            <a:r>
              <a:rPr spc="430" dirty="0"/>
              <a:t>AVA</a:t>
            </a:r>
            <a:r>
              <a:rPr spc="330" dirty="0"/>
              <a:t> </a:t>
            </a:r>
            <a:r>
              <a:rPr sz="3000" spc="409" dirty="0"/>
              <a:t>S</a:t>
            </a:r>
            <a:r>
              <a:rPr spc="409" dirty="0"/>
              <a:t>OURCE</a:t>
            </a:r>
            <a:r>
              <a:rPr spc="295" dirty="0"/>
              <a:t> </a:t>
            </a:r>
            <a:r>
              <a:rPr sz="3000" spc="420" dirty="0"/>
              <a:t>C</a:t>
            </a:r>
            <a:r>
              <a:rPr spc="420" dirty="0"/>
              <a:t>ODE</a:t>
            </a:r>
            <a:r>
              <a:rPr spc="320" dirty="0"/>
              <a:t> </a:t>
            </a:r>
            <a:r>
              <a:rPr sz="3000" spc="345" dirty="0"/>
              <a:t>N</a:t>
            </a:r>
            <a:r>
              <a:rPr spc="345" dirty="0"/>
              <a:t>AMING </a:t>
            </a:r>
            <a:r>
              <a:rPr spc="-515" dirty="0"/>
              <a:t> </a:t>
            </a:r>
            <a:r>
              <a:rPr sz="3000" spc="350" dirty="0"/>
              <a:t>C</a:t>
            </a:r>
            <a:r>
              <a:rPr spc="350" dirty="0"/>
              <a:t>ONVENTIONS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4288"/>
            <a:ext cx="7214870" cy="369824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0" dirty="0">
                <a:latin typeface="Cambria"/>
                <a:cs typeface="Cambria"/>
              </a:rPr>
              <a:t>All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java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source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file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should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with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.java</a:t>
            </a:r>
            <a:endParaRPr sz="2400">
              <a:latin typeface="Cambria"/>
              <a:cs typeface="Cambria"/>
            </a:endParaRPr>
          </a:p>
          <a:p>
            <a:pPr marL="285115" marR="701040" indent="-273050">
              <a:lnSpc>
                <a:spcPct val="100000"/>
              </a:lnSpc>
              <a:spcBef>
                <a:spcPts val="5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Each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.java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file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contain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only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one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public </a:t>
            </a:r>
            <a:r>
              <a:rPr sz="2400" b="1" spc="-509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285115" marR="46926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name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25" dirty="0">
                <a:latin typeface="Cambria"/>
                <a:cs typeface="Cambria"/>
              </a:rPr>
              <a:t>of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14" dirty="0">
                <a:latin typeface="Cambria"/>
                <a:cs typeface="Cambria"/>
              </a:rPr>
              <a:t>file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should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name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of </a:t>
            </a:r>
            <a:r>
              <a:rPr sz="2400" b="1" spc="-51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</a:t>
            </a:r>
            <a:r>
              <a:rPr sz="2400" b="1" spc="155" dirty="0">
                <a:latin typeface="Cambria"/>
                <a:cs typeface="Cambria"/>
              </a:rPr>
              <a:t> public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class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plus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".java"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Do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abbreviations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name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285115" marR="43180" indent="-273050">
              <a:lnSpc>
                <a:spcPct val="100200"/>
              </a:lnSpc>
              <a:spcBef>
                <a:spcPts val="5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If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name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contains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multiple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words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then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capitalize</a:t>
            </a:r>
            <a:r>
              <a:rPr sz="2400" b="1" spc="17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first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14" dirty="0">
                <a:latin typeface="Cambria"/>
                <a:cs typeface="Cambria"/>
              </a:rPr>
              <a:t>letter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25" dirty="0">
                <a:latin typeface="Cambria"/>
                <a:cs typeface="Cambria"/>
              </a:rPr>
              <a:t>of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70" dirty="0">
                <a:latin typeface="Cambria"/>
                <a:cs typeface="Cambria"/>
              </a:rPr>
              <a:t>each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word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ex. 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HelloWorld.java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8207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05" dirty="0">
                <a:latin typeface="Cambria"/>
                <a:cs typeface="Cambria"/>
              </a:rPr>
              <a:t>N</a:t>
            </a:r>
            <a:r>
              <a:rPr b="0" spc="305" dirty="0">
                <a:latin typeface="Cambria"/>
                <a:cs typeface="Cambria"/>
              </a:rPr>
              <a:t>AMING</a:t>
            </a:r>
            <a:r>
              <a:rPr b="0" spc="260" dirty="0">
                <a:latin typeface="Cambria"/>
                <a:cs typeface="Cambria"/>
              </a:rPr>
              <a:t> </a:t>
            </a:r>
            <a:r>
              <a:rPr sz="3000" b="0" spc="300" dirty="0">
                <a:latin typeface="Cambria"/>
                <a:cs typeface="Cambria"/>
              </a:rPr>
              <a:t>C</a:t>
            </a:r>
            <a:r>
              <a:rPr b="0" spc="300" dirty="0">
                <a:latin typeface="Cambria"/>
                <a:cs typeface="Cambria"/>
              </a:rPr>
              <a:t>ONVENTION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555"/>
            <a:ext cx="7219950" cy="429768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195" dirty="0">
                <a:latin typeface="Cambria"/>
                <a:cs typeface="Cambria"/>
              </a:rPr>
              <a:t>Class</a:t>
            </a:r>
            <a:r>
              <a:rPr sz="2400" i="1" spc="80" dirty="0">
                <a:latin typeface="Cambria"/>
                <a:cs typeface="Cambria"/>
              </a:rPr>
              <a:t> </a:t>
            </a:r>
            <a:r>
              <a:rPr sz="2400" i="1" spc="175" dirty="0">
                <a:latin typeface="Cambria"/>
                <a:cs typeface="Cambria"/>
              </a:rPr>
              <a:t>Naming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i="1" spc="155" dirty="0">
                <a:latin typeface="Cambria"/>
                <a:cs typeface="Cambria"/>
              </a:rPr>
              <a:t>Uses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110" dirty="0">
                <a:latin typeface="Cambria"/>
                <a:cs typeface="Cambria"/>
              </a:rPr>
              <a:t>Capitalized</a:t>
            </a:r>
            <a:r>
              <a:rPr sz="2100" i="1" spc="135" dirty="0">
                <a:latin typeface="Cambria"/>
                <a:cs typeface="Cambria"/>
              </a:rPr>
              <a:t> </a:t>
            </a:r>
            <a:r>
              <a:rPr sz="2100" i="1" spc="45" dirty="0">
                <a:latin typeface="Cambria"/>
                <a:cs typeface="Cambria"/>
              </a:rPr>
              <a:t>word(s)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105" dirty="0">
                <a:latin typeface="Cambria"/>
                <a:cs typeface="Cambria"/>
              </a:rPr>
              <a:t>i.e.</a:t>
            </a:r>
            <a:r>
              <a:rPr sz="2100" i="1" spc="140" dirty="0">
                <a:latin typeface="Cambria"/>
                <a:cs typeface="Cambria"/>
              </a:rPr>
              <a:t> </a:t>
            </a:r>
            <a:r>
              <a:rPr sz="2100" i="1" spc="90" dirty="0">
                <a:latin typeface="Cambria"/>
                <a:cs typeface="Cambria"/>
              </a:rPr>
              <a:t>Title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i="1" spc="55" dirty="0">
                <a:latin typeface="Cambria"/>
                <a:cs typeface="Cambria"/>
              </a:rPr>
              <a:t>case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Examples:-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HelloWorld,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45" dirty="0">
                <a:latin typeface="Cambria"/>
                <a:cs typeface="Cambria"/>
              </a:rPr>
              <a:t>MyList,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25" dirty="0">
                <a:latin typeface="Cambria"/>
                <a:cs typeface="Cambria"/>
              </a:rPr>
              <a:t>StudentMark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120" dirty="0">
                <a:latin typeface="Cambria"/>
                <a:cs typeface="Cambria"/>
              </a:rPr>
              <a:t>Variable</a:t>
            </a:r>
            <a:r>
              <a:rPr sz="2400" i="1" spc="95" dirty="0">
                <a:latin typeface="Cambria"/>
                <a:cs typeface="Cambria"/>
              </a:rPr>
              <a:t> </a:t>
            </a:r>
            <a:r>
              <a:rPr sz="2400" i="1" spc="165" dirty="0">
                <a:latin typeface="Cambria"/>
                <a:cs typeface="Cambria"/>
              </a:rPr>
              <a:t>and</a:t>
            </a:r>
            <a:r>
              <a:rPr sz="2400" i="1" spc="100" dirty="0">
                <a:latin typeface="Cambria"/>
                <a:cs typeface="Cambria"/>
              </a:rPr>
              <a:t> </a:t>
            </a:r>
            <a:r>
              <a:rPr sz="2400" i="1" spc="90" dirty="0">
                <a:latin typeface="Cambria"/>
                <a:cs typeface="Cambria"/>
              </a:rPr>
              <a:t>method</a:t>
            </a:r>
            <a:r>
              <a:rPr sz="2400" i="1" spc="120" dirty="0">
                <a:latin typeface="Cambria"/>
                <a:cs typeface="Cambria"/>
              </a:rPr>
              <a:t> </a:t>
            </a:r>
            <a:r>
              <a:rPr sz="2400" i="1" spc="125" dirty="0">
                <a:latin typeface="Cambria"/>
                <a:cs typeface="Cambria"/>
              </a:rPr>
              <a:t>names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starts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with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lowercase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letter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after</a:t>
            </a:r>
            <a:r>
              <a:rPr sz="2100" spc="114" dirty="0">
                <a:latin typeface="Cambria"/>
                <a:cs typeface="Cambria"/>
              </a:rPr>
              <a:t> that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use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Title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case</a:t>
            </a:r>
            <a:endParaRPr sz="2100">
              <a:latin typeface="Cambria"/>
              <a:cs typeface="Cambria"/>
            </a:endParaRPr>
          </a:p>
          <a:p>
            <a:pPr marL="652780" marR="77851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Examples:- </a:t>
            </a:r>
            <a:r>
              <a:rPr sz="2100" spc="95" dirty="0">
                <a:latin typeface="Cambria"/>
                <a:cs typeface="Cambria"/>
              </a:rPr>
              <a:t>variableAndMethodNames, </a:t>
            </a:r>
            <a:r>
              <a:rPr sz="2100" spc="114" dirty="0">
                <a:latin typeface="Cambria"/>
                <a:cs typeface="Cambria"/>
              </a:rPr>
              <a:t>aFloat,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studentName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155" dirty="0">
                <a:latin typeface="Cambria"/>
                <a:cs typeface="Cambria"/>
              </a:rPr>
              <a:t>Names</a:t>
            </a:r>
            <a:r>
              <a:rPr sz="2400" i="1" spc="90" dirty="0">
                <a:latin typeface="Cambria"/>
                <a:cs typeface="Cambria"/>
              </a:rPr>
              <a:t> </a:t>
            </a:r>
            <a:r>
              <a:rPr sz="2400" i="1" spc="40" dirty="0">
                <a:latin typeface="Cambria"/>
                <a:cs typeface="Cambria"/>
              </a:rPr>
              <a:t>of</a:t>
            </a:r>
            <a:r>
              <a:rPr sz="2400" i="1" spc="120" dirty="0">
                <a:latin typeface="Cambria"/>
                <a:cs typeface="Cambria"/>
              </a:rPr>
              <a:t> </a:t>
            </a:r>
            <a:r>
              <a:rPr sz="2400" i="1" spc="85" dirty="0">
                <a:latin typeface="Cambria"/>
                <a:cs typeface="Cambria"/>
              </a:rPr>
              <a:t>constants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2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5" dirty="0">
                <a:latin typeface="Cambria"/>
                <a:cs typeface="Cambria"/>
              </a:rPr>
              <a:t>All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are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capital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letters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separated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by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underscore.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5" dirty="0">
                <a:latin typeface="Cambria"/>
                <a:cs typeface="Cambria"/>
              </a:rPr>
              <a:t>Example: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254" dirty="0">
                <a:latin typeface="Cambria"/>
                <a:cs typeface="Cambria"/>
              </a:rPr>
              <a:t>NAMES_OF_CONSTANTS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986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70" dirty="0">
                <a:latin typeface="Cambria"/>
                <a:cs typeface="Cambria"/>
              </a:rPr>
              <a:t>J</a:t>
            </a:r>
            <a:r>
              <a:rPr b="0" spc="370" dirty="0">
                <a:latin typeface="Cambria"/>
                <a:cs typeface="Cambria"/>
              </a:rPr>
              <a:t>AVA</a:t>
            </a:r>
            <a:r>
              <a:rPr b="0" spc="290" dirty="0">
                <a:latin typeface="Cambria"/>
                <a:cs typeface="Cambria"/>
              </a:rPr>
              <a:t> </a:t>
            </a:r>
            <a:r>
              <a:rPr sz="3000" b="0" spc="270" dirty="0">
                <a:latin typeface="Cambria"/>
                <a:cs typeface="Cambria"/>
              </a:rPr>
              <a:t>I</a:t>
            </a:r>
            <a:r>
              <a:rPr b="0" spc="270" dirty="0">
                <a:latin typeface="Cambria"/>
                <a:cs typeface="Cambria"/>
              </a:rPr>
              <a:t>DENTIFIERS</a:t>
            </a:r>
            <a:r>
              <a:rPr b="0" spc="295" dirty="0">
                <a:latin typeface="Cambria"/>
                <a:cs typeface="Cambria"/>
              </a:rPr>
              <a:t> </a:t>
            </a:r>
            <a:r>
              <a:rPr sz="3000" b="0" spc="335" dirty="0">
                <a:latin typeface="Cambria"/>
                <a:cs typeface="Cambria"/>
              </a:rPr>
              <a:t>R</a:t>
            </a:r>
            <a:r>
              <a:rPr b="0" spc="335" dirty="0">
                <a:latin typeface="Cambria"/>
                <a:cs typeface="Cambria"/>
              </a:rPr>
              <a:t>ULES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05980" cy="4103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Identifier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name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given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variable,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class,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</a:p>
          <a:p>
            <a:pPr marL="285115">
              <a:lnSpc>
                <a:spcPct val="100000"/>
              </a:lnSpc>
            </a:pPr>
            <a:r>
              <a:rPr sz="2400" spc="75" dirty="0">
                <a:latin typeface="Cambria"/>
                <a:cs typeface="Cambria"/>
              </a:rPr>
              <a:t>method.</a:t>
            </a: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identifier</a:t>
            </a:r>
            <a:endParaRPr sz="2400" dirty="0">
              <a:latin typeface="Cambria"/>
              <a:cs typeface="Cambria"/>
            </a:endParaRPr>
          </a:p>
          <a:p>
            <a:pPr marL="652780" marR="9652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90" dirty="0">
                <a:latin typeface="Cambria"/>
                <a:cs typeface="Cambria"/>
              </a:rPr>
              <a:t>Can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contain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letter,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number,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underscore</a:t>
            </a:r>
            <a:r>
              <a:rPr sz="2100" spc="16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(_),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dollar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sign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0" dirty="0">
                <a:latin typeface="Cambria"/>
                <a:cs typeface="Cambria"/>
              </a:rPr>
              <a:t>($).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0" dirty="0">
                <a:latin typeface="Cambria"/>
                <a:cs typeface="Cambria"/>
              </a:rPr>
              <a:t>Cannot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5" dirty="0">
                <a:latin typeface="Cambria"/>
                <a:cs typeface="Cambria"/>
              </a:rPr>
              <a:t>start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with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number.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0" dirty="0">
                <a:latin typeface="Cambria"/>
                <a:cs typeface="Cambria"/>
              </a:rPr>
              <a:t>Identifiers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are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case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sensitive</a:t>
            </a:r>
            <a:r>
              <a:rPr lang="en-GB" sz="2100" spc="70" dirty="0">
                <a:latin typeface="Cambria"/>
                <a:cs typeface="Cambria"/>
              </a:rPr>
              <a:t>(var and Var both can be declared in a program)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have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no</a:t>
            </a:r>
            <a:r>
              <a:rPr sz="2100" spc="110" dirty="0">
                <a:latin typeface="Cambria"/>
                <a:cs typeface="Cambria"/>
              </a:rPr>
              <a:t> maximum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length.</a:t>
            </a:r>
            <a:endParaRPr sz="2100" dirty="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65" dirty="0">
                <a:latin typeface="Cambria"/>
                <a:cs typeface="Cambria"/>
              </a:rPr>
              <a:t>cannot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keyword,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but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can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contain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keyword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as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part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its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10" dirty="0">
                <a:latin typeface="Cambria"/>
                <a:cs typeface="Cambria"/>
              </a:rPr>
              <a:t>name.</a:t>
            </a:r>
            <a:endParaRPr sz="21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09600" y="685800"/>
            <a:ext cx="716026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GB" sz="2800" dirty="0">
                <a:latin typeface="Cambria"/>
                <a:cs typeface="Cambria"/>
              </a:rPr>
              <a:t>Write down whether the following identifiers are valid or not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A7EDA04-25EA-CE3A-FBCB-D0BCBD4DA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544792"/>
              </p:ext>
            </p:extLst>
          </p:nvPr>
        </p:nvGraphicFramePr>
        <p:xfrm>
          <a:off x="457200" y="2057400"/>
          <a:ext cx="8227059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428018514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339502185"/>
                    </a:ext>
                  </a:extLst>
                </a:gridCol>
                <a:gridCol w="4264659">
                  <a:extLst>
                    <a:ext uri="{9D8B030D-6E8A-4147-A177-3AD203B41FA5}">
                      <a16:colId xmlns:a16="http://schemas.microsoft.com/office/drawing/2014/main" val="3442833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Valid/invalid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comment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866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myVar</a:t>
                      </a:r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#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# is not allowed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33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myVar</a:t>
                      </a:r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34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</a:t>
                      </a:r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myVar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32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keyword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49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static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keyword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340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finalVar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 contain keyword as a part of name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01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1num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Cannot starts with number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9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main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a keyword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138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779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887</Words>
  <Application>Microsoft Office PowerPoint</Application>
  <PresentationFormat>On-screen Show (4:3)</PresentationFormat>
  <Paragraphs>148</Paragraphs>
  <Slides>17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</vt:lpstr>
      <vt:lpstr>Segoe UI Symbol</vt:lpstr>
      <vt:lpstr>Wingdings</vt:lpstr>
      <vt:lpstr>Office Theme</vt:lpstr>
      <vt:lpstr>INTRODUCTION TO OOP USING JAVA UMAMA RAHMAN </vt:lpstr>
      <vt:lpstr>WHAT IS PROGRAMMING</vt:lpstr>
      <vt:lpstr>CLASSIFICATION/EVOLUTION OF  PROGRAMMING</vt:lpstr>
      <vt:lpstr>CLASSIFICATION/EVOLUTION OF  PROGRAMMING</vt:lpstr>
      <vt:lpstr>OUR GOAL</vt:lpstr>
      <vt:lpstr>PROGRAMMING LANGUAGE</vt:lpstr>
      <vt:lpstr>JAVA’S LINEAGE</vt:lpstr>
      <vt:lpstr>JAVA - CHARACTERISTICS</vt:lpstr>
      <vt:lpstr>JAVA – THE PLATFORM</vt:lpstr>
      <vt:lpstr>WHY JAVA</vt:lpstr>
      <vt:lpstr>JAVA IDE</vt:lpstr>
      <vt:lpstr>JAVA IDE</vt:lpstr>
      <vt:lpstr>AN EXAMPLE HELLOWORLD</vt:lpstr>
      <vt:lpstr>JAVA SOURCE CODE NAMING  CONVENTIONS</vt:lpstr>
      <vt:lpstr>NAMING CONVENTION</vt:lpstr>
      <vt:lpstr>JAVA IDENTIFIERS RULES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OOP Java</dc:title>
  <dc:creator>user</dc:creator>
  <cp:lastModifiedBy>1705040 - Umama Rahman</cp:lastModifiedBy>
  <cp:revision>3</cp:revision>
  <dcterms:created xsi:type="dcterms:W3CDTF">2023-09-19T16:30:07Z</dcterms:created>
  <dcterms:modified xsi:type="dcterms:W3CDTF">2023-09-22T15:15:32Z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2023-09-19T00:00:00Z</vt:filetime>
  </property>
</Properties>
</file>