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51"/>
      <p:bold r:id="rId52"/>
      <p:italic r:id="rId53"/>
      <p:boldItalic r:id="rId54"/>
    </p:embeddedFont>
    <p:embeddedFont>
      <p:font typeface="Montserrat" panose="00000500000000000000" pitchFamily="2" charset="0"/>
      <p:regular r:id="rId55"/>
      <p:bold r:id="rId56"/>
      <p:italic r:id="rId57"/>
      <p:boldItalic r:id="rId58"/>
    </p:embeddedFont>
    <p:embeddedFont>
      <p:font typeface="Noto Sans Symbols" pitchFamily="2" charset="0"/>
      <p:regular r:id="rId59"/>
      <p:bold r:id="rId60"/>
    </p:embeddedFont>
    <p:embeddedFont>
      <p:font typeface="Playfair Display" panose="00000500000000000000" pitchFamily="2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78080B-908F-4160-8A9B-ABD9C6F14203}">
  <a:tblStyle styleId="{1B78080B-908F-4160-8A9B-ABD9C6F1420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63" Type="http://schemas.openxmlformats.org/officeDocument/2006/relationships/font" Target="fonts/font13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1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64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9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1951510e1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31951510e1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a48f7c43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36a48f7c4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a48f7c43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36a48f7c43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a48f7c438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36a48f7c438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a48f7c438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6a48f7c43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a48f7c43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6a48f7c43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a48f7c438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6a48f7c438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a48f7c438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6a48f7c438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a48f7c438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36a48f7c438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a48f7c438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6a48f7c438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a48f7c438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6a48f7c438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a48f7c438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6a48f7c438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a48f7c438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6a48f7c438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a48f7c438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36a48f7c438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a48f7c438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6a48f7c438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a48f7c438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6a48f7c438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a48f7c438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6a48f7c438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a48f7c438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6a48f7c438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a48f7c438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6a48f7c438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a48f7c438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36a48f7c438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a48f7c438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6a48f7c438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a48f7c438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6a48f7c438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a48f7c438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36a48f7c438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a48f7c438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6a48f7c438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a48f7c438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6a48f7c438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a48f7c438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36a48f7c438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a48f7c438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36a48f7c438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a48f7c438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6a48f7c438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6a48f7c438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36a48f7c438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a48f7c438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36a48f7c438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6a48f7c438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6a48f7c438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6a48f7c438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36a48f7c438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a48f7c438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36a48f7c438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6a48f7c438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6a48f7c438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6a48f7c438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36a48f7c438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6a48f7c438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36a48f7c438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6a48f7c438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g36a48f7c438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6a48f7c438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g36a48f7c438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6a48f7c438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36a48f7c438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6a48f7c438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6a48f7c438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6a48f7c438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36a48f7c438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6a48f7c438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g36a48f7c438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6a48f7c438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g36a48f7c438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6a48f7c438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36a48f7c438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6a48f7c438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g36a48f7c438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38b596a8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38b596a83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5439e2f6f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5439e2f6f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/>
        </p:nvSpPr>
        <p:spPr>
          <a:xfrm>
            <a:off x="0" y="4663221"/>
            <a:ext cx="9144000" cy="4803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19525" y="248150"/>
            <a:ext cx="800750" cy="72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500" b="1">
                <a:solidFill>
                  <a:schemeClr val="lt1"/>
                </a:solidFill>
              </a:defRPr>
            </a:lvl1pPr>
            <a:lvl2pPr lvl="1" algn="ctr">
              <a:buNone/>
              <a:defRPr sz="1500" b="1">
                <a:solidFill>
                  <a:schemeClr val="lt1"/>
                </a:solidFill>
              </a:defRPr>
            </a:lvl2pPr>
            <a:lvl3pPr lvl="2" algn="ctr">
              <a:buNone/>
              <a:defRPr sz="1500" b="1">
                <a:solidFill>
                  <a:schemeClr val="lt1"/>
                </a:solidFill>
              </a:defRPr>
            </a:lvl3pPr>
            <a:lvl4pPr lvl="3" algn="ctr">
              <a:buNone/>
              <a:defRPr sz="1500" b="1">
                <a:solidFill>
                  <a:schemeClr val="lt1"/>
                </a:solidFill>
              </a:defRPr>
            </a:lvl4pPr>
            <a:lvl5pPr lvl="4" algn="ctr">
              <a:buNone/>
              <a:defRPr sz="1500" b="1">
                <a:solidFill>
                  <a:schemeClr val="lt1"/>
                </a:solidFill>
              </a:defRPr>
            </a:lvl5pPr>
            <a:lvl6pPr lvl="5" algn="ctr">
              <a:buNone/>
              <a:defRPr sz="1500" b="1">
                <a:solidFill>
                  <a:schemeClr val="lt1"/>
                </a:solidFill>
              </a:defRPr>
            </a:lvl6pPr>
            <a:lvl7pPr lvl="6" algn="ctr">
              <a:buNone/>
              <a:defRPr sz="1500" b="1">
                <a:solidFill>
                  <a:schemeClr val="lt1"/>
                </a:solidFill>
              </a:defRPr>
            </a:lvl7pPr>
            <a:lvl8pPr lvl="7" algn="ctr">
              <a:buNone/>
              <a:defRPr sz="1500" b="1">
                <a:solidFill>
                  <a:schemeClr val="lt1"/>
                </a:solidFill>
              </a:defRPr>
            </a:lvl8pPr>
            <a:lvl9pPr lvl="8" algn="ctr">
              <a:buNone/>
              <a:defRPr sz="1500" b="1"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30227" y="147243"/>
            <a:ext cx="8083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7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530227" y="1300640"/>
            <a:ext cx="8083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21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08960" y="4783461"/>
            <a:ext cx="29262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4783461"/>
            <a:ext cx="2103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798082" y="4868855"/>
            <a:ext cx="260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5400" marR="0" lvl="1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5400" marR="0" lvl="2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5400" marR="0" lvl="3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5400" marR="0" lvl="4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400" marR="0" lvl="5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5400" marR="0" lvl="6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5400" marR="0" lvl="7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5400" marR="0" lvl="8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530227" y="147243"/>
            <a:ext cx="8083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7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3108960" y="4783461"/>
            <a:ext cx="29262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4783461"/>
            <a:ext cx="2103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798082" y="4868855"/>
            <a:ext cx="260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5400" marR="0" lvl="1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5400" marR="0" lvl="2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5400" marR="0" lvl="3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5400" marR="0" lvl="4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400" marR="0" lvl="5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5400" marR="0" lvl="6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5400" marR="0" lvl="7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5400" marR="0" lvl="8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6858000" extrusionOk="0">
                <a:moveTo>
                  <a:pt x="9143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857999"/>
                </a:lnTo>
                <a:close/>
              </a:path>
            </a:pathLst>
          </a:custGeom>
          <a:solidFill>
            <a:srgbClr val="2388D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530227" y="147243"/>
            <a:ext cx="8083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7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ftr" idx="11"/>
          </p:nvPr>
        </p:nvSpPr>
        <p:spPr>
          <a:xfrm>
            <a:off x="3108960" y="4783461"/>
            <a:ext cx="29262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457200" y="4783461"/>
            <a:ext cx="2103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798082" y="4868855"/>
            <a:ext cx="260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5400" marR="0" lvl="1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5400" marR="0" lvl="2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5400" marR="0" lvl="3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5400" marR="0" lvl="4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400" marR="0" lvl="5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5400" marR="0" lvl="6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5400" marR="0" lvl="7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5400" marR="0" lvl="8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ubTitle" idx="1"/>
          </p:nvPr>
        </p:nvSpPr>
        <p:spPr>
          <a:xfrm>
            <a:off x="1371600" y="2880366"/>
            <a:ext cx="640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ftr" idx="11"/>
          </p:nvPr>
        </p:nvSpPr>
        <p:spPr>
          <a:xfrm>
            <a:off x="3108960" y="4783461"/>
            <a:ext cx="29262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dt" idx="10"/>
          </p:nvPr>
        </p:nvSpPr>
        <p:spPr>
          <a:xfrm>
            <a:off x="457200" y="4783461"/>
            <a:ext cx="2103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8798082" y="4868855"/>
            <a:ext cx="260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5400" marR="0" lvl="1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5400" marR="0" lvl="2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5400" marR="0" lvl="3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5400" marR="0" lvl="4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400" marR="0" lvl="5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5400" marR="0" lvl="6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5400" marR="0" lvl="7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5400" marR="0" lvl="8" indent="0" algn="l">
              <a:lnSpc>
                <a:spcPct val="118076"/>
              </a:lnSpc>
              <a:spcBef>
                <a:spcPts val="0"/>
              </a:spcBef>
              <a:buNone/>
              <a:defRPr sz="1000" b="0" i="0">
                <a:solidFill>
                  <a:srgbClr val="2388D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13675" y="4473200"/>
            <a:ext cx="9144000" cy="6702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1663" y="451200"/>
            <a:ext cx="1560675" cy="14216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27350" y="2240850"/>
            <a:ext cx="91440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CSE 2215: Data Structures and Algorithms I</a:t>
            </a:r>
            <a:endParaRPr sz="3100" b="1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27350" y="3180025"/>
            <a:ext cx="9083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Asif Abrar</a:t>
            </a:r>
            <a:endParaRPr sz="2200"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Lecturer, Department of Computer Science and Engineering,</a:t>
            </a:r>
            <a:endParaRPr sz="16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United</a:t>
            </a:r>
            <a:r>
              <a:rPr lang="en" sz="16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6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International</a:t>
            </a:r>
            <a:r>
              <a:rPr lang="en" sz="16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6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University</a:t>
            </a:r>
            <a:endParaRPr sz="1600"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0" y="0"/>
            <a:ext cx="9157500" cy="5198100"/>
          </a:xfrm>
          <a:prstGeom prst="rect">
            <a:avLst/>
          </a:prstGeom>
          <a:solidFill>
            <a:srgbClr val="FF57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89" name="Google Shape;89;p18"/>
          <p:cNvSpPr txBox="1">
            <a:spLocks noGrp="1"/>
          </p:cNvSpPr>
          <p:nvPr>
            <p:ph type="ctrTitle"/>
          </p:nvPr>
        </p:nvSpPr>
        <p:spPr>
          <a:xfrm>
            <a:off x="311700" y="2175025"/>
            <a:ext cx="8520600" cy="97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Depth First Search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 idx="4294967295"/>
          </p:nvPr>
        </p:nvSpPr>
        <p:spPr>
          <a:xfrm>
            <a:off x="687704" y="528446"/>
            <a:ext cx="41130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/>
              <a:t>Depth-First Search</a:t>
            </a:r>
            <a:endParaRPr sz="2600" b="1"/>
          </a:p>
        </p:txBody>
      </p:sp>
      <p:sp>
        <p:nvSpPr>
          <p:cNvPr id="95" name="Google Shape;95;p19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3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888206" y="1354455"/>
            <a:ext cx="7855800" cy="16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050" rIns="0" bIns="0" anchor="t" anchorCtr="0">
            <a:spAutoFit/>
          </a:bodyPr>
          <a:lstStyle/>
          <a:p>
            <a:pPr marL="139700" marR="0" lvl="0" indent="-14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Noto Sans Symbols"/>
              <a:buChar char="●"/>
            </a:pPr>
            <a:r>
              <a:rPr lang="en" sz="1700" i="1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Depth-first search </a:t>
            </a: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another strategy for exploring a graph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2100" marR="0" lvl="1" indent="-1270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Noto Sans Symbols"/>
              <a:buChar char="■"/>
            </a:pPr>
            <a:r>
              <a:rPr lang="en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Explore “deeper” in the graph whenever possible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2100" marR="0" lvl="1" indent="-1270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Noto Sans Symbols"/>
              <a:buChar char="■"/>
            </a:pPr>
            <a:r>
              <a:rPr lang="en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Edges are explored out of the most recently discovered vertex </a:t>
            </a:r>
            <a:r>
              <a:rPr lang="en" sz="1700" b="1" i="1" u="none" strike="noStrike" cap="none">
                <a:solidFill>
                  <a:schemeClr val="dk1"/>
                </a:solidFill>
              </a:rPr>
              <a:t>v</a:t>
            </a:r>
            <a:r>
              <a:rPr lang="en" sz="1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still has unexplored edges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2100" marR="304800" lvl="1" indent="-1270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Noto Sans Symbols"/>
              <a:buChar char="■"/>
            </a:pPr>
            <a:r>
              <a:rPr lang="en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all of </a:t>
            </a:r>
            <a:r>
              <a:rPr lang="en" sz="1700" b="1" i="1" u="none" strike="noStrike" cap="none">
                <a:solidFill>
                  <a:schemeClr val="dk1"/>
                </a:solidFill>
              </a:rPr>
              <a:t>v’</a:t>
            </a:r>
            <a:r>
              <a:rPr lang="en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edges have been explored, backtrack to the vertex from which </a:t>
            </a:r>
            <a:r>
              <a:rPr lang="en" sz="1700" b="1" i="1" u="none" strike="noStrike" cap="none">
                <a:solidFill>
                  <a:schemeClr val="dk1"/>
                </a:solidFill>
              </a:rPr>
              <a:t>v</a:t>
            </a:r>
            <a:r>
              <a:rPr lang="en" sz="1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was  discovered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920113" y="3411855"/>
            <a:ext cx="6338100" cy="8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050" rIns="0" bIns="0" anchor="t" anchorCtr="0">
            <a:spAutoFit/>
          </a:bodyPr>
          <a:lstStyle/>
          <a:p>
            <a:pPr marL="139700" marR="0" lvl="0" indent="-14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Noto Sans Symbols"/>
              <a:buChar char="●"/>
            </a:pP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Vertices initially colored white</a:t>
            </a:r>
            <a:endParaRPr sz="1300"/>
          </a:p>
          <a:p>
            <a:pPr marL="139700" marR="0" lvl="0" indent="-1460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Noto Sans Symbols"/>
              <a:buChar char="●"/>
            </a:pP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colored gray when discovered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-1460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Noto Sans Symbols"/>
              <a:buChar char="●"/>
            </a:pP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black when finished</a:t>
            </a:r>
            <a:endParaRPr sz="1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- Example</a:t>
            </a:r>
            <a:endParaRPr sz="2600"/>
          </a:p>
        </p:txBody>
      </p:sp>
      <p:sp>
        <p:nvSpPr>
          <p:cNvPr id="103" name="Google Shape;103;p20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4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6478" y="1772255"/>
            <a:ext cx="4744734" cy="2622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- Example</a:t>
            </a:r>
            <a:endParaRPr sz="2600"/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5</a:t>
            </a:fld>
            <a:endParaRPr sz="1500" b="1">
              <a:solidFill>
                <a:schemeClr val="lt1"/>
              </a:solidFill>
            </a:endParaRPr>
          </a:p>
        </p:txBody>
      </p:sp>
      <p:grpSp>
        <p:nvGrpSpPr>
          <p:cNvPr id="111" name="Google Shape;111;p21"/>
          <p:cNvGrpSpPr/>
          <p:nvPr/>
        </p:nvGrpSpPr>
        <p:grpSpPr>
          <a:xfrm>
            <a:off x="2119254" y="1576149"/>
            <a:ext cx="4905490" cy="2818427"/>
            <a:chOff x="2825672" y="2101532"/>
            <a:chExt cx="6540654" cy="3757902"/>
          </a:xfrm>
        </p:grpSpPr>
        <p:pic>
          <p:nvPicPr>
            <p:cNvPr id="112" name="Google Shape;112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915304" y="2363007"/>
              <a:ext cx="6326311" cy="34964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825672" y="2101532"/>
              <a:ext cx="6540654" cy="37579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- Example</a:t>
            </a:r>
            <a:endParaRPr sz="2600"/>
          </a:p>
        </p:txBody>
      </p:sp>
      <p:sp>
        <p:nvSpPr>
          <p:cNvPr id="119" name="Google Shape;119;p22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6</a:t>
            </a:fld>
            <a:endParaRPr sz="1500" b="1">
              <a:solidFill>
                <a:schemeClr val="lt1"/>
              </a:solidFill>
            </a:endParaRPr>
          </a:p>
        </p:txBody>
      </p:sp>
      <p:grpSp>
        <p:nvGrpSpPr>
          <p:cNvPr id="120" name="Google Shape;120;p22"/>
          <p:cNvGrpSpPr/>
          <p:nvPr/>
        </p:nvGrpSpPr>
        <p:grpSpPr>
          <a:xfrm>
            <a:off x="2119254" y="1576149"/>
            <a:ext cx="4905490" cy="2857839"/>
            <a:chOff x="2825672" y="2101532"/>
            <a:chExt cx="6540654" cy="3810452"/>
          </a:xfrm>
        </p:grpSpPr>
        <p:pic>
          <p:nvPicPr>
            <p:cNvPr id="121" name="Google Shape;121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915304" y="2363007"/>
              <a:ext cx="6326311" cy="34964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825672" y="2101532"/>
              <a:ext cx="6540654" cy="37579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62753" y="2102764"/>
              <a:ext cx="6276827" cy="38092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- Example</a:t>
            </a:r>
            <a:endParaRPr sz="2600"/>
          </a:p>
        </p:txBody>
      </p:sp>
      <p:sp>
        <p:nvSpPr>
          <p:cNvPr id="129" name="Google Shape;129;p23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7</a:t>
            </a:fld>
            <a:endParaRPr sz="1500" b="1">
              <a:solidFill>
                <a:schemeClr val="lt1"/>
              </a:solidFill>
            </a:endParaRPr>
          </a:p>
        </p:txBody>
      </p:sp>
      <p:grpSp>
        <p:nvGrpSpPr>
          <p:cNvPr id="130" name="Google Shape;130;p23"/>
          <p:cNvGrpSpPr/>
          <p:nvPr/>
        </p:nvGrpSpPr>
        <p:grpSpPr>
          <a:xfrm>
            <a:off x="2112545" y="1552502"/>
            <a:ext cx="4912200" cy="2881487"/>
            <a:chOff x="2816726" y="2070002"/>
            <a:chExt cx="6549600" cy="3841982"/>
          </a:xfrm>
        </p:grpSpPr>
        <p:pic>
          <p:nvPicPr>
            <p:cNvPr id="131" name="Google Shape;131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915304" y="2363007"/>
              <a:ext cx="6326311" cy="34964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825672" y="2101532"/>
              <a:ext cx="6540654" cy="37579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2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62754" y="2102764"/>
              <a:ext cx="6276827" cy="38092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816726" y="2070002"/>
              <a:ext cx="6443944" cy="36718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- Example</a:t>
            </a:r>
            <a:endParaRPr sz="2600"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8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141" name="Google Shape;14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9695" y="1631730"/>
            <a:ext cx="4612539" cy="2522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- Example</a:t>
            </a:r>
            <a:endParaRPr sz="2600"/>
          </a:p>
        </p:txBody>
      </p:sp>
      <p:sp>
        <p:nvSpPr>
          <p:cNvPr id="147" name="Google Shape;147;p25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9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148" name="Google Shape;148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59536" y="1647497"/>
            <a:ext cx="4624927" cy="2624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- Example</a:t>
            </a:r>
            <a:endParaRPr sz="2600"/>
          </a:p>
        </p:txBody>
      </p:sp>
      <p:sp>
        <p:nvSpPr>
          <p:cNvPr id="154" name="Google Shape;154;p26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10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155" name="Google Shape;15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2982" y="1519648"/>
            <a:ext cx="4587205" cy="2508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- Example</a:t>
            </a:r>
            <a:endParaRPr sz="2600"/>
          </a:p>
        </p:txBody>
      </p:sp>
      <p:sp>
        <p:nvSpPr>
          <p:cNvPr id="161" name="Google Shape;161;p27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11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162" name="Google Shape;16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1789" y="1434662"/>
            <a:ext cx="4677699" cy="2631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- Example</a:t>
            </a:r>
            <a:endParaRPr sz="2600"/>
          </a:p>
        </p:txBody>
      </p:sp>
      <p:sp>
        <p:nvSpPr>
          <p:cNvPr id="168" name="Google Shape;168;p28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12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169" name="Google Shape;16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4262" y="1465084"/>
            <a:ext cx="4784644" cy="261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- Example</a:t>
            </a:r>
            <a:endParaRPr sz="2600"/>
          </a:p>
        </p:txBody>
      </p:sp>
      <p:sp>
        <p:nvSpPr>
          <p:cNvPr id="175" name="Google Shape;175;p29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13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176" name="Google Shape;17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8818" y="1403993"/>
            <a:ext cx="4874976" cy="2913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- Example</a:t>
            </a:r>
            <a:endParaRPr sz="2600"/>
          </a:p>
        </p:txBody>
      </p:sp>
      <p:sp>
        <p:nvSpPr>
          <p:cNvPr id="182" name="Google Shape;182;p30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14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183" name="Google Shape;18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5989" y="1376679"/>
            <a:ext cx="4903037" cy="2757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- Example</a:t>
            </a:r>
            <a:endParaRPr sz="2600"/>
          </a:p>
        </p:txBody>
      </p:sp>
      <p:sp>
        <p:nvSpPr>
          <p:cNvPr id="189" name="Google Shape;189;p31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15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190" name="Google Shape;190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1520" y="1417344"/>
            <a:ext cx="4945057" cy="2704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- Example</a:t>
            </a:r>
            <a:endParaRPr sz="2600"/>
          </a:p>
        </p:txBody>
      </p:sp>
      <p:sp>
        <p:nvSpPr>
          <p:cNvPr id="196" name="Google Shape;196;p32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16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197" name="Google Shape;197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7856" y="1473959"/>
            <a:ext cx="4932675" cy="2697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- Example</a:t>
            </a:r>
            <a:endParaRPr sz="2600"/>
          </a:p>
        </p:txBody>
      </p:sp>
      <p:sp>
        <p:nvSpPr>
          <p:cNvPr id="203" name="Google Shape;203;p33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17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204" name="Google Shape;20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5379" y="1481239"/>
            <a:ext cx="4840873" cy="2722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- Example</a:t>
            </a:r>
            <a:endParaRPr sz="2600"/>
          </a:p>
        </p:txBody>
      </p:sp>
      <p:sp>
        <p:nvSpPr>
          <p:cNvPr id="210" name="Google Shape;210;p34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18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211" name="Google Shape;21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4452" y="1481958"/>
            <a:ext cx="4766152" cy="2680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- Example</a:t>
            </a:r>
            <a:endParaRPr sz="2600"/>
          </a:p>
        </p:txBody>
      </p:sp>
      <p:sp>
        <p:nvSpPr>
          <p:cNvPr id="217" name="Google Shape;217;p35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19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218" name="Google Shape;21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79734" y="1463224"/>
            <a:ext cx="4807263" cy="2698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- Example</a:t>
            </a:r>
            <a:endParaRPr sz="2600"/>
          </a:p>
        </p:txBody>
      </p:sp>
      <p:sp>
        <p:nvSpPr>
          <p:cNvPr id="224" name="Google Shape;224;p36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20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225" name="Google Shape;22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1623" y="1467793"/>
            <a:ext cx="4900161" cy="2750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– Example 2</a:t>
            </a:r>
            <a:endParaRPr sz="2600"/>
          </a:p>
        </p:txBody>
      </p:sp>
      <p:sp>
        <p:nvSpPr>
          <p:cNvPr id="231" name="Google Shape;231;p37"/>
          <p:cNvSpPr txBox="1">
            <a:spLocks noGrp="1"/>
          </p:cNvSpPr>
          <p:nvPr>
            <p:ph type="body" idx="4294967295"/>
          </p:nvPr>
        </p:nvSpPr>
        <p:spPr>
          <a:xfrm>
            <a:off x="397670" y="975480"/>
            <a:ext cx="606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Class activity – Try this one yourselves</a:t>
            </a:r>
            <a:endParaRPr/>
          </a:p>
        </p:txBody>
      </p:sp>
      <p:sp>
        <p:nvSpPr>
          <p:cNvPr id="232" name="Google Shape;232;p37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21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233" name="Google Shape;23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6900" y="2171700"/>
            <a:ext cx="4510203" cy="1899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DFS – Example 2 </a:t>
            </a:r>
            <a:endParaRPr sz="2600"/>
          </a:p>
        </p:txBody>
      </p:sp>
      <p:sp>
        <p:nvSpPr>
          <p:cNvPr id="239" name="Google Shape;239;p38"/>
          <p:cNvSpPr txBox="1">
            <a:spLocks noGrp="1"/>
          </p:cNvSpPr>
          <p:nvPr>
            <p:ph type="body" idx="4294967295"/>
          </p:nvPr>
        </p:nvSpPr>
        <p:spPr>
          <a:xfrm>
            <a:off x="397670" y="975480"/>
            <a:ext cx="606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Sample Solution(Not only solution)</a:t>
            </a:r>
            <a:endParaRPr/>
          </a:p>
        </p:txBody>
      </p:sp>
      <p:sp>
        <p:nvSpPr>
          <p:cNvPr id="240" name="Google Shape;240;p38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22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241" name="Google Shape;241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6900" y="2171700"/>
            <a:ext cx="4510203" cy="1899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8"/>
          <p:cNvSpPr txBox="1"/>
          <p:nvPr/>
        </p:nvSpPr>
        <p:spPr>
          <a:xfrm>
            <a:off x="3694706" y="2438400"/>
            <a:ext cx="501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1|16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8"/>
          <p:cNvSpPr txBox="1"/>
          <p:nvPr/>
        </p:nvSpPr>
        <p:spPr>
          <a:xfrm>
            <a:off x="2400300" y="2514600"/>
            <a:ext cx="410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2|5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8"/>
          <p:cNvSpPr txBox="1"/>
          <p:nvPr/>
        </p:nvSpPr>
        <p:spPr>
          <a:xfrm>
            <a:off x="2400300" y="3486150"/>
            <a:ext cx="410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3|4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8"/>
          <p:cNvSpPr txBox="1"/>
          <p:nvPr/>
        </p:nvSpPr>
        <p:spPr>
          <a:xfrm>
            <a:off x="6359717" y="2438400"/>
            <a:ext cx="501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8|13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8"/>
          <p:cNvSpPr txBox="1"/>
          <p:nvPr/>
        </p:nvSpPr>
        <p:spPr>
          <a:xfrm>
            <a:off x="5027210" y="2514600"/>
            <a:ext cx="501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7|14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8"/>
          <p:cNvSpPr txBox="1"/>
          <p:nvPr/>
        </p:nvSpPr>
        <p:spPr>
          <a:xfrm>
            <a:off x="3696839" y="3486150"/>
            <a:ext cx="501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6|15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8"/>
          <p:cNvSpPr txBox="1"/>
          <p:nvPr/>
        </p:nvSpPr>
        <p:spPr>
          <a:xfrm>
            <a:off x="6342691" y="3429000"/>
            <a:ext cx="501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9|12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8"/>
          <p:cNvSpPr txBox="1"/>
          <p:nvPr/>
        </p:nvSpPr>
        <p:spPr>
          <a:xfrm>
            <a:off x="4978065" y="3429000"/>
            <a:ext cx="593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10|11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9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DFS – Code</a:t>
            </a:r>
            <a:endParaRPr sz="3300"/>
          </a:p>
        </p:txBody>
      </p:sp>
      <p:sp>
        <p:nvSpPr>
          <p:cNvPr id="255" name="Google Shape;255;p39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23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256" name="Google Shape;256;p39"/>
          <p:cNvPicPr preferRelativeResize="0"/>
          <p:nvPr/>
        </p:nvPicPr>
        <p:blipFill rotWithShape="1">
          <a:blip r:embed="rId3">
            <a:alphaModFix/>
          </a:blip>
          <a:srcRect r="52943"/>
          <a:stretch/>
        </p:blipFill>
        <p:spPr>
          <a:xfrm>
            <a:off x="1976275" y="1093250"/>
            <a:ext cx="2442975" cy="321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DFS – Code</a:t>
            </a:r>
            <a:endParaRPr sz="3300"/>
          </a:p>
        </p:txBody>
      </p:sp>
      <p:sp>
        <p:nvSpPr>
          <p:cNvPr id="262" name="Google Shape;262;p40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24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263" name="Google Shape;263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6264" y="1047750"/>
            <a:ext cx="5191475" cy="321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"/>
          <p:cNvSpPr txBox="1">
            <a:spLocks noGrp="1"/>
          </p:cNvSpPr>
          <p:nvPr>
            <p:ph type="title" idx="4294967295"/>
          </p:nvPr>
        </p:nvSpPr>
        <p:spPr>
          <a:xfrm>
            <a:off x="687704" y="458343"/>
            <a:ext cx="39417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DFS – Code</a:t>
            </a:r>
            <a:endParaRPr/>
          </a:p>
        </p:txBody>
      </p:sp>
      <p:pic>
        <p:nvPicPr>
          <p:cNvPr id="269" name="Google Shape;26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5950" y="1104900"/>
            <a:ext cx="5191475" cy="321247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1"/>
          <p:cNvSpPr txBox="1"/>
          <p:nvPr/>
        </p:nvSpPr>
        <p:spPr>
          <a:xfrm>
            <a:off x="6148200" y="3812025"/>
            <a:ext cx="21690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marR="0" lvl="0" indent="0" algn="l" rtl="0">
              <a:lnSpc>
                <a:spcPct val="118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432FF"/>
                </a:solidFill>
                <a:latin typeface="Calibri"/>
                <a:ea typeface="Calibri"/>
                <a:cs typeface="Calibri"/>
                <a:sym typeface="Calibri"/>
              </a:rPr>
              <a:t>Time Complexity?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18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O(V+E)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1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25</a:t>
            </a:fld>
            <a:endParaRPr sz="1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2"/>
          <p:cNvSpPr/>
          <p:nvPr/>
        </p:nvSpPr>
        <p:spPr>
          <a:xfrm>
            <a:off x="0" y="0"/>
            <a:ext cx="9157500" cy="5198100"/>
          </a:xfrm>
          <a:prstGeom prst="rect">
            <a:avLst/>
          </a:prstGeom>
          <a:solidFill>
            <a:srgbClr val="FF57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77" name="Google Shape;277;p42"/>
          <p:cNvSpPr txBox="1">
            <a:spLocks noGrp="1"/>
          </p:cNvSpPr>
          <p:nvPr>
            <p:ph type="ctrTitle"/>
          </p:nvPr>
        </p:nvSpPr>
        <p:spPr>
          <a:xfrm>
            <a:off x="311700" y="2175025"/>
            <a:ext cx="8520600" cy="97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Topological Sort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>
            <a:spLocks noGrp="1"/>
          </p:cNvSpPr>
          <p:nvPr>
            <p:ph type="title" idx="4294967295"/>
          </p:nvPr>
        </p:nvSpPr>
        <p:spPr>
          <a:xfrm>
            <a:off x="687704" y="458343"/>
            <a:ext cx="55989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Directed Acyclic Graph</a:t>
            </a:r>
            <a:endParaRPr sz="3300"/>
          </a:p>
        </p:txBody>
      </p:sp>
      <p:sp>
        <p:nvSpPr>
          <p:cNvPr id="283" name="Google Shape;283;p43"/>
          <p:cNvSpPr txBox="1"/>
          <p:nvPr/>
        </p:nvSpPr>
        <p:spPr>
          <a:xfrm>
            <a:off x="687704" y="1365884"/>
            <a:ext cx="78849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7780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" sz="1500" i="1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directed acyclic graph 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lang="en" sz="1500" i="1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DAG 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directed graph with no directed cycles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9863" y="2530037"/>
            <a:ext cx="3733800" cy="1609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3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27</a:t>
            </a:fld>
            <a:endParaRPr sz="1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28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291" name="Google Shape;291;p44"/>
          <p:cNvSpPr txBox="1">
            <a:spLocks noGrp="1"/>
          </p:cNvSpPr>
          <p:nvPr>
            <p:ph type="title" idx="4294967295"/>
          </p:nvPr>
        </p:nvSpPr>
        <p:spPr>
          <a:xfrm>
            <a:off x="687704" y="458343"/>
            <a:ext cx="63990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Topological Sort</a:t>
            </a:r>
            <a:endParaRPr sz="3300"/>
          </a:p>
        </p:txBody>
      </p:sp>
      <p:sp>
        <p:nvSpPr>
          <p:cNvPr id="292" name="Google Shape;292;p44"/>
          <p:cNvSpPr txBox="1"/>
          <p:nvPr/>
        </p:nvSpPr>
        <p:spPr>
          <a:xfrm>
            <a:off x="888206" y="1354455"/>
            <a:ext cx="70533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050" rIns="0" bIns="0" anchor="t" anchorCtr="0">
            <a:spAutoFit/>
          </a:bodyPr>
          <a:lstStyle/>
          <a:p>
            <a:pPr marL="1397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100"/>
              <a:buFont typeface="Noto Sans Symbols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" sz="1500" i="1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topological sort 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a DAG is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2100" marR="0" lvl="1" indent="-1143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000"/>
              <a:buFont typeface="Noto Sans Symbols"/>
              <a:buChar char="■"/>
            </a:pP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linear ordering of all vertices of the graph </a:t>
            </a:r>
            <a:r>
              <a:rPr lang="en" sz="15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such that vertex </a:t>
            </a:r>
            <a:r>
              <a:rPr lang="en" sz="15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comes before vertex </a:t>
            </a:r>
            <a:r>
              <a:rPr lang="en" sz="15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 (</a:t>
            </a:r>
            <a:r>
              <a:rPr lang="en" sz="15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5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an edge in </a:t>
            </a:r>
            <a:r>
              <a:rPr lang="en" sz="15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marL="3429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700"/>
              <a:buFont typeface="Noto Sans Symbols"/>
              <a:buNone/>
            </a:pP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100"/>
              <a:buFont typeface="Noto Sans Symbols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DAG indicates precedence among events: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2100" marR="0" lvl="1" indent="-1143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000"/>
              <a:buFont typeface="Noto Sans Symbols"/>
              <a:buChar char="■"/>
            </a:pP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events are graph vertices, edge from </a:t>
            </a:r>
            <a:r>
              <a:rPr lang="en" sz="15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lang="en" sz="15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means event </a:t>
            </a:r>
            <a:r>
              <a:rPr lang="en" sz="15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precedence over event </a:t>
            </a:r>
            <a:r>
              <a:rPr lang="en" sz="15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700"/>
              <a:buFont typeface="Noto Sans Symbols"/>
              <a:buNone/>
            </a:pP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100"/>
              <a:buFont typeface="Noto Sans Symbols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Real-world example: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2100" marR="0" lvl="1" indent="-1143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000"/>
              <a:buFont typeface="Noto Sans Symbols"/>
              <a:buChar char="■"/>
            </a:pP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getting dressed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2100" marR="0" lvl="1" indent="-1143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000"/>
              <a:buFont typeface="Noto Sans Symbols"/>
              <a:buChar char="■"/>
            </a:pP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 registration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2100" marR="0" lvl="1" indent="-1143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000"/>
              <a:buFont typeface="Noto Sans Symbols"/>
              <a:buChar char="■"/>
            </a:pP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tasks for eating meal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5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29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298" name="Google Shape;298;p45"/>
          <p:cNvSpPr txBox="1">
            <a:spLocks noGrp="1"/>
          </p:cNvSpPr>
          <p:nvPr>
            <p:ph type="title" idx="4294967295"/>
          </p:nvPr>
        </p:nvSpPr>
        <p:spPr>
          <a:xfrm>
            <a:off x="687704" y="458343"/>
            <a:ext cx="57132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Precedence Example</a:t>
            </a:r>
            <a:endParaRPr sz="3300"/>
          </a:p>
        </p:txBody>
      </p:sp>
      <p:sp>
        <p:nvSpPr>
          <p:cNvPr id="299" name="Google Shape;299;p45"/>
          <p:cNvSpPr txBox="1"/>
          <p:nvPr/>
        </p:nvSpPr>
        <p:spPr>
          <a:xfrm>
            <a:off x="888206" y="1354455"/>
            <a:ext cx="7741500" cy="12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050" rIns="0" bIns="0" anchor="t" anchorCtr="0">
            <a:spAutoFit/>
          </a:bodyPr>
          <a:lstStyle/>
          <a:p>
            <a:pPr marL="1397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100"/>
              <a:buFont typeface="Noto Sans Symbols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Tasks that have to be done to eat breakfast: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2100" marR="0" lvl="1" indent="-1143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000"/>
              <a:buFont typeface="Noto Sans Symbols"/>
              <a:buChar char="■"/>
            </a:pP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 glass, pour juice, get bowl, pour cereal, pour milk, get spoon, eat.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1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-1333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33CC"/>
              </a:buClr>
              <a:buSzPts val="1100"/>
              <a:buFont typeface="Noto Sans Symbols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Certain events must happen in a certain order (ex: get bowl before pouring milk)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-1333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33CC"/>
              </a:buClr>
              <a:buSzPts val="1100"/>
              <a:buFont typeface="Noto Sans Symbols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other events, it doesn't matter (ex: get bowl and get spoon)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6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Precedence Example</a:t>
            </a:r>
            <a:endParaRPr sz="3300"/>
          </a:p>
        </p:txBody>
      </p:sp>
      <p:sp>
        <p:nvSpPr>
          <p:cNvPr id="305" name="Google Shape;305;p46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30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306" name="Google Shape;306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0833" y="1576551"/>
            <a:ext cx="4177533" cy="2380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7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31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312" name="Google Shape;312;p47"/>
          <p:cNvSpPr txBox="1">
            <a:spLocks noGrp="1"/>
          </p:cNvSpPr>
          <p:nvPr>
            <p:ph type="title" idx="4294967295"/>
          </p:nvPr>
        </p:nvSpPr>
        <p:spPr>
          <a:xfrm>
            <a:off x="687704" y="458343"/>
            <a:ext cx="45702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Why Acyclic?</a:t>
            </a:r>
            <a:endParaRPr sz="3300"/>
          </a:p>
        </p:txBody>
      </p:sp>
      <p:sp>
        <p:nvSpPr>
          <p:cNvPr id="313" name="Google Shape;313;p47"/>
          <p:cNvSpPr txBox="1"/>
          <p:nvPr/>
        </p:nvSpPr>
        <p:spPr>
          <a:xfrm>
            <a:off x="888682" y="1354455"/>
            <a:ext cx="73410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050" rIns="0" bIns="0" anchor="t" anchorCtr="0">
            <a:spAutoFit/>
          </a:bodyPr>
          <a:lstStyle/>
          <a:p>
            <a:pPr marL="139700" marR="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200"/>
              <a:buFont typeface="Noto Sans Symbols"/>
              <a:buChar char="●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must directed graph by acyclic for the topological sort problem?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7"/>
          <p:cNvSpPr txBox="1"/>
          <p:nvPr/>
        </p:nvSpPr>
        <p:spPr>
          <a:xfrm>
            <a:off x="872632" y="1726555"/>
            <a:ext cx="73410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050" rIns="0" bIns="0" anchor="t" anchorCtr="0">
            <a:spAutoFit/>
          </a:bodyPr>
          <a:lstStyle/>
          <a:p>
            <a:pPr marL="139700" marR="0" lvl="0" indent="-1397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33CC"/>
              </a:buClr>
              <a:buSzPts val="1200"/>
              <a:buFont typeface="Noto Sans Symbols"/>
              <a:buChar char="●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Otherwise, no way to order events linearly without violating a precedence constraint.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8"/>
          <p:cNvSpPr txBox="1">
            <a:spLocks noGrp="1"/>
          </p:cNvSpPr>
          <p:nvPr>
            <p:ph type="title" idx="4294967295"/>
          </p:nvPr>
        </p:nvSpPr>
        <p:spPr>
          <a:xfrm>
            <a:off x="687704" y="458343"/>
            <a:ext cx="54846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Topological Sort Algorithm</a:t>
            </a:r>
            <a:endParaRPr sz="3300"/>
          </a:p>
        </p:txBody>
      </p:sp>
      <p:pic>
        <p:nvPicPr>
          <p:cNvPr id="320" name="Google Shape;320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732" y="1492263"/>
            <a:ext cx="4795162" cy="889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8"/>
          <p:cNvSpPr txBox="1"/>
          <p:nvPr/>
        </p:nvSpPr>
        <p:spPr>
          <a:xfrm>
            <a:off x="787701" y="2829687"/>
            <a:ext cx="59559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397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000"/>
              <a:buFont typeface="Noto Sans Symbols"/>
              <a:buChar char="●"/>
            </a:pPr>
            <a:r>
              <a:rPr lang="en" sz="1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" sz="1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9700" marR="0" lvl="0" indent="-139700" algn="l" rtl="0">
              <a:lnSpc>
                <a:spcPct val="212222"/>
              </a:lnSpc>
              <a:spcBef>
                <a:spcPts val="100"/>
              </a:spcBef>
              <a:spcAft>
                <a:spcPts val="0"/>
              </a:spcAft>
              <a:buClr>
                <a:srgbClr val="0033CC"/>
              </a:buClr>
              <a:buSzPts val="1000"/>
              <a:buFont typeface="Noto Sans Symbols"/>
              <a:buChar char="●"/>
            </a:pPr>
            <a:r>
              <a:rPr lang="en" sz="1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Correctness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Want to prove that  (</a:t>
            </a:r>
            <a:r>
              <a:rPr lang="en" sz="1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u, v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" sz="1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" sz="1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&gt; </a:t>
            </a:r>
            <a:r>
              <a:rPr lang="en" sz="1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48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32</a:t>
            </a:fld>
            <a:endParaRPr sz="1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9"/>
          <p:cNvSpPr txBox="1">
            <a:spLocks noGrp="1"/>
          </p:cNvSpPr>
          <p:nvPr>
            <p:ph type="title" idx="4294967295"/>
          </p:nvPr>
        </p:nvSpPr>
        <p:spPr>
          <a:xfrm>
            <a:off x="687704" y="458343"/>
            <a:ext cx="69705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Topological Sort: Example</a:t>
            </a:r>
            <a:endParaRPr sz="3300"/>
          </a:p>
        </p:txBody>
      </p:sp>
      <p:pic>
        <p:nvPicPr>
          <p:cNvPr id="328" name="Google Shape;328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3459" y="1443926"/>
            <a:ext cx="2941590" cy="2484009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9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33</a:t>
            </a:fld>
            <a:endParaRPr sz="1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Topological Sort: Example</a:t>
            </a:r>
            <a:endParaRPr sz="3300"/>
          </a:p>
        </p:txBody>
      </p:sp>
      <p:sp>
        <p:nvSpPr>
          <p:cNvPr id="335" name="Google Shape;335;p50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34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336" name="Google Shape;336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2300" y="1442173"/>
            <a:ext cx="2941590" cy="2484009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0"/>
          <p:cNvSpPr txBox="1"/>
          <p:nvPr/>
        </p:nvSpPr>
        <p:spPr>
          <a:xfrm>
            <a:off x="3619500" y="1443925"/>
            <a:ext cx="800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1|12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50"/>
          <p:cNvSpPr txBox="1"/>
          <p:nvPr/>
        </p:nvSpPr>
        <p:spPr>
          <a:xfrm>
            <a:off x="4867680" y="1443926"/>
            <a:ext cx="5046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8|11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50"/>
          <p:cNvSpPr txBox="1"/>
          <p:nvPr/>
        </p:nvSpPr>
        <p:spPr>
          <a:xfrm>
            <a:off x="3820545" y="3486150"/>
            <a:ext cx="400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3|4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0"/>
          <p:cNvSpPr txBox="1"/>
          <p:nvPr/>
        </p:nvSpPr>
        <p:spPr>
          <a:xfrm>
            <a:off x="4867680" y="3486150"/>
            <a:ext cx="618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13|14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50"/>
          <p:cNvSpPr txBox="1"/>
          <p:nvPr/>
        </p:nvSpPr>
        <p:spPr>
          <a:xfrm>
            <a:off x="2768406" y="2457450"/>
            <a:ext cx="400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5|6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50"/>
          <p:cNvSpPr txBox="1"/>
          <p:nvPr/>
        </p:nvSpPr>
        <p:spPr>
          <a:xfrm>
            <a:off x="5772150" y="2457450"/>
            <a:ext cx="514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9|10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50"/>
          <p:cNvSpPr txBox="1"/>
          <p:nvPr/>
        </p:nvSpPr>
        <p:spPr>
          <a:xfrm>
            <a:off x="4220595" y="211455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2|7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50"/>
          <p:cNvSpPr txBox="1"/>
          <p:nvPr/>
        </p:nvSpPr>
        <p:spPr>
          <a:xfrm>
            <a:off x="2848502" y="4002740"/>
            <a:ext cx="37809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Topological Order: v1-&gt;v2-&gt;v3-&gt;v4-&gt;v5-&gt;v6-&gt;v7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>
            <a:spLocks noGrp="1"/>
          </p:cNvSpPr>
          <p:nvPr>
            <p:ph type="title" idx="4294967295"/>
          </p:nvPr>
        </p:nvSpPr>
        <p:spPr>
          <a:xfrm>
            <a:off x="687704" y="458343"/>
            <a:ext cx="57132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Topological Sort: Example</a:t>
            </a:r>
            <a:endParaRPr sz="3300"/>
          </a:p>
        </p:txBody>
      </p:sp>
      <p:pic>
        <p:nvPicPr>
          <p:cNvPr id="350" name="Google Shape;350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5850" y="1485900"/>
            <a:ext cx="6800851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51"/>
          <p:cNvSpPr txBox="1"/>
          <p:nvPr/>
        </p:nvSpPr>
        <p:spPr>
          <a:xfrm>
            <a:off x="2848500" y="4002750"/>
            <a:ext cx="38889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Topological Order: v1, v2, v3, v4, v5, v6, v7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51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35</a:t>
            </a:fld>
            <a:endParaRPr sz="1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2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36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358" name="Google Shape;358;p52"/>
          <p:cNvSpPr txBox="1">
            <a:spLocks noGrp="1"/>
          </p:cNvSpPr>
          <p:nvPr>
            <p:ph type="title" idx="4294967295"/>
          </p:nvPr>
        </p:nvSpPr>
        <p:spPr>
          <a:xfrm>
            <a:off x="687704" y="457200"/>
            <a:ext cx="9084900" cy="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Topological Sort: Using In Degree (Algorithm)</a:t>
            </a:r>
            <a:endParaRPr sz="3000"/>
          </a:p>
        </p:txBody>
      </p:sp>
      <p:sp>
        <p:nvSpPr>
          <p:cNvPr id="359" name="Google Shape;359;p52"/>
          <p:cNvSpPr txBox="1"/>
          <p:nvPr/>
        </p:nvSpPr>
        <p:spPr>
          <a:xfrm>
            <a:off x="687704" y="1297305"/>
            <a:ext cx="8285100" cy="29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200" rIns="0" bIns="0" anchor="t" anchorCtr="0">
            <a:spAutoFit/>
          </a:bodyPr>
          <a:lstStyle/>
          <a:p>
            <a:pPr marL="17780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 for finding the topological ordering of a DAG: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890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Step-1: </a:t>
            </a: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in-degree 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of the vertices present in the DAG and initialize the count of  visited nodes as 0;</a:t>
            </a:r>
            <a:endParaRPr sz="1100"/>
          </a:p>
          <a:p>
            <a:pPr marL="8890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Step-2: 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all </a:t>
            </a: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vertices with in-degree equals 0 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into a queue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8300" marR="3683000" lvl="0" indent="-2794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Step-3: 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 a vertex from the queue and then  Increment count of visited nodes by 1;</a:t>
            </a:r>
            <a:endParaRPr sz="1100"/>
          </a:p>
          <a:p>
            <a:pPr marL="36830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Decrease in-degree by 1 for all its neighboring nodes;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830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in-degree of a neighboring node is reduced to zero, then add it to the queue;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890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Step 4: 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 Step 3 until </a:t>
            </a: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queue is empty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8900" marR="6858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Step 5: 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count of visited nodes is </a:t>
            </a: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equal to the number of nodes in the graph then the  topological sort is not possible for the given graph.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3"/>
          <p:cNvSpPr txBox="1">
            <a:spLocks noGrp="1"/>
          </p:cNvSpPr>
          <p:nvPr>
            <p:ph type="title" idx="4294967295"/>
          </p:nvPr>
        </p:nvSpPr>
        <p:spPr>
          <a:xfrm>
            <a:off x="687704" y="458343"/>
            <a:ext cx="9599400" cy="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Topological Sort: Using In Degree (Algorithm)</a:t>
            </a:r>
            <a:endParaRPr sz="3000"/>
          </a:p>
        </p:txBody>
      </p:sp>
      <p:pic>
        <p:nvPicPr>
          <p:cNvPr id="365" name="Google Shape;365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725" y="1122457"/>
            <a:ext cx="2941590" cy="248400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6" name="Google Shape;366;p53"/>
          <p:cNvGraphicFramePr/>
          <p:nvPr/>
        </p:nvGraphicFramePr>
        <p:xfrm>
          <a:off x="4314989" y="2112661"/>
          <a:ext cx="4513950" cy="570825"/>
        </p:xfrm>
        <a:graphic>
          <a:graphicData uri="http://schemas.openxmlformats.org/drawingml/2006/table">
            <a:tbl>
              <a:tblPr firstRow="1" bandRow="1">
                <a:noFill/>
                <a:tableStyleId>{1B78080B-908F-4160-8A9B-ABD9C6F14203}</a:tableStyleId>
              </a:tblPr>
              <a:tblGrid>
                <a:gridCol w="64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4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4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4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0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4275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4275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4275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4275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4275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4275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4275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200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v2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200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v3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200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v4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200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v5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200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v6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200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v7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200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7" name="Google Shape;367;p53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37</a:t>
            </a:fld>
            <a:endParaRPr sz="1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4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Topological Sort: Using In Degree</a:t>
            </a:r>
            <a:endParaRPr sz="3300"/>
          </a:p>
        </p:txBody>
      </p:sp>
      <p:sp>
        <p:nvSpPr>
          <p:cNvPr id="373" name="Google Shape;373;p54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38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374" name="Google Shape;374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3459" y="1443926"/>
            <a:ext cx="2941590" cy="2484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5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Topological Sort: Using In Degree</a:t>
            </a:r>
            <a:endParaRPr sz="3300"/>
          </a:p>
        </p:txBody>
      </p:sp>
      <p:sp>
        <p:nvSpPr>
          <p:cNvPr id="380" name="Google Shape;380;p55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39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381" name="Google Shape;381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8261" y="1657244"/>
            <a:ext cx="2631461" cy="2582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6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Topological Sort: Using In Degree</a:t>
            </a:r>
            <a:endParaRPr sz="3300"/>
          </a:p>
        </p:txBody>
      </p:sp>
      <p:sp>
        <p:nvSpPr>
          <p:cNvPr id="387" name="Google Shape;387;p56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40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388" name="Google Shape;388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9768" y="1680948"/>
            <a:ext cx="2570568" cy="2508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7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Topological Sort: Using In Degree</a:t>
            </a:r>
            <a:endParaRPr sz="3300"/>
          </a:p>
        </p:txBody>
      </p:sp>
      <p:sp>
        <p:nvSpPr>
          <p:cNvPr id="394" name="Google Shape;394;p57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41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395" name="Google Shape;395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0612" y="2141643"/>
            <a:ext cx="2584967" cy="1851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8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Topological Sort: Using In Degree</a:t>
            </a:r>
            <a:endParaRPr sz="3300"/>
          </a:p>
        </p:txBody>
      </p:sp>
      <p:sp>
        <p:nvSpPr>
          <p:cNvPr id="401" name="Google Shape;401;p58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42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402" name="Google Shape;402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0760" y="2084699"/>
            <a:ext cx="2183301" cy="1954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9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Topological Sort: Using In Degree</a:t>
            </a:r>
            <a:endParaRPr sz="3300"/>
          </a:p>
        </p:txBody>
      </p:sp>
      <p:sp>
        <p:nvSpPr>
          <p:cNvPr id="408" name="Google Shape;408;p59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43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409" name="Google Shape;409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50712" y="2056178"/>
            <a:ext cx="2443671" cy="182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0"/>
          <p:cNvSpPr txBox="1">
            <a:spLocks noGrp="1"/>
          </p:cNvSpPr>
          <p:nvPr>
            <p:ph type="title" idx="4294967295"/>
          </p:nvPr>
        </p:nvSpPr>
        <p:spPr>
          <a:xfrm>
            <a:off x="397670" y="110432"/>
            <a:ext cx="60627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Topological Sort: Using In Degree</a:t>
            </a:r>
            <a:endParaRPr sz="3300"/>
          </a:p>
        </p:txBody>
      </p:sp>
      <p:sp>
        <p:nvSpPr>
          <p:cNvPr id="415" name="Google Shape;415;p60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44</a:t>
            </a:fld>
            <a:endParaRPr sz="1500" b="1">
              <a:solidFill>
                <a:schemeClr val="lt1"/>
              </a:solidFill>
            </a:endParaRPr>
          </a:p>
        </p:txBody>
      </p:sp>
      <p:pic>
        <p:nvPicPr>
          <p:cNvPr id="416" name="Google Shape;416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3613" y="2621069"/>
            <a:ext cx="2242039" cy="1052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1"/>
          <p:cNvSpPr txBox="1">
            <a:spLocks noGrp="1"/>
          </p:cNvSpPr>
          <p:nvPr>
            <p:ph type="title" idx="4294967295"/>
          </p:nvPr>
        </p:nvSpPr>
        <p:spPr>
          <a:xfrm>
            <a:off x="687704" y="458343"/>
            <a:ext cx="55989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Topological Sort: Example</a:t>
            </a:r>
            <a:endParaRPr sz="3300"/>
          </a:p>
        </p:txBody>
      </p:sp>
      <p:pic>
        <p:nvPicPr>
          <p:cNvPr id="422" name="Google Shape;422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3959" y="1703497"/>
            <a:ext cx="5156364" cy="1409943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61"/>
          <p:cNvSpPr txBox="1"/>
          <p:nvPr/>
        </p:nvSpPr>
        <p:spPr>
          <a:xfrm>
            <a:off x="3087998" y="3618350"/>
            <a:ext cx="39294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Topological Order: v1, v2, v3, v4, v5, v6, v7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61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45</a:t>
            </a:fld>
            <a:endParaRPr sz="1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2"/>
          <p:cNvSpPr txBox="1">
            <a:spLocks noGrp="1"/>
          </p:cNvSpPr>
          <p:nvPr>
            <p:ph type="sldNum" idx="12"/>
          </p:nvPr>
        </p:nvSpPr>
        <p:spPr>
          <a:xfrm>
            <a:off x="8548658" y="4706571"/>
            <a:ext cx="548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>
                <a:solidFill>
                  <a:schemeClr val="lt1"/>
                </a:solidFill>
              </a:rPr>
              <a:t>46</a:t>
            </a:fld>
            <a:endParaRPr sz="1500" b="1">
              <a:solidFill>
                <a:schemeClr val="lt1"/>
              </a:solidFill>
            </a:endParaRPr>
          </a:p>
        </p:txBody>
      </p:sp>
      <p:sp>
        <p:nvSpPr>
          <p:cNvPr id="430" name="Google Shape;430;p62"/>
          <p:cNvSpPr txBox="1">
            <a:spLocks noGrp="1"/>
          </p:cNvSpPr>
          <p:nvPr>
            <p:ph type="title" idx="4294967295"/>
          </p:nvPr>
        </p:nvSpPr>
        <p:spPr>
          <a:xfrm>
            <a:off x="687704" y="458343"/>
            <a:ext cx="61704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When to use: BFS vs DFS</a:t>
            </a:r>
            <a:endParaRPr sz="3300"/>
          </a:p>
        </p:txBody>
      </p:sp>
      <p:sp>
        <p:nvSpPr>
          <p:cNvPr id="431" name="Google Shape;431;p62"/>
          <p:cNvSpPr txBox="1"/>
          <p:nvPr/>
        </p:nvSpPr>
        <p:spPr>
          <a:xfrm>
            <a:off x="687704" y="1281303"/>
            <a:ext cx="7655700" cy="24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4775" rIns="0" bIns="0" anchor="t" anchorCtr="0">
            <a:spAutoFit/>
          </a:bodyPr>
          <a:lstStyle/>
          <a:p>
            <a:pPr marL="17780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we know a solution is not far from the root of the tree, BFS might be better.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254000" lvl="0" indent="-171450" algn="l" rtl="0">
              <a:lnSpc>
                <a:spcPct val="1105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tree is very deep and solutions are rare, DFS might take an extremely long time, but BFS  could be faster.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800100" lvl="0" indent="-171450" algn="l" rtl="0">
              <a:lnSpc>
                <a:spcPct val="109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tree is very wide, a BFS might need too much memory, so it might be completely  impractical.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solutions are frequent but located deep in the tree, DFS could be better.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71450" algn="l" rtl="0">
              <a:lnSpc>
                <a:spcPct val="1105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search tree is very deep we will need to restrict the search depth for DFS (for example with  iterative deepening).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3"/>
          <p:cNvSpPr/>
          <p:nvPr/>
        </p:nvSpPr>
        <p:spPr>
          <a:xfrm>
            <a:off x="0" y="0"/>
            <a:ext cx="9157500" cy="5198100"/>
          </a:xfrm>
          <a:prstGeom prst="rect">
            <a:avLst/>
          </a:prstGeom>
          <a:solidFill>
            <a:srgbClr val="FF57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63"/>
          <p:cNvSpPr txBox="1">
            <a:spLocks noGrp="1"/>
          </p:cNvSpPr>
          <p:nvPr>
            <p:ph type="ctrTitle"/>
          </p:nvPr>
        </p:nvSpPr>
        <p:spPr>
          <a:xfrm>
            <a:off x="311700" y="2175025"/>
            <a:ext cx="8520600" cy="97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Questions?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4"/>
          <p:cNvSpPr/>
          <p:nvPr/>
        </p:nvSpPr>
        <p:spPr>
          <a:xfrm>
            <a:off x="0" y="0"/>
            <a:ext cx="9157500" cy="5198100"/>
          </a:xfrm>
          <a:prstGeom prst="rect">
            <a:avLst/>
          </a:prstGeom>
          <a:solidFill>
            <a:srgbClr val="FF57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64"/>
          <p:cNvSpPr txBox="1">
            <a:spLocks noGrp="1"/>
          </p:cNvSpPr>
          <p:nvPr>
            <p:ph type="ctrTitle"/>
          </p:nvPr>
        </p:nvSpPr>
        <p:spPr>
          <a:xfrm>
            <a:off x="311700" y="2175025"/>
            <a:ext cx="8520600" cy="97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858</Words>
  <Application>Microsoft Office PowerPoint</Application>
  <PresentationFormat>On-screen Show (16:9)</PresentationFormat>
  <Paragraphs>170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Noto Sans Symbols</vt:lpstr>
      <vt:lpstr>Cambria</vt:lpstr>
      <vt:lpstr>Montserrat</vt:lpstr>
      <vt:lpstr>Times New Roman</vt:lpstr>
      <vt:lpstr>Calibri</vt:lpstr>
      <vt:lpstr>Playfair Display</vt:lpstr>
      <vt:lpstr>Arial</vt:lpstr>
      <vt:lpstr>Simple Light</vt:lpstr>
      <vt:lpstr>PowerPoint Presentation</vt:lpstr>
      <vt:lpstr>Depth First Search</vt:lpstr>
      <vt:lpstr>Depth-First Search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– Example 2</vt:lpstr>
      <vt:lpstr>DFS – Example 2 </vt:lpstr>
      <vt:lpstr>DFS – Code</vt:lpstr>
      <vt:lpstr>DFS – Code</vt:lpstr>
      <vt:lpstr>DFS – Code</vt:lpstr>
      <vt:lpstr>Topological Sort</vt:lpstr>
      <vt:lpstr>Directed Acyclic Graph</vt:lpstr>
      <vt:lpstr>Topological Sort</vt:lpstr>
      <vt:lpstr>Precedence Example</vt:lpstr>
      <vt:lpstr>Precedence Example</vt:lpstr>
      <vt:lpstr>Why Acyclic?</vt:lpstr>
      <vt:lpstr>Topological Sort Algorithm</vt:lpstr>
      <vt:lpstr>Topological Sort: Example</vt:lpstr>
      <vt:lpstr>Topological Sort: Example</vt:lpstr>
      <vt:lpstr>Topological Sort: Example</vt:lpstr>
      <vt:lpstr>Topological Sort: Using In Degree (Algorithm)</vt:lpstr>
      <vt:lpstr>Topological Sort: Using In Degree (Algorithm)</vt:lpstr>
      <vt:lpstr>Topological Sort: Using In Degree</vt:lpstr>
      <vt:lpstr>Topological Sort: Using In Degree</vt:lpstr>
      <vt:lpstr>Topological Sort: Using In Degree</vt:lpstr>
      <vt:lpstr>Topological Sort: Using In Degree</vt:lpstr>
      <vt:lpstr>Topological Sort: Using In Degree</vt:lpstr>
      <vt:lpstr>Topological Sort: Using In Degree</vt:lpstr>
      <vt:lpstr>Topological Sort: Using In Degree</vt:lpstr>
      <vt:lpstr>Topological Sort: Example</vt:lpstr>
      <vt:lpstr>When to use: BFS vs DFS</vt:lpstr>
      <vt:lpstr>Questions?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Asif Abrar</cp:lastModifiedBy>
  <cp:revision>1</cp:revision>
  <dcterms:modified xsi:type="dcterms:W3CDTF">2026-01-05T12:35:43Z</dcterms:modified>
</cp:coreProperties>
</file>