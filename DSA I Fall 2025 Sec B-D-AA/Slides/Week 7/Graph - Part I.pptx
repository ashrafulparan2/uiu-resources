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352" r:id="rId17"/>
    <p:sldId id="353" r:id="rId18"/>
    <p:sldId id="351" r:id="rId19"/>
  </p:sldIdLst>
  <p:sldSz cx="12192000" cy="6858000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Noto Sans Symbols" pitchFamily="2" charset="0"/>
      <p:regular r:id="rId22"/>
      <p:bold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Times" panose="02020603050405020304" pitchFamily="18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0" roundtripDataSignature="AMtx7mgQTACEVQmW6rCKqLgx5n6Ri9Ne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B8C35B-C958-480B-AB76-27AAC6D86DA8}">
  <a:tblStyle styleId="{BEB8C35B-C958-480B-AB76-27AAC6D86D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11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11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11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2-04T06:11:20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13645 12464 328 0,'-4'0'28'16,"-2"0"4"-16,1 0 4 15,-2 0-33-15,-1 0-2 16,0 0-8-16,-1 0-7 15,-2 0 0-15,3 0 1 16,-3 0 4-16,2 4-22 16,0-3-51-16</inkml:trace>
  <inkml:trace contextRef="#ctx0" brushRef="#br0" timeOffset="5516.14">9144 9554 263 0,'0'-3'20'16,"0"1"-4"-16,0-1 23 0,0 1 35 15,0-2-37-15,0 1 8 16,-4-2-6-16,2 2-6 16,0 3-5-1,0-3 6-15,2 3-14 16,-2 0-13-16,2 0-8 0,0 0 0 15,0 0 3-15,0 0-5 16,2 0 3-16,12 0 1 16,2 0 4-16,2 0-1 15,6 0-5-15,2 0 0 16,5 3 4-16,1 8-4 16,8 3 2-16,1 1-1 15,5 1 0-15,3-2 4 16,2-1-5-16,3 0 1 15,0-1 1-15,0-2-7 16,0 1 4-16,-2-1-8 16,-1 4-3-16,3-3 8 15,4-3-7-15,4 2 12 16,5-1-1-16,2-1-4 16,2-2-4-16,0 0-10 15,-3 0 7-15,0-1 2 16,-6 3 4-16,-2 4-2 15,1-1-5-15,-4 6 2 16,-1-6 8-16,4 4-1 16,5 0 4-16,-1-4-2 15,10 1-1-15,-1 0 7 16,11 0-9-16,2 0 4 16,7-5-17-16,4 3-3 15,5-4 1-15,4-4-11 16,-5-1 3-16,2 2-9 15,-4-2 17-15,-3 3-13 16,-9 0 20-16,-3 0-7 16,-6 2-21-16,-5 0 24 0,-7 3-5 15,-3-1-46-15,-7 4 52 16,-8-1 14-16,-8 3 1 16,-3 1 7-16,-9 3 17 15,0-5-17-15,-2 3 1 16,0 2-6-16,-1-5-1 15,7 2 4-15,3-5 12 16,10-3-11-16,3-1-3 16,5-4 13-16,5 4 34 15,-2-6-38-15,0 5-7 16,-4 0 6-16,-3 2-6 16,-1-1 2-16,-3 4 0 15,0-2 15-15,0-1-13 16,1 0-5-16,-4 2 4 15,-3-3 5-15,1 2-6 16,-6-1-4-16,-7 1 3 16,-3 0 2-16,-9 2-6 15,0-5-4-15,-7 3-6 16,1 0-6-16,-2-4 5 16,-3 1-7-16,-2-3 5 15,0 1 1-15,-2-2 9 16,0-1 2-16,0 0 8 15,0 0-3-15,0 0-7 0,0 0-3 16,0 2 0 0,0-2 5-16,2 2-1 0,2 0-5 15,1-2-1 1,0 0-2-16,-1 0-4 0,-2 2 11 16,0 0-2-16,-2-2-12 15,0 2-16-15,0-2 12 16,0 0 25-16,0 2 3 15,0-2-4-15,0 0-2 16,0 0 0-16,0 0 1 16,-2 4-4-16,0-3 0 15,-5 5 5-15,0 4-3 16,1 0 6-16,-2 5 7 16,1 3 8-16,-2 4-5 15,5 0 63-15,0 6 2 16,2-2-76-16,2 4 33 15,0 0-13-15,0 8 9 16,0 0-7-16,0 3-4 16,-2 0-8-16,-1-2-7 15,-1 4-5-15,0-4-2 16,2-2 2-16,2 0-3 16,0-2 3-16,0-1-4 15,0-3 2-15,0 1 0 16,10-3-1-16,-1-3 0 15,2 3-1-15,0 1 2 16,-5-1 0-16,2 0-2 16,-3 2-2-16,0-2 6 15,-5 6-6-15,0-4 3 16,0 4 0-16,0-4-2 16,0 1 5-16,0-3-5 15,0 0 1-15,0 0 1 0,0 2-1 16,0-1 2-16,0-1-3 15,-3 2 0-15,3-2 7 16,0 3-5-16,0-4 0 16,0 1-1-16,0 0-1 15,0-2 3-15,0-3-3 16,5 1 1-16,-3 3-2 16,2-4 3-16,-2 2-1 15,0-1-8-15,0 3-5 16,0-1 7-16,2-2-7 15,-2 3 11-15,4-2 0 16,-2 2-8-16,-2 0 7 16,0 2-6-16,0-1-13 15,-2 1-3-15,0 0 3 16,0-1-14-16,0 0 8 16,4-4 12-16,-2 4 14 15,5-3-13-15,-4 4 9 16,-1-5 2-16,-2-2-4 15,0-3 7-15,0 1 0 16,0-3 2-16,0-1 3 16,0 0-2-16,0 1 1 15,0-1-3-15,0 1-1 16,0 0 1-16,0-1-3 16,0-1-4-16,-2 1-3 15,2-3-5-15,-3 0 12 0,3 2-9 16,-3-4 9-1,3 1 3-15,-2-1 0 16,2-1 2-16,-2-1 1 16,2-2-1-16,0 2 9 15,-2-3-8-15,2-3-1 0,0 0 1 16,0 0 3-16,0-3-1 16,0 2-1-16,0-3 5 15,0 0 3-15,0 0 1 16,0 0 1-16,0 0-10 15,0 0 0-15,0 0 5 16,0-4-9-16,0-6-2 16,0-2-13-16,0 1-29 15,0-3-29-15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0D26F122-0F57-8E06-F8F5-74AFF8A7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1:notes">
            <a:extLst>
              <a:ext uri="{FF2B5EF4-FFF2-40B4-BE49-F238E27FC236}">
                <a16:creationId xmlns:a16="http://schemas.microsoft.com/office/drawing/2014/main" id="{EE6031D2-0E1D-E5D8-0FDB-7BAAB641E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1:notes">
            <a:extLst>
              <a:ext uri="{FF2B5EF4-FFF2-40B4-BE49-F238E27FC236}">
                <a16:creationId xmlns:a16="http://schemas.microsoft.com/office/drawing/2014/main" id="{26074BE6-CA18-9EDB-1C55-9B14ECF12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858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F1C79BB9-E6E4-D949-0EF3-DB45249C0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1:notes">
            <a:extLst>
              <a:ext uri="{FF2B5EF4-FFF2-40B4-BE49-F238E27FC236}">
                <a16:creationId xmlns:a16="http://schemas.microsoft.com/office/drawing/2014/main" id="{2930DF0F-EAD6-F923-4C62-7052D2B87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1:notes">
            <a:extLst>
              <a:ext uri="{FF2B5EF4-FFF2-40B4-BE49-F238E27FC236}">
                <a16:creationId xmlns:a16="http://schemas.microsoft.com/office/drawing/2014/main" id="{66C8923F-43D2-3F13-494D-0EAD6A383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054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1" name="Google Shape;4831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2" name="Google Shape;4832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8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3F86673-CB12-4BEC-BD56-E6575FFA0180}" type="datetime1">
              <a:rPr lang="en-US" smtClean="0"/>
              <a:t>1/3/2026</a:t>
            </a:fld>
            <a:endParaRPr/>
          </a:p>
        </p:txBody>
      </p:sp>
      <p:sp>
        <p:nvSpPr>
          <p:cNvPr id="19" name="Google Shape;19;p98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20" name="Google Shape;20;p98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9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9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9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9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B21EB1D-61C5-40FB-BF9D-CF3BB8DF9316}" type="datetime1">
              <a:rPr lang="en-US" smtClean="0"/>
              <a:t>1/3/2026</a:t>
            </a:fld>
            <a:endParaRPr/>
          </a:p>
        </p:txBody>
      </p:sp>
      <p:sp>
        <p:nvSpPr>
          <p:cNvPr id="28" name="Google Shape;28;p9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29" name="Google Shape;29;p9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9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9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9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5C97844-74E2-4099-9887-A252D7E5130B}" type="datetime1">
              <a:rPr lang="en-US" smtClean="0"/>
              <a:t>1/3/2026</a:t>
            </a:fld>
            <a:endParaRPr/>
          </a:p>
        </p:txBody>
      </p:sp>
      <p:sp>
        <p:nvSpPr>
          <p:cNvPr id="36" name="Google Shape;36;p10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37" name="Google Shape;37;p10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10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0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0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1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1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FEA3222-2932-4378-AA8A-08CE73BC2C43}" type="datetime1">
              <a:rPr lang="en-US" smtClean="0"/>
              <a:t>1/3/2026</a:t>
            </a:fld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10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0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0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0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0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2CD55E3-DD04-4BCA-9670-D3B41A0AD1AB}" type="datetime1">
              <a:rPr lang="en-US" smtClean="0"/>
              <a:t>1/3/2026</a:t>
            </a:fld>
            <a:endParaRPr/>
          </a:p>
        </p:txBody>
      </p:sp>
      <p:sp>
        <p:nvSpPr>
          <p:cNvPr id="58" name="Google Shape;58;p10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0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10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0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0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633E25-D349-4020-8E37-564DD57B289B}" type="datetime1">
              <a:rPr lang="en-US" smtClean="0"/>
              <a:t>1/3/2026</a:t>
            </a:fld>
            <a:endParaRPr/>
          </a:p>
        </p:txBody>
      </p:sp>
      <p:sp>
        <p:nvSpPr>
          <p:cNvPr id="67" name="Google Shape;67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68" name="Google Shape;68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5726728-9B84-4F92-B089-E653AE7BD7DC}" type="datetime1">
              <a:rPr lang="en-US" smtClean="0"/>
              <a:t>1/3/2026</a:t>
            </a:fld>
            <a:endParaRPr/>
          </a:p>
        </p:txBody>
      </p:sp>
      <p:sp>
        <p:nvSpPr>
          <p:cNvPr id="71" name="Google Shape;71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10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F579A80-57FE-4D07-A3B9-0648B3CA085D}" type="datetime1">
              <a:rPr lang="en-US" smtClean="0"/>
              <a:t>1/3/2026</a:t>
            </a:fld>
            <a:endParaRPr/>
          </a:p>
        </p:txBody>
      </p:sp>
      <p:sp>
        <p:nvSpPr>
          <p:cNvPr id="78" name="Google Shape;78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79" name="Google Shape;79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6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7A8D3D2-F05C-4A14-9659-93ACE9A55AD4}" type="datetime1">
              <a:rPr lang="en-US" smtClean="0"/>
              <a:t>1/3/2026</a:t>
            </a:fld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40BD4CC-DC13-4D23-BA8D-F46149B164FB}" type="datetime1">
              <a:rPr lang="en-US" smtClean="0"/>
              <a:t>1/3/2026</a:t>
            </a:fld>
            <a:endParaRPr/>
          </a:p>
        </p:txBody>
      </p:sp>
      <p:sp>
        <p:nvSpPr>
          <p:cNvPr id="91" name="Google Shape;91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0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3C44A19-0A1D-4B67-81BA-503BEF47FC6E}" type="datetime1">
              <a:rPr lang="en-US" smtClean="0"/>
              <a:t>1/3/2026</a:t>
            </a:fld>
            <a:endParaRPr/>
          </a:p>
        </p:txBody>
      </p:sp>
      <p:sp>
        <p:nvSpPr>
          <p:cNvPr id="97" name="Google Shape;97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98" name="Google Shape;98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E260FC69-BB5C-4287-8ABC-9F3AA4664805}" type="datetime1">
              <a:rPr lang="en-US" smtClean="0"/>
              <a:t>1/3/2026</a:t>
            </a:fld>
            <a:endParaRPr/>
          </a:p>
        </p:txBody>
      </p:sp>
      <p:sp>
        <p:nvSpPr>
          <p:cNvPr id="13" name="Google Shape;13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14" name="Google Shape;14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Graph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C3DE24C-90CC-4D79-96CC-B075B77C3718}" type="datetime1">
              <a:rPr lang="en-US" smtClean="0"/>
              <a:t>1/3/2026</a:t>
            </a:fld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GRAPH TERMINOLOGIES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5BE52FC-17A6-4F27-A91D-E2DDBED3076E}" type="datetime1">
              <a:rPr lang="en-US" smtClean="0"/>
              <a:t>1/3/2026</a:t>
            </a:fld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graph is a pair of sets (V, E), where  V is a set of nodes, called vertices  E is a collection of pairs of vertices, called edges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V(G) and E(G) represent the sets of vertices and edges of G, respectively.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</a:t>
            </a:r>
            <a:r>
              <a:rPr lang="en-US" b="1"/>
              <a:t>visualize/draw</a:t>
            </a:r>
            <a:r>
              <a:rPr lang="en-US"/>
              <a:t> the graph and store </a:t>
            </a:r>
            <a:r>
              <a:rPr lang="en-US" b="1"/>
              <a:t>represent</a:t>
            </a:r>
            <a:r>
              <a:rPr lang="en-US"/>
              <a:t> </a:t>
            </a:r>
            <a:r>
              <a:rPr lang="en-US" b="1"/>
              <a:t>it</a:t>
            </a:r>
            <a:r>
              <a:rPr lang="en-US"/>
              <a:t> </a:t>
            </a:r>
            <a:r>
              <a:rPr lang="en-US" b="1"/>
              <a:t>mathematically</a:t>
            </a:r>
            <a:r>
              <a:rPr lang="en-US"/>
              <a:t> using the</a:t>
            </a:r>
            <a:r>
              <a:rPr lang="en-US" b="1"/>
              <a:t> two sets.</a:t>
            </a:r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5284004-AA39-47CB-AAA6-7F9DD111A915}" type="datetime1">
              <a:rPr lang="en-US" smtClean="0"/>
              <a:t>1/3/2026</a:t>
            </a:fld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Graph?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173480" y="473682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2719965" y="413209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128" name="Google Shape;128;p3"/>
          <p:cNvCxnSpPr>
            <a:stCxn id="126" idx="7"/>
            <a:endCxn id="127" idx="2"/>
          </p:cNvCxnSpPr>
          <p:nvPr/>
        </p:nvCxnSpPr>
        <p:spPr>
          <a:xfrm rot="10800000" flipH="1">
            <a:off x="1689649" y="4434490"/>
            <a:ext cx="1030200" cy="39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9" name="Google Shape;129;p3"/>
          <p:cNvCxnSpPr>
            <a:stCxn id="127" idx="6"/>
            <a:endCxn id="130" idx="1"/>
          </p:cNvCxnSpPr>
          <p:nvPr/>
        </p:nvCxnSpPr>
        <p:spPr>
          <a:xfrm>
            <a:off x="3324695" y="4434464"/>
            <a:ext cx="1689600" cy="36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3"/>
          <p:cNvSpPr/>
          <p:nvPr/>
        </p:nvSpPr>
        <p:spPr>
          <a:xfrm>
            <a:off x="4925827" y="470647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859683" y="5523762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132" name="Google Shape;132;p3"/>
          <p:cNvCxnSpPr>
            <a:stCxn id="127" idx="4"/>
            <a:endCxn id="131" idx="0"/>
          </p:cNvCxnSpPr>
          <p:nvPr/>
        </p:nvCxnSpPr>
        <p:spPr>
          <a:xfrm>
            <a:off x="3022330" y="4736829"/>
            <a:ext cx="139800" cy="78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3"/>
          <p:cNvSpPr/>
          <p:nvPr/>
        </p:nvSpPr>
        <p:spPr>
          <a:xfrm>
            <a:off x="4441815" y="5888145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cxnSp>
        <p:nvCxnSpPr>
          <p:cNvPr id="134" name="Google Shape;134;p3"/>
          <p:cNvCxnSpPr>
            <a:stCxn id="133" idx="2"/>
            <a:endCxn id="131" idx="6"/>
          </p:cNvCxnSpPr>
          <p:nvPr/>
        </p:nvCxnSpPr>
        <p:spPr>
          <a:xfrm rot="10800000">
            <a:off x="3464415" y="5826010"/>
            <a:ext cx="977400" cy="364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" name="Google Shape;135;p3"/>
          <p:cNvCxnSpPr>
            <a:stCxn id="133" idx="7"/>
            <a:endCxn id="130" idx="4"/>
          </p:cNvCxnSpPr>
          <p:nvPr/>
        </p:nvCxnSpPr>
        <p:spPr>
          <a:xfrm rot="10800000" flipH="1">
            <a:off x="4957984" y="5311306"/>
            <a:ext cx="270300" cy="66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" name="Google Shape;136;p3"/>
          <p:cNvSpPr txBox="1"/>
          <p:nvPr/>
        </p:nvSpPr>
        <p:spPr>
          <a:xfrm>
            <a:off x="6566200" y="4736829"/>
            <a:ext cx="484780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V=  {a,b,c,d,e}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{(a,b),(b,c), (b,d), (c,e), (d,e)}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sldNum" idx="12"/>
          </p:nvPr>
        </p:nvSpPr>
        <p:spPr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4"/>
          <p:cNvSpPr txBox="1">
            <a:spLocks noGrp="1"/>
          </p:cNvSpPr>
          <p:nvPr>
            <p:ph type="title"/>
          </p:nvPr>
        </p:nvSpPr>
        <p:spPr>
          <a:xfrm>
            <a:off x="2209800" y="-182562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Edge and Graph Types</a:t>
            </a:r>
            <a:endParaRPr/>
          </a:p>
        </p:txBody>
      </p:sp>
      <p:sp>
        <p:nvSpPr>
          <p:cNvPr id="143" name="Google Shape;143;p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09627" y="1107600"/>
            <a:ext cx="5730873" cy="530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Directed edge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ordered pair of vertices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first vertex 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/>
              <a:t> is the origin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second vertex 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/>
              <a:t> is the destination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Undirected edge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unordered pair of vertices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Directed graph (Digraph)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all the edges are directed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e.g., route network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Undirected graph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all the edges are undirected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e.g., flight network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Mixed graph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some edges are undirected and some edges are directed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e.g., a graph modeling a city map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9752014" y="29035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453314" y="2892425"/>
            <a:ext cx="58737" cy="58738"/>
          </a:xfrm>
          <a:custGeom>
            <a:avLst/>
            <a:gdLst/>
            <a:ahLst/>
            <a:cxnLst/>
            <a:rect l="l" t="t" r="r" b="b"/>
            <a:pathLst>
              <a:path w="43" h="46" extrusionOk="0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464426" y="29035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464426" y="290353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775826" y="2903539"/>
            <a:ext cx="23813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486651" y="2903539"/>
            <a:ext cx="2289175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280275" y="2713039"/>
            <a:ext cx="414338" cy="428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285038" y="2717800"/>
            <a:ext cx="404812" cy="4191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567864" y="2713039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574213" y="2717800"/>
            <a:ext cx="404812" cy="4191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7381875" y="2667000"/>
            <a:ext cx="198438" cy="42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694863" y="2692401"/>
            <a:ext cx="20037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9750426" y="18367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451725" y="1825625"/>
            <a:ext cx="58738" cy="58738"/>
          </a:xfrm>
          <a:custGeom>
            <a:avLst/>
            <a:gdLst/>
            <a:ahLst/>
            <a:cxnLst/>
            <a:rect l="l" t="t" r="r" b="b"/>
            <a:pathLst>
              <a:path w="43" h="46" extrusionOk="0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462839" y="1836738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462839" y="1836739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9774238" y="1836739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278689" y="1646239"/>
            <a:ext cx="414337" cy="428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7283451" y="1651000"/>
            <a:ext cx="404813" cy="4191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9566276" y="1646239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9572626" y="1651000"/>
            <a:ext cx="404813" cy="4191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380288" y="1600201"/>
            <a:ext cx="20037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9693275" y="1625600"/>
            <a:ext cx="198438" cy="42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7" name="Google Shape;167;p4"/>
          <p:cNvCxnSpPr/>
          <p:nvPr/>
        </p:nvCxnSpPr>
        <p:spPr>
          <a:xfrm>
            <a:off x="7688263" y="1862138"/>
            <a:ext cx="1878012" cy="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8" name="Google Shape;168;p4"/>
          <p:cNvSpPr/>
          <p:nvPr/>
        </p:nvSpPr>
        <p:spPr>
          <a:xfrm>
            <a:off x="9775826" y="3949700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9775826" y="5795963"/>
            <a:ext cx="47625" cy="2381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9775826" y="3975101"/>
            <a:ext cx="47625" cy="182086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9788525" y="5784851"/>
            <a:ext cx="46038" cy="47625"/>
          </a:xfrm>
          <a:custGeom>
            <a:avLst/>
            <a:gdLst/>
            <a:ahLst/>
            <a:cxnLst/>
            <a:rect l="l" t="t" r="r" b="b"/>
            <a:pathLst>
              <a:path w="34" h="37" extrusionOk="0">
                <a:moveTo>
                  <a:pt x="0" y="27"/>
                </a:moveTo>
                <a:lnTo>
                  <a:pt x="17" y="37"/>
                </a:lnTo>
                <a:lnTo>
                  <a:pt x="34" y="9"/>
                </a:lnTo>
                <a:lnTo>
                  <a:pt x="17" y="0"/>
                </a:lnTo>
                <a:lnTo>
                  <a:pt x="0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8621714" y="4903789"/>
            <a:ext cx="46037" cy="58737"/>
          </a:xfrm>
          <a:custGeom>
            <a:avLst/>
            <a:gdLst/>
            <a:ahLst/>
            <a:cxnLst/>
            <a:rect l="l" t="t" r="r" b="b"/>
            <a:pathLst>
              <a:path w="34" h="46" extrusionOk="0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34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643938" y="4926013"/>
            <a:ext cx="1166812" cy="893762"/>
          </a:xfrm>
          <a:custGeom>
            <a:avLst/>
            <a:gdLst/>
            <a:ahLst/>
            <a:cxnLst/>
            <a:rect l="l" t="t" r="r" b="b"/>
            <a:pathLst>
              <a:path w="869" h="693" extrusionOk="0">
                <a:moveTo>
                  <a:pt x="852" y="693"/>
                </a:moveTo>
                <a:lnTo>
                  <a:pt x="869" y="666"/>
                </a:lnTo>
                <a:lnTo>
                  <a:pt x="17" y="0"/>
                </a:lnTo>
                <a:lnTo>
                  <a:pt x="0" y="28"/>
                </a:lnTo>
                <a:lnTo>
                  <a:pt x="852" y="693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643939" y="4926013"/>
            <a:ext cx="46037" cy="49212"/>
          </a:xfrm>
          <a:custGeom>
            <a:avLst/>
            <a:gdLst/>
            <a:ahLst/>
            <a:cxnLst/>
            <a:rect l="l" t="t" r="r" b="b"/>
            <a:pathLst>
              <a:path w="34" h="37" extrusionOk="0">
                <a:moveTo>
                  <a:pt x="0" y="28"/>
                </a:moveTo>
                <a:lnTo>
                  <a:pt x="17" y="37"/>
                </a:lnTo>
                <a:lnTo>
                  <a:pt x="34" y="9"/>
                </a:lnTo>
                <a:lnTo>
                  <a:pt x="26" y="0"/>
                </a:lnTo>
                <a:lnTo>
                  <a:pt x="0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7477125" y="3938589"/>
            <a:ext cx="58738" cy="58737"/>
          </a:xfrm>
          <a:custGeom>
            <a:avLst/>
            <a:gdLst/>
            <a:ahLst/>
            <a:cxnLst/>
            <a:rect l="l" t="t" r="r" b="b"/>
            <a:pathLst>
              <a:path w="43" h="46" extrusionOk="0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7500939" y="3960813"/>
            <a:ext cx="1177925" cy="1001712"/>
          </a:xfrm>
          <a:custGeom>
            <a:avLst/>
            <a:gdLst/>
            <a:ahLst/>
            <a:cxnLst/>
            <a:rect l="l" t="t" r="r" b="b"/>
            <a:pathLst>
              <a:path w="878" h="777" extrusionOk="0">
                <a:moveTo>
                  <a:pt x="852" y="777"/>
                </a:moveTo>
                <a:lnTo>
                  <a:pt x="878" y="749"/>
                </a:lnTo>
                <a:lnTo>
                  <a:pt x="26" y="0"/>
                </a:lnTo>
                <a:lnTo>
                  <a:pt x="0" y="28"/>
                </a:lnTo>
                <a:lnTo>
                  <a:pt x="852" y="77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8643939" y="4903789"/>
            <a:ext cx="46037" cy="58737"/>
          </a:xfrm>
          <a:custGeom>
            <a:avLst/>
            <a:gdLst/>
            <a:ahLst/>
            <a:cxnLst/>
            <a:rect l="l" t="t" r="r" b="b"/>
            <a:pathLst>
              <a:path w="34" h="46" extrusionOk="0">
                <a:moveTo>
                  <a:pt x="17" y="46"/>
                </a:moveTo>
                <a:lnTo>
                  <a:pt x="34" y="37"/>
                </a:lnTo>
                <a:lnTo>
                  <a:pt x="17" y="0"/>
                </a:lnTo>
                <a:lnTo>
                  <a:pt x="0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477125" y="5784851"/>
            <a:ext cx="46038" cy="47625"/>
          </a:xfrm>
          <a:custGeom>
            <a:avLst/>
            <a:gdLst/>
            <a:ahLst/>
            <a:cxnLst/>
            <a:rect l="l" t="t" r="r" b="b"/>
            <a:pathLst>
              <a:path w="34" h="37" extrusionOk="0">
                <a:moveTo>
                  <a:pt x="34" y="27"/>
                </a:moveTo>
                <a:lnTo>
                  <a:pt x="25" y="37"/>
                </a:lnTo>
                <a:lnTo>
                  <a:pt x="0" y="9"/>
                </a:lnTo>
                <a:lnTo>
                  <a:pt x="17" y="0"/>
                </a:lnTo>
                <a:lnTo>
                  <a:pt x="34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500938" y="4926013"/>
            <a:ext cx="1166812" cy="893762"/>
          </a:xfrm>
          <a:custGeom>
            <a:avLst/>
            <a:gdLst/>
            <a:ahLst/>
            <a:cxnLst/>
            <a:rect l="l" t="t" r="r" b="b"/>
            <a:pathLst>
              <a:path w="869" h="693" extrusionOk="0">
                <a:moveTo>
                  <a:pt x="869" y="28"/>
                </a:moveTo>
                <a:lnTo>
                  <a:pt x="852" y="0"/>
                </a:lnTo>
                <a:lnTo>
                  <a:pt x="0" y="666"/>
                </a:lnTo>
                <a:lnTo>
                  <a:pt x="17" y="693"/>
                </a:lnTo>
                <a:lnTo>
                  <a:pt x="869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7488239" y="3949700"/>
            <a:ext cx="47625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7488239" y="5795963"/>
            <a:ext cx="47625" cy="2381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7488239" y="3975101"/>
            <a:ext cx="47625" cy="182086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7488239" y="3949701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9799638" y="3949701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7488239" y="5772151"/>
            <a:ext cx="22225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9799638" y="5772151"/>
            <a:ext cx="23812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7510464" y="5772151"/>
            <a:ext cx="2289175" cy="47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304089" y="3759201"/>
            <a:ext cx="414337" cy="428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7308851" y="3763963"/>
            <a:ext cx="404813" cy="4191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9591676" y="5583239"/>
            <a:ext cx="415925" cy="4270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9598026" y="5586414"/>
            <a:ext cx="404813" cy="420687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8448675" y="4724401"/>
            <a:ext cx="414338" cy="428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8453438" y="4729163"/>
            <a:ext cx="404812" cy="4191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9591676" y="3759201"/>
            <a:ext cx="415925" cy="4286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9598026" y="3763963"/>
            <a:ext cx="404813" cy="4191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7304089" y="5583239"/>
            <a:ext cx="414337" cy="4270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7308851" y="5586414"/>
            <a:ext cx="404813" cy="420687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405688" y="3713164"/>
            <a:ext cx="20037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9718675" y="3738564"/>
            <a:ext cx="198438" cy="42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8561388" y="4695825"/>
            <a:ext cx="177800" cy="42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7405688" y="5572126"/>
            <a:ext cx="20037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9707563" y="5538789"/>
            <a:ext cx="20037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3" name="Google Shape;203;p4"/>
          <p:cNvCxnSpPr/>
          <p:nvPr/>
        </p:nvCxnSpPr>
        <p:spPr>
          <a:xfrm>
            <a:off x="7718426" y="3935413"/>
            <a:ext cx="1878013" cy="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4" name="Google Shape;204;p4"/>
          <p:cNvSpPr txBox="1"/>
          <p:nvPr/>
        </p:nvSpPr>
        <p:spPr>
          <a:xfrm>
            <a:off x="7824788" y="1989138"/>
            <a:ext cx="1670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edge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7726363" y="2997201"/>
            <a:ext cx="18986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edge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7699375" y="5964238"/>
            <a:ext cx="1898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Mixed graph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B1F73-04F1-2AF3-14D0-80236916EC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802986-D5D5-4CB1-8957-01BBDD3EC7D5}" type="datetime1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9408D-8087-206A-5FB2-B1F7C039F3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 sz="3200" b="1"/>
              <a:t>End vertices (or endpoints) of an edge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 sz="2800"/>
              <a:t>u and v are the </a:t>
            </a:r>
            <a:r>
              <a:rPr lang="en-US" sz="2800" i="1"/>
              <a:t>endpoints</a:t>
            </a:r>
            <a:r>
              <a:rPr lang="en-US" sz="2800"/>
              <a:t> of 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SzPct val="75000"/>
              <a:buChar char="●"/>
            </a:pPr>
            <a:r>
              <a:rPr lang="en-US" sz="3200" b="1"/>
              <a:t>Edges incident to a vertex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 sz="2800"/>
              <a:t>a, d, and b are </a:t>
            </a:r>
            <a:r>
              <a:rPr lang="en-US" sz="2800" i="1"/>
              <a:t>incident</a:t>
            </a:r>
            <a:r>
              <a:rPr lang="en-US" sz="2800"/>
              <a:t> to v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SzPct val="75000"/>
              <a:buChar char="●"/>
            </a:pPr>
            <a:r>
              <a:rPr lang="en-US" sz="3200" b="1"/>
              <a:t>Adjacent vertices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 sz="2800"/>
              <a:t>u and v are </a:t>
            </a:r>
            <a:r>
              <a:rPr lang="en-US" sz="2800" i="1"/>
              <a:t>adjacent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SzPct val="75000"/>
              <a:buChar char="●"/>
            </a:pPr>
            <a:r>
              <a:rPr lang="en-US" sz="3200" b="1"/>
              <a:t>Degree of a vertex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 sz="2800"/>
              <a:t>x has </a:t>
            </a:r>
            <a:r>
              <a:rPr lang="en-US" sz="2800" i="1"/>
              <a:t>degree</a:t>
            </a:r>
            <a:r>
              <a:rPr lang="en-US" sz="2800"/>
              <a:t> 5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SzPct val="75000"/>
              <a:buChar char="●"/>
            </a:pPr>
            <a:r>
              <a:rPr lang="en-US" sz="3200" b="1"/>
              <a:t>Parallel edges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 sz="2800"/>
              <a:t>h and i are </a:t>
            </a:r>
            <a:r>
              <a:rPr lang="en-US" sz="2800" i="1"/>
              <a:t>parallel edges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SzPct val="75000"/>
              <a:buChar char="●"/>
            </a:pPr>
            <a:r>
              <a:rPr lang="en-US" sz="3200" b="1"/>
              <a:t>Self-loop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 sz="2800"/>
              <a:t>j is a </a:t>
            </a:r>
            <a:r>
              <a:rPr lang="en-US" sz="2800" i="1"/>
              <a:t>self-loop</a:t>
            </a:r>
            <a:endParaRPr sz="3600"/>
          </a:p>
        </p:txBody>
      </p:sp>
      <p:sp>
        <p:nvSpPr>
          <p:cNvPr id="212" name="Google Shape;212;p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EF5FCE17-566C-4F48-AB70-08DCABDF9B0A}" type="datetime1">
              <a:rPr lang="en-US" smtClean="0"/>
              <a:t>1/3/2026</a:t>
            </a:fld>
            <a:endParaRPr/>
          </a:p>
        </p:txBody>
      </p:sp>
      <p:sp>
        <p:nvSpPr>
          <p:cNvPr id="213" name="Google Shape;213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4" name="Google Shape;214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5" name="Google Shape;215;p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Terminology</a:t>
            </a:r>
            <a:endParaRPr/>
          </a:p>
        </p:txBody>
      </p:sp>
      <p:grpSp>
        <p:nvGrpSpPr>
          <p:cNvPr id="216" name="Google Shape;216;p5"/>
          <p:cNvGrpSpPr/>
          <p:nvPr/>
        </p:nvGrpSpPr>
        <p:grpSpPr>
          <a:xfrm>
            <a:off x="6329363" y="2429691"/>
            <a:ext cx="4197350" cy="3200400"/>
            <a:chOff x="2808" y="1104"/>
            <a:chExt cx="2644" cy="2016"/>
          </a:xfrm>
        </p:grpSpPr>
        <p:sp>
          <p:nvSpPr>
            <p:cNvPr id="217" name="Google Shape;217;p5"/>
            <p:cNvSpPr/>
            <p:nvPr/>
          </p:nvSpPr>
          <p:spPr>
            <a:xfrm>
              <a:off x="3960" y="1680"/>
              <a:ext cx="288" cy="288"/>
            </a:xfrm>
            <a:prstGeom prst="ellipse">
              <a:avLst/>
            </a:prstGeom>
            <a:solidFill>
              <a:srgbClr val="ECD882"/>
            </a:solidFill>
            <a:ln w="19050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x</a:t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2808" y="1680"/>
              <a:ext cx="288" cy="288"/>
            </a:xfrm>
            <a:prstGeom prst="ellipse">
              <a:avLst/>
            </a:prstGeom>
            <a:solidFill>
              <a:srgbClr val="ECD882"/>
            </a:solidFill>
            <a:ln w="19050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u</a:t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3384" y="1104"/>
              <a:ext cx="288" cy="288"/>
            </a:xfrm>
            <a:prstGeom prst="ellipse">
              <a:avLst/>
            </a:prstGeom>
            <a:solidFill>
              <a:srgbClr val="ECD882"/>
            </a:solidFill>
            <a:ln w="19050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v</a:t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3384" y="2256"/>
              <a:ext cx="288" cy="288"/>
            </a:xfrm>
            <a:prstGeom prst="ellipse">
              <a:avLst/>
            </a:prstGeom>
            <a:solidFill>
              <a:srgbClr val="ECD882"/>
            </a:solidFill>
            <a:ln w="19050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4728" y="1680"/>
              <a:ext cx="288" cy="288"/>
            </a:xfrm>
            <a:prstGeom prst="ellipse">
              <a:avLst/>
            </a:prstGeom>
            <a:solidFill>
              <a:srgbClr val="ECD882"/>
            </a:solidFill>
            <a:ln w="19050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z</a:t>
              </a:r>
              <a:endParaRPr/>
            </a:p>
          </p:txBody>
        </p:sp>
        <p:cxnSp>
          <p:nvCxnSpPr>
            <p:cNvPr id="222" name="Google Shape;222;p5"/>
            <p:cNvCxnSpPr>
              <a:stCxn id="219" idx="3"/>
              <a:endCxn id="218" idx="7"/>
            </p:cNvCxnSpPr>
            <p:nvPr/>
          </p:nvCxnSpPr>
          <p:spPr>
            <a:xfrm flipH="1">
              <a:off x="3126" y="135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5"/>
            <p:cNvCxnSpPr>
              <a:stCxn id="220" idx="1"/>
              <a:endCxn id="218" idx="5"/>
            </p:cNvCxnSpPr>
            <p:nvPr/>
          </p:nvCxnSpPr>
          <p:spPr>
            <a:xfrm rot="10800000">
              <a:off x="3126" y="199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5"/>
            <p:cNvCxnSpPr>
              <a:stCxn id="220" idx="7"/>
              <a:endCxn id="217" idx="3"/>
            </p:cNvCxnSpPr>
            <p:nvPr/>
          </p:nvCxnSpPr>
          <p:spPr>
            <a:xfrm rot="10800000" flipH="1">
              <a:off x="3630" y="199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5"/>
            <p:cNvCxnSpPr>
              <a:stCxn id="219" idx="5"/>
              <a:endCxn id="217" idx="1"/>
            </p:cNvCxnSpPr>
            <p:nvPr/>
          </p:nvCxnSpPr>
          <p:spPr>
            <a:xfrm>
              <a:off x="3630" y="135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5"/>
            <p:cNvCxnSpPr>
              <a:stCxn id="219" idx="4"/>
              <a:endCxn id="220" idx="0"/>
            </p:cNvCxnSpPr>
            <p:nvPr/>
          </p:nvCxnSpPr>
          <p:spPr>
            <a:xfrm>
              <a:off x="3528" y="1392"/>
              <a:ext cx="0" cy="900"/>
            </a:xfrm>
            <a:prstGeom prst="straightConnector1">
              <a:avLst/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7" name="Google Shape;227;p5"/>
            <p:cNvSpPr/>
            <p:nvPr/>
          </p:nvSpPr>
          <p:spPr>
            <a:xfrm>
              <a:off x="3966" y="2832"/>
              <a:ext cx="288" cy="288"/>
            </a:xfrm>
            <a:prstGeom prst="ellipse">
              <a:avLst/>
            </a:prstGeom>
            <a:solidFill>
              <a:srgbClr val="ECD882"/>
            </a:solidFill>
            <a:ln w="19050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y</a:t>
              </a:r>
              <a:endParaRPr/>
            </a:p>
          </p:txBody>
        </p:sp>
        <p:cxnSp>
          <p:nvCxnSpPr>
            <p:cNvPr id="228" name="Google Shape;228;p5"/>
            <p:cNvCxnSpPr>
              <a:stCxn id="220" idx="5"/>
              <a:endCxn id="227" idx="1"/>
            </p:cNvCxnSpPr>
            <p:nvPr/>
          </p:nvCxnSpPr>
          <p:spPr>
            <a:xfrm>
              <a:off x="3630" y="2502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5"/>
            <p:cNvCxnSpPr>
              <a:stCxn id="217" idx="4"/>
              <a:endCxn id="227" idx="0"/>
            </p:cNvCxnSpPr>
            <p:nvPr/>
          </p:nvCxnSpPr>
          <p:spPr>
            <a:xfrm>
              <a:off x="4104" y="1968"/>
              <a:ext cx="0" cy="900"/>
            </a:xfrm>
            <a:prstGeom prst="straightConnector1">
              <a:avLst/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0" name="Google Shape;230;p5"/>
            <p:cNvSpPr txBox="1"/>
            <p:nvPr/>
          </p:nvSpPr>
          <p:spPr>
            <a:xfrm>
              <a:off x="3054" y="1254"/>
              <a:ext cx="21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3046" y="1974"/>
              <a:ext cx="20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</p:txBody>
        </p:sp>
        <p:sp>
          <p:nvSpPr>
            <p:cNvPr id="232" name="Google Shape;232;p5"/>
            <p:cNvSpPr txBox="1"/>
            <p:nvPr/>
          </p:nvSpPr>
          <p:spPr>
            <a:xfrm>
              <a:off x="3786" y="1254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3789" y="2004"/>
              <a:ext cx="21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/>
            </a:p>
          </p:txBody>
        </p:sp>
        <p:sp>
          <p:nvSpPr>
            <p:cNvPr id="234" name="Google Shape;234;p5"/>
            <p:cNvSpPr txBox="1"/>
            <p:nvPr/>
          </p:nvSpPr>
          <p:spPr>
            <a:xfrm>
              <a:off x="3504" y="1680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/>
            </a:p>
          </p:txBody>
        </p:sp>
        <p:sp>
          <p:nvSpPr>
            <p:cNvPr id="235" name="Google Shape;235;p5"/>
            <p:cNvSpPr txBox="1"/>
            <p:nvPr/>
          </p:nvSpPr>
          <p:spPr>
            <a:xfrm>
              <a:off x="3676" y="2646"/>
              <a:ext cx="17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/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4080" y="2292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/>
            </a:p>
          </p:txBody>
        </p:sp>
        <p:sp>
          <p:nvSpPr>
            <p:cNvPr id="237" name="Google Shape;237;p5"/>
            <p:cNvSpPr txBox="1"/>
            <p:nvPr/>
          </p:nvSpPr>
          <p:spPr>
            <a:xfrm>
              <a:off x="4398" y="1392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endParaRPr/>
            </a:p>
          </p:txBody>
        </p:sp>
        <p:sp>
          <p:nvSpPr>
            <p:cNvPr id="238" name="Google Shape;238;p5"/>
            <p:cNvSpPr txBox="1"/>
            <p:nvPr/>
          </p:nvSpPr>
          <p:spPr>
            <a:xfrm>
              <a:off x="4429" y="2016"/>
              <a:ext cx="16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endParaRPr/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5282" y="1392"/>
              <a:ext cx="17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j</a:t>
              </a:r>
              <a:endParaRPr/>
            </a:p>
          </p:txBody>
        </p:sp>
        <p:cxnSp>
          <p:nvCxnSpPr>
            <p:cNvPr id="240" name="Google Shape;240;p5"/>
            <p:cNvCxnSpPr>
              <a:stCxn id="217" idx="5"/>
              <a:endCxn id="221" idx="3"/>
            </p:cNvCxnSpPr>
            <p:nvPr/>
          </p:nvCxnSpPr>
          <p:spPr>
            <a:xfrm rot="10800000">
              <a:off x="4506" y="1626"/>
              <a:ext cx="0" cy="600"/>
            </a:xfrm>
            <a:prstGeom prst="curvedConnector3">
              <a:avLst>
                <a:gd name="adj1" fmla="val -235774819"/>
              </a:avLst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5"/>
            <p:cNvCxnSpPr>
              <a:stCxn id="217" idx="7"/>
              <a:endCxn id="221" idx="1"/>
            </p:cNvCxnSpPr>
            <p:nvPr/>
          </p:nvCxnSpPr>
          <p:spPr>
            <a:xfrm rot="10800000">
              <a:off x="4506" y="1422"/>
              <a:ext cx="0" cy="600"/>
            </a:xfrm>
            <a:prstGeom prst="curvedConnector3">
              <a:avLst>
                <a:gd name="adj1" fmla="val -214197118"/>
              </a:avLst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5"/>
            <p:cNvCxnSpPr>
              <a:stCxn id="221" idx="5"/>
              <a:endCxn id="221" idx="7"/>
            </p:cNvCxnSpPr>
            <p:nvPr/>
          </p:nvCxnSpPr>
          <p:spPr>
            <a:xfrm rot="-5400000">
              <a:off x="4824" y="1776"/>
              <a:ext cx="300" cy="0"/>
            </a:xfrm>
            <a:prstGeom prst="curvedConnector5">
              <a:avLst>
                <a:gd name="adj1" fmla="val 1091082"/>
                <a:gd name="adj2" fmla="val -615011417"/>
                <a:gd name="adj3" fmla="val 1091202"/>
              </a:avLst>
            </a:prstGeom>
            <a:noFill/>
            <a:ln w="19050" cap="flat" cmpd="sng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3200" b="1"/>
              <a:t>Outgoing edges of a vertex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(a, b) and (a, c) are outgoing edges of vertex a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●"/>
            </a:pPr>
            <a:r>
              <a:rPr lang="en-US" sz="3200" b="1"/>
              <a:t>Incoming edges of a vertex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(b, c), (d, c) and (a, c) are incoming edges of vertex c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●"/>
            </a:pPr>
            <a:r>
              <a:rPr lang="en-US" sz="3200" b="1"/>
              <a:t>In-degree of a vertex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c has </a:t>
            </a:r>
            <a:r>
              <a:rPr lang="en-US" sz="2800" i="1"/>
              <a:t>in</a:t>
            </a:r>
            <a:r>
              <a:rPr lang="en-US" sz="2800"/>
              <a:t>-</a:t>
            </a:r>
            <a:r>
              <a:rPr lang="en-US" sz="2800" i="1"/>
              <a:t>degree</a:t>
            </a:r>
            <a:r>
              <a:rPr lang="en-US" sz="2800"/>
              <a:t> 3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b has </a:t>
            </a:r>
            <a:r>
              <a:rPr lang="en-US" sz="2800" i="1"/>
              <a:t>in</a:t>
            </a:r>
            <a:r>
              <a:rPr lang="en-US" sz="2800"/>
              <a:t>-</a:t>
            </a:r>
            <a:r>
              <a:rPr lang="en-US" sz="2800" i="1"/>
              <a:t>degree</a:t>
            </a:r>
            <a:r>
              <a:rPr lang="en-US" sz="2800"/>
              <a:t> 1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●"/>
            </a:pPr>
            <a:r>
              <a:rPr lang="en-US" sz="3200" b="1"/>
              <a:t>Out-degree of a vertex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a has </a:t>
            </a:r>
            <a:r>
              <a:rPr lang="en-US" sz="2800" i="1"/>
              <a:t>out</a:t>
            </a:r>
            <a:r>
              <a:rPr lang="en-US" sz="2800"/>
              <a:t>-</a:t>
            </a:r>
            <a:r>
              <a:rPr lang="en-US" sz="2800" i="1"/>
              <a:t>degree</a:t>
            </a:r>
            <a:r>
              <a:rPr lang="en-US" sz="2800"/>
              <a:t> 2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b has </a:t>
            </a:r>
            <a:r>
              <a:rPr lang="en-US" sz="2800" i="1"/>
              <a:t>out</a:t>
            </a:r>
            <a:r>
              <a:rPr lang="en-US" sz="2800"/>
              <a:t>-</a:t>
            </a:r>
            <a:r>
              <a:rPr lang="en-US" sz="2800" i="1"/>
              <a:t>degree</a:t>
            </a:r>
            <a:r>
              <a:rPr lang="en-US" sz="2800"/>
              <a:t> 1</a:t>
            </a:r>
            <a:endParaRPr sz="2800"/>
          </a:p>
        </p:txBody>
      </p:sp>
      <p:sp>
        <p:nvSpPr>
          <p:cNvPr id="248" name="Google Shape;248;p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9D96B5B-0121-4F47-9EF3-ADDADE22CBAA}" type="datetime1">
              <a:rPr lang="en-US" smtClean="0"/>
              <a:t>1/3/2026</a:t>
            </a:fld>
            <a:endParaRPr/>
          </a:p>
        </p:txBody>
      </p:sp>
      <p:sp>
        <p:nvSpPr>
          <p:cNvPr id="249" name="Google Shape;249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50" name="Google Shape;250;p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51" name="Google Shape;251;p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Terminology (cont.)</a:t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9448800" y="2876233"/>
            <a:ext cx="609600" cy="609600"/>
          </a:xfrm>
          <a:prstGeom prst="ellipse">
            <a:avLst/>
          </a:prstGeom>
          <a:noFill/>
          <a:ln w="28575" cap="flat" cmpd="sng">
            <a:solidFill>
              <a:srgbClr val="404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8305800" y="4087495"/>
            <a:ext cx="609600" cy="609600"/>
          </a:xfrm>
          <a:prstGeom prst="ellipse">
            <a:avLst/>
          </a:prstGeom>
          <a:noFill/>
          <a:ln w="28575" cap="flat" cmpd="sng">
            <a:solidFill>
              <a:srgbClr val="404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10591800" y="4087495"/>
            <a:ext cx="609600" cy="609600"/>
          </a:xfrm>
          <a:prstGeom prst="ellipse">
            <a:avLst/>
          </a:prstGeom>
          <a:noFill/>
          <a:ln w="28575" cap="flat" cmpd="sng">
            <a:solidFill>
              <a:srgbClr val="404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9448800" y="5154295"/>
            <a:ext cx="609600" cy="609600"/>
          </a:xfrm>
          <a:prstGeom prst="ellipse">
            <a:avLst/>
          </a:prstGeom>
          <a:noFill/>
          <a:ln w="28575" cap="flat" cmpd="sng">
            <a:solidFill>
              <a:srgbClr val="404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cxnSp>
        <p:nvCxnSpPr>
          <p:cNvPr id="256" name="Google Shape;256;p6"/>
          <p:cNvCxnSpPr>
            <a:stCxn id="252" idx="3"/>
            <a:endCxn id="253" idx="7"/>
          </p:cNvCxnSpPr>
          <p:nvPr/>
        </p:nvCxnSpPr>
        <p:spPr>
          <a:xfrm flipH="1">
            <a:off x="8826174" y="3396559"/>
            <a:ext cx="711900" cy="780300"/>
          </a:xfrm>
          <a:prstGeom prst="straightConnector1">
            <a:avLst/>
          </a:prstGeom>
          <a:noFill/>
          <a:ln w="28575" cap="flat" cmpd="sng">
            <a:solidFill>
              <a:srgbClr val="BE2D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" name="Google Shape;257;p6"/>
          <p:cNvCxnSpPr>
            <a:stCxn id="253" idx="5"/>
            <a:endCxn id="255" idx="1"/>
          </p:cNvCxnSpPr>
          <p:nvPr/>
        </p:nvCxnSpPr>
        <p:spPr>
          <a:xfrm>
            <a:off x="8826126" y="4607821"/>
            <a:ext cx="711900" cy="635700"/>
          </a:xfrm>
          <a:prstGeom prst="straightConnector1">
            <a:avLst/>
          </a:prstGeom>
          <a:noFill/>
          <a:ln w="28575" cap="flat" cmpd="sng">
            <a:solidFill>
              <a:srgbClr val="BE2D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6"/>
          <p:cNvCxnSpPr>
            <a:stCxn id="254" idx="3"/>
            <a:endCxn id="255" idx="7"/>
          </p:cNvCxnSpPr>
          <p:nvPr/>
        </p:nvCxnSpPr>
        <p:spPr>
          <a:xfrm flipH="1">
            <a:off x="9969174" y="4607821"/>
            <a:ext cx="711900" cy="635700"/>
          </a:xfrm>
          <a:prstGeom prst="straightConnector1">
            <a:avLst/>
          </a:prstGeom>
          <a:noFill/>
          <a:ln w="28575" cap="flat" cmpd="sng">
            <a:solidFill>
              <a:srgbClr val="BE2D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6"/>
          <p:cNvCxnSpPr>
            <a:stCxn id="252" idx="4"/>
            <a:endCxn id="255" idx="0"/>
          </p:cNvCxnSpPr>
          <p:nvPr/>
        </p:nvCxnSpPr>
        <p:spPr>
          <a:xfrm>
            <a:off x="9753600" y="3485833"/>
            <a:ext cx="0" cy="1668600"/>
          </a:xfrm>
          <a:prstGeom prst="straightConnector1">
            <a:avLst/>
          </a:prstGeom>
          <a:noFill/>
          <a:ln w="28575" cap="flat" cmpd="sng">
            <a:solidFill>
              <a:srgbClr val="BE2D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 a graph G, </a:t>
            </a:r>
            <a:r>
              <a:rPr lang="en-US" b="1"/>
              <a:t>two vertices, v0 and v1 , are connected </a:t>
            </a:r>
            <a:r>
              <a:rPr lang="en-US"/>
              <a:t>if there is a path in G from v0 to v1.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</a:t>
            </a:r>
            <a:r>
              <a:rPr lang="en-US" b="1"/>
              <a:t>graph is connected </a:t>
            </a:r>
            <a:r>
              <a:rPr lang="en-US"/>
              <a:t>if, for every pair of distinct vertices vi and vj , there is a path from vi to vj</a:t>
            </a:r>
            <a:endParaRPr/>
          </a:p>
        </p:txBody>
      </p:sp>
      <p:sp>
        <p:nvSpPr>
          <p:cNvPr id="345" name="Google Shape;345;p1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5AA52E4-FAB7-4822-878E-B404FB55367C}" type="datetime1">
              <a:rPr lang="en-US" smtClean="0"/>
              <a:t>1/3/2026</a:t>
            </a:fld>
            <a:endParaRPr/>
          </a:p>
        </p:txBody>
      </p:sp>
      <p:sp>
        <p:nvSpPr>
          <p:cNvPr id="346" name="Google Shape;346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7" name="Google Shape;347;p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48" name="Google Shape;348;p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Terminology</a:t>
            </a:r>
            <a:endParaRPr/>
          </a:p>
        </p:txBody>
      </p:sp>
      <p:pic>
        <p:nvPicPr>
          <p:cNvPr id="349" name="Google Shape;349;p10" descr="Connected graph and Disconnected graph | Download Scientific Diagr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6577" y="3192180"/>
            <a:ext cx="5663093" cy="298478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0CB056-74C3-4904-B327-9197D68CF7DD}"/>
                  </a:ext>
                </a:extLst>
              </p14:cNvPr>
              <p14:cNvContentPartPr/>
              <p14:nvPr/>
            </p14:nvContentPartPr>
            <p14:xfrm>
              <a:off x="3287520" y="3429360"/>
              <a:ext cx="1697400" cy="1188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0CB056-74C3-4904-B327-9197D68CF7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78160" y="3420000"/>
                <a:ext cx="1716120" cy="120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GRAPH REPRESENTATIONS</a:t>
            </a:r>
            <a:endParaRPr/>
          </a:p>
        </p:txBody>
      </p:sp>
      <p:sp>
        <p:nvSpPr>
          <p:cNvPr id="431" name="Google Shape;431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432" name="Google Shape;432;p1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FD91340-C3CC-4A51-8ACF-0410156BA6DF}" type="datetime1">
              <a:rPr lang="en-US" smtClean="0"/>
              <a:t>1/3/2026</a:t>
            </a:fld>
            <a:endParaRPr/>
          </a:p>
        </p:txBody>
      </p:sp>
      <p:sp>
        <p:nvSpPr>
          <p:cNvPr id="433" name="Google Shape;433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34" name="Google Shape;434;p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can </a:t>
            </a:r>
            <a:r>
              <a:rPr lang="en-US" b="1"/>
              <a:t>visualize/draw</a:t>
            </a:r>
            <a:r>
              <a:rPr lang="en-US"/>
              <a:t> the graph.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 b="1"/>
              <a:t>We can represent</a:t>
            </a:r>
            <a:r>
              <a:rPr lang="en-US"/>
              <a:t> </a:t>
            </a:r>
            <a:r>
              <a:rPr lang="en-US" b="1"/>
              <a:t>it</a:t>
            </a:r>
            <a:r>
              <a:rPr lang="en-US"/>
              <a:t> </a:t>
            </a:r>
            <a:r>
              <a:rPr lang="en-US" b="1"/>
              <a:t>MATHEMATICALLY</a:t>
            </a:r>
            <a:r>
              <a:rPr lang="en-US"/>
              <a:t> using the</a:t>
            </a:r>
            <a:r>
              <a:rPr lang="en-US" b="1"/>
              <a:t> two sets V and E.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40" name="Google Shape;440;p1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413BA0B-307B-4ACE-A91D-FC240D16ECFA}" type="datetime1">
              <a:rPr lang="en-US" smtClean="0"/>
              <a:t>1/3/2026</a:t>
            </a:fld>
            <a:endParaRPr/>
          </a:p>
        </p:txBody>
      </p:sp>
      <p:sp>
        <p:nvSpPr>
          <p:cNvPr id="441" name="Google Shape;441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42" name="Google Shape;442;p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43" name="Google Shape;443;p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1097280" y="371087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2643765" y="310614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446" name="Google Shape;446;p15"/>
          <p:cNvCxnSpPr>
            <a:stCxn id="444" idx="7"/>
            <a:endCxn id="445" idx="2"/>
          </p:cNvCxnSpPr>
          <p:nvPr/>
        </p:nvCxnSpPr>
        <p:spPr>
          <a:xfrm rot="10800000" flipH="1">
            <a:off x="1613449" y="3408540"/>
            <a:ext cx="1030200" cy="39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7" name="Google Shape;447;p15"/>
          <p:cNvCxnSpPr>
            <a:stCxn id="445" idx="6"/>
            <a:endCxn id="448" idx="1"/>
          </p:cNvCxnSpPr>
          <p:nvPr/>
        </p:nvCxnSpPr>
        <p:spPr>
          <a:xfrm>
            <a:off x="3248495" y="3408514"/>
            <a:ext cx="1689600" cy="36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8" name="Google Shape;448;p15"/>
          <p:cNvSpPr/>
          <p:nvPr/>
        </p:nvSpPr>
        <p:spPr>
          <a:xfrm>
            <a:off x="4849627" y="368052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2783483" y="4497812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450" name="Google Shape;450;p15"/>
          <p:cNvCxnSpPr>
            <a:stCxn id="445" idx="4"/>
            <a:endCxn id="449" idx="0"/>
          </p:cNvCxnSpPr>
          <p:nvPr/>
        </p:nvCxnSpPr>
        <p:spPr>
          <a:xfrm>
            <a:off x="2946130" y="3710879"/>
            <a:ext cx="139800" cy="78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1" name="Google Shape;451;p15"/>
          <p:cNvSpPr/>
          <p:nvPr/>
        </p:nvSpPr>
        <p:spPr>
          <a:xfrm>
            <a:off x="4365615" y="4862195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cxnSp>
        <p:nvCxnSpPr>
          <p:cNvPr id="452" name="Google Shape;452;p15"/>
          <p:cNvCxnSpPr>
            <a:stCxn id="451" idx="2"/>
            <a:endCxn id="449" idx="6"/>
          </p:cNvCxnSpPr>
          <p:nvPr/>
        </p:nvCxnSpPr>
        <p:spPr>
          <a:xfrm rot="10800000">
            <a:off x="3388215" y="4800060"/>
            <a:ext cx="977400" cy="364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3" name="Google Shape;453;p15"/>
          <p:cNvCxnSpPr>
            <a:stCxn id="451" idx="7"/>
            <a:endCxn id="448" idx="4"/>
          </p:cNvCxnSpPr>
          <p:nvPr/>
        </p:nvCxnSpPr>
        <p:spPr>
          <a:xfrm rot="10800000" flipH="1">
            <a:off x="4881784" y="4285356"/>
            <a:ext cx="270300" cy="66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4" name="Google Shape;454;p15"/>
          <p:cNvSpPr txBox="1"/>
          <p:nvPr/>
        </p:nvSpPr>
        <p:spPr>
          <a:xfrm>
            <a:off x="6538155" y="3408514"/>
            <a:ext cx="484780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V=  {a,b,c,d,e}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{(a,b),(b,c), (b,d), (c,e), (d,e)}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can </a:t>
            </a:r>
            <a:r>
              <a:rPr lang="en-US" b="1"/>
              <a:t>visualize/draw</a:t>
            </a:r>
            <a:r>
              <a:rPr lang="en-US"/>
              <a:t> the graph.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 b="1"/>
              <a:t>We can represent</a:t>
            </a:r>
            <a:r>
              <a:rPr lang="en-US"/>
              <a:t> </a:t>
            </a:r>
            <a:r>
              <a:rPr lang="en-US" b="1"/>
              <a:t>it</a:t>
            </a:r>
            <a:r>
              <a:rPr lang="en-US"/>
              <a:t> </a:t>
            </a:r>
            <a:r>
              <a:rPr lang="en-US" b="1"/>
              <a:t>in the COMPUTER MEMORY</a:t>
            </a:r>
            <a:r>
              <a:rPr lang="en-US"/>
              <a:t> using any of  the</a:t>
            </a:r>
            <a:r>
              <a:rPr lang="en-US" b="1"/>
              <a:t> two approaches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Adjacency Matrix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Adjacency List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60" name="Google Shape;460;p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0F8AC2C-F464-4B7E-888B-30E5904483AD}" type="datetime1">
              <a:rPr lang="en-US" smtClean="0"/>
              <a:t>1/3/2026</a:t>
            </a:fld>
            <a:endParaRPr/>
          </a:p>
        </p:txBody>
      </p:sp>
      <p:sp>
        <p:nvSpPr>
          <p:cNvPr id="461" name="Google Shape;461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62" name="Google Shape;462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63" name="Google Shape;463;p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3944785" y="4201640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5491270" y="3596910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466" name="Google Shape;466;p16"/>
          <p:cNvCxnSpPr>
            <a:stCxn id="464" idx="7"/>
            <a:endCxn id="465" idx="2"/>
          </p:cNvCxnSpPr>
          <p:nvPr/>
        </p:nvCxnSpPr>
        <p:spPr>
          <a:xfrm rot="10800000" flipH="1">
            <a:off x="4460954" y="3899301"/>
            <a:ext cx="1030200" cy="39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7" name="Google Shape;467;p16"/>
          <p:cNvCxnSpPr>
            <a:stCxn id="465" idx="6"/>
            <a:endCxn id="468" idx="1"/>
          </p:cNvCxnSpPr>
          <p:nvPr/>
        </p:nvCxnSpPr>
        <p:spPr>
          <a:xfrm>
            <a:off x="6096000" y="3899275"/>
            <a:ext cx="1689600" cy="36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8" name="Google Shape;468;p16"/>
          <p:cNvSpPr/>
          <p:nvPr/>
        </p:nvSpPr>
        <p:spPr>
          <a:xfrm>
            <a:off x="7697132" y="417128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5630988" y="4988573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470" name="Google Shape;470;p16"/>
          <p:cNvCxnSpPr>
            <a:stCxn id="465" idx="4"/>
            <a:endCxn id="469" idx="0"/>
          </p:cNvCxnSpPr>
          <p:nvPr/>
        </p:nvCxnSpPr>
        <p:spPr>
          <a:xfrm>
            <a:off x="5793635" y="4201640"/>
            <a:ext cx="139800" cy="78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1" name="Google Shape;471;p16"/>
          <p:cNvSpPr/>
          <p:nvPr/>
        </p:nvSpPr>
        <p:spPr>
          <a:xfrm>
            <a:off x="7213120" y="535295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cxnSp>
        <p:nvCxnSpPr>
          <p:cNvPr id="472" name="Google Shape;472;p16"/>
          <p:cNvCxnSpPr>
            <a:stCxn id="471" idx="2"/>
            <a:endCxn id="469" idx="6"/>
          </p:cNvCxnSpPr>
          <p:nvPr/>
        </p:nvCxnSpPr>
        <p:spPr>
          <a:xfrm rot="10800000">
            <a:off x="6235720" y="5290821"/>
            <a:ext cx="977400" cy="364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3" name="Google Shape;473;p16"/>
          <p:cNvCxnSpPr>
            <a:stCxn id="471" idx="7"/>
            <a:endCxn id="468" idx="4"/>
          </p:cNvCxnSpPr>
          <p:nvPr/>
        </p:nvCxnSpPr>
        <p:spPr>
          <a:xfrm rot="10800000" flipH="1">
            <a:off x="7729289" y="4776117"/>
            <a:ext cx="270300" cy="66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●"/>
            </a:pPr>
            <a:r>
              <a:rPr lang="en-US" sz="2400"/>
              <a:t>Assume V = {1, 2, …, </a:t>
            </a:r>
            <a:r>
              <a:rPr lang="en-US" sz="2400" i="1"/>
              <a:t>n</a:t>
            </a:r>
            <a:r>
              <a:rPr lang="en-US" sz="2400"/>
              <a:t>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●"/>
            </a:pPr>
            <a:r>
              <a:rPr lang="en-US" sz="2400"/>
              <a:t>An </a:t>
            </a:r>
            <a:r>
              <a:rPr lang="en-US" sz="2400" i="1">
                <a:solidFill>
                  <a:schemeClr val="dk2"/>
                </a:solidFill>
              </a:rPr>
              <a:t>adjacency matrix</a:t>
            </a:r>
            <a:r>
              <a:rPr lang="en-US" sz="2400" i="1"/>
              <a:t> </a:t>
            </a:r>
            <a:r>
              <a:rPr lang="en-US" sz="2400"/>
              <a:t>represents the graph as a </a:t>
            </a:r>
            <a:r>
              <a:rPr lang="en-US" sz="2400" i="1"/>
              <a:t>n </a:t>
            </a:r>
            <a:r>
              <a:rPr lang="en-US" sz="2400"/>
              <a:t>x </a:t>
            </a:r>
            <a:r>
              <a:rPr lang="en-US" sz="2400" i="1"/>
              <a:t>n</a:t>
            </a:r>
            <a:r>
              <a:rPr lang="en-US" sz="2400"/>
              <a:t> matrix A:</a:t>
            </a:r>
            <a:endParaRPr/>
          </a:p>
          <a:p>
            <a:pPr marL="968375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/>
              <a:t>A[</a:t>
            </a:r>
            <a:r>
              <a:rPr lang="en-US" sz="2200" i="1"/>
              <a:t>i</a:t>
            </a:r>
            <a:r>
              <a:rPr lang="en-US" sz="2200"/>
              <a:t>, </a:t>
            </a:r>
            <a:r>
              <a:rPr lang="en-US" sz="2200" i="1"/>
              <a:t>j</a:t>
            </a:r>
            <a:r>
              <a:rPr lang="en-US" sz="2200"/>
              <a:t>] 	= 1 if edge (</a:t>
            </a:r>
            <a:r>
              <a:rPr lang="en-US" sz="2200" i="1"/>
              <a:t>i</a:t>
            </a:r>
            <a:r>
              <a:rPr lang="en-US" sz="2200"/>
              <a:t>, </a:t>
            </a:r>
            <a:r>
              <a:rPr lang="en-US" sz="2200" i="1"/>
              <a:t>j</a:t>
            </a:r>
            <a:r>
              <a:rPr lang="en-US" sz="2200"/>
              <a:t>) ∈ E   (or weight of edge)</a:t>
            </a:r>
            <a:br>
              <a:rPr lang="en-US" sz="2200"/>
            </a:br>
            <a:r>
              <a:rPr lang="en-US" sz="2200"/>
              <a:t>	= 0 if edge (</a:t>
            </a:r>
            <a:r>
              <a:rPr lang="en-US" sz="2200" i="1"/>
              <a:t>i</a:t>
            </a:r>
            <a:r>
              <a:rPr lang="en-US" sz="2200"/>
              <a:t>, </a:t>
            </a:r>
            <a:r>
              <a:rPr lang="en-US" sz="2200" i="1"/>
              <a:t>j</a:t>
            </a:r>
            <a:r>
              <a:rPr lang="en-US" sz="2200"/>
              <a:t>) ∉ E</a:t>
            </a:r>
            <a:endParaRPr sz="2000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479" name="Google Shape;479;p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57DCFEC3-75AE-4CF2-9EED-0E412714EF59}" type="datetime1">
              <a:rPr lang="en-US" smtClean="0"/>
              <a:t>1/3/2026</a:t>
            </a:fld>
            <a:endParaRPr/>
          </a:p>
        </p:txBody>
      </p:sp>
      <p:sp>
        <p:nvSpPr>
          <p:cNvPr id="480" name="Google Shape;480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81" name="Google Shape;481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82" name="Google Shape;482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Graph Representation</a:t>
            </a:r>
            <a:endParaRPr/>
          </a:p>
        </p:txBody>
      </p:sp>
      <p:grpSp>
        <p:nvGrpSpPr>
          <p:cNvPr id="483" name="Google Shape;483;p17"/>
          <p:cNvGrpSpPr/>
          <p:nvPr/>
        </p:nvGrpSpPr>
        <p:grpSpPr>
          <a:xfrm>
            <a:off x="2857500" y="3818118"/>
            <a:ext cx="2362200" cy="2208213"/>
            <a:chOff x="576" y="1584"/>
            <a:chExt cx="1824" cy="1728"/>
          </a:xfrm>
        </p:grpSpPr>
        <p:sp>
          <p:nvSpPr>
            <p:cNvPr id="484" name="Google Shape;484;p17"/>
            <p:cNvSpPr/>
            <p:nvPr/>
          </p:nvSpPr>
          <p:spPr>
            <a:xfrm>
              <a:off x="1296" y="1584"/>
              <a:ext cx="384" cy="384"/>
            </a:xfrm>
            <a:prstGeom prst="ellipse">
              <a:avLst/>
            </a:prstGeom>
            <a:noFill/>
            <a:ln w="28575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3200"/>
                <a:buFont typeface="Times New Roman"/>
                <a:buNone/>
              </a:pPr>
              <a:r>
                <a:rPr lang="en-US" sz="3200" b="1" i="0" u="none" strike="noStrike" cap="none">
                  <a:solidFill>
                    <a:srgbClr val="40458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576" y="2256"/>
              <a:ext cx="384" cy="384"/>
            </a:xfrm>
            <a:prstGeom prst="ellipse">
              <a:avLst/>
            </a:prstGeom>
            <a:noFill/>
            <a:ln w="28575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3200"/>
                <a:buFont typeface="Times New Roman"/>
                <a:buNone/>
              </a:pPr>
              <a:r>
                <a:rPr lang="en-US" sz="3200" b="1" i="0" u="none" strike="noStrike" cap="none">
                  <a:solidFill>
                    <a:srgbClr val="40458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2016" y="2256"/>
              <a:ext cx="384" cy="384"/>
            </a:xfrm>
            <a:prstGeom prst="ellipse">
              <a:avLst/>
            </a:prstGeom>
            <a:noFill/>
            <a:ln w="28575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3200"/>
                <a:buFont typeface="Times New Roman"/>
                <a:buNone/>
              </a:pPr>
              <a:r>
                <a:rPr lang="en-US" sz="3200" b="1" i="0" u="none" strike="noStrike" cap="none">
                  <a:solidFill>
                    <a:srgbClr val="40458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1296" y="2928"/>
              <a:ext cx="384" cy="384"/>
            </a:xfrm>
            <a:prstGeom prst="ellipse">
              <a:avLst/>
            </a:prstGeom>
            <a:noFill/>
            <a:ln w="28575" cap="flat" cmpd="sng">
              <a:solidFill>
                <a:srgbClr val="4045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3200"/>
                <a:buFont typeface="Times New Roman"/>
                <a:buNone/>
              </a:pPr>
              <a:r>
                <a:rPr lang="en-US" sz="3200" b="1" i="0" u="none" strike="noStrike" cap="none">
                  <a:solidFill>
                    <a:srgbClr val="40458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cxnSp>
          <p:nvCxnSpPr>
            <p:cNvPr id="488" name="Google Shape;488;p17"/>
            <p:cNvCxnSpPr>
              <a:stCxn id="484" idx="3"/>
              <a:endCxn id="485" idx="7"/>
            </p:cNvCxnSpPr>
            <p:nvPr/>
          </p:nvCxnSpPr>
          <p:spPr>
            <a:xfrm flipH="1">
              <a:off x="1052" y="1912"/>
              <a:ext cx="300" cy="300"/>
            </a:xfrm>
            <a:prstGeom prst="straightConnector1">
              <a:avLst/>
            </a:prstGeom>
            <a:noFill/>
            <a:ln w="28575" cap="flat" cmpd="sng">
              <a:solidFill>
                <a:srgbClr val="BE2D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9" name="Google Shape;489;p17"/>
            <p:cNvCxnSpPr>
              <a:stCxn id="485" idx="5"/>
              <a:endCxn id="487" idx="1"/>
            </p:cNvCxnSpPr>
            <p:nvPr/>
          </p:nvCxnSpPr>
          <p:spPr>
            <a:xfrm>
              <a:off x="904" y="2584"/>
              <a:ext cx="300" cy="300"/>
            </a:xfrm>
            <a:prstGeom prst="straightConnector1">
              <a:avLst/>
            </a:prstGeom>
            <a:noFill/>
            <a:ln w="28575" cap="flat" cmpd="sng">
              <a:solidFill>
                <a:srgbClr val="BE2D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0" name="Google Shape;490;p17"/>
            <p:cNvCxnSpPr>
              <a:stCxn id="486" idx="3"/>
              <a:endCxn id="487" idx="7"/>
            </p:cNvCxnSpPr>
            <p:nvPr/>
          </p:nvCxnSpPr>
          <p:spPr>
            <a:xfrm flipH="1">
              <a:off x="1772" y="2584"/>
              <a:ext cx="300" cy="300"/>
            </a:xfrm>
            <a:prstGeom prst="straightConnector1">
              <a:avLst/>
            </a:prstGeom>
            <a:noFill/>
            <a:ln w="28575" cap="flat" cmpd="sng">
              <a:solidFill>
                <a:srgbClr val="BE2D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1" name="Google Shape;491;p17"/>
            <p:cNvCxnSpPr>
              <a:stCxn id="484" idx="4"/>
              <a:endCxn id="487" idx="0"/>
            </p:cNvCxnSpPr>
            <p:nvPr/>
          </p:nvCxnSpPr>
          <p:spPr>
            <a:xfrm>
              <a:off x="1488" y="1968"/>
              <a:ext cx="0" cy="900"/>
            </a:xfrm>
            <a:prstGeom prst="straightConnector1">
              <a:avLst/>
            </a:prstGeom>
            <a:noFill/>
            <a:ln w="28575" cap="flat" cmpd="sng">
              <a:solidFill>
                <a:srgbClr val="BE2D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92" name="Google Shape;492;p17"/>
            <p:cNvSpPr txBox="1"/>
            <p:nvPr/>
          </p:nvSpPr>
          <p:spPr>
            <a:xfrm>
              <a:off x="938" y="1909"/>
              <a:ext cx="240" cy="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E2D00"/>
                </a:buClr>
                <a:buSzPts val="2000"/>
                <a:buFont typeface="Times New Roman"/>
                <a:buNone/>
              </a:pPr>
              <a:r>
                <a:rPr lang="en-US" sz="2000" b="1" i="1" u="none" strike="noStrike" cap="none">
                  <a:solidFill>
                    <a:srgbClr val="BE2D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493" name="Google Shape;493;p17"/>
            <p:cNvSpPr txBox="1"/>
            <p:nvPr/>
          </p:nvSpPr>
          <p:spPr>
            <a:xfrm>
              <a:off x="1462" y="2246"/>
              <a:ext cx="241" cy="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E2D00"/>
                </a:buClr>
                <a:buSzPts val="2000"/>
                <a:buFont typeface="Times New Roman"/>
                <a:buNone/>
              </a:pPr>
              <a:r>
                <a:rPr lang="en-US" sz="2000" b="1" i="1" u="none" strike="noStrike" cap="none">
                  <a:solidFill>
                    <a:srgbClr val="BE2D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494" name="Google Shape;494;p17"/>
            <p:cNvSpPr txBox="1"/>
            <p:nvPr/>
          </p:nvSpPr>
          <p:spPr>
            <a:xfrm>
              <a:off x="890" y="2688"/>
              <a:ext cx="240" cy="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E2D00"/>
                </a:buClr>
                <a:buSzPts val="2000"/>
                <a:buFont typeface="Times New Roman"/>
                <a:buNone/>
              </a:pPr>
              <a:r>
                <a:rPr lang="en-US" sz="2000" b="1" i="1" u="none" strike="noStrike" cap="none">
                  <a:solidFill>
                    <a:srgbClr val="BE2D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495" name="Google Shape;495;p17"/>
            <p:cNvSpPr txBox="1"/>
            <p:nvPr/>
          </p:nvSpPr>
          <p:spPr>
            <a:xfrm>
              <a:off x="1856" y="2688"/>
              <a:ext cx="229" cy="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E2D00"/>
                </a:buClr>
                <a:buSzPts val="2000"/>
                <a:buFont typeface="Times New Roman"/>
                <a:buNone/>
              </a:pPr>
              <a:r>
                <a:rPr lang="en-US" sz="2000" b="1" i="1" u="none" strike="noStrike" cap="none">
                  <a:solidFill>
                    <a:srgbClr val="BE2D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</p:grpSp>
      <p:pic>
        <p:nvPicPr>
          <p:cNvPr id="496" name="Google Shape;4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4911" y="3702436"/>
            <a:ext cx="2139881" cy="2298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7FD9474-2DDB-4AB8-A133-D216DADD927E}" type="datetime1">
              <a:rPr lang="en-US" smtClean="0"/>
              <a:t>1/3/2026</a:t>
            </a:fld>
            <a:endParaRPr/>
          </a:p>
        </p:txBody>
      </p:sp>
      <p:sp>
        <p:nvSpPr>
          <p:cNvPr id="502" name="Google Shape;502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03" name="Google Shape;503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504" name="Google Shape;504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Adjacency Matrix Representation</a:t>
            </a:r>
            <a:endParaRPr/>
          </a:p>
        </p:txBody>
      </p:sp>
      <p:pic>
        <p:nvPicPr>
          <p:cNvPr id="505" name="Google Shape;5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3212" y="1126790"/>
            <a:ext cx="2495550" cy="19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7455" y="1095040"/>
            <a:ext cx="2008188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0331" y="3419793"/>
            <a:ext cx="2881312" cy="1671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9512" y="3152298"/>
            <a:ext cx="2162175" cy="22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8"/>
          <p:cNvSpPr/>
          <p:nvPr/>
        </p:nvSpPr>
        <p:spPr>
          <a:xfrm>
            <a:off x="4749165" y="1940860"/>
            <a:ext cx="21478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Undirected Graph</a:t>
            </a:r>
            <a:endParaRPr/>
          </a:p>
        </p:txBody>
      </p:sp>
      <p:sp>
        <p:nvSpPr>
          <p:cNvPr id="510" name="Google Shape;510;p18"/>
          <p:cNvSpPr/>
          <p:nvPr/>
        </p:nvSpPr>
        <p:spPr>
          <a:xfrm>
            <a:off x="4749165" y="4123391"/>
            <a:ext cx="18732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Directed Graph</a:t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1022508" y="5602941"/>
            <a:ext cx="9601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5"/>
                </a:solidFill>
                <a:latin typeface="Tahoma"/>
                <a:ea typeface="Tahoma"/>
                <a:cs typeface="Tahoma"/>
                <a:sym typeface="Tahoma"/>
              </a:rPr>
              <a:t>The adjacency matrix for an undirected graph is symmetric; i.e. : A[i][j]=A[j][i] 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>
                <a:solidFill>
                  <a:schemeClr val="accent5"/>
                </a:solidFill>
                <a:latin typeface="Tahoma"/>
                <a:ea typeface="Tahoma"/>
                <a:cs typeface="Tahoma"/>
                <a:sym typeface="Tahoma"/>
              </a:rPr>
              <a:t>The adjacency matrix for a digraph need not be symmetric</a:t>
            </a:r>
            <a:endParaRPr sz="2000">
              <a:solidFill>
                <a:schemeClr val="accent5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●"/>
            </a:pPr>
            <a:r>
              <a:rPr lang="en-US" sz="2400" b="1">
                <a:solidFill>
                  <a:schemeClr val="dk2"/>
                </a:solidFill>
              </a:rPr>
              <a:t>Pros: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sz="2400" b="1"/>
              <a:t>Simple</a:t>
            </a:r>
            <a:r>
              <a:rPr lang="en-US" sz="2400"/>
              <a:t> to implement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sz="2400"/>
              <a:t>Easy and fast to tell if a pair (i, j) is an edge: </a:t>
            </a:r>
            <a:r>
              <a:rPr lang="en-US" sz="2400" b="1"/>
              <a:t>simply check if A[i, j] </a:t>
            </a:r>
            <a:r>
              <a:rPr lang="en-US" sz="2400"/>
              <a:t>is 1 or 0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sz="2400"/>
              <a:t>Can be very efficient for </a:t>
            </a:r>
            <a:r>
              <a:rPr lang="en-US" sz="2400" b="1"/>
              <a:t>small</a:t>
            </a:r>
            <a:r>
              <a:rPr lang="en-US" sz="2400"/>
              <a:t> </a:t>
            </a:r>
            <a:r>
              <a:rPr lang="en-US" sz="2400" b="1"/>
              <a:t>graphs</a:t>
            </a:r>
            <a:endParaRPr sz="2400" b="1">
              <a:solidFill>
                <a:schemeClr val="dk2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●"/>
            </a:pPr>
            <a:r>
              <a:rPr lang="en-US" sz="2400" b="1">
                <a:solidFill>
                  <a:schemeClr val="dk2"/>
                </a:solidFill>
              </a:rPr>
              <a:t>Cons: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sz="2400"/>
              <a:t>No matter how few edges the graph has, the matrix takes </a:t>
            </a:r>
            <a:r>
              <a:rPr lang="en-US" sz="2400" b="1"/>
              <a:t>O(n</a:t>
            </a:r>
            <a:r>
              <a:rPr lang="en-US" sz="2400" b="1" baseline="30000"/>
              <a:t>2</a:t>
            </a:r>
            <a:r>
              <a:rPr lang="en-US" sz="2400" b="1"/>
              <a:t>) </a:t>
            </a:r>
            <a:r>
              <a:rPr lang="en-US" sz="2400"/>
              <a:t>in memory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517" name="Google Shape;517;p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FB65384-95C8-4AE2-B8B1-6ABDEA2D393C}" type="datetime1">
              <a:rPr lang="en-US" smtClean="0"/>
              <a:t>1/3/2026</a:t>
            </a:fld>
            <a:endParaRPr/>
          </a:p>
        </p:txBody>
      </p:sp>
      <p:sp>
        <p:nvSpPr>
          <p:cNvPr id="518" name="Google Shape;518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19" name="Google Shape;519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520" name="Google Shape;520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Adjacency Matrix Representation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50"/>
              <a:buFont typeface="Arial"/>
              <a:buChar char="●"/>
            </a:pPr>
            <a:r>
              <a:rPr lang="en-US" sz="2200"/>
              <a:t>A graph is represented by a </a:t>
            </a:r>
            <a:r>
              <a:rPr lang="en-US" sz="2200" b="1"/>
              <a:t>one-dimensional</a:t>
            </a:r>
            <a:r>
              <a:rPr lang="en-US" sz="2200"/>
              <a:t> </a:t>
            </a:r>
            <a:r>
              <a:rPr lang="en-US" sz="2200" b="1"/>
              <a:t>array</a:t>
            </a:r>
            <a:r>
              <a:rPr lang="en-US" sz="2200"/>
              <a:t> L </a:t>
            </a:r>
            <a:r>
              <a:rPr lang="en-US" sz="2200" b="1"/>
              <a:t>of linked lists</a:t>
            </a:r>
            <a:r>
              <a:rPr lang="en-US" sz="2200"/>
              <a:t>, where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L is an array of pointers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L[i] is the linked list containing all the nodes adjacent to node i. </a:t>
            </a:r>
            <a:endParaRPr sz="2000" i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526" name="Google Shape;526;p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EA37185-FF98-465E-948A-20380D516510}" type="datetime1">
              <a:rPr lang="en-US" smtClean="0"/>
              <a:t>1/3/2026</a:t>
            </a:fld>
            <a:endParaRPr/>
          </a:p>
        </p:txBody>
      </p:sp>
      <p:sp>
        <p:nvSpPr>
          <p:cNvPr id="527" name="Google Shape;527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28" name="Google Shape;528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529" name="Google Shape;529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Adjacency Lists Representation</a:t>
            </a:r>
            <a:endParaRPr/>
          </a:p>
        </p:txBody>
      </p:sp>
      <p:pic>
        <p:nvPicPr>
          <p:cNvPr id="530" name="Google Shape;53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4575" y="2639060"/>
            <a:ext cx="253365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6875" y="2618423"/>
            <a:ext cx="3703637" cy="1684337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0"/>
          <p:cNvSpPr/>
          <p:nvPr/>
        </p:nvSpPr>
        <p:spPr>
          <a:xfrm>
            <a:off x="4689475" y="3516948"/>
            <a:ext cx="21478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Undirected Graph</a:t>
            </a:r>
            <a:endParaRPr/>
          </a:p>
        </p:txBody>
      </p:sp>
      <p:pic>
        <p:nvPicPr>
          <p:cNvPr id="533" name="Google Shape;533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0744" y="4791711"/>
            <a:ext cx="2881312" cy="1671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79444" y="4431348"/>
            <a:ext cx="2362200" cy="216058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0"/>
          <p:cNvSpPr/>
          <p:nvPr/>
        </p:nvSpPr>
        <p:spPr>
          <a:xfrm>
            <a:off x="5020469" y="5185411"/>
            <a:ext cx="18732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Directed Graph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solidFill>
                  <a:schemeClr val="dk2"/>
                </a:solidFill>
              </a:rPr>
              <a:t>Pros: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sz="2400"/>
              <a:t>Saves on </a:t>
            </a:r>
            <a:r>
              <a:rPr lang="en-US" sz="2400" b="1"/>
              <a:t>space</a:t>
            </a:r>
            <a:r>
              <a:rPr lang="en-US" sz="2400"/>
              <a:t> (</a:t>
            </a:r>
            <a:r>
              <a:rPr lang="en-US" sz="2400" b="1"/>
              <a:t>memory</a:t>
            </a:r>
            <a:r>
              <a:rPr lang="en-US" sz="2400"/>
              <a:t>): the representation takes O(|V|+|E|) memory.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sz="2400"/>
              <a:t>Good for large graphs</a:t>
            </a:r>
            <a:endParaRPr sz="2400">
              <a:solidFill>
                <a:schemeClr val="dk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solidFill>
                  <a:schemeClr val="dk2"/>
                </a:solidFill>
              </a:rPr>
              <a:t>Cons: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sz="2400"/>
              <a:t>It can take up to </a:t>
            </a:r>
            <a:r>
              <a:rPr lang="en-US" sz="2400" b="1"/>
              <a:t>O(n)</a:t>
            </a:r>
            <a:r>
              <a:rPr lang="en-US" sz="2400"/>
              <a:t> time to determine if a pair </a:t>
            </a:r>
            <a:r>
              <a:rPr lang="en-US" sz="2400" b="1"/>
              <a:t>of nodes (i, j) is an edge</a:t>
            </a:r>
            <a:r>
              <a:rPr lang="en-US" sz="2400"/>
              <a:t>: one would have to search the linked list L[i], which takes time proportional to the length of L[i].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541" name="Google Shape;541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82BBE7C-0F39-40A1-B7FC-674488BEC4F0}" type="datetime1">
              <a:rPr lang="en-US" smtClean="0"/>
              <a:t>1/3/2026</a:t>
            </a:fld>
            <a:endParaRPr/>
          </a:p>
        </p:txBody>
      </p:sp>
      <p:sp>
        <p:nvSpPr>
          <p:cNvPr id="542" name="Google Shape;542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43" name="Google Shape;543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544" name="Google Shape;544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Adjacency Lists Representation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04DFE2CE-B9CF-A001-EBB7-EC3E1BBF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40" name="Google Shape;540;p21">
                <a:extLst>
                  <a:ext uri="{FF2B5EF4-FFF2-40B4-BE49-F238E27FC236}">
                    <a16:creationId xmlns:a16="http://schemas.microsoft.com/office/drawing/2014/main" id="{C775D9C3-9923-EAC7-745F-D97A85B4A8D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227909"/>
                <a:ext cx="10515600" cy="4949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r>
                  <a:rPr lang="en-US" b="1" dirty="0"/>
                  <a:t>Adjacency Matrix — </a:t>
                </a:r>
                <a14:m>
                  <m:oMath xmlns:m="http://schemas.openxmlformats.org/officeDocument/2006/math">
                    <m:r>
                      <a:rPr lang="en-US" i="1"/>
                      <m:t>𝑂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𝑛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Uses a </a:t>
                </a:r>
                <a:r>
                  <a:rPr lang="en-US" b="1" dirty="0"/>
                  <a:t>2D matrix of size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  <m:r>
                      <a:rPr lang="en-US"/>
                      <m:t>×</m:t>
                    </m:r>
                    <m:r>
                      <a:rPr lang="en-US" i="1"/>
                      <m:t>𝑛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number of vertices.</a:t>
                </a:r>
              </a:p>
              <a:p>
                <a:pPr lvl="1"/>
                <a:r>
                  <a:rPr lang="en-US" dirty="0"/>
                  <a:t>Each cell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stores whether an edge exists between vertex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/>
                      <m:t>𝑗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All possible vertex pairs are stored</a:t>
                </a:r>
                <a:r>
                  <a:rPr lang="en-US" dirty="0"/>
                  <a:t>, regardless of whether an edge exists.</a:t>
                </a:r>
              </a:p>
              <a:p>
                <a:pPr lvl="1"/>
                <a:r>
                  <a:rPr lang="en-US" dirty="0"/>
                  <a:t>Even for sparse graphs, memory is allocated for </a:t>
                </a:r>
                <a:r>
                  <a:rPr lang="en-US" b="1" dirty="0"/>
                  <a:t>every possible edge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Hence, total space required is proportional to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  <m:r>
                      <a:rPr lang="en-US"/>
                      <m:t>×</m:t>
                    </m:r>
                    <m:r>
                      <a:rPr lang="en-US" i="1"/>
                      <m:t>𝑛</m:t>
                    </m:r>
                    <m:r>
                      <a:rPr lang="en-US"/>
                      <m:t>=</m:t>
                    </m:r>
                    <m:r>
                      <a:rPr lang="en-US" i="1"/>
                      <m:t>𝑂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𝑛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marL="342900" marR="0" lvl="0" indent="-20955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rgbClr val="0033CC"/>
                  </a:buClr>
                  <a:buSzPts val="2100"/>
                  <a:buFont typeface="Arial"/>
                  <a:buNone/>
                </a:pPr>
                <a:endParaRPr dirty="0"/>
              </a:p>
            </p:txBody>
          </p:sp>
        </mc:Choice>
        <mc:Fallback>
          <p:sp>
            <p:nvSpPr>
              <p:cNvPr id="540" name="Google Shape;540;p21">
                <a:extLst>
                  <a:ext uri="{FF2B5EF4-FFF2-40B4-BE49-F238E27FC236}">
                    <a16:creationId xmlns:a16="http://schemas.microsoft.com/office/drawing/2014/main" id="{C775D9C3-9923-EAC7-745F-D97A85B4A8D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227909"/>
                <a:ext cx="10515600" cy="4949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" name="Google Shape;541;p21">
            <a:extLst>
              <a:ext uri="{FF2B5EF4-FFF2-40B4-BE49-F238E27FC236}">
                <a16:creationId xmlns:a16="http://schemas.microsoft.com/office/drawing/2014/main" id="{86E20197-B87E-216B-2FA8-1544ACC69A9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82BBE7C-0F39-40A1-B7FC-674488BEC4F0}" type="datetime1">
              <a:rPr lang="en-US" smtClean="0"/>
              <a:t>1/3/2026</a:t>
            </a:fld>
            <a:endParaRPr/>
          </a:p>
        </p:txBody>
      </p:sp>
      <p:sp>
        <p:nvSpPr>
          <p:cNvPr id="542" name="Google Shape;542;p21">
            <a:extLst>
              <a:ext uri="{FF2B5EF4-FFF2-40B4-BE49-F238E27FC236}">
                <a16:creationId xmlns:a16="http://schemas.microsoft.com/office/drawing/2014/main" id="{DA807674-0313-F055-3430-7F980437F7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43" name="Google Shape;543;p21">
            <a:extLst>
              <a:ext uri="{FF2B5EF4-FFF2-40B4-BE49-F238E27FC236}">
                <a16:creationId xmlns:a16="http://schemas.microsoft.com/office/drawing/2014/main" id="{538C6C1D-1F1B-2998-B805-0283C21842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544" name="Google Shape;544;p21">
            <a:extLst>
              <a:ext uri="{FF2B5EF4-FFF2-40B4-BE49-F238E27FC236}">
                <a16:creationId xmlns:a16="http://schemas.microsoft.com/office/drawing/2014/main" id="{D70FE088-B6D2-0575-6248-8B1078F322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Adjacency Matrix Order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706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1A97ABF8-F047-FA64-A84E-DC24B41A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40" name="Google Shape;540;p21">
                <a:extLst>
                  <a:ext uri="{FF2B5EF4-FFF2-40B4-BE49-F238E27FC236}">
                    <a16:creationId xmlns:a16="http://schemas.microsoft.com/office/drawing/2014/main" id="{2FB4BD8E-7C01-91A5-B192-9156C246667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227909"/>
                <a:ext cx="10515600" cy="4949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r>
                  <a:rPr lang="en-US" b="1" dirty="0"/>
                  <a:t>Adjacency List — </a:t>
                </a:r>
                <a14:m>
                  <m:oMath xmlns:m="http://schemas.openxmlformats.org/officeDocument/2006/math">
                    <m:r>
                      <a:rPr lang="en-US" i="1"/>
                      <m:t>𝑂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𝑛</m:t>
                        </m:r>
                        <m:r>
                          <a:rPr lang="ar-AE"/>
                          <m:t>+</m:t>
                        </m:r>
                        <m:r>
                          <a:rPr lang="ar-AE" i="1"/>
                          <m:t>𝑚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Stores an </a:t>
                </a:r>
                <a:r>
                  <a:rPr lang="en-US" b="1" dirty="0"/>
                  <a:t>array of </a:t>
                </a:r>
                <a14:m>
                  <m:oMath xmlns:m="http://schemas.openxmlformats.org/officeDocument/2006/math">
                    <m:r>
                      <a:rPr lang="en-US" b="1" i="1"/>
                      <m:t>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lists</a:t>
                </a:r>
                <a:r>
                  <a:rPr lang="en-US" dirty="0"/>
                  <a:t>, one for each vertex.</a:t>
                </a:r>
              </a:p>
              <a:p>
                <a:pPr lvl="1"/>
                <a:r>
                  <a:rPr lang="en-US" dirty="0"/>
                  <a:t>Each list contains only the </a:t>
                </a:r>
                <a:r>
                  <a:rPr lang="en-US" b="1" dirty="0"/>
                  <a:t>actual neighbors</a:t>
                </a:r>
                <a:r>
                  <a:rPr lang="en-US" dirty="0"/>
                  <a:t> of that vertex.</a:t>
                </a:r>
              </a:p>
              <a:p>
                <a:pPr lvl="1"/>
                <a:r>
                  <a:rPr lang="en-US" dirty="0"/>
                  <a:t>Total space includes: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 smtClean="0"/>
                      <m:t>𝑶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r>
                          <a:rPr lang="ar-AE" b="1" i="1"/>
                          <m:t>𝒏</m:t>
                        </m:r>
                      </m:e>
                    </m:d>
                  </m:oMath>
                </a14:m>
                <a:r>
                  <a:rPr lang="en-US" dirty="0"/>
                  <a:t> for storing all vertices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/>
                      <m:t>𝑶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r>
                          <a:rPr lang="ar-AE" b="1" i="1"/>
                          <m:t>𝒎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storing all edges (each edge stored once or twice depending on graph type)</a:t>
                </a:r>
              </a:p>
              <a:p>
                <a:pPr lvl="1"/>
                <a:r>
                  <a:rPr lang="en-US" dirty="0"/>
                  <a:t>No space wasted on non-existent edges.</a:t>
                </a:r>
              </a:p>
              <a:p>
                <a:pPr lvl="1"/>
                <a:r>
                  <a:rPr lang="en-US" dirty="0"/>
                  <a:t>Therefore, total space complexity is </a:t>
                </a:r>
                <a14:m>
                  <m:oMath xmlns:m="http://schemas.openxmlformats.org/officeDocument/2006/math">
                    <m:r>
                      <a:rPr lang="en-US" b="1" i="1"/>
                      <m:t>𝑶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r>
                          <a:rPr lang="ar-AE" b="1" i="1"/>
                          <m:t>𝒏</m:t>
                        </m:r>
                        <m:r>
                          <a:rPr lang="ar-AE" b="1"/>
                          <m:t>+</m:t>
                        </m:r>
                        <m:r>
                          <a:rPr lang="ar-AE" b="1" i="1"/>
                          <m:t>𝒎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/>
                      <m:t>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number of edges.</a:t>
                </a:r>
              </a:p>
              <a:p>
                <a:r>
                  <a:rPr lang="en-US" b="1" dirty="0"/>
                  <a:t>Key Insight</a:t>
                </a:r>
                <a:endParaRPr lang="en-US" dirty="0"/>
              </a:p>
              <a:p>
                <a:pPr lvl="1"/>
                <a:r>
                  <a:rPr lang="en-US" b="1" dirty="0"/>
                  <a:t>Adjacency Matrix</a:t>
                </a:r>
                <a:r>
                  <a:rPr lang="en-US" dirty="0"/>
                  <a:t> is space-efficient for </a:t>
                </a:r>
                <a:r>
                  <a:rPr lang="en-US" b="1" dirty="0"/>
                  <a:t>dense graphs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Adjacency List</a:t>
                </a:r>
                <a:r>
                  <a:rPr lang="en-US" dirty="0"/>
                  <a:t> is space-efficient for </a:t>
                </a:r>
                <a:r>
                  <a:rPr lang="en-US" b="1" dirty="0"/>
                  <a:t>sparse graphs</a:t>
                </a:r>
                <a:r>
                  <a:rPr lang="en-US" dirty="0"/>
                  <a:t>.</a:t>
                </a:r>
              </a:p>
              <a:p>
                <a:pPr marL="342900" marR="0" lvl="0" indent="-20955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rgbClr val="0033CC"/>
                  </a:buClr>
                  <a:buSzPts val="2100"/>
                  <a:buFont typeface="Arial"/>
                  <a:buNone/>
                </a:pPr>
                <a:endParaRPr dirty="0"/>
              </a:p>
            </p:txBody>
          </p:sp>
        </mc:Choice>
        <mc:Fallback>
          <p:sp>
            <p:nvSpPr>
              <p:cNvPr id="540" name="Google Shape;540;p21">
                <a:extLst>
                  <a:ext uri="{FF2B5EF4-FFF2-40B4-BE49-F238E27FC236}">
                    <a16:creationId xmlns:a16="http://schemas.microsoft.com/office/drawing/2014/main" id="{2FB4BD8E-7C01-91A5-B192-9156C246667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227909"/>
                <a:ext cx="10515600" cy="4949054"/>
              </a:xfrm>
              <a:prstGeom prst="rect">
                <a:avLst/>
              </a:prstGeom>
              <a:blipFill>
                <a:blip r:embed="rId3"/>
                <a:stretch>
                  <a:fillRect t="-4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" name="Google Shape;541;p21">
            <a:extLst>
              <a:ext uri="{FF2B5EF4-FFF2-40B4-BE49-F238E27FC236}">
                <a16:creationId xmlns:a16="http://schemas.microsoft.com/office/drawing/2014/main" id="{653195B3-141A-CDA7-497A-8EED6246AA7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82BBE7C-0F39-40A1-B7FC-674488BEC4F0}" type="datetime1">
              <a:rPr lang="en-US" smtClean="0"/>
              <a:t>1/3/2026</a:t>
            </a:fld>
            <a:endParaRPr/>
          </a:p>
        </p:txBody>
      </p:sp>
      <p:sp>
        <p:nvSpPr>
          <p:cNvPr id="542" name="Google Shape;542;p21">
            <a:extLst>
              <a:ext uri="{FF2B5EF4-FFF2-40B4-BE49-F238E27FC236}">
                <a16:creationId xmlns:a16="http://schemas.microsoft.com/office/drawing/2014/main" id="{E9A6689C-612A-55A4-53AF-B0748B8563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43" name="Google Shape;543;p21">
            <a:extLst>
              <a:ext uri="{FF2B5EF4-FFF2-40B4-BE49-F238E27FC236}">
                <a16:creationId xmlns:a16="http://schemas.microsoft.com/office/drawing/2014/main" id="{0CD50885-6EBC-B00A-F659-402B9A1DDA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544" name="Google Shape;544;p21">
            <a:extLst>
              <a:ext uri="{FF2B5EF4-FFF2-40B4-BE49-F238E27FC236}">
                <a16:creationId xmlns:a16="http://schemas.microsoft.com/office/drawing/2014/main" id="{5BDDDAB1-76B1-A0CD-7AAD-9FB6CA168F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dirty="0"/>
              <a:t>Adjacency Lists Order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2679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4" name="Google Shape;4834;p9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835" name="Google Shape;4835;p9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4836" name="Google Shape;4836;p96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3FB3F05-9055-4862-A5C2-ACC6BD05EB38}" type="datetime1">
              <a:rPr lang="en-US" smtClean="0"/>
              <a:t>1/3/2026</a:t>
            </a:fld>
            <a:endParaRPr/>
          </a:p>
        </p:txBody>
      </p:sp>
      <p:sp>
        <p:nvSpPr>
          <p:cNvPr id="4837" name="Google Shape;4837;p96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838" name="Google Shape;4838;p96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1223</Words>
  <Application>Microsoft Office PowerPoint</Application>
  <PresentationFormat>Widescreen</PresentationFormat>
  <Paragraphs>219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Tahoma</vt:lpstr>
      <vt:lpstr>Times New Roman</vt:lpstr>
      <vt:lpstr>Noto Sans Symbols</vt:lpstr>
      <vt:lpstr>Calibri</vt:lpstr>
      <vt:lpstr>Cambria Math</vt:lpstr>
      <vt:lpstr>Times</vt:lpstr>
      <vt:lpstr>Arial</vt:lpstr>
      <vt:lpstr>Office Theme</vt:lpstr>
      <vt:lpstr>Graph</vt:lpstr>
      <vt:lpstr>GRAPH TERMINOLOGIES</vt:lpstr>
      <vt:lpstr>What is a Graph?</vt:lpstr>
      <vt:lpstr>Edge and Graph Types</vt:lpstr>
      <vt:lpstr>Terminology</vt:lpstr>
      <vt:lpstr>Terminology (cont.)</vt:lpstr>
      <vt:lpstr>Terminology</vt:lpstr>
      <vt:lpstr>GRAPH REPRESENTATIONS</vt:lpstr>
      <vt:lpstr>Graph Representation</vt:lpstr>
      <vt:lpstr>Graph Representation</vt:lpstr>
      <vt:lpstr>Graph Representation</vt:lpstr>
      <vt:lpstr>Adjacency Matrix Representation</vt:lpstr>
      <vt:lpstr>Adjacency Matrix Representation</vt:lpstr>
      <vt:lpstr>Adjacency Lists Representation</vt:lpstr>
      <vt:lpstr>Adjacency Lists Representation</vt:lpstr>
      <vt:lpstr>Adjacency Matrix Order</vt:lpstr>
      <vt:lpstr>Adjacency Lists Order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</dc:title>
  <dc:creator>lenovo</dc:creator>
  <cp:lastModifiedBy>Mr. Asif Abrar</cp:lastModifiedBy>
  <cp:revision>4</cp:revision>
  <dcterms:created xsi:type="dcterms:W3CDTF">2023-03-19T03:25:32Z</dcterms:created>
  <dcterms:modified xsi:type="dcterms:W3CDTF">2026-01-03T02:52:25Z</dcterms:modified>
</cp:coreProperties>
</file>