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95.xml" ContentType="application/vnd.openxmlformats-officedocument.presentationml.notesSlide+xml"/>
  <Override PartName="/ppt/notesSlides/notesSlide96.xml" ContentType="application/vnd.openxmlformats-officedocument.presentationml.notesSlide+xml"/>
  <Override PartName="/ppt/notesSlides/notesSlide97.xml" ContentType="application/vnd.openxmlformats-officedocument.presentationml.notesSlide+xml"/>
  <Override PartName="/ppt/notesSlides/notesSlide98.xml" ContentType="application/vnd.openxmlformats-officedocument.presentationml.notesSlide+xml"/>
  <Override PartName="/ppt/notesSlides/notesSlide99.xml" ContentType="application/vnd.openxmlformats-officedocument.presentationml.notesSlide+xml"/>
  <Override PartName="/ppt/notesSlides/notesSlide100.xml" ContentType="application/vnd.openxmlformats-officedocument.presentationml.notesSlide+xml"/>
  <Override PartName="/ppt/notesSlides/notesSlide101.xml" ContentType="application/vnd.openxmlformats-officedocument.presentationml.notesSlide+xml"/>
  <Override PartName="/ppt/notesSlides/notesSlide102.xml" ContentType="application/vnd.openxmlformats-officedocument.presentationml.notesSlide+xml"/>
  <Override PartName="/ppt/notesSlides/notesSlide103.xml" ContentType="application/vnd.openxmlformats-officedocument.presentationml.notesSlide+xml"/>
  <Override PartName="/ppt/notesSlides/notesSlide104.xml" ContentType="application/vnd.openxmlformats-officedocument.presentationml.notesSlide+xml"/>
  <Override PartName="/ppt/notesSlides/notesSlide105.xml" ContentType="application/vnd.openxmlformats-officedocument.presentationml.notesSlide+xml"/>
  <Override PartName="/ppt/notesSlides/notesSlide106.xml" ContentType="application/vnd.openxmlformats-officedocument.presentationml.notesSlide+xml"/>
  <Override PartName="/ppt/notesSlides/notesSlide107.xml" ContentType="application/vnd.openxmlformats-officedocument.presentationml.notesSlide+xml"/>
  <Override PartName="/ppt/notesSlides/notesSlide108.xml" ContentType="application/vnd.openxmlformats-officedocument.presentationml.notesSlide+xml"/>
  <Override PartName="/ppt/notesSlides/notesSlide109.xml" ContentType="application/vnd.openxmlformats-officedocument.presentationml.notesSlide+xml"/>
  <Override PartName="/ppt/notesSlides/notesSlide110.xml" ContentType="application/vnd.openxmlformats-officedocument.presentationml.notesSlide+xml"/>
  <Override PartName="/ppt/notesSlides/notesSlide111.xml" ContentType="application/vnd.openxmlformats-officedocument.presentationml.notesSlide+xml"/>
  <Override PartName="/ppt/notesSlides/notesSlide112.xml" ContentType="application/vnd.openxmlformats-officedocument.presentationml.notesSlide+xml"/>
  <Override PartName="/ppt/notesSlides/notesSlide113.xml" ContentType="application/vnd.openxmlformats-officedocument.presentationml.notesSlide+xml"/>
  <Override PartName="/ppt/notesSlides/notesSlide1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116"/>
  </p:notesMasterIdLst>
  <p:sldIdLst>
    <p:sldId id="256" r:id="rId2"/>
    <p:sldId id="271" r:id="rId3"/>
    <p:sldId id="272" r:id="rId4"/>
    <p:sldId id="273" r:id="rId5"/>
    <p:sldId id="274" r:id="rId6"/>
    <p:sldId id="275" r:id="rId7"/>
    <p:sldId id="276" r:id="rId8"/>
    <p:sldId id="277" r:id="rId9"/>
    <p:sldId id="278" r:id="rId10"/>
    <p:sldId id="279" r:id="rId11"/>
    <p:sldId id="280" r:id="rId12"/>
    <p:sldId id="281" r:id="rId13"/>
    <p:sldId id="282" r:id="rId14"/>
    <p:sldId id="283" r:id="rId15"/>
    <p:sldId id="284" r:id="rId16"/>
    <p:sldId id="285" r:id="rId17"/>
    <p:sldId id="286" r:id="rId18"/>
    <p:sldId id="287" r:id="rId19"/>
    <p:sldId id="288" r:id="rId20"/>
    <p:sldId id="289" r:id="rId21"/>
    <p:sldId id="290" r:id="rId22"/>
    <p:sldId id="291" r:id="rId23"/>
    <p:sldId id="292" r:id="rId24"/>
    <p:sldId id="293" r:id="rId25"/>
    <p:sldId id="294" r:id="rId26"/>
    <p:sldId id="295" r:id="rId27"/>
    <p:sldId id="296" r:id="rId28"/>
    <p:sldId id="297" r:id="rId29"/>
    <p:sldId id="298" r:id="rId30"/>
    <p:sldId id="299" r:id="rId31"/>
    <p:sldId id="300" r:id="rId32"/>
    <p:sldId id="301" r:id="rId33"/>
    <p:sldId id="302" r:id="rId34"/>
    <p:sldId id="303" r:id="rId35"/>
    <p:sldId id="304" r:id="rId36"/>
    <p:sldId id="305" r:id="rId37"/>
    <p:sldId id="306" r:id="rId38"/>
    <p:sldId id="307" r:id="rId39"/>
    <p:sldId id="308" r:id="rId40"/>
    <p:sldId id="309" r:id="rId41"/>
    <p:sldId id="310" r:id="rId42"/>
    <p:sldId id="311" r:id="rId43"/>
    <p:sldId id="312" r:id="rId44"/>
    <p:sldId id="313" r:id="rId45"/>
    <p:sldId id="314" r:id="rId46"/>
    <p:sldId id="315" r:id="rId47"/>
    <p:sldId id="316" r:id="rId48"/>
    <p:sldId id="317" r:id="rId49"/>
    <p:sldId id="318" r:id="rId50"/>
    <p:sldId id="319" r:id="rId51"/>
    <p:sldId id="320" r:id="rId52"/>
    <p:sldId id="321" r:id="rId53"/>
    <p:sldId id="322" r:id="rId54"/>
    <p:sldId id="323" r:id="rId55"/>
    <p:sldId id="324" r:id="rId56"/>
    <p:sldId id="325" r:id="rId57"/>
    <p:sldId id="326" r:id="rId58"/>
    <p:sldId id="327" r:id="rId59"/>
    <p:sldId id="328" r:id="rId60"/>
    <p:sldId id="329" r:id="rId61"/>
    <p:sldId id="330" r:id="rId62"/>
    <p:sldId id="331" r:id="rId63"/>
    <p:sldId id="332" r:id="rId64"/>
    <p:sldId id="333" r:id="rId65"/>
    <p:sldId id="334" r:id="rId66"/>
    <p:sldId id="335" r:id="rId67"/>
    <p:sldId id="336" r:id="rId68"/>
    <p:sldId id="337" r:id="rId69"/>
    <p:sldId id="338" r:id="rId70"/>
    <p:sldId id="339" r:id="rId71"/>
    <p:sldId id="340" r:id="rId72"/>
    <p:sldId id="341" r:id="rId73"/>
    <p:sldId id="342" r:id="rId74"/>
    <p:sldId id="343" r:id="rId75"/>
    <p:sldId id="344" r:id="rId76"/>
    <p:sldId id="364" r:id="rId77"/>
    <p:sldId id="365" r:id="rId78"/>
    <p:sldId id="366" r:id="rId79"/>
    <p:sldId id="367" r:id="rId80"/>
    <p:sldId id="368" r:id="rId81"/>
    <p:sldId id="369" r:id="rId82"/>
    <p:sldId id="370" r:id="rId83"/>
    <p:sldId id="371" r:id="rId84"/>
    <p:sldId id="372" r:id="rId85"/>
    <p:sldId id="373" r:id="rId86"/>
    <p:sldId id="374" r:id="rId87"/>
    <p:sldId id="375" r:id="rId88"/>
    <p:sldId id="376" r:id="rId89"/>
    <p:sldId id="377" r:id="rId90"/>
    <p:sldId id="378" r:id="rId91"/>
    <p:sldId id="379" r:id="rId92"/>
    <p:sldId id="380" r:id="rId93"/>
    <p:sldId id="381" r:id="rId94"/>
    <p:sldId id="382" r:id="rId95"/>
    <p:sldId id="383" r:id="rId96"/>
    <p:sldId id="384" r:id="rId97"/>
    <p:sldId id="385" r:id="rId98"/>
    <p:sldId id="386" r:id="rId99"/>
    <p:sldId id="387" r:id="rId100"/>
    <p:sldId id="388" r:id="rId101"/>
    <p:sldId id="389" r:id="rId102"/>
    <p:sldId id="390" r:id="rId103"/>
    <p:sldId id="391" r:id="rId104"/>
    <p:sldId id="392" r:id="rId105"/>
    <p:sldId id="393" r:id="rId106"/>
    <p:sldId id="394" r:id="rId107"/>
    <p:sldId id="395" r:id="rId108"/>
    <p:sldId id="396" r:id="rId109"/>
    <p:sldId id="397" r:id="rId110"/>
    <p:sldId id="398" r:id="rId111"/>
    <p:sldId id="399" r:id="rId112"/>
    <p:sldId id="400" r:id="rId113"/>
    <p:sldId id="401" r:id="rId114"/>
    <p:sldId id="402" r:id="rId115"/>
  </p:sldIdLst>
  <p:sldSz cx="12192000" cy="6858000"/>
  <p:notesSz cx="6858000" cy="9144000"/>
  <p:embeddedFontLst>
    <p:embeddedFont>
      <p:font typeface="Tahoma" panose="020B0604030504040204" pitchFamily="34" charset="0"/>
      <p:regular r:id="rId117"/>
      <p:bold r:id="rId11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155" roundtripDataSignature="AMtx7mh4WKj+8Y50vCLEbqJ0hhnUnsO9Z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66088737-8E24-4614-AAA7-3D08145F63E1}">
  <a:tblStyle styleId="{66088737-8E24-4614-AAA7-3D08145F63E1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9EFF7"/>
          </a:solidFill>
        </a:fill>
      </a:tcStyle>
    </a:wholeTbl>
    <a:band1H>
      <a:tcTxStyle/>
      <a:tcStyle>
        <a:tcBdr/>
        <a:fill>
          <a:solidFill>
            <a:srgbClr val="D0DEEF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D0DEEF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1" d="100"/>
          <a:sy n="81" d="100"/>
        </p:scale>
        <p:origin x="725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117" Type="http://schemas.openxmlformats.org/officeDocument/2006/relationships/font" Target="fonts/font1.fntdata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12" Type="http://schemas.openxmlformats.org/officeDocument/2006/relationships/slide" Target="slides/slide111.xml"/><Relationship Id="rId159" Type="http://schemas.openxmlformats.org/officeDocument/2006/relationships/tableStyles" Target="tableStyles.xml"/><Relationship Id="rId16" Type="http://schemas.openxmlformats.org/officeDocument/2006/relationships/slide" Target="slides/slide15.xml"/><Relationship Id="rId107" Type="http://schemas.openxmlformats.org/officeDocument/2006/relationships/slide" Target="slides/slide106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113" Type="http://schemas.openxmlformats.org/officeDocument/2006/relationships/slide" Target="slides/slide112.xml"/><Relationship Id="rId118" Type="http://schemas.openxmlformats.org/officeDocument/2006/relationships/font" Target="fonts/font2.fntdata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155" Type="http://customschemas.google.com/relationships/presentationmetadata" Target="metadata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slide" Target="slides/slide102.xml"/><Relationship Id="rId108" Type="http://schemas.openxmlformats.org/officeDocument/2006/relationships/slide" Target="slides/slide107.xml"/><Relationship Id="rId54" Type="http://schemas.openxmlformats.org/officeDocument/2006/relationships/slide" Target="slides/slide53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49" Type="http://schemas.openxmlformats.org/officeDocument/2006/relationships/slide" Target="slides/slide48.xml"/><Relationship Id="rId114" Type="http://schemas.openxmlformats.org/officeDocument/2006/relationships/slide" Target="slides/slide113.xml"/><Relationship Id="rId44" Type="http://schemas.openxmlformats.org/officeDocument/2006/relationships/slide" Target="slides/slide43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156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109" Type="http://schemas.openxmlformats.org/officeDocument/2006/relationships/slide" Target="slides/slide10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slide" Target="slides/slide103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110" Type="http://schemas.openxmlformats.org/officeDocument/2006/relationships/slide" Target="slides/slide109.xml"/><Relationship Id="rId115" Type="http://schemas.openxmlformats.org/officeDocument/2006/relationships/slide" Target="slides/slide114.xml"/><Relationship Id="rId157" Type="http://schemas.openxmlformats.org/officeDocument/2006/relationships/viewProps" Target="viewProps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slide" Target="slides/slide104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3" Type="http://schemas.openxmlformats.org/officeDocument/2006/relationships/slide" Target="slides/slide2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Relationship Id="rId116" Type="http://schemas.openxmlformats.org/officeDocument/2006/relationships/notesMaster" Target="notesMasters/notesMaster1.xml"/><Relationship Id="rId158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62" Type="http://schemas.openxmlformats.org/officeDocument/2006/relationships/slide" Target="slides/slide61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111" Type="http://schemas.openxmlformats.org/officeDocument/2006/relationships/slide" Target="slides/slide110.xml"/><Relationship Id="rId15" Type="http://schemas.openxmlformats.org/officeDocument/2006/relationships/slide" Target="slides/slide14.xml"/><Relationship Id="rId36" Type="http://schemas.openxmlformats.org/officeDocument/2006/relationships/slide" Target="slides/slide35.xml"/><Relationship Id="rId57" Type="http://schemas.openxmlformats.org/officeDocument/2006/relationships/slide" Target="slides/slide56.xml"/><Relationship Id="rId106" Type="http://schemas.openxmlformats.org/officeDocument/2006/relationships/slide" Target="slides/slide105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52" Type="http://schemas.openxmlformats.org/officeDocument/2006/relationships/slide" Target="slides/slide51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5.xml"/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6.xml"/><Relationship Id="rId1" Type="http://schemas.openxmlformats.org/officeDocument/2006/relationships/notesMaster" Target="../notesMasters/notesMaster1.xml"/></Relationships>
</file>

<file path=ppt/notesSlides/_rels/notesSlide7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7.xml"/><Relationship Id="rId1" Type="http://schemas.openxmlformats.org/officeDocument/2006/relationships/notesMaster" Target="../notesMasters/notesMaster1.xml"/></Relationships>
</file>

<file path=ppt/notesSlides/_rels/notesSlide7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8.xml"/><Relationship Id="rId1" Type="http://schemas.openxmlformats.org/officeDocument/2006/relationships/notesMaster" Target="../notesMasters/notesMaster1.xml"/></Relationships>
</file>

<file path=ppt/notesSlides/_rels/notesSlide7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9.xml"/><Relationship Id="rId1" Type="http://schemas.openxmlformats.org/officeDocument/2006/relationships/notesMaster" Target="../notesMasters/notesMaster1.xml"/></Relationships>
</file>

<file path=ppt/notesSlides/_rels/notesSlide8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0.xml"/><Relationship Id="rId1" Type="http://schemas.openxmlformats.org/officeDocument/2006/relationships/notesMaster" Target="../notesMasters/notesMaster1.xml"/></Relationships>
</file>

<file path=ppt/notesSlides/_rels/notesSlide8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1.xml"/><Relationship Id="rId1" Type="http://schemas.openxmlformats.org/officeDocument/2006/relationships/notesMaster" Target="../notesMasters/notesMaster1.xml"/></Relationships>
</file>

<file path=ppt/notesSlides/_rels/notesSlide8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2.xml"/><Relationship Id="rId1" Type="http://schemas.openxmlformats.org/officeDocument/2006/relationships/notesMaster" Target="../notesMasters/notesMaster1.xml"/></Relationships>
</file>

<file path=ppt/notesSlides/_rels/notesSlide8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3.xml"/><Relationship Id="rId1" Type="http://schemas.openxmlformats.org/officeDocument/2006/relationships/notesMaster" Target="../notesMasters/notesMaster1.xml"/></Relationships>
</file>

<file path=ppt/notesSlides/_rels/notesSlide8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4.xml"/><Relationship Id="rId1" Type="http://schemas.openxmlformats.org/officeDocument/2006/relationships/notesMaster" Target="../notesMasters/notesMaster1.xml"/></Relationships>
</file>

<file path=ppt/notesSlides/_rels/notesSlide8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5.xml"/><Relationship Id="rId1" Type="http://schemas.openxmlformats.org/officeDocument/2006/relationships/notesMaster" Target="../notesMasters/notesMaster1.xml"/></Relationships>
</file>

<file path=ppt/notesSlides/_rels/notesSlide8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6.xml"/><Relationship Id="rId1" Type="http://schemas.openxmlformats.org/officeDocument/2006/relationships/notesMaster" Target="../notesMasters/notesMaster1.xml"/></Relationships>
</file>

<file path=ppt/notesSlides/_rels/notesSlide8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7.xml"/><Relationship Id="rId1" Type="http://schemas.openxmlformats.org/officeDocument/2006/relationships/notesMaster" Target="../notesMasters/notesMaster1.xml"/></Relationships>
</file>

<file path=ppt/notesSlides/_rels/notesSlide8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8.xml"/><Relationship Id="rId1" Type="http://schemas.openxmlformats.org/officeDocument/2006/relationships/notesMaster" Target="../notesMasters/notesMaster1.xml"/></Relationships>
</file>

<file path=ppt/notesSlides/_rels/notesSlide8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9.xml"/><Relationship Id="rId1" Type="http://schemas.openxmlformats.org/officeDocument/2006/relationships/notesMaster" Target="../notesMasters/notesMaster1.xml"/></Relationships>
</file>

<file path=ppt/notesSlides/_rels/notesSlide9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0.xml"/><Relationship Id="rId1" Type="http://schemas.openxmlformats.org/officeDocument/2006/relationships/notesMaster" Target="../notesMasters/notesMaster1.xml"/></Relationships>
</file>

<file path=ppt/notesSlides/_rels/notesSlide9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1.xml"/><Relationship Id="rId1" Type="http://schemas.openxmlformats.org/officeDocument/2006/relationships/notesMaster" Target="../notesMasters/notesMaster1.xml"/></Relationships>
</file>

<file path=ppt/notesSlides/_rels/notesSlide9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2.xml"/><Relationship Id="rId1" Type="http://schemas.openxmlformats.org/officeDocument/2006/relationships/notesMaster" Target="../notesMasters/notesMaster1.xml"/></Relationships>
</file>

<file path=ppt/notesSlides/_rels/notesSlide9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3.xml"/><Relationship Id="rId1" Type="http://schemas.openxmlformats.org/officeDocument/2006/relationships/notesMaster" Target="../notesMasters/notesMaster1.xml"/></Relationships>
</file>

<file path=ppt/notesSlides/_rels/notesSlide9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4.xml"/><Relationship Id="rId1" Type="http://schemas.openxmlformats.org/officeDocument/2006/relationships/notesMaster" Target="../notesMasters/notesMaster1.xml"/></Relationships>
</file>

<file path=ppt/notesSlides/_rels/notesSlide9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5.xml"/><Relationship Id="rId1" Type="http://schemas.openxmlformats.org/officeDocument/2006/relationships/notesMaster" Target="../notesMasters/notesMaster1.xml"/></Relationships>
</file>

<file path=ppt/notesSlides/_rels/notesSlide9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6.xml"/><Relationship Id="rId1" Type="http://schemas.openxmlformats.org/officeDocument/2006/relationships/notesMaster" Target="../notesMasters/notesMaster1.xml"/></Relationships>
</file>

<file path=ppt/notesSlides/_rels/notesSlide9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7.xml"/><Relationship Id="rId1" Type="http://schemas.openxmlformats.org/officeDocument/2006/relationships/notesMaster" Target="../notesMasters/notesMaster1.xml"/></Relationships>
</file>

<file path=ppt/notesSlides/_rels/notesSlide9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8.xml"/><Relationship Id="rId1" Type="http://schemas.openxmlformats.org/officeDocument/2006/relationships/notesMaster" Target="../notesMasters/notesMaster1.xml"/></Relationships>
</file>

<file path=ppt/notesSlides/_rels/notesSlide9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9.xml"/><Relationship Id="rId1" Type="http://schemas.openxmlformats.org/officeDocument/2006/relationships/notesMaster" Target="../notesMasters/notesMaster1.xml"/></Relationships>
</file>

<file path=ppt/notesSlides/_rels/notesSlide10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0.xml"/><Relationship Id="rId1" Type="http://schemas.openxmlformats.org/officeDocument/2006/relationships/notesMaster" Target="../notesMasters/notesMaster1.xml"/></Relationships>
</file>

<file path=ppt/notesSlides/_rels/notesSlide10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1.xml"/><Relationship Id="rId1" Type="http://schemas.openxmlformats.org/officeDocument/2006/relationships/notesMaster" Target="../notesMasters/notesMaster1.xml"/></Relationships>
</file>

<file path=ppt/notesSlides/_rels/notesSlide10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2.xml"/><Relationship Id="rId1" Type="http://schemas.openxmlformats.org/officeDocument/2006/relationships/notesMaster" Target="../notesMasters/notesMaster1.xml"/></Relationships>
</file>

<file path=ppt/notesSlides/_rels/notesSlide10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3.xml"/><Relationship Id="rId1" Type="http://schemas.openxmlformats.org/officeDocument/2006/relationships/notesMaster" Target="../notesMasters/notesMaster1.xml"/></Relationships>
</file>

<file path=ppt/notesSlides/_rels/notesSlide10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4.xml"/><Relationship Id="rId1" Type="http://schemas.openxmlformats.org/officeDocument/2006/relationships/notesMaster" Target="../notesMasters/notesMaster1.xml"/></Relationships>
</file>

<file path=ppt/notesSlides/_rels/notesSlide10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5.xml"/><Relationship Id="rId1" Type="http://schemas.openxmlformats.org/officeDocument/2006/relationships/notesMaster" Target="../notesMasters/notesMaster1.xml"/></Relationships>
</file>

<file path=ppt/notesSlides/_rels/notesSlide10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6.xml"/><Relationship Id="rId1" Type="http://schemas.openxmlformats.org/officeDocument/2006/relationships/notesMaster" Target="../notesMasters/notesMaster1.xml"/></Relationships>
</file>

<file path=ppt/notesSlides/_rels/notesSlide10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7.xml"/><Relationship Id="rId1" Type="http://schemas.openxmlformats.org/officeDocument/2006/relationships/notesMaster" Target="../notesMasters/notesMaster1.xml"/></Relationships>
</file>

<file path=ppt/notesSlides/_rels/notesSlide10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8.xml"/><Relationship Id="rId1" Type="http://schemas.openxmlformats.org/officeDocument/2006/relationships/notesMaster" Target="../notesMasters/notesMaster1.xml"/></Relationships>
</file>

<file path=ppt/notesSlides/_rels/notesSlide10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9.xml"/><Relationship Id="rId1" Type="http://schemas.openxmlformats.org/officeDocument/2006/relationships/notesMaster" Target="../notesMasters/notesMaster1.xml"/></Relationships>
</file>

<file path=ppt/notesSlides/_rels/notesSlide1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0.xml"/><Relationship Id="rId1" Type="http://schemas.openxmlformats.org/officeDocument/2006/relationships/notesMaster" Target="../notesMasters/notesMaster1.xml"/></Relationships>
</file>

<file path=ppt/notesSlides/_rels/notesSlide1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1.xml"/><Relationship Id="rId1" Type="http://schemas.openxmlformats.org/officeDocument/2006/relationships/notesMaster" Target="../notesMasters/notesMaster1.xml"/></Relationships>
</file>

<file path=ppt/notesSlides/_rels/notesSlide1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2.xml"/><Relationship Id="rId1" Type="http://schemas.openxmlformats.org/officeDocument/2006/relationships/notesMaster" Target="../notesMasters/notesMaster1.xml"/></Relationships>
</file>

<file path=ppt/notesSlides/_rels/notesSlide1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3.xml"/><Relationship Id="rId1" Type="http://schemas.openxmlformats.org/officeDocument/2006/relationships/notesMaster" Target="../notesMasters/notesMaster1.xml"/></Relationships>
</file>

<file path=ppt/notesSlides/_rels/notesSlide1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1" name="Google Shape;101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1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5" name="Google Shape;305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4" name="Google Shape;314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p1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3" name="Google Shape;323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p1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4" name="Google Shape;334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p2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4" name="Google Shape;344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p2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5" name="Google Shape;355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p2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5" name="Google Shape;365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p2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5" name="Google Shape;375;p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p2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4" name="Google Shape;384;p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Google Shape;422;p2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3" name="Google Shape;423;p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" name="Google Shape;463;p2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4" name="Google Shape;464;p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5" name="Google Shape;505;p2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6" name="Google Shape;506;p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6" name="Google Shape;546;p2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7" name="Google Shape;547;p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8" name="Google Shape;588;p2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9" name="Google Shape;589;p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1" name="Google Shape;631;p3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2" name="Google Shape;632;p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3" name="Google Shape;673;p3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4" name="Google Shape;674;p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4" name="Google Shape;714;p3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5" name="Google Shape;715;p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6" name="Google Shape;756;p3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7" name="Google Shape;757;p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" name="Google Shape;798;p3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99" name="Google Shape;799;p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0" name="Google Shape;840;p3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41" name="Google Shape;841;p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1" name="Google Shape;881;p3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2" name="Google Shape;882;p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" name="Google Shape;890;p3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1" name="Google Shape;891;p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0" name="Google Shape;900;p3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1" name="Google Shape;901;p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9" name="Google Shape;909;p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0" name="Google Shape;910;p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9" name="Google Shape;919;p4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20" name="Google Shape;920;p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5" name="Google Shape;955;p4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56" name="Google Shape;956;p4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2" name="Google Shape;992;p4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3" name="Google Shape;993;p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0" name="Google Shape;1030;p4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31" name="Google Shape;1031;p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9" name="Google Shape;1069;p4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70" name="Google Shape;1070;p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8" name="Google Shape;1108;p4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09" name="Google Shape;1109;p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7" name="Google Shape;1147;p4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48" name="Google Shape;1148;p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4" name="Google Shape;1184;p4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85" name="Google Shape;1185;p4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2" name="Google Shape;1222;p4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23" name="Google Shape;1223;p4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1" name="Google Shape;1261;p4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62" name="Google Shape;1262;p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0" name="Google Shape;1300;p5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01" name="Google Shape;1301;p5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8" name="Google Shape;1338;p5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39" name="Google Shape;1339;p5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5" name="Google Shape;1375;p5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76" name="Google Shape;1376;p5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4" name="Google Shape;1414;p5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15" name="Google Shape;1415;p5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4" name="Google Shape;1424;p5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25" name="Google Shape;1425;p5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6" name="Google Shape;1436;p5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37" name="Google Shape;1437;p5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2" name="Google Shape;1452;p5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53" name="Google Shape;1453;p5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2" name="Google Shape;1502;p5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03" name="Google Shape;1503;p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1" name="Google Shape;1531;p5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32" name="Google Shape;1532;p5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2" name="Google Shape;1562;p5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63" name="Google Shape;1563;p5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3" name="Google Shape;1593;p6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94" name="Google Shape;1594;p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4" name="Google Shape;1624;p6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25" name="Google Shape;1625;p6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5" name="Google Shape;1655;p6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56" name="Google Shape;1656;p6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6" name="Google Shape;1686;p6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87" name="Google Shape;1687;p6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7" name="Google Shape;1717;p6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18" name="Google Shape;1718;p6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8" name="Google Shape;1748;p6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49" name="Google Shape;1749;p6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9" name="Google Shape;1779;p6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80" name="Google Shape;1780;p6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8" name="Google Shape;1808;p6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09" name="Google Shape;1809;p6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9" name="Google Shape;1839;p6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40" name="Google Shape;1840;p6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0" name="Google Shape;1870;p6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71" name="Google Shape;1871;p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0" name="Google Shape;1900;p7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01" name="Google Shape;1901;p7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1" name="Google Shape;1931;p7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32" name="Google Shape;1932;p7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1" name="Google Shape;1961;p7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62" name="Google Shape;1962;p7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0" name="Google Shape;1990;p7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91" name="Google Shape;1991;p7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9" name="Google Shape;2019;p7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20" name="Google Shape;2020;p7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" name="Google Shape;2048;p7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49" name="Google Shape;2049;p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6" name="Google Shape;2076;p7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77" name="Google Shape;2077;p7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5" name="Google Shape;2105;p7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06" name="Google Shape;2106;p7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2" name="Google Shape;2132;p7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33" name="Google Shape;2133;p7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0" name="Google Shape;2160;p7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61" name="Google Shape;2161;p7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8" name="Google Shape;2188;p8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89" name="Google Shape;2189;p8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5" name="Google Shape;2215;p8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16" name="Google Shape;2216;p8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3" name="Google Shape;2243;p8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44" name="Google Shape;2244;p8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7" name="Google Shape;2267;p8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68" name="Google Shape;2268;p8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1" name="Google Shape;2291;p8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92" name="Google Shape;2292;p8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5" name="Google Shape;2315;p8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16" name="Google Shape;2316;p8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8" name="Google Shape;2338;p8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39" name="Google Shape;2339;p8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1" name="Google Shape;2361;p8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62" name="Google Shape;2362;p8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0" name="Google Shape;2370;p8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71" name="Google Shape;2371;p8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0" name="Google Shape;2380;p8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81" name="Google Shape;2381;p8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7" name="Google Shape;3047;p10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48" name="Google Shape;3048;p10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6" name="Google Shape;3056;p1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57" name="Google Shape;3057;p1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6" name="Google Shape;3086;p11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87" name="Google Shape;3087;p1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8" name="Google Shape;3118;p11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19" name="Google Shape;3119;p1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8" name="Google Shape;3148;p11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49" name="Google Shape;3149;p1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1" name="Google Shape;3181;p11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82" name="Google Shape;3182;p1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4" name="Google Shape;3214;p11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15" name="Google Shape;3215;p1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4" name="Google Shape;3244;p11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45" name="Google Shape;3245;p1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" name="Google Shape;3277;p1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78" name="Google Shape;3278;p1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0" name="Google Shape;3310;p11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11" name="Google Shape;3311;p1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4" name="Google Shape;3344;p11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45" name="Google Shape;3345;p1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8" name="Google Shape;3378;p12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79" name="Google Shape;3379;p1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2" name="Google Shape;3412;p12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13" name="Google Shape;3413;p1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6" name="Google Shape;3446;p12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47" name="Google Shape;3447;p1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0" name="Google Shape;3480;p12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81" name="Google Shape;3481;p1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4" name="Google Shape;3514;p12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15" name="Google Shape;3515;p1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7" name="Google Shape;3547;p12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48" name="Google Shape;3548;p1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0" name="Google Shape;3580;p12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81" name="Google Shape;3581;p1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2" name="Google Shape;3612;p12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13" name="Google Shape;3613;p1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6" name="Google Shape;3646;p12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47" name="Google Shape;3647;p1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5" name="Google Shape;3675;p12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76" name="Google Shape;3676;p1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7" name="Google Shape;3707;p13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08" name="Google Shape;3708;p1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9" name="Google Shape;3739;p13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40" name="Google Shape;3740;p1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1" name="Google Shape;3771;p13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72" name="Google Shape;3772;p1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3" name="Google Shape;3803;p13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04" name="Google Shape;3804;p1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5" name="Google Shape;3835;p13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36" name="Google Shape;3836;p1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7" name="Google Shape;3867;p13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68" name="Google Shape;3868;p1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9" name="Google Shape;3899;p13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00" name="Google Shape;3900;p1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1" name="Google Shape;3931;p13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32" name="Google Shape;3932;p1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4" name="Google Shape;3964;p13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65" name="Google Shape;3965;p1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4" name="Google Shape;3994;p1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95" name="Google Shape;3995;p1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6" name="Google Shape;4026;p14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27" name="Google Shape;4027;p1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9" name="Google Shape;4059;p14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60" name="Google Shape;4060;p14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2" name="Google Shape;4092;p14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93" name="Google Shape;4093;p1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5" name="Google Shape;4125;p14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26" name="Google Shape;4126;p1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8" name="Google Shape;4158;p14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59" name="Google Shape;4159;p1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0" name="Google Shape;4190;p14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91" name="Google Shape;4191;p1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3" name="Google Shape;4223;g300046f447b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24" name="Google Shape;4224;g300046f447b_0_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25" name="Google Shape;4225;g300046f447b_0_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113</a:t>
            </a:fld>
            <a:endParaRPr/>
          </a:p>
        </p:txBody>
      </p:sp>
    </p:spTree>
  </p:cSld>
  <p:clrMapOvr>
    <a:masterClrMapping/>
  </p:clrMapOvr>
</p:notes>
</file>

<file path=ppt/notesSlides/notesSlide1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1" name="Google Shape;4231;p14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32" name="Google Shape;4232;p1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48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5400"/>
              <a:buFont typeface="Times New Roman"/>
              <a:buNone/>
              <a:defRPr sz="5400" b="1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148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520"/>
              </a:spcBef>
              <a:spcAft>
                <a:spcPts val="0"/>
              </a:spcAft>
              <a:buClr>
                <a:schemeClr val="accent1"/>
              </a:buClr>
              <a:buSzPts val="1950"/>
              <a:buFont typeface="Arial"/>
              <a:buNone/>
              <a:defRPr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8" name="Google Shape;18;p148"/>
          <p:cNvSpPr txBox="1">
            <a:spLocks noGrp="1"/>
          </p:cNvSpPr>
          <p:nvPr>
            <p:ph type="dt" idx="10"/>
          </p:nvPr>
        </p:nvSpPr>
        <p:spPr>
          <a:xfrm>
            <a:off x="855617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2E75B5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fld id="{4821EC2B-A7F6-4AB1-90F1-FA160039313E}" type="datetime1">
              <a:rPr lang="en-US" smtClean="0"/>
              <a:t>1/12/2026</a:t>
            </a:fld>
            <a:endParaRPr/>
          </a:p>
        </p:txBody>
      </p:sp>
      <p:sp>
        <p:nvSpPr>
          <p:cNvPr id="19" name="Google Shape;19;p148"/>
          <p:cNvSpPr txBox="1">
            <a:spLocks noGrp="1"/>
          </p:cNvSpPr>
          <p:nvPr>
            <p:ph type="ftr" idx="11"/>
          </p:nvPr>
        </p:nvSpPr>
        <p:spPr>
          <a:xfrm>
            <a:off x="4056017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accent2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Lec Asif Abrar, Dept of CSE, UIU</a:t>
            </a:r>
            <a:endParaRPr/>
          </a:p>
        </p:txBody>
      </p:sp>
      <p:sp>
        <p:nvSpPr>
          <p:cNvPr id="20" name="Google Shape;20;p148"/>
          <p:cNvSpPr txBox="1">
            <a:spLocks noGrp="1"/>
          </p:cNvSpPr>
          <p:nvPr>
            <p:ph type="sldNum" idx="12"/>
          </p:nvPr>
        </p:nvSpPr>
        <p:spPr>
          <a:xfrm>
            <a:off x="8628017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1200" b="0" i="0" u="none" strike="noStrike" cap="none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spcBef>
                <a:spcPts val="0"/>
              </a:spcBef>
              <a:buNone/>
              <a:defRPr sz="1200" b="0" i="0" u="none" strike="noStrike" cap="none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spcBef>
                <a:spcPts val="0"/>
              </a:spcBef>
              <a:buNone/>
              <a:defRPr sz="1200" b="0" i="0" u="none" strike="noStrike" cap="none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spcBef>
                <a:spcPts val="0"/>
              </a:spcBef>
              <a:buNone/>
              <a:defRPr sz="1200" b="0" i="0" u="none" strike="noStrike" cap="none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spcBef>
                <a:spcPts val="0"/>
              </a:spcBef>
              <a:buNone/>
              <a:defRPr sz="1200" b="0" i="0" u="none" strike="noStrike" cap="none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spcBef>
                <a:spcPts val="0"/>
              </a:spcBef>
              <a:buNone/>
              <a:defRPr sz="1200" b="0" i="0" u="none" strike="noStrike" cap="none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spcBef>
                <a:spcPts val="0"/>
              </a:spcBef>
              <a:buNone/>
              <a:defRPr sz="1200" b="0" i="0" u="none" strike="noStrike" cap="none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spcBef>
                <a:spcPts val="0"/>
              </a:spcBef>
              <a:buNone/>
              <a:defRPr sz="1200" b="0" i="0" u="none" strike="noStrike" cap="none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spcBef>
                <a:spcPts val="0"/>
              </a:spcBef>
              <a:buNone/>
              <a:defRPr sz="1200" b="0" i="0" u="none" strike="noStrike" cap="none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grpSp>
        <p:nvGrpSpPr>
          <p:cNvPr id="21" name="Google Shape;21;p148"/>
          <p:cNvGrpSpPr/>
          <p:nvPr/>
        </p:nvGrpSpPr>
        <p:grpSpPr>
          <a:xfrm>
            <a:off x="0" y="837288"/>
            <a:ext cx="12192000" cy="70982"/>
            <a:chOff x="838200" y="1349257"/>
            <a:chExt cx="9144000" cy="76200"/>
          </a:xfrm>
        </p:grpSpPr>
        <p:sp>
          <p:nvSpPr>
            <p:cNvPr id="22" name="Google Shape;22;p148"/>
            <p:cNvSpPr/>
            <p:nvPr/>
          </p:nvSpPr>
          <p:spPr>
            <a:xfrm>
              <a:off x="838200" y="1349257"/>
              <a:ext cx="4572000" cy="76200"/>
            </a:xfrm>
            <a:prstGeom prst="rect">
              <a:avLst/>
            </a:prstGeom>
            <a:gradFill>
              <a:gsLst>
                <a:gs pos="0">
                  <a:srgbClr val="FF8200"/>
                </a:gs>
                <a:gs pos="10001">
                  <a:srgbClr val="FF0000"/>
                </a:gs>
                <a:gs pos="35001">
                  <a:srgbClr val="BA0066"/>
                </a:gs>
                <a:gs pos="70000">
                  <a:srgbClr val="66008F"/>
                </a:gs>
                <a:gs pos="100000">
                  <a:srgbClr val="000082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23" name="Google Shape;23;p148"/>
            <p:cNvSpPr/>
            <p:nvPr/>
          </p:nvSpPr>
          <p:spPr>
            <a:xfrm>
              <a:off x="5410200" y="1349257"/>
              <a:ext cx="4572000" cy="76200"/>
            </a:xfrm>
            <a:prstGeom prst="rect">
              <a:avLst/>
            </a:prstGeom>
            <a:gradFill>
              <a:gsLst>
                <a:gs pos="0">
                  <a:srgbClr val="000082"/>
                </a:gs>
                <a:gs pos="100000">
                  <a:schemeClr val="lt1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149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5400"/>
              <a:buFont typeface="Times New Roman"/>
              <a:buNone/>
              <a:defRPr sz="5400" b="1" cap="non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149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7" name="Google Shape;27;p149"/>
          <p:cNvSpPr txBox="1">
            <a:spLocks noGrp="1"/>
          </p:cNvSpPr>
          <p:nvPr>
            <p:ph type="dt" idx="10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2E75B5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fld id="{64D6502B-D1DA-4814-BC98-1EE500AAA5A8}" type="datetime1">
              <a:rPr lang="en-US" smtClean="0"/>
              <a:t>1/12/2026</a:t>
            </a:fld>
            <a:endParaRPr/>
          </a:p>
        </p:txBody>
      </p:sp>
      <p:sp>
        <p:nvSpPr>
          <p:cNvPr id="28" name="Google Shape;28;p149"/>
          <p:cNvSpPr txBox="1">
            <a:spLocks noGrp="1"/>
          </p:cNvSpPr>
          <p:nvPr>
            <p:ph type="ftr" idx="11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accent2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Lec Asif Abrar, Dept of CSE, UIU</a:t>
            </a:r>
            <a:endParaRPr/>
          </a:p>
        </p:txBody>
      </p:sp>
      <p:sp>
        <p:nvSpPr>
          <p:cNvPr id="29" name="Google Shape;29;p149"/>
          <p:cNvSpPr txBox="1">
            <a:spLocks noGrp="1"/>
          </p:cNvSpPr>
          <p:nvPr>
            <p:ph type="sldNum" idx="12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1200" b="0" i="0" u="none" strike="noStrike" cap="none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spcBef>
                <a:spcPts val="0"/>
              </a:spcBef>
              <a:buNone/>
              <a:defRPr sz="1200" b="0" i="0" u="none" strike="noStrike" cap="none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spcBef>
                <a:spcPts val="0"/>
              </a:spcBef>
              <a:buNone/>
              <a:defRPr sz="1200" b="0" i="0" u="none" strike="noStrike" cap="none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spcBef>
                <a:spcPts val="0"/>
              </a:spcBef>
              <a:buNone/>
              <a:defRPr sz="1200" b="0" i="0" u="none" strike="noStrike" cap="none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spcBef>
                <a:spcPts val="0"/>
              </a:spcBef>
              <a:buNone/>
              <a:defRPr sz="1200" b="0" i="0" u="none" strike="noStrike" cap="none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spcBef>
                <a:spcPts val="0"/>
              </a:spcBef>
              <a:buNone/>
              <a:defRPr sz="1200" b="0" i="0" u="none" strike="noStrike" cap="none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spcBef>
                <a:spcPts val="0"/>
              </a:spcBef>
              <a:buNone/>
              <a:defRPr sz="1200" b="0" i="0" u="none" strike="noStrike" cap="none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spcBef>
                <a:spcPts val="0"/>
              </a:spcBef>
              <a:buNone/>
              <a:defRPr sz="1200" b="0" i="0" u="none" strike="noStrike" cap="none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spcBef>
                <a:spcPts val="0"/>
              </a:spcBef>
              <a:buNone/>
              <a:defRPr sz="1200" b="0" i="0" u="none" strike="noStrike" cap="none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grpSp>
        <p:nvGrpSpPr>
          <p:cNvPr id="30" name="Google Shape;30;p149"/>
          <p:cNvGrpSpPr/>
          <p:nvPr/>
        </p:nvGrpSpPr>
        <p:grpSpPr>
          <a:xfrm>
            <a:off x="0" y="837288"/>
            <a:ext cx="12192000" cy="70982"/>
            <a:chOff x="838200" y="1349257"/>
            <a:chExt cx="9144000" cy="76200"/>
          </a:xfrm>
        </p:grpSpPr>
        <p:sp>
          <p:nvSpPr>
            <p:cNvPr id="31" name="Google Shape;31;p149"/>
            <p:cNvSpPr/>
            <p:nvPr/>
          </p:nvSpPr>
          <p:spPr>
            <a:xfrm>
              <a:off x="838200" y="1349257"/>
              <a:ext cx="4572000" cy="76200"/>
            </a:xfrm>
            <a:prstGeom prst="rect">
              <a:avLst/>
            </a:prstGeom>
            <a:gradFill>
              <a:gsLst>
                <a:gs pos="0">
                  <a:srgbClr val="FF8200"/>
                </a:gs>
                <a:gs pos="10001">
                  <a:srgbClr val="FF0000"/>
                </a:gs>
                <a:gs pos="35001">
                  <a:srgbClr val="BA0066"/>
                </a:gs>
                <a:gs pos="70000">
                  <a:srgbClr val="66008F"/>
                </a:gs>
                <a:gs pos="100000">
                  <a:srgbClr val="000082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32" name="Google Shape;32;p149"/>
            <p:cNvSpPr/>
            <p:nvPr/>
          </p:nvSpPr>
          <p:spPr>
            <a:xfrm>
              <a:off x="5410200" y="1349257"/>
              <a:ext cx="4572000" cy="76200"/>
            </a:xfrm>
            <a:prstGeom prst="rect">
              <a:avLst/>
            </a:prstGeom>
            <a:gradFill>
              <a:gsLst>
                <a:gs pos="0">
                  <a:srgbClr val="000082"/>
                </a:gs>
                <a:gs pos="100000">
                  <a:schemeClr val="lt1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>
  <p:cSld name="Title and Content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50"/>
          <p:cNvSpPr txBox="1">
            <a:spLocks noGrp="1"/>
          </p:cNvSpPr>
          <p:nvPr>
            <p:ph type="body" idx="1"/>
          </p:nvPr>
        </p:nvSpPr>
        <p:spPr>
          <a:xfrm>
            <a:off x="838200" y="1227909"/>
            <a:ext cx="10515600" cy="49490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6195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0033CC"/>
              </a:buClr>
              <a:buSzPts val="2100"/>
              <a:buFont typeface="Arial"/>
              <a:buChar char="●"/>
              <a:defRPr/>
            </a:lvl1pPr>
            <a:lvl2pPr marL="914400" marR="0" lvl="1" indent="-32766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CC0000"/>
              </a:buClr>
              <a:buSzPts val="1560"/>
              <a:buFont typeface="Arial"/>
              <a:buChar char="●"/>
              <a:defRPr/>
            </a:lvl2pPr>
            <a:lvl3pPr marL="1371600" marR="0" lvl="2" indent="-3111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33CC"/>
              </a:buClr>
              <a:buSzPts val="1300"/>
              <a:buFont typeface="Arial"/>
              <a:buChar char="●"/>
              <a:defRPr/>
            </a:lvl3pPr>
            <a:lvl4pPr marL="1828800" marR="0" lvl="3" indent="-302894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33CC"/>
              </a:buClr>
              <a:buSzPts val="1170"/>
              <a:buFont typeface="Arial"/>
              <a:buChar char="●"/>
              <a:defRPr/>
            </a:lvl4pPr>
            <a:lvl5pPr marL="2286000" marR="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Char char="–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5" name="Google Shape;35;p150"/>
          <p:cNvSpPr txBox="1">
            <a:spLocks noGrp="1"/>
          </p:cNvSpPr>
          <p:nvPr>
            <p:ph type="dt" idx="10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2E75B5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fld id="{401A679A-804D-434E-BC9B-DA5FAA2F328D}" type="datetime1">
              <a:rPr lang="en-US" smtClean="0"/>
              <a:t>1/12/2026</a:t>
            </a:fld>
            <a:endParaRPr/>
          </a:p>
        </p:txBody>
      </p:sp>
      <p:sp>
        <p:nvSpPr>
          <p:cNvPr id="36" name="Google Shape;36;p150"/>
          <p:cNvSpPr txBox="1">
            <a:spLocks noGrp="1"/>
          </p:cNvSpPr>
          <p:nvPr>
            <p:ph type="ftr" idx="11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accent2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Lec Asif Abrar, Dept of CSE, UIU</a:t>
            </a:r>
            <a:endParaRPr/>
          </a:p>
        </p:txBody>
      </p:sp>
      <p:sp>
        <p:nvSpPr>
          <p:cNvPr id="37" name="Google Shape;37;p150"/>
          <p:cNvSpPr txBox="1">
            <a:spLocks noGrp="1"/>
          </p:cNvSpPr>
          <p:nvPr>
            <p:ph type="sldNum" idx="12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1200" b="0" i="0" u="none" strike="noStrike" cap="none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spcBef>
                <a:spcPts val="0"/>
              </a:spcBef>
              <a:buNone/>
              <a:defRPr sz="1200" b="0" i="0" u="none" strike="noStrike" cap="none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spcBef>
                <a:spcPts val="0"/>
              </a:spcBef>
              <a:buNone/>
              <a:defRPr sz="1200" b="0" i="0" u="none" strike="noStrike" cap="none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spcBef>
                <a:spcPts val="0"/>
              </a:spcBef>
              <a:buNone/>
              <a:defRPr sz="1200" b="0" i="0" u="none" strike="noStrike" cap="none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spcBef>
                <a:spcPts val="0"/>
              </a:spcBef>
              <a:buNone/>
              <a:defRPr sz="1200" b="0" i="0" u="none" strike="noStrike" cap="none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spcBef>
                <a:spcPts val="0"/>
              </a:spcBef>
              <a:buNone/>
              <a:defRPr sz="1200" b="0" i="0" u="none" strike="noStrike" cap="none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spcBef>
                <a:spcPts val="0"/>
              </a:spcBef>
              <a:buNone/>
              <a:defRPr sz="1200" b="0" i="0" u="none" strike="noStrike" cap="none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spcBef>
                <a:spcPts val="0"/>
              </a:spcBef>
              <a:buNone/>
              <a:defRPr sz="1200" b="0" i="0" u="none" strike="noStrike" cap="none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spcBef>
                <a:spcPts val="0"/>
              </a:spcBef>
              <a:buNone/>
              <a:defRPr sz="1200" b="0" i="0" u="none" strike="noStrike" cap="none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8" name="Google Shape;38;p150"/>
          <p:cNvSpPr txBox="1">
            <a:spLocks noGrp="1"/>
          </p:cNvSpPr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  <a:defRPr sz="4000" b="1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39" name="Google Shape;39;p150"/>
          <p:cNvGrpSpPr/>
          <p:nvPr/>
        </p:nvGrpSpPr>
        <p:grpSpPr>
          <a:xfrm>
            <a:off x="0" y="837288"/>
            <a:ext cx="12192000" cy="70982"/>
            <a:chOff x="838200" y="1349257"/>
            <a:chExt cx="9144000" cy="76200"/>
          </a:xfrm>
        </p:grpSpPr>
        <p:sp>
          <p:nvSpPr>
            <p:cNvPr id="40" name="Google Shape;40;p150"/>
            <p:cNvSpPr/>
            <p:nvPr/>
          </p:nvSpPr>
          <p:spPr>
            <a:xfrm>
              <a:off x="838200" y="1349257"/>
              <a:ext cx="4572000" cy="76200"/>
            </a:xfrm>
            <a:prstGeom prst="rect">
              <a:avLst/>
            </a:prstGeom>
            <a:gradFill>
              <a:gsLst>
                <a:gs pos="0">
                  <a:srgbClr val="FF8200"/>
                </a:gs>
                <a:gs pos="10001">
                  <a:srgbClr val="FF0000"/>
                </a:gs>
                <a:gs pos="35001">
                  <a:srgbClr val="BA0066"/>
                </a:gs>
                <a:gs pos="70000">
                  <a:srgbClr val="66008F"/>
                </a:gs>
                <a:gs pos="100000">
                  <a:srgbClr val="000082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41" name="Google Shape;41;p150"/>
            <p:cNvSpPr/>
            <p:nvPr/>
          </p:nvSpPr>
          <p:spPr>
            <a:xfrm>
              <a:off x="5410200" y="1349257"/>
              <a:ext cx="4572000" cy="76200"/>
            </a:xfrm>
            <a:prstGeom prst="rect">
              <a:avLst/>
            </a:prstGeom>
            <a:gradFill>
              <a:gsLst>
                <a:gs pos="0">
                  <a:srgbClr val="000082"/>
                </a:gs>
                <a:gs pos="100000">
                  <a:schemeClr val="lt1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>
  <p:cSld name="Two Content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151"/>
          <p:cNvSpPr txBox="1">
            <a:spLocks noGrp="1"/>
          </p:cNvSpPr>
          <p:nvPr>
            <p:ph type="body" idx="1"/>
          </p:nvPr>
        </p:nvSpPr>
        <p:spPr>
          <a:xfrm>
            <a:off x="838200" y="1347537"/>
            <a:ext cx="5181600" cy="48294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6195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0033CC"/>
              </a:buClr>
              <a:buSzPts val="2100"/>
              <a:buFont typeface="Arial"/>
              <a:buChar char="●"/>
              <a:defRPr/>
            </a:lvl1pPr>
            <a:lvl2pPr marL="914400" marR="0" lvl="1" indent="-32766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CC0000"/>
              </a:buClr>
              <a:buSzPts val="1560"/>
              <a:buFont typeface="Arial"/>
              <a:buChar char="●"/>
              <a:defRPr/>
            </a:lvl2pPr>
            <a:lvl3pPr marL="1371600" marR="0" lvl="2" indent="-3111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33CC"/>
              </a:buClr>
              <a:buSzPts val="1300"/>
              <a:buFont typeface="Arial"/>
              <a:buChar char="●"/>
              <a:defRPr/>
            </a:lvl3pPr>
            <a:lvl4pPr marL="1828800" marR="0" lvl="3" indent="-302894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33CC"/>
              </a:buClr>
              <a:buSzPts val="1170"/>
              <a:buFont typeface="Arial"/>
              <a:buChar char="●"/>
              <a:defRPr/>
            </a:lvl4pPr>
            <a:lvl5pPr marL="2286000" marR="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Char char="–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4" name="Google Shape;44;p151"/>
          <p:cNvSpPr txBox="1">
            <a:spLocks noGrp="1"/>
          </p:cNvSpPr>
          <p:nvPr>
            <p:ph type="body" idx="2"/>
          </p:nvPr>
        </p:nvSpPr>
        <p:spPr>
          <a:xfrm>
            <a:off x="6172200" y="1347537"/>
            <a:ext cx="5181600" cy="48294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6195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0033CC"/>
              </a:buClr>
              <a:buSzPts val="2100"/>
              <a:buFont typeface="Arial"/>
              <a:buChar char="●"/>
              <a:defRPr/>
            </a:lvl1pPr>
            <a:lvl2pPr marL="914400" marR="0" lvl="1" indent="-32766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CC0000"/>
              </a:buClr>
              <a:buSzPts val="1560"/>
              <a:buFont typeface="Arial"/>
              <a:buChar char="●"/>
              <a:defRPr/>
            </a:lvl2pPr>
            <a:lvl3pPr marL="1371600" marR="0" lvl="2" indent="-3111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33CC"/>
              </a:buClr>
              <a:buSzPts val="1300"/>
              <a:buFont typeface="Arial"/>
              <a:buChar char="●"/>
              <a:defRPr/>
            </a:lvl3pPr>
            <a:lvl4pPr marL="1828800" marR="0" lvl="3" indent="-302894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33CC"/>
              </a:buClr>
              <a:buSzPts val="1170"/>
              <a:buFont typeface="Arial"/>
              <a:buChar char="●"/>
              <a:defRPr/>
            </a:lvl4pPr>
            <a:lvl5pPr marL="2286000" marR="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Char char="–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5" name="Google Shape;45;p151"/>
          <p:cNvSpPr txBox="1">
            <a:spLocks noGrp="1"/>
          </p:cNvSpPr>
          <p:nvPr>
            <p:ph type="dt" idx="10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2E75B5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fld id="{9715D7B8-FCD9-4E7C-ADAF-99AC1E2C1FC7}" type="datetime1">
              <a:rPr lang="en-US" smtClean="0"/>
              <a:t>1/12/2026</a:t>
            </a:fld>
            <a:endParaRPr/>
          </a:p>
        </p:txBody>
      </p:sp>
      <p:sp>
        <p:nvSpPr>
          <p:cNvPr id="46" name="Google Shape;46;p151"/>
          <p:cNvSpPr txBox="1">
            <a:spLocks noGrp="1"/>
          </p:cNvSpPr>
          <p:nvPr>
            <p:ph type="ftr" idx="11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accent2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Lec Asif Abrar, Dept of CSE, UIU</a:t>
            </a:r>
            <a:endParaRPr/>
          </a:p>
        </p:txBody>
      </p:sp>
      <p:sp>
        <p:nvSpPr>
          <p:cNvPr id="47" name="Google Shape;47;p151"/>
          <p:cNvSpPr txBox="1">
            <a:spLocks noGrp="1"/>
          </p:cNvSpPr>
          <p:nvPr>
            <p:ph type="sldNum" idx="12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1200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spcBef>
                <a:spcPts val="0"/>
              </a:spcBef>
              <a:buNone/>
              <a:defRPr sz="1200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spcBef>
                <a:spcPts val="0"/>
              </a:spcBef>
              <a:buNone/>
              <a:defRPr sz="1200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spcBef>
                <a:spcPts val="0"/>
              </a:spcBef>
              <a:buNone/>
              <a:defRPr sz="1200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spcBef>
                <a:spcPts val="0"/>
              </a:spcBef>
              <a:buNone/>
              <a:defRPr sz="1200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spcBef>
                <a:spcPts val="0"/>
              </a:spcBef>
              <a:buNone/>
              <a:defRPr sz="1200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spcBef>
                <a:spcPts val="0"/>
              </a:spcBef>
              <a:buNone/>
              <a:defRPr sz="1200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spcBef>
                <a:spcPts val="0"/>
              </a:spcBef>
              <a:buNone/>
              <a:defRPr sz="1200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spcBef>
                <a:spcPts val="0"/>
              </a:spcBef>
              <a:buNone/>
              <a:defRPr sz="1200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8" name="Google Shape;48;p151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387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  <a:defRPr sz="4000" b="1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49" name="Google Shape;49;p151"/>
          <p:cNvGrpSpPr/>
          <p:nvPr/>
        </p:nvGrpSpPr>
        <p:grpSpPr>
          <a:xfrm>
            <a:off x="0" y="837288"/>
            <a:ext cx="12192000" cy="70982"/>
            <a:chOff x="838200" y="1349257"/>
            <a:chExt cx="9144000" cy="76200"/>
          </a:xfrm>
        </p:grpSpPr>
        <p:sp>
          <p:nvSpPr>
            <p:cNvPr id="50" name="Google Shape;50;p151"/>
            <p:cNvSpPr/>
            <p:nvPr/>
          </p:nvSpPr>
          <p:spPr>
            <a:xfrm>
              <a:off x="838200" y="1349257"/>
              <a:ext cx="4572000" cy="76200"/>
            </a:xfrm>
            <a:prstGeom prst="rect">
              <a:avLst/>
            </a:prstGeom>
            <a:gradFill>
              <a:gsLst>
                <a:gs pos="0">
                  <a:srgbClr val="FF8200"/>
                </a:gs>
                <a:gs pos="10001">
                  <a:srgbClr val="FF0000"/>
                </a:gs>
                <a:gs pos="35001">
                  <a:srgbClr val="BA0066"/>
                </a:gs>
                <a:gs pos="70000">
                  <a:srgbClr val="66008F"/>
                </a:gs>
                <a:gs pos="100000">
                  <a:srgbClr val="000082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51" name="Google Shape;51;p151"/>
            <p:cNvSpPr/>
            <p:nvPr/>
          </p:nvSpPr>
          <p:spPr>
            <a:xfrm>
              <a:off x="5410200" y="1349257"/>
              <a:ext cx="4572000" cy="76200"/>
            </a:xfrm>
            <a:prstGeom prst="rect">
              <a:avLst/>
            </a:prstGeom>
            <a:gradFill>
              <a:gsLst>
                <a:gs pos="0">
                  <a:srgbClr val="000082"/>
                </a:gs>
                <a:gs pos="100000">
                  <a:schemeClr val="lt1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>
  <p:cSld name="Comparison"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52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54" name="Google Shape;54;p152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6195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0033CC"/>
              </a:buClr>
              <a:buSzPts val="2100"/>
              <a:buFont typeface="Arial"/>
              <a:buChar char="●"/>
              <a:defRPr/>
            </a:lvl1pPr>
            <a:lvl2pPr marL="914400" marR="0" lvl="1" indent="-32766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CC0000"/>
              </a:buClr>
              <a:buSzPts val="1560"/>
              <a:buFont typeface="Arial"/>
              <a:buChar char="●"/>
              <a:defRPr/>
            </a:lvl2pPr>
            <a:lvl3pPr marL="1371600" marR="0" lvl="2" indent="-3111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33CC"/>
              </a:buClr>
              <a:buSzPts val="1300"/>
              <a:buFont typeface="Arial"/>
              <a:buChar char="●"/>
              <a:defRPr/>
            </a:lvl3pPr>
            <a:lvl4pPr marL="1828800" marR="0" lvl="3" indent="-302894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33CC"/>
              </a:buClr>
              <a:buSzPts val="1170"/>
              <a:buFont typeface="Arial"/>
              <a:buChar char="●"/>
              <a:defRPr/>
            </a:lvl4pPr>
            <a:lvl5pPr marL="2286000" marR="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Char char="–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5" name="Google Shape;55;p152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56" name="Google Shape;56;p152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6195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0033CC"/>
              </a:buClr>
              <a:buSzPts val="2100"/>
              <a:buFont typeface="Arial"/>
              <a:buChar char="●"/>
              <a:defRPr/>
            </a:lvl1pPr>
            <a:lvl2pPr marL="914400" marR="0" lvl="1" indent="-32766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CC0000"/>
              </a:buClr>
              <a:buSzPts val="1560"/>
              <a:buFont typeface="Arial"/>
              <a:buChar char="●"/>
              <a:defRPr/>
            </a:lvl2pPr>
            <a:lvl3pPr marL="1371600" marR="0" lvl="2" indent="-3111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33CC"/>
              </a:buClr>
              <a:buSzPts val="1300"/>
              <a:buFont typeface="Arial"/>
              <a:buChar char="●"/>
              <a:defRPr/>
            </a:lvl3pPr>
            <a:lvl4pPr marL="1828800" marR="0" lvl="3" indent="-302894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33CC"/>
              </a:buClr>
              <a:buSzPts val="1170"/>
              <a:buFont typeface="Arial"/>
              <a:buChar char="●"/>
              <a:defRPr/>
            </a:lvl4pPr>
            <a:lvl5pPr marL="2286000" marR="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Char char="–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7" name="Google Shape;57;p152"/>
          <p:cNvSpPr txBox="1">
            <a:spLocks noGrp="1"/>
          </p:cNvSpPr>
          <p:nvPr>
            <p:ph type="dt" idx="10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2E75B5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fld id="{74CCF1B9-7C73-4D0D-8FF0-BEA390EC0033}" type="datetime1">
              <a:rPr lang="en-US" smtClean="0"/>
              <a:t>1/12/2026</a:t>
            </a:fld>
            <a:endParaRPr/>
          </a:p>
        </p:txBody>
      </p:sp>
      <p:sp>
        <p:nvSpPr>
          <p:cNvPr id="58" name="Google Shape;58;p152"/>
          <p:cNvSpPr txBox="1">
            <a:spLocks noGrp="1"/>
          </p:cNvSpPr>
          <p:nvPr>
            <p:ph type="ftr" idx="11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accent2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Lec Asif Abrar, Dept of CSE, UIU</a:t>
            </a:r>
            <a:endParaRPr/>
          </a:p>
        </p:txBody>
      </p:sp>
      <p:sp>
        <p:nvSpPr>
          <p:cNvPr id="59" name="Google Shape;59;p152"/>
          <p:cNvSpPr txBox="1">
            <a:spLocks noGrp="1"/>
          </p:cNvSpPr>
          <p:nvPr>
            <p:ph type="sldNum" idx="12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1200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spcBef>
                <a:spcPts val="0"/>
              </a:spcBef>
              <a:buNone/>
              <a:defRPr sz="1200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spcBef>
                <a:spcPts val="0"/>
              </a:spcBef>
              <a:buNone/>
              <a:defRPr sz="1200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spcBef>
                <a:spcPts val="0"/>
              </a:spcBef>
              <a:buNone/>
              <a:defRPr sz="1200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spcBef>
                <a:spcPts val="0"/>
              </a:spcBef>
              <a:buNone/>
              <a:defRPr sz="1200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spcBef>
                <a:spcPts val="0"/>
              </a:spcBef>
              <a:buNone/>
              <a:defRPr sz="1200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spcBef>
                <a:spcPts val="0"/>
              </a:spcBef>
              <a:buNone/>
              <a:defRPr sz="1200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spcBef>
                <a:spcPts val="0"/>
              </a:spcBef>
              <a:buNone/>
              <a:defRPr sz="1200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spcBef>
                <a:spcPts val="0"/>
              </a:spcBef>
              <a:buNone/>
              <a:defRPr sz="1200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60" name="Google Shape;60;p152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387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  <a:defRPr sz="4000" b="1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61" name="Google Shape;61;p152"/>
          <p:cNvGrpSpPr/>
          <p:nvPr/>
        </p:nvGrpSpPr>
        <p:grpSpPr>
          <a:xfrm>
            <a:off x="0" y="837288"/>
            <a:ext cx="12192000" cy="70982"/>
            <a:chOff x="838200" y="1349257"/>
            <a:chExt cx="9144000" cy="76200"/>
          </a:xfrm>
        </p:grpSpPr>
        <p:sp>
          <p:nvSpPr>
            <p:cNvPr id="62" name="Google Shape;62;p152"/>
            <p:cNvSpPr/>
            <p:nvPr/>
          </p:nvSpPr>
          <p:spPr>
            <a:xfrm>
              <a:off x="838200" y="1349257"/>
              <a:ext cx="4572000" cy="76200"/>
            </a:xfrm>
            <a:prstGeom prst="rect">
              <a:avLst/>
            </a:prstGeom>
            <a:gradFill>
              <a:gsLst>
                <a:gs pos="0">
                  <a:srgbClr val="FF8200"/>
                </a:gs>
                <a:gs pos="10001">
                  <a:srgbClr val="FF0000"/>
                </a:gs>
                <a:gs pos="35001">
                  <a:srgbClr val="BA0066"/>
                </a:gs>
                <a:gs pos="70000">
                  <a:srgbClr val="66008F"/>
                </a:gs>
                <a:gs pos="100000">
                  <a:srgbClr val="000082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63" name="Google Shape;63;p152"/>
            <p:cNvSpPr/>
            <p:nvPr/>
          </p:nvSpPr>
          <p:spPr>
            <a:xfrm>
              <a:off x="5410200" y="1349257"/>
              <a:ext cx="4572000" cy="76200"/>
            </a:xfrm>
            <a:prstGeom prst="rect">
              <a:avLst/>
            </a:prstGeom>
            <a:gradFill>
              <a:gsLst>
                <a:gs pos="0">
                  <a:srgbClr val="000082"/>
                </a:gs>
                <a:gs pos="100000">
                  <a:schemeClr val="lt1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5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5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fld id="{58FA99F0-F4D8-4498-9CE9-CB854B20F770}" type="datetime1">
              <a:rPr lang="en-US" smtClean="0"/>
              <a:t>1/12/2026</a:t>
            </a:fld>
            <a:endParaRPr/>
          </a:p>
        </p:txBody>
      </p:sp>
      <p:sp>
        <p:nvSpPr>
          <p:cNvPr id="67" name="Google Shape;67;p15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Lec Asif Abrar, Dept of CSE, UIU</a:t>
            </a:r>
            <a:endParaRPr/>
          </a:p>
        </p:txBody>
      </p:sp>
      <p:sp>
        <p:nvSpPr>
          <p:cNvPr id="68" name="Google Shape;68;p15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5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fld id="{5C9F5E68-7E0C-4050-B65A-BF139FAE13C8}" type="datetime1">
              <a:rPr lang="en-US" smtClean="0"/>
              <a:t>1/12/2026</a:t>
            </a:fld>
            <a:endParaRPr/>
          </a:p>
        </p:txBody>
      </p:sp>
      <p:sp>
        <p:nvSpPr>
          <p:cNvPr id="71" name="Google Shape;71;p15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Lec Asif Abrar, Dept of CSE, UIU</a:t>
            </a:r>
            <a:endParaRPr/>
          </a:p>
        </p:txBody>
      </p:sp>
      <p:sp>
        <p:nvSpPr>
          <p:cNvPr id="72" name="Google Shape;72;p15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55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155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76" name="Google Shape;76;p155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77" name="Google Shape;77;p15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fld id="{731C313E-4B2A-4A69-A08E-B989A9D66AEF}" type="datetime1">
              <a:rPr lang="en-US" smtClean="0"/>
              <a:t>1/12/2026</a:t>
            </a:fld>
            <a:endParaRPr/>
          </a:p>
        </p:txBody>
      </p:sp>
      <p:sp>
        <p:nvSpPr>
          <p:cNvPr id="78" name="Google Shape;78;p15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Lec Asif Abrar, Dept of CSE, UIU</a:t>
            </a:r>
            <a:endParaRPr/>
          </a:p>
        </p:txBody>
      </p:sp>
      <p:sp>
        <p:nvSpPr>
          <p:cNvPr id="79" name="Google Shape;79;p15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56"/>
          <p:cNvSpPr txBox="1">
            <a:spLocks noGrp="1"/>
          </p:cNvSpPr>
          <p:nvPr>
            <p:ph type="title"/>
          </p:nvPr>
        </p:nvSpPr>
        <p:spPr>
          <a:xfrm>
            <a:off x="839788" y="987425"/>
            <a:ext cx="3932237" cy="1069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156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83" name="Google Shape;83;p156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84" name="Google Shape;84;p15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fld id="{6C432094-8835-48EA-881E-B8DD12BB507F}" type="datetime1">
              <a:rPr lang="en-US" smtClean="0"/>
              <a:t>1/12/2026</a:t>
            </a:fld>
            <a:endParaRPr/>
          </a:p>
        </p:txBody>
      </p:sp>
      <p:sp>
        <p:nvSpPr>
          <p:cNvPr id="85" name="Google Shape;85;p15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Lec Asif Abrar, Dept of CSE, UIU</a:t>
            </a:r>
            <a:endParaRPr/>
          </a:p>
        </p:txBody>
      </p:sp>
      <p:sp>
        <p:nvSpPr>
          <p:cNvPr id="86" name="Google Shape;86;p15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5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9" name="Google Shape;89;p157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0" name="Google Shape;90;p15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fld id="{7C4D9DD2-4153-4479-8D30-458C28CB53DB}" type="datetime1">
              <a:rPr lang="en-US" smtClean="0"/>
              <a:t>1/12/2026</a:t>
            </a:fld>
            <a:endParaRPr/>
          </a:p>
        </p:txBody>
      </p:sp>
      <p:sp>
        <p:nvSpPr>
          <p:cNvPr id="91" name="Google Shape;91;p15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Lec Asif Abrar, Dept of CSE, UIU</a:t>
            </a:r>
            <a:endParaRPr/>
          </a:p>
        </p:txBody>
      </p:sp>
      <p:sp>
        <p:nvSpPr>
          <p:cNvPr id="92" name="Google Shape;92;p15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58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5" name="Google Shape;95;p158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6" name="Google Shape;96;p15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fld id="{F088B546-7B22-45A4-9DE8-CFE097B58640}" type="datetime1">
              <a:rPr lang="en-US" smtClean="0"/>
              <a:t>1/12/2026</a:t>
            </a:fld>
            <a:endParaRPr/>
          </a:p>
        </p:txBody>
      </p:sp>
      <p:sp>
        <p:nvSpPr>
          <p:cNvPr id="97" name="Google Shape;97;p15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Lec Asif Abrar, Dept of CSE, UIU</a:t>
            </a:r>
            <a:endParaRPr/>
          </a:p>
        </p:txBody>
      </p:sp>
      <p:sp>
        <p:nvSpPr>
          <p:cNvPr id="98" name="Google Shape;98;p15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4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147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14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BF48734F-8D73-472C-93E0-4F93EA168627}" type="datetime1">
              <a:rPr lang="en-US" smtClean="0"/>
              <a:t>1/12/2026</a:t>
            </a:fld>
            <a:endParaRPr/>
          </a:p>
        </p:txBody>
      </p:sp>
      <p:sp>
        <p:nvSpPr>
          <p:cNvPr id="13" name="Google Shape;13;p14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r>
              <a:rPr lang="en-US"/>
              <a:t>Lec Asif Abrar, Dept of CSE, UIU</a:t>
            </a:r>
            <a:endParaRPr/>
          </a:p>
        </p:txBody>
      </p:sp>
      <p:sp>
        <p:nvSpPr>
          <p:cNvPr id="14" name="Google Shape;14;p14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3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3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3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3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3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3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3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3.xml"/></Relationships>
</file>

<file path=ppt/slides/_rels/slide4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Relationship Id="rId9" Type="http://schemas.openxmlformats.org/officeDocument/2006/relationships/image" Target="../media/image13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3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3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3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3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3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3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3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3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3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3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3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3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3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3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3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3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3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3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3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3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3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3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3.xm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3.xml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66.xml"/><Relationship Id="rId1" Type="http://schemas.openxmlformats.org/officeDocument/2006/relationships/slideLayout" Target="../slideLayouts/slideLayout3.xml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67.xml"/><Relationship Id="rId1" Type="http://schemas.openxmlformats.org/officeDocument/2006/relationships/slideLayout" Target="../slideLayouts/slideLayout3.xml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68.xml"/><Relationship Id="rId1" Type="http://schemas.openxmlformats.org/officeDocument/2006/relationships/slideLayout" Target="../slideLayouts/slideLayout3.xml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69.xml"/><Relationship Id="rId1" Type="http://schemas.openxmlformats.org/officeDocument/2006/relationships/slideLayout" Target="../slideLayouts/slideLayout3.xml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70.xml"/><Relationship Id="rId1" Type="http://schemas.openxmlformats.org/officeDocument/2006/relationships/slideLayout" Target="../slideLayouts/slideLayout3.xml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71.xml"/><Relationship Id="rId1" Type="http://schemas.openxmlformats.org/officeDocument/2006/relationships/slideLayout" Target="../slideLayouts/slideLayout3.xml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72.xml"/><Relationship Id="rId1" Type="http://schemas.openxmlformats.org/officeDocument/2006/relationships/slideLayout" Target="../slideLayouts/slideLayout3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3.xml"/><Relationship Id="rId1" Type="http://schemas.openxmlformats.org/officeDocument/2006/relationships/slideLayout" Target="../slideLayouts/slideLayout3.xml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74.xml"/><Relationship Id="rId1" Type="http://schemas.openxmlformats.org/officeDocument/2006/relationships/slideLayout" Target="../slideLayouts/slideLayout3.xml"/></Relationships>
</file>

<file path=ppt/slides/_rels/slide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75.xml"/><Relationship Id="rId1" Type="http://schemas.openxmlformats.org/officeDocument/2006/relationships/slideLayout" Target="../slideLayouts/slideLayout3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6.xml"/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7.xml"/><Relationship Id="rId1" Type="http://schemas.openxmlformats.org/officeDocument/2006/relationships/slideLayout" Target="../slideLayouts/slideLayout3.xml"/></Relationships>
</file>

<file path=ppt/slides/_rels/slide7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78.xml"/><Relationship Id="rId1" Type="http://schemas.openxmlformats.org/officeDocument/2006/relationships/slideLayout" Target="../slideLayouts/slideLayout3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9.xml"/><Relationship Id="rId1" Type="http://schemas.openxmlformats.org/officeDocument/2006/relationships/slideLayout" Target="../slideLayouts/slideLayout3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0.xml"/><Relationship Id="rId1" Type="http://schemas.openxmlformats.org/officeDocument/2006/relationships/slideLayout" Target="../slideLayouts/slideLayout3.xml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1.xml"/><Relationship Id="rId1" Type="http://schemas.openxmlformats.org/officeDocument/2006/relationships/slideLayout" Target="../slideLayouts/slideLayout3.xml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2.xml"/><Relationship Id="rId1" Type="http://schemas.openxmlformats.org/officeDocument/2006/relationships/slideLayout" Target="../slideLayouts/slideLayout3.xml"/></Relationships>
</file>

<file path=ppt/slides/_rels/slide8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3.xml"/><Relationship Id="rId1" Type="http://schemas.openxmlformats.org/officeDocument/2006/relationships/slideLayout" Target="../slideLayouts/slideLayout3.xml"/></Relationships>
</file>

<file path=ppt/slides/_rels/slide8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4.xml"/><Relationship Id="rId1" Type="http://schemas.openxmlformats.org/officeDocument/2006/relationships/slideLayout" Target="../slideLayouts/slideLayout3.xml"/></Relationships>
</file>

<file path=ppt/slides/_rels/slide8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5.xml"/><Relationship Id="rId1" Type="http://schemas.openxmlformats.org/officeDocument/2006/relationships/slideLayout" Target="../slideLayouts/slideLayout3.xml"/></Relationships>
</file>

<file path=ppt/slides/_rels/slide8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6.xml"/><Relationship Id="rId1" Type="http://schemas.openxmlformats.org/officeDocument/2006/relationships/slideLayout" Target="../slideLayouts/slideLayout3.xml"/></Relationships>
</file>

<file path=ppt/slides/_rels/slide8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7.xml"/><Relationship Id="rId1" Type="http://schemas.openxmlformats.org/officeDocument/2006/relationships/slideLayout" Target="../slideLayouts/slideLayout3.xml"/></Relationships>
</file>

<file path=ppt/slides/_rels/slide8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8.xml"/><Relationship Id="rId1" Type="http://schemas.openxmlformats.org/officeDocument/2006/relationships/slideLayout" Target="../slideLayouts/slideLayout3.xml"/></Relationships>
</file>

<file path=ppt/slides/_rels/slide8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9.xml"/><Relationship Id="rId1" Type="http://schemas.openxmlformats.org/officeDocument/2006/relationships/slideLayout" Target="../slideLayouts/slideLayout3.xml"/></Relationships>
</file>

<file path=ppt/slides/_rels/slide9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0.xml"/><Relationship Id="rId1" Type="http://schemas.openxmlformats.org/officeDocument/2006/relationships/slideLayout" Target="../slideLayouts/slideLayout3.xml"/></Relationships>
</file>

<file path=ppt/slides/_rels/slide9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1.xml"/><Relationship Id="rId1" Type="http://schemas.openxmlformats.org/officeDocument/2006/relationships/slideLayout" Target="../slideLayouts/slideLayout3.xml"/></Relationships>
</file>

<file path=ppt/slides/_rels/slide9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2.xml"/><Relationship Id="rId1" Type="http://schemas.openxmlformats.org/officeDocument/2006/relationships/slideLayout" Target="../slideLayouts/slideLayout3.xml"/></Relationships>
</file>

<file path=ppt/slides/_rels/slide9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93.xml"/><Relationship Id="rId1" Type="http://schemas.openxmlformats.org/officeDocument/2006/relationships/slideLayout" Target="../slideLayouts/slideLayout3.xml"/></Relationships>
</file>

<file path=ppt/slides/_rels/slide9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94.xml"/><Relationship Id="rId1" Type="http://schemas.openxmlformats.org/officeDocument/2006/relationships/slideLayout" Target="../slideLayouts/slideLayout3.xml"/></Relationships>
</file>

<file path=ppt/slides/_rels/slide9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5.xml"/><Relationship Id="rId1" Type="http://schemas.openxmlformats.org/officeDocument/2006/relationships/slideLayout" Target="../slideLayouts/slideLayout3.xml"/></Relationships>
</file>

<file path=ppt/slides/_rels/slide9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6.xml"/><Relationship Id="rId1" Type="http://schemas.openxmlformats.org/officeDocument/2006/relationships/slideLayout" Target="../slideLayouts/slideLayout3.xml"/></Relationships>
</file>

<file path=ppt/slides/_rels/slide9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7.xml"/><Relationship Id="rId1" Type="http://schemas.openxmlformats.org/officeDocument/2006/relationships/slideLayout" Target="../slideLayouts/slideLayout3.xml"/></Relationships>
</file>

<file path=ppt/slides/_rels/slide9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8.xml"/><Relationship Id="rId1" Type="http://schemas.openxmlformats.org/officeDocument/2006/relationships/slideLayout" Target="../slideLayouts/slideLayout3.xml"/></Relationships>
</file>

<file path=ppt/slides/_rels/slide9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9.xml"/><Relationship Id="rId1" Type="http://schemas.openxmlformats.org/officeDocument/2006/relationships/slideLayout" Target="../slideLayouts/slideLayout3.xml"/></Relationships>
</file>

<file path=ppt/slides/_rels/slide10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0.xml"/><Relationship Id="rId1" Type="http://schemas.openxmlformats.org/officeDocument/2006/relationships/slideLayout" Target="../slideLayouts/slideLayout3.xml"/></Relationships>
</file>

<file path=ppt/slides/_rels/slide10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1.xml"/><Relationship Id="rId1" Type="http://schemas.openxmlformats.org/officeDocument/2006/relationships/slideLayout" Target="../slideLayouts/slideLayout3.xml"/></Relationships>
</file>

<file path=ppt/slides/_rels/slide10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2.xml"/><Relationship Id="rId1" Type="http://schemas.openxmlformats.org/officeDocument/2006/relationships/slideLayout" Target="../slideLayouts/slideLayout3.xml"/></Relationships>
</file>

<file path=ppt/slides/_rels/slide10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03.xml"/><Relationship Id="rId1" Type="http://schemas.openxmlformats.org/officeDocument/2006/relationships/slideLayout" Target="../slideLayouts/slideLayout3.xml"/></Relationships>
</file>

<file path=ppt/slides/_rels/slide10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04.xml"/><Relationship Id="rId1" Type="http://schemas.openxmlformats.org/officeDocument/2006/relationships/slideLayout" Target="../slideLayouts/slideLayout3.xml"/></Relationships>
</file>

<file path=ppt/slides/_rels/slide10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5.xml"/><Relationship Id="rId1" Type="http://schemas.openxmlformats.org/officeDocument/2006/relationships/slideLayout" Target="../slideLayouts/slideLayout3.xml"/></Relationships>
</file>

<file path=ppt/slides/_rels/slide10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6.xml"/><Relationship Id="rId1" Type="http://schemas.openxmlformats.org/officeDocument/2006/relationships/slideLayout" Target="../slideLayouts/slideLayout3.xml"/></Relationships>
</file>

<file path=ppt/slides/_rels/slide10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7.xml"/><Relationship Id="rId1" Type="http://schemas.openxmlformats.org/officeDocument/2006/relationships/slideLayout" Target="../slideLayouts/slideLayout3.xml"/></Relationships>
</file>

<file path=ppt/slides/_rels/slide10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8.xml"/><Relationship Id="rId1" Type="http://schemas.openxmlformats.org/officeDocument/2006/relationships/slideLayout" Target="../slideLayouts/slideLayout3.xml"/></Relationships>
</file>

<file path=ppt/slides/_rels/slide10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9.xml"/><Relationship Id="rId1" Type="http://schemas.openxmlformats.org/officeDocument/2006/relationships/slideLayout" Target="../slideLayouts/slideLayout3.xml"/></Relationships>
</file>

<file path=ppt/slides/_rels/slide1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0.xml"/><Relationship Id="rId1" Type="http://schemas.openxmlformats.org/officeDocument/2006/relationships/slideLayout" Target="../slideLayouts/slideLayout3.xml"/></Relationships>
</file>

<file path=ppt/slides/_rels/slide1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1.xml"/><Relationship Id="rId1" Type="http://schemas.openxmlformats.org/officeDocument/2006/relationships/slideLayout" Target="../slideLayouts/slideLayout3.xml"/></Relationships>
</file>

<file path=ppt/slides/_rels/slide1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2.xml"/><Relationship Id="rId1" Type="http://schemas.openxmlformats.org/officeDocument/2006/relationships/slideLayout" Target="../slideLayouts/slideLayout3.xml"/></Relationships>
</file>

<file path=ppt/slides/_rels/slide1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3.xml"/><Relationship Id="rId1" Type="http://schemas.openxmlformats.org/officeDocument/2006/relationships/slideLayout" Target="../slideLayouts/slideLayout3.xml"/></Relationships>
</file>

<file path=ppt/slides/_rels/slide1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5400"/>
              <a:buFont typeface="Times New Roman"/>
              <a:buNone/>
            </a:pPr>
            <a:r>
              <a:rPr lang="en-US"/>
              <a:t>Priority Queue and Heap</a:t>
            </a:r>
            <a:endParaRPr/>
          </a:p>
        </p:txBody>
      </p:sp>
      <p:sp>
        <p:nvSpPr>
          <p:cNvPr id="104" name="Google Shape;104;p1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950"/>
              <a:buFont typeface="Arial"/>
              <a:buNone/>
            </a:pPr>
            <a:endParaRPr/>
          </a:p>
        </p:txBody>
      </p:sp>
      <p:sp>
        <p:nvSpPr>
          <p:cNvPr id="105" name="Google Shape;105;p1"/>
          <p:cNvSpPr txBox="1">
            <a:spLocks noGrp="1"/>
          </p:cNvSpPr>
          <p:nvPr>
            <p:ph type="dt" idx="10"/>
          </p:nvPr>
        </p:nvSpPr>
        <p:spPr>
          <a:xfrm>
            <a:off x="855617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5778E683-8C79-4358-8769-A627F79BFD68}" type="datetime1">
              <a:rPr lang="en-US" smtClean="0"/>
              <a:t>1/12/2026</a:t>
            </a:fld>
            <a:endParaRPr/>
          </a:p>
        </p:txBody>
      </p:sp>
      <p:sp>
        <p:nvSpPr>
          <p:cNvPr id="106" name="Google Shape;106;p1"/>
          <p:cNvSpPr txBox="1">
            <a:spLocks noGrp="1"/>
          </p:cNvSpPr>
          <p:nvPr>
            <p:ph type="ftr" idx="11"/>
          </p:nvPr>
        </p:nvSpPr>
        <p:spPr>
          <a:xfrm>
            <a:off x="4056017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Lec Asif Abrar, Dept of CSE, UIU</a:t>
            </a:r>
            <a:endParaRPr/>
          </a:p>
        </p:txBody>
      </p:sp>
      <p:sp>
        <p:nvSpPr>
          <p:cNvPr id="107" name="Google Shape;107;p1"/>
          <p:cNvSpPr txBox="1">
            <a:spLocks noGrp="1"/>
          </p:cNvSpPr>
          <p:nvPr>
            <p:ph type="sldNum" idx="12"/>
          </p:nvPr>
        </p:nvSpPr>
        <p:spPr>
          <a:xfrm>
            <a:off x="8628017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p16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5400"/>
              <a:buFont typeface="Times New Roman"/>
              <a:buNone/>
            </a:pPr>
            <a:r>
              <a:rPr lang="en-US"/>
              <a:t>BINARY HEAP</a:t>
            </a:r>
            <a:endParaRPr/>
          </a:p>
        </p:txBody>
      </p:sp>
      <p:sp>
        <p:nvSpPr>
          <p:cNvPr id="308" name="Google Shape;308;p16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endParaRPr/>
          </a:p>
        </p:txBody>
      </p:sp>
      <p:sp>
        <p:nvSpPr>
          <p:cNvPr id="309" name="Google Shape;309;p16"/>
          <p:cNvSpPr txBox="1">
            <a:spLocks noGrp="1"/>
          </p:cNvSpPr>
          <p:nvPr>
            <p:ph type="dt" idx="10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42195DF4-C8B5-40C7-9AF2-0CE765F4B6C7}" type="datetime1">
              <a:rPr lang="en-US" smtClean="0"/>
              <a:t>1/12/2026</a:t>
            </a:fld>
            <a:endParaRPr/>
          </a:p>
        </p:txBody>
      </p:sp>
      <p:sp>
        <p:nvSpPr>
          <p:cNvPr id="310" name="Google Shape;310;p16"/>
          <p:cNvSpPr txBox="1">
            <a:spLocks noGrp="1"/>
          </p:cNvSpPr>
          <p:nvPr>
            <p:ph type="ftr" idx="11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Lec Asif Abrar, Dept of CSE, UIU</a:t>
            </a:r>
            <a:endParaRPr/>
          </a:p>
        </p:txBody>
      </p:sp>
      <p:sp>
        <p:nvSpPr>
          <p:cNvPr id="311" name="Google Shape;311;p16"/>
          <p:cNvSpPr txBox="1">
            <a:spLocks noGrp="1"/>
          </p:cNvSpPr>
          <p:nvPr>
            <p:ph type="sldNum" idx="12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p17"/>
          <p:cNvSpPr txBox="1">
            <a:spLocks noGrp="1"/>
          </p:cNvSpPr>
          <p:nvPr>
            <p:ph type="body" idx="1"/>
          </p:nvPr>
        </p:nvSpPr>
        <p:spPr>
          <a:xfrm>
            <a:off x="838200" y="1227909"/>
            <a:ext cx="10515600" cy="49490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2100"/>
              <a:buFont typeface="Arial"/>
              <a:buChar char="●"/>
            </a:pPr>
            <a:r>
              <a:rPr lang="en-US"/>
              <a:t>The (binary) heap data structure is an </a:t>
            </a:r>
            <a:r>
              <a:rPr lang="en-US" b="1"/>
              <a:t>array object</a:t>
            </a:r>
            <a:r>
              <a:rPr lang="en-US"/>
              <a:t> that can be viewed as a </a:t>
            </a:r>
            <a:r>
              <a:rPr lang="en-US" b="1"/>
              <a:t>complete binary tree.</a:t>
            </a:r>
            <a:endParaRPr/>
          </a:p>
          <a:p>
            <a:pPr marL="742950" lvl="1" indent="-28575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560"/>
              <a:buChar char="●"/>
            </a:pPr>
            <a:r>
              <a:rPr lang="en-US"/>
              <a:t>Each node of the tree corresponds to an element of the array that stores the value in the node. </a:t>
            </a:r>
            <a:endParaRPr/>
          </a:p>
          <a:p>
            <a:pPr marL="742950" lvl="1" indent="-28575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560"/>
              <a:buChar char="●"/>
            </a:pPr>
            <a:r>
              <a:rPr lang="en-US"/>
              <a:t>The tree is completely filled on all levels except possibly the lowest, where it is filled from the left up to a point.</a:t>
            </a:r>
            <a:endParaRPr/>
          </a:p>
          <a:p>
            <a:pPr marL="342900" marR="0" lvl="0" indent="-20955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0033CC"/>
              </a:buClr>
              <a:buSzPts val="2100"/>
              <a:buFont typeface="Arial"/>
              <a:buNone/>
            </a:pPr>
            <a:endParaRPr/>
          </a:p>
          <a:p>
            <a:pPr marL="342900" marR="0" lvl="0" indent="-3429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0033CC"/>
              </a:buClr>
              <a:buSzPts val="2100"/>
              <a:buFont typeface="Arial"/>
              <a:buChar char="●"/>
            </a:pPr>
            <a:r>
              <a:rPr lang="en-US"/>
              <a:t>Despite the fact that it is in fact an </a:t>
            </a:r>
            <a:r>
              <a:rPr lang="en-US" b="1"/>
              <a:t>array.</a:t>
            </a:r>
            <a:endParaRPr/>
          </a:p>
          <a:p>
            <a:pPr marL="342900" marR="0" lvl="0" indent="-3429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0033CC"/>
              </a:buClr>
              <a:buSzPts val="2100"/>
              <a:buFont typeface="Arial"/>
              <a:buChar char="●"/>
            </a:pPr>
            <a:r>
              <a:rPr lang="en-US"/>
              <a:t>We will </a:t>
            </a:r>
            <a:r>
              <a:rPr lang="en-US" b="1"/>
              <a:t>imagine</a:t>
            </a:r>
            <a:r>
              <a:rPr lang="en-US"/>
              <a:t> the entire data structure to be a </a:t>
            </a:r>
            <a:r>
              <a:rPr lang="en-US" b="1"/>
              <a:t>tree.</a:t>
            </a:r>
            <a:r>
              <a:rPr lang="en-US"/>
              <a:t>	</a:t>
            </a:r>
            <a:endParaRPr/>
          </a:p>
          <a:p>
            <a:pPr marL="342900" marR="0" lvl="0" indent="-20955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0033CC"/>
              </a:buClr>
              <a:buSzPts val="2100"/>
              <a:buFont typeface="Arial"/>
              <a:buNone/>
            </a:pPr>
            <a:endParaRPr/>
          </a:p>
        </p:txBody>
      </p:sp>
      <p:sp>
        <p:nvSpPr>
          <p:cNvPr id="317" name="Google Shape;317;p17"/>
          <p:cNvSpPr txBox="1">
            <a:spLocks noGrp="1"/>
          </p:cNvSpPr>
          <p:nvPr>
            <p:ph type="dt" idx="10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1869F22D-7E2E-4CA1-8C94-F733213451D5}" type="datetime1">
              <a:rPr lang="en-US" smtClean="0"/>
              <a:t>1/12/2026</a:t>
            </a:fld>
            <a:endParaRPr/>
          </a:p>
        </p:txBody>
      </p:sp>
      <p:sp>
        <p:nvSpPr>
          <p:cNvPr id="318" name="Google Shape;318;p17"/>
          <p:cNvSpPr txBox="1">
            <a:spLocks noGrp="1"/>
          </p:cNvSpPr>
          <p:nvPr>
            <p:ph type="ftr" idx="11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Lec Asif Abrar, Dept of CSE, UIU</a:t>
            </a:r>
            <a:endParaRPr/>
          </a:p>
        </p:txBody>
      </p:sp>
      <p:sp>
        <p:nvSpPr>
          <p:cNvPr id="319" name="Google Shape;319;p17"/>
          <p:cNvSpPr txBox="1">
            <a:spLocks noGrp="1"/>
          </p:cNvSpPr>
          <p:nvPr>
            <p:ph type="sldNum" idx="12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  <p:sp>
        <p:nvSpPr>
          <p:cNvPr id="320" name="Google Shape;320;p17"/>
          <p:cNvSpPr txBox="1">
            <a:spLocks noGrp="1"/>
          </p:cNvSpPr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/>
              <a:t>Binary Heaps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p18"/>
          <p:cNvSpPr txBox="1">
            <a:spLocks noGrp="1"/>
          </p:cNvSpPr>
          <p:nvPr>
            <p:ph type="body" idx="1"/>
          </p:nvPr>
        </p:nvSpPr>
        <p:spPr>
          <a:xfrm>
            <a:off x="838200" y="1227909"/>
            <a:ext cx="10515600" cy="49490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2100"/>
              <a:buFont typeface="Arial"/>
              <a:buChar char="●"/>
            </a:pPr>
            <a:r>
              <a:rPr lang="en-US"/>
              <a:t>How can we visualize this array as a complete binary tree?</a:t>
            </a:r>
            <a:endParaRPr/>
          </a:p>
        </p:txBody>
      </p:sp>
      <p:sp>
        <p:nvSpPr>
          <p:cNvPr id="326" name="Google Shape;326;p18"/>
          <p:cNvSpPr txBox="1">
            <a:spLocks noGrp="1"/>
          </p:cNvSpPr>
          <p:nvPr>
            <p:ph type="dt" idx="10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F43F6E20-8E82-41B9-81AE-F12D0902D9B4}" type="datetime1">
              <a:rPr lang="en-US" smtClean="0"/>
              <a:t>1/12/2026</a:t>
            </a:fld>
            <a:endParaRPr/>
          </a:p>
        </p:txBody>
      </p:sp>
      <p:sp>
        <p:nvSpPr>
          <p:cNvPr id="327" name="Google Shape;327;p18"/>
          <p:cNvSpPr txBox="1">
            <a:spLocks noGrp="1"/>
          </p:cNvSpPr>
          <p:nvPr>
            <p:ph type="ftr" idx="11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Lec Asif Abrar, Dept of CSE, UIU</a:t>
            </a:r>
            <a:endParaRPr/>
          </a:p>
        </p:txBody>
      </p:sp>
      <p:sp>
        <p:nvSpPr>
          <p:cNvPr id="328" name="Google Shape;328;p18"/>
          <p:cNvSpPr txBox="1">
            <a:spLocks noGrp="1"/>
          </p:cNvSpPr>
          <p:nvPr>
            <p:ph type="sldNum" idx="12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  <p:sp>
        <p:nvSpPr>
          <p:cNvPr id="329" name="Google Shape;329;p18"/>
          <p:cNvSpPr txBox="1">
            <a:spLocks noGrp="1"/>
          </p:cNvSpPr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/>
              <a:t>Binary Heaps</a:t>
            </a:r>
            <a:endParaRPr/>
          </a:p>
        </p:txBody>
      </p:sp>
      <p:pic>
        <p:nvPicPr>
          <p:cNvPr id="330" name="Google Shape;330;p18"/>
          <p:cNvPicPr preferRelativeResize="0"/>
          <p:nvPr/>
        </p:nvPicPr>
        <p:blipFill rotWithShape="1">
          <a:blip r:embed="rId3">
            <a:alphaModFix/>
          </a:blip>
          <a:srcRect r="48171" b="19057"/>
          <a:stretch/>
        </p:blipFill>
        <p:spPr>
          <a:xfrm>
            <a:off x="3797749" y="3544481"/>
            <a:ext cx="4596501" cy="2790439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331" name="Google Shape;331;p18"/>
          <p:cNvGraphicFramePr/>
          <p:nvPr/>
        </p:nvGraphicFramePr>
        <p:xfrm>
          <a:off x="3431490" y="2571840"/>
          <a:ext cx="4722000" cy="741700"/>
        </p:xfrm>
        <a:graphic>
          <a:graphicData uri="http://schemas.openxmlformats.org/drawingml/2006/table">
            <a:tbl>
              <a:tblPr firstRow="1" bandRow="1">
                <a:noFill/>
                <a:tableStyleId>{66088737-8E24-4614-AAA7-3D08145F63E1}</a:tableStyleId>
              </a:tblPr>
              <a:tblGrid>
                <a:gridCol w="472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2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72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72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722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722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722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722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4722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47220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1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2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3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4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5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6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7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8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9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10</a:t>
                      </a:r>
                      <a:endParaRPr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16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14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10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8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7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9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3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2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4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1</a:t>
                      </a:r>
                      <a:endParaRPr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p19"/>
          <p:cNvSpPr txBox="1">
            <a:spLocks noGrp="1"/>
          </p:cNvSpPr>
          <p:nvPr>
            <p:ph type="body" idx="1"/>
          </p:nvPr>
        </p:nvSpPr>
        <p:spPr>
          <a:xfrm>
            <a:off x="838200" y="1227909"/>
            <a:ext cx="10515600" cy="49490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2100"/>
              <a:buFont typeface="Arial"/>
              <a:buChar char="●"/>
            </a:pPr>
            <a:r>
              <a:rPr lang="en-US"/>
              <a:t>Some </a:t>
            </a:r>
            <a:r>
              <a:rPr lang="en-US" b="1"/>
              <a:t>basic</a:t>
            </a:r>
            <a:r>
              <a:rPr lang="en-US"/>
              <a:t> variables and functions of a heap:</a:t>
            </a:r>
            <a:endParaRPr/>
          </a:p>
          <a:p>
            <a:pPr marL="742950" lvl="1" indent="-28575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560"/>
              <a:buChar char="●"/>
            </a:pPr>
            <a:r>
              <a:rPr lang="en-US">
                <a:solidFill>
                  <a:srgbClr val="FF0000"/>
                </a:solidFill>
              </a:rPr>
              <a:t>A.heap-size</a:t>
            </a:r>
            <a:endParaRPr/>
          </a:p>
          <a:p>
            <a:pPr marL="742950" lvl="1" indent="-28575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560"/>
              <a:buChar char="●"/>
            </a:pPr>
            <a:r>
              <a:rPr lang="en-US">
                <a:solidFill>
                  <a:srgbClr val="FF0000"/>
                </a:solidFill>
              </a:rPr>
              <a:t>A.length</a:t>
            </a:r>
            <a:endParaRPr>
              <a:solidFill>
                <a:srgbClr val="FF0000"/>
              </a:solidFill>
            </a:endParaRPr>
          </a:p>
          <a:p>
            <a:pPr marL="742950" lvl="1" indent="-28575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560"/>
              <a:buChar char="●"/>
            </a:pPr>
            <a:r>
              <a:rPr lang="en-US"/>
              <a:t>PARENT(i)</a:t>
            </a:r>
            <a:endParaRPr/>
          </a:p>
          <a:p>
            <a:pPr marL="742950" lvl="1" indent="-28575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560"/>
              <a:buChar char="●"/>
            </a:pPr>
            <a:r>
              <a:rPr lang="en-US"/>
              <a:t>LEFT(i)</a:t>
            </a:r>
            <a:endParaRPr/>
          </a:p>
          <a:p>
            <a:pPr marL="742950" lvl="1" indent="-28575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560"/>
              <a:buChar char="●"/>
            </a:pPr>
            <a:r>
              <a:rPr lang="en-US"/>
              <a:t>RIGHT(i)</a:t>
            </a:r>
            <a:endParaRPr/>
          </a:p>
          <a:p>
            <a:pPr marL="342900" marR="0" lvl="0" indent="-3429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0033CC"/>
              </a:buClr>
              <a:buSzPts val="2100"/>
              <a:buFont typeface="Arial"/>
              <a:buChar char="●"/>
            </a:pPr>
            <a:r>
              <a:rPr lang="en-US"/>
              <a:t>Let us observe the array again</a:t>
            </a:r>
            <a:endParaRPr/>
          </a:p>
        </p:txBody>
      </p:sp>
      <p:sp>
        <p:nvSpPr>
          <p:cNvPr id="337" name="Google Shape;337;p19"/>
          <p:cNvSpPr txBox="1">
            <a:spLocks noGrp="1"/>
          </p:cNvSpPr>
          <p:nvPr>
            <p:ph type="dt" idx="10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E6B0CDF2-90BD-41A0-B5FC-3B4CFA5EE104}" type="datetime1">
              <a:rPr lang="en-US" smtClean="0"/>
              <a:t>1/12/2026</a:t>
            </a:fld>
            <a:endParaRPr/>
          </a:p>
        </p:txBody>
      </p:sp>
      <p:sp>
        <p:nvSpPr>
          <p:cNvPr id="338" name="Google Shape;338;p19"/>
          <p:cNvSpPr txBox="1">
            <a:spLocks noGrp="1"/>
          </p:cNvSpPr>
          <p:nvPr>
            <p:ph type="ftr" idx="11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Lec Asif Abrar, Dept of CSE, UIU</a:t>
            </a:r>
            <a:endParaRPr/>
          </a:p>
        </p:txBody>
      </p:sp>
      <p:sp>
        <p:nvSpPr>
          <p:cNvPr id="339" name="Google Shape;339;p19"/>
          <p:cNvSpPr txBox="1">
            <a:spLocks noGrp="1"/>
          </p:cNvSpPr>
          <p:nvPr>
            <p:ph type="sldNum" idx="12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  <p:sp>
        <p:nvSpPr>
          <p:cNvPr id="340" name="Google Shape;340;p19"/>
          <p:cNvSpPr txBox="1">
            <a:spLocks noGrp="1"/>
          </p:cNvSpPr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/>
              <a:t>Binary Heaps</a:t>
            </a:r>
            <a:endParaRPr/>
          </a:p>
        </p:txBody>
      </p:sp>
      <p:graphicFrame>
        <p:nvGraphicFramePr>
          <p:cNvPr id="341" name="Google Shape;341;p19"/>
          <p:cNvGraphicFramePr/>
          <p:nvPr/>
        </p:nvGraphicFramePr>
        <p:xfrm>
          <a:off x="4520834" y="4888411"/>
          <a:ext cx="4186500" cy="741700"/>
        </p:xfrm>
        <a:graphic>
          <a:graphicData uri="http://schemas.openxmlformats.org/drawingml/2006/table">
            <a:tbl>
              <a:tblPr firstRow="1" bandRow="1">
                <a:noFill/>
                <a:tableStyleId>{66088737-8E24-4614-AAA7-3D08145F63E1}</a:tableStyleId>
              </a:tblPr>
              <a:tblGrid>
                <a:gridCol w="4186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86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186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186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186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186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186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1865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41865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41865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1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2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3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4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5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6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7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8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9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10</a:t>
                      </a:r>
                      <a:endParaRPr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16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14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10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8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7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9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3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2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4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1</a:t>
                      </a:r>
                      <a:endParaRPr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p20"/>
          <p:cNvSpPr txBox="1">
            <a:spLocks noGrp="1"/>
          </p:cNvSpPr>
          <p:nvPr>
            <p:ph type="body" idx="1"/>
          </p:nvPr>
        </p:nvSpPr>
        <p:spPr>
          <a:xfrm>
            <a:off x="838200" y="1227909"/>
            <a:ext cx="10515600" cy="49490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2100"/>
              <a:buFont typeface="Arial"/>
              <a:buChar char="●"/>
            </a:pPr>
            <a:r>
              <a:rPr lang="en-US"/>
              <a:t>Question: Who is the parent of the 7</a:t>
            </a:r>
            <a:r>
              <a:rPr lang="en-US" baseline="30000"/>
              <a:t>th</a:t>
            </a:r>
            <a:r>
              <a:rPr lang="en-US"/>
              <a:t> array element?</a:t>
            </a:r>
            <a:endParaRPr/>
          </a:p>
          <a:p>
            <a:pPr marL="342900" marR="0" lvl="0" indent="-20955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0033CC"/>
              </a:buClr>
              <a:buSzPts val="2100"/>
              <a:buFont typeface="Arial"/>
              <a:buNone/>
            </a:pPr>
            <a:endParaRPr/>
          </a:p>
          <a:p>
            <a:pPr marL="342900" marR="0" lvl="0" indent="-20955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0033CC"/>
              </a:buClr>
              <a:buSzPts val="2100"/>
              <a:buFont typeface="Arial"/>
              <a:buNone/>
            </a:pPr>
            <a:endParaRPr/>
          </a:p>
          <a:p>
            <a:pPr marL="342900" marR="0" lvl="0" indent="-20955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0033CC"/>
              </a:buClr>
              <a:buSzPts val="2100"/>
              <a:buFont typeface="Arial"/>
              <a:buNone/>
            </a:pPr>
            <a:endParaRPr/>
          </a:p>
          <a:p>
            <a:pPr marL="342900" marR="0" lvl="0" indent="-20955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0033CC"/>
              </a:buClr>
              <a:buSzPts val="2100"/>
              <a:buFont typeface="Arial"/>
              <a:buNone/>
            </a:pPr>
            <a:endParaRPr/>
          </a:p>
          <a:p>
            <a:pPr marL="342900" marR="0" lvl="0" indent="-3429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0033CC"/>
              </a:buClr>
              <a:buSzPts val="2100"/>
              <a:buFont typeface="Arial"/>
              <a:buChar char="●"/>
            </a:pPr>
            <a:r>
              <a:rPr lang="en-US"/>
              <a:t>Answer:</a:t>
            </a:r>
            <a:endParaRPr/>
          </a:p>
          <a:p>
            <a:pPr marL="742950" lvl="1" indent="-28575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560"/>
              <a:buChar char="●"/>
            </a:pPr>
            <a:r>
              <a:rPr lang="en-US"/>
              <a:t>We can draw the tree and find out</a:t>
            </a:r>
            <a:endParaRPr/>
          </a:p>
          <a:p>
            <a:pPr marL="742950" lvl="1" indent="-28575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560"/>
              <a:buChar char="●"/>
            </a:pPr>
            <a:r>
              <a:rPr lang="en-US"/>
              <a:t>We can use these functions and determine directly</a:t>
            </a:r>
            <a:endParaRPr/>
          </a:p>
        </p:txBody>
      </p:sp>
      <p:sp>
        <p:nvSpPr>
          <p:cNvPr id="347" name="Google Shape;347;p20"/>
          <p:cNvSpPr txBox="1">
            <a:spLocks noGrp="1"/>
          </p:cNvSpPr>
          <p:nvPr>
            <p:ph type="dt" idx="10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8A4A9499-0B99-4943-ACD4-D362F3A8EDC6}" type="datetime1">
              <a:rPr lang="en-US" smtClean="0"/>
              <a:t>1/12/2026</a:t>
            </a:fld>
            <a:endParaRPr/>
          </a:p>
        </p:txBody>
      </p:sp>
      <p:sp>
        <p:nvSpPr>
          <p:cNvPr id="348" name="Google Shape;348;p20"/>
          <p:cNvSpPr txBox="1">
            <a:spLocks noGrp="1"/>
          </p:cNvSpPr>
          <p:nvPr>
            <p:ph type="ftr" idx="11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Lec Asif Abrar, Dept of CSE, UIU</a:t>
            </a:r>
            <a:endParaRPr/>
          </a:p>
        </p:txBody>
      </p:sp>
      <p:sp>
        <p:nvSpPr>
          <p:cNvPr id="349" name="Google Shape;349;p20"/>
          <p:cNvSpPr txBox="1">
            <a:spLocks noGrp="1"/>
          </p:cNvSpPr>
          <p:nvPr>
            <p:ph type="sldNum" idx="12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  <p:sp>
        <p:nvSpPr>
          <p:cNvPr id="350" name="Google Shape;350;p20"/>
          <p:cNvSpPr txBox="1">
            <a:spLocks noGrp="1"/>
          </p:cNvSpPr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/>
              <a:t>Binary Heaps</a:t>
            </a:r>
            <a:endParaRPr/>
          </a:p>
        </p:txBody>
      </p:sp>
      <p:pic>
        <p:nvPicPr>
          <p:cNvPr id="351" name="Google Shape;351;p2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610600" y="1986946"/>
            <a:ext cx="2870462" cy="3881865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352" name="Google Shape;352;p20"/>
          <p:cNvGraphicFramePr/>
          <p:nvPr/>
        </p:nvGraphicFramePr>
        <p:xfrm>
          <a:off x="1262406" y="2232043"/>
          <a:ext cx="4186500" cy="741700"/>
        </p:xfrm>
        <a:graphic>
          <a:graphicData uri="http://schemas.openxmlformats.org/drawingml/2006/table">
            <a:tbl>
              <a:tblPr firstRow="1" bandRow="1">
                <a:noFill/>
                <a:tableStyleId>{66088737-8E24-4614-AAA7-3D08145F63E1}</a:tableStyleId>
              </a:tblPr>
              <a:tblGrid>
                <a:gridCol w="4186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86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186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186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186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186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186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1865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41865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41865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1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2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3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4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5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6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7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8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9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10</a:t>
                      </a:r>
                      <a:endParaRPr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16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14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10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8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7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9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3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2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4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1</a:t>
                      </a:r>
                      <a:endParaRPr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p21"/>
          <p:cNvSpPr txBox="1">
            <a:spLocks noGrp="1"/>
          </p:cNvSpPr>
          <p:nvPr>
            <p:ph type="body" idx="1"/>
          </p:nvPr>
        </p:nvSpPr>
        <p:spPr>
          <a:xfrm>
            <a:off x="838200" y="1227909"/>
            <a:ext cx="10515600" cy="49490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2100"/>
              <a:buFont typeface="Arial"/>
              <a:buChar char="●"/>
            </a:pPr>
            <a:r>
              <a:rPr lang="en-US"/>
              <a:t>Max-Heaps </a:t>
            </a:r>
            <a:endParaRPr/>
          </a:p>
          <a:p>
            <a:pPr marL="742950" lvl="1" indent="-28575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560"/>
              <a:buChar char="●"/>
            </a:pPr>
            <a:r>
              <a:rPr lang="en-US"/>
              <a:t>Satisfies the heap property: </a:t>
            </a:r>
            <a:r>
              <a:rPr lang="en-US" b="1"/>
              <a:t>A[Parent(i)] &gt;= A[i] </a:t>
            </a:r>
            <a:r>
              <a:rPr lang="en-US"/>
              <a:t>for all nodes i &gt; 1</a:t>
            </a:r>
            <a:endParaRPr/>
          </a:p>
          <a:p>
            <a:pPr marL="1143000" lvl="2" indent="-228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300"/>
              <a:buChar char="●"/>
            </a:pPr>
            <a:r>
              <a:rPr lang="en-US"/>
              <a:t>The value of a node is at most the value of its parent </a:t>
            </a:r>
            <a:endParaRPr/>
          </a:p>
          <a:p>
            <a:pPr marL="742950" lvl="1" indent="-28575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560"/>
              <a:buChar char="●"/>
            </a:pPr>
            <a:r>
              <a:rPr lang="en-US"/>
              <a:t>The </a:t>
            </a:r>
            <a:r>
              <a:rPr lang="en-US" b="1"/>
              <a:t>largest element </a:t>
            </a:r>
            <a:r>
              <a:rPr lang="en-US"/>
              <a:t>in a max-heap is stored at the </a:t>
            </a:r>
            <a:r>
              <a:rPr lang="en-US" b="1"/>
              <a:t>root</a:t>
            </a:r>
            <a:r>
              <a:rPr lang="en-US"/>
              <a:t> </a:t>
            </a:r>
            <a:endParaRPr/>
          </a:p>
          <a:p>
            <a:pPr marL="742950" lvl="1" indent="-28575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560"/>
              <a:buChar char="●"/>
            </a:pPr>
            <a:r>
              <a:rPr lang="en-US"/>
              <a:t>Where is the </a:t>
            </a:r>
            <a:r>
              <a:rPr lang="en-US" b="1"/>
              <a:t>smallest</a:t>
            </a:r>
            <a:r>
              <a:rPr lang="en-US"/>
              <a:t> </a:t>
            </a:r>
            <a:r>
              <a:rPr lang="en-US" b="1"/>
              <a:t>element</a:t>
            </a:r>
            <a:r>
              <a:rPr lang="en-US"/>
              <a:t> ? </a:t>
            </a:r>
            <a:endParaRPr/>
          </a:p>
          <a:p>
            <a:pPr marL="1143000" lvl="2" indent="-228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300"/>
              <a:buChar char="●"/>
            </a:pPr>
            <a:r>
              <a:rPr lang="en-US"/>
              <a:t>Ans: At one of the </a:t>
            </a:r>
            <a:r>
              <a:rPr lang="en-US" b="1"/>
              <a:t>leaves</a:t>
            </a:r>
            <a:r>
              <a:rPr lang="en-US"/>
              <a:t> [leaf indices are n/2+1 to n]</a:t>
            </a:r>
            <a:endParaRPr/>
          </a:p>
        </p:txBody>
      </p:sp>
      <p:sp>
        <p:nvSpPr>
          <p:cNvPr id="358" name="Google Shape;358;p21"/>
          <p:cNvSpPr txBox="1">
            <a:spLocks noGrp="1"/>
          </p:cNvSpPr>
          <p:nvPr>
            <p:ph type="dt" idx="10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475D3A12-EA2D-4E18-AC9D-43C6F8643392}" type="datetime1">
              <a:rPr lang="en-US" smtClean="0"/>
              <a:t>1/12/2026</a:t>
            </a:fld>
            <a:endParaRPr/>
          </a:p>
        </p:txBody>
      </p:sp>
      <p:sp>
        <p:nvSpPr>
          <p:cNvPr id="359" name="Google Shape;359;p21"/>
          <p:cNvSpPr txBox="1">
            <a:spLocks noGrp="1"/>
          </p:cNvSpPr>
          <p:nvPr>
            <p:ph type="ftr" idx="11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Lec Asif Abrar, Dept of CSE, UIU</a:t>
            </a:r>
            <a:endParaRPr/>
          </a:p>
        </p:txBody>
      </p:sp>
      <p:sp>
        <p:nvSpPr>
          <p:cNvPr id="360" name="Google Shape;360;p21"/>
          <p:cNvSpPr txBox="1">
            <a:spLocks noGrp="1"/>
          </p:cNvSpPr>
          <p:nvPr>
            <p:ph type="sldNum" idx="12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  <p:sp>
        <p:nvSpPr>
          <p:cNvPr id="361" name="Google Shape;361;p21"/>
          <p:cNvSpPr txBox="1">
            <a:spLocks noGrp="1"/>
          </p:cNvSpPr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/>
              <a:t>Max Heap and Min Heap</a:t>
            </a:r>
            <a:endParaRPr/>
          </a:p>
        </p:txBody>
      </p:sp>
      <p:pic>
        <p:nvPicPr>
          <p:cNvPr id="362" name="Google Shape;362;p21"/>
          <p:cNvPicPr preferRelativeResize="0"/>
          <p:nvPr/>
        </p:nvPicPr>
        <p:blipFill rotWithShape="1">
          <a:blip r:embed="rId3">
            <a:alphaModFix/>
          </a:blip>
          <a:srcRect t="6878"/>
          <a:stretch/>
        </p:blipFill>
        <p:spPr>
          <a:xfrm>
            <a:off x="3329940" y="3993515"/>
            <a:ext cx="5844540" cy="242548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p22"/>
          <p:cNvSpPr txBox="1">
            <a:spLocks noGrp="1"/>
          </p:cNvSpPr>
          <p:nvPr>
            <p:ph type="body" idx="1"/>
          </p:nvPr>
        </p:nvSpPr>
        <p:spPr>
          <a:xfrm>
            <a:off x="838200" y="1227909"/>
            <a:ext cx="10515600" cy="49490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2100"/>
              <a:buFont typeface="Arial"/>
              <a:buChar char="●"/>
            </a:pPr>
            <a:r>
              <a:rPr lang="en-US"/>
              <a:t>Min-Heaps </a:t>
            </a:r>
            <a:endParaRPr/>
          </a:p>
          <a:p>
            <a:pPr marL="742950" lvl="1" indent="-28575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560"/>
              <a:buChar char="●"/>
            </a:pPr>
            <a:r>
              <a:rPr lang="en-US"/>
              <a:t>Satisfies the heap property</a:t>
            </a:r>
            <a:r>
              <a:rPr lang="en-US" b="1"/>
              <a:t>: A[Parent(i)] &lt;= A[i] </a:t>
            </a:r>
            <a:r>
              <a:rPr lang="en-US"/>
              <a:t>for all nodes i &gt; 1</a:t>
            </a:r>
            <a:endParaRPr/>
          </a:p>
          <a:p>
            <a:pPr marL="1143000" lvl="2" indent="-228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300"/>
              <a:buChar char="●"/>
            </a:pPr>
            <a:r>
              <a:rPr lang="en-US"/>
              <a:t>The value of a node is at least the value of its parent </a:t>
            </a:r>
            <a:endParaRPr/>
          </a:p>
          <a:p>
            <a:pPr marL="742950" lvl="1" indent="-28575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560"/>
              <a:buChar char="●"/>
            </a:pPr>
            <a:r>
              <a:rPr lang="en-US"/>
              <a:t>The </a:t>
            </a:r>
            <a:r>
              <a:rPr lang="en-US" b="1"/>
              <a:t>smallest element</a:t>
            </a:r>
            <a:r>
              <a:rPr lang="en-US"/>
              <a:t> in a max-heap is stored at the </a:t>
            </a:r>
            <a:r>
              <a:rPr lang="en-US" b="1"/>
              <a:t>root</a:t>
            </a:r>
            <a:r>
              <a:rPr lang="en-US"/>
              <a:t> </a:t>
            </a:r>
            <a:endParaRPr/>
          </a:p>
          <a:p>
            <a:pPr marL="742950" lvl="1" indent="-28575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560"/>
              <a:buChar char="●"/>
            </a:pPr>
            <a:r>
              <a:rPr lang="en-US"/>
              <a:t>Where is the </a:t>
            </a:r>
            <a:r>
              <a:rPr lang="en-US" b="1"/>
              <a:t>largest</a:t>
            </a:r>
            <a:r>
              <a:rPr lang="en-US"/>
              <a:t> element ? </a:t>
            </a:r>
            <a:endParaRPr/>
          </a:p>
          <a:p>
            <a:pPr marL="1143000" lvl="2" indent="-228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300"/>
              <a:buChar char="●"/>
            </a:pPr>
            <a:r>
              <a:rPr lang="en-US"/>
              <a:t>Ans: At one of the leaves [leaf indices are n/2+1 to n]</a:t>
            </a:r>
            <a:endParaRPr/>
          </a:p>
        </p:txBody>
      </p:sp>
      <p:sp>
        <p:nvSpPr>
          <p:cNvPr id="368" name="Google Shape;368;p22"/>
          <p:cNvSpPr txBox="1">
            <a:spLocks noGrp="1"/>
          </p:cNvSpPr>
          <p:nvPr>
            <p:ph type="dt" idx="10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2B95C549-2D45-40B1-873D-CFC8B29D4121}" type="datetime1">
              <a:rPr lang="en-US" smtClean="0"/>
              <a:t>1/12/2026</a:t>
            </a:fld>
            <a:endParaRPr/>
          </a:p>
        </p:txBody>
      </p:sp>
      <p:sp>
        <p:nvSpPr>
          <p:cNvPr id="369" name="Google Shape;369;p22"/>
          <p:cNvSpPr txBox="1">
            <a:spLocks noGrp="1"/>
          </p:cNvSpPr>
          <p:nvPr>
            <p:ph type="ftr" idx="11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Lec Asif Abrar, Dept of CSE, UIU</a:t>
            </a:r>
            <a:endParaRPr/>
          </a:p>
        </p:txBody>
      </p:sp>
      <p:sp>
        <p:nvSpPr>
          <p:cNvPr id="370" name="Google Shape;370;p22"/>
          <p:cNvSpPr txBox="1">
            <a:spLocks noGrp="1"/>
          </p:cNvSpPr>
          <p:nvPr>
            <p:ph type="sldNum" idx="12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  <p:sp>
        <p:nvSpPr>
          <p:cNvPr id="371" name="Google Shape;371;p22"/>
          <p:cNvSpPr txBox="1">
            <a:spLocks noGrp="1"/>
          </p:cNvSpPr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/>
              <a:t>Max Heap and Min Heap</a:t>
            </a:r>
            <a:endParaRPr/>
          </a:p>
        </p:txBody>
      </p:sp>
      <p:pic>
        <p:nvPicPr>
          <p:cNvPr id="372" name="Google Shape;372;p2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291840" y="3913299"/>
            <a:ext cx="5101590" cy="226366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p23"/>
          <p:cNvSpPr txBox="1">
            <a:spLocks noGrp="1"/>
          </p:cNvSpPr>
          <p:nvPr>
            <p:ph type="body" idx="1"/>
          </p:nvPr>
        </p:nvSpPr>
        <p:spPr>
          <a:xfrm>
            <a:off x="838200" y="1227909"/>
            <a:ext cx="10515600" cy="49490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 lnSpcReduction="10000"/>
          </a:bodyPr>
          <a:lstStyle/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ct val="75000"/>
              <a:buFont typeface="Arial"/>
              <a:buChar char="●"/>
            </a:pPr>
            <a:r>
              <a:rPr lang="en-US" sz="2000" b="1"/>
              <a:t>MAX-HEAPIFY</a:t>
            </a:r>
            <a:r>
              <a:rPr lang="en-US" sz="2000"/>
              <a:t> – </a:t>
            </a:r>
            <a:endParaRPr/>
          </a:p>
          <a:p>
            <a:pPr marL="742950" lvl="1" indent="-285750" algn="l" rtl="0">
              <a:lnSpc>
                <a:spcPct val="100000"/>
              </a:lnSpc>
              <a:spcBef>
                <a:spcPts val="296"/>
              </a:spcBef>
              <a:spcAft>
                <a:spcPts val="0"/>
              </a:spcAft>
              <a:buSzPct val="64999"/>
              <a:buChar char="●"/>
            </a:pPr>
            <a:r>
              <a:rPr lang="en-US" sz="1600" b="1"/>
              <a:t>O(lg n)</a:t>
            </a:r>
            <a:r>
              <a:rPr lang="en-US" sz="1600"/>
              <a:t> time </a:t>
            </a:r>
            <a:endParaRPr/>
          </a:p>
          <a:p>
            <a:pPr marL="742950" lvl="1" indent="-285750" algn="l" rtl="0">
              <a:lnSpc>
                <a:spcPct val="100000"/>
              </a:lnSpc>
              <a:spcBef>
                <a:spcPts val="296"/>
              </a:spcBef>
              <a:spcAft>
                <a:spcPts val="0"/>
              </a:spcAft>
              <a:buSzPct val="64999"/>
              <a:buChar char="●"/>
            </a:pPr>
            <a:r>
              <a:rPr lang="en-US" sz="1600" b="1"/>
              <a:t>Tries </a:t>
            </a:r>
            <a:r>
              <a:rPr lang="en-US" sz="1600"/>
              <a:t>to make the array into a heap</a:t>
            </a:r>
            <a:endParaRPr/>
          </a:p>
          <a:p>
            <a:pPr marL="742950" lvl="1" indent="-224662" algn="l" rtl="0">
              <a:lnSpc>
                <a:spcPct val="100000"/>
              </a:lnSpc>
              <a:spcBef>
                <a:spcPts val="296"/>
              </a:spcBef>
              <a:spcAft>
                <a:spcPts val="0"/>
              </a:spcAft>
              <a:buSzPct val="64999"/>
              <a:buNone/>
            </a:pPr>
            <a:endParaRPr sz="1600" b="1"/>
          </a:p>
          <a:p>
            <a:pPr marL="342900" marR="0" lvl="0" indent="-342900" algn="l" rtl="0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Clr>
                <a:srgbClr val="0033CC"/>
              </a:buClr>
              <a:buSzPct val="75000"/>
              <a:buFont typeface="Arial"/>
              <a:buChar char="●"/>
            </a:pPr>
            <a:r>
              <a:rPr lang="en-US" sz="2000" b="1"/>
              <a:t>BUILD-MAX-HEAP</a:t>
            </a:r>
            <a:r>
              <a:rPr lang="en-US" sz="2000"/>
              <a:t> </a:t>
            </a:r>
            <a:endParaRPr/>
          </a:p>
          <a:p>
            <a:pPr marL="742950" lvl="1" indent="-285750" algn="l" rtl="0">
              <a:lnSpc>
                <a:spcPct val="100000"/>
              </a:lnSpc>
              <a:spcBef>
                <a:spcPts val="296"/>
              </a:spcBef>
              <a:spcAft>
                <a:spcPts val="0"/>
              </a:spcAft>
              <a:buSzPct val="64999"/>
              <a:buChar char="●"/>
            </a:pPr>
            <a:r>
              <a:rPr lang="en-US" sz="1600" b="1"/>
              <a:t>O(n) </a:t>
            </a:r>
            <a:r>
              <a:rPr lang="en-US" sz="1600"/>
              <a:t>time</a:t>
            </a:r>
            <a:endParaRPr/>
          </a:p>
          <a:p>
            <a:pPr marL="742950" lvl="1" indent="-285750" algn="l" rtl="0">
              <a:lnSpc>
                <a:spcPct val="100000"/>
              </a:lnSpc>
              <a:spcBef>
                <a:spcPts val="296"/>
              </a:spcBef>
              <a:spcAft>
                <a:spcPts val="0"/>
              </a:spcAft>
              <a:buSzPct val="64999"/>
              <a:buChar char="●"/>
            </a:pPr>
            <a:r>
              <a:rPr lang="en-US" sz="1600"/>
              <a:t>Converts an array into a heap</a:t>
            </a:r>
            <a:endParaRPr/>
          </a:p>
          <a:p>
            <a:pPr marL="742950" lvl="1" indent="-224662" algn="l" rtl="0">
              <a:lnSpc>
                <a:spcPct val="100000"/>
              </a:lnSpc>
              <a:spcBef>
                <a:spcPts val="296"/>
              </a:spcBef>
              <a:spcAft>
                <a:spcPts val="0"/>
              </a:spcAft>
              <a:buSzPct val="64999"/>
              <a:buNone/>
            </a:pPr>
            <a:endParaRPr sz="1600"/>
          </a:p>
          <a:p>
            <a:pPr marL="342900" marR="0" lvl="0" indent="-342900" algn="l" rtl="0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Clr>
                <a:srgbClr val="0033CC"/>
              </a:buClr>
              <a:buSzPct val="75000"/>
              <a:buFont typeface="Arial"/>
              <a:buChar char="●"/>
            </a:pPr>
            <a:r>
              <a:rPr lang="en-US" sz="2000" b="1"/>
              <a:t>HEAPSORT</a:t>
            </a:r>
            <a:endParaRPr/>
          </a:p>
          <a:p>
            <a:pPr marL="742950" lvl="1" indent="-285750" algn="l" rtl="0">
              <a:lnSpc>
                <a:spcPct val="100000"/>
              </a:lnSpc>
              <a:spcBef>
                <a:spcPts val="296"/>
              </a:spcBef>
              <a:spcAft>
                <a:spcPts val="0"/>
              </a:spcAft>
              <a:buSzPct val="64999"/>
              <a:buChar char="●"/>
            </a:pPr>
            <a:r>
              <a:rPr lang="en-US" sz="1600"/>
              <a:t>O </a:t>
            </a:r>
            <a:r>
              <a:rPr lang="en-US" sz="1600" b="1"/>
              <a:t>(n lg n)</a:t>
            </a:r>
            <a:r>
              <a:rPr lang="en-US" sz="1600"/>
              <a:t> time</a:t>
            </a:r>
            <a:endParaRPr/>
          </a:p>
          <a:p>
            <a:pPr marL="742950" lvl="1" indent="-285750" algn="l" rtl="0">
              <a:lnSpc>
                <a:spcPct val="100000"/>
              </a:lnSpc>
              <a:spcBef>
                <a:spcPts val="296"/>
              </a:spcBef>
              <a:spcAft>
                <a:spcPts val="0"/>
              </a:spcAft>
              <a:buSzPct val="64999"/>
              <a:buChar char="●"/>
            </a:pPr>
            <a:r>
              <a:rPr lang="en-US" sz="1600" b="1"/>
              <a:t>Another sorting algorithm</a:t>
            </a:r>
            <a:endParaRPr/>
          </a:p>
          <a:p>
            <a:pPr marL="742950" lvl="1" indent="-285750" algn="l" rtl="0">
              <a:lnSpc>
                <a:spcPct val="100000"/>
              </a:lnSpc>
              <a:spcBef>
                <a:spcPts val="296"/>
              </a:spcBef>
              <a:spcAft>
                <a:spcPts val="0"/>
              </a:spcAft>
              <a:buSzPct val="64999"/>
              <a:buChar char="●"/>
            </a:pPr>
            <a:r>
              <a:rPr lang="en-US" sz="1600"/>
              <a:t>Makes use of the concept of heap</a:t>
            </a:r>
            <a:endParaRPr/>
          </a:p>
          <a:p>
            <a:pPr marL="742950" lvl="1" indent="-224662" algn="l" rtl="0">
              <a:lnSpc>
                <a:spcPct val="100000"/>
              </a:lnSpc>
              <a:spcBef>
                <a:spcPts val="296"/>
              </a:spcBef>
              <a:spcAft>
                <a:spcPts val="0"/>
              </a:spcAft>
              <a:buSzPct val="64999"/>
              <a:buNone/>
            </a:pPr>
            <a:endParaRPr sz="1600"/>
          </a:p>
          <a:p>
            <a:pPr marL="342900" marR="0" lvl="0" indent="-342900" algn="l" rtl="0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Clr>
                <a:srgbClr val="0033CC"/>
              </a:buClr>
              <a:buSzPct val="75000"/>
              <a:buFont typeface="Arial"/>
              <a:buChar char="●"/>
            </a:pPr>
            <a:r>
              <a:rPr lang="en-US" sz="2000" b="1"/>
              <a:t>Priority Queue functions</a:t>
            </a:r>
            <a:endParaRPr/>
          </a:p>
          <a:p>
            <a:pPr marL="742950" lvl="1" indent="-285750" algn="l" rtl="0">
              <a:lnSpc>
                <a:spcPct val="100000"/>
              </a:lnSpc>
              <a:spcBef>
                <a:spcPts val="296"/>
              </a:spcBef>
              <a:spcAft>
                <a:spcPts val="0"/>
              </a:spcAft>
              <a:buSzPct val="64999"/>
              <a:buChar char="●"/>
            </a:pPr>
            <a:r>
              <a:rPr lang="en-US" sz="1600" b="1"/>
              <a:t>MAX-HEAP-INSERT</a:t>
            </a:r>
            <a:endParaRPr/>
          </a:p>
          <a:p>
            <a:pPr marL="742950" lvl="1" indent="-285750" algn="l" rtl="0">
              <a:lnSpc>
                <a:spcPct val="100000"/>
              </a:lnSpc>
              <a:spcBef>
                <a:spcPts val="296"/>
              </a:spcBef>
              <a:spcAft>
                <a:spcPts val="0"/>
              </a:spcAft>
              <a:buSzPct val="64999"/>
              <a:buChar char="●"/>
            </a:pPr>
            <a:r>
              <a:rPr lang="en-US" sz="1600" b="1"/>
              <a:t>HEAP-EXTRACT-MAX</a:t>
            </a:r>
            <a:endParaRPr/>
          </a:p>
          <a:p>
            <a:pPr marL="742950" lvl="1" indent="-285750" algn="l" rtl="0">
              <a:lnSpc>
                <a:spcPct val="100000"/>
              </a:lnSpc>
              <a:spcBef>
                <a:spcPts val="296"/>
              </a:spcBef>
              <a:spcAft>
                <a:spcPts val="0"/>
              </a:spcAft>
              <a:buSzPct val="64999"/>
              <a:buChar char="●"/>
            </a:pPr>
            <a:r>
              <a:rPr lang="en-US" sz="1600" b="1"/>
              <a:t>HEAP-INCREASE-KEY</a:t>
            </a:r>
            <a:endParaRPr/>
          </a:p>
          <a:p>
            <a:pPr marL="742950" lvl="1" indent="-285750" algn="l" rtl="0">
              <a:lnSpc>
                <a:spcPct val="100000"/>
              </a:lnSpc>
              <a:spcBef>
                <a:spcPts val="296"/>
              </a:spcBef>
              <a:spcAft>
                <a:spcPts val="0"/>
              </a:spcAft>
              <a:buSzPct val="64999"/>
              <a:buChar char="●"/>
            </a:pPr>
            <a:r>
              <a:rPr lang="en-US" sz="1600" b="1"/>
              <a:t>HEAP-MAXIMUM</a:t>
            </a:r>
            <a:r>
              <a:rPr lang="en-US" sz="1600"/>
              <a:t> </a:t>
            </a:r>
            <a:endParaRPr/>
          </a:p>
          <a:p>
            <a:pPr marL="742950" lvl="1" indent="-285750" algn="l" rtl="0">
              <a:lnSpc>
                <a:spcPct val="100000"/>
              </a:lnSpc>
              <a:spcBef>
                <a:spcPts val="296"/>
              </a:spcBef>
              <a:spcAft>
                <a:spcPts val="0"/>
              </a:spcAft>
              <a:buSzPct val="64999"/>
              <a:buChar char="●"/>
            </a:pPr>
            <a:r>
              <a:rPr lang="en-US" sz="1600"/>
              <a:t>run in O(lg n) time</a:t>
            </a:r>
            <a:endParaRPr/>
          </a:p>
        </p:txBody>
      </p:sp>
      <p:sp>
        <p:nvSpPr>
          <p:cNvPr id="378" name="Google Shape;378;p23"/>
          <p:cNvSpPr txBox="1">
            <a:spLocks noGrp="1"/>
          </p:cNvSpPr>
          <p:nvPr>
            <p:ph type="dt" idx="10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AC29767F-AD71-44F5-9FFB-E836946DB6F7}" type="datetime1">
              <a:rPr lang="en-US" smtClean="0"/>
              <a:t>1/12/2026</a:t>
            </a:fld>
            <a:endParaRPr/>
          </a:p>
        </p:txBody>
      </p:sp>
      <p:sp>
        <p:nvSpPr>
          <p:cNvPr id="379" name="Google Shape;379;p23"/>
          <p:cNvSpPr txBox="1">
            <a:spLocks noGrp="1"/>
          </p:cNvSpPr>
          <p:nvPr>
            <p:ph type="ftr" idx="11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Lec Asif Abrar, Dept of CSE, UIU</a:t>
            </a:r>
            <a:endParaRPr/>
          </a:p>
        </p:txBody>
      </p:sp>
      <p:sp>
        <p:nvSpPr>
          <p:cNvPr id="380" name="Google Shape;380;p23"/>
          <p:cNvSpPr txBox="1">
            <a:spLocks noGrp="1"/>
          </p:cNvSpPr>
          <p:nvPr>
            <p:ph type="sldNum" idx="12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  <p:sp>
        <p:nvSpPr>
          <p:cNvPr id="381" name="Google Shape;381;p23"/>
          <p:cNvSpPr txBox="1">
            <a:spLocks noGrp="1"/>
          </p:cNvSpPr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/>
              <a:t>Important Functions of Max Heap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Google Shape;386;p24"/>
          <p:cNvSpPr txBox="1">
            <a:spLocks noGrp="1"/>
          </p:cNvSpPr>
          <p:nvPr>
            <p:ph type="body" idx="1"/>
          </p:nvPr>
        </p:nvSpPr>
        <p:spPr>
          <a:xfrm>
            <a:off x="838200" y="1227909"/>
            <a:ext cx="10515600" cy="1134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85000" lnSpcReduction="20000"/>
          </a:bodyPr>
          <a:lstStyle/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ct val="75000"/>
              <a:buFont typeface="Arial"/>
              <a:buChar char="●"/>
            </a:pPr>
            <a:r>
              <a:rPr lang="en-US" sz="2800" b="1"/>
              <a:t>Tries </a:t>
            </a:r>
            <a:r>
              <a:rPr lang="en-US" sz="2800"/>
              <a:t>to make the array into a max heap</a:t>
            </a:r>
            <a:endParaRPr/>
          </a:p>
          <a:p>
            <a:pPr marL="342900" marR="0" lvl="0" indent="-342900" algn="l" rtl="0">
              <a:lnSpc>
                <a:spcPct val="100000"/>
              </a:lnSpc>
              <a:spcBef>
                <a:spcPts val="476"/>
              </a:spcBef>
              <a:spcAft>
                <a:spcPts val="0"/>
              </a:spcAft>
              <a:buClr>
                <a:srgbClr val="0033CC"/>
              </a:buClr>
              <a:buSzPct val="75000"/>
              <a:buFont typeface="Arial"/>
              <a:buChar char="●"/>
            </a:pPr>
            <a:r>
              <a:rPr lang="en-US"/>
              <a:t>(parent value&gt;= child value)</a:t>
            </a:r>
            <a:endParaRPr/>
          </a:p>
          <a:p>
            <a:pPr marL="342900" marR="0" lvl="0" indent="-342900" algn="l" rtl="0">
              <a:lnSpc>
                <a:spcPct val="100000"/>
              </a:lnSpc>
              <a:spcBef>
                <a:spcPts val="476"/>
              </a:spcBef>
              <a:spcAft>
                <a:spcPts val="0"/>
              </a:spcAft>
              <a:buClr>
                <a:srgbClr val="0033CC"/>
              </a:buClr>
              <a:buSzPct val="75000"/>
              <a:buFont typeface="Arial"/>
              <a:buChar char="●"/>
            </a:pPr>
            <a:r>
              <a:rPr lang="en-US"/>
              <a:t>MaxHeapify(A,index)</a:t>
            </a:r>
            <a:endParaRPr/>
          </a:p>
        </p:txBody>
      </p:sp>
      <p:sp>
        <p:nvSpPr>
          <p:cNvPr id="387" name="Google Shape;387;p24"/>
          <p:cNvSpPr txBox="1">
            <a:spLocks noGrp="1"/>
          </p:cNvSpPr>
          <p:nvPr>
            <p:ph type="dt" idx="10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CE2C69B0-6F1F-476D-87C1-67657A43B389}" type="datetime1">
              <a:rPr lang="en-US" smtClean="0"/>
              <a:t>1/12/2026</a:t>
            </a:fld>
            <a:endParaRPr/>
          </a:p>
        </p:txBody>
      </p:sp>
      <p:sp>
        <p:nvSpPr>
          <p:cNvPr id="388" name="Google Shape;388;p24"/>
          <p:cNvSpPr txBox="1">
            <a:spLocks noGrp="1"/>
          </p:cNvSpPr>
          <p:nvPr>
            <p:ph type="ftr" idx="11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Lec Asif Abrar, Dept of CSE, UIU</a:t>
            </a:r>
            <a:endParaRPr/>
          </a:p>
        </p:txBody>
      </p:sp>
      <p:sp>
        <p:nvSpPr>
          <p:cNvPr id="389" name="Google Shape;389;p24"/>
          <p:cNvSpPr txBox="1">
            <a:spLocks noGrp="1"/>
          </p:cNvSpPr>
          <p:nvPr>
            <p:ph type="sldNum" idx="12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  <p:sp>
        <p:nvSpPr>
          <p:cNvPr id="390" name="Google Shape;390;p24"/>
          <p:cNvSpPr txBox="1">
            <a:spLocks noGrp="1"/>
          </p:cNvSpPr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/>
              <a:t>MAX HEAPIFY</a:t>
            </a:r>
            <a:endParaRPr/>
          </a:p>
        </p:txBody>
      </p:sp>
      <p:sp>
        <p:nvSpPr>
          <p:cNvPr id="391" name="Google Shape;391;p24"/>
          <p:cNvSpPr/>
          <p:nvPr/>
        </p:nvSpPr>
        <p:spPr>
          <a:xfrm>
            <a:off x="4094480" y="2509904"/>
            <a:ext cx="558800" cy="558800"/>
          </a:xfrm>
          <a:prstGeom prst="ellipse">
            <a:avLst/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16</a:t>
            </a:r>
            <a:endParaRPr/>
          </a:p>
        </p:txBody>
      </p:sp>
      <p:sp>
        <p:nvSpPr>
          <p:cNvPr id="392" name="Google Shape;392;p24"/>
          <p:cNvSpPr/>
          <p:nvPr/>
        </p:nvSpPr>
        <p:spPr>
          <a:xfrm>
            <a:off x="2545080" y="3429000"/>
            <a:ext cx="558800" cy="558800"/>
          </a:xfrm>
          <a:prstGeom prst="ellipse">
            <a:avLst/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/>
          </a:p>
        </p:txBody>
      </p:sp>
      <p:sp>
        <p:nvSpPr>
          <p:cNvPr id="393" name="Google Shape;393;p24"/>
          <p:cNvSpPr/>
          <p:nvPr/>
        </p:nvSpPr>
        <p:spPr>
          <a:xfrm>
            <a:off x="1612048" y="4238423"/>
            <a:ext cx="558800" cy="558800"/>
          </a:xfrm>
          <a:prstGeom prst="ellipse">
            <a:avLst/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14</a:t>
            </a:r>
            <a:endParaRPr/>
          </a:p>
        </p:txBody>
      </p:sp>
      <p:sp>
        <p:nvSpPr>
          <p:cNvPr id="394" name="Google Shape;394;p24"/>
          <p:cNvSpPr/>
          <p:nvPr/>
        </p:nvSpPr>
        <p:spPr>
          <a:xfrm>
            <a:off x="781753" y="5291186"/>
            <a:ext cx="558800" cy="558800"/>
          </a:xfrm>
          <a:prstGeom prst="ellipse">
            <a:avLst/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  <p:sp>
        <p:nvSpPr>
          <p:cNvPr id="395" name="Google Shape;395;p24"/>
          <p:cNvSpPr/>
          <p:nvPr/>
        </p:nvSpPr>
        <p:spPr>
          <a:xfrm>
            <a:off x="3075075" y="5315058"/>
            <a:ext cx="558800" cy="558800"/>
          </a:xfrm>
          <a:prstGeom prst="ellipse">
            <a:avLst/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396" name="Google Shape;396;p24"/>
          <p:cNvSpPr/>
          <p:nvPr/>
        </p:nvSpPr>
        <p:spPr>
          <a:xfrm>
            <a:off x="2068114" y="5350691"/>
            <a:ext cx="558800" cy="558800"/>
          </a:xfrm>
          <a:prstGeom prst="ellipse">
            <a:avLst/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/>
          </a:p>
        </p:txBody>
      </p:sp>
      <p:sp>
        <p:nvSpPr>
          <p:cNvPr id="397" name="Google Shape;397;p24"/>
          <p:cNvSpPr/>
          <p:nvPr/>
        </p:nvSpPr>
        <p:spPr>
          <a:xfrm>
            <a:off x="3493912" y="4293753"/>
            <a:ext cx="558800" cy="558800"/>
          </a:xfrm>
          <a:prstGeom prst="ellipse">
            <a:avLst/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/>
          </a:p>
        </p:txBody>
      </p:sp>
      <p:sp>
        <p:nvSpPr>
          <p:cNvPr id="398" name="Google Shape;398;p24"/>
          <p:cNvSpPr/>
          <p:nvPr/>
        </p:nvSpPr>
        <p:spPr>
          <a:xfrm>
            <a:off x="5461002" y="3429000"/>
            <a:ext cx="558800" cy="558800"/>
          </a:xfrm>
          <a:prstGeom prst="ellipse">
            <a:avLst/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/>
          </a:p>
        </p:txBody>
      </p:sp>
      <p:sp>
        <p:nvSpPr>
          <p:cNvPr id="399" name="Google Shape;399;p24"/>
          <p:cNvSpPr/>
          <p:nvPr/>
        </p:nvSpPr>
        <p:spPr>
          <a:xfrm>
            <a:off x="4706344" y="4320843"/>
            <a:ext cx="558800" cy="558800"/>
          </a:xfrm>
          <a:prstGeom prst="ellipse">
            <a:avLst/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endParaRPr/>
          </a:p>
        </p:txBody>
      </p:sp>
      <p:sp>
        <p:nvSpPr>
          <p:cNvPr id="400" name="Google Shape;400;p24"/>
          <p:cNvSpPr/>
          <p:nvPr/>
        </p:nvSpPr>
        <p:spPr>
          <a:xfrm>
            <a:off x="6238240" y="4320843"/>
            <a:ext cx="558800" cy="558800"/>
          </a:xfrm>
          <a:prstGeom prst="ellipse">
            <a:avLst/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/>
          </a:p>
        </p:txBody>
      </p:sp>
      <p:cxnSp>
        <p:nvCxnSpPr>
          <p:cNvPr id="401" name="Google Shape;401;p24"/>
          <p:cNvCxnSpPr>
            <a:stCxn id="391" idx="3"/>
            <a:endCxn id="392" idx="7"/>
          </p:cNvCxnSpPr>
          <p:nvPr/>
        </p:nvCxnSpPr>
        <p:spPr>
          <a:xfrm flipH="1">
            <a:off x="3021914" y="2986870"/>
            <a:ext cx="1154400" cy="5241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402" name="Google Shape;402;p24"/>
          <p:cNvCxnSpPr>
            <a:stCxn id="398" idx="1"/>
            <a:endCxn id="391" idx="5"/>
          </p:cNvCxnSpPr>
          <p:nvPr/>
        </p:nvCxnSpPr>
        <p:spPr>
          <a:xfrm rot="10800000">
            <a:off x="4571436" y="2986734"/>
            <a:ext cx="971400" cy="5241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403" name="Google Shape;403;p24"/>
          <p:cNvCxnSpPr>
            <a:stCxn id="400" idx="1"/>
            <a:endCxn id="398" idx="5"/>
          </p:cNvCxnSpPr>
          <p:nvPr/>
        </p:nvCxnSpPr>
        <p:spPr>
          <a:xfrm rot="10800000">
            <a:off x="5937874" y="3905877"/>
            <a:ext cx="382200" cy="4968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404" name="Google Shape;404;p24"/>
          <p:cNvCxnSpPr>
            <a:stCxn id="399" idx="7"/>
            <a:endCxn id="398" idx="3"/>
          </p:cNvCxnSpPr>
          <p:nvPr/>
        </p:nvCxnSpPr>
        <p:spPr>
          <a:xfrm rot="10800000" flipH="1">
            <a:off x="5183310" y="3905877"/>
            <a:ext cx="359400" cy="4968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405" name="Google Shape;405;p24"/>
          <p:cNvCxnSpPr>
            <a:stCxn id="392" idx="3"/>
            <a:endCxn id="393" idx="7"/>
          </p:cNvCxnSpPr>
          <p:nvPr/>
        </p:nvCxnSpPr>
        <p:spPr>
          <a:xfrm flipH="1">
            <a:off x="2089014" y="3905966"/>
            <a:ext cx="537900" cy="4143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406" name="Google Shape;406;p24"/>
          <p:cNvCxnSpPr>
            <a:stCxn id="392" idx="5"/>
            <a:endCxn id="397" idx="1"/>
          </p:cNvCxnSpPr>
          <p:nvPr/>
        </p:nvCxnSpPr>
        <p:spPr>
          <a:xfrm>
            <a:off x="3022046" y="3905966"/>
            <a:ext cx="553800" cy="4695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407" name="Google Shape;407;p24"/>
          <p:cNvCxnSpPr>
            <a:stCxn id="393" idx="3"/>
            <a:endCxn id="394" idx="7"/>
          </p:cNvCxnSpPr>
          <p:nvPr/>
        </p:nvCxnSpPr>
        <p:spPr>
          <a:xfrm flipH="1">
            <a:off x="1258582" y="4715389"/>
            <a:ext cx="435300" cy="6576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408" name="Google Shape;408;p24"/>
          <p:cNvCxnSpPr>
            <a:stCxn id="393" idx="5"/>
            <a:endCxn id="396" idx="0"/>
          </p:cNvCxnSpPr>
          <p:nvPr/>
        </p:nvCxnSpPr>
        <p:spPr>
          <a:xfrm>
            <a:off x="2089014" y="4715389"/>
            <a:ext cx="258600" cy="6354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409" name="Google Shape;409;p24"/>
          <p:cNvCxnSpPr>
            <a:stCxn id="397" idx="3"/>
            <a:endCxn id="395" idx="0"/>
          </p:cNvCxnSpPr>
          <p:nvPr/>
        </p:nvCxnSpPr>
        <p:spPr>
          <a:xfrm flipH="1">
            <a:off x="3354346" y="4770719"/>
            <a:ext cx="221400" cy="5442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410" name="Google Shape;410;p24"/>
          <p:cNvSpPr txBox="1"/>
          <p:nvPr/>
        </p:nvSpPr>
        <p:spPr>
          <a:xfrm>
            <a:off x="3792794" y="2519427"/>
            <a:ext cx="30168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411" name="Google Shape;411;p24"/>
          <p:cNvSpPr txBox="1"/>
          <p:nvPr/>
        </p:nvSpPr>
        <p:spPr>
          <a:xfrm>
            <a:off x="2243394" y="3300788"/>
            <a:ext cx="30168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  <p:sp>
        <p:nvSpPr>
          <p:cNvPr id="412" name="Google Shape;412;p24"/>
          <p:cNvSpPr txBox="1"/>
          <p:nvPr/>
        </p:nvSpPr>
        <p:spPr>
          <a:xfrm>
            <a:off x="5630476" y="3083357"/>
            <a:ext cx="30168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/>
          </a:p>
        </p:txBody>
      </p:sp>
      <p:sp>
        <p:nvSpPr>
          <p:cNvPr id="413" name="Google Shape;413;p24"/>
          <p:cNvSpPr txBox="1"/>
          <p:nvPr/>
        </p:nvSpPr>
        <p:spPr>
          <a:xfrm>
            <a:off x="1481399" y="3987800"/>
            <a:ext cx="30168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/>
          </a:p>
        </p:txBody>
      </p:sp>
      <p:sp>
        <p:nvSpPr>
          <p:cNvPr id="414" name="Google Shape;414;p24"/>
          <p:cNvSpPr txBox="1"/>
          <p:nvPr/>
        </p:nvSpPr>
        <p:spPr>
          <a:xfrm>
            <a:off x="617227" y="4964224"/>
            <a:ext cx="30168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/>
          </a:p>
        </p:txBody>
      </p:sp>
      <p:sp>
        <p:nvSpPr>
          <p:cNvPr id="415" name="Google Shape;415;p24"/>
          <p:cNvSpPr txBox="1"/>
          <p:nvPr/>
        </p:nvSpPr>
        <p:spPr>
          <a:xfrm>
            <a:off x="1886975" y="4961686"/>
            <a:ext cx="30168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endParaRPr/>
          </a:p>
        </p:txBody>
      </p:sp>
      <p:sp>
        <p:nvSpPr>
          <p:cNvPr id="416" name="Google Shape;416;p24"/>
          <p:cNvSpPr txBox="1"/>
          <p:nvPr/>
        </p:nvSpPr>
        <p:spPr>
          <a:xfrm>
            <a:off x="2898476" y="4885509"/>
            <a:ext cx="418704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/>
          </a:p>
        </p:txBody>
      </p:sp>
      <p:sp>
        <p:nvSpPr>
          <p:cNvPr id="417" name="Google Shape;417;p24"/>
          <p:cNvSpPr txBox="1"/>
          <p:nvPr/>
        </p:nvSpPr>
        <p:spPr>
          <a:xfrm>
            <a:off x="3712199" y="4003320"/>
            <a:ext cx="30168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/>
          </a:p>
        </p:txBody>
      </p:sp>
      <p:sp>
        <p:nvSpPr>
          <p:cNvPr id="418" name="Google Shape;418;p24"/>
          <p:cNvSpPr txBox="1"/>
          <p:nvPr/>
        </p:nvSpPr>
        <p:spPr>
          <a:xfrm>
            <a:off x="4796076" y="4013654"/>
            <a:ext cx="30168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/>
          </a:p>
        </p:txBody>
      </p:sp>
      <p:sp>
        <p:nvSpPr>
          <p:cNvPr id="419" name="Google Shape;419;p24"/>
          <p:cNvSpPr txBox="1"/>
          <p:nvPr/>
        </p:nvSpPr>
        <p:spPr>
          <a:xfrm>
            <a:off x="6401059" y="4023561"/>
            <a:ext cx="30168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/>
          </a:p>
        </p:txBody>
      </p:sp>
      <p:graphicFrame>
        <p:nvGraphicFramePr>
          <p:cNvPr id="420" name="Google Shape;420;p24"/>
          <p:cNvGraphicFramePr/>
          <p:nvPr/>
        </p:nvGraphicFramePr>
        <p:xfrm>
          <a:off x="7150400" y="3164286"/>
          <a:ext cx="4722000" cy="741700"/>
        </p:xfrm>
        <a:graphic>
          <a:graphicData uri="http://schemas.openxmlformats.org/drawingml/2006/table">
            <a:tbl>
              <a:tblPr firstRow="1" bandRow="1">
                <a:noFill/>
                <a:tableStyleId>{66088737-8E24-4614-AAA7-3D08145F63E1}</a:tableStyleId>
              </a:tblPr>
              <a:tblGrid>
                <a:gridCol w="472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2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72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72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722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722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722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722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4722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47220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1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2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3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4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5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6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7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8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9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10</a:t>
                      </a:r>
                      <a:endParaRPr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16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4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10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14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7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9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3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2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8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1</a:t>
                      </a:r>
                      <a:endParaRPr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Google Shape;425;p25"/>
          <p:cNvSpPr txBox="1">
            <a:spLocks noGrp="1"/>
          </p:cNvSpPr>
          <p:nvPr>
            <p:ph type="body" idx="1"/>
          </p:nvPr>
        </p:nvSpPr>
        <p:spPr>
          <a:xfrm>
            <a:off x="838200" y="1227909"/>
            <a:ext cx="10515600" cy="1134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85000" lnSpcReduction="20000"/>
          </a:bodyPr>
          <a:lstStyle/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ct val="75000"/>
              <a:buFont typeface="Arial"/>
              <a:buChar char="●"/>
            </a:pPr>
            <a:r>
              <a:rPr lang="en-US" sz="2800" b="1"/>
              <a:t>Tries </a:t>
            </a:r>
            <a:r>
              <a:rPr lang="en-US" sz="2800"/>
              <a:t>to make the array into a max heap</a:t>
            </a:r>
            <a:endParaRPr/>
          </a:p>
          <a:p>
            <a:pPr marL="342900" marR="0" lvl="0" indent="-342900" algn="l" rtl="0">
              <a:lnSpc>
                <a:spcPct val="100000"/>
              </a:lnSpc>
              <a:spcBef>
                <a:spcPts val="476"/>
              </a:spcBef>
              <a:spcAft>
                <a:spcPts val="0"/>
              </a:spcAft>
              <a:buClr>
                <a:srgbClr val="0033CC"/>
              </a:buClr>
              <a:buSzPct val="75000"/>
              <a:buFont typeface="Arial"/>
              <a:buChar char="●"/>
            </a:pPr>
            <a:r>
              <a:rPr lang="en-US"/>
              <a:t>(parent value&gt;= child value)</a:t>
            </a:r>
            <a:endParaRPr/>
          </a:p>
          <a:p>
            <a:pPr marL="342900" marR="0" lvl="0" indent="-342900" algn="l" rtl="0">
              <a:lnSpc>
                <a:spcPct val="100000"/>
              </a:lnSpc>
              <a:spcBef>
                <a:spcPts val="476"/>
              </a:spcBef>
              <a:spcAft>
                <a:spcPts val="0"/>
              </a:spcAft>
              <a:buClr>
                <a:srgbClr val="0033CC"/>
              </a:buClr>
              <a:buSzPct val="75000"/>
              <a:buFont typeface="Arial"/>
              <a:buChar char="●"/>
            </a:pPr>
            <a:r>
              <a:rPr lang="en-US"/>
              <a:t>MaxHeapify(A,index)</a:t>
            </a:r>
            <a:endParaRPr/>
          </a:p>
        </p:txBody>
      </p:sp>
      <p:sp>
        <p:nvSpPr>
          <p:cNvPr id="426" name="Google Shape;426;p25"/>
          <p:cNvSpPr txBox="1">
            <a:spLocks noGrp="1"/>
          </p:cNvSpPr>
          <p:nvPr>
            <p:ph type="dt" idx="10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7774297E-2614-4DCA-996B-0D402C7550D7}" type="datetime1">
              <a:rPr lang="en-US" smtClean="0"/>
              <a:t>1/12/2026</a:t>
            </a:fld>
            <a:endParaRPr/>
          </a:p>
        </p:txBody>
      </p:sp>
      <p:sp>
        <p:nvSpPr>
          <p:cNvPr id="427" name="Google Shape;427;p25"/>
          <p:cNvSpPr txBox="1">
            <a:spLocks noGrp="1"/>
          </p:cNvSpPr>
          <p:nvPr>
            <p:ph type="ftr" idx="11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Lec Asif Abrar, Dept of CSE, UIU</a:t>
            </a:r>
            <a:endParaRPr/>
          </a:p>
        </p:txBody>
      </p:sp>
      <p:sp>
        <p:nvSpPr>
          <p:cNvPr id="428" name="Google Shape;428;p25"/>
          <p:cNvSpPr txBox="1">
            <a:spLocks noGrp="1"/>
          </p:cNvSpPr>
          <p:nvPr>
            <p:ph type="sldNum" idx="12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  <p:sp>
        <p:nvSpPr>
          <p:cNvPr id="429" name="Google Shape;429;p25"/>
          <p:cNvSpPr txBox="1">
            <a:spLocks noGrp="1"/>
          </p:cNvSpPr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/>
              <a:t>MAX HEAPIFY</a:t>
            </a:r>
            <a:endParaRPr/>
          </a:p>
        </p:txBody>
      </p:sp>
      <p:sp>
        <p:nvSpPr>
          <p:cNvPr id="430" name="Google Shape;430;p25"/>
          <p:cNvSpPr/>
          <p:nvPr/>
        </p:nvSpPr>
        <p:spPr>
          <a:xfrm>
            <a:off x="4094480" y="2509904"/>
            <a:ext cx="558800" cy="558800"/>
          </a:xfrm>
          <a:prstGeom prst="ellipse">
            <a:avLst/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16</a:t>
            </a:r>
            <a:endParaRPr/>
          </a:p>
        </p:txBody>
      </p:sp>
      <p:sp>
        <p:nvSpPr>
          <p:cNvPr id="431" name="Google Shape;431;p25"/>
          <p:cNvSpPr/>
          <p:nvPr/>
        </p:nvSpPr>
        <p:spPr>
          <a:xfrm>
            <a:off x="2545080" y="3429000"/>
            <a:ext cx="558800" cy="558800"/>
          </a:xfrm>
          <a:prstGeom prst="ellipse">
            <a:avLst/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/>
          </a:p>
        </p:txBody>
      </p:sp>
      <p:sp>
        <p:nvSpPr>
          <p:cNvPr id="432" name="Google Shape;432;p25"/>
          <p:cNvSpPr/>
          <p:nvPr/>
        </p:nvSpPr>
        <p:spPr>
          <a:xfrm>
            <a:off x="1612048" y="4238423"/>
            <a:ext cx="558800" cy="558800"/>
          </a:xfrm>
          <a:prstGeom prst="ellipse">
            <a:avLst/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14</a:t>
            </a:r>
            <a:endParaRPr/>
          </a:p>
        </p:txBody>
      </p:sp>
      <p:sp>
        <p:nvSpPr>
          <p:cNvPr id="433" name="Google Shape;433;p25"/>
          <p:cNvSpPr/>
          <p:nvPr/>
        </p:nvSpPr>
        <p:spPr>
          <a:xfrm>
            <a:off x="781753" y="5291186"/>
            <a:ext cx="558800" cy="558800"/>
          </a:xfrm>
          <a:prstGeom prst="ellipse">
            <a:avLst/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  <p:sp>
        <p:nvSpPr>
          <p:cNvPr id="434" name="Google Shape;434;p25"/>
          <p:cNvSpPr/>
          <p:nvPr/>
        </p:nvSpPr>
        <p:spPr>
          <a:xfrm>
            <a:off x="3075075" y="5315058"/>
            <a:ext cx="558800" cy="558800"/>
          </a:xfrm>
          <a:prstGeom prst="ellipse">
            <a:avLst/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435" name="Google Shape;435;p25"/>
          <p:cNvSpPr/>
          <p:nvPr/>
        </p:nvSpPr>
        <p:spPr>
          <a:xfrm>
            <a:off x="2068114" y="5350691"/>
            <a:ext cx="558800" cy="558800"/>
          </a:xfrm>
          <a:prstGeom prst="ellipse">
            <a:avLst/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/>
          </a:p>
        </p:txBody>
      </p:sp>
      <p:sp>
        <p:nvSpPr>
          <p:cNvPr id="436" name="Google Shape;436;p25"/>
          <p:cNvSpPr/>
          <p:nvPr/>
        </p:nvSpPr>
        <p:spPr>
          <a:xfrm>
            <a:off x="3493912" y="4293753"/>
            <a:ext cx="558800" cy="558800"/>
          </a:xfrm>
          <a:prstGeom prst="ellipse">
            <a:avLst/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/>
          </a:p>
        </p:txBody>
      </p:sp>
      <p:sp>
        <p:nvSpPr>
          <p:cNvPr id="437" name="Google Shape;437;p25"/>
          <p:cNvSpPr/>
          <p:nvPr/>
        </p:nvSpPr>
        <p:spPr>
          <a:xfrm>
            <a:off x="5461002" y="3429000"/>
            <a:ext cx="558800" cy="558800"/>
          </a:xfrm>
          <a:prstGeom prst="ellipse">
            <a:avLst/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/>
          </a:p>
        </p:txBody>
      </p:sp>
      <p:sp>
        <p:nvSpPr>
          <p:cNvPr id="438" name="Google Shape;438;p25"/>
          <p:cNvSpPr/>
          <p:nvPr/>
        </p:nvSpPr>
        <p:spPr>
          <a:xfrm>
            <a:off x="4706344" y="4320843"/>
            <a:ext cx="558800" cy="558800"/>
          </a:xfrm>
          <a:prstGeom prst="ellipse">
            <a:avLst/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endParaRPr/>
          </a:p>
        </p:txBody>
      </p:sp>
      <p:sp>
        <p:nvSpPr>
          <p:cNvPr id="439" name="Google Shape;439;p25"/>
          <p:cNvSpPr/>
          <p:nvPr/>
        </p:nvSpPr>
        <p:spPr>
          <a:xfrm>
            <a:off x="6238240" y="4320843"/>
            <a:ext cx="558800" cy="558800"/>
          </a:xfrm>
          <a:prstGeom prst="ellipse">
            <a:avLst/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/>
          </a:p>
        </p:txBody>
      </p:sp>
      <p:cxnSp>
        <p:nvCxnSpPr>
          <p:cNvPr id="440" name="Google Shape;440;p25"/>
          <p:cNvCxnSpPr>
            <a:stCxn id="430" idx="3"/>
            <a:endCxn id="431" idx="7"/>
          </p:cNvCxnSpPr>
          <p:nvPr/>
        </p:nvCxnSpPr>
        <p:spPr>
          <a:xfrm flipH="1">
            <a:off x="3021914" y="2986870"/>
            <a:ext cx="1154400" cy="5241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441" name="Google Shape;441;p25"/>
          <p:cNvCxnSpPr>
            <a:stCxn id="437" idx="1"/>
            <a:endCxn id="430" idx="5"/>
          </p:cNvCxnSpPr>
          <p:nvPr/>
        </p:nvCxnSpPr>
        <p:spPr>
          <a:xfrm rot="10800000">
            <a:off x="4571436" y="2986734"/>
            <a:ext cx="971400" cy="5241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442" name="Google Shape;442;p25"/>
          <p:cNvCxnSpPr>
            <a:stCxn id="439" idx="1"/>
            <a:endCxn id="437" idx="5"/>
          </p:cNvCxnSpPr>
          <p:nvPr/>
        </p:nvCxnSpPr>
        <p:spPr>
          <a:xfrm rot="10800000">
            <a:off x="5937874" y="3905877"/>
            <a:ext cx="382200" cy="4968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443" name="Google Shape;443;p25"/>
          <p:cNvCxnSpPr>
            <a:stCxn id="438" idx="7"/>
            <a:endCxn id="437" idx="3"/>
          </p:cNvCxnSpPr>
          <p:nvPr/>
        </p:nvCxnSpPr>
        <p:spPr>
          <a:xfrm rot="10800000" flipH="1">
            <a:off x="5183310" y="3905877"/>
            <a:ext cx="359400" cy="4968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444" name="Google Shape;444;p25"/>
          <p:cNvCxnSpPr>
            <a:stCxn id="431" idx="3"/>
            <a:endCxn id="432" idx="7"/>
          </p:cNvCxnSpPr>
          <p:nvPr/>
        </p:nvCxnSpPr>
        <p:spPr>
          <a:xfrm flipH="1">
            <a:off x="2089014" y="3905966"/>
            <a:ext cx="537900" cy="4143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445" name="Google Shape;445;p25"/>
          <p:cNvCxnSpPr>
            <a:stCxn id="431" idx="5"/>
            <a:endCxn id="436" idx="1"/>
          </p:cNvCxnSpPr>
          <p:nvPr/>
        </p:nvCxnSpPr>
        <p:spPr>
          <a:xfrm>
            <a:off x="3022046" y="3905966"/>
            <a:ext cx="553800" cy="4695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446" name="Google Shape;446;p25"/>
          <p:cNvCxnSpPr>
            <a:stCxn id="432" idx="3"/>
            <a:endCxn id="433" idx="7"/>
          </p:cNvCxnSpPr>
          <p:nvPr/>
        </p:nvCxnSpPr>
        <p:spPr>
          <a:xfrm flipH="1">
            <a:off x="1258582" y="4715389"/>
            <a:ext cx="435300" cy="6576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447" name="Google Shape;447;p25"/>
          <p:cNvCxnSpPr>
            <a:stCxn id="432" idx="5"/>
            <a:endCxn id="435" idx="0"/>
          </p:cNvCxnSpPr>
          <p:nvPr/>
        </p:nvCxnSpPr>
        <p:spPr>
          <a:xfrm>
            <a:off x="2089014" y="4715389"/>
            <a:ext cx="258600" cy="6354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448" name="Google Shape;448;p25"/>
          <p:cNvCxnSpPr>
            <a:stCxn id="436" idx="3"/>
            <a:endCxn id="434" idx="0"/>
          </p:cNvCxnSpPr>
          <p:nvPr/>
        </p:nvCxnSpPr>
        <p:spPr>
          <a:xfrm flipH="1">
            <a:off x="3354346" y="4770719"/>
            <a:ext cx="221400" cy="5442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449" name="Google Shape;449;p25"/>
          <p:cNvSpPr txBox="1"/>
          <p:nvPr/>
        </p:nvSpPr>
        <p:spPr>
          <a:xfrm>
            <a:off x="3792794" y="2519427"/>
            <a:ext cx="30168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450" name="Google Shape;450;p25"/>
          <p:cNvSpPr txBox="1"/>
          <p:nvPr/>
        </p:nvSpPr>
        <p:spPr>
          <a:xfrm>
            <a:off x="2243394" y="3300788"/>
            <a:ext cx="30168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  <p:sp>
        <p:nvSpPr>
          <p:cNvPr id="451" name="Google Shape;451;p25"/>
          <p:cNvSpPr txBox="1"/>
          <p:nvPr/>
        </p:nvSpPr>
        <p:spPr>
          <a:xfrm>
            <a:off x="5630476" y="3083357"/>
            <a:ext cx="30168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/>
          </a:p>
        </p:txBody>
      </p:sp>
      <p:sp>
        <p:nvSpPr>
          <p:cNvPr id="452" name="Google Shape;452;p25"/>
          <p:cNvSpPr txBox="1"/>
          <p:nvPr/>
        </p:nvSpPr>
        <p:spPr>
          <a:xfrm>
            <a:off x="1481399" y="3987800"/>
            <a:ext cx="30168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/>
          </a:p>
        </p:txBody>
      </p:sp>
      <p:sp>
        <p:nvSpPr>
          <p:cNvPr id="453" name="Google Shape;453;p25"/>
          <p:cNvSpPr txBox="1"/>
          <p:nvPr/>
        </p:nvSpPr>
        <p:spPr>
          <a:xfrm>
            <a:off x="617227" y="4964224"/>
            <a:ext cx="30168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/>
          </a:p>
        </p:txBody>
      </p:sp>
      <p:sp>
        <p:nvSpPr>
          <p:cNvPr id="454" name="Google Shape;454;p25"/>
          <p:cNvSpPr txBox="1"/>
          <p:nvPr/>
        </p:nvSpPr>
        <p:spPr>
          <a:xfrm>
            <a:off x="1886975" y="4961686"/>
            <a:ext cx="30168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endParaRPr/>
          </a:p>
        </p:txBody>
      </p:sp>
      <p:sp>
        <p:nvSpPr>
          <p:cNvPr id="455" name="Google Shape;455;p25"/>
          <p:cNvSpPr txBox="1"/>
          <p:nvPr/>
        </p:nvSpPr>
        <p:spPr>
          <a:xfrm>
            <a:off x="2898476" y="4885509"/>
            <a:ext cx="418704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/>
          </a:p>
        </p:txBody>
      </p:sp>
      <p:sp>
        <p:nvSpPr>
          <p:cNvPr id="456" name="Google Shape;456;p25"/>
          <p:cNvSpPr txBox="1"/>
          <p:nvPr/>
        </p:nvSpPr>
        <p:spPr>
          <a:xfrm>
            <a:off x="3712199" y="4003320"/>
            <a:ext cx="30168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/>
          </a:p>
        </p:txBody>
      </p:sp>
      <p:sp>
        <p:nvSpPr>
          <p:cNvPr id="457" name="Google Shape;457;p25"/>
          <p:cNvSpPr txBox="1"/>
          <p:nvPr/>
        </p:nvSpPr>
        <p:spPr>
          <a:xfrm>
            <a:off x="4796076" y="4013654"/>
            <a:ext cx="30168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/>
          </a:p>
        </p:txBody>
      </p:sp>
      <p:sp>
        <p:nvSpPr>
          <p:cNvPr id="458" name="Google Shape;458;p25"/>
          <p:cNvSpPr txBox="1"/>
          <p:nvPr/>
        </p:nvSpPr>
        <p:spPr>
          <a:xfrm>
            <a:off x="6401059" y="4023561"/>
            <a:ext cx="30168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/>
          </a:p>
        </p:txBody>
      </p:sp>
      <p:graphicFrame>
        <p:nvGraphicFramePr>
          <p:cNvPr id="459" name="Google Shape;459;p25"/>
          <p:cNvGraphicFramePr/>
          <p:nvPr/>
        </p:nvGraphicFramePr>
        <p:xfrm>
          <a:off x="7076668" y="1890294"/>
          <a:ext cx="4722000" cy="741700"/>
        </p:xfrm>
        <a:graphic>
          <a:graphicData uri="http://schemas.openxmlformats.org/drawingml/2006/table">
            <a:tbl>
              <a:tblPr firstRow="1" bandRow="1">
                <a:noFill/>
                <a:tableStyleId>{66088737-8E24-4614-AAA7-3D08145F63E1}</a:tableStyleId>
              </a:tblPr>
              <a:tblGrid>
                <a:gridCol w="472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2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72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72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722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722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722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722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4722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47220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1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2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3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4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5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6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7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8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9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10</a:t>
                      </a:r>
                      <a:endParaRPr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16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4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10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14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7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9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3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2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8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1</a:t>
                      </a:r>
                      <a:endParaRPr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460" name="Google Shape;460;p25"/>
          <p:cNvSpPr/>
          <p:nvPr/>
        </p:nvSpPr>
        <p:spPr>
          <a:xfrm>
            <a:off x="2480690" y="3369054"/>
            <a:ext cx="687581" cy="687581"/>
          </a:xfrm>
          <a:prstGeom prst="ellipse">
            <a:avLst/>
          </a:prstGeom>
          <a:noFill/>
          <a:ln w="38100" cap="flat" cmpd="sng">
            <a:solidFill>
              <a:srgbClr val="FF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1" name="Google Shape;461;p25"/>
          <p:cNvSpPr/>
          <p:nvPr/>
        </p:nvSpPr>
        <p:spPr>
          <a:xfrm>
            <a:off x="7529626" y="2220385"/>
            <a:ext cx="496711" cy="496711"/>
          </a:xfrm>
          <a:prstGeom prst="ellipse">
            <a:avLst/>
          </a:prstGeom>
          <a:noFill/>
          <a:ln w="38100" cap="flat" cmpd="sng">
            <a:solidFill>
              <a:srgbClr val="FF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" name="Google Shape;466;p26"/>
          <p:cNvSpPr txBox="1">
            <a:spLocks noGrp="1"/>
          </p:cNvSpPr>
          <p:nvPr>
            <p:ph type="body" idx="1"/>
          </p:nvPr>
        </p:nvSpPr>
        <p:spPr>
          <a:xfrm>
            <a:off x="838200" y="1227909"/>
            <a:ext cx="10515600" cy="1134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85000" lnSpcReduction="20000"/>
          </a:bodyPr>
          <a:lstStyle/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ct val="75000"/>
              <a:buFont typeface="Arial"/>
              <a:buChar char="●"/>
            </a:pPr>
            <a:r>
              <a:rPr lang="en-US" sz="2800" b="1"/>
              <a:t>Tries </a:t>
            </a:r>
            <a:r>
              <a:rPr lang="en-US" sz="2800"/>
              <a:t>to make the array into a max heap</a:t>
            </a:r>
            <a:endParaRPr/>
          </a:p>
          <a:p>
            <a:pPr marL="342900" marR="0" lvl="0" indent="-342900" algn="l" rtl="0">
              <a:lnSpc>
                <a:spcPct val="100000"/>
              </a:lnSpc>
              <a:spcBef>
                <a:spcPts val="476"/>
              </a:spcBef>
              <a:spcAft>
                <a:spcPts val="0"/>
              </a:spcAft>
              <a:buClr>
                <a:srgbClr val="0033CC"/>
              </a:buClr>
              <a:buSzPct val="75000"/>
              <a:buFont typeface="Arial"/>
              <a:buChar char="●"/>
            </a:pPr>
            <a:r>
              <a:rPr lang="en-US"/>
              <a:t>(parent value&gt;= child value)</a:t>
            </a:r>
            <a:endParaRPr/>
          </a:p>
          <a:p>
            <a:pPr marL="342900" marR="0" lvl="0" indent="-342900" algn="l" rtl="0">
              <a:lnSpc>
                <a:spcPct val="100000"/>
              </a:lnSpc>
              <a:spcBef>
                <a:spcPts val="476"/>
              </a:spcBef>
              <a:spcAft>
                <a:spcPts val="0"/>
              </a:spcAft>
              <a:buClr>
                <a:srgbClr val="0033CC"/>
              </a:buClr>
              <a:buSzPct val="75000"/>
              <a:buFont typeface="Arial"/>
              <a:buChar char="●"/>
            </a:pPr>
            <a:r>
              <a:rPr lang="en-US"/>
              <a:t>MaxHeapify(A,index)</a:t>
            </a:r>
            <a:endParaRPr/>
          </a:p>
        </p:txBody>
      </p:sp>
      <p:sp>
        <p:nvSpPr>
          <p:cNvPr id="467" name="Google Shape;467;p26"/>
          <p:cNvSpPr txBox="1">
            <a:spLocks noGrp="1"/>
          </p:cNvSpPr>
          <p:nvPr>
            <p:ph type="dt" idx="10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8E184721-774E-415F-A8AA-F7EF34EE5216}" type="datetime1">
              <a:rPr lang="en-US" smtClean="0"/>
              <a:t>1/12/2026</a:t>
            </a:fld>
            <a:endParaRPr/>
          </a:p>
        </p:txBody>
      </p:sp>
      <p:sp>
        <p:nvSpPr>
          <p:cNvPr id="468" name="Google Shape;468;p26"/>
          <p:cNvSpPr txBox="1">
            <a:spLocks noGrp="1"/>
          </p:cNvSpPr>
          <p:nvPr>
            <p:ph type="ftr" idx="11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Lec Asif Abrar, Dept of CSE, UIU</a:t>
            </a:r>
            <a:endParaRPr/>
          </a:p>
        </p:txBody>
      </p:sp>
      <p:sp>
        <p:nvSpPr>
          <p:cNvPr id="469" name="Google Shape;469;p26"/>
          <p:cNvSpPr txBox="1">
            <a:spLocks noGrp="1"/>
          </p:cNvSpPr>
          <p:nvPr>
            <p:ph type="sldNum" idx="12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  <p:sp>
        <p:nvSpPr>
          <p:cNvPr id="470" name="Google Shape;470;p26"/>
          <p:cNvSpPr txBox="1">
            <a:spLocks noGrp="1"/>
          </p:cNvSpPr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/>
              <a:t>MAX HEAPIFY</a:t>
            </a:r>
            <a:endParaRPr/>
          </a:p>
        </p:txBody>
      </p:sp>
      <p:sp>
        <p:nvSpPr>
          <p:cNvPr id="471" name="Google Shape;471;p26"/>
          <p:cNvSpPr/>
          <p:nvPr/>
        </p:nvSpPr>
        <p:spPr>
          <a:xfrm>
            <a:off x="4094480" y="2509904"/>
            <a:ext cx="558800" cy="558800"/>
          </a:xfrm>
          <a:prstGeom prst="ellipse">
            <a:avLst/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16</a:t>
            </a:r>
            <a:endParaRPr/>
          </a:p>
        </p:txBody>
      </p:sp>
      <p:sp>
        <p:nvSpPr>
          <p:cNvPr id="472" name="Google Shape;472;p26"/>
          <p:cNvSpPr/>
          <p:nvPr/>
        </p:nvSpPr>
        <p:spPr>
          <a:xfrm>
            <a:off x="2545080" y="3429000"/>
            <a:ext cx="558800" cy="558800"/>
          </a:xfrm>
          <a:prstGeom prst="ellipse">
            <a:avLst/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/>
          </a:p>
        </p:txBody>
      </p:sp>
      <p:sp>
        <p:nvSpPr>
          <p:cNvPr id="473" name="Google Shape;473;p26"/>
          <p:cNvSpPr/>
          <p:nvPr/>
        </p:nvSpPr>
        <p:spPr>
          <a:xfrm>
            <a:off x="1612048" y="4238423"/>
            <a:ext cx="558800" cy="558800"/>
          </a:xfrm>
          <a:prstGeom prst="ellipse">
            <a:avLst/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14</a:t>
            </a:r>
            <a:endParaRPr/>
          </a:p>
        </p:txBody>
      </p:sp>
      <p:sp>
        <p:nvSpPr>
          <p:cNvPr id="474" name="Google Shape;474;p26"/>
          <p:cNvSpPr/>
          <p:nvPr/>
        </p:nvSpPr>
        <p:spPr>
          <a:xfrm>
            <a:off x="781753" y="5291186"/>
            <a:ext cx="558800" cy="558800"/>
          </a:xfrm>
          <a:prstGeom prst="ellipse">
            <a:avLst/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  <p:sp>
        <p:nvSpPr>
          <p:cNvPr id="475" name="Google Shape;475;p26"/>
          <p:cNvSpPr/>
          <p:nvPr/>
        </p:nvSpPr>
        <p:spPr>
          <a:xfrm>
            <a:off x="3075075" y="5315058"/>
            <a:ext cx="558800" cy="558800"/>
          </a:xfrm>
          <a:prstGeom prst="ellipse">
            <a:avLst/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476" name="Google Shape;476;p26"/>
          <p:cNvSpPr/>
          <p:nvPr/>
        </p:nvSpPr>
        <p:spPr>
          <a:xfrm>
            <a:off x="2068114" y="5350691"/>
            <a:ext cx="558800" cy="558800"/>
          </a:xfrm>
          <a:prstGeom prst="ellipse">
            <a:avLst/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/>
          </a:p>
        </p:txBody>
      </p:sp>
      <p:sp>
        <p:nvSpPr>
          <p:cNvPr id="477" name="Google Shape;477;p26"/>
          <p:cNvSpPr/>
          <p:nvPr/>
        </p:nvSpPr>
        <p:spPr>
          <a:xfrm>
            <a:off x="3493912" y="4293753"/>
            <a:ext cx="558800" cy="558800"/>
          </a:xfrm>
          <a:prstGeom prst="ellipse">
            <a:avLst/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/>
          </a:p>
        </p:txBody>
      </p:sp>
      <p:sp>
        <p:nvSpPr>
          <p:cNvPr id="478" name="Google Shape;478;p26"/>
          <p:cNvSpPr/>
          <p:nvPr/>
        </p:nvSpPr>
        <p:spPr>
          <a:xfrm>
            <a:off x="5461002" y="3429000"/>
            <a:ext cx="558800" cy="558800"/>
          </a:xfrm>
          <a:prstGeom prst="ellipse">
            <a:avLst/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/>
          </a:p>
        </p:txBody>
      </p:sp>
      <p:sp>
        <p:nvSpPr>
          <p:cNvPr id="479" name="Google Shape;479;p26"/>
          <p:cNvSpPr/>
          <p:nvPr/>
        </p:nvSpPr>
        <p:spPr>
          <a:xfrm>
            <a:off x="4706344" y="4320843"/>
            <a:ext cx="558800" cy="558800"/>
          </a:xfrm>
          <a:prstGeom prst="ellipse">
            <a:avLst/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endParaRPr/>
          </a:p>
        </p:txBody>
      </p:sp>
      <p:sp>
        <p:nvSpPr>
          <p:cNvPr id="480" name="Google Shape;480;p26"/>
          <p:cNvSpPr/>
          <p:nvPr/>
        </p:nvSpPr>
        <p:spPr>
          <a:xfrm>
            <a:off x="6238240" y="4320843"/>
            <a:ext cx="558800" cy="558800"/>
          </a:xfrm>
          <a:prstGeom prst="ellipse">
            <a:avLst/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/>
          </a:p>
        </p:txBody>
      </p:sp>
      <p:cxnSp>
        <p:nvCxnSpPr>
          <p:cNvPr id="481" name="Google Shape;481;p26"/>
          <p:cNvCxnSpPr>
            <a:stCxn id="471" idx="3"/>
            <a:endCxn id="472" idx="7"/>
          </p:cNvCxnSpPr>
          <p:nvPr/>
        </p:nvCxnSpPr>
        <p:spPr>
          <a:xfrm flipH="1">
            <a:off x="3021914" y="2986870"/>
            <a:ext cx="1154400" cy="5241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482" name="Google Shape;482;p26"/>
          <p:cNvCxnSpPr>
            <a:stCxn id="478" idx="1"/>
            <a:endCxn id="471" idx="5"/>
          </p:cNvCxnSpPr>
          <p:nvPr/>
        </p:nvCxnSpPr>
        <p:spPr>
          <a:xfrm rot="10800000">
            <a:off x="4571436" y="2986734"/>
            <a:ext cx="971400" cy="5241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483" name="Google Shape;483;p26"/>
          <p:cNvCxnSpPr>
            <a:stCxn id="480" idx="1"/>
            <a:endCxn id="478" idx="5"/>
          </p:cNvCxnSpPr>
          <p:nvPr/>
        </p:nvCxnSpPr>
        <p:spPr>
          <a:xfrm rot="10800000">
            <a:off x="5937874" y="3905877"/>
            <a:ext cx="382200" cy="4968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484" name="Google Shape;484;p26"/>
          <p:cNvCxnSpPr>
            <a:stCxn id="479" idx="7"/>
            <a:endCxn id="478" idx="3"/>
          </p:cNvCxnSpPr>
          <p:nvPr/>
        </p:nvCxnSpPr>
        <p:spPr>
          <a:xfrm rot="10800000" flipH="1">
            <a:off x="5183310" y="3905877"/>
            <a:ext cx="359400" cy="4968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485" name="Google Shape;485;p26"/>
          <p:cNvCxnSpPr>
            <a:stCxn id="472" idx="3"/>
            <a:endCxn id="473" idx="7"/>
          </p:cNvCxnSpPr>
          <p:nvPr/>
        </p:nvCxnSpPr>
        <p:spPr>
          <a:xfrm flipH="1">
            <a:off x="2089014" y="3905966"/>
            <a:ext cx="537900" cy="4143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486" name="Google Shape;486;p26"/>
          <p:cNvCxnSpPr>
            <a:stCxn id="472" idx="5"/>
            <a:endCxn id="477" idx="1"/>
          </p:cNvCxnSpPr>
          <p:nvPr/>
        </p:nvCxnSpPr>
        <p:spPr>
          <a:xfrm>
            <a:off x="3022046" y="3905966"/>
            <a:ext cx="553800" cy="4695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487" name="Google Shape;487;p26"/>
          <p:cNvCxnSpPr>
            <a:stCxn id="473" idx="3"/>
            <a:endCxn id="474" idx="7"/>
          </p:cNvCxnSpPr>
          <p:nvPr/>
        </p:nvCxnSpPr>
        <p:spPr>
          <a:xfrm flipH="1">
            <a:off x="1258582" y="4715389"/>
            <a:ext cx="435300" cy="6576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488" name="Google Shape;488;p26"/>
          <p:cNvCxnSpPr>
            <a:stCxn id="473" idx="5"/>
            <a:endCxn id="476" idx="0"/>
          </p:cNvCxnSpPr>
          <p:nvPr/>
        </p:nvCxnSpPr>
        <p:spPr>
          <a:xfrm>
            <a:off x="2089014" y="4715389"/>
            <a:ext cx="258600" cy="6354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489" name="Google Shape;489;p26"/>
          <p:cNvCxnSpPr>
            <a:stCxn id="477" idx="3"/>
            <a:endCxn id="475" idx="0"/>
          </p:cNvCxnSpPr>
          <p:nvPr/>
        </p:nvCxnSpPr>
        <p:spPr>
          <a:xfrm flipH="1">
            <a:off x="3354346" y="4770719"/>
            <a:ext cx="221400" cy="5442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490" name="Google Shape;490;p26"/>
          <p:cNvSpPr txBox="1"/>
          <p:nvPr/>
        </p:nvSpPr>
        <p:spPr>
          <a:xfrm>
            <a:off x="3792794" y="2519427"/>
            <a:ext cx="30168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491" name="Google Shape;491;p26"/>
          <p:cNvSpPr txBox="1"/>
          <p:nvPr/>
        </p:nvSpPr>
        <p:spPr>
          <a:xfrm>
            <a:off x="2243394" y="3300788"/>
            <a:ext cx="30168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  <p:sp>
        <p:nvSpPr>
          <p:cNvPr id="492" name="Google Shape;492;p26"/>
          <p:cNvSpPr txBox="1"/>
          <p:nvPr/>
        </p:nvSpPr>
        <p:spPr>
          <a:xfrm>
            <a:off x="5630476" y="3083357"/>
            <a:ext cx="30168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/>
          </a:p>
        </p:txBody>
      </p:sp>
      <p:sp>
        <p:nvSpPr>
          <p:cNvPr id="493" name="Google Shape;493;p26"/>
          <p:cNvSpPr txBox="1"/>
          <p:nvPr/>
        </p:nvSpPr>
        <p:spPr>
          <a:xfrm>
            <a:off x="1481399" y="3987800"/>
            <a:ext cx="30168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/>
          </a:p>
        </p:txBody>
      </p:sp>
      <p:sp>
        <p:nvSpPr>
          <p:cNvPr id="494" name="Google Shape;494;p26"/>
          <p:cNvSpPr txBox="1"/>
          <p:nvPr/>
        </p:nvSpPr>
        <p:spPr>
          <a:xfrm>
            <a:off x="617227" y="4964224"/>
            <a:ext cx="30168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/>
          </a:p>
        </p:txBody>
      </p:sp>
      <p:sp>
        <p:nvSpPr>
          <p:cNvPr id="495" name="Google Shape;495;p26"/>
          <p:cNvSpPr txBox="1"/>
          <p:nvPr/>
        </p:nvSpPr>
        <p:spPr>
          <a:xfrm>
            <a:off x="1886975" y="4961686"/>
            <a:ext cx="30168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endParaRPr/>
          </a:p>
        </p:txBody>
      </p:sp>
      <p:sp>
        <p:nvSpPr>
          <p:cNvPr id="496" name="Google Shape;496;p26"/>
          <p:cNvSpPr txBox="1"/>
          <p:nvPr/>
        </p:nvSpPr>
        <p:spPr>
          <a:xfrm>
            <a:off x="2898476" y="4885509"/>
            <a:ext cx="418704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/>
          </a:p>
        </p:txBody>
      </p:sp>
      <p:sp>
        <p:nvSpPr>
          <p:cNvPr id="497" name="Google Shape;497;p26"/>
          <p:cNvSpPr txBox="1"/>
          <p:nvPr/>
        </p:nvSpPr>
        <p:spPr>
          <a:xfrm>
            <a:off x="3712199" y="4003320"/>
            <a:ext cx="30168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/>
          </a:p>
        </p:txBody>
      </p:sp>
      <p:sp>
        <p:nvSpPr>
          <p:cNvPr id="498" name="Google Shape;498;p26"/>
          <p:cNvSpPr txBox="1"/>
          <p:nvPr/>
        </p:nvSpPr>
        <p:spPr>
          <a:xfrm>
            <a:off x="4796076" y="4013654"/>
            <a:ext cx="30168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/>
          </a:p>
        </p:txBody>
      </p:sp>
      <p:sp>
        <p:nvSpPr>
          <p:cNvPr id="499" name="Google Shape;499;p26"/>
          <p:cNvSpPr txBox="1"/>
          <p:nvPr/>
        </p:nvSpPr>
        <p:spPr>
          <a:xfrm>
            <a:off x="6401059" y="4023561"/>
            <a:ext cx="30168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/>
          </a:p>
        </p:txBody>
      </p:sp>
      <p:graphicFrame>
        <p:nvGraphicFramePr>
          <p:cNvPr id="500" name="Google Shape;500;p26"/>
          <p:cNvGraphicFramePr/>
          <p:nvPr/>
        </p:nvGraphicFramePr>
        <p:xfrm>
          <a:off x="7076668" y="1890294"/>
          <a:ext cx="4722000" cy="741700"/>
        </p:xfrm>
        <a:graphic>
          <a:graphicData uri="http://schemas.openxmlformats.org/drawingml/2006/table">
            <a:tbl>
              <a:tblPr firstRow="1" bandRow="1">
                <a:noFill/>
                <a:tableStyleId>{66088737-8E24-4614-AAA7-3D08145F63E1}</a:tableStyleId>
              </a:tblPr>
              <a:tblGrid>
                <a:gridCol w="472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2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72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72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722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722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722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722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4722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47220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1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2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3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4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5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6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7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8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9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10</a:t>
                      </a:r>
                      <a:endParaRPr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16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4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10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14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7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9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3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2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8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1</a:t>
                      </a:r>
                      <a:endParaRPr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501" name="Google Shape;501;p26"/>
          <p:cNvSpPr/>
          <p:nvPr/>
        </p:nvSpPr>
        <p:spPr>
          <a:xfrm>
            <a:off x="2480690" y="3369054"/>
            <a:ext cx="687581" cy="687581"/>
          </a:xfrm>
          <a:prstGeom prst="ellipse">
            <a:avLst/>
          </a:prstGeom>
          <a:noFill/>
          <a:ln w="38100" cap="flat" cmpd="sng">
            <a:solidFill>
              <a:srgbClr val="FF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2" name="Google Shape;502;p26"/>
          <p:cNvSpPr/>
          <p:nvPr/>
        </p:nvSpPr>
        <p:spPr>
          <a:xfrm>
            <a:off x="7529626" y="2220385"/>
            <a:ext cx="496711" cy="496711"/>
          </a:xfrm>
          <a:prstGeom prst="ellipse">
            <a:avLst/>
          </a:prstGeom>
          <a:noFill/>
          <a:ln w="38100" cap="flat" cmpd="sng">
            <a:solidFill>
              <a:srgbClr val="FF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3" name="Google Shape;503;p26"/>
          <p:cNvSpPr/>
          <p:nvPr/>
        </p:nvSpPr>
        <p:spPr>
          <a:xfrm>
            <a:off x="6992898" y="3099468"/>
            <a:ext cx="5054558" cy="2546367"/>
          </a:xfrm>
          <a:prstGeom prst="rect">
            <a:avLst/>
          </a:prstGeom>
          <a:gradFill>
            <a:gsLst>
              <a:gs pos="0">
                <a:srgbClr val="D1D1D1"/>
              </a:gs>
              <a:gs pos="50000">
                <a:srgbClr val="C7C7C7"/>
              </a:gs>
              <a:gs pos="100000">
                <a:srgbClr val="C0C0C0"/>
              </a:gs>
            </a:gsLst>
            <a:lin ang="5400000" scaled="0"/>
          </a:gradFill>
          <a:ln w="9525" cap="flat" cmpd="sng">
            <a:solidFill>
              <a:schemeClr val="accent3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u="sng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How the function works:</a:t>
            </a:r>
            <a:endParaRPr/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AutoNum type="arabicPeriod"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It is applied on an index.</a:t>
            </a:r>
            <a:endParaRPr/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AutoNum type="arabicPeriod"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It checks if the parent is greater than the child</a:t>
            </a:r>
            <a:endParaRPr/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AutoNum type="arabicPeriod"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If the parent is greater, return.</a:t>
            </a:r>
            <a:endParaRPr/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AutoNum type="arabicPeriod"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If the child is greater, then swap values with child</a:t>
            </a:r>
            <a:endParaRPr/>
          </a:p>
          <a:p>
            <a:pPr marL="800100" marR="0" lvl="1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AutoNum type="alphaLcParenR"/>
            </a:pP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Run the function on the child (recursively)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8" name="Google Shape;508;p27"/>
          <p:cNvSpPr txBox="1">
            <a:spLocks noGrp="1"/>
          </p:cNvSpPr>
          <p:nvPr>
            <p:ph type="body" idx="1"/>
          </p:nvPr>
        </p:nvSpPr>
        <p:spPr>
          <a:xfrm>
            <a:off x="838200" y="1227909"/>
            <a:ext cx="10515600" cy="1134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85000" lnSpcReduction="20000"/>
          </a:bodyPr>
          <a:lstStyle/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ct val="75000"/>
              <a:buFont typeface="Arial"/>
              <a:buChar char="●"/>
            </a:pPr>
            <a:r>
              <a:rPr lang="en-US" sz="2800" b="1"/>
              <a:t>Tries </a:t>
            </a:r>
            <a:r>
              <a:rPr lang="en-US" sz="2800"/>
              <a:t>to make the array into a max heap</a:t>
            </a:r>
            <a:endParaRPr/>
          </a:p>
          <a:p>
            <a:pPr marL="342900" marR="0" lvl="0" indent="-342900" algn="l" rtl="0">
              <a:lnSpc>
                <a:spcPct val="100000"/>
              </a:lnSpc>
              <a:spcBef>
                <a:spcPts val="476"/>
              </a:spcBef>
              <a:spcAft>
                <a:spcPts val="0"/>
              </a:spcAft>
              <a:buClr>
                <a:srgbClr val="0033CC"/>
              </a:buClr>
              <a:buSzPct val="75000"/>
              <a:buFont typeface="Arial"/>
              <a:buChar char="●"/>
            </a:pPr>
            <a:r>
              <a:rPr lang="en-US"/>
              <a:t>(parent value&gt;= child value)</a:t>
            </a:r>
            <a:endParaRPr/>
          </a:p>
          <a:p>
            <a:pPr marL="342900" marR="0" lvl="0" indent="-342900" algn="l" rtl="0">
              <a:lnSpc>
                <a:spcPct val="100000"/>
              </a:lnSpc>
              <a:spcBef>
                <a:spcPts val="476"/>
              </a:spcBef>
              <a:spcAft>
                <a:spcPts val="0"/>
              </a:spcAft>
              <a:buClr>
                <a:srgbClr val="0033CC"/>
              </a:buClr>
              <a:buSzPct val="75000"/>
              <a:buFont typeface="Arial"/>
              <a:buChar char="●"/>
            </a:pPr>
            <a:r>
              <a:rPr lang="en-US"/>
              <a:t>MaxHeapify(A,index)</a:t>
            </a:r>
            <a:endParaRPr/>
          </a:p>
        </p:txBody>
      </p:sp>
      <p:sp>
        <p:nvSpPr>
          <p:cNvPr id="509" name="Google Shape;509;p27"/>
          <p:cNvSpPr txBox="1">
            <a:spLocks noGrp="1"/>
          </p:cNvSpPr>
          <p:nvPr>
            <p:ph type="dt" idx="10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7DB200A3-44DC-4DE5-8314-C42A1095379E}" type="datetime1">
              <a:rPr lang="en-US" smtClean="0"/>
              <a:t>1/12/2026</a:t>
            </a:fld>
            <a:endParaRPr/>
          </a:p>
        </p:txBody>
      </p:sp>
      <p:sp>
        <p:nvSpPr>
          <p:cNvPr id="510" name="Google Shape;510;p27"/>
          <p:cNvSpPr txBox="1">
            <a:spLocks noGrp="1"/>
          </p:cNvSpPr>
          <p:nvPr>
            <p:ph type="ftr" idx="11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Lec Asif Abrar, Dept of CSE, UIU</a:t>
            </a:r>
            <a:endParaRPr/>
          </a:p>
        </p:txBody>
      </p:sp>
      <p:sp>
        <p:nvSpPr>
          <p:cNvPr id="511" name="Google Shape;511;p27"/>
          <p:cNvSpPr txBox="1">
            <a:spLocks noGrp="1"/>
          </p:cNvSpPr>
          <p:nvPr>
            <p:ph type="sldNum" idx="12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13</a:t>
            </a:fld>
            <a:endParaRPr/>
          </a:p>
        </p:txBody>
      </p:sp>
      <p:sp>
        <p:nvSpPr>
          <p:cNvPr id="512" name="Google Shape;512;p27"/>
          <p:cNvSpPr txBox="1">
            <a:spLocks noGrp="1"/>
          </p:cNvSpPr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/>
              <a:t>MAX HEAPIFY</a:t>
            </a:r>
            <a:endParaRPr/>
          </a:p>
        </p:txBody>
      </p:sp>
      <p:sp>
        <p:nvSpPr>
          <p:cNvPr id="513" name="Google Shape;513;p27"/>
          <p:cNvSpPr/>
          <p:nvPr/>
        </p:nvSpPr>
        <p:spPr>
          <a:xfrm>
            <a:off x="4094480" y="2509904"/>
            <a:ext cx="558800" cy="558800"/>
          </a:xfrm>
          <a:prstGeom prst="ellipse">
            <a:avLst/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16</a:t>
            </a:r>
            <a:endParaRPr/>
          </a:p>
        </p:txBody>
      </p:sp>
      <p:sp>
        <p:nvSpPr>
          <p:cNvPr id="514" name="Google Shape;514;p27"/>
          <p:cNvSpPr/>
          <p:nvPr/>
        </p:nvSpPr>
        <p:spPr>
          <a:xfrm>
            <a:off x="2545080" y="3429000"/>
            <a:ext cx="558800" cy="558800"/>
          </a:xfrm>
          <a:prstGeom prst="ellipse">
            <a:avLst/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/>
          </a:p>
        </p:txBody>
      </p:sp>
      <p:sp>
        <p:nvSpPr>
          <p:cNvPr id="515" name="Google Shape;515;p27"/>
          <p:cNvSpPr/>
          <p:nvPr/>
        </p:nvSpPr>
        <p:spPr>
          <a:xfrm>
            <a:off x="1612048" y="4238423"/>
            <a:ext cx="558800" cy="558800"/>
          </a:xfrm>
          <a:prstGeom prst="ellipse">
            <a:avLst/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14</a:t>
            </a:r>
            <a:endParaRPr/>
          </a:p>
        </p:txBody>
      </p:sp>
      <p:sp>
        <p:nvSpPr>
          <p:cNvPr id="516" name="Google Shape;516;p27"/>
          <p:cNvSpPr/>
          <p:nvPr/>
        </p:nvSpPr>
        <p:spPr>
          <a:xfrm>
            <a:off x="781753" y="5291186"/>
            <a:ext cx="558800" cy="558800"/>
          </a:xfrm>
          <a:prstGeom prst="ellipse">
            <a:avLst/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  <p:sp>
        <p:nvSpPr>
          <p:cNvPr id="517" name="Google Shape;517;p27"/>
          <p:cNvSpPr/>
          <p:nvPr/>
        </p:nvSpPr>
        <p:spPr>
          <a:xfrm>
            <a:off x="3075075" y="5315058"/>
            <a:ext cx="558800" cy="558800"/>
          </a:xfrm>
          <a:prstGeom prst="ellipse">
            <a:avLst/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518" name="Google Shape;518;p27"/>
          <p:cNvSpPr/>
          <p:nvPr/>
        </p:nvSpPr>
        <p:spPr>
          <a:xfrm>
            <a:off x="2068114" y="5350691"/>
            <a:ext cx="558800" cy="558800"/>
          </a:xfrm>
          <a:prstGeom prst="ellipse">
            <a:avLst/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/>
          </a:p>
        </p:txBody>
      </p:sp>
      <p:sp>
        <p:nvSpPr>
          <p:cNvPr id="519" name="Google Shape;519;p27"/>
          <p:cNvSpPr/>
          <p:nvPr/>
        </p:nvSpPr>
        <p:spPr>
          <a:xfrm>
            <a:off x="3493912" y="4293753"/>
            <a:ext cx="558800" cy="558800"/>
          </a:xfrm>
          <a:prstGeom prst="ellipse">
            <a:avLst/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/>
          </a:p>
        </p:txBody>
      </p:sp>
      <p:sp>
        <p:nvSpPr>
          <p:cNvPr id="520" name="Google Shape;520;p27"/>
          <p:cNvSpPr/>
          <p:nvPr/>
        </p:nvSpPr>
        <p:spPr>
          <a:xfrm>
            <a:off x="5461002" y="3429000"/>
            <a:ext cx="558800" cy="558800"/>
          </a:xfrm>
          <a:prstGeom prst="ellipse">
            <a:avLst/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/>
          </a:p>
        </p:txBody>
      </p:sp>
      <p:sp>
        <p:nvSpPr>
          <p:cNvPr id="521" name="Google Shape;521;p27"/>
          <p:cNvSpPr/>
          <p:nvPr/>
        </p:nvSpPr>
        <p:spPr>
          <a:xfrm>
            <a:off x="4706344" y="4320843"/>
            <a:ext cx="558800" cy="558800"/>
          </a:xfrm>
          <a:prstGeom prst="ellipse">
            <a:avLst/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endParaRPr/>
          </a:p>
        </p:txBody>
      </p:sp>
      <p:sp>
        <p:nvSpPr>
          <p:cNvPr id="522" name="Google Shape;522;p27"/>
          <p:cNvSpPr/>
          <p:nvPr/>
        </p:nvSpPr>
        <p:spPr>
          <a:xfrm>
            <a:off x="6238240" y="4320843"/>
            <a:ext cx="558800" cy="558800"/>
          </a:xfrm>
          <a:prstGeom prst="ellipse">
            <a:avLst/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/>
          </a:p>
        </p:txBody>
      </p:sp>
      <p:cxnSp>
        <p:nvCxnSpPr>
          <p:cNvPr id="523" name="Google Shape;523;p27"/>
          <p:cNvCxnSpPr>
            <a:stCxn id="513" idx="3"/>
            <a:endCxn id="514" idx="7"/>
          </p:cNvCxnSpPr>
          <p:nvPr/>
        </p:nvCxnSpPr>
        <p:spPr>
          <a:xfrm flipH="1">
            <a:off x="3021914" y="2986870"/>
            <a:ext cx="1154400" cy="5241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524" name="Google Shape;524;p27"/>
          <p:cNvCxnSpPr>
            <a:stCxn id="520" idx="1"/>
            <a:endCxn id="513" idx="5"/>
          </p:cNvCxnSpPr>
          <p:nvPr/>
        </p:nvCxnSpPr>
        <p:spPr>
          <a:xfrm rot="10800000">
            <a:off x="4571436" y="2986734"/>
            <a:ext cx="971400" cy="5241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525" name="Google Shape;525;p27"/>
          <p:cNvCxnSpPr>
            <a:stCxn id="522" idx="1"/>
            <a:endCxn id="520" idx="5"/>
          </p:cNvCxnSpPr>
          <p:nvPr/>
        </p:nvCxnSpPr>
        <p:spPr>
          <a:xfrm rot="10800000">
            <a:off x="5937874" y="3905877"/>
            <a:ext cx="382200" cy="4968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526" name="Google Shape;526;p27"/>
          <p:cNvCxnSpPr>
            <a:stCxn id="521" idx="7"/>
            <a:endCxn id="520" idx="3"/>
          </p:cNvCxnSpPr>
          <p:nvPr/>
        </p:nvCxnSpPr>
        <p:spPr>
          <a:xfrm rot="10800000" flipH="1">
            <a:off x="5183310" y="3905877"/>
            <a:ext cx="359400" cy="4968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527" name="Google Shape;527;p27"/>
          <p:cNvCxnSpPr>
            <a:stCxn id="514" idx="3"/>
            <a:endCxn id="515" idx="7"/>
          </p:cNvCxnSpPr>
          <p:nvPr/>
        </p:nvCxnSpPr>
        <p:spPr>
          <a:xfrm flipH="1">
            <a:off x="2089014" y="3905966"/>
            <a:ext cx="537900" cy="4143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528" name="Google Shape;528;p27"/>
          <p:cNvCxnSpPr>
            <a:stCxn id="514" idx="5"/>
            <a:endCxn id="519" idx="1"/>
          </p:cNvCxnSpPr>
          <p:nvPr/>
        </p:nvCxnSpPr>
        <p:spPr>
          <a:xfrm>
            <a:off x="3022046" y="3905966"/>
            <a:ext cx="553800" cy="4695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529" name="Google Shape;529;p27"/>
          <p:cNvCxnSpPr>
            <a:stCxn id="515" idx="3"/>
            <a:endCxn id="516" idx="7"/>
          </p:cNvCxnSpPr>
          <p:nvPr/>
        </p:nvCxnSpPr>
        <p:spPr>
          <a:xfrm flipH="1">
            <a:off x="1258582" y="4715389"/>
            <a:ext cx="435300" cy="6576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530" name="Google Shape;530;p27"/>
          <p:cNvCxnSpPr>
            <a:stCxn id="515" idx="5"/>
            <a:endCxn id="518" idx="0"/>
          </p:cNvCxnSpPr>
          <p:nvPr/>
        </p:nvCxnSpPr>
        <p:spPr>
          <a:xfrm>
            <a:off x="2089014" y="4715389"/>
            <a:ext cx="258600" cy="6354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531" name="Google Shape;531;p27"/>
          <p:cNvCxnSpPr>
            <a:stCxn id="519" idx="3"/>
            <a:endCxn id="517" idx="0"/>
          </p:cNvCxnSpPr>
          <p:nvPr/>
        </p:nvCxnSpPr>
        <p:spPr>
          <a:xfrm flipH="1">
            <a:off x="3354346" y="4770719"/>
            <a:ext cx="221400" cy="5442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532" name="Google Shape;532;p27"/>
          <p:cNvSpPr txBox="1"/>
          <p:nvPr/>
        </p:nvSpPr>
        <p:spPr>
          <a:xfrm>
            <a:off x="3792794" y="2519427"/>
            <a:ext cx="30168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533" name="Google Shape;533;p27"/>
          <p:cNvSpPr txBox="1"/>
          <p:nvPr/>
        </p:nvSpPr>
        <p:spPr>
          <a:xfrm>
            <a:off x="2243394" y="3300788"/>
            <a:ext cx="30168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  <p:sp>
        <p:nvSpPr>
          <p:cNvPr id="534" name="Google Shape;534;p27"/>
          <p:cNvSpPr txBox="1"/>
          <p:nvPr/>
        </p:nvSpPr>
        <p:spPr>
          <a:xfrm>
            <a:off x="5630476" y="3083357"/>
            <a:ext cx="30168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/>
          </a:p>
        </p:txBody>
      </p:sp>
      <p:sp>
        <p:nvSpPr>
          <p:cNvPr id="535" name="Google Shape;535;p27"/>
          <p:cNvSpPr txBox="1"/>
          <p:nvPr/>
        </p:nvSpPr>
        <p:spPr>
          <a:xfrm>
            <a:off x="1481399" y="3987800"/>
            <a:ext cx="30168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/>
          </a:p>
        </p:txBody>
      </p:sp>
      <p:sp>
        <p:nvSpPr>
          <p:cNvPr id="536" name="Google Shape;536;p27"/>
          <p:cNvSpPr txBox="1"/>
          <p:nvPr/>
        </p:nvSpPr>
        <p:spPr>
          <a:xfrm>
            <a:off x="617227" y="4964224"/>
            <a:ext cx="30168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/>
          </a:p>
        </p:txBody>
      </p:sp>
      <p:sp>
        <p:nvSpPr>
          <p:cNvPr id="537" name="Google Shape;537;p27"/>
          <p:cNvSpPr txBox="1"/>
          <p:nvPr/>
        </p:nvSpPr>
        <p:spPr>
          <a:xfrm>
            <a:off x="1886975" y="4961686"/>
            <a:ext cx="30168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endParaRPr/>
          </a:p>
        </p:txBody>
      </p:sp>
      <p:sp>
        <p:nvSpPr>
          <p:cNvPr id="538" name="Google Shape;538;p27"/>
          <p:cNvSpPr txBox="1"/>
          <p:nvPr/>
        </p:nvSpPr>
        <p:spPr>
          <a:xfrm>
            <a:off x="2898476" y="4885509"/>
            <a:ext cx="418704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/>
          </a:p>
        </p:txBody>
      </p:sp>
      <p:sp>
        <p:nvSpPr>
          <p:cNvPr id="539" name="Google Shape;539;p27"/>
          <p:cNvSpPr txBox="1"/>
          <p:nvPr/>
        </p:nvSpPr>
        <p:spPr>
          <a:xfrm>
            <a:off x="3712199" y="4003320"/>
            <a:ext cx="30168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/>
          </a:p>
        </p:txBody>
      </p:sp>
      <p:sp>
        <p:nvSpPr>
          <p:cNvPr id="540" name="Google Shape;540;p27"/>
          <p:cNvSpPr txBox="1"/>
          <p:nvPr/>
        </p:nvSpPr>
        <p:spPr>
          <a:xfrm>
            <a:off x="4796076" y="4013654"/>
            <a:ext cx="30168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/>
          </a:p>
        </p:txBody>
      </p:sp>
      <p:sp>
        <p:nvSpPr>
          <p:cNvPr id="541" name="Google Shape;541;p27"/>
          <p:cNvSpPr txBox="1"/>
          <p:nvPr/>
        </p:nvSpPr>
        <p:spPr>
          <a:xfrm>
            <a:off x="6401059" y="4023561"/>
            <a:ext cx="30168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/>
          </a:p>
        </p:txBody>
      </p:sp>
      <p:graphicFrame>
        <p:nvGraphicFramePr>
          <p:cNvPr id="542" name="Google Shape;542;p27"/>
          <p:cNvGraphicFramePr/>
          <p:nvPr/>
        </p:nvGraphicFramePr>
        <p:xfrm>
          <a:off x="7076668" y="1890294"/>
          <a:ext cx="4722000" cy="741700"/>
        </p:xfrm>
        <a:graphic>
          <a:graphicData uri="http://schemas.openxmlformats.org/drawingml/2006/table">
            <a:tbl>
              <a:tblPr firstRow="1" bandRow="1">
                <a:noFill/>
                <a:tableStyleId>{66088737-8E24-4614-AAA7-3D08145F63E1}</a:tableStyleId>
              </a:tblPr>
              <a:tblGrid>
                <a:gridCol w="472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2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72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72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722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722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722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722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4722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47220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1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2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3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4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5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6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7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8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9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10</a:t>
                      </a:r>
                      <a:endParaRPr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16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4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10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14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7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9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3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2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8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1</a:t>
                      </a:r>
                      <a:endParaRPr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543" name="Google Shape;543;p27"/>
          <p:cNvSpPr/>
          <p:nvPr/>
        </p:nvSpPr>
        <p:spPr>
          <a:xfrm>
            <a:off x="6992898" y="3099468"/>
            <a:ext cx="5054558" cy="2546367"/>
          </a:xfrm>
          <a:prstGeom prst="rect">
            <a:avLst/>
          </a:prstGeom>
          <a:gradFill>
            <a:gsLst>
              <a:gs pos="0">
                <a:srgbClr val="D1D1D1"/>
              </a:gs>
              <a:gs pos="50000">
                <a:srgbClr val="C7C7C7"/>
              </a:gs>
              <a:gs pos="100000">
                <a:srgbClr val="C0C0C0"/>
              </a:gs>
            </a:gsLst>
            <a:lin ang="5400000" scaled="0"/>
          </a:gradFill>
          <a:ln w="9525" cap="flat" cmpd="sng">
            <a:solidFill>
              <a:schemeClr val="accent3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u="sng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How the function works:</a:t>
            </a:r>
            <a:endParaRPr/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AutoNum type="arabicPeriod"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It is applied on an index.</a:t>
            </a:r>
            <a:endParaRPr/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AutoNum type="arabicPeriod"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It checks if the parent is greater than the child</a:t>
            </a:r>
            <a:endParaRPr/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AutoNum type="arabicPeriod"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If the parent is greater, return.</a:t>
            </a:r>
            <a:endParaRPr/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AutoNum type="arabicPeriod"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If the child is greater, then swap values with child</a:t>
            </a:r>
            <a:endParaRPr/>
          </a:p>
          <a:p>
            <a:pPr marL="800100" marR="0" lvl="1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AutoNum type="alphaLcParenR"/>
            </a:pP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Run the function on the child (recursively)</a:t>
            </a:r>
            <a:endParaRPr/>
          </a:p>
        </p:txBody>
      </p:sp>
      <p:sp>
        <p:nvSpPr>
          <p:cNvPr id="544" name="Google Shape;544;p27"/>
          <p:cNvSpPr/>
          <p:nvPr/>
        </p:nvSpPr>
        <p:spPr>
          <a:xfrm>
            <a:off x="384469" y="2956982"/>
            <a:ext cx="1990097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MaxHeapify(A,2)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9" name="Google Shape;549;p28"/>
          <p:cNvSpPr txBox="1">
            <a:spLocks noGrp="1"/>
          </p:cNvSpPr>
          <p:nvPr>
            <p:ph type="body" idx="1"/>
          </p:nvPr>
        </p:nvSpPr>
        <p:spPr>
          <a:xfrm>
            <a:off x="838200" y="1227909"/>
            <a:ext cx="10515600" cy="1134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85000" lnSpcReduction="20000"/>
          </a:bodyPr>
          <a:lstStyle/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ct val="75000"/>
              <a:buFont typeface="Arial"/>
              <a:buChar char="●"/>
            </a:pPr>
            <a:r>
              <a:rPr lang="en-US" sz="2800" b="1"/>
              <a:t>Tries </a:t>
            </a:r>
            <a:r>
              <a:rPr lang="en-US" sz="2800"/>
              <a:t>to make the array into a max heap</a:t>
            </a:r>
            <a:endParaRPr/>
          </a:p>
          <a:p>
            <a:pPr marL="342900" marR="0" lvl="0" indent="-342900" algn="l" rtl="0">
              <a:lnSpc>
                <a:spcPct val="100000"/>
              </a:lnSpc>
              <a:spcBef>
                <a:spcPts val="476"/>
              </a:spcBef>
              <a:spcAft>
                <a:spcPts val="0"/>
              </a:spcAft>
              <a:buClr>
                <a:srgbClr val="0033CC"/>
              </a:buClr>
              <a:buSzPct val="75000"/>
              <a:buFont typeface="Arial"/>
              <a:buChar char="●"/>
            </a:pPr>
            <a:r>
              <a:rPr lang="en-US"/>
              <a:t>(parent value&gt;= child value)</a:t>
            </a:r>
            <a:endParaRPr/>
          </a:p>
          <a:p>
            <a:pPr marL="342900" marR="0" lvl="0" indent="-342900" algn="l" rtl="0">
              <a:lnSpc>
                <a:spcPct val="100000"/>
              </a:lnSpc>
              <a:spcBef>
                <a:spcPts val="476"/>
              </a:spcBef>
              <a:spcAft>
                <a:spcPts val="0"/>
              </a:spcAft>
              <a:buClr>
                <a:srgbClr val="0033CC"/>
              </a:buClr>
              <a:buSzPct val="75000"/>
              <a:buFont typeface="Arial"/>
              <a:buChar char="●"/>
            </a:pPr>
            <a:r>
              <a:rPr lang="en-US"/>
              <a:t>MaxHeapify(A,index)</a:t>
            </a:r>
            <a:endParaRPr/>
          </a:p>
        </p:txBody>
      </p:sp>
      <p:sp>
        <p:nvSpPr>
          <p:cNvPr id="550" name="Google Shape;550;p28"/>
          <p:cNvSpPr txBox="1">
            <a:spLocks noGrp="1"/>
          </p:cNvSpPr>
          <p:nvPr>
            <p:ph type="dt" idx="10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90CE9952-60C6-4668-BE92-007DA93E2C87}" type="datetime1">
              <a:rPr lang="en-US" smtClean="0"/>
              <a:t>1/12/2026</a:t>
            </a:fld>
            <a:endParaRPr/>
          </a:p>
        </p:txBody>
      </p:sp>
      <p:sp>
        <p:nvSpPr>
          <p:cNvPr id="551" name="Google Shape;551;p28"/>
          <p:cNvSpPr txBox="1">
            <a:spLocks noGrp="1"/>
          </p:cNvSpPr>
          <p:nvPr>
            <p:ph type="ftr" idx="11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Lec Asif Abrar, Dept of CSE, UIU</a:t>
            </a:r>
            <a:endParaRPr/>
          </a:p>
        </p:txBody>
      </p:sp>
      <p:sp>
        <p:nvSpPr>
          <p:cNvPr id="552" name="Google Shape;552;p28"/>
          <p:cNvSpPr txBox="1">
            <a:spLocks noGrp="1"/>
          </p:cNvSpPr>
          <p:nvPr>
            <p:ph type="sldNum" idx="12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14</a:t>
            </a:fld>
            <a:endParaRPr/>
          </a:p>
        </p:txBody>
      </p:sp>
      <p:sp>
        <p:nvSpPr>
          <p:cNvPr id="553" name="Google Shape;553;p28"/>
          <p:cNvSpPr txBox="1">
            <a:spLocks noGrp="1"/>
          </p:cNvSpPr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/>
              <a:t>MAX HEAPIFY</a:t>
            </a:r>
            <a:endParaRPr/>
          </a:p>
        </p:txBody>
      </p:sp>
      <p:sp>
        <p:nvSpPr>
          <p:cNvPr id="554" name="Google Shape;554;p28"/>
          <p:cNvSpPr/>
          <p:nvPr/>
        </p:nvSpPr>
        <p:spPr>
          <a:xfrm>
            <a:off x="4094480" y="2509904"/>
            <a:ext cx="558800" cy="558800"/>
          </a:xfrm>
          <a:prstGeom prst="ellipse">
            <a:avLst/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16</a:t>
            </a:r>
            <a:endParaRPr/>
          </a:p>
        </p:txBody>
      </p:sp>
      <p:sp>
        <p:nvSpPr>
          <p:cNvPr id="555" name="Google Shape;555;p28"/>
          <p:cNvSpPr/>
          <p:nvPr/>
        </p:nvSpPr>
        <p:spPr>
          <a:xfrm>
            <a:off x="2545080" y="3429000"/>
            <a:ext cx="558800" cy="558800"/>
          </a:xfrm>
          <a:prstGeom prst="ellipse">
            <a:avLst/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/>
          </a:p>
        </p:txBody>
      </p:sp>
      <p:sp>
        <p:nvSpPr>
          <p:cNvPr id="556" name="Google Shape;556;p28"/>
          <p:cNvSpPr/>
          <p:nvPr/>
        </p:nvSpPr>
        <p:spPr>
          <a:xfrm>
            <a:off x="1612048" y="4238423"/>
            <a:ext cx="558800" cy="558800"/>
          </a:xfrm>
          <a:prstGeom prst="ellipse">
            <a:avLst/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14</a:t>
            </a:r>
            <a:endParaRPr/>
          </a:p>
        </p:txBody>
      </p:sp>
      <p:sp>
        <p:nvSpPr>
          <p:cNvPr id="557" name="Google Shape;557;p28"/>
          <p:cNvSpPr/>
          <p:nvPr/>
        </p:nvSpPr>
        <p:spPr>
          <a:xfrm>
            <a:off x="781753" y="5291186"/>
            <a:ext cx="558800" cy="558800"/>
          </a:xfrm>
          <a:prstGeom prst="ellipse">
            <a:avLst/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  <p:sp>
        <p:nvSpPr>
          <p:cNvPr id="558" name="Google Shape;558;p28"/>
          <p:cNvSpPr/>
          <p:nvPr/>
        </p:nvSpPr>
        <p:spPr>
          <a:xfrm>
            <a:off x="3075075" y="5315058"/>
            <a:ext cx="558800" cy="558800"/>
          </a:xfrm>
          <a:prstGeom prst="ellipse">
            <a:avLst/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559" name="Google Shape;559;p28"/>
          <p:cNvSpPr/>
          <p:nvPr/>
        </p:nvSpPr>
        <p:spPr>
          <a:xfrm>
            <a:off x="2068114" y="5350691"/>
            <a:ext cx="558800" cy="558800"/>
          </a:xfrm>
          <a:prstGeom prst="ellipse">
            <a:avLst/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/>
          </a:p>
        </p:txBody>
      </p:sp>
      <p:sp>
        <p:nvSpPr>
          <p:cNvPr id="560" name="Google Shape;560;p28"/>
          <p:cNvSpPr/>
          <p:nvPr/>
        </p:nvSpPr>
        <p:spPr>
          <a:xfrm>
            <a:off x="3493912" y="4293753"/>
            <a:ext cx="558800" cy="558800"/>
          </a:xfrm>
          <a:prstGeom prst="ellipse">
            <a:avLst/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/>
          </a:p>
        </p:txBody>
      </p:sp>
      <p:sp>
        <p:nvSpPr>
          <p:cNvPr id="561" name="Google Shape;561;p28"/>
          <p:cNvSpPr/>
          <p:nvPr/>
        </p:nvSpPr>
        <p:spPr>
          <a:xfrm>
            <a:off x="5461002" y="3429000"/>
            <a:ext cx="558800" cy="558800"/>
          </a:xfrm>
          <a:prstGeom prst="ellipse">
            <a:avLst/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/>
          </a:p>
        </p:txBody>
      </p:sp>
      <p:sp>
        <p:nvSpPr>
          <p:cNvPr id="562" name="Google Shape;562;p28"/>
          <p:cNvSpPr/>
          <p:nvPr/>
        </p:nvSpPr>
        <p:spPr>
          <a:xfrm>
            <a:off x="4706344" y="4320843"/>
            <a:ext cx="558800" cy="558800"/>
          </a:xfrm>
          <a:prstGeom prst="ellipse">
            <a:avLst/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endParaRPr/>
          </a:p>
        </p:txBody>
      </p:sp>
      <p:sp>
        <p:nvSpPr>
          <p:cNvPr id="563" name="Google Shape;563;p28"/>
          <p:cNvSpPr/>
          <p:nvPr/>
        </p:nvSpPr>
        <p:spPr>
          <a:xfrm>
            <a:off x="6238240" y="4320843"/>
            <a:ext cx="558800" cy="558800"/>
          </a:xfrm>
          <a:prstGeom prst="ellipse">
            <a:avLst/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/>
          </a:p>
        </p:txBody>
      </p:sp>
      <p:cxnSp>
        <p:nvCxnSpPr>
          <p:cNvPr id="564" name="Google Shape;564;p28"/>
          <p:cNvCxnSpPr>
            <a:stCxn id="554" idx="3"/>
            <a:endCxn id="555" idx="7"/>
          </p:cNvCxnSpPr>
          <p:nvPr/>
        </p:nvCxnSpPr>
        <p:spPr>
          <a:xfrm flipH="1">
            <a:off x="3021914" y="2986870"/>
            <a:ext cx="1154400" cy="5241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565" name="Google Shape;565;p28"/>
          <p:cNvCxnSpPr>
            <a:stCxn id="561" idx="1"/>
            <a:endCxn id="554" idx="5"/>
          </p:cNvCxnSpPr>
          <p:nvPr/>
        </p:nvCxnSpPr>
        <p:spPr>
          <a:xfrm rot="10800000">
            <a:off x="4571436" y="2986734"/>
            <a:ext cx="971400" cy="5241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566" name="Google Shape;566;p28"/>
          <p:cNvCxnSpPr>
            <a:stCxn id="563" idx="1"/>
            <a:endCxn id="561" idx="5"/>
          </p:cNvCxnSpPr>
          <p:nvPr/>
        </p:nvCxnSpPr>
        <p:spPr>
          <a:xfrm rot="10800000">
            <a:off x="5937874" y="3905877"/>
            <a:ext cx="382200" cy="4968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567" name="Google Shape;567;p28"/>
          <p:cNvCxnSpPr>
            <a:stCxn id="562" idx="7"/>
            <a:endCxn id="561" idx="3"/>
          </p:cNvCxnSpPr>
          <p:nvPr/>
        </p:nvCxnSpPr>
        <p:spPr>
          <a:xfrm rot="10800000" flipH="1">
            <a:off x="5183310" y="3905877"/>
            <a:ext cx="359400" cy="4968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568" name="Google Shape;568;p28"/>
          <p:cNvCxnSpPr>
            <a:stCxn id="555" idx="3"/>
            <a:endCxn id="556" idx="7"/>
          </p:cNvCxnSpPr>
          <p:nvPr/>
        </p:nvCxnSpPr>
        <p:spPr>
          <a:xfrm flipH="1">
            <a:off x="2089014" y="3905966"/>
            <a:ext cx="537900" cy="4143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569" name="Google Shape;569;p28"/>
          <p:cNvCxnSpPr>
            <a:stCxn id="555" idx="5"/>
            <a:endCxn id="560" idx="1"/>
          </p:cNvCxnSpPr>
          <p:nvPr/>
        </p:nvCxnSpPr>
        <p:spPr>
          <a:xfrm>
            <a:off x="3022046" y="3905966"/>
            <a:ext cx="553800" cy="4695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570" name="Google Shape;570;p28"/>
          <p:cNvCxnSpPr>
            <a:stCxn id="556" idx="3"/>
            <a:endCxn id="557" idx="7"/>
          </p:cNvCxnSpPr>
          <p:nvPr/>
        </p:nvCxnSpPr>
        <p:spPr>
          <a:xfrm flipH="1">
            <a:off x="1258582" y="4715389"/>
            <a:ext cx="435300" cy="6576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571" name="Google Shape;571;p28"/>
          <p:cNvCxnSpPr>
            <a:stCxn id="556" idx="5"/>
            <a:endCxn id="559" idx="0"/>
          </p:cNvCxnSpPr>
          <p:nvPr/>
        </p:nvCxnSpPr>
        <p:spPr>
          <a:xfrm>
            <a:off x="2089014" y="4715389"/>
            <a:ext cx="258600" cy="6354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572" name="Google Shape;572;p28"/>
          <p:cNvCxnSpPr>
            <a:stCxn id="560" idx="3"/>
            <a:endCxn id="558" idx="0"/>
          </p:cNvCxnSpPr>
          <p:nvPr/>
        </p:nvCxnSpPr>
        <p:spPr>
          <a:xfrm flipH="1">
            <a:off x="3354346" y="4770719"/>
            <a:ext cx="221400" cy="5442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573" name="Google Shape;573;p28"/>
          <p:cNvSpPr txBox="1"/>
          <p:nvPr/>
        </p:nvSpPr>
        <p:spPr>
          <a:xfrm>
            <a:off x="3792794" y="2519427"/>
            <a:ext cx="30168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574" name="Google Shape;574;p28"/>
          <p:cNvSpPr txBox="1"/>
          <p:nvPr/>
        </p:nvSpPr>
        <p:spPr>
          <a:xfrm>
            <a:off x="2243394" y="3300788"/>
            <a:ext cx="30168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  <p:sp>
        <p:nvSpPr>
          <p:cNvPr id="575" name="Google Shape;575;p28"/>
          <p:cNvSpPr txBox="1"/>
          <p:nvPr/>
        </p:nvSpPr>
        <p:spPr>
          <a:xfrm>
            <a:off x="5630476" y="3083357"/>
            <a:ext cx="30168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/>
          </a:p>
        </p:txBody>
      </p:sp>
      <p:sp>
        <p:nvSpPr>
          <p:cNvPr id="576" name="Google Shape;576;p28"/>
          <p:cNvSpPr txBox="1"/>
          <p:nvPr/>
        </p:nvSpPr>
        <p:spPr>
          <a:xfrm>
            <a:off x="1481399" y="3987800"/>
            <a:ext cx="30168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/>
          </a:p>
        </p:txBody>
      </p:sp>
      <p:sp>
        <p:nvSpPr>
          <p:cNvPr id="577" name="Google Shape;577;p28"/>
          <p:cNvSpPr txBox="1"/>
          <p:nvPr/>
        </p:nvSpPr>
        <p:spPr>
          <a:xfrm>
            <a:off x="617227" y="4964224"/>
            <a:ext cx="30168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/>
          </a:p>
        </p:txBody>
      </p:sp>
      <p:sp>
        <p:nvSpPr>
          <p:cNvPr id="578" name="Google Shape;578;p28"/>
          <p:cNvSpPr txBox="1"/>
          <p:nvPr/>
        </p:nvSpPr>
        <p:spPr>
          <a:xfrm>
            <a:off x="1886975" y="4961686"/>
            <a:ext cx="30168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endParaRPr/>
          </a:p>
        </p:txBody>
      </p:sp>
      <p:sp>
        <p:nvSpPr>
          <p:cNvPr id="579" name="Google Shape;579;p28"/>
          <p:cNvSpPr txBox="1"/>
          <p:nvPr/>
        </p:nvSpPr>
        <p:spPr>
          <a:xfrm>
            <a:off x="2898476" y="4885509"/>
            <a:ext cx="418704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/>
          </a:p>
        </p:txBody>
      </p:sp>
      <p:sp>
        <p:nvSpPr>
          <p:cNvPr id="580" name="Google Shape;580;p28"/>
          <p:cNvSpPr txBox="1"/>
          <p:nvPr/>
        </p:nvSpPr>
        <p:spPr>
          <a:xfrm>
            <a:off x="3712199" y="4003320"/>
            <a:ext cx="30168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/>
          </a:p>
        </p:txBody>
      </p:sp>
      <p:sp>
        <p:nvSpPr>
          <p:cNvPr id="581" name="Google Shape;581;p28"/>
          <p:cNvSpPr txBox="1"/>
          <p:nvPr/>
        </p:nvSpPr>
        <p:spPr>
          <a:xfrm>
            <a:off x="4796076" y="4013654"/>
            <a:ext cx="30168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/>
          </a:p>
        </p:txBody>
      </p:sp>
      <p:sp>
        <p:nvSpPr>
          <p:cNvPr id="582" name="Google Shape;582;p28"/>
          <p:cNvSpPr txBox="1"/>
          <p:nvPr/>
        </p:nvSpPr>
        <p:spPr>
          <a:xfrm>
            <a:off x="6401059" y="4023561"/>
            <a:ext cx="30168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/>
          </a:p>
        </p:txBody>
      </p:sp>
      <p:graphicFrame>
        <p:nvGraphicFramePr>
          <p:cNvPr id="583" name="Google Shape;583;p28"/>
          <p:cNvGraphicFramePr/>
          <p:nvPr/>
        </p:nvGraphicFramePr>
        <p:xfrm>
          <a:off x="7076668" y="1890294"/>
          <a:ext cx="4722000" cy="741700"/>
        </p:xfrm>
        <a:graphic>
          <a:graphicData uri="http://schemas.openxmlformats.org/drawingml/2006/table">
            <a:tbl>
              <a:tblPr firstRow="1" bandRow="1">
                <a:noFill/>
                <a:tableStyleId>{66088737-8E24-4614-AAA7-3D08145F63E1}</a:tableStyleId>
              </a:tblPr>
              <a:tblGrid>
                <a:gridCol w="472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2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72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72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722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722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722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722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4722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47220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1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2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3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4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5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6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7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8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9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10</a:t>
                      </a:r>
                      <a:endParaRPr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16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4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10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14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7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9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3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2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8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1</a:t>
                      </a:r>
                      <a:endParaRPr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584" name="Google Shape;584;p28"/>
          <p:cNvSpPr/>
          <p:nvPr/>
        </p:nvSpPr>
        <p:spPr>
          <a:xfrm>
            <a:off x="6992898" y="3099468"/>
            <a:ext cx="5054558" cy="2546367"/>
          </a:xfrm>
          <a:prstGeom prst="rect">
            <a:avLst/>
          </a:prstGeom>
          <a:gradFill>
            <a:gsLst>
              <a:gs pos="0">
                <a:srgbClr val="D1D1D1"/>
              </a:gs>
              <a:gs pos="50000">
                <a:srgbClr val="C7C7C7"/>
              </a:gs>
              <a:gs pos="100000">
                <a:srgbClr val="C0C0C0"/>
              </a:gs>
            </a:gsLst>
            <a:lin ang="5400000" scaled="0"/>
          </a:gradFill>
          <a:ln w="9525" cap="flat" cmpd="sng">
            <a:solidFill>
              <a:schemeClr val="accent3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u="sng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How the function works:</a:t>
            </a:r>
            <a:endParaRPr/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AutoNum type="arabicPeriod"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It is applied on an index.</a:t>
            </a:r>
            <a:endParaRPr/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AutoNum type="arabicPeriod"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It checks if the parent is greater than the child</a:t>
            </a:r>
            <a:endParaRPr/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AutoNum type="arabicPeriod"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If the parent is greater, return.</a:t>
            </a:r>
            <a:endParaRPr/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AutoNum type="arabicPeriod"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If the child is greater, then swap values with child</a:t>
            </a:r>
            <a:endParaRPr/>
          </a:p>
          <a:p>
            <a:pPr marL="800100" marR="0" lvl="1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AutoNum type="alphaLcParenR"/>
            </a:pP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Run the function on the child (recursively)</a:t>
            </a:r>
            <a:endParaRPr/>
          </a:p>
        </p:txBody>
      </p:sp>
      <p:sp>
        <p:nvSpPr>
          <p:cNvPr id="585" name="Google Shape;585;p28"/>
          <p:cNvSpPr/>
          <p:nvPr/>
        </p:nvSpPr>
        <p:spPr>
          <a:xfrm>
            <a:off x="384469" y="2956982"/>
            <a:ext cx="1990097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MaxHeapify(A,2)</a:t>
            </a:r>
            <a:endParaRPr/>
          </a:p>
        </p:txBody>
      </p:sp>
      <p:sp>
        <p:nvSpPr>
          <p:cNvPr id="586" name="Google Shape;586;p28"/>
          <p:cNvSpPr/>
          <p:nvPr/>
        </p:nvSpPr>
        <p:spPr>
          <a:xfrm>
            <a:off x="678811" y="4283953"/>
            <a:ext cx="808425" cy="375459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accent2"/>
          </a:solidFill>
          <a:ln w="12700" cap="flat" cmpd="sng">
            <a:solidFill>
              <a:srgbClr val="AC5B23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Largest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1" name="Google Shape;591;p29"/>
          <p:cNvSpPr txBox="1">
            <a:spLocks noGrp="1"/>
          </p:cNvSpPr>
          <p:nvPr>
            <p:ph type="body" idx="1"/>
          </p:nvPr>
        </p:nvSpPr>
        <p:spPr>
          <a:xfrm>
            <a:off x="838200" y="1227909"/>
            <a:ext cx="10515600" cy="1134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85000" lnSpcReduction="20000"/>
          </a:bodyPr>
          <a:lstStyle/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ct val="75000"/>
              <a:buFont typeface="Arial"/>
              <a:buChar char="●"/>
            </a:pPr>
            <a:r>
              <a:rPr lang="en-US" sz="2800" b="1"/>
              <a:t>Tries </a:t>
            </a:r>
            <a:r>
              <a:rPr lang="en-US" sz="2800"/>
              <a:t>to make the array into a max heap</a:t>
            </a:r>
            <a:endParaRPr/>
          </a:p>
          <a:p>
            <a:pPr marL="342900" marR="0" lvl="0" indent="-342900" algn="l" rtl="0">
              <a:lnSpc>
                <a:spcPct val="100000"/>
              </a:lnSpc>
              <a:spcBef>
                <a:spcPts val="476"/>
              </a:spcBef>
              <a:spcAft>
                <a:spcPts val="0"/>
              </a:spcAft>
              <a:buClr>
                <a:srgbClr val="0033CC"/>
              </a:buClr>
              <a:buSzPct val="75000"/>
              <a:buFont typeface="Arial"/>
              <a:buChar char="●"/>
            </a:pPr>
            <a:r>
              <a:rPr lang="en-US"/>
              <a:t>(parent value&gt;= child value)</a:t>
            </a:r>
            <a:endParaRPr/>
          </a:p>
          <a:p>
            <a:pPr marL="342900" marR="0" lvl="0" indent="-342900" algn="l" rtl="0">
              <a:lnSpc>
                <a:spcPct val="100000"/>
              </a:lnSpc>
              <a:spcBef>
                <a:spcPts val="476"/>
              </a:spcBef>
              <a:spcAft>
                <a:spcPts val="0"/>
              </a:spcAft>
              <a:buClr>
                <a:srgbClr val="0033CC"/>
              </a:buClr>
              <a:buSzPct val="75000"/>
              <a:buFont typeface="Arial"/>
              <a:buChar char="●"/>
            </a:pPr>
            <a:r>
              <a:rPr lang="en-US"/>
              <a:t>MaxHeapify(A,index)</a:t>
            </a:r>
            <a:endParaRPr/>
          </a:p>
        </p:txBody>
      </p:sp>
      <p:sp>
        <p:nvSpPr>
          <p:cNvPr id="592" name="Google Shape;592;p29"/>
          <p:cNvSpPr txBox="1">
            <a:spLocks noGrp="1"/>
          </p:cNvSpPr>
          <p:nvPr>
            <p:ph type="dt" idx="10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EBA15B2F-8052-42DD-B425-BC3CE1B3AB64}" type="datetime1">
              <a:rPr lang="en-US" smtClean="0"/>
              <a:t>1/12/2026</a:t>
            </a:fld>
            <a:endParaRPr/>
          </a:p>
        </p:txBody>
      </p:sp>
      <p:sp>
        <p:nvSpPr>
          <p:cNvPr id="593" name="Google Shape;593;p29"/>
          <p:cNvSpPr txBox="1">
            <a:spLocks noGrp="1"/>
          </p:cNvSpPr>
          <p:nvPr>
            <p:ph type="ftr" idx="11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Lec Asif Abrar, Dept of CSE, UIU</a:t>
            </a:r>
            <a:endParaRPr/>
          </a:p>
        </p:txBody>
      </p:sp>
      <p:sp>
        <p:nvSpPr>
          <p:cNvPr id="594" name="Google Shape;594;p29"/>
          <p:cNvSpPr txBox="1">
            <a:spLocks noGrp="1"/>
          </p:cNvSpPr>
          <p:nvPr>
            <p:ph type="sldNum" idx="12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15</a:t>
            </a:fld>
            <a:endParaRPr/>
          </a:p>
        </p:txBody>
      </p:sp>
      <p:sp>
        <p:nvSpPr>
          <p:cNvPr id="595" name="Google Shape;595;p29"/>
          <p:cNvSpPr txBox="1">
            <a:spLocks noGrp="1"/>
          </p:cNvSpPr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/>
              <a:t>MAX HEAPIFY</a:t>
            </a:r>
            <a:endParaRPr/>
          </a:p>
        </p:txBody>
      </p:sp>
      <p:sp>
        <p:nvSpPr>
          <p:cNvPr id="596" name="Google Shape;596;p29"/>
          <p:cNvSpPr/>
          <p:nvPr/>
        </p:nvSpPr>
        <p:spPr>
          <a:xfrm>
            <a:off x="4094480" y="2509904"/>
            <a:ext cx="558800" cy="558800"/>
          </a:xfrm>
          <a:prstGeom prst="ellipse">
            <a:avLst/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16</a:t>
            </a:r>
            <a:endParaRPr/>
          </a:p>
        </p:txBody>
      </p:sp>
      <p:sp>
        <p:nvSpPr>
          <p:cNvPr id="597" name="Google Shape;597;p29"/>
          <p:cNvSpPr/>
          <p:nvPr/>
        </p:nvSpPr>
        <p:spPr>
          <a:xfrm>
            <a:off x="2545080" y="3429000"/>
            <a:ext cx="558800" cy="558800"/>
          </a:xfrm>
          <a:prstGeom prst="ellipse">
            <a:avLst/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/>
          </a:p>
        </p:txBody>
      </p:sp>
      <p:sp>
        <p:nvSpPr>
          <p:cNvPr id="598" name="Google Shape;598;p29"/>
          <p:cNvSpPr/>
          <p:nvPr/>
        </p:nvSpPr>
        <p:spPr>
          <a:xfrm>
            <a:off x="1612048" y="4238423"/>
            <a:ext cx="558800" cy="558800"/>
          </a:xfrm>
          <a:prstGeom prst="ellipse">
            <a:avLst/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14</a:t>
            </a:r>
            <a:endParaRPr/>
          </a:p>
        </p:txBody>
      </p:sp>
      <p:sp>
        <p:nvSpPr>
          <p:cNvPr id="599" name="Google Shape;599;p29"/>
          <p:cNvSpPr/>
          <p:nvPr/>
        </p:nvSpPr>
        <p:spPr>
          <a:xfrm>
            <a:off x="781753" y="5291186"/>
            <a:ext cx="558800" cy="558800"/>
          </a:xfrm>
          <a:prstGeom prst="ellipse">
            <a:avLst/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  <p:sp>
        <p:nvSpPr>
          <p:cNvPr id="600" name="Google Shape;600;p29"/>
          <p:cNvSpPr/>
          <p:nvPr/>
        </p:nvSpPr>
        <p:spPr>
          <a:xfrm>
            <a:off x="3075075" y="5315058"/>
            <a:ext cx="558800" cy="558800"/>
          </a:xfrm>
          <a:prstGeom prst="ellipse">
            <a:avLst/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601" name="Google Shape;601;p29"/>
          <p:cNvSpPr/>
          <p:nvPr/>
        </p:nvSpPr>
        <p:spPr>
          <a:xfrm>
            <a:off x="2068114" y="5350691"/>
            <a:ext cx="558800" cy="558800"/>
          </a:xfrm>
          <a:prstGeom prst="ellipse">
            <a:avLst/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/>
          </a:p>
        </p:txBody>
      </p:sp>
      <p:sp>
        <p:nvSpPr>
          <p:cNvPr id="602" name="Google Shape;602;p29"/>
          <p:cNvSpPr/>
          <p:nvPr/>
        </p:nvSpPr>
        <p:spPr>
          <a:xfrm>
            <a:off x="3493912" y="4293753"/>
            <a:ext cx="558800" cy="558800"/>
          </a:xfrm>
          <a:prstGeom prst="ellipse">
            <a:avLst/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/>
          </a:p>
        </p:txBody>
      </p:sp>
      <p:sp>
        <p:nvSpPr>
          <p:cNvPr id="603" name="Google Shape;603;p29"/>
          <p:cNvSpPr/>
          <p:nvPr/>
        </p:nvSpPr>
        <p:spPr>
          <a:xfrm>
            <a:off x="5461002" y="3429000"/>
            <a:ext cx="558800" cy="558800"/>
          </a:xfrm>
          <a:prstGeom prst="ellipse">
            <a:avLst/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/>
          </a:p>
        </p:txBody>
      </p:sp>
      <p:sp>
        <p:nvSpPr>
          <p:cNvPr id="604" name="Google Shape;604;p29"/>
          <p:cNvSpPr/>
          <p:nvPr/>
        </p:nvSpPr>
        <p:spPr>
          <a:xfrm>
            <a:off x="4706344" y="4320843"/>
            <a:ext cx="558800" cy="558800"/>
          </a:xfrm>
          <a:prstGeom prst="ellipse">
            <a:avLst/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endParaRPr/>
          </a:p>
        </p:txBody>
      </p:sp>
      <p:sp>
        <p:nvSpPr>
          <p:cNvPr id="605" name="Google Shape;605;p29"/>
          <p:cNvSpPr/>
          <p:nvPr/>
        </p:nvSpPr>
        <p:spPr>
          <a:xfrm>
            <a:off x="6238240" y="4320843"/>
            <a:ext cx="558800" cy="558800"/>
          </a:xfrm>
          <a:prstGeom prst="ellipse">
            <a:avLst/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/>
          </a:p>
        </p:txBody>
      </p:sp>
      <p:cxnSp>
        <p:nvCxnSpPr>
          <p:cNvPr id="606" name="Google Shape;606;p29"/>
          <p:cNvCxnSpPr>
            <a:stCxn id="596" idx="3"/>
            <a:endCxn id="597" idx="7"/>
          </p:cNvCxnSpPr>
          <p:nvPr/>
        </p:nvCxnSpPr>
        <p:spPr>
          <a:xfrm flipH="1">
            <a:off x="3021914" y="2986870"/>
            <a:ext cx="1154400" cy="5241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607" name="Google Shape;607;p29"/>
          <p:cNvCxnSpPr>
            <a:stCxn id="603" idx="1"/>
            <a:endCxn id="596" idx="5"/>
          </p:cNvCxnSpPr>
          <p:nvPr/>
        </p:nvCxnSpPr>
        <p:spPr>
          <a:xfrm rot="10800000">
            <a:off x="4571436" y="2986734"/>
            <a:ext cx="971400" cy="5241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608" name="Google Shape;608;p29"/>
          <p:cNvCxnSpPr>
            <a:stCxn id="605" idx="1"/>
            <a:endCxn id="603" idx="5"/>
          </p:cNvCxnSpPr>
          <p:nvPr/>
        </p:nvCxnSpPr>
        <p:spPr>
          <a:xfrm rot="10800000">
            <a:off x="5937874" y="3905877"/>
            <a:ext cx="382200" cy="4968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609" name="Google Shape;609;p29"/>
          <p:cNvCxnSpPr>
            <a:stCxn id="604" idx="7"/>
            <a:endCxn id="603" idx="3"/>
          </p:cNvCxnSpPr>
          <p:nvPr/>
        </p:nvCxnSpPr>
        <p:spPr>
          <a:xfrm rot="10800000" flipH="1">
            <a:off x="5183310" y="3905877"/>
            <a:ext cx="359400" cy="4968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610" name="Google Shape;610;p29"/>
          <p:cNvCxnSpPr>
            <a:stCxn id="597" idx="3"/>
            <a:endCxn id="598" idx="7"/>
          </p:cNvCxnSpPr>
          <p:nvPr/>
        </p:nvCxnSpPr>
        <p:spPr>
          <a:xfrm flipH="1">
            <a:off x="2089014" y="3905966"/>
            <a:ext cx="537900" cy="4143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611" name="Google Shape;611;p29"/>
          <p:cNvCxnSpPr>
            <a:stCxn id="597" idx="5"/>
            <a:endCxn id="602" idx="1"/>
          </p:cNvCxnSpPr>
          <p:nvPr/>
        </p:nvCxnSpPr>
        <p:spPr>
          <a:xfrm>
            <a:off x="3022046" y="3905966"/>
            <a:ext cx="553800" cy="4695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612" name="Google Shape;612;p29"/>
          <p:cNvCxnSpPr>
            <a:stCxn id="598" idx="3"/>
            <a:endCxn id="599" idx="7"/>
          </p:cNvCxnSpPr>
          <p:nvPr/>
        </p:nvCxnSpPr>
        <p:spPr>
          <a:xfrm flipH="1">
            <a:off x="1258582" y="4715389"/>
            <a:ext cx="435300" cy="6576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613" name="Google Shape;613;p29"/>
          <p:cNvCxnSpPr>
            <a:stCxn id="598" idx="5"/>
            <a:endCxn id="601" idx="0"/>
          </p:cNvCxnSpPr>
          <p:nvPr/>
        </p:nvCxnSpPr>
        <p:spPr>
          <a:xfrm>
            <a:off x="2089014" y="4715389"/>
            <a:ext cx="258600" cy="6354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614" name="Google Shape;614;p29"/>
          <p:cNvCxnSpPr>
            <a:stCxn id="602" idx="3"/>
            <a:endCxn id="600" idx="0"/>
          </p:cNvCxnSpPr>
          <p:nvPr/>
        </p:nvCxnSpPr>
        <p:spPr>
          <a:xfrm flipH="1">
            <a:off x="3354346" y="4770719"/>
            <a:ext cx="221400" cy="5442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615" name="Google Shape;615;p29"/>
          <p:cNvSpPr txBox="1"/>
          <p:nvPr/>
        </p:nvSpPr>
        <p:spPr>
          <a:xfrm>
            <a:off x="3792794" y="2519427"/>
            <a:ext cx="30168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616" name="Google Shape;616;p29"/>
          <p:cNvSpPr txBox="1"/>
          <p:nvPr/>
        </p:nvSpPr>
        <p:spPr>
          <a:xfrm>
            <a:off x="2243394" y="3300788"/>
            <a:ext cx="30168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  <p:sp>
        <p:nvSpPr>
          <p:cNvPr id="617" name="Google Shape;617;p29"/>
          <p:cNvSpPr txBox="1"/>
          <p:nvPr/>
        </p:nvSpPr>
        <p:spPr>
          <a:xfrm>
            <a:off x="5630476" y="3083357"/>
            <a:ext cx="30168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/>
          </a:p>
        </p:txBody>
      </p:sp>
      <p:sp>
        <p:nvSpPr>
          <p:cNvPr id="618" name="Google Shape;618;p29"/>
          <p:cNvSpPr txBox="1"/>
          <p:nvPr/>
        </p:nvSpPr>
        <p:spPr>
          <a:xfrm>
            <a:off x="1481399" y="3987800"/>
            <a:ext cx="30168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/>
          </a:p>
        </p:txBody>
      </p:sp>
      <p:sp>
        <p:nvSpPr>
          <p:cNvPr id="619" name="Google Shape;619;p29"/>
          <p:cNvSpPr txBox="1"/>
          <p:nvPr/>
        </p:nvSpPr>
        <p:spPr>
          <a:xfrm>
            <a:off x="617227" y="4964224"/>
            <a:ext cx="30168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/>
          </a:p>
        </p:txBody>
      </p:sp>
      <p:sp>
        <p:nvSpPr>
          <p:cNvPr id="620" name="Google Shape;620;p29"/>
          <p:cNvSpPr txBox="1"/>
          <p:nvPr/>
        </p:nvSpPr>
        <p:spPr>
          <a:xfrm>
            <a:off x="1886975" y="4961686"/>
            <a:ext cx="30168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endParaRPr/>
          </a:p>
        </p:txBody>
      </p:sp>
      <p:sp>
        <p:nvSpPr>
          <p:cNvPr id="621" name="Google Shape;621;p29"/>
          <p:cNvSpPr txBox="1"/>
          <p:nvPr/>
        </p:nvSpPr>
        <p:spPr>
          <a:xfrm>
            <a:off x="2898476" y="4885509"/>
            <a:ext cx="418704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/>
          </a:p>
        </p:txBody>
      </p:sp>
      <p:sp>
        <p:nvSpPr>
          <p:cNvPr id="622" name="Google Shape;622;p29"/>
          <p:cNvSpPr txBox="1"/>
          <p:nvPr/>
        </p:nvSpPr>
        <p:spPr>
          <a:xfrm>
            <a:off x="3712199" y="4003320"/>
            <a:ext cx="30168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/>
          </a:p>
        </p:txBody>
      </p:sp>
      <p:sp>
        <p:nvSpPr>
          <p:cNvPr id="623" name="Google Shape;623;p29"/>
          <p:cNvSpPr txBox="1"/>
          <p:nvPr/>
        </p:nvSpPr>
        <p:spPr>
          <a:xfrm>
            <a:off x="4796076" y="4013654"/>
            <a:ext cx="30168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/>
          </a:p>
        </p:txBody>
      </p:sp>
      <p:sp>
        <p:nvSpPr>
          <p:cNvPr id="624" name="Google Shape;624;p29"/>
          <p:cNvSpPr txBox="1"/>
          <p:nvPr/>
        </p:nvSpPr>
        <p:spPr>
          <a:xfrm>
            <a:off x="6401059" y="4023561"/>
            <a:ext cx="30168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/>
          </a:p>
        </p:txBody>
      </p:sp>
      <p:graphicFrame>
        <p:nvGraphicFramePr>
          <p:cNvPr id="625" name="Google Shape;625;p29"/>
          <p:cNvGraphicFramePr/>
          <p:nvPr/>
        </p:nvGraphicFramePr>
        <p:xfrm>
          <a:off x="7076668" y="1890294"/>
          <a:ext cx="4722000" cy="741700"/>
        </p:xfrm>
        <a:graphic>
          <a:graphicData uri="http://schemas.openxmlformats.org/drawingml/2006/table">
            <a:tbl>
              <a:tblPr firstRow="1" bandRow="1">
                <a:noFill/>
                <a:tableStyleId>{66088737-8E24-4614-AAA7-3D08145F63E1}</a:tableStyleId>
              </a:tblPr>
              <a:tblGrid>
                <a:gridCol w="472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2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72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72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722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722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722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722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4722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47220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1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2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3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4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5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6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7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8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9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10</a:t>
                      </a:r>
                      <a:endParaRPr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16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4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10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14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7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9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3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2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8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1</a:t>
                      </a:r>
                      <a:endParaRPr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626" name="Google Shape;626;p29"/>
          <p:cNvSpPr/>
          <p:nvPr/>
        </p:nvSpPr>
        <p:spPr>
          <a:xfrm>
            <a:off x="6992898" y="3099468"/>
            <a:ext cx="5054558" cy="2546367"/>
          </a:xfrm>
          <a:prstGeom prst="rect">
            <a:avLst/>
          </a:prstGeom>
          <a:gradFill>
            <a:gsLst>
              <a:gs pos="0">
                <a:srgbClr val="D1D1D1"/>
              </a:gs>
              <a:gs pos="50000">
                <a:srgbClr val="C7C7C7"/>
              </a:gs>
              <a:gs pos="100000">
                <a:srgbClr val="C0C0C0"/>
              </a:gs>
            </a:gsLst>
            <a:lin ang="5400000" scaled="0"/>
          </a:gradFill>
          <a:ln w="9525" cap="flat" cmpd="sng">
            <a:solidFill>
              <a:schemeClr val="accent3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u="sng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How the function works:</a:t>
            </a:r>
            <a:endParaRPr/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AutoNum type="arabicPeriod"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It is applied on an index.</a:t>
            </a:r>
            <a:endParaRPr/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AutoNum type="arabicPeriod"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It checks if the parent is greater than the child</a:t>
            </a:r>
            <a:endParaRPr/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AutoNum type="arabicPeriod"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If the parent is greater, return.</a:t>
            </a:r>
            <a:endParaRPr/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AutoNum type="arabicPeriod"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If the child is greater, then swap values with child</a:t>
            </a:r>
            <a:endParaRPr/>
          </a:p>
          <a:p>
            <a:pPr marL="800100" marR="0" lvl="1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AutoNum type="alphaLcParenR"/>
            </a:pP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Run the function on the child (recursively)</a:t>
            </a:r>
            <a:endParaRPr/>
          </a:p>
        </p:txBody>
      </p:sp>
      <p:sp>
        <p:nvSpPr>
          <p:cNvPr id="627" name="Google Shape;627;p29"/>
          <p:cNvSpPr/>
          <p:nvPr/>
        </p:nvSpPr>
        <p:spPr>
          <a:xfrm>
            <a:off x="384469" y="2956982"/>
            <a:ext cx="1990097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MaxHeapify(A,2)</a:t>
            </a:r>
            <a:endParaRPr/>
          </a:p>
        </p:txBody>
      </p:sp>
      <p:sp>
        <p:nvSpPr>
          <p:cNvPr id="628" name="Google Shape;628;p29"/>
          <p:cNvSpPr/>
          <p:nvPr/>
        </p:nvSpPr>
        <p:spPr>
          <a:xfrm>
            <a:off x="678811" y="4283953"/>
            <a:ext cx="808425" cy="375459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accent2"/>
          </a:solidFill>
          <a:ln w="12700" cap="flat" cmpd="sng">
            <a:solidFill>
              <a:srgbClr val="AC5B23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Largest</a:t>
            </a:r>
            <a:endParaRPr/>
          </a:p>
        </p:txBody>
      </p:sp>
      <p:cxnSp>
        <p:nvCxnSpPr>
          <p:cNvPr id="629" name="Google Shape;629;p29"/>
          <p:cNvCxnSpPr>
            <a:stCxn id="598" idx="0"/>
            <a:endCxn id="597" idx="2"/>
          </p:cNvCxnSpPr>
          <p:nvPr/>
        </p:nvCxnSpPr>
        <p:spPr>
          <a:xfrm rot="-5400000">
            <a:off x="1953248" y="3646523"/>
            <a:ext cx="530100" cy="653700"/>
          </a:xfrm>
          <a:prstGeom prst="curvedConnector2">
            <a:avLst/>
          </a:prstGeom>
          <a:noFill/>
          <a:ln w="9525" cap="flat" cmpd="sng">
            <a:solidFill>
              <a:srgbClr val="FF0000"/>
            </a:solidFill>
            <a:prstDash val="solid"/>
            <a:miter lim="800000"/>
            <a:headEnd type="triangle" w="med" len="med"/>
            <a:tailEnd type="triangle" w="med" len="med"/>
          </a:ln>
        </p:spPr>
      </p:cxn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" name="Google Shape;634;p30"/>
          <p:cNvSpPr txBox="1">
            <a:spLocks noGrp="1"/>
          </p:cNvSpPr>
          <p:nvPr>
            <p:ph type="body" idx="1"/>
          </p:nvPr>
        </p:nvSpPr>
        <p:spPr>
          <a:xfrm>
            <a:off x="838200" y="1227909"/>
            <a:ext cx="10515600" cy="1134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85000" lnSpcReduction="20000"/>
          </a:bodyPr>
          <a:lstStyle/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ct val="75000"/>
              <a:buFont typeface="Arial"/>
              <a:buChar char="●"/>
            </a:pPr>
            <a:r>
              <a:rPr lang="en-US" sz="2800" b="1"/>
              <a:t>Tries </a:t>
            </a:r>
            <a:r>
              <a:rPr lang="en-US" sz="2800"/>
              <a:t>to make the array into a max heap</a:t>
            </a:r>
            <a:endParaRPr/>
          </a:p>
          <a:p>
            <a:pPr marL="342900" marR="0" lvl="0" indent="-342900" algn="l" rtl="0">
              <a:lnSpc>
                <a:spcPct val="100000"/>
              </a:lnSpc>
              <a:spcBef>
                <a:spcPts val="476"/>
              </a:spcBef>
              <a:spcAft>
                <a:spcPts val="0"/>
              </a:spcAft>
              <a:buClr>
                <a:srgbClr val="0033CC"/>
              </a:buClr>
              <a:buSzPct val="75000"/>
              <a:buFont typeface="Arial"/>
              <a:buChar char="●"/>
            </a:pPr>
            <a:r>
              <a:rPr lang="en-US"/>
              <a:t>(parent value&gt;= child value)</a:t>
            </a:r>
            <a:endParaRPr/>
          </a:p>
          <a:p>
            <a:pPr marL="342900" marR="0" lvl="0" indent="-342900" algn="l" rtl="0">
              <a:lnSpc>
                <a:spcPct val="100000"/>
              </a:lnSpc>
              <a:spcBef>
                <a:spcPts val="476"/>
              </a:spcBef>
              <a:spcAft>
                <a:spcPts val="0"/>
              </a:spcAft>
              <a:buClr>
                <a:srgbClr val="0033CC"/>
              </a:buClr>
              <a:buSzPct val="75000"/>
              <a:buFont typeface="Arial"/>
              <a:buChar char="●"/>
            </a:pPr>
            <a:r>
              <a:rPr lang="en-US"/>
              <a:t>MaxHeapify(A,index)</a:t>
            </a:r>
            <a:endParaRPr/>
          </a:p>
        </p:txBody>
      </p:sp>
      <p:sp>
        <p:nvSpPr>
          <p:cNvPr id="635" name="Google Shape;635;p30"/>
          <p:cNvSpPr txBox="1">
            <a:spLocks noGrp="1"/>
          </p:cNvSpPr>
          <p:nvPr>
            <p:ph type="dt" idx="10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C5234669-957C-4866-BD83-049BCF1564DC}" type="datetime1">
              <a:rPr lang="en-US" smtClean="0"/>
              <a:t>1/12/2026</a:t>
            </a:fld>
            <a:endParaRPr/>
          </a:p>
        </p:txBody>
      </p:sp>
      <p:sp>
        <p:nvSpPr>
          <p:cNvPr id="636" name="Google Shape;636;p30"/>
          <p:cNvSpPr txBox="1">
            <a:spLocks noGrp="1"/>
          </p:cNvSpPr>
          <p:nvPr>
            <p:ph type="ftr" idx="11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Lec Asif Abrar, Dept of CSE, UIU</a:t>
            </a:r>
            <a:endParaRPr/>
          </a:p>
        </p:txBody>
      </p:sp>
      <p:sp>
        <p:nvSpPr>
          <p:cNvPr id="637" name="Google Shape;637;p30"/>
          <p:cNvSpPr txBox="1">
            <a:spLocks noGrp="1"/>
          </p:cNvSpPr>
          <p:nvPr>
            <p:ph type="sldNum" idx="12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16</a:t>
            </a:fld>
            <a:endParaRPr/>
          </a:p>
        </p:txBody>
      </p:sp>
      <p:sp>
        <p:nvSpPr>
          <p:cNvPr id="638" name="Google Shape;638;p30"/>
          <p:cNvSpPr txBox="1">
            <a:spLocks noGrp="1"/>
          </p:cNvSpPr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/>
              <a:t>MAX HEAPIFY</a:t>
            </a:r>
            <a:endParaRPr/>
          </a:p>
        </p:txBody>
      </p:sp>
      <p:sp>
        <p:nvSpPr>
          <p:cNvPr id="639" name="Google Shape;639;p30"/>
          <p:cNvSpPr/>
          <p:nvPr/>
        </p:nvSpPr>
        <p:spPr>
          <a:xfrm>
            <a:off x="4094480" y="2509904"/>
            <a:ext cx="558800" cy="558800"/>
          </a:xfrm>
          <a:prstGeom prst="ellipse">
            <a:avLst/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16</a:t>
            </a:r>
            <a:endParaRPr/>
          </a:p>
        </p:txBody>
      </p:sp>
      <p:sp>
        <p:nvSpPr>
          <p:cNvPr id="640" name="Google Shape;640;p30"/>
          <p:cNvSpPr/>
          <p:nvPr/>
        </p:nvSpPr>
        <p:spPr>
          <a:xfrm>
            <a:off x="2545080" y="3429000"/>
            <a:ext cx="558800" cy="558800"/>
          </a:xfrm>
          <a:prstGeom prst="ellipse">
            <a:avLst/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/>
          </a:p>
        </p:txBody>
      </p:sp>
      <p:sp>
        <p:nvSpPr>
          <p:cNvPr id="641" name="Google Shape;641;p30"/>
          <p:cNvSpPr/>
          <p:nvPr/>
        </p:nvSpPr>
        <p:spPr>
          <a:xfrm>
            <a:off x="1612048" y="4238423"/>
            <a:ext cx="558800" cy="558800"/>
          </a:xfrm>
          <a:prstGeom prst="ellipse">
            <a:avLst/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14</a:t>
            </a:r>
            <a:endParaRPr/>
          </a:p>
        </p:txBody>
      </p:sp>
      <p:sp>
        <p:nvSpPr>
          <p:cNvPr id="642" name="Google Shape;642;p30"/>
          <p:cNvSpPr/>
          <p:nvPr/>
        </p:nvSpPr>
        <p:spPr>
          <a:xfrm>
            <a:off x="781753" y="5291186"/>
            <a:ext cx="558800" cy="558800"/>
          </a:xfrm>
          <a:prstGeom prst="ellipse">
            <a:avLst/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  <p:sp>
        <p:nvSpPr>
          <p:cNvPr id="643" name="Google Shape;643;p30"/>
          <p:cNvSpPr/>
          <p:nvPr/>
        </p:nvSpPr>
        <p:spPr>
          <a:xfrm>
            <a:off x="3075075" y="5315058"/>
            <a:ext cx="558800" cy="558800"/>
          </a:xfrm>
          <a:prstGeom prst="ellipse">
            <a:avLst/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644" name="Google Shape;644;p30"/>
          <p:cNvSpPr/>
          <p:nvPr/>
        </p:nvSpPr>
        <p:spPr>
          <a:xfrm>
            <a:off x="2068114" y="5350691"/>
            <a:ext cx="558800" cy="558800"/>
          </a:xfrm>
          <a:prstGeom prst="ellipse">
            <a:avLst/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/>
          </a:p>
        </p:txBody>
      </p:sp>
      <p:sp>
        <p:nvSpPr>
          <p:cNvPr id="645" name="Google Shape;645;p30"/>
          <p:cNvSpPr/>
          <p:nvPr/>
        </p:nvSpPr>
        <p:spPr>
          <a:xfrm>
            <a:off x="3493912" y="4293753"/>
            <a:ext cx="558800" cy="558800"/>
          </a:xfrm>
          <a:prstGeom prst="ellipse">
            <a:avLst/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/>
          </a:p>
        </p:txBody>
      </p:sp>
      <p:sp>
        <p:nvSpPr>
          <p:cNvPr id="646" name="Google Shape;646;p30"/>
          <p:cNvSpPr/>
          <p:nvPr/>
        </p:nvSpPr>
        <p:spPr>
          <a:xfrm>
            <a:off x="5461002" y="3429000"/>
            <a:ext cx="558800" cy="558800"/>
          </a:xfrm>
          <a:prstGeom prst="ellipse">
            <a:avLst/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/>
          </a:p>
        </p:txBody>
      </p:sp>
      <p:sp>
        <p:nvSpPr>
          <p:cNvPr id="647" name="Google Shape;647;p30"/>
          <p:cNvSpPr/>
          <p:nvPr/>
        </p:nvSpPr>
        <p:spPr>
          <a:xfrm>
            <a:off x="4706344" y="4320843"/>
            <a:ext cx="558800" cy="558800"/>
          </a:xfrm>
          <a:prstGeom prst="ellipse">
            <a:avLst/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endParaRPr/>
          </a:p>
        </p:txBody>
      </p:sp>
      <p:sp>
        <p:nvSpPr>
          <p:cNvPr id="648" name="Google Shape;648;p30"/>
          <p:cNvSpPr/>
          <p:nvPr/>
        </p:nvSpPr>
        <p:spPr>
          <a:xfrm>
            <a:off x="6238240" y="4320843"/>
            <a:ext cx="558800" cy="558800"/>
          </a:xfrm>
          <a:prstGeom prst="ellipse">
            <a:avLst/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/>
          </a:p>
        </p:txBody>
      </p:sp>
      <p:cxnSp>
        <p:nvCxnSpPr>
          <p:cNvPr id="649" name="Google Shape;649;p30"/>
          <p:cNvCxnSpPr>
            <a:stCxn id="639" idx="3"/>
            <a:endCxn id="640" idx="7"/>
          </p:cNvCxnSpPr>
          <p:nvPr/>
        </p:nvCxnSpPr>
        <p:spPr>
          <a:xfrm flipH="1">
            <a:off x="3021914" y="2986870"/>
            <a:ext cx="1154400" cy="5241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650" name="Google Shape;650;p30"/>
          <p:cNvCxnSpPr>
            <a:stCxn id="646" idx="1"/>
            <a:endCxn id="639" idx="5"/>
          </p:cNvCxnSpPr>
          <p:nvPr/>
        </p:nvCxnSpPr>
        <p:spPr>
          <a:xfrm rot="10800000">
            <a:off x="4571436" y="2986734"/>
            <a:ext cx="971400" cy="5241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651" name="Google Shape;651;p30"/>
          <p:cNvCxnSpPr>
            <a:stCxn id="648" idx="1"/>
            <a:endCxn id="646" idx="5"/>
          </p:cNvCxnSpPr>
          <p:nvPr/>
        </p:nvCxnSpPr>
        <p:spPr>
          <a:xfrm rot="10800000">
            <a:off x="5937874" y="3905877"/>
            <a:ext cx="382200" cy="4968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652" name="Google Shape;652;p30"/>
          <p:cNvCxnSpPr>
            <a:stCxn id="647" idx="7"/>
            <a:endCxn id="646" idx="3"/>
          </p:cNvCxnSpPr>
          <p:nvPr/>
        </p:nvCxnSpPr>
        <p:spPr>
          <a:xfrm rot="10800000" flipH="1">
            <a:off x="5183310" y="3905877"/>
            <a:ext cx="359400" cy="4968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653" name="Google Shape;653;p30"/>
          <p:cNvCxnSpPr>
            <a:stCxn id="640" idx="3"/>
            <a:endCxn id="641" idx="7"/>
          </p:cNvCxnSpPr>
          <p:nvPr/>
        </p:nvCxnSpPr>
        <p:spPr>
          <a:xfrm flipH="1">
            <a:off x="2089014" y="3905966"/>
            <a:ext cx="537900" cy="4143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654" name="Google Shape;654;p30"/>
          <p:cNvCxnSpPr>
            <a:stCxn id="640" idx="5"/>
            <a:endCxn id="645" idx="1"/>
          </p:cNvCxnSpPr>
          <p:nvPr/>
        </p:nvCxnSpPr>
        <p:spPr>
          <a:xfrm>
            <a:off x="3022046" y="3905966"/>
            <a:ext cx="553800" cy="4695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655" name="Google Shape;655;p30"/>
          <p:cNvCxnSpPr>
            <a:stCxn id="641" idx="3"/>
            <a:endCxn id="642" idx="7"/>
          </p:cNvCxnSpPr>
          <p:nvPr/>
        </p:nvCxnSpPr>
        <p:spPr>
          <a:xfrm flipH="1">
            <a:off x="1258582" y="4715389"/>
            <a:ext cx="435300" cy="6576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656" name="Google Shape;656;p30"/>
          <p:cNvCxnSpPr>
            <a:stCxn id="641" idx="5"/>
            <a:endCxn id="644" idx="0"/>
          </p:cNvCxnSpPr>
          <p:nvPr/>
        </p:nvCxnSpPr>
        <p:spPr>
          <a:xfrm>
            <a:off x="2089014" y="4715389"/>
            <a:ext cx="258600" cy="6354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657" name="Google Shape;657;p30"/>
          <p:cNvCxnSpPr>
            <a:stCxn id="645" idx="3"/>
            <a:endCxn id="643" idx="0"/>
          </p:cNvCxnSpPr>
          <p:nvPr/>
        </p:nvCxnSpPr>
        <p:spPr>
          <a:xfrm flipH="1">
            <a:off x="3354346" y="4770719"/>
            <a:ext cx="221400" cy="5442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658" name="Google Shape;658;p30"/>
          <p:cNvSpPr txBox="1"/>
          <p:nvPr/>
        </p:nvSpPr>
        <p:spPr>
          <a:xfrm>
            <a:off x="3792794" y="2519427"/>
            <a:ext cx="30168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659" name="Google Shape;659;p30"/>
          <p:cNvSpPr txBox="1"/>
          <p:nvPr/>
        </p:nvSpPr>
        <p:spPr>
          <a:xfrm>
            <a:off x="2243394" y="3300788"/>
            <a:ext cx="30168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  <p:sp>
        <p:nvSpPr>
          <p:cNvPr id="660" name="Google Shape;660;p30"/>
          <p:cNvSpPr txBox="1"/>
          <p:nvPr/>
        </p:nvSpPr>
        <p:spPr>
          <a:xfrm>
            <a:off x="5630476" y="3083357"/>
            <a:ext cx="30168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/>
          </a:p>
        </p:txBody>
      </p:sp>
      <p:sp>
        <p:nvSpPr>
          <p:cNvPr id="661" name="Google Shape;661;p30"/>
          <p:cNvSpPr txBox="1"/>
          <p:nvPr/>
        </p:nvSpPr>
        <p:spPr>
          <a:xfrm>
            <a:off x="1481399" y="3987800"/>
            <a:ext cx="30168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/>
          </a:p>
        </p:txBody>
      </p:sp>
      <p:sp>
        <p:nvSpPr>
          <p:cNvPr id="662" name="Google Shape;662;p30"/>
          <p:cNvSpPr txBox="1"/>
          <p:nvPr/>
        </p:nvSpPr>
        <p:spPr>
          <a:xfrm>
            <a:off x="617227" y="4964224"/>
            <a:ext cx="30168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/>
          </a:p>
        </p:txBody>
      </p:sp>
      <p:sp>
        <p:nvSpPr>
          <p:cNvPr id="663" name="Google Shape;663;p30"/>
          <p:cNvSpPr txBox="1"/>
          <p:nvPr/>
        </p:nvSpPr>
        <p:spPr>
          <a:xfrm>
            <a:off x="1886975" y="4961686"/>
            <a:ext cx="30168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endParaRPr/>
          </a:p>
        </p:txBody>
      </p:sp>
      <p:sp>
        <p:nvSpPr>
          <p:cNvPr id="664" name="Google Shape;664;p30"/>
          <p:cNvSpPr txBox="1"/>
          <p:nvPr/>
        </p:nvSpPr>
        <p:spPr>
          <a:xfrm>
            <a:off x="2898476" y="4885509"/>
            <a:ext cx="418704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/>
          </a:p>
        </p:txBody>
      </p:sp>
      <p:sp>
        <p:nvSpPr>
          <p:cNvPr id="665" name="Google Shape;665;p30"/>
          <p:cNvSpPr txBox="1"/>
          <p:nvPr/>
        </p:nvSpPr>
        <p:spPr>
          <a:xfrm>
            <a:off x="3712199" y="4003320"/>
            <a:ext cx="30168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/>
          </a:p>
        </p:txBody>
      </p:sp>
      <p:sp>
        <p:nvSpPr>
          <p:cNvPr id="666" name="Google Shape;666;p30"/>
          <p:cNvSpPr txBox="1"/>
          <p:nvPr/>
        </p:nvSpPr>
        <p:spPr>
          <a:xfrm>
            <a:off x="4796076" y="4013654"/>
            <a:ext cx="30168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/>
          </a:p>
        </p:txBody>
      </p:sp>
      <p:sp>
        <p:nvSpPr>
          <p:cNvPr id="667" name="Google Shape;667;p30"/>
          <p:cNvSpPr txBox="1"/>
          <p:nvPr/>
        </p:nvSpPr>
        <p:spPr>
          <a:xfrm>
            <a:off x="6401059" y="4023561"/>
            <a:ext cx="30168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/>
          </a:p>
        </p:txBody>
      </p:sp>
      <p:graphicFrame>
        <p:nvGraphicFramePr>
          <p:cNvPr id="668" name="Google Shape;668;p30"/>
          <p:cNvGraphicFramePr/>
          <p:nvPr/>
        </p:nvGraphicFramePr>
        <p:xfrm>
          <a:off x="7076668" y="1890294"/>
          <a:ext cx="4722000" cy="741700"/>
        </p:xfrm>
        <a:graphic>
          <a:graphicData uri="http://schemas.openxmlformats.org/drawingml/2006/table">
            <a:tbl>
              <a:tblPr firstRow="1" bandRow="1">
                <a:noFill/>
                <a:tableStyleId>{66088737-8E24-4614-AAA7-3D08145F63E1}</a:tableStyleId>
              </a:tblPr>
              <a:tblGrid>
                <a:gridCol w="472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2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72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72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722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722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722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722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4722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47220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1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2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3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4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5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6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7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8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9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10</a:t>
                      </a:r>
                      <a:endParaRPr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16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4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10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14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7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9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3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2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8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1</a:t>
                      </a:r>
                      <a:endParaRPr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669" name="Google Shape;669;p30"/>
          <p:cNvSpPr/>
          <p:nvPr/>
        </p:nvSpPr>
        <p:spPr>
          <a:xfrm>
            <a:off x="6992898" y="3099468"/>
            <a:ext cx="5054558" cy="2546367"/>
          </a:xfrm>
          <a:prstGeom prst="rect">
            <a:avLst/>
          </a:prstGeom>
          <a:gradFill>
            <a:gsLst>
              <a:gs pos="0">
                <a:srgbClr val="D1D1D1"/>
              </a:gs>
              <a:gs pos="50000">
                <a:srgbClr val="C7C7C7"/>
              </a:gs>
              <a:gs pos="100000">
                <a:srgbClr val="C0C0C0"/>
              </a:gs>
            </a:gsLst>
            <a:lin ang="5400000" scaled="0"/>
          </a:gradFill>
          <a:ln w="9525" cap="flat" cmpd="sng">
            <a:solidFill>
              <a:schemeClr val="accent3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u="sng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How the function works:</a:t>
            </a:r>
            <a:endParaRPr/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AutoNum type="arabicPeriod"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It is applied on an index.</a:t>
            </a:r>
            <a:endParaRPr/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AutoNum type="arabicPeriod"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It checks if the parent is greater than the child</a:t>
            </a:r>
            <a:endParaRPr/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AutoNum type="arabicPeriod"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If the parent is greater, return.</a:t>
            </a:r>
            <a:endParaRPr/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AutoNum type="arabicPeriod"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If the child is greater, then swap values with child</a:t>
            </a:r>
            <a:endParaRPr/>
          </a:p>
          <a:p>
            <a:pPr marL="800100" marR="0" lvl="1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AutoNum type="alphaLcParenR"/>
            </a:pP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Run the function on the child (recursively)</a:t>
            </a:r>
            <a:endParaRPr/>
          </a:p>
        </p:txBody>
      </p:sp>
      <p:sp>
        <p:nvSpPr>
          <p:cNvPr id="670" name="Google Shape;670;p30"/>
          <p:cNvSpPr/>
          <p:nvPr/>
        </p:nvSpPr>
        <p:spPr>
          <a:xfrm>
            <a:off x="384469" y="2956982"/>
            <a:ext cx="1990097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MaxHeapify(A,2)</a:t>
            </a:r>
            <a:endParaRPr/>
          </a:p>
        </p:txBody>
      </p:sp>
      <p:cxnSp>
        <p:nvCxnSpPr>
          <p:cNvPr id="671" name="Google Shape;671;p30"/>
          <p:cNvCxnSpPr>
            <a:stCxn id="641" idx="0"/>
            <a:endCxn id="640" idx="2"/>
          </p:cNvCxnSpPr>
          <p:nvPr/>
        </p:nvCxnSpPr>
        <p:spPr>
          <a:xfrm rot="-5400000">
            <a:off x="1953248" y="3646523"/>
            <a:ext cx="530100" cy="653700"/>
          </a:xfrm>
          <a:prstGeom prst="curvedConnector2">
            <a:avLst/>
          </a:prstGeom>
          <a:noFill/>
          <a:ln w="9525" cap="flat" cmpd="sng">
            <a:solidFill>
              <a:srgbClr val="FF0000"/>
            </a:solidFill>
            <a:prstDash val="solid"/>
            <a:miter lim="800000"/>
            <a:headEnd type="triangle" w="med" len="med"/>
            <a:tailEnd type="triangle" w="med" len="med"/>
          </a:ln>
        </p:spPr>
      </p:cxn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6" name="Google Shape;676;p31"/>
          <p:cNvSpPr txBox="1">
            <a:spLocks noGrp="1"/>
          </p:cNvSpPr>
          <p:nvPr>
            <p:ph type="body" idx="1"/>
          </p:nvPr>
        </p:nvSpPr>
        <p:spPr>
          <a:xfrm>
            <a:off x="838200" y="1227909"/>
            <a:ext cx="10515600" cy="1134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85000" lnSpcReduction="20000"/>
          </a:bodyPr>
          <a:lstStyle/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ct val="75000"/>
              <a:buFont typeface="Arial"/>
              <a:buChar char="●"/>
            </a:pPr>
            <a:r>
              <a:rPr lang="en-US" sz="2800" b="1"/>
              <a:t>Tries </a:t>
            </a:r>
            <a:r>
              <a:rPr lang="en-US" sz="2800"/>
              <a:t>to make the array into a max heap</a:t>
            </a:r>
            <a:endParaRPr/>
          </a:p>
          <a:p>
            <a:pPr marL="342900" marR="0" lvl="0" indent="-342900" algn="l" rtl="0">
              <a:lnSpc>
                <a:spcPct val="100000"/>
              </a:lnSpc>
              <a:spcBef>
                <a:spcPts val="476"/>
              </a:spcBef>
              <a:spcAft>
                <a:spcPts val="0"/>
              </a:spcAft>
              <a:buClr>
                <a:srgbClr val="0033CC"/>
              </a:buClr>
              <a:buSzPct val="75000"/>
              <a:buFont typeface="Arial"/>
              <a:buChar char="●"/>
            </a:pPr>
            <a:r>
              <a:rPr lang="en-US"/>
              <a:t>(parent value&gt;= child value)</a:t>
            </a:r>
            <a:endParaRPr/>
          </a:p>
          <a:p>
            <a:pPr marL="342900" marR="0" lvl="0" indent="-342900" algn="l" rtl="0">
              <a:lnSpc>
                <a:spcPct val="100000"/>
              </a:lnSpc>
              <a:spcBef>
                <a:spcPts val="476"/>
              </a:spcBef>
              <a:spcAft>
                <a:spcPts val="0"/>
              </a:spcAft>
              <a:buClr>
                <a:srgbClr val="0033CC"/>
              </a:buClr>
              <a:buSzPct val="75000"/>
              <a:buFont typeface="Arial"/>
              <a:buChar char="●"/>
            </a:pPr>
            <a:r>
              <a:rPr lang="en-US"/>
              <a:t>MaxHeapify(A,index)</a:t>
            </a:r>
            <a:endParaRPr/>
          </a:p>
        </p:txBody>
      </p:sp>
      <p:sp>
        <p:nvSpPr>
          <p:cNvPr id="677" name="Google Shape;677;p31"/>
          <p:cNvSpPr txBox="1">
            <a:spLocks noGrp="1"/>
          </p:cNvSpPr>
          <p:nvPr>
            <p:ph type="dt" idx="10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42404E-92D0-4BB1-B31F-6D6066A3D068}" type="datetime1">
              <a:rPr lang="en-US" smtClean="0"/>
              <a:t>1/12/2026</a:t>
            </a:fld>
            <a:endParaRPr/>
          </a:p>
        </p:txBody>
      </p:sp>
      <p:sp>
        <p:nvSpPr>
          <p:cNvPr id="678" name="Google Shape;678;p31"/>
          <p:cNvSpPr txBox="1">
            <a:spLocks noGrp="1"/>
          </p:cNvSpPr>
          <p:nvPr>
            <p:ph type="ftr" idx="11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Lec Asif Abrar, Dept of CSE, UIU</a:t>
            </a:r>
            <a:endParaRPr/>
          </a:p>
        </p:txBody>
      </p:sp>
      <p:sp>
        <p:nvSpPr>
          <p:cNvPr id="679" name="Google Shape;679;p31"/>
          <p:cNvSpPr txBox="1">
            <a:spLocks noGrp="1"/>
          </p:cNvSpPr>
          <p:nvPr>
            <p:ph type="sldNum" idx="12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17</a:t>
            </a:fld>
            <a:endParaRPr/>
          </a:p>
        </p:txBody>
      </p:sp>
      <p:sp>
        <p:nvSpPr>
          <p:cNvPr id="680" name="Google Shape;680;p31"/>
          <p:cNvSpPr txBox="1">
            <a:spLocks noGrp="1"/>
          </p:cNvSpPr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/>
              <a:t>MAX HEAPIFY</a:t>
            </a:r>
            <a:endParaRPr/>
          </a:p>
        </p:txBody>
      </p:sp>
      <p:sp>
        <p:nvSpPr>
          <p:cNvPr id="681" name="Google Shape;681;p31"/>
          <p:cNvSpPr/>
          <p:nvPr/>
        </p:nvSpPr>
        <p:spPr>
          <a:xfrm>
            <a:off x="4094480" y="2509904"/>
            <a:ext cx="558800" cy="558800"/>
          </a:xfrm>
          <a:prstGeom prst="ellipse">
            <a:avLst/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16</a:t>
            </a:r>
            <a:endParaRPr/>
          </a:p>
        </p:txBody>
      </p:sp>
      <p:sp>
        <p:nvSpPr>
          <p:cNvPr id="682" name="Google Shape;682;p31"/>
          <p:cNvSpPr/>
          <p:nvPr/>
        </p:nvSpPr>
        <p:spPr>
          <a:xfrm>
            <a:off x="2545080" y="3429000"/>
            <a:ext cx="558800" cy="558800"/>
          </a:xfrm>
          <a:prstGeom prst="ellipse">
            <a:avLst/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14</a:t>
            </a:r>
            <a:endParaRPr/>
          </a:p>
        </p:txBody>
      </p:sp>
      <p:sp>
        <p:nvSpPr>
          <p:cNvPr id="683" name="Google Shape;683;p31"/>
          <p:cNvSpPr/>
          <p:nvPr/>
        </p:nvSpPr>
        <p:spPr>
          <a:xfrm>
            <a:off x="1612048" y="4238423"/>
            <a:ext cx="558800" cy="558800"/>
          </a:xfrm>
          <a:prstGeom prst="ellipse">
            <a:avLst/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/>
          </a:p>
        </p:txBody>
      </p:sp>
      <p:sp>
        <p:nvSpPr>
          <p:cNvPr id="684" name="Google Shape;684;p31"/>
          <p:cNvSpPr/>
          <p:nvPr/>
        </p:nvSpPr>
        <p:spPr>
          <a:xfrm>
            <a:off x="781753" y="5291186"/>
            <a:ext cx="558800" cy="558800"/>
          </a:xfrm>
          <a:prstGeom prst="ellipse">
            <a:avLst/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  <p:sp>
        <p:nvSpPr>
          <p:cNvPr id="685" name="Google Shape;685;p31"/>
          <p:cNvSpPr/>
          <p:nvPr/>
        </p:nvSpPr>
        <p:spPr>
          <a:xfrm>
            <a:off x="3075075" y="5315058"/>
            <a:ext cx="558800" cy="558800"/>
          </a:xfrm>
          <a:prstGeom prst="ellipse">
            <a:avLst/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686" name="Google Shape;686;p31"/>
          <p:cNvSpPr/>
          <p:nvPr/>
        </p:nvSpPr>
        <p:spPr>
          <a:xfrm>
            <a:off x="2068114" y="5350691"/>
            <a:ext cx="558800" cy="558800"/>
          </a:xfrm>
          <a:prstGeom prst="ellipse">
            <a:avLst/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/>
          </a:p>
        </p:txBody>
      </p:sp>
      <p:sp>
        <p:nvSpPr>
          <p:cNvPr id="687" name="Google Shape;687;p31"/>
          <p:cNvSpPr/>
          <p:nvPr/>
        </p:nvSpPr>
        <p:spPr>
          <a:xfrm>
            <a:off x="3493912" y="4293753"/>
            <a:ext cx="558800" cy="558800"/>
          </a:xfrm>
          <a:prstGeom prst="ellipse">
            <a:avLst/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/>
          </a:p>
        </p:txBody>
      </p:sp>
      <p:sp>
        <p:nvSpPr>
          <p:cNvPr id="688" name="Google Shape;688;p31"/>
          <p:cNvSpPr/>
          <p:nvPr/>
        </p:nvSpPr>
        <p:spPr>
          <a:xfrm>
            <a:off x="5461002" y="3429000"/>
            <a:ext cx="558800" cy="558800"/>
          </a:xfrm>
          <a:prstGeom prst="ellipse">
            <a:avLst/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/>
          </a:p>
        </p:txBody>
      </p:sp>
      <p:sp>
        <p:nvSpPr>
          <p:cNvPr id="689" name="Google Shape;689;p31"/>
          <p:cNvSpPr/>
          <p:nvPr/>
        </p:nvSpPr>
        <p:spPr>
          <a:xfrm>
            <a:off x="4706344" y="4320843"/>
            <a:ext cx="558800" cy="558800"/>
          </a:xfrm>
          <a:prstGeom prst="ellipse">
            <a:avLst/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endParaRPr/>
          </a:p>
        </p:txBody>
      </p:sp>
      <p:sp>
        <p:nvSpPr>
          <p:cNvPr id="690" name="Google Shape;690;p31"/>
          <p:cNvSpPr/>
          <p:nvPr/>
        </p:nvSpPr>
        <p:spPr>
          <a:xfrm>
            <a:off x="6238240" y="4320843"/>
            <a:ext cx="558800" cy="558800"/>
          </a:xfrm>
          <a:prstGeom prst="ellipse">
            <a:avLst/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/>
          </a:p>
        </p:txBody>
      </p:sp>
      <p:cxnSp>
        <p:nvCxnSpPr>
          <p:cNvPr id="691" name="Google Shape;691;p31"/>
          <p:cNvCxnSpPr>
            <a:stCxn id="681" idx="3"/>
            <a:endCxn id="682" idx="7"/>
          </p:cNvCxnSpPr>
          <p:nvPr/>
        </p:nvCxnSpPr>
        <p:spPr>
          <a:xfrm flipH="1">
            <a:off x="3021914" y="2986870"/>
            <a:ext cx="1154400" cy="5241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692" name="Google Shape;692;p31"/>
          <p:cNvCxnSpPr>
            <a:stCxn id="688" idx="1"/>
            <a:endCxn id="681" idx="5"/>
          </p:cNvCxnSpPr>
          <p:nvPr/>
        </p:nvCxnSpPr>
        <p:spPr>
          <a:xfrm rot="10800000">
            <a:off x="4571436" y="2986734"/>
            <a:ext cx="971400" cy="5241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693" name="Google Shape;693;p31"/>
          <p:cNvCxnSpPr>
            <a:stCxn id="690" idx="1"/>
            <a:endCxn id="688" idx="5"/>
          </p:cNvCxnSpPr>
          <p:nvPr/>
        </p:nvCxnSpPr>
        <p:spPr>
          <a:xfrm rot="10800000">
            <a:off x="5937874" y="3905877"/>
            <a:ext cx="382200" cy="4968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694" name="Google Shape;694;p31"/>
          <p:cNvCxnSpPr>
            <a:stCxn id="689" idx="7"/>
            <a:endCxn id="688" idx="3"/>
          </p:cNvCxnSpPr>
          <p:nvPr/>
        </p:nvCxnSpPr>
        <p:spPr>
          <a:xfrm rot="10800000" flipH="1">
            <a:off x="5183310" y="3905877"/>
            <a:ext cx="359400" cy="4968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695" name="Google Shape;695;p31"/>
          <p:cNvCxnSpPr>
            <a:stCxn id="682" idx="3"/>
            <a:endCxn id="683" idx="7"/>
          </p:cNvCxnSpPr>
          <p:nvPr/>
        </p:nvCxnSpPr>
        <p:spPr>
          <a:xfrm flipH="1">
            <a:off x="2089014" y="3905966"/>
            <a:ext cx="537900" cy="4143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696" name="Google Shape;696;p31"/>
          <p:cNvCxnSpPr>
            <a:stCxn id="682" idx="5"/>
            <a:endCxn id="687" idx="1"/>
          </p:cNvCxnSpPr>
          <p:nvPr/>
        </p:nvCxnSpPr>
        <p:spPr>
          <a:xfrm>
            <a:off x="3022046" y="3905966"/>
            <a:ext cx="553800" cy="4695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697" name="Google Shape;697;p31"/>
          <p:cNvCxnSpPr>
            <a:stCxn id="683" idx="3"/>
            <a:endCxn id="684" idx="7"/>
          </p:cNvCxnSpPr>
          <p:nvPr/>
        </p:nvCxnSpPr>
        <p:spPr>
          <a:xfrm flipH="1">
            <a:off x="1258582" y="4715389"/>
            <a:ext cx="435300" cy="6576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698" name="Google Shape;698;p31"/>
          <p:cNvCxnSpPr>
            <a:stCxn id="683" idx="5"/>
            <a:endCxn id="686" idx="0"/>
          </p:cNvCxnSpPr>
          <p:nvPr/>
        </p:nvCxnSpPr>
        <p:spPr>
          <a:xfrm>
            <a:off x="2089014" y="4715389"/>
            <a:ext cx="258600" cy="6354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699" name="Google Shape;699;p31"/>
          <p:cNvCxnSpPr>
            <a:stCxn id="687" idx="3"/>
            <a:endCxn id="685" idx="0"/>
          </p:cNvCxnSpPr>
          <p:nvPr/>
        </p:nvCxnSpPr>
        <p:spPr>
          <a:xfrm flipH="1">
            <a:off x="3354346" y="4770719"/>
            <a:ext cx="221400" cy="5442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700" name="Google Shape;700;p31"/>
          <p:cNvSpPr txBox="1"/>
          <p:nvPr/>
        </p:nvSpPr>
        <p:spPr>
          <a:xfrm>
            <a:off x="3792794" y="2519427"/>
            <a:ext cx="30168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701" name="Google Shape;701;p31"/>
          <p:cNvSpPr txBox="1"/>
          <p:nvPr/>
        </p:nvSpPr>
        <p:spPr>
          <a:xfrm>
            <a:off x="2243394" y="3300788"/>
            <a:ext cx="30168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  <p:sp>
        <p:nvSpPr>
          <p:cNvPr id="702" name="Google Shape;702;p31"/>
          <p:cNvSpPr txBox="1"/>
          <p:nvPr/>
        </p:nvSpPr>
        <p:spPr>
          <a:xfrm>
            <a:off x="5630476" y="3083357"/>
            <a:ext cx="30168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/>
          </a:p>
        </p:txBody>
      </p:sp>
      <p:sp>
        <p:nvSpPr>
          <p:cNvPr id="703" name="Google Shape;703;p31"/>
          <p:cNvSpPr txBox="1"/>
          <p:nvPr/>
        </p:nvSpPr>
        <p:spPr>
          <a:xfrm>
            <a:off x="1481399" y="3987800"/>
            <a:ext cx="30168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/>
          </a:p>
        </p:txBody>
      </p:sp>
      <p:sp>
        <p:nvSpPr>
          <p:cNvPr id="704" name="Google Shape;704;p31"/>
          <p:cNvSpPr txBox="1"/>
          <p:nvPr/>
        </p:nvSpPr>
        <p:spPr>
          <a:xfrm>
            <a:off x="617227" y="4964224"/>
            <a:ext cx="30168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/>
          </a:p>
        </p:txBody>
      </p:sp>
      <p:sp>
        <p:nvSpPr>
          <p:cNvPr id="705" name="Google Shape;705;p31"/>
          <p:cNvSpPr txBox="1"/>
          <p:nvPr/>
        </p:nvSpPr>
        <p:spPr>
          <a:xfrm>
            <a:off x="1886975" y="4961686"/>
            <a:ext cx="30168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endParaRPr/>
          </a:p>
        </p:txBody>
      </p:sp>
      <p:sp>
        <p:nvSpPr>
          <p:cNvPr id="706" name="Google Shape;706;p31"/>
          <p:cNvSpPr txBox="1"/>
          <p:nvPr/>
        </p:nvSpPr>
        <p:spPr>
          <a:xfrm>
            <a:off x="2898476" y="4885509"/>
            <a:ext cx="418704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/>
          </a:p>
        </p:txBody>
      </p:sp>
      <p:sp>
        <p:nvSpPr>
          <p:cNvPr id="707" name="Google Shape;707;p31"/>
          <p:cNvSpPr txBox="1"/>
          <p:nvPr/>
        </p:nvSpPr>
        <p:spPr>
          <a:xfrm>
            <a:off x="3712199" y="4003320"/>
            <a:ext cx="30168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/>
          </a:p>
        </p:txBody>
      </p:sp>
      <p:sp>
        <p:nvSpPr>
          <p:cNvPr id="708" name="Google Shape;708;p31"/>
          <p:cNvSpPr txBox="1"/>
          <p:nvPr/>
        </p:nvSpPr>
        <p:spPr>
          <a:xfrm>
            <a:off x="4796076" y="4013654"/>
            <a:ext cx="30168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/>
          </a:p>
        </p:txBody>
      </p:sp>
      <p:sp>
        <p:nvSpPr>
          <p:cNvPr id="709" name="Google Shape;709;p31"/>
          <p:cNvSpPr txBox="1"/>
          <p:nvPr/>
        </p:nvSpPr>
        <p:spPr>
          <a:xfrm>
            <a:off x="6401059" y="4023561"/>
            <a:ext cx="30168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/>
          </a:p>
        </p:txBody>
      </p:sp>
      <p:graphicFrame>
        <p:nvGraphicFramePr>
          <p:cNvPr id="710" name="Google Shape;710;p31"/>
          <p:cNvGraphicFramePr/>
          <p:nvPr/>
        </p:nvGraphicFramePr>
        <p:xfrm>
          <a:off x="7076668" y="1890294"/>
          <a:ext cx="4722000" cy="741700"/>
        </p:xfrm>
        <a:graphic>
          <a:graphicData uri="http://schemas.openxmlformats.org/drawingml/2006/table">
            <a:tbl>
              <a:tblPr firstRow="1" bandRow="1">
                <a:noFill/>
                <a:tableStyleId>{66088737-8E24-4614-AAA7-3D08145F63E1}</a:tableStyleId>
              </a:tblPr>
              <a:tblGrid>
                <a:gridCol w="472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2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72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72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722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722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722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722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4722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47220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1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2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3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4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5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6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7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8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9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10</a:t>
                      </a:r>
                      <a:endParaRPr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16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>
                          <a:solidFill>
                            <a:schemeClr val="dk1"/>
                          </a:solidFill>
                        </a:rPr>
                        <a:t>14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10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>
                          <a:solidFill>
                            <a:schemeClr val="dk1"/>
                          </a:solidFill>
                        </a:rPr>
                        <a:t>4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7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9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3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2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8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1</a:t>
                      </a:r>
                      <a:endParaRPr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711" name="Google Shape;711;p31"/>
          <p:cNvSpPr/>
          <p:nvPr/>
        </p:nvSpPr>
        <p:spPr>
          <a:xfrm>
            <a:off x="6992898" y="3099468"/>
            <a:ext cx="5054558" cy="2546367"/>
          </a:xfrm>
          <a:prstGeom prst="rect">
            <a:avLst/>
          </a:prstGeom>
          <a:gradFill>
            <a:gsLst>
              <a:gs pos="0">
                <a:srgbClr val="D1D1D1"/>
              </a:gs>
              <a:gs pos="50000">
                <a:srgbClr val="C7C7C7"/>
              </a:gs>
              <a:gs pos="100000">
                <a:srgbClr val="C0C0C0"/>
              </a:gs>
            </a:gsLst>
            <a:lin ang="5400000" scaled="0"/>
          </a:gradFill>
          <a:ln w="9525" cap="flat" cmpd="sng">
            <a:solidFill>
              <a:schemeClr val="accent3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u="sng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How the function works:</a:t>
            </a:r>
            <a:endParaRPr/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AutoNum type="arabicPeriod"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It is applied on an index.</a:t>
            </a:r>
            <a:endParaRPr/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AutoNum type="arabicPeriod"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It checks if the parent is greater than the child</a:t>
            </a:r>
            <a:endParaRPr/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AutoNum type="arabicPeriod"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If the parent is greater, return.</a:t>
            </a:r>
            <a:endParaRPr/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AutoNum type="arabicPeriod"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If the child is greater, then swap values with child</a:t>
            </a:r>
            <a:endParaRPr/>
          </a:p>
          <a:p>
            <a:pPr marL="800100" marR="0" lvl="1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AutoNum type="alphaLcParenR"/>
            </a:pP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Run the function on the child (recursively)</a:t>
            </a:r>
            <a:endParaRPr/>
          </a:p>
        </p:txBody>
      </p:sp>
      <p:sp>
        <p:nvSpPr>
          <p:cNvPr id="712" name="Google Shape;712;p31"/>
          <p:cNvSpPr/>
          <p:nvPr/>
        </p:nvSpPr>
        <p:spPr>
          <a:xfrm>
            <a:off x="384469" y="2956982"/>
            <a:ext cx="1990097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MaxHeapify(A,2)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" name="Google Shape;717;p32"/>
          <p:cNvSpPr txBox="1">
            <a:spLocks noGrp="1"/>
          </p:cNvSpPr>
          <p:nvPr>
            <p:ph type="body" idx="1"/>
          </p:nvPr>
        </p:nvSpPr>
        <p:spPr>
          <a:xfrm>
            <a:off x="838200" y="1227909"/>
            <a:ext cx="10515600" cy="1134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85000" lnSpcReduction="20000"/>
          </a:bodyPr>
          <a:lstStyle/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ct val="75000"/>
              <a:buFont typeface="Arial"/>
              <a:buChar char="●"/>
            </a:pPr>
            <a:r>
              <a:rPr lang="en-US" sz="2800" b="1"/>
              <a:t>Tries </a:t>
            </a:r>
            <a:r>
              <a:rPr lang="en-US" sz="2800"/>
              <a:t>to make the array into a max heap</a:t>
            </a:r>
            <a:endParaRPr/>
          </a:p>
          <a:p>
            <a:pPr marL="342900" marR="0" lvl="0" indent="-342900" algn="l" rtl="0">
              <a:lnSpc>
                <a:spcPct val="100000"/>
              </a:lnSpc>
              <a:spcBef>
                <a:spcPts val="476"/>
              </a:spcBef>
              <a:spcAft>
                <a:spcPts val="0"/>
              </a:spcAft>
              <a:buClr>
                <a:srgbClr val="0033CC"/>
              </a:buClr>
              <a:buSzPct val="75000"/>
              <a:buFont typeface="Arial"/>
              <a:buChar char="●"/>
            </a:pPr>
            <a:r>
              <a:rPr lang="en-US"/>
              <a:t>(parent value&gt;= child value)</a:t>
            </a:r>
            <a:endParaRPr/>
          </a:p>
          <a:p>
            <a:pPr marL="342900" marR="0" lvl="0" indent="-342900" algn="l" rtl="0">
              <a:lnSpc>
                <a:spcPct val="100000"/>
              </a:lnSpc>
              <a:spcBef>
                <a:spcPts val="476"/>
              </a:spcBef>
              <a:spcAft>
                <a:spcPts val="0"/>
              </a:spcAft>
              <a:buClr>
                <a:srgbClr val="0033CC"/>
              </a:buClr>
              <a:buSzPct val="75000"/>
              <a:buFont typeface="Arial"/>
              <a:buChar char="●"/>
            </a:pPr>
            <a:r>
              <a:rPr lang="en-US"/>
              <a:t>MaxHeapify(A,index)</a:t>
            </a:r>
            <a:endParaRPr/>
          </a:p>
        </p:txBody>
      </p:sp>
      <p:sp>
        <p:nvSpPr>
          <p:cNvPr id="718" name="Google Shape;718;p32"/>
          <p:cNvSpPr txBox="1">
            <a:spLocks noGrp="1"/>
          </p:cNvSpPr>
          <p:nvPr>
            <p:ph type="dt" idx="10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8AA5A1D1-F691-4441-BF73-F2C2FFCE4CEF}" type="datetime1">
              <a:rPr lang="en-US" smtClean="0"/>
              <a:t>1/12/2026</a:t>
            </a:fld>
            <a:endParaRPr/>
          </a:p>
        </p:txBody>
      </p:sp>
      <p:sp>
        <p:nvSpPr>
          <p:cNvPr id="719" name="Google Shape;719;p32"/>
          <p:cNvSpPr txBox="1">
            <a:spLocks noGrp="1"/>
          </p:cNvSpPr>
          <p:nvPr>
            <p:ph type="ftr" idx="11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Lec Asif Abrar, Dept of CSE, UIU</a:t>
            </a:r>
            <a:endParaRPr/>
          </a:p>
        </p:txBody>
      </p:sp>
      <p:sp>
        <p:nvSpPr>
          <p:cNvPr id="720" name="Google Shape;720;p32"/>
          <p:cNvSpPr txBox="1">
            <a:spLocks noGrp="1"/>
          </p:cNvSpPr>
          <p:nvPr>
            <p:ph type="sldNum" idx="12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18</a:t>
            </a:fld>
            <a:endParaRPr/>
          </a:p>
        </p:txBody>
      </p:sp>
      <p:sp>
        <p:nvSpPr>
          <p:cNvPr id="721" name="Google Shape;721;p32"/>
          <p:cNvSpPr txBox="1">
            <a:spLocks noGrp="1"/>
          </p:cNvSpPr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/>
              <a:t>MAX HEAPIFY</a:t>
            </a:r>
            <a:endParaRPr/>
          </a:p>
        </p:txBody>
      </p:sp>
      <p:sp>
        <p:nvSpPr>
          <p:cNvPr id="722" name="Google Shape;722;p32"/>
          <p:cNvSpPr/>
          <p:nvPr/>
        </p:nvSpPr>
        <p:spPr>
          <a:xfrm>
            <a:off x="4094480" y="2509904"/>
            <a:ext cx="558800" cy="558800"/>
          </a:xfrm>
          <a:prstGeom prst="ellipse">
            <a:avLst/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16</a:t>
            </a:r>
            <a:endParaRPr/>
          </a:p>
        </p:txBody>
      </p:sp>
      <p:sp>
        <p:nvSpPr>
          <p:cNvPr id="723" name="Google Shape;723;p32"/>
          <p:cNvSpPr/>
          <p:nvPr/>
        </p:nvSpPr>
        <p:spPr>
          <a:xfrm>
            <a:off x="2545080" y="3429000"/>
            <a:ext cx="558800" cy="558800"/>
          </a:xfrm>
          <a:prstGeom prst="ellipse">
            <a:avLst/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14</a:t>
            </a:r>
            <a:endParaRPr/>
          </a:p>
        </p:txBody>
      </p:sp>
      <p:sp>
        <p:nvSpPr>
          <p:cNvPr id="724" name="Google Shape;724;p32"/>
          <p:cNvSpPr/>
          <p:nvPr/>
        </p:nvSpPr>
        <p:spPr>
          <a:xfrm>
            <a:off x="1612048" y="4238423"/>
            <a:ext cx="558800" cy="558800"/>
          </a:xfrm>
          <a:prstGeom prst="ellipse">
            <a:avLst/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/>
          </a:p>
        </p:txBody>
      </p:sp>
      <p:sp>
        <p:nvSpPr>
          <p:cNvPr id="725" name="Google Shape;725;p32"/>
          <p:cNvSpPr/>
          <p:nvPr/>
        </p:nvSpPr>
        <p:spPr>
          <a:xfrm>
            <a:off x="781753" y="5291186"/>
            <a:ext cx="558800" cy="558800"/>
          </a:xfrm>
          <a:prstGeom prst="ellipse">
            <a:avLst/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  <p:sp>
        <p:nvSpPr>
          <p:cNvPr id="726" name="Google Shape;726;p32"/>
          <p:cNvSpPr/>
          <p:nvPr/>
        </p:nvSpPr>
        <p:spPr>
          <a:xfrm>
            <a:off x="3075075" y="5315058"/>
            <a:ext cx="558800" cy="558800"/>
          </a:xfrm>
          <a:prstGeom prst="ellipse">
            <a:avLst/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727" name="Google Shape;727;p32"/>
          <p:cNvSpPr/>
          <p:nvPr/>
        </p:nvSpPr>
        <p:spPr>
          <a:xfrm>
            <a:off x="2068114" y="5350691"/>
            <a:ext cx="558800" cy="558800"/>
          </a:xfrm>
          <a:prstGeom prst="ellipse">
            <a:avLst/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/>
          </a:p>
        </p:txBody>
      </p:sp>
      <p:sp>
        <p:nvSpPr>
          <p:cNvPr id="728" name="Google Shape;728;p32"/>
          <p:cNvSpPr/>
          <p:nvPr/>
        </p:nvSpPr>
        <p:spPr>
          <a:xfrm>
            <a:off x="3493912" y="4293753"/>
            <a:ext cx="558800" cy="558800"/>
          </a:xfrm>
          <a:prstGeom prst="ellipse">
            <a:avLst/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/>
          </a:p>
        </p:txBody>
      </p:sp>
      <p:sp>
        <p:nvSpPr>
          <p:cNvPr id="729" name="Google Shape;729;p32"/>
          <p:cNvSpPr/>
          <p:nvPr/>
        </p:nvSpPr>
        <p:spPr>
          <a:xfrm>
            <a:off x="5461002" y="3429000"/>
            <a:ext cx="558800" cy="558800"/>
          </a:xfrm>
          <a:prstGeom prst="ellipse">
            <a:avLst/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/>
          </a:p>
        </p:txBody>
      </p:sp>
      <p:sp>
        <p:nvSpPr>
          <p:cNvPr id="730" name="Google Shape;730;p32"/>
          <p:cNvSpPr/>
          <p:nvPr/>
        </p:nvSpPr>
        <p:spPr>
          <a:xfrm>
            <a:off x="4706344" y="4320843"/>
            <a:ext cx="558800" cy="558800"/>
          </a:xfrm>
          <a:prstGeom prst="ellipse">
            <a:avLst/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endParaRPr/>
          </a:p>
        </p:txBody>
      </p:sp>
      <p:sp>
        <p:nvSpPr>
          <p:cNvPr id="731" name="Google Shape;731;p32"/>
          <p:cNvSpPr/>
          <p:nvPr/>
        </p:nvSpPr>
        <p:spPr>
          <a:xfrm>
            <a:off x="6238240" y="4320843"/>
            <a:ext cx="558800" cy="558800"/>
          </a:xfrm>
          <a:prstGeom prst="ellipse">
            <a:avLst/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/>
          </a:p>
        </p:txBody>
      </p:sp>
      <p:cxnSp>
        <p:nvCxnSpPr>
          <p:cNvPr id="732" name="Google Shape;732;p32"/>
          <p:cNvCxnSpPr>
            <a:stCxn id="722" idx="3"/>
            <a:endCxn id="723" idx="7"/>
          </p:cNvCxnSpPr>
          <p:nvPr/>
        </p:nvCxnSpPr>
        <p:spPr>
          <a:xfrm flipH="1">
            <a:off x="3021914" y="2986870"/>
            <a:ext cx="1154400" cy="5241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733" name="Google Shape;733;p32"/>
          <p:cNvCxnSpPr>
            <a:stCxn id="729" idx="1"/>
            <a:endCxn id="722" idx="5"/>
          </p:cNvCxnSpPr>
          <p:nvPr/>
        </p:nvCxnSpPr>
        <p:spPr>
          <a:xfrm rot="10800000">
            <a:off x="4571436" y="2986734"/>
            <a:ext cx="971400" cy="5241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734" name="Google Shape;734;p32"/>
          <p:cNvCxnSpPr>
            <a:stCxn id="731" idx="1"/>
            <a:endCxn id="729" idx="5"/>
          </p:cNvCxnSpPr>
          <p:nvPr/>
        </p:nvCxnSpPr>
        <p:spPr>
          <a:xfrm rot="10800000">
            <a:off x="5937874" y="3905877"/>
            <a:ext cx="382200" cy="4968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735" name="Google Shape;735;p32"/>
          <p:cNvCxnSpPr>
            <a:stCxn id="730" idx="7"/>
            <a:endCxn id="729" idx="3"/>
          </p:cNvCxnSpPr>
          <p:nvPr/>
        </p:nvCxnSpPr>
        <p:spPr>
          <a:xfrm rot="10800000" flipH="1">
            <a:off x="5183310" y="3905877"/>
            <a:ext cx="359400" cy="4968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736" name="Google Shape;736;p32"/>
          <p:cNvCxnSpPr>
            <a:stCxn id="723" idx="3"/>
            <a:endCxn id="724" idx="7"/>
          </p:cNvCxnSpPr>
          <p:nvPr/>
        </p:nvCxnSpPr>
        <p:spPr>
          <a:xfrm flipH="1">
            <a:off x="2089014" y="3905966"/>
            <a:ext cx="537900" cy="4143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737" name="Google Shape;737;p32"/>
          <p:cNvCxnSpPr>
            <a:stCxn id="723" idx="5"/>
            <a:endCxn id="728" idx="1"/>
          </p:cNvCxnSpPr>
          <p:nvPr/>
        </p:nvCxnSpPr>
        <p:spPr>
          <a:xfrm>
            <a:off x="3022046" y="3905966"/>
            <a:ext cx="553800" cy="4695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738" name="Google Shape;738;p32"/>
          <p:cNvCxnSpPr>
            <a:stCxn id="724" idx="3"/>
            <a:endCxn id="725" idx="7"/>
          </p:cNvCxnSpPr>
          <p:nvPr/>
        </p:nvCxnSpPr>
        <p:spPr>
          <a:xfrm flipH="1">
            <a:off x="1258582" y="4715389"/>
            <a:ext cx="435300" cy="6576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739" name="Google Shape;739;p32"/>
          <p:cNvCxnSpPr>
            <a:stCxn id="724" idx="5"/>
            <a:endCxn id="727" idx="0"/>
          </p:cNvCxnSpPr>
          <p:nvPr/>
        </p:nvCxnSpPr>
        <p:spPr>
          <a:xfrm>
            <a:off x="2089014" y="4715389"/>
            <a:ext cx="258600" cy="6354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740" name="Google Shape;740;p32"/>
          <p:cNvCxnSpPr>
            <a:stCxn id="728" idx="3"/>
            <a:endCxn id="726" idx="0"/>
          </p:cNvCxnSpPr>
          <p:nvPr/>
        </p:nvCxnSpPr>
        <p:spPr>
          <a:xfrm flipH="1">
            <a:off x="3354346" y="4770719"/>
            <a:ext cx="221400" cy="5442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741" name="Google Shape;741;p32"/>
          <p:cNvSpPr txBox="1"/>
          <p:nvPr/>
        </p:nvSpPr>
        <p:spPr>
          <a:xfrm>
            <a:off x="3792794" y="2519427"/>
            <a:ext cx="30168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742" name="Google Shape;742;p32"/>
          <p:cNvSpPr txBox="1"/>
          <p:nvPr/>
        </p:nvSpPr>
        <p:spPr>
          <a:xfrm>
            <a:off x="2243394" y="3300788"/>
            <a:ext cx="30168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  <p:sp>
        <p:nvSpPr>
          <p:cNvPr id="743" name="Google Shape;743;p32"/>
          <p:cNvSpPr txBox="1"/>
          <p:nvPr/>
        </p:nvSpPr>
        <p:spPr>
          <a:xfrm>
            <a:off x="5630476" y="3083357"/>
            <a:ext cx="30168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/>
          </a:p>
        </p:txBody>
      </p:sp>
      <p:sp>
        <p:nvSpPr>
          <p:cNvPr id="744" name="Google Shape;744;p32"/>
          <p:cNvSpPr txBox="1"/>
          <p:nvPr/>
        </p:nvSpPr>
        <p:spPr>
          <a:xfrm>
            <a:off x="1481399" y="3987800"/>
            <a:ext cx="30168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/>
          </a:p>
        </p:txBody>
      </p:sp>
      <p:sp>
        <p:nvSpPr>
          <p:cNvPr id="745" name="Google Shape;745;p32"/>
          <p:cNvSpPr txBox="1"/>
          <p:nvPr/>
        </p:nvSpPr>
        <p:spPr>
          <a:xfrm>
            <a:off x="617227" y="4964224"/>
            <a:ext cx="30168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/>
          </a:p>
        </p:txBody>
      </p:sp>
      <p:sp>
        <p:nvSpPr>
          <p:cNvPr id="746" name="Google Shape;746;p32"/>
          <p:cNvSpPr txBox="1"/>
          <p:nvPr/>
        </p:nvSpPr>
        <p:spPr>
          <a:xfrm>
            <a:off x="1886975" y="4961686"/>
            <a:ext cx="30168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endParaRPr/>
          </a:p>
        </p:txBody>
      </p:sp>
      <p:sp>
        <p:nvSpPr>
          <p:cNvPr id="747" name="Google Shape;747;p32"/>
          <p:cNvSpPr txBox="1"/>
          <p:nvPr/>
        </p:nvSpPr>
        <p:spPr>
          <a:xfrm>
            <a:off x="2898476" y="4885509"/>
            <a:ext cx="418704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/>
          </a:p>
        </p:txBody>
      </p:sp>
      <p:sp>
        <p:nvSpPr>
          <p:cNvPr id="748" name="Google Shape;748;p32"/>
          <p:cNvSpPr txBox="1"/>
          <p:nvPr/>
        </p:nvSpPr>
        <p:spPr>
          <a:xfrm>
            <a:off x="3712199" y="4003320"/>
            <a:ext cx="30168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/>
          </a:p>
        </p:txBody>
      </p:sp>
      <p:sp>
        <p:nvSpPr>
          <p:cNvPr id="749" name="Google Shape;749;p32"/>
          <p:cNvSpPr txBox="1"/>
          <p:nvPr/>
        </p:nvSpPr>
        <p:spPr>
          <a:xfrm>
            <a:off x="4796076" y="4013654"/>
            <a:ext cx="30168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/>
          </a:p>
        </p:txBody>
      </p:sp>
      <p:sp>
        <p:nvSpPr>
          <p:cNvPr id="750" name="Google Shape;750;p32"/>
          <p:cNvSpPr txBox="1"/>
          <p:nvPr/>
        </p:nvSpPr>
        <p:spPr>
          <a:xfrm>
            <a:off x="6401059" y="4023561"/>
            <a:ext cx="30168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/>
          </a:p>
        </p:txBody>
      </p:sp>
      <p:graphicFrame>
        <p:nvGraphicFramePr>
          <p:cNvPr id="751" name="Google Shape;751;p32"/>
          <p:cNvGraphicFramePr/>
          <p:nvPr/>
        </p:nvGraphicFramePr>
        <p:xfrm>
          <a:off x="7076668" y="1890294"/>
          <a:ext cx="4722000" cy="741700"/>
        </p:xfrm>
        <a:graphic>
          <a:graphicData uri="http://schemas.openxmlformats.org/drawingml/2006/table">
            <a:tbl>
              <a:tblPr firstRow="1" bandRow="1">
                <a:noFill/>
                <a:tableStyleId>{66088737-8E24-4614-AAA7-3D08145F63E1}</a:tableStyleId>
              </a:tblPr>
              <a:tblGrid>
                <a:gridCol w="472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2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72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72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722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722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722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722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4722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47220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1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2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3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4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5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6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7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8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9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10</a:t>
                      </a:r>
                      <a:endParaRPr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16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>
                          <a:solidFill>
                            <a:schemeClr val="dk1"/>
                          </a:solidFill>
                        </a:rPr>
                        <a:t>14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10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>
                          <a:solidFill>
                            <a:schemeClr val="dk1"/>
                          </a:solidFill>
                        </a:rPr>
                        <a:t>4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7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9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3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2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8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1</a:t>
                      </a:r>
                      <a:endParaRPr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752" name="Google Shape;752;p32"/>
          <p:cNvSpPr/>
          <p:nvPr/>
        </p:nvSpPr>
        <p:spPr>
          <a:xfrm>
            <a:off x="6992898" y="3099468"/>
            <a:ext cx="5054558" cy="2546367"/>
          </a:xfrm>
          <a:prstGeom prst="rect">
            <a:avLst/>
          </a:prstGeom>
          <a:gradFill>
            <a:gsLst>
              <a:gs pos="0">
                <a:srgbClr val="D1D1D1"/>
              </a:gs>
              <a:gs pos="50000">
                <a:srgbClr val="C7C7C7"/>
              </a:gs>
              <a:gs pos="100000">
                <a:srgbClr val="C0C0C0"/>
              </a:gs>
            </a:gsLst>
            <a:lin ang="5400000" scaled="0"/>
          </a:gradFill>
          <a:ln w="9525" cap="flat" cmpd="sng">
            <a:solidFill>
              <a:schemeClr val="accent3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u="sng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How the function works:</a:t>
            </a:r>
            <a:endParaRPr/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AutoNum type="arabicPeriod"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It is applied on an index.</a:t>
            </a:r>
            <a:endParaRPr/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AutoNum type="arabicPeriod"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It checks if the parent is greater than the child</a:t>
            </a:r>
            <a:endParaRPr/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AutoNum type="arabicPeriod"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If the parent is greater, return.</a:t>
            </a:r>
            <a:endParaRPr/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AutoNum type="arabicPeriod"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If the child is greater, then swap values with child</a:t>
            </a:r>
            <a:endParaRPr/>
          </a:p>
          <a:p>
            <a:pPr marL="800100" marR="0" lvl="1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AutoNum type="alphaLcParenR"/>
            </a:pP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Run the function on the child (recursively)</a:t>
            </a:r>
            <a:endParaRPr/>
          </a:p>
        </p:txBody>
      </p:sp>
      <p:sp>
        <p:nvSpPr>
          <p:cNvPr id="753" name="Google Shape;753;p32"/>
          <p:cNvSpPr/>
          <p:nvPr/>
        </p:nvSpPr>
        <p:spPr>
          <a:xfrm>
            <a:off x="120869" y="3776439"/>
            <a:ext cx="1990097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MaxHeapify(A,4)</a:t>
            </a:r>
            <a:endParaRPr/>
          </a:p>
        </p:txBody>
      </p:sp>
      <p:sp>
        <p:nvSpPr>
          <p:cNvPr id="754" name="Google Shape;754;p32"/>
          <p:cNvSpPr/>
          <p:nvPr/>
        </p:nvSpPr>
        <p:spPr>
          <a:xfrm>
            <a:off x="1228029" y="5731277"/>
            <a:ext cx="808425" cy="375459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accent2"/>
          </a:solidFill>
          <a:ln w="12700" cap="flat" cmpd="sng">
            <a:solidFill>
              <a:srgbClr val="AC5B23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Largest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9" name="Google Shape;759;p33"/>
          <p:cNvSpPr txBox="1">
            <a:spLocks noGrp="1"/>
          </p:cNvSpPr>
          <p:nvPr>
            <p:ph type="body" idx="1"/>
          </p:nvPr>
        </p:nvSpPr>
        <p:spPr>
          <a:xfrm>
            <a:off x="838200" y="1227909"/>
            <a:ext cx="10515600" cy="1134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85000" lnSpcReduction="20000"/>
          </a:bodyPr>
          <a:lstStyle/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ct val="75000"/>
              <a:buFont typeface="Arial"/>
              <a:buChar char="●"/>
            </a:pPr>
            <a:r>
              <a:rPr lang="en-US" sz="2800" b="1"/>
              <a:t>Tries </a:t>
            </a:r>
            <a:r>
              <a:rPr lang="en-US" sz="2800"/>
              <a:t>to make the array into a max heap</a:t>
            </a:r>
            <a:endParaRPr/>
          </a:p>
          <a:p>
            <a:pPr marL="342900" marR="0" lvl="0" indent="-342900" algn="l" rtl="0">
              <a:lnSpc>
                <a:spcPct val="100000"/>
              </a:lnSpc>
              <a:spcBef>
                <a:spcPts val="476"/>
              </a:spcBef>
              <a:spcAft>
                <a:spcPts val="0"/>
              </a:spcAft>
              <a:buClr>
                <a:srgbClr val="0033CC"/>
              </a:buClr>
              <a:buSzPct val="75000"/>
              <a:buFont typeface="Arial"/>
              <a:buChar char="●"/>
            </a:pPr>
            <a:r>
              <a:rPr lang="en-US"/>
              <a:t>(parent value&gt;= child value)</a:t>
            </a:r>
            <a:endParaRPr/>
          </a:p>
          <a:p>
            <a:pPr marL="342900" marR="0" lvl="0" indent="-342900" algn="l" rtl="0">
              <a:lnSpc>
                <a:spcPct val="100000"/>
              </a:lnSpc>
              <a:spcBef>
                <a:spcPts val="476"/>
              </a:spcBef>
              <a:spcAft>
                <a:spcPts val="0"/>
              </a:spcAft>
              <a:buClr>
                <a:srgbClr val="0033CC"/>
              </a:buClr>
              <a:buSzPct val="75000"/>
              <a:buFont typeface="Arial"/>
              <a:buChar char="●"/>
            </a:pPr>
            <a:r>
              <a:rPr lang="en-US"/>
              <a:t>MaxHeapify(A,index)</a:t>
            </a:r>
            <a:endParaRPr/>
          </a:p>
        </p:txBody>
      </p:sp>
      <p:sp>
        <p:nvSpPr>
          <p:cNvPr id="760" name="Google Shape;760;p33"/>
          <p:cNvSpPr txBox="1">
            <a:spLocks noGrp="1"/>
          </p:cNvSpPr>
          <p:nvPr>
            <p:ph type="dt" idx="10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DB9C30C3-2AE7-4E27-8425-6722734481A7}" type="datetime1">
              <a:rPr lang="en-US" smtClean="0"/>
              <a:t>1/12/2026</a:t>
            </a:fld>
            <a:endParaRPr/>
          </a:p>
        </p:txBody>
      </p:sp>
      <p:sp>
        <p:nvSpPr>
          <p:cNvPr id="761" name="Google Shape;761;p33"/>
          <p:cNvSpPr txBox="1">
            <a:spLocks noGrp="1"/>
          </p:cNvSpPr>
          <p:nvPr>
            <p:ph type="ftr" idx="11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Lec Asif Abrar, Dept of CSE, UIU</a:t>
            </a:r>
            <a:endParaRPr/>
          </a:p>
        </p:txBody>
      </p:sp>
      <p:sp>
        <p:nvSpPr>
          <p:cNvPr id="762" name="Google Shape;762;p33"/>
          <p:cNvSpPr txBox="1">
            <a:spLocks noGrp="1"/>
          </p:cNvSpPr>
          <p:nvPr>
            <p:ph type="sldNum" idx="12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19</a:t>
            </a:fld>
            <a:endParaRPr/>
          </a:p>
        </p:txBody>
      </p:sp>
      <p:sp>
        <p:nvSpPr>
          <p:cNvPr id="763" name="Google Shape;763;p33"/>
          <p:cNvSpPr txBox="1">
            <a:spLocks noGrp="1"/>
          </p:cNvSpPr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/>
              <a:t>MAX HEAPIFY</a:t>
            </a:r>
            <a:endParaRPr/>
          </a:p>
        </p:txBody>
      </p:sp>
      <p:sp>
        <p:nvSpPr>
          <p:cNvPr id="764" name="Google Shape;764;p33"/>
          <p:cNvSpPr/>
          <p:nvPr/>
        </p:nvSpPr>
        <p:spPr>
          <a:xfrm>
            <a:off x="4094480" y="2509904"/>
            <a:ext cx="558800" cy="558800"/>
          </a:xfrm>
          <a:prstGeom prst="ellipse">
            <a:avLst/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16</a:t>
            </a:r>
            <a:endParaRPr/>
          </a:p>
        </p:txBody>
      </p:sp>
      <p:sp>
        <p:nvSpPr>
          <p:cNvPr id="765" name="Google Shape;765;p33"/>
          <p:cNvSpPr/>
          <p:nvPr/>
        </p:nvSpPr>
        <p:spPr>
          <a:xfrm>
            <a:off x="2545080" y="3429000"/>
            <a:ext cx="558800" cy="558800"/>
          </a:xfrm>
          <a:prstGeom prst="ellipse">
            <a:avLst/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14</a:t>
            </a:r>
            <a:endParaRPr/>
          </a:p>
        </p:txBody>
      </p:sp>
      <p:sp>
        <p:nvSpPr>
          <p:cNvPr id="766" name="Google Shape;766;p33"/>
          <p:cNvSpPr/>
          <p:nvPr/>
        </p:nvSpPr>
        <p:spPr>
          <a:xfrm>
            <a:off x="1612048" y="4238423"/>
            <a:ext cx="558800" cy="558800"/>
          </a:xfrm>
          <a:prstGeom prst="ellipse">
            <a:avLst/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/>
          </a:p>
        </p:txBody>
      </p:sp>
      <p:sp>
        <p:nvSpPr>
          <p:cNvPr id="767" name="Google Shape;767;p33"/>
          <p:cNvSpPr/>
          <p:nvPr/>
        </p:nvSpPr>
        <p:spPr>
          <a:xfrm>
            <a:off x="781753" y="5291186"/>
            <a:ext cx="558800" cy="558800"/>
          </a:xfrm>
          <a:prstGeom prst="ellipse">
            <a:avLst/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  <p:sp>
        <p:nvSpPr>
          <p:cNvPr id="768" name="Google Shape;768;p33"/>
          <p:cNvSpPr/>
          <p:nvPr/>
        </p:nvSpPr>
        <p:spPr>
          <a:xfrm>
            <a:off x="3075075" y="5315058"/>
            <a:ext cx="558800" cy="558800"/>
          </a:xfrm>
          <a:prstGeom prst="ellipse">
            <a:avLst/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769" name="Google Shape;769;p33"/>
          <p:cNvSpPr/>
          <p:nvPr/>
        </p:nvSpPr>
        <p:spPr>
          <a:xfrm>
            <a:off x="2068114" y="5350691"/>
            <a:ext cx="558800" cy="558800"/>
          </a:xfrm>
          <a:prstGeom prst="ellipse">
            <a:avLst/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/>
          </a:p>
        </p:txBody>
      </p:sp>
      <p:sp>
        <p:nvSpPr>
          <p:cNvPr id="770" name="Google Shape;770;p33"/>
          <p:cNvSpPr/>
          <p:nvPr/>
        </p:nvSpPr>
        <p:spPr>
          <a:xfrm>
            <a:off x="3493912" y="4293753"/>
            <a:ext cx="558800" cy="558800"/>
          </a:xfrm>
          <a:prstGeom prst="ellipse">
            <a:avLst/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/>
          </a:p>
        </p:txBody>
      </p:sp>
      <p:sp>
        <p:nvSpPr>
          <p:cNvPr id="771" name="Google Shape;771;p33"/>
          <p:cNvSpPr/>
          <p:nvPr/>
        </p:nvSpPr>
        <p:spPr>
          <a:xfrm>
            <a:off x="5461002" y="3429000"/>
            <a:ext cx="558800" cy="558800"/>
          </a:xfrm>
          <a:prstGeom prst="ellipse">
            <a:avLst/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/>
          </a:p>
        </p:txBody>
      </p:sp>
      <p:sp>
        <p:nvSpPr>
          <p:cNvPr id="772" name="Google Shape;772;p33"/>
          <p:cNvSpPr/>
          <p:nvPr/>
        </p:nvSpPr>
        <p:spPr>
          <a:xfrm>
            <a:off x="4706344" y="4320843"/>
            <a:ext cx="558800" cy="558800"/>
          </a:xfrm>
          <a:prstGeom prst="ellipse">
            <a:avLst/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endParaRPr/>
          </a:p>
        </p:txBody>
      </p:sp>
      <p:sp>
        <p:nvSpPr>
          <p:cNvPr id="773" name="Google Shape;773;p33"/>
          <p:cNvSpPr/>
          <p:nvPr/>
        </p:nvSpPr>
        <p:spPr>
          <a:xfrm>
            <a:off x="6238240" y="4320843"/>
            <a:ext cx="558800" cy="558800"/>
          </a:xfrm>
          <a:prstGeom prst="ellipse">
            <a:avLst/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/>
          </a:p>
        </p:txBody>
      </p:sp>
      <p:cxnSp>
        <p:nvCxnSpPr>
          <p:cNvPr id="774" name="Google Shape;774;p33"/>
          <p:cNvCxnSpPr>
            <a:stCxn id="764" idx="3"/>
            <a:endCxn id="765" idx="7"/>
          </p:cNvCxnSpPr>
          <p:nvPr/>
        </p:nvCxnSpPr>
        <p:spPr>
          <a:xfrm flipH="1">
            <a:off x="3021914" y="2986870"/>
            <a:ext cx="1154400" cy="5241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775" name="Google Shape;775;p33"/>
          <p:cNvCxnSpPr>
            <a:stCxn id="771" idx="1"/>
            <a:endCxn id="764" idx="5"/>
          </p:cNvCxnSpPr>
          <p:nvPr/>
        </p:nvCxnSpPr>
        <p:spPr>
          <a:xfrm rot="10800000">
            <a:off x="4571436" y="2986734"/>
            <a:ext cx="971400" cy="5241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776" name="Google Shape;776;p33"/>
          <p:cNvCxnSpPr>
            <a:stCxn id="773" idx="1"/>
            <a:endCxn id="771" idx="5"/>
          </p:cNvCxnSpPr>
          <p:nvPr/>
        </p:nvCxnSpPr>
        <p:spPr>
          <a:xfrm rot="10800000">
            <a:off x="5937874" y="3905877"/>
            <a:ext cx="382200" cy="4968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777" name="Google Shape;777;p33"/>
          <p:cNvCxnSpPr>
            <a:stCxn id="772" idx="7"/>
            <a:endCxn id="771" idx="3"/>
          </p:cNvCxnSpPr>
          <p:nvPr/>
        </p:nvCxnSpPr>
        <p:spPr>
          <a:xfrm rot="10800000" flipH="1">
            <a:off x="5183310" y="3905877"/>
            <a:ext cx="359400" cy="4968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778" name="Google Shape;778;p33"/>
          <p:cNvCxnSpPr>
            <a:stCxn id="765" idx="3"/>
            <a:endCxn id="766" idx="7"/>
          </p:cNvCxnSpPr>
          <p:nvPr/>
        </p:nvCxnSpPr>
        <p:spPr>
          <a:xfrm flipH="1">
            <a:off x="2089014" y="3905966"/>
            <a:ext cx="537900" cy="4143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779" name="Google Shape;779;p33"/>
          <p:cNvCxnSpPr>
            <a:stCxn id="765" idx="5"/>
            <a:endCxn id="770" idx="1"/>
          </p:cNvCxnSpPr>
          <p:nvPr/>
        </p:nvCxnSpPr>
        <p:spPr>
          <a:xfrm>
            <a:off x="3022046" y="3905966"/>
            <a:ext cx="553800" cy="4695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780" name="Google Shape;780;p33"/>
          <p:cNvCxnSpPr>
            <a:stCxn id="766" idx="3"/>
            <a:endCxn id="767" idx="7"/>
          </p:cNvCxnSpPr>
          <p:nvPr/>
        </p:nvCxnSpPr>
        <p:spPr>
          <a:xfrm flipH="1">
            <a:off x="1258582" y="4715389"/>
            <a:ext cx="435300" cy="6576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781" name="Google Shape;781;p33"/>
          <p:cNvCxnSpPr>
            <a:stCxn id="766" idx="5"/>
            <a:endCxn id="769" idx="0"/>
          </p:cNvCxnSpPr>
          <p:nvPr/>
        </p:nvCxnSpPr>
        <p:spPr>
          <a:xfrm>
            <a:off x="2089014" y="4715389"/>
            <a:ext cx="258600" cy="6354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782" name="Google Shape;782;p33"/>
          <p:cNvCxnSpPr>
            <a:stCxn id="770" idx="3"/>
            <a:endCxn id="768" idx="0"/>
          </p:cNvCxnSpPr>
          <p:nvPr/>
        </p:nvCxnSpPr>
        <p:spPr>
          <a:xfrm flipH="1">
            <a:off x="3354346" y="4770719"/>
            <a:ext cx="221400" cy="5442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783" name="Google Shape;783;p33"/>
          <p:cNvSpPr txBox="1"/>
          <p:nvPr/>
        </p:nvSpPr>
        <p:spPr>
          <a:xfrm>
            <a:off x="3792794" y="2519427"/>
            <a:ext cx="30168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784" name="Google Shape;784;p33"/>
          <p:cNvSpPr txBox="1"/>
          <p:nvPr/>
        </p:nvSpPr>
        <p:spPr>
          <a:xfrm>
            <a:off x="2243394" y="3300788"/>
            <a:ext cx="30168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  <p:sp>
        <p:nvSpPr>
          <p:cNvPr id="785" name="Google Shape;785;p33"/>
          <p:cNvSpPr txBox="1"/>
          <p:nvPr/>
        </p:nvSpPr>
        <p:spPr>
          <a:xfrm>
            <a:off x="5630476" y="3083357"/>
            <a:ext cx="30168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/>
          </a:p>
        </p:txBody>
      </p:sp>
      <p:sp>
        <p:nvSpPr>
          <p:cNvPr id="786" name="Google Shape;786;p33"/>
          <p:cNvSpPr txBox="1"/>
          <p:nvPr/>
        </p:nvSpPr>
        <p:spPr>
          <a:xfrm>
            <a:off x="1481399" y="3987800"/>
            <a:ext cx="30168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/>
          </a:p>
        </p:txBody>
      </p:sp>
      <p:sp>
        <p:nvSpPr>
          <p:cNvPr id="787" name="Google Shape;787;p33"/>
          <p:cNvSpPr txBox="1"/>
          <p:nvPr/>
        </p:nvSpPr>
        <p:spPr>
          <a:xfrm>
            <a:off x="617227" y="4964224"/>
            <a:ext cx="30168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/>
          </a:p>
        </p:txBody>
      </p:sp>
      <p:sp>
        <p:nvSpPr>
          <p:cNvPr id="788" name="Google Shape;788;p33"/>
          <p:cNvSpPr txBox="1"/>
          <p:nvPr/>
        </p:nvSpPr>
        <p:spPr>
          <a:xfrm>
            <a:off x="1886975" y="4961686"/>
            <a:ext cx="30168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endParaRPr/>
          </a:p>
        </p:txBody>
      </p:sp>
      <p:sp>
        <p:nvSpPr>
          <p:cNvPr id="789" name="Google Shape;789;p33"/>
          <p:cNvSpPr txBox="1"/>
          <p:nvPr/>
        </p:nvSpPr>
        <p:spPr>
          <a:xfrm>
            <a:off x="2898476" y="4885509"/>
            <a:ext cx="418704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/>
          </a:p>
        </p:txBody>
      </p:sp>
      <p:sp>
        <p:nvSpPr>
          <p:cNvPr id="790" name="Google Shape;790;p33"/>
          <p:cNvSpPr txBox="1"/>
          <p:nvPr/>
        </p:nvSpPr>
        <p:spPr>
          <a:xfrm>
            <a:off x="3712199" y="4003320"/>
            <a:ext cx="30168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/>
          </a:p>
        </p:txBody>
      </p:sp>
      <p:sp>
        <p:nvSpPr>
          <p:cNvPr id="791" name="Google Shape;791;p33"/>
          <p:cNvSpPr txBox="1"/>
          <p:nvPr/>
        </p:nvSpPr>
        <p:spPr>
          <a:xfrm>
            <a:off x="4796076" y="4013654"/>
            <a:ext cx="30168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/>
          </a:p>
        </p:txBody>
      </p:sp>
      <p:sp>
        <p:nvSpPr>
          <p:cNvPr id="792" name="Google Shape;792;p33"/>
          <p:cNvSpPr txBox="1"/>
          <p:nvPr/>
        </p:nvSpPr>
        <p:spPr>
          <a:xfrm>
            <a:off x="6401059" y="4023561"/>
            <a:ext cx="30168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/>
          </a:p>
        </p:txBody>
      </p:sp>
      <p:graphicFrame>
        <p:nvGraphicFramePr>
          <p:cNvPr id="793" name="Google Shape;793;p33"/>
          <p:cNvGraphicFramePr/>
          <p:nvPr/>
        </p:nvGraphicFramePr>
        <p:xfrm>
          <a:off x="7076668" y="1890294"/>
          <a:ext cx="4722000" cy="741700"/>
        </p:xfrm>
        <a:graphic>
          <a:graphicData uri="http://schemas.openxmlformats.org/drawingml/2006/table">
            <a:tbl>
              <a:tblPr firstRow="1" bandRow="1">
                <a:noFill/>
                <a:tableStyleId>{66088737-8E24-4614-AAA7-3D08145F63E1}</a:tableStyleId>
              </a:tblPr>
              <a:tblGrid>
                <a:gridCol w="472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2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72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72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722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722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722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722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4722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47220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1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2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3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4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5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6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7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8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9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10</a:t>
                      </a:r>
                      <a:endParaRPr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16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>
                          <a:solidFill>
                            <a:schemeClr val="dk1"/>
                          </a:solidFill>
                        </a:rPr>
                        <a:t>14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10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>
                          <a:solidFill>
                            <a:schemeClr val="dk1"/>
                          </a:solidFill>
                        </a:rPr>
                        <a:t>4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7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9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3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2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8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1</a:t>
                      </a:r>
                      <a:endParaRPr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794" name="Google Shape;794;p33"/>
          <p:cNvSpPr/>
          <p:nvPr/>
        </p:nvSpPr>
        <p:spPr>
          <a:xfrm>
            <a:off x="6992898" y="3099468"/>
            <a:ext cx="5054558" cy="2546367"/>
          </a:xfrm>
          <a:prstGeom prst="rect">
            <a:avLst/>
          </a:prstGeom>
          <a:gradFill>
            <a:gsLst>
              <a:gs pos="0">
                <a:srgbClr val="D1D1D1"/>
              </a:gs>
              <a:gs pos="50000">
                <a:srgbClr val="C7C7C7"/>
              </a:gs>
              <a:gs pos="100000">
                <a:srgbClr val="C0C0C0"/>
              </a:gs>
            </a:gsLst>
            <a:lin ang="5400000" scaled="0"/>
          </a:gradFill>
          <a:ln w="9525" cap="flat" cmpd="sng">
            <a:solidFill>
              <a:schemeClr val="accent3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u="sng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How the function works:</a:t>
            </a:r>
            <a:endParaRPr/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AutoNum type="arabicPeriod"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It is applied on an index.</a:t>
            </a:r>
            <a:endParaRPr/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AutoNum type="arabicPeriod"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It checks if the parent is greater than the child</a:t>
            </a:r>
            <a:endParaRPr/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AutoNum type="arabicPeriod"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If the parent is greater, return.</a:t>
            </a:r>
            <a:endParaRPr/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AutoNum type="arabicPeriod"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If the child is greater, then swap values with child</a:t>
            </a:r>
            <a:endParaRPr/>
          </a:p>
          <a:p>
            <a:pPr marL="800100" marR="0" lvl="1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AutoNum type="alphaLcParenR"/>
            </a:pP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Run the function on the child (recursively)</a:t>
            </a:r>
            <a:endParaRPr/>
          </a:p>
        </p:txBody>
      </p:sp>
      <p:sp>
        <p:nvSpPr>
          <p:cNvPr id="795" name="Google Shape;795;p33"/>
          <p:cNvSpPr/>
          <p:nvPr/>
        </p:nvSpPr>
        <p:spPr>
          <a:xfrm>
            <a:off x="120869" y="3776439"/>
            <a:ext cx="1990097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MaxHeapify(A,4)</a:t>
            </a:r>
            <a:endParaRPr/>
          </a:p>
        </p:txBody>
      </p:sp>
      <p:cxnSp>
        <p:nvCxnSpPr>
          <p:cNvPr id="796" name="Google Shape;796;p33"/>
          <p:cNvCxnSpPr>
            <a:stCxn id="766" idx="6"/>
            <a:endCxn id="769" idx="6"/>
          </p:cNvCxnSpPr>
          <p:nvPr/>
        </p:nvCxnSpPr>
        <p:spPr>
          <a:xfrm>
            <a:off x="2170848" y="4517823"/>
            <a:ext cx="456000" cy="1112400"/>
          </a:xfrm>
          <a:prstGeom prst="curvedConnector3">
            <a:avLst>
              <a:gd name="adj1" fmla="val 150146"/>
            </a:avLst>
          </a:prstGeom>
          <a:noFill/>
          <a:ln w="9525" cap="flat" cmpd="sng">
            <a:solidFill>
              <a:srgbClr val="FF0000"/>
            </a:solidFill>
            <a:prstDash val="solid"/>
            <a:miter lim="800000"/>
            <a:headEnd type="triangle" w="med" len="med"/>
            <a:tailEnd type="triangle" w="med" len="med"/>
          </a:ln>
        </p:spPr>
      </p:cxn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1" name="Google Shape;801;p34"/>
          <p:cNvSpPr txBox="1">
            <a:spLocks noGrp="1"/>
          </p:cNvSpPr>
          <p:nvPr>
            <p:ph type="body" idx="1"/>
          </p:nvPr>
        </p:nvSpPr>
        <p:spPr>
          <a:xfrm>
            <a:off x="838200" y="1227909"/>
            <a:ext cx="10515600" cy="1134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85000" lnSpcReduction="20000"/>
          </a:bodyPr>
          <a:lstStyle/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ct val="75000"/>
              <a:buFont typeface="Arial"/>
              <a:buChar char="●"/>
            </a:pPr>
            <a:r>
              <a:rPr lang="en-US" sz="2800" b="1"/>
              <a:t>Tries </a:t>
            </a:r>
            <a:r>
              <a:rPr lang="en-US" sz="2800"/>
              <a:t>to make the array into a max heap</a:t>
            </a:r>
            <a:endParaRPr/>
          </a:p>
          <a:p>
            <a:pPr marL="342900" marR="0" lvl="0" indent="-342900" algn="l" rtl="0">
              <a:lnSpc>
                <a:spcPct val="100000"/>
              </a:lnSpc>
              <a:spcBef>
                <a:spcPts val="476"/>
              </a:spcBef>
              <a:spcAft>
                <a:spcPts val="0"/>
              </a:spcAft>
              <a:buClr>
                <a:srgbClr val="0033CC"/>
              </a:buClr>
              <a:buSzPct val="75000"/>
              <a:buFont typeface="Arial"/>
              <a:buChar char="●"/>
            </a:pPr>
            <a:r>
              <a:rPr lang="en-US"/>
              <a:t>(parent value&gt;= child value)</a:t>
            </a:r>
            <a:endParaRPr/>
          </a:p>
          <a:p>
            <a:pPr marL="342900" marR="0" lvl="0" indent="-342900" algn="l" rtl="0">
              <a:lnSpc>
                <a:spcPct val="100000"/>
              </a:lnSpc>
              <a:spcBef>
                <a:spcPts val="476"/>
              </a:spcBef>
              <a:spcAft>
                <a:spcPts val="0"/>
              </a:spcAft>
              <a:buClr>
                <a:srgbClr val="0033CC"/>
              </a:buClr>
              <a:buSzPct val="75000"/>
              <a:buFont typeface="Arial"/>
              <a:buChar char="●"/>
            </a:pPr>
            <a:r>
              <a:rPr lang="en-US"/>
              <a:t>MaxHeapify(A,index)</a:t>
            </a:r>
            <a:endParaRPr/>
          </a:p>
        </p:txBody>
      </p:sp>
      <p:sp>
        <p:nvSpPr>
          <p:cNvPr id="802" name="Google Shape;802;p34"/>
          <p:cNvSpPr txBox="1">
            <a:spLocks noGrp="1"/>
          </p:cNvSpPr>
          <p:nvPr>
            <p:ph type="dt" idx="10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D42AABA6-7E7A-4933-B585-A1E309BB8165}" type="datetime1">
              <a:rPr lang="en-US" smtClean="0"/>
              <a:t>1/12/2026</a:t>
            </a:fld>
            <a:endParaRPr/>
          </a:p>
        </p:txBody>
      </p:sp>
      <p:sp>
        <p:nvSpPr>
          <p:cNvPr id="803" name="Google Shape;803;p34"/>
          <p:cNvSpPr txBox="1">
            <a:spLocks noGrp="1"/>
          </p:cNvSpPr>
          <p:nvPr>
            <p:ph type="ftr" idx="11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Lec Asif Abrar, Dept of CSE, UIU</a:t>
            </a:r>
            <a:endParaRPr/>
          </a:p>
        </p:txBody>
      </p:sp>
      <p:sp>
        <p:nvSpPr>
          <p:cNvPr id="804" name="Google Shape;804;p34"/>
          <p:cNvSpPr txBox="1">
            <a:spLocks noGrp="1"/>
          </p:cNvSpPr>
          <p:nvPr>
            <p:ph type="sldNum" idx="12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20</a:t>
            </a:fld>
            <a:endParaRPr/>
          </a:p>
        </p:txBody>
      </p:sp>
      <p:sp>
        <p:nvSpPr>
          <p:cNvPr id="805" name="Google Shape;805;p34"/>
          <p:cNvSpPr txBox="1">
            <a:spLocks noGrp="1"/>
          </p:cNvSpPr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/>
              <a:t>MAX HEAPIFY</a:t>
            </a:r>
            <a:endParaRPr/>
          </a:p>
        </p:txBody>
      </p:sp>
      <p:sp>
        <p:nvSpPr>
          <p:cNvPr id="806" name="Google Shape;806;p34"/>
          <p:cNvSpPr/>
          <p:nvPr/>
        </p:nvSpPr>
        <p:spPr>
          <a:xfrm>
            <a:off x="4094480" y="2509904"/>
            <a:ext cx="558800" cy="558800"/>
          </a:xfrm>
          <a:prstGeom prst="ellipse">
            <a:avLst/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16</a:t>
            </a:r>
            <a:endParaRPr/>
          </a:p>
        </p:txBody>
      </p:sp>
      <p:sp>
        <p:nvSpPr>
          <p:cNvPr id="807" name="Google Shape;807;p34"/>
          <p:cNvSpPr/>
          <p:nvPr/>
        </p:nvSpPr>
        <p:spPr>
          <a:xfrm>
            <a:off x="2545080" y="3429000"/>
            <a:ext cx="558800" cy="558800"/>
          </a:xfrm>
          <a:prstGeom prst="ellipse">
            <a:avLst/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14</a:t>
            </a:r>
            <a:endParaRPr/>
          </a:p>
        </p:txBody>
      </p:sp>
      <p:sp>
        <p:nvSpPr>
          <p:cNvPr id="808" name="Google Shape;808;p34"/>
          <p:cNvSpPr/>
          <p:nvPr/>
        </p:nvSpPr>
        <p:spPr>
          <a:xfrm>
            <a:off x="1612048" y="4238423"/>
            <a:ext cx="558800" cy="558800"/>
          </a:xfrm>
          <a:prstGeom prst="ellipse">
            <a:avLst/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/>
          </a:p>
        </p:txBody>
      </p:sp>
      <p:sp>
        <p:nvSpPr>
          <p:cNvPr id="809" name="Google Shape;809;p34"/>
          <p:cNvSpPr/>
          <p:nvPr/>
        </p:nvSpPr>
        <p:spPr>
          <a:xfrm>
            <a:off x="781753" y="5291186"/>
            <a:ext cx="558800" cy="558800"/>
          </a:xfrm>
          <a:prstGeom prst="ellipse">
            <a:avLst/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  <p:sp>
        <p:nvSpPr>
          <p:cNvPr id="810" name="Google Shape;810;p34"/>
          <p:cNvSpPr/>
          <p:nvPr/>
        </p:nvSpPr>
        <p:spPr>
          <a:xfrm>
            <a:off x="3075075" y="5315058"/>
            <a:ext cx="558800" cy="558800"/>
          </a:xfrm>
          <a:prstGeom prst="ellipse">
            <a:avLst/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811" name="Google Shape;811;p34"/>
          <p:cNvSpPr/>
          <p:nvPr/>
        </p:nvSpPr>
        <p:spPr>
          <a:xfrm>
            <a:off x="2068114" y="5350691"/>
            <a:ext cx="558800" cy="558800"/>
          </a:xfrm>
          <a:prstGeom prst="ellipse">
            <a:avLst/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/>
          </a:p>
        </p:txBody>
      </p:sp>
      <p:sp>
        <p:nvSpPr>
          <p:cNvPr id="812" name="Google Shape;812;p34"/>
          <p:cNvSpPr/>
          <p:nvPr/>
        </p:nvSpPr>
        <p:spPr>
          <a:xfrm>
            <a:off x="3493912" y="4293753"/>
            <a:ext cx="558800" cy="558800"/>
          </a:xfrm>
          <a:prstGeom prst="ellipse">
            <a:avLst/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/>
          </a:p>
        </p:txBody>
      </p:sp>
      <p:sp>
        <p:nvSpPr>
          <p:cNvPr id="813" name="Google Shape;813;p34"/>
          <p:cNvSpPr/>
          <p:nvPr/>
        </p:nvSpPr>
        <p:spPr>
          <a:xfrm>
            <a:off x="5461002" y="3429000"/>
            <a:ext cx="558800" cy="558800"/>
          </a:xfrm>
          <a:prstGeom prst="ellipse">
            <a:avLst/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/>
          </a:p>
        </p:txBody>
      </p:sp>
      <p:sp>
        <p:nvSpPr>
          <p:cNvPr id="814" name="Google Shape;814;p34"/>
          <p:cNvSpPr/>
          <p:nvPr/>
        </p:nvSpPr>
        <p:spPr>
          <a:xfrm>
            <a:off x="4706344" y="4320843"/>
            <a:ext cx="558800" cy="558800"/>
          </a:xfrm>
          <a:prstGeom prst="ellipse">
            <a:avLst/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endParaRPr/>
          </a:p>
        </p:txBody>
      </p:sp>
      <p:sp>
        <p:nvSpPr>
          <p:cNvPr id="815" name="Google Shape;815;p34"/>
          <p:cNvSpPr/>
          <p:nvPr/>
        </p:nvSpPr>
        <p:spPr>
          <a:xfrm>
            <a:off x="6238240" y="4320843"/>
            <a:ext cx="558800" cy="558800"/>
          </a:xfrm>
          <a:prstGeom prst="ellipse">
            <a:avLst/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/>
          </a:p>
        </p:txBody>
      </p:sp>
      <p:cxnSp>
        <p:nvCxnSpPr>
          <p:cNvPr id="816" name="Google Shape;816;p34"/>
          <p:cNvCxnSpPr>
            <a:stCxn id="806" idx="3"/>
            <a:endCxn id="807" idx="7"/>
          </p:cNvCxnSpPr>
          <p:nvPr/>
        </p:nvCxnSpPr>
        <p:spPr>
          <a:xfrm flipH="1">
            <a:off x="3021914" y="2986870"/>
            <a:ext cx="1154400" cy="5241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817" name="Google Shape;817;p34"/>
          <p:cNvCxnSpPr>
            <a:stCxn id="813" idx="1"/>
            <a:endCxn id="806" idx="5"/>
          </p:cNvCxnSpPr>
          <p:nvPr/>
        </p:nvCxnSpPr>
        <p:spPr>
          <a:xfrm rot="10800000">
            <a:off x="4571436" y="2986734"/>
            <a:ext cx="971400" cy="5241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818" name="Google Shape;818;p34"/>
          <p:cNvCxnSpPr>
            <a:stCxn id="815" idx="1"/>
            <a:endCxn id="813" idx="5"/>
          </p:cNvCxnSpPr>
          <p:nvPr/>
        </p:nvCxnSpPr>
        <p:spPr>
          <a:xfrm rot="10800000">
            <a:off x="5937874" y="3905877"/>
            <a:ext cx="382200" cy="4968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819" name="Google Shape;819;p34"/>
          <p:cNvCxnSpPr>
            <a:stCxn id="814" idx="7"/>
            <a:endCxn id="813" idx="3"/>
          </p:cNvCxnSpPr>
          <p:nvPr/>
        </p:nvCxnSpPr>
        <p:spPr>
          <a:xfrm rot="10800000" flipH="1">
            <a:off x="5183310" y="3905877"/>
            <a:ext cx="359400" cy="4968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820" name="Google Shape;820;p34"/>
          <p:cNvCxnSpPr>
            <a:stCxn id="807" idx="3"/>
            <a:endCxn id="808" idx="7"/>
          </p:cNvCxnSpPr>
          <p:nvPr/>
        </p:nvCxnSpPr>
        <p:spPr>
          <a:xfrm flipH="1">
            <a:off x="2089014" y="3905966"/>
            <a:ext cx="537900" cy="4143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821" name="Google Shape;821;p34"/>
          <p:cNvCxnSpPr>
            <a:stCxn id="807" idx="5"/>
            <a:endCxn id="812" idx="1"/>
          </p:cNvCxnSpPr>
          <p:nvPr/>
        </p:nvCxnSpPr>
        <p:spPr>
          <a:xfrm>
            <a:off x="3022046" y="3905966"/>
            <a:ext cx="553800" cy="4695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822" name="Google Shape;822;p34"/>
          <p:cNvCxnSpPr>
            <a:stCxn id="808" idx="3"/>
            <a:endCxn id="809" idx="7"/>
          </p:cNvCxnSpPr>
          <p:nvPr/>
        </p:nvCxnSpPr>
        <p:spPr>
          <a:xfrm flipH="1">
            <a:off x="1258582" y="4715389"/>
            <a:ext cx="435300" cy="6576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823" name="Google Shape;823;p34"/>
          <p:cNvCxnSpPr>
            <a:stCxn id="808" idx="5"/>
            <a:endCxn id="811" idx="0"/>
          </p:cNvCxnSpPr>
          <p:nvPr/>
        </p:nvCxnSpPr>
        <p:spPr>
          <a:xfrm>
            <a:off x="2089014" y="4715389"/>
            <a:ext cx="258600" cy="6354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824" name="Google Shape;824;p34"/>
          <p:cNvCxnSpPr>
            <a:stCxn id="812" idx="3"/>
            <a:endCxn id="810" idx="0"/>
          </p:cNvCxnSpPr>
          <p:nvPr/>
        </p:nvCxnSpPr>
        <p:spPr>
          <a:xfrm flipH="1">
            <a:off x="3354346" y="4770719"/>
            <a:ext cx="221400" cy="5442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825" name="Google Shape;825;p34"/>
          <p:cNvSpPr txBox="1"/>
          <p:nvPr/>
        </p:nvSpPr>
        <p:spPr>
          <a:xfrm>
            <a:off x="3792794" y="2519427"/>
            <a:ext cx="30168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826" name="Google Shape;826;p34"/>
          <p:cNvSpPr txBox="1"/>
          <p:nvPr/>
        </p:nvSpPr>
        <p:spPr>
          <a:xfrm>
            <a:off x="2243394" y="3300788"/>
            <a:ext cx="30168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  <p:sp>
        <p:nvSpPr>
          <p:cNvPr id="827" name="Google Shape;827;p34"/>
          <p:cNvSpPr txBox="1"/>
          <p:nvPr/>
        </p:nvSpPr>
        <p:spPr>
          <a:xfrm>
            <a:off x="5630476" y="3083357"/>
            <a:ext cx="30168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/>
          </a:p>
        </p:txBody>
      </p:sp>
      <p:sp>
        <p:nvSpPr>
          <p:cNvPr id="828" name="Google Shape;828;p34"/>
          <p:cNvSpPr txBox="1"/>
          <p:nvPr/>
        </p:nvSpPr>
        <p:spPr>
          <a:xfrm>
            <a:off x="1481399" y="3987800"/>
            <a:ext cx="30168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/>
          </a:p>
        </p:txBody>
      </p:sp>
      <p:sp>
        <p:nvSpPr>
          <p:cNvPr id="829" name="Google Shape;829;p34"/>
          <p:cNvSpPr txBox="1"/>
          <p:nvPr/>
        </p:nvSpPr>
        <p:spPr>
          <a:xfrm>
            <a:off x="617227" y="4964224"/>
            <a:ext cx="30168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/>
          </a:p>
        </p:txBody>
      </p:sp>
      <p:sp>
        <p:nvSpPr>
          <p:cNvPr id="830" name="Google Shape;830;p34"/>
          <p:cNvSpPr txBox="1"/>
          <p:nvPr/>
        </p:nvSpPr>
        <p:spPr>
          <a:xfrm>
            <a:off x="1886975" y="4961686"/>
            <a:ext cx="30168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endParaRPr/>
          </a:p>
        </p:txBody>
      </p:sp>
      <p:sp>
        <p:nvSpPr>
          <p:cNvPr id="831" name="Google Shape;831;p34"/>
          <p:cNvSpPr txBox="1"/>
          <p:nvPr/>
        </p:nvSpPr>
        <p:spPr>
          <a:xfrm>
            <a:off x="2898476" y="4885509"/>
            <a:ext cx="418704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/>
          </a:p>
        </p:txBody>
      </p:sp>
      <p:sp>
        <p:nvSpPr>
          <p:cNvPr id="832" name="Google Shape;832;p34"/>
          <p:cNvSpPr txBox="1"/>
          <p:nvPr/>
        </p:nvSpPr>
        <p:spPr>
          <a:xfrm>
            <a:off x="3712199" y="4003320"/>
            <a:ext cx="30168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/>
          </a:p>
        </p:txBody>
      </p:sp>
      <p:sp>
        <p:nvSpPr>
          <p:cNvPr id="833" name="Google Shape;833;p34"/>
          <p:cNvSpPr txBox="1"/>
          <p:nvPr/>
        </p:nvSpPr>
        <p:spPr>
          <a:xfrm>
            <a:off x="4796076" y="4013654"/>
            <a:ext cx="30168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/>
          </a:p>
        </p:txBody>
      </p:sp>
      <p:sp>
        <p:nvSpPr>
          <p:cNvPr id="834" name="Google Shape;834;p34"/>
          <p:cNvSpPr txBox="1"/>
          <p:nvPr/>
        </p:nvSpPr>
        <p:spPr>
          <a:xfrm>
            <a:off x="6401059" y="4023561"/>
            <a:ext cx="30168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/>
          </a:p>
        </p:txBody>
      </p:sp>
      <p:graphicFrame>
        <p:nvGraphicFramePr>
          <p:cNvPr id="835" name="Google Shape;835;p34"/>
          <p:cNvGraphicFramePr/>
          <p:nvPr/>
        </p:nvGraphicFramePr>
        <p:xfrm>
          <a:off x="7076668" y="1890294"/>
          <a:ext cx="4722000" cy="741700"/>
        </p:xfrm>
        <a:graphic>
          <a:graphicData uri="http://schemas.openxmlformats.org/drawingml/2006/table">
            <a:tbl>
              <a:tblPr firstRow="1" bandRow="1">
                <a:noFill/>
                <a:tableStyleId>{66088737-8E24-4614-AAA7-3D08145F63E1}</a:tableStyleId>
              </a:tblPr>
              <a:tblGrid>
                <a:gridCol w="472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2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72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72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722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722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722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722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4722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47220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1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2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3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4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5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6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7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8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9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10</a:t>
                      </a:r>
                      <a:endParaRPr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16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>
                          <a:solidFill>
                            <a:schemeClr val="dk1"/>
                          </a:solidFill>
                        </a:rPr>
                        <a:t>14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10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>
                          <a:solidFill>
                            <a:schemeClr val="dk1"/>
                          </a:solidFill>
                        </a:rPr>
                        <a:t>8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7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9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3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2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>
                          <a:solidFill>
                            <a:schemeClr val="dk1"/>
                          </a:solidFill>
                        </a:rPr>
                        <a:t>4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1</a:t>
                      </a:r>
                      <a:endParaRPr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836" name="Google Shape;836;p34"/>
          <p:cNvSpPr/>
          <p:nvPr/>
        </p:nvSpPr>
        <p:spPr>
          <a:xfrm>
            <a:off x="6992898" y="3099468"/>
            <a:ext cx="5054558" cy="2546367"/>
          </a:xfrm>
          <a:prstGeom prst="rect">
            <a:avLst/>
          </a:prstGeom>
          <a:gradFill>
            <a:gsLst>
              <a:gs pos="0">
                <a:srgbClr val="D1D1D1"/>
              </a:gs>
              <a:gs pos="50000">
                <a:srgbClr val="C7C7C7"/>
              </a:gs>
              <a:gs pos="100000">
                <a:srgbClr val="C0C0C0"/>
              </a:gs>
            </a:gsLst>
            <a:lin ang="5400000" scaled="0"/>
          </a:gradFill>
          <a:ln w="9525" cap="flat" cmpd="sng">
            <a:solidFill>
              <a:schemeClr val="accent3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u="sng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How the function works:</a:t>
            </a:r>
            <a:endParaRPr/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AutoNum type="arabicPeriod"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It is applied on an index.</a:t>
            </a:r>
            <a:endParaRPr/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AutoNum type="arabicPeriod"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It checks if the parent is greater than the child</a:t>
            </a:r>
            <a:endParaRPr/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AutoNum type="arabicPeriod"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If the parent is greater, return.</a:t>
            </a:r>
            <a:endParaRPr/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AutoNum type="arabicPeriod"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If the child is greater, then swap values with child</a:t>
            </a:r>
            <a:endParaRPr/>
          </a:p>
          <a:p>
            <a:pPr marL="800100" marR="0" lvl="1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AutoNum type="alphaLcParenR"/>
            </a:pP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Run the function on the child (recursively)</a:t>
            </a:r>
            <a:endParaRPr/>
          </a:p>
        </p:txBody>
      </p:sp>
      <p:sp>
        <p:nvSpPr>
          <p:cNvPr id="837" name="Google Shape;837;p34"/>
          <p:cNvSpPr/>
          <p:nvPr/>
        </p:nvSpPr>
        <p:spPr>
          <a:xfrm>
            <a:off x="120869" y="3776439"/>
            <a:ext cx="1990097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MaxHeapify(A,4)</a:t>
            </a:r>
            <a:endParaRPr/>
          </a:p>
        </p:txBody>
      </p:sp>
      <p:cxnSp>
        <p:nvCxnSpPr>
          <p:cNvPr id="838" name="Google Shape;838;p34"/>
          <p:cNvCxnSpPr>
            <a:stCxn id="808" idx="6"/>
            <a:endCxn id="811" idx="6"/>
          </p:cNvCxnSpPr>
          <p:nvPr/>
        </p:nvCxnSpPr>
        <p:spPr>
          <a:xfrm>
            <a:off x="2170848" y="4517823"/>
            <a:ext cx="456000" cy="1112400"/>
          </a:xfrm>
          <a:prstGeom prst="curvedConnector3">
            <a:avLst>
              <a:gd name="adj1" fmla="val 150146"/>
            </a:avLst>
          </a:prstGeom>
          <a:noFill/>
          <a:ln w="9525" cap="flat" cmpd="sng">
            <a:solidFill>
              <a:srgbClr val="FF0000"/>
            </a:solidFill>
            <a:prstDash val="solid"/>
            <a:miter lim="800000"/>
            <a:headEnd type="triangle" w="med" len="med"/>
            <a:tailEnd type="triangle" w="med" len="med"/>
          </a:ln>
        </p:spPr>
      </p:cxn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3" name="Google Shape;843;p35"/>
          <p:cNvSpPr txBox="1">
            <a:spLocks noGrp="1"/>
          </p:cNvSpPr>
          <p:nvPr>
            <p:ph type="body" idx="1"/>
          </p:nvPr>
        </p:nvSpPr>
        <p:spPr>
          <a:xfrm>
            <a:off x="838200" y="1227909"/>
            <a:ext cx="10515600" cy="1134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85000" lnSpcReduction="20000"/>
          </a:bodyPr>
          <a:lstStyle/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ct val="75000"/>
              <a:buFont typeface="Arial"/>
              <a:buChar char="●"/>
            </a:pPr>
            <a:r>
              <a:rPr lang="en-US" sz="2800" b="1"/>
              <a:t>Tries </a:t>
            </a:r>
            <a:r>
              <a:rPr lang="en-US" sz="2800"/>
              <a:t>to make the array into a max heap</a:t>
            </a:r>
            <a:endParaRPr/>
          </a:p>
          <a:p>
            <a:pPr marL="342900" marR="0" lvl="0" indent="-342900" algn="l" rtl="0">
              <a:lnSpc>
                <a:spcPct val="100000"/>
              </a:lnSpc>
              <a:spcBef>
                <a:spcPts val="476"/>
              </a:spcBef>
              <a:spcAft>
                <a:spcPts val="0"/>
              </a:spcAft>
              <a:buClr>
                <a:srgbClr val="0033CC"/>
              </a:buClr>
              <a:buSzPct val="75000"/>
              <a:buFont typeface="Arial"/>
              <a:buChar char="●"/>
            </a:pPr>
            <a:r>
              <a:rPr lang="en-US"/>
              <a:t>(parent value&gt;= child value)</a:t>
            </a:r>
            <a:endParaRPr/>
          </a:p>
          <a:p>
            <a:pPr marL="342900" marR="0" lvl="0" indent="-342900" algn="l" rtl="0">
              <a:lnSpc>
                <a:spcPct val="100000"/>
              </a:lnSpc>
              <a:spcBef>
                <a:spcPts val="476"/>
              </a:spcBef>
              <a:spcAft>
                <a:spcPts val="0"/>
              </a:spcAft>
              <a:buClr>
                <a:srgbClr val="0033CC"/>
              </a:buClr>
              <a:buSzPct val="75000"/>
              <a:buFont typeface="Arial"/>
              <a:buChar char="●"/>
            </a:pPr>
            <a:r>
              <a:rPr lang="en-US"/>
              <a:t>MaxHeapify(A,index)</a:t>
            </a:r>
            <a:endParaRPr/>
          </a:p>
        </p:txBody>
      </p:sp>
      <p:sp>
        <p:nvSpPr>
          <p:cNvPr id="844" name="Google Shape;844;p35"/>
          <p:cNvSpPr txBox="1">
            <a:spLocks noGrp="1"/>
          </p:cNvSpPr>
          <p:nvPr>
            <p:ph type="dt" idx="10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48736102-261F-494F-A383-7F7EECCD3565}" type="datetime1">
              <a:rPr lang="en-US" smtClean="0"/>
              <a:t>1/12/2026</a:t>
            </a:fld>
            <a:endParaRPr/>
          </a:p>
        </p:txBody>
      </p:sp>
      <p:sp>
        <p:nvSpPr>
          <p:cNvPr id="845" name="Google Shape;845;p35"/>
          <p:cNvSpPr txBox="1">
            <a:spLocks noGrp="1"/>
          </p:cNvSpPr>
          <p:nvPr>
            <p:ph type="ftr" idx="11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Lec Asif Abrar, Dept of CSE, UIU</a:t>
            </a:r>
            <a:endParaRPr/>
          </a:p>
        </p:txBody>
      </p:sp>
      <p:sp>
        <p:nvSpPr>
          <p:cNvPr id="846" name="Google Shape;846;p35"/>
          <p:cNvSpPr txBox="1">
            <a:spLocks noGrp="1"/>
          </p:cNvSpPr>
          <p:nvPr>
            <p:ph type="sldNum" idx="12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21</a:t>
            </a:fld>
            <a:endParaRPr/>
          </a:p>
        </p:txBody>
      </p:sp>
      <p:sp>
        <p:nvSpPr>
          <p:cNvPr id="847" name="Google Shape;847;p35"/>
          <p:cNvSpPr txBox="1">
            <a:spLocks noGrp="1"/>
          </p:cNvSpPr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/>
              <a:t>MAX HEAPIFY</a:t>
            </a:r>
            <a:endParaRPr/>
          </a:p>
        </p:txBody>
      </p:sp>
      <p:sp>
        <p:nvSpPr>
          <p:cNvPr id="848" name="Google Shape;848;p35"/>
          <p:cNvSpPr/>
          <p:nvPr/>
        </p:nvSpPr>
        <p:spPr>
          <a:xfrm>
            <a:off x="4094480" y="2509904"/>
            <a:ext cx="558800" cy="558800"/>
          </a:xfrm>
          <a:prstGeom prst="ellipse">
            <a:avLst/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16</a:t>
            </a:r>
            <a:endParaRPr/>
          </a:p>
        </p:txBody>
      </p:sp>
      <p:sp>
        <p:nvSpPr>
          <p:cNvPr id="849" name="Google Shape;849;p35"/>
          <p:cNvSpPr/>
          <p:nvPr/>
        </p:nvSpPr>
        <p:spPr>
          <a:xfrm>
            <a:off x="2545080" y="3429000"/>
            <a:ext cx="558800" cy="558800"/>
          </a:xfrm>
          <a:prstGeom prst="ellipse">
            <a:avLst/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14</a:t>
            </a:r>
            <a:endParaRPr/>
          </a:p>
        </p:txBody>
      </p:sp>
      <p:sp>
        <p:nvSpPr>
          <p:cNvPr id="850" name="Google Shape;850;p35"/>
          <p:cNvSpPr/>
          <p:nvPr/>
        </p:nvSpPr>
        <p:spPr>
          <a:xfrm>
            <a:off x="1612048" y="4238423"/>
            <a:ext cx="558800" cy="558800"/>
          </a:xfrm>
          <a:prstGeom prst="ellipse">
            <a:avLst/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/>
          </a:p>
        </p:txBody>
      </p:sp>
      <p:sp>
        <p:nvSpPr>
          <p:cNvPr id="851" name="Google Shape;851;p35"/>
          <p:cNvSpPr/>
          <p:nvPr/>
        </p:nvSpPr>
        <p:spPr>
          <a:xfrm>
            <a:off x="781753" y="5291186"/>
            <a:ext cx="558800" cy="558800"/>
          </a:xfrm>
          <a:prstGeom prst="ellipse">
            <a:avLst/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  <p:sp>
        <p:nvSpPr>
          <p:cNvPr id="852" name="Google Shape;852;p35"/>
          <p:cNvSpPr/>
          <p:nvPr/>
        </p:nvSpPr>
        <p:spPr>
          <a:xfrm>
            <a:off x="3075075" y="5315058"/>
            <a:ext cx="558800" cy="558800"/>
          </a:xfrm>
          <a:prstGeom prst="ellipse">
            <a:avLst/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853" name="Google Shape;853;p35"/>
          <p:cNvSpPr/>
          <p:nvPr/>
        </p:nvSpPr>
        <p:spPr>
          <a:xfrm>
            <a:off x="2068114" y="5350691"/>
            <a:ext cx="558800" cy="558800"/>
          </a:xfrm>
          <a:prstGeom prst="ellipse">
            <a:avLst/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/>
          </a:p>
        </p:txBody>
      </p:sp>
      <p:sp>
        <p:nvSpPr>
          <p:cNvPr id="854" name="Google Shape;854;p35"/>
          <p:cNvSpPr/>
          <p:nvPr/>
        </p:nvSpPr>
        <p:spPr>
          <a:xfrm>
            <a:off x="3493912" y="4293753"/>
            <a:ext cx="558800" cy="558800"/>
          </a:xfrm>
          <a:prstGeom prst="ellipse">
            <a:avLst/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/>
          </a:p>
        </p:txBody>
      </p:sp>
      <p:sp>
        <p:nvSpPr>
          <p:cNvPr id="855" name="Google Shape;855;p35"/>
          <p:cNvSpPr/>
          <p:nvPr/>
        </p:nvSpPr>
        <p:spPr>
          <a:xfrm>
            <a:off x="5461002" y="3429000"/>
            <a:ext cx="558800" cy="558800"/>
          </a:xfrm>
          <a:prstGeom prst="ellipse">
            <a:avLst/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/>
          </a:p>
        </p:txBody>
      </p:sp>
      <p:sp>
        <p:nvSpPr>
          <p:cNvPr id="856" name="Google Shape;856;p35"/>
          <p:cNvSpPr/>
          <p:nvPr/>
        </p:nvSpPr>
        <p:spPr>
          <a:xfrm>
            <a:off x="4706344" y="4320843"/>
            <a:ext cx="558800" cy="558800"/>
          </a:xfrm>
          <a:prstGeom prst="ellipse">
            <a:avLst/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endParaRPr/>
          </a:p>
        </p:txBody>
      </p:sp>
      <p:sp>
        <p:nvSpPr>
          <p:cNvPr id="857" name="Google Shape;857;p35"/>
          <p:cNvSpPr/>
          <p:nvPr/>
        </p:nvSpPr>
        <p:spPr>
          <a:xfrm>
            <a:off x="6238240" y="4320843"/>
            <a:ext cx="558800" cy="558800"/>
          </a:xfrm>
          <a:prstGeom prst="ellipse">
            <a:avLst/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/>
          </a:p>
        </p:txBody>
      </p:sp>
      <p:cxnSp>
        <p:nvCxnSpPr>
          <p:cNvPr id="858" name="Google Shape;858;p35"/>
          <p:cNvCxnSpPr>
            <a:stCxn id="848" idx="3"/>
            <a:endCxn id="849" idx="7"/>
          </p:cNvCxnSpPr>
          <p:nvPr/>
        </p:nvCxnSpPr>
        <p:spPr>
          <a:xfrm flipH="1">
            <a:off x="3021914" y="2986870"/>
            <a:ext cx="1154400" cy="5241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859" name="Google Shape;859;p35"/>
          <p:cNvCxnSpPr>
            <a:stCxn id="855" idx="1"/>
            <a:endCxn id="848" idx="5"/>
          </p:cNvCxnSpPr>
          <p:nvPr/>
        </p:nvCxnSpPr>
        <p:spPr>
          <a:xfrm rot="10800000">
            <a:off x="4571436" y="2986734"/>
            <a:ext cx="971400" cy="5241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860" name="Google Shape;860;p35"/>
          <p:cNvCxnSpPr>
            <a:stCxn id="857" idx="1"/>
            <a:endCxn id="855" idx="5"/>
          </p:cNvCxnSpPr>
          <p:nvPr/>
        </p:nvCxnSpPr>
        <p:spPr>
          <a:xfrm rot="10800000">
            <a:off x="5937874" y="3905877"/>
            <a:ext cx="382200" cy="4968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861" name="Google Shape;861;p35"/>
          <p:cNvCxnSpPr>
            <a:stCxn id="856" idx="7"/>
            <a:endCxn id="855" idx="3"/>
          </p:cNvCxnSpPr>
          <p:nvPr/>
        </p:nvCxnSpPr>
        <p:spPr>
          <a:xfrm rot="10800000" flipH="1">
            <a:off x="5183310" y="3905877"/>
            <a:ext cx="359400" cy="4968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862" name="Google Shape;862;p35"/>
          <p:cNvCxnSpPr>
            <a:stCxn id="849" idx="3"/>
            <a:endCxn id="850" idx="7"/>
          </p:cNvCxnSpPr>
          <p:nvPr/>
        </p:nvCxnSpPr>
        <p:spPr>
          <a:xfrm flipH="1">
            <a:off x="2089014" y="3905966"/>
            <a:ext cx="537900" cy="4143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863" name="Google Shape;863;p35"/>
          <p:cNvCxnSpPr>
            <a:stCxn id="849" idx="5"/>
            <a:endCxn id="854" idx="1"/>
          </p:cNvCxnSpPr>
          <p:nvPr/>
        </p:nvCxnSpPr>
        <p:spPr>
          <a:xfrm>
            <a:off x="3022046" y="3905966"/>
            <a:ext cx="553800" cy="4695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864" name="Google Shape;864;p35"/>
          <p:cNvCxnSpPr>
            <a:stCxn id="850" idx="3"/>
            <a:endCxn id="851" idx="7"/>
          </p:cNvCxnSpPr>
          <p:nvPr/>
        </p:nvCxnSpPr>
        <p:spPr>
          <a:xfrm flipH="1">
            <a:off x="1258582" y="4715389"/>
            <a:ext cx="435300" cy="6576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865" name="Google Shape;865;p35"/>
          <p:cNvCxnSpPr>
            <a:stCxn id="850" idx="5"/>
            <a:endCxn id="853" idx="0"/>
          </p:cNvCxnSpPr>
          <p:nvPr/>
        </p:nvCxnSpPr>
        <p:spPr>
          <a:xfrm>
            <a:off x="2089014" y="4715389"/>
            <a:ext cx="258600" cy="6354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866" name="Google Shape;866;p35"/>
          <p:cNvCxnSpPr>
            <a:stCxn id="854" idx="3"/>
            <a:endCxn id="852" idx="0"/>
          </p:cNvCxnSpPr>
          <p:nvPr/>
        </p:nvCxnSpPr>
        <p:spPr>
          <a:xfrm flipH="1">
            <a:off x="3354346" y="4770719"/>
            <a:ext cx="221400" cy="5442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867" name="Google Shape;867;p35"/>
          <p:cNvSpPr txBox="1"/>
          <p:nvPr/>
        </p:nvSpPr>
        <p:spPr>
          <a:xfrm>
            <a:off x="3792794" y="2519427"/>
            <a:ext cx="30168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868" name="Google Shape;868;p35"/>
          <p:cNvSpPr txBox="1"/>
          <p:nvPr/>
        </p:nvSpPr>
        <p:spPr>
          <a:xfrm>
            <a:off x="2243394" y="3300788"/>
            <a:ext cx="30168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  <p:sp>
        <p:nvSpPr>
          <p:cNvPr id="869" name="Google Shape;869;p35"/>
          <p:cNvSpPr txBox="1"/>
          <p:nvPr/>
        </p:nvSpPr>
        <p:spPr>
          <a:xfrm>
            <a:off x="5630476" y="3083357"/>
            <a:ext cx="30168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/>
          </a:p>
        </p:txBody>
      </p:sp>
      <p:sp>
        <p:nvSpPr>
          <p:cNvPr id="870" name="Google Shape;870;p35"/>
          <p:cNvSpPr txBox="1"/>
          <p:nvPr/>
        </p:nvSpPr>
        <p:spPr>
          <a:xfrm>
            <a:off x="1481399" y="3987800"/>
            <a:ext cx="30168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/>
          </a:p>
        </p:txBody>
      </p:sp>
      <p:sp>
        <p:nvSpPr>
          <p:cNvPr id="871" name="Google Shape;871;p35"/>
          <p:cNvSpPr txBox="1"/>
          <p:nvPr/>
        </p:nvSpPr>
        <p:spPr>
          <a:xfrm>
            <a:off x="617227" y="4964224"/>
            <a:ext cx="30168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/>
          </a:p>
        </p:txBody>
      </p:sp>
      <p:sp>
        <p:nvSpPr>
          <p:cNvPr id="872" name="Google Shape;872;p35"/>
          <p:cNvSpPr txBox="1"/>
          <p:nvPr/>
        </p:nvSpPr>
        <p:spPr>
          <a:xfrm>
            <a:off x="1886975" y="4961686"/>
            <a:ext cx="30168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endParaRPr/>
          </a:p>
        </p:txBody>
      </p:sp>
      <p:sp>
        <p:nvSpPr>
          <p:cNvPr id="873" name="Google Shape;873;p35"/>
          <p:cNvSpPr txBox="1"/>
          <p:nvPr/>
        </p:nvSpPr>
        <p:spPr>
          <a:xfrm>
            <a:off x="2898476" y="4885509"/>
            <a:ext cx="418704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/>
          </a:p>
        </p:txBody>
      </p:sp>
      <p:sp>
        <p:nvSpPr>
          <p:cNvPr id="874" name="Google Shape;874;p35"/>
          <p:cNvSpPr txBox="1"/>
          <p:nvPr/>
        </p:nvSpPr>
        <p:spPr>
          <a:xfrm>
            <a:off x="3712199" y="4003320"/>
            <a:ext cx="30168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/>
          </a:p>
        </p:txBody>
      </p:sp>
      <p:sp>
        <p:nvSpPr>
          <p:cNvPr id="875" name="Google Shape;875;p35"/>
          <p:cNvSpPr txBox="1"/>
          <p:nvPr/>
        </p:nvSpPr>
        <p:spPr>
          <a:xfrm>
            <a:off x="4796076" y="4013654"/>
            <a:ext cx="30168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/>
          </a:p>
        </p:txBody>
      </p:sp>
      <p:sp>
        <p:nvSpPr>
          <p:cNvPr id="876" name="Google Shape;876;p35"/>
          <p:cNvSpPr txBox="1"/>
          <p:nvPr/>
        </p:nvSpPr>
        <p:spPr>
          <a:xfrm>
            <a:off x="6401059" y="4023561"/>
            <a:ext cx="30168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/>
          </a:p>
        </p:txBody>
      </p:sp>
      <p:graphicFrame>
        <p:nvGraphicFramePr>
          <p:cNvPr id="877" name="Google Shape;877;p35"/>
          <p:cNvGraphicFramePr/>
          <p:nvPr/>
        </p:nvGraphicFramePr>
        <p:xfrm>
          <a:off x="7076668" y="1890294"/>
          <a:ext cx="4722000" cy="741700"/>
        </p:xfrm>
        <a:graphic>
          <a:graphicData uri="http://schemas.openxmlformats.org/drawingml/2006/table">
            <a:tbl>
              <a:tblPr firstRow="1" bandRow="1">
                <a:noFill/>
                <a:tableStyleId>{66088737-8E24-4614-AAA7-3D08145F63E1}</a:tableStyleId>
              </a:tblPr>
              <a:tblGrid>
                <a:gridCol w="472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2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72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72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722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722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722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722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4722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47220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1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2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3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4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5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6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7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8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9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10</a:t>
                      </a:r>
                      <a:endParaRPr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16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>
                          <a:solidFill>
                            <a:schemeClr val="dk1"/>
                          </a:solidFill>
                        </a:rPr>
                        <a:t>14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10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>
                          <a:solidFill>
                            <a:schemeClr val="dk1"/>
                          </a:solidFill>
                        </a:rPr>
                        <a:t>8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7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9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3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2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>
                          <a:solidFill>
                            <a:schemeClr val="dk1"/>
                          </a:solidFill>
                        </a:rPr>
                        <a:t>4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1</a:t>
                      </a:r>
                      <a:endParaRPr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878" name="Google Shape;878;p35"/>
          <p:cNvSpPr/>
          <p:nvPr/>
        </p:nvSpPr>
        <p:spPr>
          <a:xfrm>
            <a:off x="6992898" y="3099468"/>
            <a:ext cx="5054558" cy="2546367"/>
          </a:xfrm>
          <a:prstGeom prst="rect">
            <a:avLst/>
          </a:prstGeom>
          <a:gradFill>
            <a:gsLst>
              <a:gs pos="0">
                <a:srgbClr val="D1D1D1"/>
              </a:gs>
              <a:gs pos="50000">
                <a:srgbClr val="C7C7C7"/>
              </a:gs>
              <a:gs pos="100000">
                <a:srgbClr val="C0C0C0"/>
              </a:gs>
            </a:gsLst>
            <a:lin ang="5400000" scaled="0"/>
          </a:gradFill>
          <a:ln w="9525" cap="flat" cmpd="sng">
            <a:solidFill>
              <a:schemeClr val="accent3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u="sng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How the function works:</a:t>
            </a:r>
            <a:endParaRPr/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AutoNum type="arabicPeriod"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It is applied on an index.</a:t>
            </a:r>
            <a:endParaRPr/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AutoNum type="arabicPeriod"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It checks if the parent is greater than the child</a:t>
            </a:r>
            <a:endParaRPr/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AutoNum type="arabicPeriod"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If the parent is greater, return.</a:t>
            </a:r>
            <a:endParaRPr/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AutoNum type="arabicPeriod"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If the child is greater, then swap values with child</a:t>
            </a:r>
            <a:endParaRPr/>
          </a:p>
          <a:p>
            <a:pPr marL="800100" marR="0" lvl="1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AutoNum type="alphaLcParenR"/>
            </a:pP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Run the function on the child (recursively)</a:t>
            </a:r>
            <a:endParaRPr/>
          </a:p>
        </p:txBody>
      </p:sp>
      <p:sp>
        <p:nvSpPr>
          <p:cNvPr id="879" name="Google Shape;879;p35"/>
          <p:cNvSpPr/>
          <p:nvPr/>
        </p:nvSpPr>
        <p:spPr>
          <a:xfrm>
            <a:off x="698833" y="5906815"/>
            <a:ext cx="1990097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MaxHeapify(A,9)</a:t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4" name="Google Shape;884;p36"/>
          <p:cNvSpPr txBox="1">
            <a:spLocks noGrp="1"/>
          </p:cNvSpPr>
          <p:nvPr>
            <p:ph type="body" idx="1"/>
          </p:nvPr>
        </p:nvSpPr>
        <p:spPr>
          <a:xfrm>
            <a:off x="838200" y="1227909"/>
            <a:ext cx="10515600" cy="49490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2095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2100"/>
              <a:buFont typeface="Arial"/>
              <a:buNone/>
            </a:pPr>
            <a:endParaRPr/>
          </a:p>
        </p:txBody>
      </p:sp>
      <p:sp>
        <p:nvSpPr>
          <p:cNvPr id="885" name="Google Shape;885;p36"/>
          <p:cNvSpPr txBox="1">
            <a:spLocks noGrp="1"/>
          </p:cNvSpPr>
          <p:nvPr>
            <p:ph type="dt" idx="10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8EB1FFA6-EBAA-41C8-A9AD-990BB8C55E2C}" type="datetime1">
              <a:rPr lang="en-US" smtClean="0"/>
              <a:t>1/12/2026</a:t>
            </a:fld>
            <a:endParaRPr/>
          </a:p>
        </p:txBody>
      </p:sp>
      <p:sp>
        <p:nvSpPr>
          <p:cNvPr id="886" name="Google Shape;886;p36"/>
          <p:cNvSpPr txBox="1">
            <a:spLocks noGrp="1"/>
          </p:cNvSpPr>
          <p:nvPr>
            <p:ph type="ftr" idx="11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Lec Asif Abrar, Dept of CSE, UIU</a:t>
            </a:r>
            <a:endParaRPr/>
          </a:p>
        </p:txBody>
      </p:sp>
      <p:sp>
        <p:nvSpPr>
          <p:cNvPr id="887" name="Google Shape;887;p36"/>
          <p:cNvSpPr txBox="1">
            <a:spLocks noGrp="1"/>
          </p:cNvSpPr>
          <p:nvPr>
            <p:ph type="sldNum" idx="12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22</a:t>
            </a:fld>
            <a:endParaRPr/>
          </a:p>
        </p:txBody>
      </p:sp>
      <p:sp>
        <p:nvSpPr>
          <p:cNvPr id="888" name="Google Shape;888;p36"/>
          <p:cNvSpPr txBox="1">
            <a:spLocks noGrp="1"/>
          </p:cNvSpPr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/>
              <a:t>Let us write the function for Max Heapify</a:t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3" name="Google Shape;893;p37"/>
          <p:cNvSpPr txBox="1">
            <a:spLocks noGrp="1"/>
          </p:cNvSpPr>
          <p:nvPr>
            <p:ph type="body" idx="1"/>
          </p:nvPr>
        </p:nvSpPr>
        <p:spPr>
          <a:xfrm>
            <a:off x="838200" y="1227909"/>
            <a:ext cx="10515600" cy="49490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2095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2100"/>
              <a:buFont typeface="Arial"/>
              <a:buNone/>
            </a:pPr>
            <a:endParaRPr/>
          </a:p>
        </p:txBody>
      </p:sp>
      <p:sp>
        <p:nvSpPr>
          <p:cNvPr id="894" name="Google Shape;894;p37"/>
          <p:cNvSpPr txBox="1">
            <a:spLocks noGrp="1"/>
          </p:cNvSpPr>
          <p:nvPr>
            <p:ph type="dt" idx="10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3FF0EBA8-ADD4-4C92-B61E-C1C058BC7AA8}" type="datetime1">
              <a:rPr lang="en-US" smtClean="0"/>
              <a:t>1/12/2026</a:t>
            </a:fld>
            <a:endParaRPr/>
          </a:p>
        </p:txBody>
      </p:sp>
      <p:sp>
        <p:nvSpPr>
          <p:cNvPr id="895" name="Google Shape;895;p37"/>
          <p:cNvSpPr txBox="1">
            <a:spLocks noGrp="1"/>
          </p:cNvSpPr>
          <p:nvPr>
            <p:ph type="ftr" idx="11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Lec Asif Abrar, Dept of CSE, UIU</a:t>
            </a:r>
            <a:endParaRPr/>
          </a:p>
        </p:txBody>
      </p:sp>
      <p:sp>
        <p:nvSpPr>
          <p:cNvPr id="896" name="Google Shape;896;p37"/>
          <p:cNvSpPr txBox="1">
            <a:spLocks noGrp="1"/>
          </p:cNvSpPr>
          <p:nvPr>
            <p:ph type="sldNum" idx="12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23</a:t>
            </a:fld>
            <a:endParaRPr/>
          </a:p>
        </p:txBody>
      </p:sp>
      <p:sp>
        <p:nvSpPr>
          <p:cNvPr id="897" name="Google Shape;897;p37"/>
          <p:cNvSpPr txBox="1">
            <a:spLocks noGrp="1"/>
          </p:cNvSpPr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/>
              <a:t>Let us write the function for Max Heapify</a:t>
            </a:r>
            <a:endParaRPr/>
          </a:p>
        </p:txBody>
      </p:sp>
      <p:pic>
        <p:nvPicPr>
          <p:cNvPr id="898" name="Google Shape;898;p3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349755" y="1398702"/>
            <a:ext cx="6076950" cy="4343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3" name="Google Shape;903;p38"/>
          <p:cNvSpPr txBox="1">
            <a:spLocks noGrp="1"/>
          </p:cNvSpPr>
          <p:nvPr>
            <p:ph type="body" idx="1"/>
          </p:nvPr>
        </p:nvSpPr>
        <p:spPr>
          <a:xfrm>
            <a:off x="838200" y="1227909"/>
            <a:ext cx="10515600" cy="49490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2100"/>
              <a:buFont typeface="Arial"/>
              <a:buChar char="●"/>
            </a:pPr>
            <a:r>
              <a:rPr lang="en-US"/>
              <a:t>It is TRYING to make the array into a heap</a:t>
            </a:r>
            <a:endParaRPr/>
          </a:p>
          <a:p>
            <a:pPr marL="342900" marR="0" lvl="0" indent="-3429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0033CC"/>
              </a:buClr>
              <a:buSzPts val="2100"/>
              <a:buFont typeface="Arial"/>
              <a:buChar char="●"/>
            </a:pPr>
            <a:r>
              <a:rPr lang="en-US"/>
              <a:t>But it may not fully succeed</a:t>
            </a:r>
            <a:endParaRPr/>
          </a:p>
          <a:p>
            <a:pPr marL="342900" marR="0" lvl="0" indent="-3429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0033CC"/>
              </a:buClr>
              <a:buSzPts val="2100"/>
              <a:buFont typeface="Arial"/>
              <a:buChar char="●"/>
            </a:pPr>
            <a:r>
              <a:rPr lang="en-US"/>
              <a:t>Let us consider the following example</a:t>
            </a:r>
            <a:endParaRPr/>
          </a:p>
          <a:p>
            <a:pPr marL="342900" marR="0" lvl="0" indent="-20955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0033CC"/>
              </a:buClr>
              <a:buSzPts val="2100"/>
              <a:buFont typeface="Arial"/>
              <a:buNone/>
            </a:pPr>
            <a:endParaRPr/>
          </a:p>
          <a:p>
            <a:pPr marL="342900" marR="0" lvl="0" indent="-20955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0033CC"/>
              </a:buClr>
              <a:buSzPts val="2100"/>
              <a:buFont typeface="Arial"/>
              <a:buNone/>
            </a:pPr>
            <a:endParaRPr/>
          </a:p>
        </p:txBody>
      </p:sp>
      <p:sp>
        <p:nvSpPr>
          <p:cNvPr id="904" name="Google Shape;904;p38"/>
          <p:cNvSpPr txBox="1">
            <a:spLocks noGrp="1"/>
          </p:cNvSpPr>
          <p:nvPr>
            <p:ph type="dt" idx="10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30AF3F03-96CB-4879-9D5C-8436DE7DCB57}" type="datetime1">
              <a:rPr lang="en-US" smtClean="0"/>
              <a:t>1/12/2026</a:t>
            </a:fld>
            <a:endParaRPr/>
          </a:p>
        </p:txBody>
      </p:sp>
      <p:sp>
        <p:nvSpPr>
          <p:cNvPr id="905" name="Google Shape;905;p38"/>
          <p:cNvSpPr txBox="1">
            <a:spLocks noGrp="1"/>
          </p:cNvSpPr>
          <p:nvPr>
            <p:ph type="ftr" idx="11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Lec Asif Abrar, Dept of CSE, UIU</a:t>
            </a:r>
            <a:endParaRPr/>
          </a:p>
        </p:txBody>
      </p:sp>
      <p:sp>
        <p:nvSpPr>
          <p:cNvPr id="906" name="Google Shape;906;p38"/>
          <p:cNvSpPr txBox="1">
            <a:spLocks noGrp="1"/>
          </p:cNvSpPr>
          <p:nvPr>
            <p:ph type="sldNum" idx="12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24</a:t>
            </a:fld>
            <a:endParaRPr/>
          </a:p>
        </p:txBody>
      </p:sp>
      <p:sp>
        <p:nvSpPr>
          <p:cNvPr id="907" name="Google Shape;907;p38"/>
          <p:cNvSpPr txBox="1">
            <a:spLocks noGrp="1"/>
          </p:cNvSpPr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/>
              <a:t>Max Heapify</a:t>
            </a:r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2" name="Google Shape;912;p39"/>
          <p:cNvSpPr txBox="1">
            <a:spLocks noGrp="1"/>
          </p:cNvSpPr>
          <p:nvPr>
            <p:ph type="body" idx="1"/>
          </p:nvPr>
        </p:nvSpPr>
        <p:spPr>
          <a:xfrm>
            <a:off x="838200" y="1227909"/>
            <a:ext cx="10515600" cy="49490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2100"/>
              <a:buFont typeface="Arial"/>
              <a:buChar char="●"/>
            </a:pPr>
            <a:r>
              <a:rPr lang="en-US"/>
              <a:t>It is TRYING to make the array into a heap</a:t>
            </a:r>
            <a:endParaRPr/>
          </a:p>
          <a:p>
            <a:pPr marL="342900" marR="0" lvl="0" indent="-3429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0033CC"/>
              </a:buClr>
              <a:buSzPts val="2100"/>
              <a:buFont typeface="Arial"/>
              <a:buChar char="●"/>
            </a:pPr>
            <a:r>
              <a:rPr lang="en-US"/>
              <a:t>But it may not fully succeed</a:t>
            </a:r>
            <a:endParaRPr/>
          </a:p>
          <a:p>
            <a:pPr marL="342900" marR="0" lvl="0" indent="-3429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0033CC"/>
              </a:buClr>
              <a:buSzPts val="2100"/>
              <a:buFont typeface="Arial"/>
              <a:buChar char="●"/>
            </a:pPr>
            <a:r>
              <a:rPr lang="en-US"/>
              <a:t>Let us consider the following example</a:t>
            </a:r>
            <a:endParaRPr/>
          </a:p>
          <a:p>
            <a:pPr marL="342900" marR="0" lvl="0" indent="-20955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0033CC"/>
              </a:buClr>
              <a:buSzPts val="2100"/>
              <a:buFont typeface="Arial"/>
              <a:buNone/>
            </a:pPr>
            <a:endParaRPr/>
          </a:p>
          <a:p>
            <a:pPr marL="342900" marR="0" lvl="0" indent="-20955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0033CC"/>
              </a:buClr>
              <a:buSzPts val="2100"/>
              <a:buFont typeface="Arial"/>
              <a:buNone/>
            </a:pPr>
            <a:endParaRPr/>
          </a:p>
        </p:txBody>
      </p:sp>
      <p:sp>
        <p:nvSpPr>
          <p:cNvPr id="913" name="Google Shape;913;p39"/>
          <p:cNvSpPr txBox="1">
            <a:spLocks noGrp="1"/>
          </p:cNvSpPr>
          <p:nvPr>
            <p:ph type="dt" idx="10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E9E594C4-8B79-4058-BEE3-AB5DF808A28B}" type="datetime1">
              <a:rPr lang="en-US" smtClean="0"/>
              <a:t>1/12/2026</a:t>
            </a:fld>
            <a:endParaRPr/>
          </a:p>
        </p:txBody>
      </p:sp>
      <p:sp>
        <p:nvSpPr>
          <p:cNvPr id="914" name="Google Shape;914;p39"/>
          <p:cNvSpPr txBox="1">
            <a:spLocks noGrp="1"/>
          </p:cNvSpPr>
          <p:nvPr>
            <p:ph type="ftr" idx="11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Lec Asif Abrar, Dept of CSE, UIU</a:t>
            </a:r>
            <a:endParaRPr/>
          </a:p>
        </p:txBody>
      </p:sp>
      <p:sp>
        <p:nvSpPr>
          <p:cNvPr id="915" name="Google Shape;915;p39"/>
          <p:cNvSpPr txBox="1">
            <a:spLocks noGrp="1"/>
          </p:cNvSpPr>
          <p:nvPr>
            <p:ph type="sldNum" idx="12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25</a:t>
            </a:fld>
            <a:endParaRPr/>
          </a:p>
        </p:txBody>
      </p:sp>
      <p:sp>
        <p:nvSpPr>
          <p:cNvPr id="916" name="Google Shape;916;p39"/>
          <p:cNvSpPr txBox="1">
            <a:spLocks noGrp="1"/>
          </p:cNvSpPr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/>
              <a:t>Max Heapify</a:t>
            </a:r>
            <a:endParaRPr/>
          </a:p>
        </p:txBody>
      </p:sp>
      <p:graphicFrame>
        <p:nvGraphicFramePr>
          <p:cNvPr id="917" name="Google Shape;917;p39"/>
          <p:cNvGraphicFramePr/>
          <p:nvPr/>
        </p:nvGraphicFramePr>
        <p:xfrm>
          <a:off x="7500874" y="2031696"/>
          <a:ext cx="4249800" cy="741700"/>
        </p:xfrm>
        <a:graphic>
          <a:graphicData uri="http://schemas.openxmlformats.org/drawingml/2006/table">
            <a:tbl>
              <a:tblPr firstRow="1" bandRow="1">
                <a:noFill/>
                <a:tableStyleId>{66088737-8E24-4614-AAA7-3D08145F63E1}</a:tableStyleId>
              </a:tblPr>
              <a:tblGrid>
                <a:gridCol w="472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2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72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72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722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722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722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722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4722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1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2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3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4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5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6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7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8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9</a:t>
                      </a:r>
                      <a:endParaRPr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u="none" strike="noStrike" cap="none">
                          <a:solidFill>
                            <a:schemeClr val="dk1"/>
                          </a:solidFill>
                        </a:rPr>
                        <a:t>2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u="none" strike="noStrike" cap="none">
                          <a:solidFill>
                            <a:schemeClr val="dk1"/>
                          </a:solidFill>
                        </a:rPr>
                        <a:t>7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u="none" strike="noStrike" cap="none">
                          <a:solidFill>
                            <a:schemeClr val="dk1"/>
                          </a:solidFill>
                        </a:rPr>
                        <a:t>8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u="none" strike="noStrike" cap="none">
                          <a:solidFill>
                            <a:schemeClr val="dk1"/>
                          </a:solidFill>
                        </a:rPr>
                        <a:t>9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u="none" strike="noStrike" cap="none">
                          <a:solidFill>
                            <a:schemeClr val="dk1"/>
                          </a:solidFill>
                        </a:rPr>
                        <a:t>2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u="none" strike="noStrike" cap="none">
                          <a:solidFill>
                            <a:schemeClr val="dk1"/>
                          </a:solidFill>
                        </a:rPr>
                        <a:t>15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u="none" strike="noStrike" cap="none">
                          <a:solidFill>
                            <a:schemeClr val="dk1"/>
                          </a:solidFill>
                        </a:rPr>
                        <a:t>2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u="none" strike="noStrike" cap="none">
                          <a:solidFill>
                            <a:schemeClr val="dk1"/>
                          </a:solidFill>
                        </a:rPr>
                        <a:t>2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u="none" strike="noStrike" cap="none">
                          <a:solidFill>
                            <a:schemeClr val="dk1"/>
                          </a:solidFill>
                        </a:rPr>
                        <a:t>10</a:t>
                      </a:r>
                      <a:endParaRPr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2" name="Google Shape;922;p40"/>
          <p:cNvSpPr txBox="1">
            <a:spLocks noGrp="1"/>
          </p:cNvSpPr>
          <p:nvPr>
            <p:ph type="body" idx="1"/>
          </p:nvPr>
        </p:nvSpPr>
        <p:spPr>
          <a:xfrm>
            <a:off x="838200" y="1227909"/>
            <a:ext cx="10515600" cy="49490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2100"/>
              <a:buFont typeface="Arial"/>
              <a:buChar char="●"/>
            </a:pPr>
            <a:r>
              <a:rPr lang="en-US"/>
              <a:t>It is TRYING to make the array into a max heap</a:t>
            </a:r>
            <a:endParaRPr/>
          </a:p>
          <a:p>
            <a:pPr marL="342900" marR="0" lvl="0" indent="-3429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0033CC"/>
              </a:buClr>
              <a:buSzPts val="2100"/>
              <a:buFont typeface="Arial"/>
              <a:buChar char="●"/>
            </a:pPr>
            <a:r>
              <a:rPr lang="en-US"/>
              <a:t>But it may not fully succeed</a:t>
            </a:r>
            <a:endParaRPr/>
          </a:p>
          <a:p>
            <a:pPr marL="342900" marR="0" lvl="0" indent="-3429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0033CC"/>
              </a:buClr>
              <a:buSzPts val="2100"/>
              <a:buFont typeface="Arial"/>
              <a:buChar char="●"/>
            </a:pPr>
            <a:r>
              <a:rPr lang="en-US"/>
              <a:t>Let us consider the following example</a:t>
            </a:r>
            <a:endParaRPr/>
          </a:p>
          <a:p>
            <a:pPr marL="342900" marR="0" lvl="0" indent="-20955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0033CC"/>
              </a:buClr>
              <a:buSzPts val="2100"/>
              <a:buFont typeface="Arial"/>
              <a:buNone/>
            </a:pPr>
            <a:endParaRPr/>
          </a:p>
          <a:p>
            <a:pPr marL="342900" marR="0" lvl="0" indent="-20955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0033CC"/>
              </a:buClr>
              <a:buSzPts val="2100"/>
              <a:buFont typeface="Arial"/>
              <a:buNone/>
            </a:pPr>
            <a:endParaRPr/>
          </a:p>
        </p:txBody>
      </p:sp>
      <p:sp>
        <p:nvSpPr>
          <p:cNvPr id="923" name="Google Shape;923;p40"/>
          <p:cNvSpPr txBox="1">
            <a:spLocks noGrp="1"/>
          </p:cNvSpPr>
          <p:nvPr>
            <p:ph type="dt" idx="10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2ED2E03F-3D91-44F2-922C-A4BD8390E3E9}" type="datetime1">
              <a:rPr lang="en-US" smtClean="0"/>
              <a:t>1/12/2026</a:t>
            </a:fld>
            <a:endParaRPr/>
          </a:p>
        </p:txBody>
      </p:sp>
      <p:sp>
        <p:nvSpPr>
          <p:cNvPr id="924" name="Google Shape;924;p40"/>
          <p:cNvSpPr txBox="1">
            <a:spLocks noGrp="1"/>
          </p:cNvSpPr>
          <p:nvPr>
            <p:ph type="ftr" idx="11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Lec Asif Abrar, Dept of CSE, UIU</a:t>
            </a:r>
            <a:endParaRPr/>
          </a:p>
        </p:txBody>
      </p:sp>
      <p:sp>
        <p:nvSpPr>
          <p:cNvPr id="925" name="Google Shape;925;p40"/>
          <p:cNvSpPr txBox="1">
            <a:spLocks noGrp="1"/>
          </p:cNvSpPr>
          <p:nvPr>
            <p:ph type="sldNum" idx="12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26</a:t>
            </a:fld>
            <a:endParaRPr/>
          </a:p>
        </p:txBody>
      </p:sp>
      <p:sp>
        <p:nvSpPr>
          <p:cNvPr id="926" name="Google Shape;926;p40"/>
          <p:cNvSpPr txBox="1">
            <a:spLocks noGrp="1"/>
          </p:cNvSpPr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/>
              <a:t>Max Heapify</a:t>
            </a:r>
            <a:endParaRPr/>
          </a:p>
        </p:txBody>
      </p:sp>
      <p:graphicFrame>
        <p:nvGraphicFramePr>
          <p:cNvPr id="927" name="Google Shape;927;p40"/>
          <p:cNvGraphicFramePr/>
          <p:nvPr/>
        </p:nvGraphicFramePr>
        <p:xfrm>
          <a:off x="7500874" y="2031696"/>
          <a:ext cx="4249800" cy="741700"/>
        </p:xfrm>
        <a:graphic>
          <a:graphicData uri="http://schemas.openxmlformats.org/drawingml/2006/table">
            <a:tbl>
              <a:tblPr firstRow="1" bandRow="1">
                <a:noFill/>
                <a:tableStyleId>{66088737-8E24-4614-AAA7-3D08145F63E1}</a:tableStyleId>
              </a:tblPr>
              <a:tblGrid>
                <a:gridCol w="472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2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72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72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722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722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722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722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4722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1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2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3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4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5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6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7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8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9</a:t>
                      </a:r>
                      <a:endParaRPr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u="none" strike="noStrike" cap="none">
                          <a:solidFill>
                            <a:schemeClr val="dk1"/>
                          </a:solidFill>
                        </a:rPr>
                        <a:t>2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u="none" strike="noStrike" cap="none">
                          <a:solidFill>
                            <a:schemeClr val="dk1"/>
                          </a:solidFill>
                        </a:rPr>
                        <a:t>7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u="none" strike="noStrike" cap="none">
                          <a:solidFill>
                            <a:schemeClr val="dk1"/>
                          </a:solidFill>
                        </a:rPr>
                        <a:t>8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u="none" strike="noStrike" cap="none">
                          <a:solidFill>
                            <a:schemeClr val="dk1"/>
                          </a:solidFill>
                        </a:rPr>
                        <a:t>9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u="none" strike="noStrike" cap="none">
                          <a:solidFill>
                            <a:schemeClr val="dk1"/>
                          </a:solidFill>
                        </a:rPr>
                        <a:t>2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u="none" strike="noStrike" cap="none">
                          <a:solidFill>
                            <a:schemeClr val="dk1"/>
                          </a:solidFill>
                        </a:rPr>
                        <a:t>15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u="none" strike="noStrike" cap="none">
                          <a:solidFill>
                            <a:schemeClr val="dk1"/>
                          </a:solidFill>
                        </a:rPr>
                        <a:t>2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u="none" strike="noStrike" cap="none">
                          <a:solidFill>
                            <a:schemeClr val="dk1"/>
                          </a:solidFill>
                        </a:rPr>
                        <a:t>2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u="none" strike="noStrike" cap="none">
                          <a:solidFill>
                            <a:schemeClr val="dk1"/>
                          </a:solidFill>
                        </a:rPr>
                        <a:t>10</a:t>
                      </a:r>
                      <a:endParaRPr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928" name="Google Shape;928;p40"/>
          <p:cNvSpPr/>
          <p:nvPr/>
        </p:nvSpPr>
        <p:spPr>
          <a:xfrm>
            <a:off x="4798314" y="2773376"/>
            <a:ext cx="558800" cy="558800"/>
          </a:xfrm>
          <a:prstGeom prst="ellipse">
            <a:avLst/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  <p:sp>
        <p:nvSpPr>
          <p:cNvPr id="929" name="Google Shape;929;p40"/>
          <p:cNvSpPr/>
          <p:nvPr/>
        </p:nvSpPr>
        <p:spPr>
          <a:xfrm>
            <a:off x="3248914" y="3692472"/>
            <a:ext cx="558800" cy="558800"/>
          </a:xfrm>
          <a:prstGeom prst="ellipse">
            <a:avLst/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/>
          </a:p>
        </p:txBody>
      </p:sp>
      <p:sp>
        <p:nvSpPr>
          <p:cNvPr id="930" name="Google Shape;930;p40"/>
          <p:cNvSpPr/>
          <p:nvPr/>
        </p:nvSpPr>
        <p:spPr>
          <a:xfrm>
            <a:off x="2315882" y="4501895"/>
            <a:ext cx="558800" cy="558800"/>
          </a:xfrm>
          <a:prstGeom prst="ellipse">
            <a:avLst/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endParaRPr/>
          </a:p>
        </p:txBody>
      </p:sp>
      <p:sp>
        <p:nvSpPr>
          <p:cNvPr id="931" name="Google Shape;931;p40"/>
          <p:cNvSpPr/>
          <p:nvPr/>
        </p:nvSpPr>
        <p:spPr>
          <a:xfrm>
            <a:off x="1485587" y="5554658"/>
            <a:ext cx="558800" cy="558800"/>
          </a:xfrm>
          <a:prstGeom prst="ellipse">
            <a:avLst/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  <p:sp>
        <p:nvSpPr>
          <p:cNvPr id="932" name="Google Shape;932;p40"/>
          <p:cNvSpPr/>
          <p:nvPr/>
        </p:nvSpPr>
        <p:spPr>
          <a:xfrm>
            <a:off x="2771948" y="5614163"/>
            <a:ext cx="558800" cy="558800"/>
          </a:xfrm>
          <a:prstGeom prst="ellipse">
            <a:avLst/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/>
          </a:p>
        </p:txBody>
      </p:sp>
      <p:sp>
        <p:nvSpPr>
          <p:cNvPr id="933" name="Google Shape;933;p40"/>
          <p:cNvSpPr/>
          <p:nvPr/>
        </p:nvSpPr>
        <p:spPr>
          <a:xfrm>
            <a:off x="4197746" y="4557225"/>
            <a:ext cx="558800" cy="558800"/>
          </a:xfrm>
          <a:prstGeom prst="ellipse">
            <a:avLst/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  <p:sp>
        <p:nvSpPr>
          <p:cNvPr id="934" name="Google Shape;934;p40"/>
          <p:cNvSpPr/>
          <p:nvPr/>
        </p:nvSpPr>
        <p:spPr>
          <a:xfrm>
            <a:off x="6164836" y="3692472"/>
            <a:ext cx="558800" cy="558800"/>
          </a:xfrm>
          <a:prstGeom prst="ellipse">
            <a:avLst/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/>
          </a:p>
        </p:txBody>
      </p:sp>
      <p:sp>
        <p:nvSpPr>
          <p:cNvPr id="935" name="Google Shape;935;p40"/>
          <p:cNvSpPr/>
          <p:nvPr/>
        </p:nvSpPr>
        <p:spPr>
          <a:xfrm>
            <a:off x="5410178" y="4584315"/>
            <a:ext cx="558800" cy="558800"/>
          </a:xfrm>
          <a:prstGeom prst="ellipse">
            <a:avLst/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15</a:t>
            </a:r>
            <a:endParaRPr/>
          </a:p>
        </p:txBody>
      </p:sp>
      <p:sp>
        <p:nvSpPr>
          <p:cNvPr id="936" name="Google Shape;936;p40"/>
          <p:cNvSpPr/>
          <p:nvPr/>
        </p:nvSpPr>
        <p:spPr>
          <a:xfrm>
            <a:off x="6942074" y="4584315"/>
            <a:ext cx="558800" cy="558800"/>
          </a:xfrm>
          <a:prstGeom prst="ellipse">
            <a:avLst/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  <p:cxnSp>
        <p:nvCxnSpPr>
          <p:cNvPr id="937" name="Google Shape;937;p40"/>
          <p:cNvCxnSpPr>
            <a:stCxn id="928" idx="3"/>
            <a:endCxn id="929" idx="7"/>
          </p:cNvCxnSpPr>
          <p:nvPr/>
        </p:nvCxnSpPr>
        <p:spPr>
          <a:xfrm flipH="1">
            <a:off x="3725748" y="3250342"/>
            <a:ext cx="1154400" cy="5241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938" name="Google Shape;938;p40"/>
          <p:cNvCxnSpPr>
            <a:stCxn id="934" idx="1"/>
            <a:endCxn id="928" idx="5"/>
          </p:cNvCxnSpPr>
          <p:nvPr/>
        </p:nvCxnSpPr>
        <p:spPr>
          <a:xfrm rot="10800000">
            <a:off x="5275270" y="3250206"/>
            <a:ext cx="971400" cy="5241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939" name="Google Shape;939;p40"/>
          <p:cNvCxnSpPr>
            <a:stCxn id="936" idx="1"/>
            <a:endCxn id="934" idx="5"/>
          </p:cNvCxnSpPr>
          <p:nvPr/>
        </p:nvCxnSpPr>
        <p:spPr>
          <a:xfrm rot="10800000">
            <a:off x="6641708" y="4169349"/>
            <a:ext cx="382200" cy="4968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940" name="Google Shape;940;p40"/>
          <p:cNvCxnSpPr>
            <a:stCxn id="935" idx="7"/>
            <a:endCxn id="934" idx="3"/>
          </p:cNvCxnSpPr>
          <p:nvPr/>
        </p:nvCxnSpPr>
        <p:spPr>
          <a:xfrm rot="10800000" flipH="1">
            <a:off x="5887144" y="4169349"/>
            <a:ext cx="359400" cy="4968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941" name="Google Shape;941;p40"/>
          <p:cNvCxnSpPr>
            <a:stCxn id="929" idx="3"/>
            <a:endCxn id="930" idx="7"/>
          </p:cNvCxnSpPr>
          <p:nvPr/>
        </p:nvCxnSpPr>
        <p:spPr>
          <a:xfrm flipH="1">
            <a:off x="2792848" y="4169438"/>
            <a:ext cx="537900" cy="4143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942" name="Google Shape;942;p40"/>
          <p:cNvCxnSpPr>
            <a:stCxn id="929" idx="5"/>
            <a:endCxn id="933" idx="1"/>
          </p:cNvCxnSpPr>
          <p:nvPr/>
        </p:nvCxnSpPr>
        <p:spPr>
          <a:xfrm>
            <a:off x="3725880" y="4169438"/>
            <a:ext cx="553800" cy="4695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943" name="Google Shape;943;p40"/>
          <p:cNvCxnSpPr>
            <a:stCxn id="930" idx="3"/>
            <a:endCxn id="931" idx="7"/>
          </p:cNvCxnSpPr>
          <p:nvPr/>
        </p:nvCxnSpPr>
        <p:spPr>
          <a:xfrm flipH="1">
            <a:off x="1962416" y="4978861"/>
            <a:ext cx="435300" cy="6576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944" name="Google Shape;944;p40"/>
          <p:cNvCxnSpPr>
            <a:stCxn id="930" idx="5"/>
            <a:endCxn id="932" idx="0"/>
          </p:cNvCxnSpPr>
          <p:nvPr/>
        </p:nvCxnSpPr>
        <p:spPr>
          <a:xfrm>
            <a:off x="2792848" y="4978861"/>
            <a:ext cx="258600" cy="6354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945" name="Google Shape;945;p40"/>
          <p:cNvSpPr txBox="1"/>
          <p:nvPr/>
        </p:nvSpPr>
        <p:spPr>
          <a:xfrm>
            <a:off x="4496628" y="2782899"/>
            <a:ext cx="30168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946" name="Google Shape;946;p40"/>
          <p:cNvSpPr txBox="1"/>
          <p:nvPr/>
        </p:nvSpPr>
        <p:spPr>
          <a:xfrm>
            <a:off x="2947228" y="3564260"/>
            <a:ext cx="30168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  <p:sp>
        <p:nvSpPr>
          <p:cNvPr id="947" name="Google Shape;947;p40"/>
          <p:cNvSpPr txBox="1"/>
          <p:nvPr/>
        </p:nvSpPr>
        <p:spPr>
          <a:xfrm>
            <a:off x="6334310" y="3346829"/>
            <a:ext cx="30168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/>
          </a:p>
        </p:txBody>
      </p:sp>
      <p:sp>
        <p:nvSpPr>
          <p:cNvPr id="948" name="Google Shape;948;p40"/>
          <p:cNvSpPr txBox="1"/>
          <p:nvPr/>
        </p:nvSpPr>
        <p:spPr>
          <a:xfrm>
            <a:off x="2185233" y="4251272"/>
            <a:ext cx="30168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/>
          </a:p>
        </p:txBody>
      </p:sp>
      <p:sp>
        <p:nvSpPr>
          <p:cNvPr id="949" name="Google Shape;949;p40"/>
          <p:cNvSpPr txBox="1"/>
          <p:nvPr/>
        </p:nvSpPr>
        <p:spPr>
          <a:xfrm>
            <a:off x="1321061" y="5227696"/>
            <a:ext cx="30168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/>
          </a:p>
        </p:txBody>
      </p:sp>
      <p:sp>
        <p:nvSpPr>
          <p:cNvPr id="950" name="Google Shape;950;p40"/>
          <p:cNvSpPr txBox="1"/>
          <p:nvPr/>
        </p:nvSpPr>
        <p:spPr>
          <a:xfrm>
            <a:off x="2590809" y="5225158"/>
            <a:ext cx="30168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endParaRPr/>
          </a:p>
        </p:txBody>
      </p:sp>
      <p:sp>
        <p:nvSpPr>
          <p:cNvPr id="951" name="Google Shape;951;p40"/>
          <p:cNvSpPr txBox="1"/>
          <p:nvPr/>
        </p:nvSpPr>
        <p:spPr>
          <a:xfrm>
            <a:off x="4416033" y="4266792"/>
            <a:ext cx="30168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/>
          </a:p>
        </p:txBody>
      </p:sp>
      <p:sp>
        <p:nvSpPr>
          <p:cNvPr id="952" name="Google Shape;952;p40"/>
          <p:cNvSpPr txBox="1"/>
          <p:nvPr/>
        </p:nvSpPr>
        <p:spPr>
          <a:xfrm>
            <a:off x="5499910" y="4277126"/>
            <a:ext cx="30168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/>
          </a:p>
        </p:txBody>
      </p:sp>
      <p:sp>
        <p:nvSpPr>
          <p:cNvPr id="953" name="Google Shape;953;p40"/>
          <p:cNvSpPr txBox="1"/>
          <p:nvPr/>
        </p:nvSpPr>
        <p:spPr>
          <a:xfrm>
            <a:off x="7104893" y="4287033"/>
            <a:ext cx="30168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8" name="Google Shape;958;p41"/>
          <p:cNvSpPr txBox="1">
            <a:spLocks noGrp="1"/>
          </p:cNvSpPr>
          <p:nvPr>
            <p:ph type="body" idx="1"/>
          </p:nvPr>
        </p:nvSpPr>
        <p:spPr>
          <a:xfrm>
            <a:off x="838200" y="1227909"/>
            <a:ext cx="10515600" cy="49490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2100"/>
              <a:buFont typeface="Arial"/>
              <a:buChar char="●"/>
            </a:pPr>
            <a:r>
              <a:rPr lang="en-US"/>
              <a:t>It is TRYING to make the array into a max heap</a:t>
            </a:r>
            <a:endParaRPr/>
          </a:p>
          <a:p>
            <a:pPr marL="342900" marR="0" lvl="0" indent="-3429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0033CC"/>
              </a:buClr>
              <a:buSzPts val="2100"/>
              <a:buFont typeface="Arial"/>
              <a:buChar char="●"/>
            </a:pPr>
            <a:r>
              <a:rPr lang="en-US"/>
              <a:t>But it may not fully succeed</a:t>
            </a:r>
            <a:endParaRPr/>
          </a:p>
          <a:p>
            <a:pPr marL="342900" marR="0" lvl="0" indent="-3429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0033CC"/>
              </a:buClr>
              <a:buSzPts val="2100"/>
              <a:buFont typeface="Arial"/>
              <a:buChar char="●"/>
            </a:pPr>
            <a:r>
              <a:rPr lang="en-US"/>
              <a:t>Let us consider the following example</a:t>
            </a:r>
            <a:endParaRPr/>
          </a:p>
          <a:p>
            <a:pPr marL="342900" marR="0" lvl="0" indent="-20955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0033CC"/>
              </a:buClr>
              <a:buSzPts val="2100"/>
              <a:buFont typeface="Arial"/>
              <a:buNone/>
            </a:pPr>
            <a:endParaRPr/>
          </a:p>
          <a:p>
            <a:pPr marL="342900" marR="0" lvl="0" indent="-20955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0033CC"/>
              </a:buClr>
              <a:buSzPts val="2100"/>
              <a:buFont typeface="Arial"/>
              <a:buNone/>
            </a:pPr>
            <a:endParaRPr/>
          </a:p>
        </p:txBody>
      </p:sp>
      <p:sp>
        <p:nvSpPr>
          <p:cNvPr id="959" name="Google Shape;959;p41"/>
          <p:cNvSpPr txBox="1">
            <a:spLocks noGrp="1"/>
          </p:cNvSpPr>
          <p:nvPr>
            <p:ph type="dt" idx="10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F4B833AF-2D2B-4489-BBCF-DE685F99EEA3}" type="datetime1">
              <a:rPr lang="en-US" smtClean="0"/>
              <a:t>1/12/2026</a:t>
            </a:fld>
            <a:endParaRPr/>
          </a:p>
        </p:txBody>
      </p:sp>
      <p:sp>
        <p:nvSpPr>
          <p:cNvPr id="960" name="Google Shape;960;p41"/>
          <p:cNvSpPr txBox="1">
            <a:spLocks noGrp="1"/>
          </p:cNvSpPr>
          <p:nvPr>
            <p:ph type="ftr" idx="11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Lec Asif Abrar, Dept of CSE, UIU</a:t>
            </a:r>
            <a:endParaRPr/>
          </a:p>
        </p:txBody>
      </p:sp>
      <p:sp>
        <p:nvSpPr>
          <p:cNvPr id="961" name="Google Shape;961;p41"/>
          <p:cNvSpPr txBox="1">
            <a:spLocks noGrp="1"/>
          </p:cNvSpPr>
          <p:nvPr>
            <p:ph type="sldNum" idx="12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27</a:t>
            </a:fld>
            <a:endParaRPr/>
          </a:p>
        </p:txBody>
      </p:sp>
      <p:sp>
        <p:nvSpPr>
          <p:cNvPr id="962" name="Google Shape;962;p41"/>
          <p:cNvSpPr txBox="1">
            <a:spLocks noGrp="1"/>
          </p:cNvSpPr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/>
              <a:t>Max Heapify</a:t>
            </a:r>
            <a:endParaRPr/>
          </a:p>
        </p:txBody>
      </p:sp>
      <p:graphicFrame>
        <p:nvGraphicFramePr>
          <p:cNvPr id="963" name="Google Shape;963;p41"/>
          <p:cNvGraphicFramePr/>
          <p:nvPr/>
        </p:nvGraphicFramePr>
        <p:xfrm>
          <a:off x="7500874" y="2031696"/>
          <a:ext cx="4249800" cy="741700"/>
        </p:xfrm>
        <a:graphic>
          <a:graphicData uri="http://schemas.openxmlformats.org/drawingml/2006/table">
            <a:tbl>
              <a:tblPr firstRow="1" bandRow="1">
                <a:noFill/>
                <a:tableStyleId>{66088737-8E24-4614-AAA7-3D08145F63E1}</a:tableStyleId>
              </a:tblPr>
              <a:tblGrid>
                <a:gridCol w="472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2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72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72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722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722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722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722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4722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1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2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3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4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5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6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7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8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9</a:t>
                      </a:r>
                      <a:endParaRPr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u="none" strike="noStrike" cap="none">
                          <a:solidFill>
                            <a:schemeClr val="dk1"/>
                          </a:solidFill>
                        </a:rPr>
                        <a:t>2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u="none" strike="noStrike" cap="none">
                          <a:solidFill>
                            <a:schemeClr val="dk1"/>
                          </a:solidFill>
                        </a:rPr>
                        <a:t>7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u="none" strike="noStrike" cap="none">
                          <a:solidFill>
                            <a:schemeClr val="dk1"/>
                          </a:solidFill>
                        </a:rPr>
                        <a:t>8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u="none" strike="noStrike" cap="none">
                          <a:solidFill>
                            <a:schemeClr val="dk1"/>
                          </a:solidFill>
                        </a:rPr>
                        <a:t>9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u="none" strike="noStrike" cap="none">
                          <a:solidFill>
                            <a:schemeClr val="dk1"/>
                          </a:solidFill>
                        </a:rPr>
                        <a:t>2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u="none" strike="noStrike" cap="none">
                          <a:solidFill>
                            <a:schemeClr val="dk1"/>
                          </a:solidFill>
                        </a:rPr>
                        <a:t>15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u="none" strike="noStrike" cap="none">
                          <a:solidFill>
                            <a:schemeClr val="dk1"/>
                          </a:solidFill>
                        </a:rPr>
                        <a:t>2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u="none" strike="noStrike" cap="none">
                          <a:solidFill>
                            <a:schemeClr val="dk1"/>
                          </a:solidFill>
                        </a:rPr>
                        <a:t>2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u="none" strike="noStrike" cap="none">
                          <a:solidFill>
                            <a:schemeClr val="dk1"/>
                          </a:solidFill>
                        </a:rPr>
                        <a:t>10</a:t>
                      </a:r>
                      <a:endParaRPr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964" name="Google Shape;964;p41"/>
          <p:cNvSpPr/>
          <p:nvPr/>
        </p:nvSpPr>
        <p:spPr>
          <a:xfrm>
            <a:off x="4798314" y="2773376"/>
            <a:ext cx="558800" cy="558800"/>
          </a:xfrm>
          <a:prstGeom prst="ellipse">
            <a:avLst/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  <p:sp>
        <p:nvSpPr>
          <p:cNvPr id="965" name="Google Shape;965;p41"/>
          <p:cNvSpPr/>
          <p:nvPr/>
        </p:nvSpPr>
        <p:spPr>
          <a:xfrm>
            <a:off x="3248914" y="3692472"/>
            <a:ext cx="558800" cy="558800"/>
          </a:xfrm>
          <a:prstGeom prst="ellipse">
            <a:avLst/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/>
          </a:p>
        </p:txBody>
      </p:sp>
      <p:sp>
        <p:nvSpPr>
          <p:cNvPr id="966" name="Google Shape;966;p41"/>
          <p:cNvSpPr/>
          <p:nvPr/>
        </p:nvSpPr>
        <p:spPr>
          <a:xfrm>
            <a:off x="2315882" y="4501895"/>
            <a:ext cx="558800" cy="558800"/>
          </a:xfrm>
          <a:prstGeom prst="ellipse">
            <a:avLst/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endParaRPr/>
          </a:p>
        </p:txBody>
      </p:sp>
      <p:sp>
        <p:nvSpPr>
          <p:cNvPr id="967" name="Google Shape;967;p41"/>
          <p:cNvSpPr/>
          <p:nvPr/>
        </p:nvSpPr>
        <p:spPr>
          <a:xfrm>
            <a:off x="1485587" y="5554658"/>
            <a:ext cx="558800" cy="558800"/>
          </a:xfrm>
          <a:prstGeom prst="ellipse">
            <a:avLst/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  <p:sp>
        <p:nvSpPr>
          <p:cNvPr id="968" name="Google Shape;968;p41"/>
          <p:cNvSpPr/>
          <p:nvPr/>
        </p:nvSpPr>
        <p:spPr>
          <a:xfrm>
            <a:off x="2771948" y="5614163"/>
            <a:ext cx="558800" cy="558800"/>
          </a:xfrm>
          <a:prstGeom prst="ellipse">
            <a:avLst/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/>
          </a:p>
        </p:txBody>
      </p:sp>
      <p:sp>
        <p:nvSpPr>
          <p:cNvPr id="969" name="Google Shape;969;p41"/>
          <p:cNvSpPr/>
          <p:nvPr/>
        </p:nvSpPr>
        <p:spPr>
          <a:xfrm>
            <a:off x="4197746" y="4557225"/>
            <a:ext cx="558800" cy="558800"/>
          </a:xfrm>
          <a:prstGeom prst="ellipse">
            <a:avLst/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  <p:sp>
        <p:nvSpPr>
          <p:cNvPr id="970" name="Google Shape;970;p41"/>
          <p:cNvSpPr/>
          <p:nvPr/>
        </p:nvSpPr>
        <p:spPr>
          <a:xfrm>
            <a:off x="6164836" y="3692472"/>
            <a:ext cx="558800" cy="558800"/>
          </a:xfrm>
          <a:prstGeom prst="ellipse">
            <a:avLst/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/>
          </a:p>
        </p:txBody>
      </p:sp>
      <p:sp>
        <p:nvSpPr>
          <p:cNvPr id="971" name="Google Shape;971;p41"/>
          <p:cNvSpPr/>
          <p:nvPr/>
        </p:nvSpPr>
        <p:spPr>
          <a:xfrm>
            <a:off x="5410178" y="4584315"/>
            <a:ext cx="558800" cy="558800"/>
          </a:xfrm>
          <a:prstGeom prst="ellipse">
            <a:avLst/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15</a:t>
            </a:r>
            <a:endParaRPr/>
          </a:p>
        </p:txBody>
      </p:sp>
      <p:sp>
        <p:nvSpPr>
          <p:cNvPr id="972" name="Google Shape;972;p41"/>
          <p:cNvSpPr/>
          <p:nvPr/>
        </p:nvSpPr>
        <p:spPr>
          <a:xfrm>
            <a:off x="6942074" y="4584315"/>
            <a:ext cx="558800" cy="558800"/>
          </a:xfrm>
          <a:prstGeom prst="ellipse">
            <a:avLst/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  <p:cxnSp>
        <p:nvCxnSpPr>
          <p:cNvPr id="973" name="Google Shape;973;p41"/>
          <p:cNvCxnSpPr>
            <a:stCxn id="964" idx="3"/>
            <a:endCxn id="965" idx="7"/>
          </p:cNvCxnSpPr>
          <p:nvPr/>
        </p:nvCxnSpPr>
        <p:spPr>
          <a:xfrm flipH="1">
            <a:off x="3725748" y="3250342"/>
            <a:ext cx="1154400" cy="5241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974" name="Google Shape;974;p41"/>
          <p:cNvCxnSpPr>
            <a:stCxn id="970" idx="1"/>
            <a:endCxn id="964" idx="5"/>
          </p:cNvCxnSpPr>
          <p:nvPr/>
        </p:nvCxnSpPr>
        <p:spPr>
          <a:xfrm rot="10800000">
            <a:off x="5275270" y="3250206"/>
            <a:ext cx="971400" cy="5241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975" name="Google Shape;975;p41"/>
          <p:cNvCxnSpPr>
            <a:stCxn id="972" idx="1"/>
            <a:endCxn id="970" idx="5"/>
          </p:cNvCxnSpPr>
          <p:nvPr/>
        </p:nvCxnSpPr>
        <p:spPr>
          <a:xfrm rot="10800000">
            <a:off x="6641708" y="4169349"/>
            <a:ext cx="382200" cy="4968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976" name="Google Shape;976;p41"/>
          <p:cNvCxnSpPr>
            <a:stCxn id="971" idx="7"/>
            <a:endCxn id="970" idx="3"/>
          </p:cNvCxnSpPr>
          <p:nvPr/>
        </p:nvCxnSpPr>
        <p:spPr>
          <a:xfrm rot="10800000" flipH="1">
            <a:off x="5887144" y="4169349"/>
            <a:ext cx="359400" cy="4968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977" name="Google Shape;977;p41"/>
          <p:cNvCxnSpPr>
            <a:stCxn id="965" idx="3"/>
            <a:endCxn id="966" idx="7"/>
          </p:cNvCxnSpPr>
          <p:nvPr/>
        </p:nvCxnSpPr>
        <p:spPr>
          <a:xfrm flipH="1">
            <a:off x="2792848" y="4169438"/>
            <a:ext cx="537900" cy="4143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978" name="Google Shape;978;p41"/>
          <p:cNvCxnSpPr>
            <a:stCxn id="965" idx="5"/>
            <a:endCxn id="969" idx="1"/>
          </p:cNvCxnSpPr>
          <p:nvPr/>
        </p:nvCxnSpPr>
        <p:spPr>
          <a:xfrm>
            <a:off x="3725880" y="4169438"/>
            <a:ext cx="553800" cy="4695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979" name="Google Shape;979;p41"/>
          <p:cNvCxnSpPr>
            <a:stCxn id="966" idx="3"/>
            <a:endCxn id="967" idx="7"/>
          </p:cNvCxnSpPr>
          <p:nvPr/>
        </p:nvCxnSpPr>
        <p:spPr>
          <a:xfrm flipH="1">
            <a:off x="1962416" y="4978861"/>
            <a:ext cx="435300" cy="6576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980" name="Google Shape;980;p41"/>
          <p:cNvCxnSpPr>
            <a:stCxn id="966" idx="5"/>
            <a:endCxn id="968" idx="0"/>
          </p:cNvCxnSpPr>
          <p:nvPr/>
        </p:nvCxnSpPr>
        <p:spPr>
          <a:xfrm>
            <a:off x="2792848" y="4978861"/>
            <a:ext cx="258600" cy="6354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981" name="Google Shape;981;p41"/>
          <p:cNvSpPr txBox="1"/>
          <p:nvPr/>
        </p:nvSpPr>
        <p:spPr>
          <a:xfrm>
            <a:off x="4496628" y="2782899"/>
            <a:ext cx="30168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982" name="Google Shape;982;p41"/>
          <p:cNvSpPr txBox="1"/>
          <p:nvPr/>
        </p:nvSpPr>
        <p:spPr>
          <a:xfrm>
            <a:off x="2947228" y="3564260"/>
            <a:ext cx="30168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  <p:sp>
        <p:nvSpPr>
          <p:cNvPr id="983" name="Google Shape;983;p41"/>
          <p:cNvSpPr txBox="1"/>
          <p:nvPr/>
        </p:nvSpPr>
        <p:spPr>
          <a:xfrm>
            <a:off x="6334310" y="3346829"/>
            <a:ext cx="30168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/>
          </a:p>
        </p:txBody>
      </p:sp>
      <p:sp>
        <p:nvSpPr>
          <p:cNvPr id="984" name="Google Shape;984;p41"/>
          <p:cNvSpPr txBox="1"/>
          <p:nvPr/>
        </p:nvSpPr>
        <p:spPr>
          <a:xfrm>
            <a:off x="2185233" y="4251272"/>
            <a:ext cx="30168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/>
          </a:p>
        </p:txBody>
      </p:sp>
      <p:sp>
        <p:nvSpPr>
          <p:cNvPr id="985" name="Google Shape;985;p41"/>
          <p:cNvSpPr txBox="1"/>
          <p:nvPr/>
        </p:nvSpPr>
        <p:spPr>
          <a:xfrm>
            <a:off x="1321061" y="5227696"/>
            <a:ext cx="30168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/>
          </a:p>
        </p:txBody>
      </p:sp>
      <p:sp>
        <p:nvSpPr>
          <p:cNvPr id="986" name="Google Shape;986;p41"/>
          <p:cNvSpPr txBox="1"/>
          <p:nvPr/>
        </p:nvSpPr>
        <p:spPr>
          <a:xfrm>
            <a:off x="2590809" y="5225158"/>
            <a:ext cx="30168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endParaRPr/>
          </a:p>
        </p:txBody>
      </p:sp>
      <p:sp>
        <p:nvSpPr>
          <p:cNvPr id="987" name="Google Shape;987;p41"/>
          <p:cNvSpPr txBox="1"/>
          <p:nvPr/>
        </p:nvSpPr>
        <p:spPr>
          <a:xfrm>
            <a:off x="4416033" y="4266792"/>
            <a:ext cx="30168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/>
          </a:p>
        </p:txBody>
      </p:sp>
      <p:sp>
        <p:nvSpPr>
          <p:cNvPr id="988" name="Google Shape;988;p41"/>
          <p:cNvSpPr txBox="1"/>
          <p:nvPr/>
        </p:nvSpPr>
        <p:spPr>
          <a:xfrm>
            <a:off x="5499910" y="4277126"/>
            <a:ext cx="30168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/>
          </a:p>
        </p:txBody>
      </p:sp>
      <p:sp>
        <p:nvSpPr>
          <p:cNvPr id="989" name="Google Shape;989;p41"/>
          <p:cNvSpPr txBox="1"/>
          <p:nvPr/>
        </p:nvSpPr>
        <p:spPr>
          <a:xfrm>
            <a:off x="7104893" y="4287033"/>
            <a:ext cx="30168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/>
          </a:p>
        </p:txBody>
      </p:sp>
      <p:sp>
        <p:nvSpPr>
          <p:cNvPr id="990" name="Google Shape;990;p41"/>
          <p:cNvSpPr/>
          <p:nvPr/>
        </p:nvSpPr>
        <p:spPr>
          <a:xfrm>
            <a:off x="2451307" y="2711974"/>
            <a:ext cx="1990097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MaxHeapify(A,1)</a:t>
            </a:r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5" name="Google Shape;995;p42"/>
          <p:cNvSpPr txBox="1">
            <a:spLocks noGrp="1"/>
          </p:cNvSpPr>
          <p:nvPr>
            <p:ph type="body" idx="1"/>
          </p:nvPr>
        </p:nvSpPr>
        <p:spPr>
          <a:xfrm>
            <a:off x="838200" y="1227909"/>
            <a:ext cx="10515600" cy="49490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2100"/>
              <a:buFont typeface="Arial"/>
              <a:buChar char="●"/>
            </a:pPr>
            <a:r>
              <a:rPr lang="en-US"/>
              <a:t>It is TRYING to make the array into a max heap</a:t>
            </a:r>
            <a:endParaRPr/>
          </a:p>
          <a:p>
            <a:pPr marL="342900" marR="0" lvl="0" indent="-3429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0033CC"/>
              </a:buClr>
              <a:buSzPts val="2100"/>
              <a:buFont typeface="Arial"/>
              <a:buChar char="●"/>
            </a:pPr>
            <a:r>
              <a:rPr lang="en-US"/>
              <a:t>But it may not fully succeed</a:t>
            </a:r>
            <a:endParaRPr/>
          </a:p>
          <a:p>
            <a:pPr marL="342900" marR="0" lvl="0" indent="-3429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0033CC"/>
              </a:buClr>
              <a:buSzPts val="2100"/>
              <a:buFont typeface="Arial"/>
              <a:buChar char="●"/>
            </a:pPr>
            <a:r>
              <a:rPr lang="en-US"/>
              <a:t>Let us consider the following example</a:t>
            </a:r>
            <a:endParaRPr/>
          </a:p>
          <a:p>
            <a:pPr marL="342900" marR="0" lvl="0" indent="-20955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0033CC"/>
              </a:buClr>
              <a:buSzPts val="2100"/>
              <a:buFont typeface="Arial"/>
              <a:buNone/>
            </a:pPr>
            <a:endParaRPr/>
          </a:p>
          <a:p>
            <a:pPr marL="342900" marR="0" lvl="0" indent="-20955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0033CC"/>
              </a:buClr>
              <a:buSzPts val="2100"/>
              <a:buFont typeface="Arial"/>
              <a:buNone/>
            </a:pPr>
            <a:endParaRPr/>
          </a:p>
        </p:txBody>
      </p:sp>
      <p:sp>
        <p:nvSpPr>
          <p:cNvPr id="996" name="Google Shape;996;p42"/>
          <p:cNvSpPr txBox="1">
            <a:spLocks noGrp="1"/>
          </p:cNvSpPr>
          <p:nvPr>
            <p:ph type="dt" idx="10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523BDC1D-8171-4381-8AE7-57E5A55E7386}" type="datetime1">
              <a:rPr lang="en-US" smtClean="0"/>
              <a:t>1/12/2026</a:t>
            </a:fld>
            <a:endParaRPr/>
          </a:p>
        </p:txBody>
      </p:sp>
      <p:sp>
        <p:nvSpPr>
          <p:cNvPr id="997" name="Google Shape;997;p42"/>
          <p:cNvSpPr txBox="1">
            <a:spLocks noGrp="1"/>
          </p:cNvSpPr>
          <p:nvPr>
            <p:ph type="ftr" idx="11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Lec Asif Abrar, Dept of CSE, UIU</a:t>
            </a:r>
            <a:endParaRPr/>
          </a:p>
        </p:txBody>
      </p:sp>
      <p:sp>
        <p:nvSpPr>
          <p:cNvPr id="998" name="Google Shape;998;p42"/>
          <p:cNvSpPr txBox="1">
            <a:spLocks noGrp="1"/>
          </p:cNvSpPr>
          <p:nvPr>
            <p:ph type="sldNum" idx="12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28</a:t>
            </a:fld>
            <a:endParaRPr/>
          </a:p>
        </p:txBody>
      </p:sp>
      <p:sp>
        <p:nvSpPr>
          <p:cNvPr id="999" name="Google Shape;999;p42"/>
          <p:cNvSpPr txBox="1">
            <a:spLocks noGrp="1"/>
          </p:cNvSpPr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/>
              <a:t>Max Heapify</a:t>
            </a:r>
            <a:endParaRPr/>
          </a:p>
        </p:txBody>
      </p:sp>
      <p:graphicFrame>
        <p:nvGraphicFramePr>
          <p:cNvPr id="1000" name="Google Shape;1000;p42"/>
          <p:cNvGraphicFramePr/>
          <p:nvPr/>
        </p:nvGraphicFramePr>
        <p:xfrm>
          <a:off x="7500874" y="2031696"/>
          <a:ext cx="4249800" cy="741700"/>
        </p:xfrm>
        <a:graphic>
          <a:graphicData uri="http://schemas.openxmlformats.org/drawingml/2006/table">
            <a:tbl>
              <a:tblPr firstRow="1" bandRow="1">
                <a:noFill/>
                <a:tableStyleId>{66088737-8E24-4614-AAA7-3D08145F63E1}</a:tableStyleId>
              </a:tblPr>
              <a:tblGrid>
                <a:gridCol w="472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2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72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72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722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722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722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722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4722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1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2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3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4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5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6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7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8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9</a:t>
                      </a:r>
                      <a:endParaRPr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u="none" strike="noStrike" cap="none">
                          <a:solidFill>
                            <a:schemeClr val="dk1"/>
                          </a:solidFill>
                        </a:rPr>
                        <a:t>2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u="none" strike="noStrike" cap="none">
                          <a:solidFill>
                            <a:schemeClr val="dk1"/>
                          </a:solidFill>
                        </a:rPr>
                        <a:t>7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u="none" strike="noStrike" cap="none">
                          <a:solidFill>
                            <a:schemeClr val="dk1"/>
                          </a:solidFill>
                        </a:rPr>
                        <a:t>8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u="none" strike="noStrike" cap="none">
                          <a:solidFill>
                            <a:schemeClr val="dk1"/>
                          </a:solidFill>
                        </a:rPr>
                        <a:t>9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u="none" strike="noStrike" cap="none">
                          <a:solidFill>
                            <a:schemeClr val="dk1"/>
                          </a:solidFill>
                        </a:rPr>
                        <a:t>2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u="none" strike="noStrike" cap="none">
                          <a:solidFill>
                            <a:schemeClr val="dk1"/>
                          </a:solidFill>
                        </a:rPr>
                        <a:t>15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u="none" strike="noStrike" cap="none">
                          <a:solidFill>
                            <a:schemeClr val="dk1"/>
                          </a:solidFill>
                        </a:rPr>
                        <a:t>2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u="none" strike="noStrike" cap="none">
                          <a:solidFill>
                            <a:schemeClr val="dk1"/>
                          </a:solidFill>
                        </a:rPr>
                        <a:t>2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u="none" strike="noStrike" cap="none">
                          <a:solidFill>
                            <a:schemeClr val="dk1"/>
                          </a:solidFill>
                        </a:rPr>
                        <a:t>10</a:t>
                      </a:r>
                      <a:endParaRPr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001" name="Google Shape;1001;p42"/>
          <p:cNvSpPr/>
          <p:nvPr/>
        </p:nvSpPr>
        <p:spPr>
          <a:xfrm>
            <a:off x="4798314" y="2773376"/>
            <a:ext cx="558800" cy="558800"/>
          </a:xfrm>
          <a:prstGeom prst="ellipse">
            <a:avLst/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  <p:sp>
        <p:nvSpPr>
          <p:cNvPr id="1002" name="Google Shape;1002;p42"/>
          <p:cNvSpPr/>
          <p:nvPr/>
        </p:nvSpPr>
        <p:spPr>
          <a:xfrm>
            <a:off x="3248914" y="3692472"/>
            <a:ext cx="558800" cy="558800"/>
          </a:xfrm>
          <a:prstGeom prst="ellipse">
            <a:avLst/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/>
          </a:p>
        </p:txBody>
      </p:sp>
      <p:sp>
        <p:nvSpPr>
          <p:cNvPr id="1003" name="Google Shape;1003;p42"/>
          <p:cNvSpPr/>
          <p:nvPr/>
        </p:nvSpPr>
        <p:spPr>
          <a:xfrm>
            <a:off x="2315882" y="4501895"/>
            <a:ext cx="558800" cy="558800"/>
          </a:xfrm>
          <a:prstGeom prst="ellipse">
            <a:avLst/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endParaRPr/>
          </a:p>
        </p:txBody>
      </p:sp>
      <p:sp>
        <p:nvSpPr>
          <p:cNvPr id="1004" name="Google Shape;1004;p42"/>
          <p:cNvSpPr/>
          <p:nvPr/>
        </p:nvSpPr>
        <p:spPr>
          <a:xfrm>
            <a:off x="1485587" y="5554658"/>
            <a:ext cx="558800" cy="558800"/>
          </a:xfrm>
          <a:prstGeom prst="ellipse">
            <a:avLst/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  <p:sp>
        <p:nvSpPr>
          <p:cNvPr id="1005" name="Google Shape;1005;p42"/>
          <p:cNvSpPr/>
          <p:nvPr/>
        </p:nvSpPr>
        <p:spPr>
          <a:xfrm>
            <a:off x="2771948" y="5614163"/>
            <a:ext cx="558800" cy="558800"/>
          </a:xfrm>
          <a:prstGeom prst="ellipse">
            <a:avLst/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/>
          </a:p>
        </p:txBody>
      </p:sp>
      <p:sp>
        <p:nvSpPr>
          <p:cNvPr id="1006" name="Google Shape;1006;p42"/>
          <p:cNvSpPr/>
          <p:nvPr/>
        </p:nvSpPr>
        <p:spPr>
          <a:xfrm>
            <a:off x="4197746" y="4557225"/>
            <a:ext cx="558800" cy="558800"/>
          </a:xfrm>
          <a:prstGeom prst="ellipse">
            <a:avLst/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  <p:sp>
        <p:nvSpPr>
          <p:cNvPr id="1007" name="Google Shape;1007;p42"/>
          <p:cNvSpPr/>
          <p:nvPr/>
        </p:nvSpPr>
        <p:spPr>
          <a:xfrm>
            <a:off x="6164836" y="3692472"/>
            <a:ext cx="558800" cy="558800"/>
          </a:xfrm>
          <a:prstGeom prst="ellipse">
            <a:avLst/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/>
          </a:p>
        </p:txBody>
      </p:sp>
      <p:sp>
        <p:nvSpPr>
          <p:cNvPr id="1008" name="Google Shape;1008;p42"/>
          <p:cNvSpPr/>
          <p:nvPr/>
        </p:nvSpPr>
        <p:spPr>
          <a:xfrm>
            <a:off x="5410178" y="4584315"/>
            <a:ext cx="558800" cy="558800"/>
          </a:xfrm>
          <a:prstGeom prst="ellipse">
            <a:avLst/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15</a:t>
            </a:r>
            <a:endParaRPr/>
          </a:p>
        </p:txBody>
      </p:sp>
      <p:sp>
        <p:nvSpPr>
          <p:cNvPr id="1009" name="Google Shape;1009;p42"/>
          <p:cNvSpPr/>
          <p:nvPr/>
        </p:nvSpPr>
        <p:spPr>
          <a:xfrm>
            <a:off x="6942074" y="4584315"/>
            <a:ext cx="558800" cy="558800"/>
          </a:xfrm>
          <a:prstGeom prst="ellipse">
            <a:avLst/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  <p:cxnSp>
        <p:nvCxnSpPr>
          <p:cNvPr id="1010" name="Google Shape;1010;p42"/>
          <p:cNvCxnSpPr>
            <a:stCxn id="1001" idx="3"/>
            <a:endCxn id="1002" idx="7"/>
          </p:cNvCxnSpPr>
          <p:nvPr/>
        </p:nvCxnSpPr>
        <p:spPr>
          <a:xfrm flipH="1">
            <a:off x="3725748" y="3250342"/>
            <a:ext cx="1154400" cy="5241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1011" name="Google Shape;1011;p42"/>
          <p:cNvCxnSpPr>
            <a:stCxn id="1007" idx="1"/>
            <a:endCxn id="1001" idx="5"/>
          </p:cNvCxnSpPr>
          <p:nvPr/>
        </p:nvCxnSpPr>
        <p:spPr>
          <a:xfrm rot="10800000">
            <a:off x="5275270" y="3250206"/>
            <a:ext cx="971400" cy="5241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1012" name="Google Shape;1012;p42"/>
          <p:cNvCxnSpPr>
            <a:stCxn id="1009" idx="1"/>
            <a:endCxn id="1007" idx="5"/>
          </p:cNvCxnSpPr>
          <p:nvPr/>
        </p:nvCxnSpPr>
        <p:spPr>
          <a:xfrm rot="10800000">
            <a:off x="6641708" y="4169349"/>
            <a:ext cx="382200" cy="4968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1013" name="Google Shape;1013;p42"/>
          <p:cNvCxnSpPr>
            <a:stCxn id="1008" idx="7"/>
            <a:endCxn id="1007" idx="3"/>
          </p:cNvCxnSpPr>
          <p:nvPr/>
        </p:nvCxnSpPr>
        <p:spPr>
          <a:xfrm rot="10800000" flipH="1">
            <a:off x="5887144" y="4169349"/>
            <a:ext cx="359400" cy="4968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1014" name="Google Shape;1014;p42"/>
          <p:cNvCxnSpPr>
            <a:stCxn id="1002" idx="3"/>
            <a:endCxn id="1003" idx="7"/>
          </p:cNvCxnSpPr>
          <p:nvPr/>
        </p:nvCxnSpPr>
        <p:spPr>
          <a:xfrm flipH="1">
            <a:off x="2792848" y="4169438"/>
            <a:ext cx="537900" cy="4143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1015" name="Google Shape;1015;p42"/>
          <p:cNvCxnSpPr>
            <a:stCxn id="1002" idx="5"/>
            <a:endCxn id="1006" idx="1"/>
          </p:cNvCxnSpPr>
          <p:nvPr/>
        </p:nvCxnSpPr>
        <p:spPr>
          <a:xfrm>
            <a:off x="3725880" y="4169438"/>
            <a:ext cx="553800" cy="4695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1016" name="Google Shape;1016;p42"/>
          <p:cNvCxnSpPr>
            <a:stCxn id="1003" idx="3"/>
            <a:endCxn id="1004" idx="7"/>
          </p:cNvCxnSpPr>
          <p:nvPr/>
        </p:nvCxnSpPr>
        <p:spPr>
          <a:xfrm flipH="1">
            <a:off x="1962416" y="4978861"/>
            <a:ext cx="435300" cy="6576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1017" name="Google Shape;1017;p42"/>
          <p:cNvCxnSpPr>
            <a:stCxn id="1003" idx="5"/>
            <a:endCxn id="1005" idx="0"/>
          </p:cNvCxnSpPr>
          <p:nvPr/>
        </p:nvCxnSpPr>
        <p:spPr>
          <a:xfrm>
            <a:off x="2792848" y="4978861"/>
            <a:ext cx="258600" cy="6354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018" name="Google Shape;1018;p42"/>
          <p:cNvSpPr txBox="1"/>
          <p:nvPr/>
        </p:nvSpPr>
        <p:spPr>
          <a:xfrm>
            <a:off x="4496628" y="2782899"/>
            <a:ext cx="30168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1019" name="Google Shape;1019;p42"/>
          <p:cNvSpPr txBox="1"/>
          <p:nvPr/>
        </p:nvSpPr>
        <p:spPr>
          <a:xfrm>
            <a:off x="2947228" y="3564260"/>
            <a:ext cx="30168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  <p:sp>
        <p:nvSpPr>
          <p:cNvPr id="1020" name="Google Shape;1020;p42"/>
          <p:cNvSpPr txBox="1"/>
          <p:nvPr/>
        </p:nvSpPr>
        <p:spPr>
          <a:xfrm>
            <a:off x="6334310" y="3346829"/>
            <a:ext cx="30168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/>
          </a:p>
        </p:txBody>
      </p:sp>
      <p:sp>
        <p:nvSpPr>
          <p:cNvPr id="1021" name="Google Shape;1021;p42"/>
          <p:cNvSpPr txBox="1"/>
          <p:nvPr/>
        </p:nvSpPr>
        <p:spPr>
          <a:xfrm>
            <a:off x="2185233" y="4251272"/>
            <a:ext cx="30168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/>
          </a:p>
        </p:txBody>
      </p:sp>
      <p:sp>
        <p:nvSpPr>
          <p:cNvPr id="1022" name="Google Shape;1022;p42"/>
          <p:cNvSpPr txBox="1"/>
          <p:nvPr/>
        </p:nvSpPr>
        <p:spPr>
          <a:xfrm>
            <a:off x="1321061" y="5227696"/>
            <a:ext cx="30168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/>
          </a:p>
        </p:txBody>
      </p:sp>
      <p:sp>
        <p:nvSpPr>
          <p:cNvPr id="1023" name="Google Shape;1023;p42"/>
          <p:cNvSpPr txBox="1"/>
          <p:nvPr/>
        </p:nvSpPr>
        <p:spPr>
          <a:xfrm>
            <a:off x="2590809" y="5225158"/>
            <a:ext cx="30168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endParaRPr/>
          </a:p>
        </p:txBody>
      </p:sp>
      <p:sp>
        <p:nvSpPr>
          <p:cNvPr id="1024" name="Google Shape;1024;p42"/>
          <p:cNvSpPr txBox="1"/>
          <p:nvPr/>
        </p:nvSpPr>
        <p:spPr>
          <a:xfrm>
            <a:off x="4416033" y="4266792"/>
            <a:ext cx="30168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/>
          </a:p>
        </p:txBody>
      </p:sp>
      <p:sp>
        <p:nvSpPr>
          <p:cNvPr id="1025" name="Google Shape;1025;p42"/>
          <p:cNvSpPr txBox="1"/>
          <p:nvPr/>
        </p:nvSpPr>
        <p:spPr>
          <a:xfrm>
            <a:off x="5499910" y="4277126"/>
            <a:ext cx="30168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/>
          </a:p>
        </p:txBody>
      </p:sp>
      <p:sp>
        <p:nvSpPr>
          <p:cNvPr id="1026" name="Google Shape;1026;p42"/>
          <p:cNvSpPr txBox="1"/>
          <p:nvPr/>
        </p:nvSpPr>
        <p:spPr>
          <a:xfrm>
            <a:off x="7104893" y="4287033"/>
            <a:ext cx="30168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/>
          </a:p>
        </p:txBody>
      </p:sp>
      <p:sp>
        <p:nvSpPr>
          <p:cNvPr id="1027" name="Google Shape;1027;p42"/>
          <p:cNvSpPr/>
          <p:nvPr/>
        </p:nvSpPr>
        <p:spPr>
          <a:xfrm>
            <a:off x="2451307" y="2711974"/>
            <a:ext cx="1990097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MaxHeapify(A,1)</a:t>
            </a:r>
            <a:endParaRPr/>
          </a:p>
        </p:txBody>
      </p:sp>
      <p:sp>
        <p:nvSpPr>
          <p:cNvPr id="1028" name="Google Shape;1028;p42"/>
          <p:cNvSpPr/>
          <p:nvPr/>
        </p:nvSpPr>
        <p:spPr>
          <a:xfrm>
            <a:off x="5112014" y="3773484"/>
            <a:ext cx="808425" cy="375459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accent2"/>
          </a:solidFill>
          <a:ln w="12700" cap="flat" cmpd="sng">
            <a:solidFill>
              <a:srgbClr val="AC5B23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Largest</a:t>
            </a:r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3" name="Google Shape;1033;p43"/>
          <p:cNvSpPr txBox="1">
            <a:spLocks noGrp="1"/>
          </p:cNvSpPr>
          <p:nvPr>
            <p:ph type="body" idx="1"/>
          </p:nvPr>
        </p:nvSpPr>
        <p:spPr>
          <a:xfrm>
            <a:off x="838200" y="1227909"/>
            <a:ext cx="10515600" cy="49490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2100"/>
              <a:buFont typeface="Arial"/>
              <a:buChar char="●"/>
            </a:pPr>
            <a:r>
              <a:rPr lang="en-US"/>
              <a:t>It is TRYING to make the array into a max heap</a:t>
            </a:r>
            <a:endParaRPr/>
          </a:p>
          <a:p>
            <a:pPr marL="342900" marR="0" lvl="0" indent="-3429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0033CC"/>
              </a:buClr>
              <a:buSzPts val="2100"/>
              <a:buFont typeface="Arial"/>
              <a:buChar char="●"/>
            </a:pPr>
            <a:r>
              <a:rPr lang="en-US"/>
              <a:t>But it may not fully succeed</a:t>
            </a:r>
            <a:endParaRPr/>
          </a:p>
          <a:p>
            <a:pPr marL="342900" marR="0" lvl="0" indent="-3429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0033CC"/>
              </a:buClr>
              <a:buSzPts val="2100"/>
              <a:buFont typeface="Arial"/>
              <a:buChar char="●"/>
            </a:pPr>
            <a:r>
              <a:rPr lang="en-US"/>
              <a:t>Let us consider the following example</a:t>
            </a:r>
            <a:endParaRPr/>
          </a:p>
          <a:p>
            <a:pPr marL="342900" marR="0" lvl="0" indent="-20955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0033CC"/>
              </a:buClr>
              <a:buSzPts val="2100"/>
              <a:buFont typeface="Arial"/>
              <a:buNone/>
            </a:pPr>
            <a:endParaRPr/>
          </a:p>
          <a:p>
            <a:pPr marL="342900" marR="0" lvl="0" indent="-20955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0033CC"/>
              </a:buClr>
              <a:buSzPts val="2100"/>
              <a:buFont typeface="Arial"/>
              <a:buNone/>
            </a:pPr>
            <a:endParaRPr/>
          </a:p>
        </p:txBody>
      </p:sp>
      <p:sp>
        <p:nvSpPr>
          <p:cNvPr id="1034" name="Google Shape;1034;p43"/>
          <p:cNvSpPr txBox="1">
            <a:spLocks noGrp="1"/>
          </p:cNvSpPr>
          <p:nvPr>
            <p:ph type="dt" idx="10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96BF294E-2F3A-46E8-8438-9C0BEB3979A2}" type="datetime1">
              <a:rPr lang="en-US" smtClean="0"/>
              <a:t>1/12/2026</a:t>
            </a:fld>
            <a:endParaRPr/>
          </a:p>
        </p:txBody>
      </p:sp>
      <p:sp>
        <p:nvSpPr>
          <p:cNvPr id="1035" name="Google Shape;1035;p43"/>
          <p:cNvSpPr txBox="1">
            <a:spLocks noGrp="1"/>
          </p:cNvSpPr>
          <p:nvPr>
            <p:ph type="ftr" idx="11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Lec Asif Abrar, Dept of CSE, UIU</a:t>
            </a:r>
            <a:endParaRPr/>
          </a:p>
        </p:txBody>
      </p:sp>
      <p:sp>
        <p:nvSpPr>
          <p:cNvPr id="1036" name="Google Shape;1036;p43"/>
          <p:cNvSpPr txBox="1">
            <a:spLocks noGrp="1"/>
          </p:cNvSpPr>
          <p:nvPr>
            <p:ph type="sldNum" idx="12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29</a:t>
            </a:fld>
            <a:endParaRPr/>
          </a:p>
        </p:txBody>
      </p:sp>
      <p:sp>
        <p:nvSpPr>
          <p:cNvPr id="1037" name="Google Shape;1037;p43"/>
          <p:cNvSpPr txBox="1">
            <a:spLocks noGrp="1"/>
          </p:cNvSpPr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/>
              <a:t>Max Heapify</a:t>
            </a:r>
            <a:endParaRPr/>
          </a:p>
        </p:txBody>
      </p:sp>
      <p:graphicFrame>
        <p:nvGraphicFramePr>
          <p:cNvPr id="1038" name="Google Shape;1038;p43"/>
          <p:cNvGraphicFramePr/>
          <p:nvPr/>
        </p:nvGraphicFramePr>
        <p:xfrm>
          <a:off x="7500874" y="2031696"/>
          <a:ext cx="4249800" cy="741700"/>
        </p:xfrm>
        <a:graphic>
          <a:graphicData uri="http://schemas.openxmlformats.org/drawingml/2006/table">
            <a:tbl>
              <a:tblPr firstRow="1" bandRow="1">
                <a:noFill/>
                <a:tableStyleId>{66088737-8E24-4614-AAA7-3D08145F63E1}</a:tableStyleId>
              </a:tblPr>
              <a:tblGrid>
                <a:gridCol w="472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2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72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72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722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722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722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722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4722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1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2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3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4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5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6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7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8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9</a:t>
                      </a:r>
                      <a:endParaRPr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u="none" strike="noStrike" cap="none">
                          <a:solidFill>
                            <a:schemeClr val="dk1"/>
                          </a:solidFill>
                        </a:rPr>
                        <a:t>2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u="none" strike="noStrike" cap="none">
                          <a:solidFill>
                            <a:schemeClr val="dk1"/>
                          </a:solidFill>
                        </a:rPr>
                        <a:t>7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u="none" strike="noStrike" cap="none">
                          <a:solidFill>
                            <a:schemeClr val="dk1"/>
                          </a:solidFill>
                        </a:rPr>
                        <a:t>8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u="none" strike="noStrike" cap="none">
                          <a:solidFill>
                            <a:schemeClr val="dk1"/>
                          </a:solidFill>
                        </a:rPr>
                        <a:t>9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u="none" strike="noStrike" cap="none">
                          <a:solidFill>
                            <a:schemeClr val="dk1"/>
                          </a:solidFill>
                        </a:rPr>
                        <a:t>2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u="none" strike="noStrike" cap="none">
                          <a:solidFill>
                            <a:schemeClr val="dk1"/>
                          </a:solidFill>
                        </a:rPr>
                        <a:t>15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u="none" strike="noStrike" cap="none">
                          <a:solidFill>
                            <a:schemeClr val="dk1"/>
                          </a:solidFill>
                        </a:rPr>
                        <a:t>2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u="none" strike="noStrike" cap="none">
                          <a:solidFill>
                            <a:schemeClr val="dk1"/>
                          </a:solidFill>
                        </a:rPr>
                        <a:t>2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u="none" strike="noStrike" cap="none">
                          <a:solidFill>
                            <a:schemeClr val="dk1"/>
                          </a:solidFill>
                        </a:rPr>
                        <a:t>10</a:t>
                      </a:r>
                      <a:endParaRPr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039" name="Google Shape;1039;p43"/>
          <p:cNvSpPr/>
          <p:nvPr/>
        </p:nvSpPr>
        <p:spPr>
          <a:xfrm>
            <a:off x="4798314" y="2773376"/>
            <a:ext cx="558800" cy="558800"/>
          </a:xfrm>
          <a:prstGeom prst="ellipse">
            <a:avLst/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  <p:sp>
        <p:nvSpPr>
          <p:cNvPr id="1040" name="Google Shape;1040;p43"/>
          <p:cNvSpPr/>
          <p:nvPr/>
        </p:nvSpPr>
        <p:spPr>
          <a:xfrm>
            <a:off x="3248914" y="3692472"/>
            <a:ext cx="558800" cy="558800"/>
          </a:xfrm>
          <a:prstGeom prst="ellipse">
            <a:avLst/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/>
          </a:p>
        </p:txBody>
      </p:sp>
      <p:sp>
        <p:nvSpPr>
          <p:cNvPr id="1041" name="Google Shape;1041;p43"/>
          <p:cNvSpPr/>
          <p:nvPr/>
        </p:nvSpPr>
        <p:spPr>
          <a:xfrm>
            <a:off x="2315882" y="4501895"/>
            <a:ext cx="558800" cy="558800"/>
          </a:xfrm>
          <a:prstGeom prst="ellipse">
            <a:avLst/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endParaRPr/>
          </a:p>
        </p:txBody>
      </p:sp>
      <p:sp>
        <p:nvSpPr>
          <p:cNvPr id="1042" name="Google Shape;1042;p43"/>
          <p:cNvSpPr/>
          <p:nvPr/>
        </p:nvSpPr>
        <p:spPr>
          <a:xfrm>
            <a:off x="1485587" y="5554658"/>
            <a:ext cx="558800" cy="558800"/>
          </a:xfrm>
          <a:prstGeom prst="ellipse">
            <a:avLst/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  <p:sp>
        <p:nvSpPr>
          <p:cNvPr id="1043" name="Google Shape;1043;p43"/>
          <p:cNvSpPr/>
          <p:nvPr/>
        </p:nvSpPr>
        <p:spPr>
          <a:xfrm>
            <a:off x="2771948" y="5614163"/>
            <a:ext cx="558800" cy="558800"/>
          </a:xfrm>
          <a:prstGeom prst="ellipse">
            <a:avLst/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/>
          </a:p>
        </p:txBody>
      </p:sp>
      <p:sp>
        <p:nvSpPr>
          <p:cNvPr id="1044" name="Google Shape;1044;p43"/>
          <p:cNvSpPr/>
          <p:nvPr/>
        </p:nvSpPr>
        <p:spPr>
          <a:xfrm>
            <a:off x="4197746" y="4557225"/>
            <a:ext cx="558800" cy="558800"/>
          </a:xfrm>
          <a:prstGeom prst="ellipse">
            <a:avLst/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  <p:sp>
        <p:nvSpPr>
          <p:cNvPr id="1045" name="Google Shape;1045;p43"/>
          <p:cNvSpPr/>
          <p:nvPr/>
        </p:nvSpPr>
        <p:spPr>
          <a:xfrm>
            <a:off x="6164836" y="3692472"/>
            <a:ext cx="558800" cy="558800"/>
          </a:xfrm>
          <a:prstGeom prst="ellipse">
            <a:avLst/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/>
          </a:p>
        </p:txBody>
      </p:sp>
      <p:sp>
        <p:nvSpPr>
          <p:cNvPr id="1046" name="Google Shape;1046;p43"/>
          <p:cNvSpPr/>
          <p:nvPr/>
        </p:nvSpPr>
        <p:spPr>
          <a:xfrm>
            <a:off x="5410178" y="4584315"/>
            <a:ext cx="558800" cy="558800"/>
          </a:xfrm>
          <a:prstGeom prst="ellipse">
            <a:avLst/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15</a:t>
            </a:r>
            <a:endParaRPr/>
          </a:p>
        </p:txBody>
      </p:sp>
      <p:sp>
        <p:nvSpPr>
          <p:cNvPr id="1047" name="Google Shape;1047;p43"/>
          <p:cNvSpPr/>
          <p:nvPr/>
        </p:nvSpPr>
        <p:spPr>
          <a:xfrm>
            <a:off x="6942074" y="4584315"/>
            <a:ext cx="558800" cy="558800"/>
          </a:xfrm>
          <a:prstGeom prst="ellipse">
            <a:avLst/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  <p:cxnSp>
        <p:nvCxnSpPr>
          <p:cNvPr id="1048" name="Google Shape;1048;p43"/>
          <p:cNvCxnSpPr>
            <a:stCxn id="1039" idx="3"/>
            <a:endCxn id="1040" idx="7"/>
          </p:cNvCxnSpPr>
          <p:nvPr/>
        </p:nvCxnSpPr>
        <p:spPr>
          <a:xfrm flipH="1">
            <a:off x="3725748" y="3250342"/>
            <a:ext cx="1154400" cy="5241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1049" name="Google Shape;1049;p43"/>
          <p:cNvCxnSpPr>
            <a:stCxn id="1045" idx="1"/>
            <a:endCxn id="1039" idx="5"/>
          </p:cNvCxnSpPr>
          <p:nvPr/>
        </p:nvCxnSpPr>
        <p:spPr>
          <a:xfrm rot="10800000">
            <a:off x="5275270" y="3250206"/>
            <a:ext cx="971400" cy="5241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1050" name="Google Shape;1050;p43"/>
          <p:cNvCxnSpPr>
            <a:stCxn id="1047" idx="1"/>
            <a:endCxn id="1045" idx="5"/>
          </p:cNvCxnSpPr>
          <p:nvPr/>
        </p:nvCxnSpPr>
        <p:spPr>
          <a:xfrm rot="10800000">
            <a:off x="6641708" y="4169349"/>
            <a:ext cx="382200" cy="4968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1051" name="Google Shape;1051;p43"/>
          <p:cNvCxnSpPr>
            <a:stCxn id="1046" idx="7"/>
            <a:endCxn id="1045" idx="3"/>
          </p:cNvCxnSpPr>
          <p:nvPr/>
        </p:nvCxnSpPr>
        <p:spPr>
          <a:xfrm rot="10800000" flipH="1">
            <a:off x="5887144" y="4169349"/>
            <a:ext cx="359400" cy="4968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1052" name="Google Shape;1052;p43"/>
          <p:cNvCxnSpPr>
            <a:stCxn id="1040" idx="3"/>
            <a:endCxn id="1041" idx="7"/>
          </p:cNvCxnSpPr>
          <p:nvPr/>
        </p:nvCxnSpPr>
        <p:spPr>
          <a:xfrm flipH="1">
            <a:off x="2792848" y="4169438"/>
            <a:ext cx="537900" cy="4143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1053" name="Google Shape;1053;p43"/>
          <p:cNvCxnSpPr>
            <a:stCxn id="1040" idx="5"/>
            <a:endCxn id="1044" idx="1"/>
          </p:cNvCxnSpPr>
          <p:nvPr/>
        </p:nvCxnSpPr>
        <p:spPr>
          <a:xfrm>
            <a:off x="3725880" y="4169438"/>
            <a:ext cx="553800" cy="4695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1054" name="Google Shape;1054;p43"/>
          <p:cNvCxnSpPr>
            <a:stCxn id="1041" idx="3"/>
            <a:endCxn id="1042" idx="7"/>
          </p:cNvCxnSpPr>
          <p:nvPr/>
        </p:nvCxnSpPr>
        <p:spPr>
          <a:xfrm flipH="1">
            <a:off x="1962416" y="4978861"/>
            <a:ext cx="435300" cy="6576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1055" name="Google Shape;1055;p43"/>
          <p:cNvCxnSpPr>
            <a:stCxn id="1041" idx="5"/>
            <a:endCxn id="1043" idx="0"/>
          </p:cNvCxnSpPr>
          <p:nvPr/>
        </p:nvCxnSpPr>
        <p:spPr>
          <a:xfrm>
            <a:off x="2792848" y="4978861"/>
            <a:ext cx="258600" cy="6354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056" name="Google Shape;1056;p43"/>
          <p:cNvSpPr txBox="1"/>
          <p:nvPr/>
        </p:nvSpPr>
        <p:spPr>
          <a:xfrm>
            <a:off x="4496628" y="2782899"/>
            <a:ext cx="30168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1057" name="Google Shape;1057;p43"/>
          <p:cNvSpPr txBox="1"/>
          <p:nvPr/>
        </p:nvSpPr>
        <p:spPr>
          <a:xfrm>
            <a:off x="2947228" y="3564260"/>
            <a:ext cx="30168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  <p:sp>
        <p:nvSpPr>
          <p:cNvPr id="1058" name="Google Shape;1058;p43"/>
          <p:cNvSpPr txBox="1"/>
          <p:nvPr/>
        </p:nvSpPr>
        <p:spPr>
          <a:xfrm>
            <a:off x="6334310" y="3346829"/>
            <a:ext cx="30168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/>
          </a:p>
        </p:txBody>
      </p:sp>
      <p:sp>
        <p:nvSpPr>
          <p:cNvPr id="1059" name="Google Shape;1059;p43"/>
          <p:cNvSpPr txBox="1"/>
          <p:nvPr/>
        </p:nvSpPr>
        <p:spPr>
          <a:xfrm>
            <a:off x="2185233" y="4251272"/>
            <a:ext cx="30168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/>
          </a:p>
        </p:txBody>
      </p:sp>
      <p:sp>
        <p:nvSpPr>
          <p:cNvPr id="1060" name="Google Shape;1060;p43"/>
          <p:cNvSpPr txBox="1"/>
          <p:nvPr/>
        </p:nvSpPr>
        <p:spPr>
          <a:xfrm>
            <a:off x="1321061" y="5227696"/>
            <a:ext cx="30168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/>
          </a:p>
        </p:txBody>
      </p:sp>
      <p:sp>
        <p:nvSpPr>
          <p:cNvPr id="1061" name="Google Shape;1061;p43"/>
          <p:cNvSpPr txBox="1"/>
          <p:nvPr/>
        </p:nvSpPr>
        <p:spPr>
          <a:xfrm>
            <a:off x="2590809" y="5225158"/>
            <a:ext cx="30168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endParaRPr/>
          </a:p>
        </p:txBody>
      </p:sp>
      <p:sp>
        <p:nvSpPr>
          <p:cNvPr id="1062" name="Google Shape;1062;p43"/>
          <p:cNvSpPr txBox="1"/>
          <p:nvPr/>
        </p:nvSpPr>
        <p:spPr>
          <a:xfrm>
            <a:off x="4416033" y="4266792"/>
            <a:ext cx="30168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/>
          </a:p>
        </p:txBody>
      </p:sp>
      <p:sp>
        <p:nvSpPr>
          <p:cNvPr id="1063" name="Google Shape;1063;p43"/>
          <p:cNvSpPr txBox="1"/>
          <p:nvPr/>
        </p:nvSpPr>
        <p:spPr>
          <a:xfrm>
            <a:off x="5499910" y="4277126"/>
            <a:ext cx="30168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/>
          </a:p>
        </p:txBody>
      </p:sp>
      <p:sp>
        <p:nvSpPr>
          <p:cNvPr id="1064" name="Google Shape;1064;p43"/>
          <p:cNvSpPr txBox="1"/>
          <p:nvPr/>
        </p:nvSpPr>
        <p:spPr>
          <a:xfrm>
            <a:off x="7104893" y="4287033"/>
            <a:ext cx="30168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/>
          </a:p>
        </p:txBody>
      </p:sp>
      <p:sp>
        <p:nvSpPr>
          <p:cNvPr id="1065" name="Google Shape;1065;p43"/>
          <p:cNvSpPr/>
          <p:nvPr/>
        </p:nvSpPr>
        <p:spPr>
          <a:xfrm>
            <a:off x="2451307" y="2711974"/>
            <a:ext cx="1990097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MaxHeapify(A,1)</a:t>
            </a:r>
            <a:endParaRPr/>
          </a:p>
        </p:txBody>
      </p:sp>
      <p:sp>
        <p:nvSpPr>
          <p:cNvPr id="1066" name="Google Shape;1066;p43"/>
          <p:cNvSpPr/>
          <p:nvPr/>
        </p:nvSpPr>
        <p:spPr>
          <a:xfrm>
            <a:off x="5112014" y="3773484"/>
            <a:ext cx="808425" cy="375459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accent2"/>
          </a:solidFill>
          <a:ln w="12700" cap="flat" cmpd="sng">
            <a:solidFill>
              <a:srgbClr val="AC5B23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Largest</a:t>
            </a:r>
            <a:endParaRPr/>
          </a:p>
        </p:txBody>
      </p:sp>
      <p:cxnSp>
        <p:nvCxnSpPr>
          <p:cNvPr id="1067" name="Google Shape;1067;p43"/>
          <p:cNvCxnSpPr>
            <a:stCxn id="1039" idx="7"/>
            <a:endCxn id="1045" idx="7"/>
          </p:cNvCxnSpPr>
          <p:nvPr/>
        </p:nvCxnSpPr>
        <p:spPr>
          <a:xfrm rot="-5400000" flipH="1">
            <a:off x="5498930" y="2631560"/>
            <a:ext cx="919200" cy="1366500"/>
          </a:xfrm>
          <a:prstGeom prst="curvedConnector3">
            <a:avLst>
              <a:gd name="adj1" fmla="val 4172"/>
            </a:avLst>
          </a:prstGeom>
          <a:noFill/>
          <a:ln w="9525" cap="flat" cmpd="sng">
            <a:solidFill>
              <a:srgbClr val="FF0000"/>
            </a:solidFill>
            <a:prstDash val="solid"/>
            <a:miter lim="800000"/>
            <a:headEnd type="triangle" w="med" len="med"/>
            <a:tailEnd type="triangle" w="med" len="med"/>
          </a:ln>
        </p:spPr>
      </p:cxn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2" name="Google Shape;1072;p44"/>
          <p:cNvSpPr txBox="1">
            <a:spLocks noGrp="1"/>
          </p:cNvSpPr>
          <p:nvPr>
            <p:ph type="body" idx="1"/>
          </p:nvPr>
        </p:nvSpPr>
        <p:spPr>
          <a:xfrm>
            <a:off x="838200" y="1227909"/>
            <a:ext cx="10515600" cy="49490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2100"/>
              <a:buFont typeface="Arial"/>
              <a:buChar char="●"/>
            </a:pPr>
            <a:r>
              <a:rPr lang="en-US"/>
              <a:t>It is TRYING to make the array into a max heap</a:t>
            </a:r>
            <a:endParaRPr/>
          </a:p>
          <a:p>
            <a:pPr marL="342900" marR="0" lvl="0" indent="-3429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0033CC"/>
              </a:buClr>
              <a:buSzPts val="2100"/>
              <a:buFont typeface="Arial"/>
              <a:buChar char="●"/>
            </a:pPr>
            <a:r>
              <a:rPr lang="en-US"/>
              <a:t>But it may not fully succeed</a:t>
            </a:r>
            <a:endParaRPr/>
          </a:p>
          <a:p>
            <a:pPr marL="342900" marR="0" lvl="0" indent="-3429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0033CC"/>
              </a:buClr>
              <a:buSzPts val="2100"/>
              <a:buFont typeface="Arial"/>
              <a:buChar char="●"/>
            </a:pPr>
            <a:r>
              <a:rPr lang="en-US"/>
              <a:t>Let us consider the following example</a:t>
            </a:r>
            <a:endParaRPr/>
          </a:p>
          <a:p>
            <a:pPr marL="342900" marR="0" lvl="0" indent="-20955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0033CC"/>
              </a:buClr>
              <a:buSzPts val="2100"/>
              <a:buFont typeface="Arial"/>
              <a:buNone/>
            </a:pPr>
            <a:endParaRPr/>
          </a:p>
          <a:p>
            <a:pPr marL="342900" marR="0" lvl="0" indent="-20955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0033CC"/>
              </a:buClr>
              <a:buSzPts val="2100"/>
              <a:buFont typeface="Arial"/>
              <a:buNone/>
            </a:pPr>
            <a:endParaRPr/>
          </a:p>
        </p:txBody>
      </p:sp>
      <p:sp>
        <p:nvSpPr>
          <p:cNvPr id="1073" name="Google Shape;1073;p44"/>
          <p:cNvSpPr txBox="1">
            <a:spLocks noGrp="1"/>
          </p:cNvSpPr>
          <p:nvPr>
            <p:ph type="dt" idx="10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83D56D82-B854-4711-9A27-13E279B1AB72}" type="datetime1">
              <a:rPr lang="en-US" smtClean="0"/>
              <a:t>1/12/2026</a:t>
            </a:fld>
            <a:endParaRPr/>
          </a:p>
        </p:txBody>
      </p:sp>
      <p:sp>
        <p:nvSpPr>
          <p:cNvPr id="1074" name="Google Shape;1074;p44"/>
          <p:cNvSpPr txBox="1">
            <a:spLocks noGrp="1"/>
          </p:cNvSpPr>
          <p:nvPr>
            <p:ph type="ftr" idx="11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Lec Asif Abrar, Dept of CSE, UIU</a:t>
            </a:r>
            <a:endParaRPr/>
          </a:p>
        </p:txBody>
      </p:sp>
      <p:sp>
        <p:nvSpPr>
          <p:cNvPr id="1075" name="Google Shape;1075;p44"/>
          <p:cNvSpPr txBox="1">
            <a:spLocks noGrp="1"/>
          </p:cNvSpPr>
          <p:nvPr>
            <p:ph type="sldNum" idx="12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30</a:t>
            </a:fld>
            <a:endParaRPr/>
          </a:p>
        </p:txBody>
      </p:sp>
      <p:sp>
        <p:nvSpPr>
          <p:cNvPr id="1076" name="Google Shape;1076;p44"/>
          <p:cNvSpPr txBox="1">
            <a:spLocks noGrp="1"/>
          </p:cNvSpPr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/>
              <a:t>Max Heapify</a:t>
            </a:r>
            <a:endParaRPr/>
          </a:p>
        </p:txBody>
      </p:sp>
      <p:graphicFrame>
        <p:nvGraphicFramePr>
          <p:cNvPr id="1077" name="Google Shape;1077;p44"/>
          <p:cNvGraphicFramePr/>
          <p:nvPr/>
        </p:nvGraphicFramePr>
        <p:xfrm>
          <a:off x="7500874" y="2031696"/>
          <a:ext cx="4249800" cy="741700"/>
        </p:xfrm>
        <a:graphic>
          <a:graphicData uri="http://schemas.openxmlformats.org/drawingml/2006/table">
            <a:tbl>
              <a:tblPr firstRow="1" bandRow="1">
                <a:noFill/>
                <a:tableStyleId>{66088737-8E24-4614-AAA7-3D08145F63E1}</a:tableStyleId>
              </a:tblPr>
              <a:tblGrid>
                <a:gridCol w="472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2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72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72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722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722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722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722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4722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1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2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3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4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5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6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7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8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9</a:t>
                      </a:r>
                      <a:endParaRPr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u="none" strike="noStrike" cap="none">
                          <a:solidFill>
                            <a:schemeClr val="dk1"/>
                          </a:solidFill>
                        </a:rPr>
                        <a:t>8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u="none" strike="noStrike" cap="none">
                          <a:solidFill>
                            <a:schemeClr val="dk1"/>
                          </a:solidFill>
                        </a:rPr>
                        <a:t>7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u="none" strike="noStrike" cap="none">
                          <a:solidFill>
                            <a:schemeClr val="dk1"/>
                          </a:solidFill>
                        </a:rPr>
                        <a:t>2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u="none" strike="noStrike" cap="none">
                          <a:solidFill>
                            <a:schemeClr val="dk1"/>
                          </a:solidFill>
                        </a:rPr>
                        <a:t>9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u="none" strike="noStrike" cap="none">
                          <a:solidFill>
                            <a:schemeClr val="dk1"/>
                          </a:solidFill>
                        </a:rPr>
                        <a:t>2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u="none" strike="noStrike" cap="none">
                          <a:solidFill>
                            <a:schemeClr val="dk1"/>
                          </a:solidFill>
                        </a:rPr>
                        <a:t>15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u="none" strike="noStrike" cap="none">
                          <a:solidFill>
                            <a:schemeClr val="dk1"/>
                          </a:solidFill>
                        </a:rPr>
                        <a:t>2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u="none" strike="noStrike" cap="none">
                          <a:solidFill>
                            <a:schemeClr val="dk1"/>
                          </a:solidFill>
                        </a:rPr>
                        <a:t>2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u="none" strike="noStrike" cap="none">
                          <a:solidFill>
                            <a:schemeClr val="dk1"/>
                          </a:solidFill>
                        </a:rPr>
                        <a:t>10</a:t>
                      </a:r>
                      <a:endParaRPr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078" name="Google Shape;1078;p44"/>
          <p:cNvSpPr/>
          <p:nvPr/>
        </p:nvSpPr>
        <p:spPr>
          <a:xfrm>
            <a:off x="4798314" y="2773376"/>
            <a:ext cx="558800" cy="558800"/>
          </a:xfrm>
          <a:prstGeom prst="ellipse">
            <a:avLst/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/>
          </a:p>
        </p:txBody>
      </p:sp>
      <p:sp>
        <p:nvSpPr>
          <p:cNvPr id="1079" name="Google Shape;1079;p44"/>
          <p:cNvSpPr/>
          <p:nvPr/>
        </p:nvSpPr>
        <p:spPr>
          <a:xfrm>
            <a:off x="3248914" y="3692472"/>
            <a:ext cx="558800" cy="558800"/>
          </a:xfrm>
          <a:prstGeom prst="ellipse">
            <a:avLst/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/>
          </a:p>
        </p:txBody>
      </p:sp>
      <p:sp>
        <p:nvSpPr>
          <p:cNvPr id="1080" name="Google Shape;1080;p44"/>
          <p:cNvSpPr/>
          <p:nvPr/>
        </p:nvSpPr>
        <p:spPr>
          <a:xfrm>
            <a:off x="2315882" y="4501895"/>
            <a:ext cx="558800" cy="558800"/>
          </a:xfrm>
          <a:prstGeom prst="ellipse">
            <a:avLst/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endParaRPr/>
          </a:p>
        </p:txBody>
      </p:sp>
      <p:sp>
        <p:nvSpPr>
          <p:cNvPr id="1081" name="Google Shape;1081;p44"/>
          <p:cNvSpPr/>
          <p:nvPr/>
        </p:nvSpPr>
        <p:spPr>
          <a:xfrm>
            <a:off x="1485587" y="5554658"/>
            <a:ext cx="558800" cy="558800"/>
          </a:xfrm>
          <a:prstGeom prst="ellipse">
            <a:avLst/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  <p:sp>
        <p:nvSpPr>
          <p:cNvPr id="1082" name="Google Shape;1082;p44"/>
          <p:cNvSpPr/>
          <p:nvPr/>
        </p:nvSpPr>
        <p:spPr>
          <a:xfrm>
            <a:off x="2771948" y="5614163"/>
            <a:ext cx="558800" cy="558800"/>
          </a:xfrm>
          <a:prstGeom prst="ellipse">
            <a:avLst/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/>
          </a:p>
        </p:txBody>
      </p:sp>
      <p:sp>
        <p:nvSpPr>
          <p:cNvPr id="1083" name="Google Shape;1083;p44"/>
          <p:cNvSpPr/>
          <p:nvPr/>
        </p:nvSpPr>
        <p:spPr>
          <a:xfrm>
            <a:off x="4197746" y="4557225"/>
            <a:ext cx="558800" cy="558800"/>
          </a:xfrm>
          <a:prstGeom prst="ellipse">
            <a:avLst/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  <p:sp>
        <p:nvSpPr>
          <p:cNvPr id="1084" name="Google Shape;1084;p44"/>
          <p:cNvSpPr/>
          <p:nvPr/>
        </p:nvSpPr>
        <p:spPr>
          <a:xfrm>
            <a:off x="6164836" y="3692472"/>
            <a:ext cx="558800" cy="558800"/>
          </a:xfrm>
          <a:prstGeom prst="ellipse">
            <a:avLst/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  <p:sp>
        <p:nvSpPr>
          <p:cNvPr id="1085" name="Google Shape;1085;p44"/>
          <p:cNvSpPr/>
          <p:nvPr/>
        </p:nvSpPr>
        <p:spPr>
          <a:xfrm>
            <a:off x="5410178" y="4584315"/>
            <a:ext cx="558800" cy="558800"/>
          </a:xfrm>
          <a:prstGeom prst="ellipse">
            <a:avLst/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15</a:t>
            </a:r>
            <a:endParaRPr/>
          </a:p>
        </p:txBody>
      </p:sp>
      <p:sp>
        <p:nvSpPr>
          <p:cNvPr id="1086" name="Google Shape;1086;p44"/>
          <p:cNvSpPr/>
          <p:nvPr/>
        </p:nvSpPr>
        <p:spPr>
          <a:xfrm>
            <a:off x="6942074" y="4584315"/>
            <a:ext cx="558800" cy="558800"/>
          </a:xfrm>
          <a:prstGeom prst="ellipse">
            <a:avLst/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  <p:cxnSp>
        <p:nvCxnSpPr>
          <p:cNvPr id="1087" name="Google Shape;1087;p44"/>
          <p:cNvCxnSpPr>
            <a:stCxn id="1078" idx="3"/>
            <a:endCxn id="1079" idx="7"/>
          </p:cNvCxnSpPr>
          <p:nvPr/>
        </p:nvCxnSpPr>
        <p:spPr>
          <a:xfrm flipH="1">
            <a:off x="3725748" y="3250342"/>
            <a:ext cx="1154400" cy="5241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1088" name="Google Shape;1088;p44"/>
          <p:cNvCxnSpPr>
            <a:stCxn id="1084" idx="1"/>
            <a:endCxn id="1078" idx="5"/>
          </p:cNvCxnSpPr>
          <p:nvPr/>
        </p:nvCxnSpPr>
        <p:spPr>
          <a:xfrm rot="10800000">
            <a:off x="5275270" y="3250206"/>
            <a:ext cx="971400" cy="5241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1089" name="Google Shape;1089;p44"/>
          <p:cNvCxnSpPr>
            <a:stCxn id="1086" idx="1"/>
            <a:endCxn id="1084" idx="5"/>
          </p:cNvCxnSpPr>
          <p:nvPr/>
        </p:nvCxnSpPr>
        <p:spPr>
          <a:xfrm rot="10800000">
            <a:off x="6641708" y="4169349"/>
            <a:ext cx="382200" cy="4968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1090" name="Google Shape;1090;p44"/>
          <p:cNvCxnSpPr>
            <a:stCxn id="1085" idx="7"/>
            <a:endCxn id="1084" idx="3"/>
          </p:cNvCxnSpPr>
          <p:nvPr/>
        </p:nvCxnSpPr>
        <p:spPr>
          <a:xfrm rot="10800000" flipH="1">
            <a:off x="5887144" y="4169349"/>
            <a:ext cx="359400" cy="4968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1091" name="Google Shape;1091;p44"/>
          <p:cNvCxnSpPr>
            <a:stCxn id="1079" idx="3"/>
            <a:endCxn id="1080" idx="7"/>
          </p:cNvCxnSpPr>
          <p:nvPr/>
        </p:nvCxnSpPr>
        <p:spPr>
          <a:xfrm flipH="1">
            <a:off x="2792848" y="4169438"/>
            <a:ext cx="537900" cy="4143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1092" name="Google Shape;1092;p44"/>
          <p:cNvCxnSpPr>
            <a:stCxn id="1079" idx="5"/>
            <a:endCxn id="1083" idx="1"/>
          </p:cNvCxnSpPr>
          <p:nvPr/>
        </p:nvCxnSpPr>
        <p:spPr>
          <a:xfrm>
            <a:off x="3725880" y="4169438"/>
            <a:ext cx="553800" cy="4695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1093" name="Google Shape;1093;p44"/>
          <p:cNvCxnSpPr>
            <a:stCxn id="1080" idx="3"/>
            <a:endCxn id="1081" idx="7"/>
          </p:cNvCxnSpPr>
          <p:nvPr/>
        </p:nvCxnSpPr>
        <p:spPr>
          <a:xfrm flipH="1">
            <a:off x="1962416" y="4978861"/>
            <a:ext cx="435300" cy="6576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1094" name="Google Shape;1094;p44"/>
          <p:cNvCxnSpPr>
            <a:stCxn id="1080" idx="5"/>
            <a:endCxn id="1082" idx="0"/>
          </p:cNvCxnSpPr>
          <p:nvPr/>
        </p:nvCxnSpPr>
        <p:spPr>
          <a:xfrm>
            <a:off x="2792848" y="4978861"/>
            <a:ext cx="258600" cy="6354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095" name="Google Shape;1095;p44"/>
          <p:cNvSpPr txBox="1"/>
          <p:nvPr/>
        </p:nvSpPr>
        <p:spPr>
          <a:xfrm>
            <a:off x="4496628" y="2782899"/>
            <a:ext cx="30168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1096" name="Google Shape;1096;p44"/>
          <p:cNvSpPr txBox="1"/>
          <p:nvPr/>
        </p:nvSpPr>
        <p:spPr>
          <a:xfrm>
            <a:off x="2947228" y="3564260"/>
            <a:ext cx="30168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  <p:sp>
        <p:nvSpPr>
          <p:cNvPr id="1097" name="Google Shape;1097;p44"/>
          <p:cNvSpPr txBox="1"/>
          <p:nvPr/>
        </p:nvSpPr>
        <p:spPr>
          <a:xfrm>
            <a:off x="6334310" y="3346829"/>
            <a:ext cx="30168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/>
          </a:p>
        </p:txBody>
      </p:sp>
      <p:sp>
        <p:nvSpPr>
          <p:cNvPr id="1098" name="Google Shape;1098;p44"/>
          <p:cNvSpPr txBox="1"/>
          <p:nvPr/>
        </p:nvSpPr>
        <p:spPr>
          <a:xfrm>
            <a:off x="2185233" y="4251272"/>
            <a:ext cx="30168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/>
          </a:p>
        </p:txBody>
      </p:sp>
      <p:sp>
        <p:nvSpPr>
          <p:cNvPr id="1099" name="Google Shape;1099;p44"/>
          <p:cNvSpPr txBox="1"/>
          <p:nvPr/>
        </p:nvSpPr>
        <p:spPr>
          <a:xfrm>
            <a:off x="1321061" y="5227696"/>
            <a:ext cx="30168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/>
          </a:p>
        </p:txBody>
      </p:sp>
      <p:sp>
        <p:nvSpPr>
          <p:cNvPr id="1100" name="Google Shape;1100;p44"/>
          <p:cNvSpPr txBox="1"/>
          <p:nvPr/>
        </p:nvSpPr>
        <p:spPr>
          <a:xfrm>
            <a:off x="2590809" y="5225158"/>
            <a:ext cx="30168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endParaRPr/>
          </a:p>
        </p:txBody>
      </p:sp>
      <p:sp>
        <p:nvSpPr>
          <p:cNvPr id="1101" name="Google Shape;1101;p44"/>
          <p:cNvSpPr txBox="1"/>
          <p:nvPr/>
        </p:nvSpPr>
        <p:spPr>
          <a:xfrm>
            <a:off x="4416033" y="4266792"/>
            <a:ext cx="30168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/>
          </a:p>
        </p:txBody>
      </p:sp>
      <p:sp>
        <p:nvSpPr>
          <p:cNvPr id="1102" name="Google Shape;1102;p44"/>
          <p:cNvSpPr txBox="1"/>
          <p:nvPr/>
        </p:nvSpPr>
        <p:spPr>
          <a:xfrm>
            <a:off x="5499910" y="4277126"/>
            <a:ext cx="30168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/>
          </a:p>
        </p:txBody>
      </p:sp>
      <p:sp>
        <p:nvSpPr>
          <p:cNvPr id="1103" name="Google Shape;1103;p44"/>
          <p:cNvSpPr txBox="1"/>
          <p:nvPr/>
        </p:nvSpPr>
        <p:spPr>
          <a:xfrm>
            <a:off x="7104893" y="4287033"/>
            <a:ext cx="30168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/>
          </a:p>
        </p:txBody>
      </p:sp>
      <p:sp>
        <p:nvSpPr>
          <p:cNvPr id="1104" name="Google Shape;1104;p44"/>
          <p:cNvSpPr/>
          <p:nvPr/>
        </p:nvSpPr>
        <p:spPr>
          <a:xfrm>
            <a:off x="2451307" y="2711974"/>
            <a:ext cx="1990097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MaxHeapify(A,1)</a:t>
            </a:r>
            <a:endParaRPr/>
          </a:p>
        </p:txBody>
      </p:sp>
      <p:sp>
        <p:nvSpPr>
          <p:cNvPr id="1105" name="Google Shape;1105;p44"/>
          <p:cNvSpPr/>
          <p:nvPr/>
        </p:nvSpPr>
        <p:spPr>
          <a:xfrm>
            <a:off x="5112014" y="3773484"/>
            <a:ext cx="808425" cy="375459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accent2"/>
          </a:solidFill>
          <a:ln w="12700" cap="flat" cmpd="sng">
            <a:solidFill>
              <a:srgbClr val="AC5B23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Largest</a:t>
            </a:r>
            <a:endParaRPr/>
          </a:p>
        </p:txBody>
      </p:sp>
      <p:cxnSp>
        <p:nvCxnSpPr>
          <p:cNvPr id="1106" name="Google Shape;1106;p44"/>
          <p:cNvCxnSpPr>
            <a:stCxn id="1078" idx="7"/>
            <a:endCxn id="1084" idx="7"/>
          </p:cNvCxnSpPr>
          <p:nvPr/>
        </p:nvCxnSpPr>
        <p:spPr>
          <a:xfrm rot="-5400000" flipH="1">
            <a:off x="5498930" y="2631560"/>
            <a:ext cx="919200" cy="1366500"/>
          </a:xfrm>
          <a:prstGeom prst="curvedConnector3">
            <a:avLst>
              <a:gd name="adj1" fmla="val 4172"/>
            </a:avLst>
          </a:prstGeom>
          <a:noFill/>
          <a:ln w="9525" cap="flat" cmpd="sng">
            <a:solidFill>
              <a:srgbClr val="FF0000"/>
            </a:solidFill>
            <a:prstDash val="solid"/>
            <a:miter lim="800000"/>
            <a:headEnd type="triangle" w="med" len="med"/>
            <a:tailEnd type="triangle" w="med" len="med"/>
          </a:ln>
        </p:spPr>
      </p:cxn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1" name="Google Shape;1111;p45"/>
          <p:cNvSpPr txBox="1">
            <a:spLocks noGrp="1"/>
          </p:cNvSpPr>
          <p:nvPr>
            <p:ph type="body" idx="1"/>
          </p:nvPr>
        </p:nvSpPr>
        <p:spPr>
          <a:xfrm>
            <a:off x="838200" y="1227909"/>
            <a:ext cx="10515600" cy="49490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2100"/>
              <a:buFont typeface="Arial"/>
              <a:buChar char="●"/>
            </a:pPr>
            <a:r>
              <a:rPr lang="en-US"/>
              <a:t>It is TRYING to make the array into a max heap</a:t>
            </a:r>
            <a:endParaRPr/>
          </a:p>
          <a:p>
            <a:pPr marL="342900" marR="0" lvl="0" indent="-3429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0033CC"/>
              </a:buClr>
              <a:buSzPts val="2100"/>
              <a:buFont typeface="Arial"/>
              <a:buChar char="●"/>
            </a:pPr>
            <a:r>
              <a:rPr lang="en-US"/>
              <a:t>But it may not fully succeed</a:t>
            </a:r>
            <a:endParaRPr/>
          </a:p>
          <a:p>
            <a:pPr marL="342900" marR="0" lvl="0" indent="-3429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0033CC"/>
              </a:buClr>
              <a:buSzPts val="2100"/>
              <a:buFont typeface="Arial"/>
              <a:buChar char="●"/>
            </a:pPr>
            <a:r>
              <a:rPr lang="en-US"/>
              <a:t>Let us consider the following example</a:t>
            </a:r>
            <a:endParaRPr/>
          </a:p>
          <a:p>
            <a:pPr marL="342900" marR="0" lvl="0" indent="-20955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0033CC"/>
              </a:buClr>
              <a:buSzPts val="2100"/>
              <a:buFont typeface="Arial"/>
              <a:buNone/>
            </a:pPr>
            <a:endParaRPr/>
          </a:p>
          <a:p>
            <a:pPr marL="342900" marR="0" lvl="0" indent="-20955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0033CC"/>
              </a:buClr>
              <a:buSzPts val="2100"/>
              <a:buFont typeface="Arial"/>
              <a:buNone/>
            </a:pPr>
            <a:endParaRPr/>
          </a:p>
        </p:txBody>
      </p:sp>
      <p:sp>
        <p:nvSpPr>
          <p:cNvPr id="1112" name="Google Shape;1112;p45"/>
          <p:cNvSpPr txBox="1">
            <a:spLocks noGrp="1"/>
          </p:cNvSpPr>
          <p:nvPr>
            <p:ph type="dt" idx="10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E8C74E78-7AB0-48D5-A801-A9C7D0AA6AB4}" type="datetime1">
              <a:rPr lang="en-US" smtClean="0"/>
              <a:t>1/12/2026</a:t>
            </a:fld>
            <a:endParaRPr/>
          </a:p>
        </p:txBody>
      </p:sp>
      <p:sp>
        <p:nvSpPr>
          <p:cNvPr id="1113" name="Google Shape;1113;p45"/>
          <p:cNvSpPr txBox="1">
            <a:spLocks noGrp="1"/>
          </p:cNvSpPr>
          <p:nvPr>
            <p:ph type="ftr" idx="11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Lec Asif Abrar, Dept of CSE, UIU</a:t>
            </a:r>
            <a:endParaRPr/>
          </a:p>
        </p:txBody>
      </p:sp>
      <p:sp>
        <p:nvSpPr>
          <p:cNvPr id="1114" name="Google Shape;1114;p45"/>
          <p:cNvSpPr txBox="1">
            <a:spLocks noGrp="1"/>
          </p:cNvSpPr>
          <p:nvPr>
            <p:ph type="sldNum" idx="12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31</a:t>
            </a:fld>
            <a:endParaRPr/>
          </a:p>
        </p:txBody>
      </p:sp>
      <p:sp>
        <p:nvSpPr>
          <p:cNvPr id="1115" name="Google Shape;1115;p45"/>
          <p:cNvSpPr txBox="1">
            <a:spLocks noGrp="1"/>
          </p:cNvSpPr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/>
              <a:t>Max Heapify</a:t>
            </a:r>
            <a:endParaRPr/>
          </a:p>
        </p:txBody>
      </p:sp>
      <p:sp>
        <p:nvSpPr>
          <p:cNvPr id="1116" name="Google Shape;1116;p45"/>
          <p:cNvSpPr/>
          <p:nvPr/>
        </p:nvSpPr>
        <p:spPr>
          <a:xfrm>
            <a:off x="4798314" y="2773376"/>
            <a:ext cx="558800" cy="558800"/>
          </a:xfrm>
          <a:prstGeom prst="ellipse">
            <a:avLst/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/>
          </a:p>
        </p:txBody>
      </p:sp>
      <p:sp>
        <p:nvSpPr>
          <p:cNvPr id="1117" name="Google Shape;1117;p45"/>
          <p:cNvSpPr/>
          <p:nvPr/>
        </p:nvSpPr>
        <p:spPr>
          <a:xfrm>
            <a:off x="3248914" y="3692472"/>
            <a:ext cx="558800" cy="558800"/>
          </a:xfrm>
          <a:prstGeom prst="ellipse">
            <a:avLst/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/>
          </a:p>
        </p:txBody>
      </p:sp>
      <p:sp>
        <p:nvSpPr>
          <p:cNvPr id="1118" name="Google Shape;1118;p45"/>
          <p:cNvSpPr/>
          <p:nvPr/>
        </p:nvSpPr>
        <p:spPr>
          <a:xfrm>
            <a:off x="2315882" y="4501895"/>
            <a:ext cx="558800" cy="558800"/>
          </a:xfrm>
          <a:prstGeom prst="ellipse">
            <a:avLst/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endParaRPr/>
          </a:p>
        </p:txBody>
      </p:sp>
      <p:sp>
        <p:nvSpPr>
          <p:cNvPr id="1119" name="Google Shape;1119;p45"/>
          <p:cNvSpPr/>
          <p:nvPr/>
        </p:nvSpPr>
        <p:spPr>
          <a:xfrm>
            <a:off x="1485587" y="5554658"/>
            <a:ext cx="558800" cy="558800"/>
          </a:xfrm>
          <a:prstGeom prst="ellipse">
            <a:avLst/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  <p:sp>
        <p:nvSpPr>
          <p:cNvPr id="1120" name="Google Shape;1120;p45"/>
          <p:cNvSpPr/>
          <p:nvPr/>
        </p:nvSpPr>
        <p:spPr>
          <a:xfrm>
            <a:off x="2771948" y="5614163"/>
            <a:ext cx="558800" cy="558800"/>
          </a:xfrm>
          <a:prstGeom prst="ellipse">
            <a:avLst/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/>
          </a:p>
        </p:txBody>
      </p:sp>
      <p:sp>
        <p:nvSpPr>
          <p:cNvPr id="1121" name="Google Shape;1121;p45"/>
          <p:cNvSpPr/>
          <p:nvPr/>
        </p:nvSpPr>
        <p:spPr>
          <a:xfrm>
            <a:off x="4197746" y="4557225"/>
            <a:ext cx="558800" cy="558800"/>
          </a:xfrm>
          <a:prstGeom prst="ellipse">
            <a:avLst/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  <p:sp>
        <p:nvSpPr>
          <p:cNvPr id="1122" name="Google Shape;1122;p45"/>
          <p:cNvSpPr/>
          <p:nvPr/>
        </p:nvSpPr>
        <p:spPr>
          <a:xfrm>
            <a:off x="6164836" y="3692472"/>
            <a:ext cx="558800" cy="558800"/>
          </a:xfrm>
          <a:prstGeom prst="ellipse">
            <a:avLst/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  <p:sp>
        <p:nvSpPr>
          <p:cNvPr id="1123" name="Google Shape;1123;p45"/>
          <p:cNvSpPr/>
          <p:nvPr/>
        </p:nvSpPr>
        <p:spPr>
          <a:xfrm>
            <a:off x="5410178" y="4584315"/>
            <a:ext cx="558800" cy="558800"/>
          </a:xfrm>
          <a:prstGeom prst="ellipse">
            <a:avLst/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15</a:t>
            </a:r>
            <a:endParaRPr/>
          </a:p>
        </p:txBody>
      </p:sp>
      <p:sp>
        <p:nvSpPr>
          <p:cNvPr id="1124" name="Google Shape;1124;p45"/>
          <p:cNvSpPr/>
          <p:nvPr/>
        </p:nvSpPr>
        <p:spPr>
          <a:xfrm>
            <a:off x="6942074" y="4584315"/>
            <a:ext cx="558800" cy="558800"/>
          </a:xfrm>
          <a:prstGeom prst="ellipse">
            <a:avLst/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  <p:cxnSp>
        <p:nvCxnSpPr>
          <p:cNvPr id="1125" name="Google Shape;1125;p45"/>
          <p:cNvCxnSpPr>
            <a:stCxn id="1116" idx="3"/>
            <a:endCxn id="1117" idx="7"/>
          </p:cNvCxnSpPr>
          <p:nvPr/>
        </p:nvCxnSpPr>
        <p:spPr>
          <a:xfrm flipH="1">
            <a:off x="3725748" y="3250342"/>
            <a:ext cx="1154400" cy="5241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1126" name="Google Shape;1126;p45"/>
          <p:cNvCxnSpPr>
            <a:stCxn id="1122" idx="1"/>
            <a:endCxn id="1116" idx="5"/>
          </p:cNvCxnSpPr>
          <p:nvPr/>
        </p:nvCxnSpPr>
        <p:spPr>
          <a:xfrm rot="10800000">
            <a:off x="5275270" y="3250206"/>
            <a:ext cx="971400" cy="5241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1127" name="Google Shape;1127;p45"/>
          <p:cNvCxnSpPr>
            <a:stCxn id="1124" idx="1"/>
            <a:endCxn id="1122" idx="5"/>
          </p:cNvCxnSpPr>
          <p:nvPr/>
        </p:nvCxnSpPr>
        <p:spPr>
          <a:xfrm rot="10800000">
            <a:off x="6641708" y="4169349"/>
            <a:ext cx="382200" cy="4968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1128" name="Google Shape;1128;p45"/>
          <p:cNvCxnSpPr>
            <a:stCxn id="1123" idx="7"/>
            <a:endCxn id="1122" idx="3"/>
          </p:cNvCxnSpPr>
          <p:nvPr/>
        </p:nvCxnSpPr>
        <p:spPr>
          <a:xfrm rot="10800000" flipH="1">
            <a:off x="5887144" y="4169349"/>
            <a:ext cx="359400" cy="4968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1129" name="Google Shape;1129;p45"/>
          <p:cNvCxnSpPr>
            <a:stCxn id="1117" idx="3"/>
            <a:endCxn id="1118" idx="7"/>
          </p:cNvCxnSpPr>
          <p:nvPr/>
        </p:nvCxnSpPr>
        <p:spPr>
          <a:xfrm flipH="1">
            <a:off x="2792848" y="4169438"/>
            <a:ext cx="537900" cy="4143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1130" name="Google Shape;1130;p45"/>
          <p:cNvCxnSpPr>
            <a:stCxn id="1117" idx="5"/>
            <a:endCxn id="1121" idx="1"/>
          </p:cNvCxnSpPr>
          <p:nvPr/>
        </p:nvCxnSpPr>
        <p:spPr>
          <a:xfrm>
            <a:off x="3725880" y="4169438"/>
            <a:ext cx="553800" cy="4695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1131" name="Google Shape;1131;p45"/>
          <p:cNvCxnSpPr>
            <a:stCxn id="1118" idx="3"/>
            <a:endCxn id="1119" idx="7"/>
          </p:cNvCxnSpPr>
          <p:nvPr/>
        </p:nvCxnSpPr>
        <p:spPr>
          <a:xfrm flipH="1">
            <a:off x="1962416" y="4978861"/>
            <a:ext cx="435300" cy="6576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1132" name="Google Shape;1132;p45"/>
          <p:cNvCxnSpPr>
            <a:stCxn id="1118" idx="5"/>
            <a:endCxn id="1120" idx="0"/>
          </p:cNvCxnSpPr>
          <p:nvPr/>
        </p:nvCxnSpPr>
        <p:spPr>
          <a:xfrm>
            <a:off x="2792848" y="4978861"/>
            <a:ext cx="258600" cy="6354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133" name="Google Shape;1133;p45"/>
          <p:cNvSpPr txBox="1"/>
          <p:nvPr/>
        </p:nvSpPr>
        <p:spPr>
          <a:xfrm>
            <a:off x="4496628" y="2782899"/>
            <a:ext cx="30168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1134" name="Google Shape;1134;p45"/>
          <p:cNvSpPr txBox="1"/>
          <p:nvPr/>
        </p:nvSpPr>
        <p:spPr>
          <a:xfrm>
            <a:off x="2947228" y="3564260"/>
            <a:ext cx="30168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  <p:sp>
        <p:nvSpPr>
          <p:cNvPr id="1135" name="Google Shape;1135;p45"/>
          <p:cNvSpPr txBox="1"/>
          <p:nvPr/>
        </p:nvSpPr>
        <p:spPr>
          <a:xfrm>
            <a:off x="6334310" y="3346829"/>
            <a:ext cx="30168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/>
          </a:p>
        </p:txBody>
      </p:sp>
      <p:sp>
        <p:nvSpPr>
          <p:cNvPr id="1136" name="Google Shape;1136;p45"/>
          <p:cNvSpPr txBox="1"/>
          <p:nvPr/>
        </p:nvSpPr>
        <p:spPr>
          <a:xfrm>
            <a:off x="2185233" y="4251272"/>
            <a:ext cx="30168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/>
          </a:p>
        </p:txBody>
      </p:sp>
      <p:sp>
        <p:nvSpPr>
          <p:cNvPr id="1137" name="Google Shape;1137;p45"/>
          <p:cNvSpPr txBox="1"/>
          <p:nvPr/>
        </p:nvSpPr>
        <p:spPr>
          <a:xfrm>
            <a:off x="1321061" y="5227696"/>
            <a:ext cx="30168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/>
          </a:p>
        </p:txBody>
      </p:sp>
      <p:sp>
        <p:nvSpPr>
          <p:cNvPr id="1138" name="Google Shape;1138;p45"/>
          <p:cNvSpPr txBox="1"/>
          <p:nvPr/>
        </p:nvSpPr>
        <p:spPr>
          <a:xfrm>
            <a:off x="2590809" y="5225158"/>
            <a:ext cx="30168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endParaRPr/>
          </a:p>
        </p:txBody>
      </p:sp>
      <p:sp>
        <p:nvSpPr>
          <p:cNvPr id="1139" name="Google Shape;1139;p45"/>
          <p:cNvSpPr txBox="1"/>
          <p:nvPr/>
        </p:nvSpPr>
        <p:spPr>
          <a:xfrm>
            <a:off x="4416033" y="4266792"/>
            <a:ext cx="30168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/>
          </a:p>
        </p:txBody>
      </p:sp>
      <p:sp>
        <p:nvSpPr>
          <p:cNvPr id="1140" name="Google Shape;1140;p45"/>
          <p:cNvSpPr txBox="1"/>
          <p:nvPr/>
        </p:nvSpPr>
        <p:spPr>
          <a:xfrm>
            <a:off x="5499910" y="4277126"/>
            <a:ext cx="30168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/>
          </a:p>
        </p:txBody>
      </p:sp>
      <p:sp>
        <p:nvSpPr>
          <p:cNvPr id="1141" name="Google Shape;1141;p45"/>
          <p:cNvSpPr txBox="1"/>
          <p:nvPr/>
        </p:nvSpPr>
        <p:spPr>
          <a:xfrm>
            <a:off x="7104893" y="4287033"/>
            <a:ext cx="30168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/>
          </a:p>
        </p:txBody>
      </p:sp>
      <p:sp>
        <p:nvSpPr>
          <p:cNvPr id="1142" name="Google Shape;1142;p45"/>
          <p:cNvSpPr/>
          <p:nvPr/>
        </p:nvSpPr>
        <p:spPr>
          <a:xfrm>
            <a:off x="6805068" y="3411317"/>
            <a:ext cx="1990097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MaxHeapify(A,3)</a:t>
            </a:r>
            <a:endParaRPr/>
          </a:p>
        </p:txBody>
      </p:sp>
      <p:sp>
        <p:nvSpPr>
          <p:cNvPr id="1143" name="Google Shape;1143;p45"/>
          <p:cNvSpPr/>
          <p:nvPr/>
        </p:nvSpPr>
        <p:spPr>
          <a:xfrm>
            <a:off x="5112014" y="3773484"/>
            <a:ext cx="808425" cy="375459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accent2"/>
          </a:solidFill>
          <a:ln w="12700" cap="flat" cmpd="sng">
            <a:solidFill>
              <a:srgbClr val="AC5B23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Largest</a:t>
            </a:r>
            <a:endParaRPr/>
          </a:p>
        </p:txBody>
      </p:sp>
      <p:cxnSp>
        <p:nvCxnSpPr>
          <p:cNvPr id="1144" name="Google Shape;1144;p45"/>
          <p:cNvCxnSpPr>
            <a:stCxn id="1116" idx="7"/>
            <a:endCxn id="1122" idx="7"/>
          </p:cNvCxnSpPr>
          <p:nvPr/>
        </p:nvCxnSpPr>
        <p:spPr>
          <a:xfrm rot="-5400000" flipH="1">
            <a:off x="5498930" y="2631560"/>
            <a:ext cx="919200" cy="1366500"/>
          </a:xfrm>
          <a:prstGeom prst="curvedConnector3">
            <a:avLst>
              <a:gd name="adj1" fmla="val 4172"/>
            </a:avLst>
          </a:prstGeom>
          <a:noFill/>
          <a:ln w="9525" cap="flat" cmpd="sng">
            <a:solidFill>
              <a:srgbClr val="FF0000"/>
            </a:solidFill>
            <a:prstDash val="solid"/>
            <a:miter lim="800000"/>
            <a:headEnd type="triangle" w="med" len="med"/>
            <a:tailEnd type="triangle" w="med" len="med"/>
          </a:ln>
        </p:spPr>
      </p:cxnSp>
      <p:graphicFrame>
        <p:nvGraphicFramePr>
          <p:cNvPr id="1145" name="Google Shape;1145;p45"/>
          <p:cNvGraphicFramePr/>
          <p:nvPr/>
        </p:nvGraphicFramePr>
        <p:xfrm>
          <a:off x="7500874" y="2031696"/>
          <a:ext cx="4249800" cy="741700"/>
        </p:xfrm>
        <a:graphic>
          <a:graphicData uri="http://schemas.openxmlformats.org/drawingml/2006/table">
            <a:tbl>
              <a:tblPr firstRow="1" bandRow="1">
                <a:noFill/>
                <a:tableStyleId>{66088737-8E24-4614-AAA7-3D08145F63E1}</a:tableStyleId>
              </a:tblPr>
              <a:tblGrid>
                <a:gridCol w="472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2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72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72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722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722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722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722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4722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1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2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3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4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5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6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7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8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9</a:t>
                      </a:r>
                      <a:endParaRPr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u="none" strike="noStrike" cap="none">
                          <a:solidFill>
                            <a:schemeClr val="dk1"/>
                          </a:solidFill>
                        </a:rPr>
                        <a:t>8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u="none" strike="noStrike" cap="none">
                          <a:solidFill>
                            <a:schemeClr val="dk1"/>
                          </a:solidFill>
                        </a:rPr>
                        <a:t>7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u="none" strike="noStrike" cap="none">
                          <a:solidFill>
                            <a:schemeClr val="dk1"/>
                          </a:solidFill>
                        </a:rPr>
                        <a:t>2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u="none" strike="noStrike" cap="none">
                          <a:solidFill>
                            <a:schemeClr val="dk1"/>
                          </a:solidFill>
                        </a:rPr>
                        <a:t>9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u="none" strike="noStrike" cap="none">
                          <a:solidFill>
                            <a:schemeClr val="dk1"/>
                          </a:solidFill>
                        </a:rPr>
                        <a:t>2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u="none" strike="noStrike" cap="none">
                          <a:solidFill>
                            <a:schemeClr val="dk1"/>
                          </a:solidFill>
                        </a:rPr>
                        <a:t>15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u="none" strike="noStrike" cap="none">
                          <a:solidFill>
                            <a:schemeClr val="dk1"/>
                          </a:solidFill>
                        </a:rPr>
                        <a:t>2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u="none" strike="noStrike" cap="none">
                          <a:solidFill>
                            <a:schemeClr val="dk1"/>
                          </a:solidFill>
                        </a:rPr>
                        <a:t>2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u="none" strike="noStrike" cap="none">
                          <a:solidFill>
                            <a:schemeClr val="dk1"/>
                          </a:solidFill>
                        </a:rPr>
                        <a:t>10</a:t>
                      </a:r>
                      <a:endParaRPr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0" name="Google Shape;1150;p46"/>
          <p:cNvSpPr txBox="1">
            <a:spLocks noGrp="1"/>
          </p:cNvSpPr>
          <p:nvPr>
            <p:ph type="body" idx="1"/>
          </p:nvPr>
        </p:nvSpPr>
        <p:spPr>
          <a:xfrm>
            <a:off x="838200" y="1227909"/>
            <a:ext cx="10515600" cy="49490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2100"/>
              <a:buFont typeface="Arial"/>
              <a:buChar char="●"/>
            </a:pPr>
            <a:r>
              <a:rPr lang="en-US"/>
              <a:t>It is TRYING to make the array into a max heap</a:t>
            </a:r>
            <a:endParaRPr/>
          </a:p>
          <a:p>
            <a:pPr marL="342900" marR="0" lvl="0" indent="-3429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0033CC"/>
              </a:buClr>
              <a:buSzPts val="2100"/>
              <a:buFont typeface="Arial"/>
              <a:buChar char="●"/>
            </a:pPr>
            <a:r>
              <a:rPr lang="en-US"/>
              <a:t>But it may not fully succeed</a:t>
            </a:r>
            <a:endParaRPr/>
          </a:p>
          <a:p>
            <a:pPr marL="342900" marR="0" lvl="0" indent="-3429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0033CC"/>
              </a:buClr>
              <a:buSzPts val="2100"/>
              <a:buFont typeface="Arial"/>
              <a:buChar char="●"/>
            </a:pPr>
            <a:r>
              <a:rPr lang="en-US"/>
              <a:t>Let us consider the following example</a:t>
            </a:r>
            <a:endParaRPr/>
          </a:p>
          <a:p>
            <a:pPr marL="342900" marR="0" lvl="0" indent="-20955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0033CC"/>
              </a:buClr>
              <a:buSzPts val="2100"/>
              <a:buFont typeface="Arial"/>
              <a:buNone/>
            </a:pPr>
            <a:endParaRPr/>
          </a:p>
          <a:p>
            <a:pPr marL="342900" marR="0" lvl="0" indent="-20955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0033CC"/>
              </a:buClr>
              <a:buSzPts val="2100"/>
              <a:buFont typeface="Arial"/>
              <a:buNone/>
            </a:pPr>
            <a:endParaRPr/>
          </a:p>
        </p:txBody>
      </p:sp>
      <p:sp>
        <p:nvSpPr>
          <p:cNvPr id="1151" name="Google Shape;1151;p46"/>
          <p:cNvSpPr txBox="1">
            <a:spLocks noGrp="1"/>
          </p:cNvSpPr>
          <p:nvPr>
            <p:ph type="dt" idx="10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F70A3758-28C5-46C0-A18F-D721F867A568}" type="datetime1">
              <a:rPr lang="en-US" smtClean="0"/>
              <a:t>1/12/2026</a:t>
            </a:fld>
            <a:endParaRPr/>
          </a:p>
        </p:txBody>
      </p:sp>
      <p:sp>
        <p:nvSpPr>
          <p:cNvPr id="1152" name="Google Shape;1152;p46"/>
          <p:cNvSpPr txBox="1">
            <a:spLocks noGrp="1"/>
          </p:cNvSpPr>
          <p:nvPr>
            <p:ph type="ftr" idx="11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Lec Asif Abrar, Dept of CSE, UIU</a:t>
            </a:r>
            <a:endParaRPr/>
          </a:p>
        </p:txBody>
      </p:sp>
      <p:sp>
        <p:nvSpPr>
          <p:cNvPr id="1153" name="Google Shape;1153;p46"/>
          <p:cNvSpPr txBox="1">
            <a:spLocks noGrp="1"/>
          </p:cNvSpPr>
          <p:nvPr>
            <p:ph type="sldNum" idx="12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32</a:t>
            </a:fld>
            <a:endParaRPr/>
          </a:p>
        </p:txBody>
      </p:sp>
      <p:sp>
        <p:nvSpPr>
          <p:cNvPr id="1154" name="Google Shape;1154;p46"/>
          <p:cNvSpPr txBox="1">
            <a:spLocks noGrp="1"/>
          </p:cNvSpPr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/>
              <a:t>Max Heapify</a:t>
            </a:r>
            <a:endParaRPr/>
          </a:p>
        </p:txBody>
      </p:sp>
      <p:sp>
        <p:nvSpPr>
          <p:cNvPr id="1155" name="Google Shape;1155;p46"/>
          <p:cNvSpPr/>
          <p:nvPr/>
        </p:nvSpPr>
        <p:spPr>
          <a:xfrm>
            <a:off x="4798314" y="2773376"/>
            <a:ext cx="558800" cy="558800"/>
          </a:xfrm>
          <a:prstGeom prst="ellipse">
            <a:avLst/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/>
          </a:p>
        </p:txBody>
      </p:sp>
      <p:sp>
        <p:nvSpPr>
          <p:cNvPr id="1156" name="Google Shape;1156;p46"/>
          <p:cNvSpPr/>
          <p:nvPr/>
        </p:nvSpPr>
        <p:spPr>
          <a:xfrm>
            <a:off x="3248914" y="3692472"/>
            <a:ext cx="558800" cy="558800"/>
          </a:xfrm>
          <a:prstGeom prst="ellipse">
            <a:avLst/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/>
          </a:p>
        </p:txBody>
      </p:sp>
      <p:sp>
        <p:nvSpPr>
          <p:cNvPr id="1157" name="Google Shape;1157;p46"/>
          <p:cNvSpPr/>
          <p:nvPr/>
        </p:nvSpPr>
        <p:spPr>
          <a:xfrm>
            <a:off x="2315882" y="4501895"/>
            <a:ext cx="558800" cy="558800"/>
          </a:xfrm>
          <a:prstGeom prst="ellipse">
            <a:avLst/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endParaRPr/>
          </a:p>
        </p:txBody>
      </p:sp>
      <p:sp>
        <p:nvSpPr>
          <p:cNvPr id="1158" name="Google Shape;1158;p46"/>
          <p:cNvSpPr/>
          <p:nvPr/>
        </p:nvSpPr>
        <p:spPr>
          <a:xfrm>
            <a:off x="1485587" y="5554658"/>
            <a:ext cx="558800" cy="558800"/>
          </a:xfrm>
          <a:prstGeom prst="ellipse">
            <a:avLst/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  <p:sp>
        <p:nvSpPr>
          <p:cNvPr id="1159" name="Google Shape;1159;p46"/>
          <p:cNvSpPr/>
          <p:nvPr/>
        </p:nvSpPr>
        <p:spPr>
          <a:xfrm>
            <a:off x="2771948" y="5614163"/>
            <a:ext cx="558800" cy="558800"/>
          </a:xfrm>
          <a:prstGeom prst="ellipse">
            <a:avLst/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/>
          </a:p>
        </p:txBody>
      </p:sp>
      <p:sp>
        <p:nvSpPr>
          <p:cNvPr id="1160" name="Google Shape;1160;p46"/>
          <p:cNvSpPr/>
          <p:nvPr/>
        </p:nvSpPr>
        <p:spPr>
          <a:xfrm>
            <a:off x="4197746" y="4557225"/>
            <a:ext cx="558800" cy="558800"/>
          </a:xfrm>
          <a:prstGeom prst="ellipse">
            <a:avLst/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  <p:sp>
        <p:nvSpPr>
          <p:cNvPr id="1161" name="Google Shape;1161;p46"/>
          <p:cNvSpPr/>
          <p:nvPr/>
        </p:nvSpPr>
        <p:spPr>
          <a:xfrm>
            <a:off x="6164836" y="3692472"/>
            <a:ext cx="558800" cy="558800"/>
          </a:xfrm>
          <a:prstGeom prst="ellipse">
            <a:avLst/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  <p:sp>
        <p:nvSpPr>
          <p:cNvPr id="1162" name="Google Shape;1162;p46"/>
          <p:cNvSpPr/>
          <p:nvPr/>
        </p:nvSpPr>
        <p:spPr>
          <a:xfrm>
            <a:off x="5410178" y="4584315"/>
            <a:ext cx="558800" cy="558800"/>
          </a:xfrm>
          <a:prstGeom prst="ellipse">
            <a:avLst/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15</a:t>
            </a:r>
            <a:endParaRPr/>
          </a:p>
        </p:txBody>
      </p:sp>
      <p:sp>
        <p:nvSpPr>
          <p:cNvPr id="1163" name="Google Shape;1163;p46"/>
          <p:cNvSpPr/>
          <p:nvPr/>
        </p:nvSpPr>
        <p:spPr>
          <a:xfrm>
            <a:off x="6942074" y="4584315"/>
            <a:ext cx="558800" cy="558800"/>
          </a:xfrm>
          <a:prstGeom prst="ellipse">
            <a:avLst/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  <p:cxnSp>
        <p:nvCxnSpPr>
          <p:cNvPr id="1164" name="Google Shape;1164;p46"/>
          <p:cNvCxnSpPr>
            <a:stCxn id="1155" idx="3"/>
            <a:endCxn id="1156" idx="7"/>
          </p:cNvCxnSpPr>
          <p:nvPr/>
        </p:nvCxnSpPr>
        <p:spPr>
          <a:xfrm flipH="1">
            <a:off x="3725748" y="3250342"/>
            <a:ext cx="1154400" cy="5241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1165" name="Google Shape;1165;p46"/>
          <p:cNvCxnSpPr>
            <a:stCxn id="1161" idx="1"/>
            <a:endCxn id="1155" idx="5"/>
          </p:cNvCxnSpPr>
          <p:nvPr/>
        </p:nvCxnSpPr>
        <p:spPr>
          <a:xfrm rot="10800000">
            <a:off x="5275270" y="3250206"/>
            <a:ext cx="971400" cy="5241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1166" name="Google Shape;1166;p46"/>
          <p:cNvCxnSpPr>
            <a:stCxn id="1163" idx="1"/>
            <a:endCxn id="1161" idx="5"/>
          </p:cNvCxnSpPr>
          <p:nvPr/>
        </p:nvCxnSpPr>
        <p:spPr>
          <a:xfrm rot="10800000">
            <a:off x="6641708" y="4169349"/>
            <a:ext cx="382200" cy="4968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1167" name="Google Shape;1167;p46"/>
          <p:cNvCxnSpPr>
            <a:stCxn id="1162" idx="7"/>
            <a:endCxn id="1161" idx="3"/>
          </p:cNvCxnSpPr>
          <p:nvPr/>
        </p:nvCxnSpPr>
        <p:spPr>
          <a:xfrm rot="10800000" flipH="1">
            <a:off x="5887144" y="4169349"/>
            <a:ext cx="359400" cy="4968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1168" name="Google Shape;1168;p46"/>
          <p:cNvCxnSpPr>
            <a:stCxn id="1156" idx="3"/>
            <a:endCxn id="1157" idx="7"/>
          </p:cNvCxnSpPr>
          <p:nvPr/>
        </p:nvCxnSpPr>
        <p:spPr>
          <a:xfrm flipH="1">
            <a:off x="2792848" y="4169438"/>
            <a:ext cx="537900" cy="4143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1169" name="Google Shape;1169;p46"/>
          <p:cNvCxnSpPr>
            <a:stCxn id="1156" idx="5"/>
            <a:endCxn id="1160" idx="1"/>
          </p:cNvCxnSpPr>
          <p:nvPr/>
        </p:nvCxnSpPr>
        <p:spPr>
          <a:xfrm>
            <a:off x="3725880" y="4169438"/>
            <a:ext cx="553800" cy="4695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1170" name="Google Shape;1170;p46"/>
          <p:cNvCxnSpPr>
            <a:stCxn id="1157" idx="3"/>
            <a:endCxn id="1158" idx="7"/>
          </p:cNvCxnSpPr>
          <p:nvPr/>
        </p:nvCxnSpPr>
        <p:spPr>
          <a:xfrm flipH="1">
            <a:off x="1962416" y="4978861"/>
            <a:ext cx="435300" cy="6576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1171" name="Google Shape;1171;p46"/>
          <p:cNvCxnSpPr>
            <a:stCxn id="1157" idx="5"/>
            <a:endCxn id="1159" idx="0"/>
          </p:cNvCxnSpPr>
          <p:nvPr/>
        </p:nvCxnSpPr>
        <p:spPr>
          <a:xfrm>
            <a:off x="2792848" y="4978861"/>
            <a:ext cx="258600" cy="6354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172" name="Google Shape;1172;p46"/>
          <p:cNvSpPr txBox="1"/>
          <p:nvPr/>
        </p:nvSpPr>
        <p:spPr>
          <a:xfrm>
            <a:off x="4496628" y="2782899"/>
            <a:ext cx="30168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1173" name="Google Shape;1173;p46"/>
          <p:cNvSpPr txBox="1"/>
          <p:nvPr/>
        </p:nvSpPr>
        <p:spPr>
          <a:xfrm>
            <a:off x="2947228" y="3564260"/>
            <a:ext cx="30168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  <p:sp>
        <p:nvSpPr>
          <p:cNvPr id="1174" name="Google Shape;1174;p46"/>
          <p:cNvSpPr txBox="1"/>
          <p:nvPr/>
        </p:nvSpPr>
        <p:spPr>
          <a:xfrm>
            <a:off x="6334310" y="3346829"/>
            <a:ext cx="30168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/>
          </a:p>
        </p:txBody>
      </p:sp>
      <p:sp>
        <p:nvSpPr>
          <p:cNvPr id="1175" name="Google Shape;1175;p46"/>
          <p:cNvSpPr txBox="1"/>
          <p:nvPr/>
        </p:nvSpPr>
        <p:spPr>
          <a:xfrm>
            <a:off x="2185233" y="4251272"/>
            <a:ext cx="30168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/>
          </a:p>
        </p:txBody>
      </p:sp>
      <p:sp>
        <p:nvSpPr>
          <p:cNvPr id="1176" name="Google Shape;1176;p46"/>
          <p:cNvSpPr txBox="1"/>
          <p:nvPr/>
        </p:nvSpPr>
        <p:spPr>
          <a:xfrm>
            <a:off x="1321061" y="5227696"/>
            <a:ext cx="30168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/>
          </a:p>
        </p:txBody>
      </p:sp>
      <p:sp>
        <p:nvSpPr>
          <p:cNvPr id="1177" name="Google Shape;1177;p46"/>
          <p:cNvSpPr txBox="1"/>
          <p:nvPr/>
        </p:nvSpPr>
        <p:spPr>
          <a:xfrm>
            <a:off x="2590809" y="5225158"/>
            <a:ext cx="30168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endParaRPr/>
          </a:p>
        </p:txBody>
      </p:sp>
      <p:sp>
        <p:nvSpPr>
          <p:cNvPr id="1178" name="Google Shape;1178;p46"/>
          <p:cNvSpPr txBox="1"/>
          <p:nvPr/>
        </p:nvSpPr>
        <p:spPr>
          <a:xfrm>
            <a:off x="4416033" y="4266792"/>
            <a:ext cx="30168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/>
          </a:p>
        </p:txBody>
      </p:sp>
      <p:sp>
        <p:nvSpPr>
          <p:cNvPr id="1179" name="Google Shape;1179;p46"/>
          <p:cNvSpPr txBox="1"/>
          <p:nvPr/>
        </p:nvSpPr>
        <p:spPr>
          <a:xfrm>
            <a:off x="5499910" y="4277126"/>
            <a:ext cx="30168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/>
          </a:p>
        </p:txBody>
      </p:sp>
      <p:sp>
        <p:nvSpPr>
          <p:cNvPr id="1180" name="Google Shape;1180;p46"/>
          <p:cNvSpPr txBox="1"/>
          <p:nvPr/>
        </p:nvSpPr>
        <p:spPr>
          <a:xfrm>
            <a:off x="7104893" y="4287033"/>
            <a:ext cx="30168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/>
          </a:p>
        </p:txBody>
      </p:sp>
      <p:sp>
        <p:nvSpPr>
          <p:cNvPr id="1181" name="Google Shape;1181;p46"/>
          <p:cNvSpPr/>
          <p:nvPr/>
        </p:nvSpPr>
        <p:spPr>
          <a:xfrm>
            <a:off x="6805068" y="3411317"/>
            <a:ext cx="1990097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MaxHeapify(A,3)</a:t>
            </a:r>
            <a:endParaRPr/>
          </a:p>
        </p:txBody>
      </p:sp>
      <p:graphicFrame>
        <p:nvGraphicFramePr>
          <p:cNvPr id="1182" name="Google Shape;1182;p46"/>
          <p:cNvGraphicFramePr/>
          <p:nvPr/>
        </p:nvGraphicFramePr>
        <p:xfrm>
          <a:off x="7500874" y="2031696"/>
          <a:ext cx="4249800" cy="741700"/>
        </p:xfrm>
        <a:graphic>
          <a:graphicData uri="http://schemas.openxmlformats.org/drawingml/2006/table">
            <a:tbl>
              <a:tblPr firstRow="1" bandRow="1">
                <a:noFill/>
                <a:tableStyleId>{66088737-8E24-4614-AAA7-3D08145F63E1}</a:tableStyleId>
              </a:tblPr>
              <a:tblGrid>
                <a:gridCol w="472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2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72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72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722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722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722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722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4722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1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2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3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4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5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6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7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8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9</a:t>
                      </a:r>
                      <a:endParaRPr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u="none" strike="noStrike" cap="none">
                          <a:solidFill>
                            <a:schemeClr val="dk1"/>
                          </a:solidFill>
                        </a:rPr>
                        <a:t>8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u="none" strike="noStrike" cap="none">
                          <a:solidFill>
                            <a:schemeClr val="dk1"/>
                          </a:solidFill>
                        </a:rPr>
                        <a:t>7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u="none" strike="noStrike" cap="none">
                          <a:solidFill>
                            <a:schemeClr val="dk1"/>
                          </a:solidFill>
                        </a:rPr>
                        <a:t>2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u="none" strike="noStrike" cap="none">
                          <a:solidFill>
                            <a:schemeClr val="dk1"/>
                          </a:solidFill>
                        </a:rPr>
                        <a:t>9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u="none" strike="noStrike" cap="none">
                          <a:solidFill>
                            <a:schemeClr val="dk1"/>
                          </a:solidFill>
                        </a:rPr>
                        <a:t>2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u="none" strike="noStrike" cap="none">
                          <a:solidFill>
                            <a:schemeClr val="dk1"/>
                          </a:solidFill>
                        </a:rPr>
                        <a:t>15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u="none" strike="noStrike" cap="none">
                          <a:solidFill>
                            <a:schemeClr val="dk1"/>
                          </a:solidFill>
                        </a:rPr>
                        <a:t>2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u="none" strike="noStrike" cap="none">
                          <a:solidFill>
                            <a:schemeClr val="dk1"/>
                          </a:solidFill>
                        </a:rPr>
                        <a:t>2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u="none" strike="noStrike" cap="none">
                          <a:solidFill>
                            <a:schemeClr val="dk1"/>
                          </a:solidFill>
                        </a:rPr>
                        <a:t>10</a:t>
                      </a:r>
                      <a:endParaRPr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7" name="Google Shape;1187;p47"/>
          <p:cNvSpPr txBox="1">
            <a:spLocks noGrp="1"/>
          </p:cNvSpPr>
          <p:nvPr>
            <p:ph type="body" idx="1"/>
          </p:nvPr>
        </p:nvSpPr>
        <p:spPr>
          <a:xfrm>
            <a:off x="838200" y="1227909"/>
            <a:ext cx="10515600" cy="49490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2100"/>
              <a:buFont typeface="Arial"/>
              <a:buChar char="●"/>
            </a:pPr>
            <a:r>
              <a:rPr lang="en-US"/>
              <a:t>It is TRYING to make the array into a max heap</a:t>
            </a:r>
            <a:endParaRPr/>
          </a:p>
          <a:p>
            <a:pPr marL="342900" marR="0" lvl="0" indent="-3429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0033CC"/>
              </a:buClr>
              <a:buSzPts val="2100"/>
              <a:buFont typeface="Arial"/>
              <a:buChar char="●"/>
            </a:pPr>
            <a:r>
              <a:rPr lang="en-US"/>
              <a:t>But it may not fully succeed</a:t>
            </a:r>
            <a:endParaRPr/>
          </a:p>
          <a:p>
            <a:pPr marL="342900" marR="0" lvl="0" indent="-3429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0033CC"/>
              </a:buClr>
              <a:buSzPts val="2100"/>
              <a:buFont typeface="Arial"/>
              <a:buChar char="●"/>
            </a:pPr>
            <a:r>
              <a:rPr lang="en-US"/>
              <a:t>Let us consider the following example</a:t>
            </a:r>
            <a:endParaRPr/>
          </a:p>
          <a:p>
            <a:pPr marL="342900" marR="0" lvl="0" indent="-20955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0033CC"/>
              </a:buClr>
              <a:buSzPts val="2100"/>
              <a:buFont typeface="Arial"/>
              <a:buNone/>
            </a:pPr>
            <a:endParaRPr/>
          </a:p>
          <a:p>
            <a:pPr marL="342900" marR="0" lvl="0" indent="-20955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0033CC"/>
              </a:buClr>
              <a:buSzPts val="2100"/>
              <a:buFont typeface="Arial"/>
              <a:buNone/>
            </a:pPr>
            <a:endParaRPr/>
          </a:p>
        </p:txBody>
      </p:sp>
      <p:sp>
        <p:nvSpPr>
          <p:cNvPr id="1188" name="Google Shape;1188;p47"/>
          <p:cNvSpPr txBox="1">
            <a:spLocks noGrp="1"/>
          </p:cNvSpPr>
          <p:nvPr>
            <p:ph type="dt" idx="10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AD3726DB-6F75-43F1-A9AD-85550FA1F865}" type="datetime1">
              <a:rPr lang="en-US" smtClean="0"/>
              <a:t>1/12/2026</a:t>
            </a:fld>
            <a:endParaRPr/>
          </a:p>
        </p:txBody>
      </p:sp>
      <p:sp>
        <p:nvSpPr>
          <p:cNvPr id="1189" name="Google Shape;1189;p47"/>
          <p:cNvSpPr txBox="1">
            <a:spLocks noGrp="1"/>
          </p:cNvSpPr>
          <p:nvPr>
            <p:ph type="ftr" idx="11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Lec Asif Abrar, Dept of CSE, UIU</a:t>
            </a:r>
            <a:endParaRPr/>
          </a:p>
        </p:txBody>
      </p:sp>
      <p:sp>
        <p:nvSpPr>
          <p:cNvPr id="1190" name="Google Shape;1190;p47"/>
          <p:cNvSpPr txBox="1">
            <a:spLocks noGrp="1"/>
          </p:cNvSpPr>
          <p:nvPr>
            <p:ph type="sldNum" idx="12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33</a:t>
            </a:fld>
            <a:endParaRPr/>
          </a:p>
        </p:txBody>
      </p:sp>
      <p:sp>
        <p:nvSpPr>
          <p:cNvPr id="1191" name="Google Shape;1191;p47"/>
          <p:cNvSpPr txBox="1">
            <a:spLocks noGrp="1"/>
          </p:cNvSpPr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/>
              <a:t>Max Heapify</a:t>
            </a:r>
            <a:endParaRPr/>
          </a:p>
        </p:txBody>
      </p:sp>
      <p:sp>
        <p:nvSpPr>
          <p:cNvPr id="1192" name="Google Shape;1192;p47"/>
          <p:cNvSpPr/>
          <p:nvPr/>
        </p:nvSpPr>
        <p:spPr>
          <a:xfrm>
            <a:off x="4798314" y="2773376"/>
            <a:ext cx="558800" cy="558800"/>
          </a:xfrm>
          <a:prstGeom prst="ellipse">
            <a:avLst/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/>
          </a:p>
        </p:txBody>
      </p:sp>
      <p:sp>
        <p:nvSpPr>
          <p:cNvPr id="1193" name="Google Shape;1193;p47"/>
          <p:cNvSpPr/>
          <p:nvPr/>
        </p:nvSpPr>
        <p:spPr>
          <a:xfrm>
            <a:off x="3248914" y="3692472"/>
            <a:ext cx="558800" cy="558800"/>
          </a:xfrm>
          <a:prstGeom prst="ellipse">
            <a:avLst/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/>
          </a:p>
        </p:txBody>
      </p:sp>
      <p:sp>
        <p:nvSpPr>
          <p:cNvPr id="1194" name="Google Shape;1194;p47"/>
          <p:cNvSpPr/>
          <p:nvPr/>
        </p:nvSpPr>
        <p:spPr>
          <a:xfrm>
            <a:off x="2315882" y="4501895"/>
            <a:ext cx="558800" cy="558800"/>
          </a:xfrm>
          <a:prstGeom prst="ellipse">
            <a:avLst/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endParaRPr/>
          </a:p>
        </p:txBody>
      </p:sp>
      <p:sp>
        <p:nvSpPr>
          <p:cNvPr id="1195" name="Google Shape;1195;p47"/>
          <p:cNvSpPr/>
          <p:nvPr/>
        </p:nvSpPr>
        <p:spPr>
          <a:xfrm>
            <a:off x="1485587" y="5554658"/>
            <a:ext cx="558800" cy="558800"/>
          </a:xfrm>
          <a:prstGeom prst="ellipse">
            <a:avLst/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  <p:sp>
        <p:nvSpPr>
          <p:cNvPr id="1196" name="Google Shape;1196;p47"/>
          <p:cNvSpPr/>
          <p:nvPr/>
        </p:nvSpPr>
        <p:spPr>
          <a:xfrm>
            <a:off x="2771948" y="5614163"/>
            <a:ext cx="558800" cy="558800"/>
          </a:xfrm>
          <a:prstGeom prst="ellipse">
            <a:avLst/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/>
          </a:p>
        </p:txBody>
      </p:sp>
      <p:sp>
        <p:nvSpPr>
          <p:cNvPr id="1197" name="Google Shape;1197;p47"/>
          <p:cNvSpPr/>
          <p:nvPr/>
        </p:nvSpPr>
        <p:spPr>
          <a:xfrm>
            <a:off x="4197746" y="4557225"/>
            <a:ext cx="558800" cy="558800"/>
          </a:xfrm>
          <a:prstGeom prst="ellipse">
            <a:avLst/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  <p:sp>
        <p:nvSpPr>
          <p:cNvPr id="1198" name="Google Shape;1198;p47"/>
          <p:cNvSpPr/>
          <p:nvPr/>
        </p:nvSpPr>
        <p:spPr>
          <a:xfrm>
            <a:off x="6164836" y="3692472"/>
            <a:ext cx="558800" cy="558800"/>
          </a:xfrm>
          <a:prstGeom prst="ellipse">
            <a:avLst/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  <p:sp>
        <p:nvSpPr>
          <p:cNvPr id="1199" name="Google Shape;1199;p47"/>
          <p:cNvSpPr/>
          <p:nvPr/>
        </p:nvSpPr>
        <p:spPr>
          <a:xfrm>
            <a:off x="5410178" y="4584315"/>
            <a:ext cx="558800" cy="558800"/>
          </a:xfrm>
          <a:prstGeom prst="ellipse">
            <a:avLst/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15</a:t>
            </a:r>
            <a:endParaRPr/>
          </a:p>
        </p:txBody>
      </p:sp>
      <p:sp>
        <p:nvSpPr>
          <p:cNvPr id="1200" name="Google Shape;1200;p47"/>
          <p:cNvSpPr/>
          <p:nvPr/>
        </p:nvSpPr>
        <p:spPr>
          <a:xfrm>
            <a:off x="6942074" y="4584315"/>
            <a:ext cx="558800" cy="558800"/>
          </a:xfrm>
          <a:prstGeom prst="ellipse">
            <a:avLst/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  <p:cxnSp>
        <p:nvCxnSpPr>
          <p:cNvPr id="1201" name="Google Shape;1201;p47"/>
          <p:cNvCxnSpPr>
            <a:stCxn id="1192" idx="3"/>
            <a:endCxn id="1193" idx="7"/>
          </p:cNvCxnSpPr>
          <p:nvPr/>
        </p:nvCxnSpPr>
        <p:spPr>
          <a:xfrm flipH="1">
            <a:off x="3725748" y="3250342"/>
            <a:ext cx="1154400" cy="5241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1202" name="Google Shape;1202;p47"/>
          <p:cNvCxnSpPr>
            <a:stCxn id="1198" idx="1"/>
            <a:endCxn id="1192" idx="5"/>
          </p:cNvCxnSpPr>
          <p:nvPr/>
        </p:nvCxnSpPr>
        <p:spPr>
          <a:xfrm rot="10800000">
            <a:off x="5275270" y="3250206"/>
            <a:ext cx="971400" cy="5241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1203" name="Google Shape;1203;p47"/>
          <p:cNvCxnSpPr>
            <a:stCxn id="1200" idx="1"/>
            <a:endCxn id="1198" idx="5"/>
          </p:cNvCxnSpPr>
          <p:nvPr/>
        </p:nvCxnSpPr>
        <p:spPr>
          <a:xfrm rot="10800000">
            <a:off x="6641708" y="4169349"/>
            <a:ext cx="382200" cy="4968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1204" name="Google Shape;1204;p47"/>
          <p:cNvCxnSpPr>
            <a:stCxn id="1199" idx="7"/>
            <a:endCxn id="1198" idx="3"/>
          </p:cNvCxnSpPr>
          <p:nvPr/>
        </p:nvCxnSpPr>
        <p:spPr>
          <a:xfrm rot="10800000" flipH="1">
            <a:off x="5887144" y="4169349"/>
            <a:ext cx="359400" cy="4968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1205" name="Google Shape;1205;p47"/>
          <p:cNvCxnSpPr>
            <a:stCxn id="1193" idx="3"/>
            <a:endCxn id="1194" idx="7"/>
          </p:cNvCxnSpPr>
          <p:nvPr/>
        </p:nvCxnSpPr>
        <p:spPr>
          <a:xfrm flipH="1">
            <a:off x="2792848" y="4169438"/>
            <a:ext cx="537900" cy="4143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1206" name="Google Shape;1206;p47"/>
          <p:cNvCxnSpPr>
            <a:stCxn id="1193" idx="5"/>
            <a:endCxn id="1197" idx="1"/>
          </p:cNvCxnSpPr>
          <p:nvPr/>
        </p:nvCxnSpPr>
        <p:spPr>
          <a:xfrm>
            <a:off x="3725880" y="4169438"/>
            <a:ext cx="553800" cy="4695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1207" name="Google Shape;1207;p47"/>
          <p:cNvCxnSpPr>
            <a:stCxn id="1194" idx="3"/>
            <a:endCxn id="1195" idx="7"/>
          </p:cNvCxnSpPr>
          <p:nvPr/>
        </p:nvCxnSpPr>
        <p:spPr>
          <a:xfrm flipH="1">
            <a:off x="1962416" y="4978861"/>
            <a:ext cx="435300" cy="6576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1208" name="Google Shape;1208;p47"/>
          <p:cNvCxnSpPr>
            <a:stCxn id="1194" idx="5"/>
            <a:endCxn id="1196" idx="0"/>
          </p:cNvCxnSpPr>
          <p:nvPr/>
        </p:nvCxnSpPr>
        <p:spPr>
          <a:xfrm>
            <a:off x="2792848" y="4978861"/>
            <a:ext cx="258600" cy="6354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209" name="Google Shape;1209;p47"/>
          <p:cNvSpPr txBox="1"/>
          <p:nvPr/>
        </p:nvSpPr>
        <p:spPr>
          <a:xfrm>
            <a:off x="4496628" y="2782899"/>
            <a:ext cx="30168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1210" name="Google Shape;1210;p47"/>
          <p:cNvSpPr txBox="1"/>
          <p:nvPr/>
        </p:nvSpPr>
        <p:spPr>
          <a:xfrm>
            <a:off x="2947228" y="3564260"/>
            <a:ext cx="30168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  <p:sp>
        <p:nvSpPr>
          <p:cNvPr id="1211" name="Google Shape;1211;p47"/>
          <p:cNvSpPr txBox="1"/>
          <p:nvPr/>
        </p:nvSpPr>
        <p:spPr>
          <a:xfrm>
            <a:off x="6334310" y="3346829"/>
            <a:ext cx="30168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/>
          </a:p>
        </p:txBody>
      </p:sp>
      <p:sp>
        <p:nvSpPr>
          <p:cNvPr id="1212" name="Google Shape;1212;p47"/>
          <p:cNvSpPr txBox="1"/>
          <p:nvPr/>
        </p:nvSpPr>
        <p:spPr>
          <a:xfrm>
            <a:off x="2185233" y="4251272"/>
            <a:ext cx="30168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/>
          </a:p>
        </p:txBody>
      </p:sp>
      <p:sp>
        <p:nvSpPr>
          <p:cNvPr id="1213" name="Google Shape;1213;p47"/>
          <p:cNvSpPr txBox="1"/>
          <p:nvPr/>
        </p:nvSpPr>
        <p:spPr>
          <a:xfrm>
            <a:off x="1321061" y="5227696"/>
            <a:ext cx="30168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/>
          </a:p>
        </p:txBody>
      </p:sp>
      <p:sp>
        <p:nvSpPr>
          <p:cNvPr id="1214" name="Google Shape;1214;p47"/>
          <p:cNvSpPr txBox="1"/>
          <p:nvPr/>
        </p:nvSpPr>
        <p:spPr>
          <a:xfrm>
            <a:off x="2590809" y="5225158"/>
            <a:ext cx="30168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endParaRPr/>
          </a:p>
        </p:txBody>
      </p:sp>
      <p:sp>
        <p:nvSpPr>
          <p:cNvPr id="1215" name="Google Shape;1215;p47"/>
          <p:cNvSpPr txBox="1"/>
          <p:nvPr/>
        </p:nvSpPr>
        <p:spPr>
          <a:xfrm>
            <a:off x="4416033" y="4266792"/>
            <a:ext cx="30168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/>
          </a:p>
        </p:txBody>
      </p:sp>
      <p:sp>
        <p:nvSpPr>
          <p:cNvPr id="1216" name="Google Shape;1216;p47"/>
          <p:cNvSpPr txBox="1"/>
          <p:nvPr/>
        </p:nvSpPr>
        <p:spPr>
          <a:xfrm>
            <a:off x="5499910" y="4277126"/>
            <a:ext cx="30168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/>
          </a:p>
        </p:txBody>
      </p:sp>
      <p:sp>
        <p:nvSpPr>
          <p:cNvPr id="1217" name="Google Shape;1217;p47"/>
          <p:cNvSpPr txBox="1"/>
          <p:nvPr/>
        </p:nvSpPr>
        <p:spPr>
          <a:xfrm>
            <a:off x="7104893" y="4287033"/>
            <a:ext cx="30168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/>
          </a:p>
        </p:txBody>
      </p:sp>
      <p:sp>
        <p:nvSpPr>
          <p:cNvPr id="1218" name="Google Shape;1218;p47"/>
          <p:cNvSpPr/>
          <p:nvPr/>
        </p:nvSpPr>
        <p:spPr>
          <a:xfrm>
            <a:off x="6805068" y="3411317"/>
            <a:ext cx="1990097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MaxHeapify(A,3)</a:t>
            </a:r>
            <a:endParaRPr/>
          </a:p>
        </p:txBody>
      </p:sp>
      <p:sp>
        <p:nvSpPr>
          <p:cNvPr id="1219" name="Google Shape;1219;p47"/>
          <p:cNvSpPr/>
          <p:nvPr/>
        </p:nvSpPr>
        <p:spPr>
          <a:xfrm>
            <a:off x="4737354" y="5030999"/>
            <a:ext cx="808425" cy="375459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accent2"/>
          </a:solidFill>
          <a:ln w="12700" cap="flat" cmpd="sng">
            <a:solidFill>
              <a:srgbClr val="AC5B23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Largest</a:t>
            </a:r>
            <a:endParaRPr/>
          </a:p>
        </p:txBody>
      </p:sp>
      <p:graphicFrame>
        <p:nvGraphicFramePr>
          <p:cNvPr id="1220" name="Google Shape;1220;p47"/>
          <p:cNvGraphicFramePr/>
          <p:nvPr/>
        </p:nvGraphicFramePr>
        <p:xfrm>
          <a:off x="7500874" y="2031696"/>
          <a:ext cx="4249800" cy="741700"/>
        </p:xfrm>
        <a:graphic>
          <a:graphicData uri="http://schemas.openxmlformats.org/drawingml/2006/table">
            <a:tbl>
              <a:tblPr firstRow="1" bandRow="1">
                <a:noFill/>
                <a:tableStyleId>{66088737-8E24-4614-AAA7-3D08145F63E1}</a:tableStyleId>
              </a:tblPr>
              <a:tblGrid>
                <a:gridCol w="472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2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72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72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722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722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722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722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4722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1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2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3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4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5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6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7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8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9</a:t>
                      </a:r>
                      <a:endParaRPr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u="none" strike="noStrike" cap="none">
                          <a:solidFill>
                            <a:schemeClr val="dk1"/>
                          </a:solidFill>
                        </a:rPr>
                        <a:t>8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u="none" strike="noStrike" cap="none">
                          <a:solidFill>
                            <a:schemeClr val="dk1"/>
                          </a:solidFill>
                        </a:rPr>
                        <a:t>7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u="none" strike="noStrike" cap="none">
                          <a:solidFill>
                            <a:schemeClr val="dk1"/>
                          </a:solidFill>
                        </a:rPr>
                        <a:t>2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u="none" strike="noStrike" cap="none">
                          <a:solidFill>
                            <a:schemeClr val="dk1"/>
                          </a:solidFill>
                        </a:rPr>
                        <a:t>9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u="none" strike="noStrike" cap="none">
                          <a:solidFill>
                            <a:schemeClr val="dk1"/>
                          </a:solidFill>
                        </a:rPr>
                        <a:t>2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u="none" strike="noStrike" cap="none">
                          <a:solidFill>
                            <a:schemeClr val="dk1"/>
                          </a:solidFill>
                        </a:rPr>
                        <a:t>15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u="none" strike="noStrike" cap="none">
                          <a:solidFill>
                            <a:schemeClr val="dk1"/>
                          </a:solidFill>
                        </a:rPr>
                        <a:t>2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u="none" strike="noStrike" cap="none">
                          <a:solidFill>
                            <a:schemeClr val="dk1"/>
                          </a:solidFill>
                        </a:rPr>
                        <a:t>2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u="none" strike="noStrike" cap="none">
                          <a:solidFill>
                            <a:schemeClr val="dk1"/>
                          </a:solidFill>
                        </a:rPr>
                        <a:t>10</a:t>
                      </a:r>
                      <a:endParaRPr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5" name="Google Shape;1225;p48"/>
          <p:cNvSpPr txBox="1">
            <a:spLocks noGrp="1"/>
          </p:cNvSpPr>
          <p:nvPr>
            <p:ph type="body" idx="1"/>
          </p:nvPr>
        </p:nvSpPr>
        <p:spPr>
          <a:xfrm>
            <a:off x="838200" y="1227909"/>
            <a:ext cx="10515600" cy="49490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2100"/>
              <a:buFont typeface="Arial"/>
              <a:buChar char="●"/>
            </a:pPr>
            <a:r>
              <a:rPr lang="en-US"/>
              <a:t>It is TRYING to make the array into a max heap</a:t>
            </a:r>
            <a:endParaRPr/>
          </a:p>
          <a:p>
            <a:pPr marL="342900" marR="0" lvl="0" indent="-3429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0033CC"/>
              </a:buClr>
              <a:buSzPts val="2100"/>
              <a:buFont typeface="Arial"/>
              <a:buChar char="●"/>
            </a:pPr>
            <a:r>
              <a:rPr lang="en-US"/>
              <a:t>But it may not fully succeed</a:t>
            </a:r>
            <a:endParaRPr/>
          </a:p>
          <a:p>
            <a:pPr marL="342900" marR="0" lvl="0" indent="-3429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0033CC"/>
              </a:buClr>
              <a:buSzPts val="2100"/>
              <a:buFont typeface="Arial"/>
              <a:buChar char="●"/>
            </a:pPr>
            <a:r>
              <a:rPr lang="en-US"/>
              <a:t>Let us consider the following example</a:t>
            </a:r>
            <a:endParaRPr/>
          </a:p>
          <a:p>
            <a:pPr marL="342900" marR="0" lvl="0" indent="-20955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0033CC"/>
              </a:buClr>
              <a:buSzPts val="2100"/>
              <a:buFont typeface="Arial"/>
              <a:buNone/>
            </a:pPr>
            <a:endParaRPr/>
          </a:p>
          <a:p>
            <a:pPr marL="342900" marR="0" lvl="0" indent="-20955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0033CC"/>
              </a:buClr>
              <a:buSzPts val="2100"/>
              <a:buFont typeface="Arial"/>
              <a:buNone/>
            </a:pPr>
            <a:endParaRPr/>
          </a:p>
        </p:txBody>
      </p:sp>
      <p:sp>
        <p:nvSpPr>
          <p:cNvPr id="1226" name="Google Shape;1226;p48"/>
          <p:cNvSpPr txBox="1">
            <a:spLocks noGrp="1"/>
          </p:cNvSpPr>
          <p:nvPr>
            <p:ph type="dt" idx="10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4ABDFF8A-73C3-46A3-93B7-6A4995489AF5}" type="datetime1">
              <a:rPr lang="en-US" smtClean="0"/>
              <a:t>1/12/2026</a:t>
            </a:fld>
            <a:endParaRPr/>
          </a:p>
        </p:txBody>
      </p:sp>
      <p:sp>
        <p:nvSpPr>
          <p:cNvPr id="1227" name="Google Shape;1227;p48"/>
          <p:cNvSpPr txBox="1">
            <a:spLocks noGrp="1"/>
          </p:cNvSpPr>
          <p:nvPr>
            <p:ph type="ftr" idx="11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Lec Asif Abrar, Dept of CSE, UIU</a:t>
            </a:r>
            <a:endParaRPr/>
          </a:p>
        </p:txBody>
      </p:sp>
      <p:sp>
        <p:nvSpPr>
          <p:cNvPr id="1228" name="Google Shape;1228;p48"/>
          <p:cNvSpPr txBox="1">
            <a:spLocks noGrp="1"/>
          </p:cNvSpPr>
          <p:nvPr>
            <p:ph type="sldNum" idx="12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34</a:t>
            </a:fld>
            <a:endParaRPr/>
          </a:p>
        </p:txBody>
      </p:sp>
      <p:sp>
        <p:nvSpPr>
          <p:cNvPr id="1229" name="Google Shape;1229;p48"/>
          <p:cNvSpPr txBox="1">
            <a:spLocks noGrp="1"/>
          </p:cNvSpPr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/>
              <a:t>Max Heapify</a:t>
            </a:r>
            <a:endParaRPr/>
          </a:p>
        </p:txBody>
      </p:sp>
      <p:sp>
        <p:nvSpPr>
          <p:cNvPr id="1230" name="Google Shape;1230;p48"/>
          <p:cNvSpPr/>
          <p:nvPr/>
        </p:nvSpPr>
        <p:spPr>
          <a:xfrm>
            <a:off x="4798314" y="2773376"/>
            <a:ext cx="558800" cy="558800"/>
          </a:xfrm>
          <a:prstGeom prst="ellipse">
            <a:avLst/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/>
          </a:p>
        </p:txBody>
      </p:sp>
      <p:sp>
        <p:nvSpPr>
          <p:cNvPr id="1231" name="Google Shape;1231;p48"/>
          <p:cNvSpPr/>
          <p:nvPr/>
        </p:nvSpPr>
        <p:spPr>
          <a:xfrm>
            <a:off x="3248914" y="3692472"/>
            <a:ext cx="558800" cy="558800"/>
          </a:xfrm>
          <a:prstGeom prst="ellipse">
            <a:avLst/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/>
          </a:p>
        </p:txBody>
      </p:sp>
      <p:sp>
        <p:nvSpPr>
          <p:cNvPr id="1232" name="Google Shape;1232;p48"/>
          <p:cNvSpPr/>
          <p:nvPr/>
        </p:nvSpPr>
        <p:spPr>
          <a:xfrm>
            <a:off x="2315882" y="4501895"/>
            <a:ext cx="558800" cy="558800"/>
          </a:xfrm>
          <a:prstGeom prst="ellipse">
            <a:avLst/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endParaRPr/>
          </a:p>
        </p:txBody>
      </p:sp>
      <p:sp>
        <p:nvSpPr>
          <p:cNvPr id="1233" name="Google Shape;1233;p48"/>
          <p:cNvSpPr/>
          <p:nvPr/>
        </p:nvSpPr>
        <p:spPr>
          <a:xfrm>
            <a:off x="1485587" y="5554658"/>
            <a:ext cx="558800" cy="558800"/>
          </a:xfrm>
          <a:prstGeom prst="ellipse">
            <a:avLst/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  <p:sp>
        <p:nvSpPr>
          <p:cNvPr id="1234" name="Google Shape;1234;p48"/>
          <p:cNvSpPr/>
          <p:nvPr/>
        </p:nvSpPr>
        <p:spPr>
          <a:xfrm>
            <a:off x="2771948" y="5614163"/>
            <a:ext cx="558800" cy="558800"/>
          </a:xfrm>
          <a:prstGeom prst="ellipse">
            <a:avLst/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/>
          </a:p>
        </p:txBody>
      </p:sp>
      <p:sp>
        <p:nvSpPr>
          <p:cNvPr id="1235" name="Google Shape;1235;p48"/>
          <p:cNvSpPr/>
          <p:nvPr/>
        </p:nvSpPr>
        <p:spPr>
          <a:xfrm>
            <a:off x="4197746" y="4557225"/>
            <a:ext cx="558800" cy="558800"/>
          </a:xfrm>
          <a:prstGeom prst="ellipse">
            <a:avLst/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  <p:sp>
        <p:nvSpPr>
          <p:cNvPr id="1236" name="Google Shape;1236;p48"/>
          <p:cNvSpPr/>
          <p:nvPr/>
        </p:nvSpPr>
        <p:spPr>
          <a:xfrm>
            <a:off x="6164836" y="3692472"/>
            <a:ext cx="558800" cy="558800"/>
          </a:xfrm>
          <a:prstGeom prst="ellipse">
            <a:avLst/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  <p:sp>
        <p:nvSpPr>
          <p:cNvPr id="1237" name="Google Shape;1237;p48"/>
          <p:cNvSpPr/>
          <p:nvPr/>
        </p:nvSpPr>
        <p:spPr>
          <a:xfrm>
            <a:off x="5410178" y="4584315"/>
            <a:ext cx="558800" cy="558800"/>
          </a:xfrm>
          <a:prstGeom prst="ellipse">
            <a:avLst/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15</a:t>
            </a:r>
            <a:endParaRPr/>
          </a:p>
        </p:txBody>
      </p:sp>
      <p:sp>
        <p:nvSpPr>
          <p:cNvPr id="1238" name="Google Shape;1238;p48"/>
          <p:cNvSpPr/>
          <p:nvPr/>
        </p:nvSpPr>
        <p:spPr>
          <a:xfrm>
            <a:off x="6942074" y="4584315"/>
            <a:ext cx="558800" cy="558800"/>
          </a:xfrm>
          <a:prstGeom prst="ellipse">
            <a:avLst/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  <p:cxnSp>
        <p:nvCxnSpPr>
          <p:cNvPr id="1239" name="Google Shape;1239;p48"/>
          <p:cNvCxnSpPr>
            <a:stCxn id="1230" idx="3"/>
            <a:endCxn id="1231" idx="7"/>
          </p:cNvCxnSpPr>
          <p:nvPr/>
        </p:nvCxnSpPr>
        <p:spPr>
          <a:xfrm flipH="1">
            <a:off x="3725748" y="3250342"/>
            <a:ext cx="1154400" cy="5241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1240" name="Google Shape;1240;p48"/>
          <p:cNvCxnSpPr>
            <a:stCxn id="1236" idx="1"/>
            <a:endCxn id="1230" idx="5"/>
          </p:cNvCxnSpPr>
          <p:nvPr/>
        </p:nvCxnSpPr>
        <p:spPr>
          <a:xfrm rot="10800000">
            <a:off x="5275270" y="3250206"/>
            <a:ext cx="971400" cy="5241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1241" name="Google Shape;1241;p48"/>
          <p:cNvCxnSpPr>
            <a:stCxn id="1238" idx="1"/>
            <a:endCxn id="1236" idx="5"/>
          </p:cNvCxnSpPr>
          <p:nvPr/>
        </p:nvCxnSpPr>
        <p:spPr>
          <a:xfrm rot="10800000">
            <a:off x="6641708" y="4169349"/>
            <a:ext cx="382200" cy="4968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1242" name="Google Shape;1242;p48"/>
          <p:cNvCxnSpPr>
            <a:stCxn id="1237" idx="7"/>
            <a:endCxn id="1236" idx="3"/>
          </p:cNvCxnSpPr>
          <p:nvPr/>
        </p:nvCxnSpPr>
        <p:spPr>
          <a:xfrm rot="10800000" flipH="1">
            <a:off x="5887144" y="4169349"/>
            <a:ext cx="359400" cy="4968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1243" name="Google Shape;1243;p48"/>
          <p:cNvCxnSpPr>
            <a:stCxn id="1231" idx="3"/>
            <a:endCxn id="1232" idx="7"/>
          </p:cNvCxnSpPr>
          <p:nvPr/>
        </p:nvCxnSpPr>
        <p:spPr>
          <a:xfrm flipH="1">
            <a:off x="2792848" y="4169438"/>
            <a:ext cx="537900" cy="4143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1244" name="Google Shape;1244;p48"/>
          <p:cNvCxnSpPr>
            <a:stCxn id="1231" idx="5"/>
            <a:endCxn id="1235" idx="1"/>
          </p:cNvCxnSpPr>
          <p:nvPr/>
        </p:nvCxnSpPr>
        <p:spPr>
          <a:xfrm>
            <a:off x="3725880" y="4169438"/>
            <a:ext cx="553800" cy="4695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1245" name="Google Shape;1245;p48"/>
          <p:cNvCxnSpPr>
            <a:stCxn id="1232" idx="3"/>
            <a:endCxn id="1233" idx="7"/>
          </p:cNvCxnSpPr>
          <p:nvPr/>
        </p:nvCxnSpPr>
        <p:spPr>
          <a:xfrm flipH="1">
            <a:off x="1962416" y="4978861"/>
            <a:ext cx="435300" cy="6576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1246" name="Google Shape;1246;p48"/>
          <p:cNvCxnSpPr>
            <a:stCxn id="1232" idx="5"/>
            <a:endCxn id="1234" idx="0"/>
          </p:cNvCxnSpPr>
          <p:nvPr/>
        </p:nvCxnSpPr>
        <p:spPr>
          <a:xfrm>
            <a:off x="2792848" y="4978861"/>
            <a:ext cx="258600" cy="6354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247" name="Google Shape;1247;p48"/>
          <p:cNvSpPr txBox="1"/>
          <p:nvPr/>
        </p:nvSpPr>
        <p:spPr>
          <a:xfrm>
            <a:off x="4496628" y="2782899"/>
            <a:ext cx="30168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1248" name="Google Shape;1248;p48"/>
          <p:cNvSpPr txBox="1"/>
          <p:nvPr/>
        </p:nvSpPr>
        <p:spPr>
          <a:xfrm>
            <a:off x="2947228" y="3564260"/>
            <a:ext cx="30168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  <p:sp>
        <p:nvSpPr>
          <p:cNvPr id="1249" name="Google Shape;1249;p48"/>
          <p:cNvSpPr txBox="1"/>
          <p:nvPr/>
        </p:nvSpPr>
        <p:spPr>
          <a:xfrm>
            <a:off x="6334310" y="3346829"/>
            <a:ext cx="30168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/>
          </a:p>
        </p:txBody>
      </p:sp>
      <p:sp>
        <p:nvSpPr>
          <p:cNvPr id="1250" name="Google Shape;1250;p48"/>
          <p:cNvSpPr txBox="1"/>
          <p:nvPr/>
        </p:nvSpPr>
        <p:spPr>
          <a:xfrm>
            <a:off x="2185233" y="4251272"/>
            <a:ext cx="30168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/>
          </a:p>
        </p:txBody>
      </p:sp>
      <p:sp>
        <p:nvSpPr>
          <p:cNvPr id="1251" name="Google Shape;1251;p48"/>
          <p:cNvSpPr txBox="1"/>
          <p:nvPr/>
        </p:nvSpPr>
        <p:spPr>
          <a:xfrm>
            <a:off x="1321061" y="5227696"/>
            <a:ext cx="30168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/>
          </a:p>
        </p:txBody>
      </p:sp>
      <p:sp>
        <p:nvSpPr>
          <p:cNvPr id="1252" name="Google Shape;1252;p48"/>
          <p:cNvSpPr txBox="1"/>
          <p:nvPr/>
        </p:nvSpPr>
        <p:spPr>
          <a:xfrm>
            <a:off x="2590809" y="5225158"/>
            <a:ext cx="30168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endParaRPr/>
          </a:p>
        </p:txBody>
      </p:sp>
      <p:sp>
        <p:nvSpPr>
          <p:cNvPr id="1253" name="Google Shape;1253;p48"/>
          <p:cNvSpPr txBox="1"/>
          <p:nvPr/>
        </p:nvSpPr>
        <p:spPr>
          <a:xfrm>
            <a:off x="4416033" y="4266792"/>
            <a:ext cx="30168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/>
          </a:p>
        </p:txBody>
      </p:sp>
      <p:sp>
        <p:nvSpPr>
          <p:cNvPr id="1254" name="Google Shape;1254;p48"/>
          <p:cNvSpPr txBox="1"/>
          <p:nvPr/>
        </p:nvSpPr>
        <p:spPr>
          <a:xfrm>
            <a:off x="5499910" y="4277126"/>
            <a:ext cx="30168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/>
          </a:p>
        </p:txBody>
      </p:sp>
      <p:sp>
        <p:nvSpPr>
          <p:cNvPr id="1255" name="Google Shape;1255;p48"/>
          <p:cNvSpPr txBox="1"/>
          <p:nvPr/>
        </p:nvSpPr>
        <p:spPr>
          <a:xfrm>
            <a:off x="7104893" y="4287033"/>
            <a:ext cx="30168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/>
          </a:p>
        </p:txBody>
      </p:sp>
      <p:sp>
        <p:nvSpPr>
          <p:cNvPr id="1256" name="Google Shape;1256;p48"/>
          <p:cNvSpPr/>
          <p:nvPr/>
        </p:nvSpPr>
        <p:spPr>
          <a:xfrm>
            <a:off x="6805068" y="3411317"/>
            <a:ext cx="1990097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MaxHeapify(A,3)</a:t>
            </a:r>
            <a:endParaRPr/>
          </a:p>
        </p:txBody>
      </p:sp>
      <p:sp>
        <p:nvSpPr>
          <p:cNvPr id="1257" name="Google Shape;1257;p48"/>
          <p:cNvSpPr/>
          <p:nvPr/>
        </p:nvSpPr>
        <p:spPr>
          <a:xfrm>
            <a:off x="4737354" y="5030999"/>
            <a:ext cx="808425" cy="375459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accent2"/>
          </a:solidFill>
          <a:ln w="12700" cap="flat" cmpd="sng">
            <a:solidFill>
              <a:srgbClr val="AC5B23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Largest</a:t>
            </a:r>
            <a:endParaRPr/>
          </a:p>
        </p:txBody>
      </p:sp>
      <p:cxnSp>
        <p:nvCxnSpPr>
          <p:cNvPr id="1258" name="Google Shape;1258;p48"/>
          <p:cNvCxnSpPr>
            <a:stCxn id="1237" idx="2"/>
            <a:endCxn id="1236" idx="0"/>
          </p:cNvCxnSpPr>
          <p:nvPr/>
        </p:nvCxnSpPr>
        <p:spPr>
          <a:xfrm rot="10800000" flipH="1">
            <a:off x="5410178" y="3692515"/>
            <a:ext cx="1034100" cy="1171200"/>
          </a:xfrm>
          <a:prstGeom prst="curvedConnector4">
            <a:avLst>
              <a:gd name="adj1" fmla="val -22106"/>
              <a:gd name="adj2" fmla="val 119522"/>
            </a:avLst>
          </a:prstGeom>
          <a:noFill/>
          <a:ln w="9525" cap="flat" cmpd="sng">
            <a:solidFill>
              <a:srgbClr val="FF0000"/>
            </a:solidFill>
            <a:prstDash val="solid"/>
            <a:miter lim="800000"/>
            <a:headEnd type="triangle" w="med" len="med"/>
            <a:tailEnd type="triangle" w="med" len="med"/>
          </a:ln>
        </p:spPr>
      </p:cxnSp>
      <p:graphicFrame>
        <p:nvGraphicFramePr>
          <p:cNvPr id="1259" name="Google Shape;1259;p48"/>
          <p:cNvGraphicFramePr/>
          <p:nvPr/>
        </p:nvGraphicFramePr>
        <p:xfrm>
          <a:off x="7500874" y="2031696"/>
          <a:ext cx="4249800" cy="741700"/>
        </p:xfrm>
        <a:graphic>
          <a:graphicData uri="http://schemas.openxmlformats.org/drawingml/2006/table">
            <a:tbl>
              <a:tblPr firstRow="1" bandRow="1">
                <a:noFill/>
                <a:tableStyleId>{66088737-8E24-4614-AAA7-3D08145F63E1}</a:tableStyleId>
              </a:tblPr>
              <a:tblGrid>
                <a:gridCol w="472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2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72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72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722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722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722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722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4722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1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2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3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4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5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6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7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8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9</a:t>
                      </a:r>
                      <a:endParaRPr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u="none" strike="noStrike" cap="none">
                          <a:solidFill>
                            <a:schemeClr val="dk1"/>
                          </a:solidFill>
                        </a:rPr>
                        <a:t>8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u="none" strike="noStrike" cap="none">
                          <a:solidFill>
                            <a:schemeClr val="dk1"/>
                          </a:solidFill>
                        </a:rPr>
                        <a:t>7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u="none" strike="noStrike" cap="none">
                          <a:solidFill>
                            <a:schemeClr val="dk1"/>
                          </a:solidFill>
                        </a:rPr>
                        <a:t>2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u="none" strike="noStrike" cap="none">
                          <a:solidFill>
                            <a:schemeClr val="dk1"/>
                          </a:solidFill>
                        </a:rPr>
                        <a:t>9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u="none" strike="noStrike" cap="none">
                          <a:solidFill>
                            <a:schemeClr val="dk1"/>
                          </a:solidFill>
                        </a:rPr>
                        <a:t>2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u="none" strike="noStrike" cap="none">
                          <a:solidFill>
                            <a:schemeClr val="dk1"/>
                          </a:solidFill>
                        </a:rPr>
                        <a:t>15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u="none" strike="noStrike" cap="none">
                          <a:solidFill>
                            <a:schemeClr val="dk1"/>
                          </a:solidFill>
                        </a:rPr>
                        <a:t>2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u="none" strike="noStrike" cap="none">
                          <a:solidFill>
                            <a:schemeClr val="dk1"/>
                          </a:solidFill>
                        </a:rPr>
                        <a:t>2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u="none" strike="noStrike" cap="none">
                          <a:solidFill>
                            <a:schemeClr val="dk1"/>
                          </a:solidFill>
                        </a:rPr>
                        <a:t>10</a:t>
                      </a:r>
                      <a:endParaRPr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4" name="Google Shape;1264;p49"/>
          <p:cNvSpPr txBox="1">
            <a:spLocks noGrp="1"/>
          </p:cNvSpPr>
          <p:nvPr>
            <p:ph type="body" idx="1"/>
          </p:nvPr>
        </p:nvSpPr>
        <p:spPr>
          <a:xfrm>
            <a:off x="838200" y="1227909"/>
            <a:ext cx="10515600" cy="49490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2100"/>
              <a:buFont typeface="Arial"/>
              <a:buChar char="●"/>
            </a:pPr>
            <a:r>
              <a:rPr lang="en-US"/>
              <a:t>It is TRYING to make the array into a max heap</a:t>
            </a:r>
            <a:endParaRPr/>
          </a:p>
          <a:p>
            <a:pPr marL="342900" marR="0" lvl="0" indent="-3429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0033CC"/>
              </a:buClr>
              <a:buSzPts val="2100"/>
              <a:buFont typeface="Arial"/>
              <a:buChar char="●"/>
            </a:pPr>
            <a:r>
              <a:rPr lang="en-US"/>
              <a:t>But it may not fully succeed</a:t>
            </a:r>
            <a:endParaRPr/>
          </a:p>
          <a:p>
            <a:pPr marL="342900" marR="0" lvl="0" indent="-3429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0033CC"/>
              </a:buClr>
              <a:buSzPts val="2100"/>
              <a:buFont typeface="Arial"/>
              <a:buChar char="●"/>
            </a:pPr>
            <a:r>
              <a:rPr lang="en-US"/>
              <a:t>Let us consider the following example</a:t>
            </a:r>
            <a:endParaRPr/>
          </a:p>
          <a:p>
            <a:pPr marL="342900" marR="0" lvl="0" indent="-20955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0033CC"/>
              </a:buClr>
              <a:buSzPts val="2100"/>
              <a:buFont typeface="Arial"/>
              <a:buNone/>
            </a:pPr>
            <a:endParaRPr/>
          </a:p>
          <a:p>
            <a:pPr marL="342900" marR="0" lvl="0" indent="-20955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0033CC"/>
              </a:buClr>
              <a:buSzPts val="2100"/>
              <a:buFont typeface="Arial"/>
              <a:buNone/>
            </a:pPr>
            <a:endParaRPr/>
          </a:p>
        </p:txBody>
      </p:sp>
      <p:sp>
        <p:nvSpPr>
          <p:cNvPr id="1265" name="Google Shape;1265;p49"/>
          <p:cNvSpPr txBox="1">
            <a:spLocks noGrp="1"/>
          </p:cNvSpPr>
          <p:nvPr>
            <p:ph type="dt" idx="10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6D7B6496-ED3F-407D-B211-A387E6D0347E}" type="datetime1">
              <a:rPr lang="en-US" smtClean="0"/>
              <a:t>1/12/2026</a:t>
            </a:fld>
            <a:endParaRPr/>
          </a:p>
        </p:txBody>
      </p:sp>
      <p:sp>
        <p:nvSpPr>
          <p:cNvPr id="1266" name="Google Shape;1266;p49"/>
          <p:cNvSpPr txBox="1">
            <a:spLocks noGrp="1"/>
          </p:cNvSpPr>
          <p:nvPr>
            <p:ph type="ftr" idx="11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Lec Asif Abrar, Dept of CSE, UIU</a:t>
            </a:r>
            <a:endParaRPr/>
          </a:p>
        </p:txBody>
      </p:sp>
      <p:sp>
        <p:nvSpPr>
          <p:cNvPr id="1267" name="Google Shape;1267;p49"/>
          <p:cNvSpPr txBox="1">
            <a:spLocks noGrp="1"/>
          </p:cNvSpPr>
          <p:nvPr>
            <p:ph type="sldNum" idx="12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35</a:t>
            </a:fld>
            <a:endParaRPr/>
          </a:p>
        </p:txBody>
      </p:sp>
      <p:sp>
        <p:nvSpPr>
          <p:cNvPr id="1268" name="Google Shape;1268;p49"/>
          <p:cNvSpPr txBox="1">
            <a:spLocks noGrp="1"/>
          </p:cNvSpPr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/>
              <a:t>Max Heapify</a:t>
            </a:r>
            <a:endParaRPr/>
          </a:p>
        </p:txBody>
      </p:sp>
      <p:sp>
        <p:nvSpPr>
          <p:cNvPr id="1269" name="Google Shape;1269;p49"/>
          <p:cNvSpPr/>
          <p:nvPr/>
        </p:nvSpPr>
        <p:spPr>
          <a:xfrm>
            <a:off x="4798314" y="2773376"/>
            <a:ext cx="558800" cy="558800"/>
          </a:xfrm>
          <a:prstGeom prst="ellipse">
            <a:avLst/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/>
          </a:p>
        </p:txBody>
      </p:sp>
      <p:sp>
        <p:nvSpPr>
          <p:cNvPr id="1270" name="Google Shape;1270;p49"/>
          <p:cNvSpPr/>
          <p:nvPr/>
        </p:nvSpPr>
        <p:spPr>
          <a:xfrm>
            <a:off x="3248914" y="3692472"/>
            <a:ext cx="558800" cy="558800"/>
          </a:xfrm>
          <a:prstGeom prst="ellipse">
            <a:avLst/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/>
          </a:p>
        </p:txBody>
      </p:sp>
      <p:sp>
        <p:nvSpPr>
          <p:cNvPr id="1271" name="Google Shape;1271;p49"/>
          <p:cNvSpPr/>
          <p:nvPr/>
        </p:nvSpPr>
        <p:spPr>
          <a:xfrm>
            <a:off x="2315882" y="4501895"/>
            <a:ext cx="558800" cy="558800"/>
          </a:xfrm>
          <a:prstGeom prst="ellipse">
            <a:avLst/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endParaRPr/>
          </a:p>
        </p:txBody>
      </p:sp>
      <p:sp>
        <p:nvSpPr>
          <p:cNvPr id="1272" name="Google Shape;1272;p49"/>
          <p:cNvSpPr/>
          <p:nvPr/>
        </p:nvSpPr>
        <p:spPr>
          <a:xfrm>
            <a:off x="1485587" y="5554658"/>
            <a:ext cx="558800" cy="558800"/>
          </a:xfrm>
          <a:prstGeom prst="ellipse">
            <a:avLst/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  <p:sp>
        <p:nvSpPr>
          <p:cNvPr id="1273" name="Google Shape;1273;p49"/>
          <p:cNvSpPr/>
          <p:nvPr/>
        </p:nvSpPr>
        <p:spPr>
          <a:xfrm>
            <a:off x="2771948" y="5614163"/>
            <a:ext cx="558800" cy="558800"/>
          </a:xfrm>
          <a:prstGeom prst="ellipse">
            <a:avLst/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/>
          </a:p>
        </p:txBody>
      </p:sp>
      <p:sp>
        <p:nvSpPr>
          <p:cNvPr id="1274" name="Google Shape;1274;p49"/>
          <p:cNvSpPr/>
          <p:nvPr/>
        </p:nvSpPr>
        <p:spPr>
          <a:xfrm>
            <a:off x="4197746" y="4557225"/>
            <a:ext cx="558800" cy="558800"/>
          </a:xfrm>
          <a:prstGeom prst="ellipse">
            <a:avLst/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  <p:sp>
        <p:nvSpPr>
          <p:cNvPr id="1275" name="Google Shape;1275;p49"/>
          <p:cNvSpPr/>
          <p:nvPr/>
        </p:nvSpPr>
        <p:spPr>
          <a:xfrm>
            <a:off x="6164836" y="3692472"/>
            <a:ext cx="558800" cy="558800"/>
          </a:xfrm>
          <a:prstGeom prst="ellipse">
            <a:avLst/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15</a:t>
            </a:r>
            <a:endParaRPr/>
          </a:p>
        </p:txBody>
      </p:sp>
      <p:sp>
        <p:nvSpPr>
          <p:cNvPr id="1276" name="Google Shape;1276;p49"/>
          <p:cNvSpPr/>
          <p:nvPr/>
        </p:nvSpPr>
        <p:spPr>
          <a:xfrm>
            <a:off x="5410178" y="4584315"/>
            <a:ext cx="558800" cy="558800"/>
          </a:xfrm>
          <a:prstGeom prst="ellipse">
            <a:avLst/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  <p:sp>
        <p:nvSpPr>
          <p:cNvPr id="1277" name="Google Shape;1277;p49"/>
          <p:cNvSpPr/>
          <p:nvPr/>
        </p:nvSpPr>
        <p:spPr>
          <a:xfrm>
            <a:off x="6942074" y="4584315"/>
            <a:ext cx="558800" cy="558800"/>
          </a:xfrm>
          <a:prstGeom prst="ellipse">
            <a:avLst/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  <p:cxnSp>
        <p:nvCxnSpPr>
          <p:cNvPr id="1278" name="Google Shape;1278;p49"/>
          <p:cNvCxnSpPr>
            <a:stCxn id="1269" idx="3"/>
            <a:endCxn id="1270" idx="7"/>
          </p:cNvCxnSpPr>
          <p:nvPr/>
        </p:nvCxnSpPr>
        <p:spPr>
          <a:xfrm flipH="1">
            <a:off x="3725748" y="3250342"/>
            <a:ext cx="1154400" cy="5241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1279" name="Google Shape;1279;p49"/>
          <p:cNvCxnSpPr>
            <a:stCxn id="1275" idx="1"/>
            <a:endCxn id="1269" idx="5"/>
          </p:cNvCxnSpPr>
          <p:nvPr/>
        </p:nvCxnSpPr>
        <p:spPr>
          <a:xfrm rot="10800000">
            <a:off x="5275270" y="3250206"/>
            <a:ext cx="971400" cy="5241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1280" name="Google Shape;1280;p49"/>
          <p:cNvCxnSpPr>
            <a:stCxn id="1277" idx="1"/>
            <a:endCxn id="1275" idx="5"/>
          </p:cNvCxnSpPr>
          <p:nvPr/>
        </p:nvCxnSpPr>
        <p:spPr>
          <a:xfrm rot="10800000">
            <a:off x="6641708" y="4169349"/>
            <a:ext cx="382200" cy="4968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1281" name="Google Shape;1281;p49"/>
          <p:cNvCxnSpPr>
            <a:stCxn id="1276" idx="7"/>
            <a:endCxn id="1275" idx="3"/>
          </p:cNvCxnSpPr>
          <p:nvPr/>
        </p:nvCxnSpPr>
        <p:spPr>
          <a:xfrm rot="10800000" flipH="1">
            <a:off x="5887144" y="4169349"/>
            <a:ext cx="359400" cy="4968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1282" name="Google Shape;1282;p49"/>
          <p:cNvCxnSpPr>
            <a:stCxn id="1270" idx="3"/>
            <a:endCxn id="1271" idx="7"/>
          </p:cNvCxnSpPr>
          <p:nvPr/>
        </p:nvCxnSpPr>
        <p:spPr>
          <a:xfrm flipH="1">
            <a:off x="2792848" y="4169438"/>
            <a:ext cx="537900" cy="4143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1283" name="Google Shape;1283;p49"/>
          <p:cNvCxnSpPr>
            <a:stCxn id="1270" idx="5"/>
            <a:endCxn id="1274" idx="1"/>
          </p:cNvCxnSpPr>
          <p:nvPr/>
        </p:nvCxnSpPr>
        <p:spPr>
          <a:xfrm>
            <a:off x="3725880" y="4169438"/>
            <a:ext cx="553800" cy="4695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1284" name="Google Shape;1284;p49"/>
          <p:cNvCxnSpPr>
            <a:stCxn id="1271" idx="3"/>
            <a:endCxn id="1272" idx="7"/>
          </p:cNvCxnSpPr>
          <p:nvPr/>
        </p:nvCxnSpPr>
        <p:spPr>
          <a:xfrm flipH="1">
            <a:off x="1962416" y="4978861"/>
            <a:ext cx="435300" cy="6576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1285" name="Google Shape;1285;p49"/>
          <p:cNvCxnSpPr>
            <a:stCxn id="1271" idx="5"/>
            <a:endCxn id="1273" idx="0"/>
          </p:cNvCxnSpPr>
          <p:nvPr/>
        </p:nvCxnSpPr>
        <p:spPr>
          <a:xfrm>
            <a:off x="2792848" y="4978861"/>
            <a:ext cx="258600" cy="6354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286" name="Google Shape;1286;p49"/>
          <p:cNvSpPr txBox="1"/>
          <p:nvPr/>
        </p:nvSpPr>
        <p:spPr>
          <a:xfrm>
            <a:off x="4496628" y="2782899"/>
            <a:ext cx="30168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1287" name="Google Shape;1287;p49"/>
          <p:cNvSpPr txBox="1"/>
          <p:nvPr/>
        </p:nvSpPr>
        <p:spPr>
          <a:xfrm>
            <a:off x="2947228" y="3564260"/>
            <a:ext cx="30168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  <p:sp>
        <p:nvSpPr>
          <p:cNvPr id="1288" name="Google Shape;1288;p49"/>
          <p:cNvSpPr txBox="1"/>
          <p:nvPr/>
        </p:nvSpPr>
        <p:spPr>
          <a:xfrm>
            <a:off x="6334310" y="3346829"/>
            <a:ext cx="30168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/>
          </a:p>
        </p:txBody>
      </p:sp>
      <p:sp>
        <p:nvSpPr>
          <p:cNvPr id="1289" name="Google Shape;1289;p49"/>
          <p:cNvSpPr txBox="1"/>
          <p:nvPr/>
        </p:nvSpPr>
        <p:spPr>
          <a:xfrm>
            <a:off x="2185233" y="4251272"/>
            <a:ext cx="30168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/>
          </a:p>
        </p:txBody>
      </p:sp>
      <p:sp>
        <p:nvSpPr>
          <p:cNvPr id="1290" name="Google Shape;1290;p49"/>
          <p:cNvSpPr txBox="1"/>
          <p:nvPr/>
        </p:nvSpPr>
        <p:spPr>
          <a:xfrm>
            <a:off x="1321061" y="5227696"/>
            <a:ext cx="30168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/>
          </a:p>
        </p:txBody>
      </p:sp>
      <p:sp>
        <p:nvSpPr>
          <p:cNvPr id="1291" name="Google Shape;1291;p49"/>
          <p:cNvSpPr txBox="1"/>
          <p:nvPr/>
        </p:nvSpPr>
        <p:spPr>
          <a:xfrm>
            <a:off x="2590809" y="5225158"/>
            <a:ext cx="30168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endParaRPr/>
          </a:p>
        </p:txBody>
      </p:sp>
      <p:sp>
        <p:nvSpPr>
          <p:cNvPr id="1292" name="Google Shape;1292;p49"/>
          <p:cNvSpPr txBox="1"/>
          <p:nvPr/>
        </p:nvSpPr>
        <p:spPr>
          <a:xfrm>
            <a:off x="4416033" y="4266792"/>
            <a:ext cx="30168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/>
          </a:p>
        </p:txBody>
      </p:sp>
      <p:sp>
        <p:nvSpPr>
          <p:cNvPr id="1293" name="Google Shape;1293;p49"/>
          <p:cNvSpPr txBox="1"/>
          <p:nvPr/>
        </p:nvSpPr>
        <p:spPr>
          <a:xfrm>
            <a:off x="5499910" y="4277126"/>
            <a:ext cx="30168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/>
          </a:p>
        </p:txBody>
      </p:sp>
      <p:sp>
        <p:nvSpPr>
          <p:cNvPr id="1294" name="Google Shape;1294;p49"/>
          <p:cNvSpPr txBox="1"/>
          <p:nvPr/>
        </p:nvSpPr>
        <p:spPr>
          <a:xfrm>
            <a:off x="7104893" y="4287033"/>
            <a:ext cx="30168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/>
          </a:p>
        </p:txBody>
      </p:sp>
      <p:sp>
        <p:nvSpPr>
          <p:cNvPr id="1295" name="Google Shape;1295;p49"/>
          <p:cNvSpPr/>
          <p:nvPr/>
        </p:nvSpPr>
        <p:spPr>
          <a:xfrm>
            <a:off x="6805068" y="3411317"/>
            <a:ext cx="1990097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MaxHeapify(A,3)</a:t>
            </a:r>
            <a:endParaRPr/>
          </a:p>
        </p:txBody>
      </p:sp>
      <p:sp>
        <p:nvSpPr>
          <p:cNvPr id="1296" name="Google Shape;1296;p49"/>
          <p:cNvSpPr/>
          <p:nvPr/>
        </p:nvSpPr>
        <p:spPr>
          <a:xfrm>
            <a:off x="4737354" y="5030999"/>
            <a:ext cx="808425" cy="375459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accent2"/>
          </a:solidFill>
          <a:ln w="12700" cap="flat" cmpd="sng">
            <a:solidFill>
              <a:srgbClr val="AC5B23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Largest</a:t>
            </a:r>
            <a:endParaRPr/>
          </a:p>
        </p:txBody>
      </p:sp>
      <p:cxnSp>
        <p:nvCxnSpPr>
          <p:cNvPr id="1297" name="Google Shape;1297;p49"/>
          <p:cNvCxnSpPr>
            <a:stCxn id="1276" idx="2"/>
            <a:endCxn id="1275" idx="0"/>
          </p:cNvCxnSpPr>
          <p:nvPr/>
        </p:nvCxnSpPr>
        <p:spPr>
          <a:xfrm rot="10800000" flipH="1">
            <a:off x="5410178" y="3692515"/>
            <a:ext cx="1034100" cy="1171200"/>
          </a:xfrm>
          <a:prstGeom prst="curvedConnector4">
            <a:avLst>
              <a:gd name="adj1" fmla="val -22106"/>
              <a:gd name="adj2" fmla="val 119522"/>
            </a:avLst>
          </a:prstGeom>
          <a:noFill/>
          <a:ln w="9525" cap="flat" cmpd="sng">
            <a:solidFill>
              <a:srgbClr val="FF0000"/>
            </a:solidFill>
            <a:prstDash val="solid"/>
            <a:miter lim="800000"/>
            <a:headEnd type="triangle" w="med" len="med"/>
            <a:tailEnd type="triangle" w="med" len="med"/>
          </a:ln>
        </p:spPr>
      </p:cxnSp>
      <p:graphicFrame>
        <p:nvGraphicFramePr>
          <p:cNvPr id="1298" name="Google Shape;1298;p49"/>
          <p:cNvGraphicFramePr/>
          <p:nvPr/>
        </p:nvGraphicFramePr>
        <p:xfrm>
          <a:off x="7500874" y="2031696"/>
          <a:ext cx="4249800" cy="741700"/>
        </p:xfrm>
        <a:graphic>
          <a:graphicData uri="http://schemas.openxmlformats.org/drawingml/2006/table">
            <a:tbl>
              <a:tblPr firstRow="1" bandRow="1">
                <a:noFill/>
                <a:tableStyleId>{66088737-8E24-4614-AAA7-3D08145F63E1}</a:tableStyleId>
              </a:tblPr>
              <a:tblGrid>
                <a:gridCol w="472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2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72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72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722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722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722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722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4722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1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2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3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4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5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6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7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8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9</a:t>
                      </a:r>
                      <a:endParaRPr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u="none" strike="noStrike" cap="none">
                          <a:solidFill>
                            <a:schemeClr val="dk1"/>
                          </a:solidFill>
                        </a:rPr>
                        <a:t>8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u="none" strike="noStrike" cap="none">
                          <a:solidFill>
                            <a:schemeClr val="dk1"/>
                          </a:solidFill>
                        </a:rPr>
                        <a:t>7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u="none" strike="noStrike" cap="none">
                          <a:solidFill>
                            <a:schemeClr val="dk1"/>
                          </a:solidFill>
                        </a:rPr>
                        <a:t>15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u="none" strike="noStrike" cap="none">
                          <a:solidFill>
                            <a:schemeClr val="dk1"/>
                          </a:solidFill>
                        </a:rPr>
                        <a:t>9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u="none" strike="noStrike" cap="none">
                          <a:solidFill>
                            <a:schemeClr val="dk1"/>
                          </a:solidFill>
                        </a:rPr>
                        <a:t>2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u="none" strike="noStrike" cap="none">
                          <a:solidFill>
                            <a:schemeClr val="dk1"/>
                          </a:solidFill>
                        </a:rPr>
                        <a:t>2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u="none" strike="noStrike" cap="none">
                          <a:solidFill>
                            <a:schemeClr val="dk1"/>
                          </a:solidFill>
                        </a:rPr>
                        <a:t>2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u="none" strike="noStrike" cap="none">
                          <a:solidFill>
                            <a:schemeClr val="dk1"/>
                          </a:solidFill>
                        </a:rPr>
                        <a:t>2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u="none" strike="noStrike" cap="none">
                          <a:solidFill>
                            <a:schemeClr val="dk1"/>
                          </a:solidFill>
                        </a:rPr>
                        <a:t>10</a:t>
                      </a:r>
                      <a:endParaRPr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3" name="Google Shape;1303;p50"/>
          <p:cNvSpPr txBox="1">
            <a:spLocks noGrp="1"/>
          </p:cNvSpPr>
          <p:nvPr>
            <p:ph type="body" idx="1"/>
          </p:nvPr>
        </p:nvSpPr>
        <p:spPr>
          <a:xfrm>
            <a:off x="838200" y="1227909"/>
            <a:ext cx="10515600" cy="49490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2100"/>
              <a:buFont typeface="Arial"/>
              <a:buChar char="●"/>
            </a:pPr>
            <a:r>
              <a:rPr lang="en-US"/>
              <a:t>It is TRYING to make the array into a max heap</a:t>
            </a:r>
            <a:endParaRPr/>
          </a:p>
          <a:p>
            <a:pPr marL="342900" marR="0" lvl="0" indent="-3429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0033CC"/>
              </a:buClr>
              <a:buSzPts val="2100"/>
              <a:buFont typeface="Arial"/>
              <a:buChar char="●"/>
            </a:pPr>
            <a:r>
              <a:rPr lang="en-US"/>
              <a:t>But it may not fully succeed</a:t>
            </a:r>
            <a:endParaRPr/>
          </a:p>
          <a:p>
            <a:pPr marL="342900" marR="0" lvl="0" indent="-3429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0033CC"/>
              </a:buClr>
              <a:buSzPts val="2100"/>
              <a:buFont typeface="Arial"/>
              <a:buChar char="●"/>
            </a:pPr>
            <a:r>
              <a:rPr lang="en-US"/>
              <a:t>Let us consider the following example</a:t>
            </a:r>
            <a:endParaRPr/>
          </a:p>
          <a:p>
            <a:pPr marL="342900" marR="0" lvl="0" indent="-20955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0033CC"/>
              </a:buClr>
              <a:buSzPts val="2100"/>
              <a:buFont typeface="Arial"/>
              <a:buNone/>
            </a:pPr>
            <a:endParaRPr/>
          </a:p>
          <a:p>
            <a:pPr marL="342900" marR="0" lvl="0" indent="-20955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0033CC"/>
              </a:buClr>
              <a:buSzPts val="2100"/>
              <a:buFont typeface="Arial"/>
              <a:buNone/>
            </a:pPr>
            <a:endParaRPr/>
          </a:p>
        </p:txBody>
      </p:sp>
      <p:sp>
        <p:nvSpPr>
          <p:cNvPr id="1304" name="Google Shape;1304;p50"/>
          <p:cNvSpPr txBox="1">
            <a:spLocks noGrp="1"/>
          </p:cNvSpPr>
          <p:nvPr>
            <p:ph type="dt" idx="10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39F1A2CD-50DB-40BB-87C4-C75C738701CA}" type="datetime1">
              <a:rPr lang="en-US" smtClean="0"/>
              <a:t>1/12/2026</a:t>
            </a:fld>
            <a:endParaRPr/>
          </a:p>
        </p:txBody>
      </p:sp>
      <p:sp>
        <p:nvSpPr>
          <p:cNvPr id="1305" name="Google Shape;1305;p50"/>
          <p:cNvSpPr txBox="1">
            <a:spLocks noGrp="1"/>
          </p:cNvSpPr>
          <p:nvPr>
            <p:ph type="ftr" idx="11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Lec Asif Abrar, Dept of CSE, UIU</a:t>
            </a:r>
            <a:endParaRPr/>
          </a:p>
        </p:txBody>
      </p:sp>
      <p:sp>
        <p:nvSpPr>
          <p:cNvPr id="1306" name="Google Shape;1306;p50"/>
          <p:cNvSpPr txBox="1">
            <a:spLocks noGrp="1"/>
          </p:cNvSpPr>
          <p:nvPr>
            <p:ph type="sldNum" idx="12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36</a:t>
            </a:fld>
            <a:endParaRPr/>
          </a:p>
        </p:txBody>
      </p:sp>
      <p:sp>
        <p:nvSpPr>
          <p:cNvPr id="1307" name="Google Shape;1307;p50"/>
          <p:cNvSpPr txBox="1">
            <a:spLocks noGrp="1"/>
          </p:cNvSpPr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/>
              <a:t>Max Heapify</a:t>
            </a:r>
            <a:endParaRPr/>
          </a:p>
        </p:txBody>
      </p:sp>
      <p:sp>
        <p:nvSpPr>
          <p:cNvPr id="1308" name="Google Shape;1308;p50"/>
          <p:cNvSpPr/>
          <p:nvPr/>
        </p:nvSpPr>
        <p:spPr>
          <a:xfrm>
            <a:off x="4798314" y="2773376"/>
            <a:ext cx="558800" cy="558800"/>
          </a:xfrm>
          <a:prstGeom prst="ellipse">
            <a:avLst/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/>
          </a:p>
        </p:txBody>
      </p:sp>
      <p:sp>
        <p:nvSpPr>
          <p:cNvPr id="1309" name="Google Shape;1309;p50"/>
          <p:cNvSpPr/>
          <p:nvPr/>
        </p:nvSpPr>
        <p:spPr>
          <a:xfrm>
            <a:off x="3248914" y="3692472"/>
            <a:ext cx="558800" cy="558800"/>
          </a:xfrm>
          <a:prstGeom prst="ellipse">
            <a:avLst/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/>
          </a:p>
        </p:txBody>
      </p:sp>
      <p:sp>
        <p:nvSpPr>
          <p:cNvPr id="1310" name="Google Shape;1310;p50"/>
          <p:cNvSpPr/>
          <p:nvPr/>
        </p:nvSpPr>
        <p:spPr>
          <a:xfrm>
            <a:off x="2315882" y="4501895"/>
            <a:ext cx="558800" cy="558800"/>
          </a:xfrm>
          <a:prstGeom prst="ellipse">
            <a:avLst/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endParaRPr/>
          </a:p>
        </p:txBody>
      </p:sp>
      <p:sp>
        <p:nvSpPr>
          <p:cNvPr id="1311" name="Google Shape;1311;p50"/>
          <p:cNvSpPr/>
          <p:nvPr/>
        </p:nvSpPr>
        <p:spPr>
          <a:xfrm>
            <a:off x="1485587" y="5554658"/>
            <a:ext cx="558800" cy="558800"/>
          </a:xfrm>
          <a:prstGeom prst="ellipse">
            <a:avLst/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  <p:sp>
        <p:nvSpPr>
          <p:cNvPr id="1312" name="Google Shape;1312;p50"/>
          <p:cNvSpPr/>
          <p:nvPr/>
        </p:nvSpPr>
        <p:spPr>
          <a:xfrm>
            <a:off x="2771948" y="5614163"/>
            <a:ext cx="558800" cy="558800"/>
          </a:xfrm>
          <a:prstGeom prst="ellipse">
            <a:avLst/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/>
          </a:p>
        </p:txBody>
      </p:sp>
      <p:sp>
        <p:nvSpPr>
          <p:cNvPr id="1313" name="Google Shape;1313;p50"/>
          <p:cNvSpPr/>
          <p:nvPr/>
        </p:nvSpPr>
        <p:spPr>
          <a:xfrm>
            <a:off x="4197746" y="4557225"/>
            <a:ext cx="558800" cy="558800"/>
          </a:xfrm>
          <a:prstGeom prst="ellipse">
            <a:avLst/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  <p:sp>
        <p:nvSpPr>
          <p:cNvPr id="1314" name="Google Shape;1314;p50"/>
          <p:cNvSpPr/>
          <p:nvPr/>
        </p:nvSpPr>
        <p:spPr>
          <a:xfrm>
            <a:off x="6164836" y="3692472"/>
            <a:ext cx="558800" cy="558800"/>
          </a:xfrm>
          <a:prstGeom prst="ellipse">
            <a:avLst/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15</a:t>
            </a:r>
            <a:endParaRPr/>
          </a:p>
        </p:txBody>
      </p:sp>
      <p:sp>
        <p:nvSpPr>
          <p:cNvPr id="1315" name="Google Shape;1315;p50"/>
          <p:cNvSpPr/>
          <p:nvPr/>
        </p:nvSpPr>
        <p:spPr>
          <a:xfrm>
            <a:off x="5410178" y="4584315"/>
            <a:ext cx="558800" cy="558800"/>
          </a:xfrm>
          <a:prstGeom prst="ellipse">
            <a:avLst/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  <p:sp>
        <p:nvSpPr>
          <p:cNvPr id="1316" name="Google Shape;1316;p50"/>
          <p:cNvSpPr/>
          <p:nvPr/>
        </p:nvSpPr>
        <p:spPr>
          <a:xfrm>
            <a:off x="6942074" y="4584315"/>
            <a:ext cx="558800" cy="558800"/>
          </a:xfrm>
          <a:prstGeom prst="ellipse">
            <a:avLst/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  <p:cxnSp>
        <p:nvCxnSpPr>
          <p:cNvPr id="1317" name="Google Shape;1317;p50"/>
          <p:cNvCxnSpPr>
            <a:stCxn id="1308" idx="3"/>
            <a:endCxn id="1309" idx="7"/>
          </p:cNvCxnSpPr>
          <p:nvPr/>
        </p:nvCxnSpPr>
        <p:spPr>
          <a:xfrm flipH="1">
            <a:off x="3725748" y="3250342"/>
            <a:ext cx="1154400" cy="5241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1318" name="Google Shape;1318;p50"/>
          <p:cNvCxnSpPr>
            <a:stCxn id="1314" idx="1"/>
            <a:endCxn id="1308" idx="5"/>
          </p:cNvCxnSpPr>
          <p:nvPr/>
        </p:nvCxnSpPr>
        <p:spPr>
          <a:xfrm rot="10800000">
            <a:off x="5275270" y="3250206"/>
            <a:ext cx="971400" cy="5241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1319" name="Google Shape;1319;p50"/>
          <p:cNvCxnSpPr>
            <a:stCxn id="1316" idx="1"/>
            <a:endCxn id="1314" idx="5"/>
          </p:cNvCxnSpPr>
          <p:nvPr/>
        </p:nvCxnSpPr>
        <p:spPr>
          <a:xfrm rot="10800000">
            <a:off x="6641708" y="4169349"/>
            <a:ext cx="382200" cy="4968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1320" name="Google Shape;1320;p50"/>
          <p:cNvCxnSpPr>
            <a:stCxn id="1315" idx="7"/>
            <a:endCxn id="1314" idx="3"/>
          </p:cNvCxnSpPr>
          <p:nvPr/>
        </p:nvCxnSpPr>
        <p:spPr>
          <a:xfrm rot="10800000" flipH="1">
            <a:off x="5887144" y="4169349"/>
            <a:ext cx="359400" cy="4968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1321" name="Google Shape;1321;p50"/>
          <p:cNvCxnSpPr>
            <a:stCxn id="1309" idx="3"/>
            <a:endCxn id="1310" idx="7"/>
          </p:cNvCxnSpPr>
          <p:nvPr/>
        </p:nvCxnSpPr>
        <p:spPr>
          <a:xfrm flipH="1">
            <a:off x="2792848" y="4169438"/>
            <a:ext cx="537900" cy="4143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1322" name="Google Shape;1322;p50"/>
          <p:cNvCxnSpPr>
            <a:stCxn id="1309" idx="5"/>
            <a:endCxn id="1313" idx="1"/>
          </p:cNvCxnSpPr>
          <p:nvPr/>
        </p:nvCxnSpPr>
        <p:spPr>
          <a:xfrm>
            <a:off x="3725880" y="4169438"/>
            <a:ext cx="553800" cy="4695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1323" name="Google Shape;1323;p50"/>
          <p:cNvCxnSpPr>
            <a:stCxn id="1310" idx="3"/>
            <a:endCxn id="1311" idx="7"/>
          </p:cNvCxnSpPr>
          <p:nvPr/>
        </p:nvCxnSpPr>
        <p:spPr>
          <a:xfrm flipH="1">
            <a:off x="1962416" y="4978861"/>
            <a:ext cx="435300" cy="6576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1324" name="Google Shape;1324;p50"/>
          <p:cNvCxnSpPr>
            <a:stCxn id="1310" idx="5"/>
            <a:endCxn id="1312" idx="0"/>
          </p:cNvCxnSpPr>
          <p:nvPr/>
        </p:nvCxnSpPr>
        <p:spPr>
          <a:xfrm>
            <a:off x="2792848" y="4978861"/>
            <a:ext cx="258600" cy="6354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325" name="Google Shape;1325;p50"/>
          <p:cNvSpPr txBox="1"/>
          <p:nvPr/>
        </p:nvSpPr>
        <p:spPr>
          <a:xfrm>
            <a:off x="4496628" y="2782899"/>
            <a:ext cx="30168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1326" name="Google Shape;1326;p50"/>
          <p:cNvSpPr txBox="1"/>
          <p:nvPr/>
        </p:nvSpPr>
        <p:spPr>
          <a:xfrm>
            <a:off x="2947228" y="3564260"/>
            <a:ext cx="30168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  <p:sp>
        <p:nvSpPr>
          <p:cNvPr id="1327" name="Google Shape;1327;p50"/>
          <p:cNvSpPr txBox="1"/>
          <p:nvPr/>
        </p:nvSpPr>
        <p:spPr>
          <a:xfrm>
            <a:off x="6334310" y="3346829"/>
            <a:ext cx="30168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/>
          </a:p>
        </p:txBody>
      </p:sp>
      <p:sp>
        <p:nvSpPr>
          <p:cNvPr id="1328" name="Google Shape;1328;p50"/>
          <p:cNvSpPr txBox="1"/>
          <p:nvPr/>
        </p:nvSpPr>
        <p:spPr>
          <a:xfrm>
            <a:off x="2185233" y="4251272"/>
            <a:ext cx="30168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/>
          </a:p>
        </p:txBody>
      </p:sp>
      <p:sp>
        <p:nvSpPr>
          <p:cNvPr id="1329" name="Google Shape;1329;p50"/>
          <p:cNvSpPr txBox="1"/>
          <p:nvPr/>
        </p:nvSpPr>
        <p:spPr>
          <a:xfrm>
            <a:off x="1321061" y="5227696"/>
            <a:ext cx="30168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/>
          </a:p>
        </p:txBody>
      </p:sp>
      <p:sp>
        <p:nvSpPr>
          <p:cNvPr id="1330" name="Google Shape;1330;p50"/>
          <p:cNvSpPr txBox="1"/>
          <p:nvPr/>
        </p:nvSpPr>
        <p:spPr>
          <a:xfrm>
            <a:off x="2590809" y="5225158"/>
            <a:ext cx="30168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endParaRPr/>
          </a:p>
        </p:txBody>
      </p:sp>
      <p:sp>
        <p:nvSpPr>
          <p:cNvPr id="1331" name="Google Shape;1331;p50"/>
          <p:cNvSpPr txBox="1"/>
          <p:nvPr/>
        </p:nvSpPr>
        <p:spPr>
          <a:xfrm>
            <a:off x="4416033" y="4266792"/>
            <a:ext cx="30168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/>
          </a:p>
        </p:txBody>
      </p:sp>
      <p:sp>
        <p:nvSpPr>
          <p:cNvPr id="1332" name="Google Shape;1332;p50"/>
          <p:cNvSpPr txBox="1"/>
          <p:nvPr/>
        </p:nvSpPr>
        <p:spPr>
          <a:xfrm>
            <a:off x="5499910" y="4277126"/>
            <a:ext cx="30168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/>
          </a:p>
        </p:txBody>
      </p:sp>
      <p:sp>
        <p:nvSpPr>
          <p:cNvPr id="1333" name="Google Shape;1333;p50"/>
          <p:cNvSpPr txBox="1"/>
          <p:nvPr/>
        </p:nvSpPr>
        <p:spPr>
          <a:xfrm>
            <a:off x="7104893" y="4287033"/>
            <a:ext cx="30168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/>
          </a:p>
        </p:txBody>
      </p:sp>
      <p:sp>
        <p:nvSpPr>
          <p:cNvPr id="1334" name="Google Shape;1334;p50"/>
          <p:cNvSpPr/>
          <p:nvPr/>
        </p:nvSpPr>
        <p:spPr>
          <a:xfrm>
            <a:off x="3991226" y="3910872"/>
            <a:ext cx="1990097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MaxHeapify(A,6)</a:t>
            </a:r>
            <a:endParaRPr/>
          </a:p>
        </p:txBody>
      </p:sp>
      <p:sp>
        <p:nvSpPr>
          <p:cNvPr id="1335" name="Google Shape;1335;p50"/>
          <p:cNvSpPr/>
          <p:nvPr/>
        </p:nvSpPr>
        <p:spPr>
          <a:xfrm>
            <a:off x="4737354" y="5030999"/>
            <a:ext cx="808425" cy="375459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accent2"/>
          </a:solidFill>
          <a:ln w="12700" cap="flat" cmpd="sng">
            <a:solidFill>
              <a:srgbClr val="AC5B23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Largest</a:t>
            </a:r>
            <a:endParaRPr/>
          </a:p>
        </p:txBody>
      </p:sp>
      <p:graphicFrame>
        <p:nvGraphicFramePr>
          <p:cNvPr id="1336" name="Google Shape;1336;p50"/>
          <p:cNvGraphicFramePr/>
          <p:nvPr/>
        </p:nvGraphicFramePr>
        <p:xfrm>
          <a:off x="7500874" y="2031696"/>
          <a:ext cx="4249800" cy="741700"/>
        </p:xfrm>
        <a:graphic>
          <a:graphicData uri="http://schemas.openxmlformats.org/drawingml/2006/table">
            <a:tbl>
              <a:tblPr firstRow="1" bandRow="1">
                <a:noFill/>
                <a:tableStyleId>{66088737-8E24-4614-AAA7-3D08145F63E1}</a:tableStyleId>
              </a:tblPr>
              <a:tblGrid>
                <a:gridCol w="472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2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72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72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722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722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722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722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4722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1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2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3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4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5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6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7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8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9</a:t>
                      </a:r>
                      <a:endParaRPr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u="none" strike="noStrike" cap="none">
                          <a:solidFill>
                            <a:schemeClr val="dk1"/>
                          </a:solidFill>
                        </a:rPr>
                        <a:t>8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u="none" strike="noStrike" cap="none">
                          <a:solidFill>
                            <a:schemeClr val="dk1"/>
                          </a:solidFill>
                        </a:rPr>
                        <a:t>7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u="none" strike="noStrike" cap="none">
                          <a:solidFill>
                            <a:schemeClr val="dk1"/>
                          </a:solidFill>
                        </a:rPr>
                        <a:t>15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u="none" strike="noStrike" cap="none">
                          <a:solidFill>
                            <a:schemeClr val="dk1"/>
                          </a:solidFill>
                        </a:rPr>
                        <a:t>9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u="none" strike="noStrike" cap="none">
                          <a:solidFill>
                            <a:schemeClr val="dk1"/>
                          </a:solidFill>
                        </a:rPr>
                        <a:t>2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u="none" strike="noStrike" cap="none">
                          <a:solidFill>
                            <a:schemeClr val="dk1"/>
                          </a:solidFill>
                        </a:rPr>
                        <a:t>2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u="none" strike="noStrike" cap="none">
                          <a:solidFill>
                            <a:schemeClr val="dk1"/>
                          </a:solidFill>
                        </a:rPr>
                        <a:t>2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u="none" strike="noStrike" cap="none">
                          <a:solidFill>
                            <a:schemeClr val="dk1"/>
                          </a:solidFill>
                        </a:rPr>
                        <a:t>2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u="none" strike="noStrike" cap="none">
                          <a:solidFill>
                            <a:schemeClr val="dk1"/>
                          </a:solidFill>
                        </a:rPr>
                        <a:t>10</a:t>
                      </a:r>
                      <a:endParaRPr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1" name="Google Shape;1341;p51"/>
          <p:cNvSpPr txBox="1">
            <a:spLocks noGrp="1"/>
          </p:cNvSpPr>
          <p:nvPr>
            <p:ph type="body" idx="1"/>
          </p:nvPr>
        </p:nvSpPr>
        <p:spPr>
          <a:xfrm>
            <a:off x="838200" y="1227909"/>
            <a:ext cx="10515600" cy="49490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2100"/>
              <a:buFont typeface="Arial"/>
              <a:buChar char="●"/>
            </a:pPr>
            <a:r>
              <a:rPr lang="en-US"/>
              <a:t>It is TRYING to make the array into a max heap</a:t>
            </a:r>
            <a:endParaRPr/>
          </a:p>
          <a:p>
            <a:pPr marL="342900" marR="0" lvl="0" indent="-3429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0033CC"/>
              </a:buClr>
              <a:buSzPts val="2100"/>
              <a:buFont typeface="Arial"/>
              <a:buChar char="●"/>
            </a:pPr>
            <a:r>
              <a:rPr lang="en-US"/>
              <a:t>But it may not fully succeed</a:t>
            </a:r>
            <a:endParaRPr/>
          </a:p>
          <a:p>
            <a:pPr marL="342900" marR="0" lvl="0" indent="-3429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0033CC"/>
              </a:buClr>
              <a:buSzPts val="2100"/>
              <a:buFont typeface="Arial"/>
              <a:buChar char="●"/>
            </a:pPr>
            <a:r>
              <a:rPr lang="en-US"/>
              <a:t>Let us consider the following example</a:t>
            </a:r>
            <a:endParaRPr/>
          </a:p>
          <a:p>
            <a:pPr marL="342900" marR="0" lvl="0" indent="-20955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0033CC"/>
              </a:buClr>
              <a:buSzPts val="2100"/>
              <a:buFont typeface="Arial"/>
              <a:buNone/>
            </a:pPr>
            <a:endParaRPr/>
          </a:p>
          <a:p>
            <a:pPr marL="342900" marR="0" lvl="0" indent="-20955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0033CC"/>
              </a:buClr>
              <a:buSzPts val="2100"/>
              <a:buFont typeface="Arial"/>
              <a:buNone/>
            </a:pPr>
            <a:endParaRPr/>
          </a:p>
        </p:txBody>
      </p:sp>
      <p:sp>
        <p:nvSpPr>
          <p:cNvPr id="1342" name="Google Shape;1342;p51"/>
          <p:cNvSpPr txBox="1">
            <a:spLocks noGrp="1"/>
          </p:cNvSpPr>
          <p:nvPr>
            <p:ph type="dt" idx="10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A3FA92B-3F55-4DE4-81FC-9E3522694B69}" type="datetime1">
              <a:rPr lang="en-US" smtClean="0"/>
              <a:t>1/12/2026</a:t>
            </a:fld>
            <a:endParaRPr/>
          </a:p>
        </p:txBody>
      </p:sp>
      <p:sp>
        <p:nvSpPr>
          <p:cNvPr id="1343" name="Google Shape;1343;p51"/>
          <p:cNvSpPr txBox="1">
            <a:spLocks noGrp="1"/>
          </p:cNvSpPr>
          <p:nvPr>
            <p:ph type="ftr" idx="11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Lec Asif Abrar, Dept of CSE, UIU</a:t>
            </a:r>
            <a:endParaRPr/>
          </a:p>
        </p:txBody>
      </p:sp>
      <p:sp>
        <p:nvSpPr>
          <p:cNvPr id="1344" name="Google Shape;1344;p51"/>
          <p:cNvSpPr txBox="1">
            <a:spLocks noGrp="1"/>
          </p:cNvSpPr>
          <p:nvPr>
            <p:ph type="sldNum" idx="12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37</a:t>
            </a:fld>
            <a:endParaRPr/>
          </a:p>
        </p:txBody>
      </p:sp>
      <p:sp>
        <p:nvSpPr>
          <p:cNvPr id="1345" name="Google Shape;1345;p51"/>
          <p:cNvSpPr txBox="1">
            <a:spLocks noGrp="1"/>
          </p:cNvSpPr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/>
              <a:t>Max Heapify</a:t>
            </a:r>
            <a:endParaRPr/>
          </a:p>
        </p:txBody>
      </p:sp>
      <p:sp>
        <p:nvSpPr>
          <p:cNvPr id="1346" name="Google Shape;1346;p51"/>
          <p:cNvSpPr/>
          <p:nvPr/>
        </p:nvSpPr>
        <p:spPr>
          <a:xfrm>
            <a:off x="4798314" y="2773376"/>
            <a:ext cx="558800" cy="558800"/>
          </a:xfrm>
          <a:prstGeom prst="ellipse">
            <a:avLst/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/>
          </a:p>
        </p:txBody>
      </p:sp>
      <p:sp>
        <p:nvSpPr>
          <p:cNvPr id="1347" name="Google Shape;1347;p51"/>
          <p:cNvSpPr/>
          <p:nvPr/>
        </p:nvSpPr>
        <p:spPr>
          <a:xfrm>
            <a:off x="3248914" y="3692472"/>
            <a:ext cx="558800" cy="558800"/>
          </a:xfrm>
          <a:prstGeom prst="ellipse">
            <a:avLst/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/>
          </a:p>
        </p:txBody>
      </p:sp>
      <p:sp>
        <p:nvSpPr>
          <p:cNvPr id="1348" name="Google Shape;1348;p51"/>
          <p:cNvSpPr/>
          <p:nvPr/>
        </p:nvSpPr>
        <p:spPr>
          <a:xfrm>
            <a:off x="2315882" y="4501895"/>
            <a:ext cx="558800" cy="558800"/>
          </a:xfrm>
          <a:prstGeom prst="ellipse">
            <a:avLst/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endParaRPr/>
          </a:p>
        </p:txBody>
      </p:sp>
      <p:sp>
        <p:nvSpPr>
          <p:cNvPr id="1349" name="Google Shape;1349;p51"/>
          <p:cNvSpPr/>
          <p:nvPr/>
        </p:nvSpPr>
        <p:spPr>
          <a:xfrm>
            <a:off x="1485587" y="5554658"/>
            <a:ext cx="558800" cy="558800"/>
          </a:xfrm>
          <a:prstGeom prst="ellipse">
            <a:avLst/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  <p:sp>
        <p:nvSpPr>
          <p:cNvPr id="1350" name="Google Shape;1350;p51"/>
          <p:cNvSpPr/>
          <p:nvPr/>
        </p:nvSpPr>
        <p:spPr>
          <a:xfrm>
            <a:off x="2771948" y="5614163"/>
            <a:ext cx="558800" cy="558800"/>
          </a:xfrm>
          <a:prstGeom prst="ellipse">
            <a:avLst/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/>
          </a:p>
        </p:txBody>
      </p:sp>
      <p:sp>
        <p:nvSpPr>
          <p:cNvPr id="1351" name="Google Shape;1351;p51"/>
          <p:cNvSpPr/>
          <p:nvPr/>
        </p:nvSpPr>
        <p:spPr>
          <a:xfrm>
            <a:off x="4197746" y="4557225"/>
            <a:ext cx="558800" cy="558800"/>
          </a:xfrm>
          <a:prstGeom prst="ellipse">
            <a:avLst/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  <p:sp>
        <p:nvSpPr>
          <p:cNvPr id="1352" name="Google Shape;1352;p51"/>
          <p:cNvSpPr/>
          <p:nvPr/>
        </p:nvSpPr>
        <p:spPr>
          <a:xfrm>
            <a:off x="6164836" y="3692472"/>
            <a:ext cx="558800" cy="558800"/>
          </a:xfrm>
          <a:prstGeom prst="ellipse">
            <a:avLst/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15</a:t>
            </a:r>
            <a:endParaRPr/>
          </a:p>
        </p:txBody>
      </p:sp>
      <p:sp>
        <p:nvSpPr>
          <p:cNvPr id="1353" name="Google Shape;1353;p51"/>
          <p:cNvSpPr/>
          <p:nvPr/>
        </p:nvSpPr>
        <p:spPr>
          <a:xfrm>
            <a:off x="5410178" y="4584315"/>
            <a:ext cx="558800" cy="558800"/>
          </a:xfrm>
          <a:prstGeom prst="ellipse">
            <a:avLst/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  <p:sp>
        <p:nvSpPr>
          <p:cNvPr id="1354" name="Google Shape;1354;p51"/>
          <p:cNvSpPr/>
          <p:nvPr/>
        </p:nvSpPr>
        <p:spPr>
          <a:xfrm>
            <a:off x="6942074" y="4584315"/>
            <a:ext cx="558800" cy="558800"/>
          </a:xfrm>
          <a:prstGeom prst="ellipse">
            <a:avLst/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  <p:cxnSp>
        <p:nvCxnSpPr>
          <p:cNvPr id="1355" name="Google Shape;1355;p51"/>
          <p:cNvCxnSpPr>
            <a:stCxn id="1346" idx="3"/>
            <a:endCxn id="1347" idx="7"/>
          </p:cNvCxnSpPr>
          <p:nvPr/>
        </p:nvCxnSpPr>
        <p:spPr>
          <a:xfrm flipH="1">
            <a:off x="3725748" y="3250342"/>
            <a:ext cx="1154400" cy="5241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1356" name="Google Shape;1356;p51"/>
          <p:cNvCxnSpPr>
            <a:stCxn id="1352" idx="1"/>
            <a:endCxn id="1346" idx="5"/>
          </p:cNvCxnSpPr>
          <p:nvPr/>
        </p:nvCxnSpPr>
        <p:spPr>
          <a:xfrm rot="10800000">
            <a:off x="5275270" y="3250206"/>
            <a:ext cx="971400" cy="5241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1357" name="Google Shape;1357;p51"/>
          <p:cNvCxnSpPr>
            <a:stCxn id="1354" idx="1"/>
            <a:endCxn id="1352" idx="5"/>
          </p:cNvCxnSpPr>
          <p:nvPr/>
        </p:nvCxnSpPr>
        <p:spPr>
          <a:xfrm rot="10800000">
            <a:off x="6641708" y="4169349"/>
            <a:ext cx="382200" cy="4968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1358" name="Google Shape;1358;p51"/>
          <p:cNvCxnSpPr>
            <a:stCxn id="1353" idx="7"/>
            <a:endCxn id="1352" idx="3"/>
          </p:cNvCxnSpPr>
          <p:nvPr/>
        </p:nvCxnSpPr>
        <p:spPr>
          <a:xfrm rot="10800000" flipH="1">
            <a:off x="5887144" y="4169349"/>
            <a:ext cx="359400" cy="4968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1359" name="Google Shape;1359;p51"/>
          <p:cNvCxnSpPr>
            <a:stCxn id="1347" idx="3"/>
            <a:endCxn id="1348" idx="7"/>
          </p:cNvCxnSpPr>
          <p:nvPr/>
        </p:nvCxnSpPr>
        <p:spPr>
          <a:xfrm flipH="1">
            <a:off x="2792848" y="4169438"/>
            <a:ext cx="537900" cy="4143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1360" name="Google Shape;1360;p51"/>
          <p:cNvCxnSpPr>
            <a:stCxn id="1347" idx="5"/>
            <a:endCxn id="1351" idx="1"/>
          </p:cNvCxnSpPr>
          <p:nvPr/>
        </p:nvCxnSpPr>
        <p:spPr>
          <a:xfrm>
            <a:off x="3725880" y="4169438"/>
            <a:ext cx="553800" cy="4695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1361" name="Google Shape;1361;p51"/>
          <p:cNvCxnSpPr>
            <a:stCxn id="1348" idx="3"/>
            <a:endCxn id="1349" idx="7"/>
          </p:cNvCxnSpPr>
          <p:nvPr/>
        </p:nvCxnSpPr>
        <p:spPr>
          <a:xfrm flipH="1">
            <a:off x="1962416" y="4978861"/>
            <a:ext cx="435300" cy="6576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1362" name="Google Shape;1362;p51"/>
          <p:cNvCxnSpPr>
            <a:stCxn id="1348" idx="5"/>
            <a:endCxn id="1350" idx="0"/>
          </p:cNvCxnSpPr>
          <p:nvPr/>
        </p:nvCxnSpPr>
        <p:spPr>
          <a:xfrm>
            <a:off x="2792848" y="4978861"/>
            <a:ext cx="258600" cy="6354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363" name="Google Shape;1363;p51"/>
          <p:cNvSpPr txBox="1"/>
          <p:nvPr/>
        </p:nvSpPr>
        <p:spPr>
          <a:xfrm>
            <a:off x="4496628" y="2782899"/>
            <a:ext cx="30168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1364" name="Google Shape;1364;p51"/>
          <p:cNvSpPr txBox="1"/>
          <p:nvPr/>
        </p:nvSpPr>
        <p:spPr>
          <a:xfrm>
            <a:off x="2947228" y="3564260"/>
            <a:ext cx="30168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  <p:sp>
        <p:nvSpPr>
          <p:cNvPr id="1365" name="Google Shape;1365;p51"/>
          <p:cNvSpPr txBox="1"/>
          <p:nvPr/>
        </p:nvSpPr>
        <p:spPr>
          <a:xfrm>
            <a:off x="6334310" y="3346829"/>
            <a:ext cx="30168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/>
          </a:p>
        </p:txBody>
      </p:sp>
      <p:sp>
        <p:nvSpPr>
          <p:cNvPr id="1366" name="Google Shape;1366;p51"/>
          <p:cNvSpPr txBox="1"/>
          <p:nvPr/>
        </p:nvSpPr>
        <p:spPr>
          <a:xfrm>
            <a:off x="2185233" y="4251272"/>
            <a:ext cx="30168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/>
          </a:p>
        </p:txBody>
      </p:sp>
      <p:sp>
        <p:nvSpPr>
          <p:cNvPr id="1367" name="Google Shape;1367;p51"/>
          <p:cNvSpPr txBox="1"/>
          <p:nvPr/>
        </p:nvSpPr>
        <p:spPr>
          <a:xfrm>
            <a:off x="1321061" y="5227696"/>
            <a:ext cx="30168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/>
          </a:p>
        </p:txBody>
      </p:sp>
      <p:sp>
        <p:nvSpPr>
          <p:cNvPr id="1368" name="Google Shape;1368;p51"/>
          <p:cNvSpPr txBox="1"/>
          <p:nvPr/>
        </p:nvSpPr>
        <p:spPr>
          <a:xfrm>
            <a:off x="2590809" y="5225158"/>
            <a:ext cx="30168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endParaRPr/>
          </a:p>
        </p:txBody>
      </p:sp>
      <p:sp>
        <p:nvSpPr>
          <p:cNvPr id="1369" name="Google Shape;1369;p51"/>
          <p:cNvSpPr txBox="1"/>
          <p:nvPr/>
        </p:nvSpPr>
        <p:spPr>
          <a:xfrm>
            <a:off x="4416033" y="4266792"/>
            <a:ext cx="30168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/>
          </a:p>
        </p:txBody>
      </p:sp>
      <p:sp>
        <p:nvSpPr>
          <p:cNvPr id="1370" name="Google Shape;1370;p51"/>
          <p:cNvSpPr txBox="1"/>
          <p:nvPr/>
        </p:nvSpPr>
        <p:spPr>
          <a:xfrm>
            <a:off x="5499910" y="4277126"/>
            <a:ext cx="30168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/>
          </a:p>
        </p:txBody>
      </p:sp>
      <p:sp>
        <p:nvSpPr>
          <p:cNvPr id="1371" name="Google Shape;1371;p51"/>
          <p:cNvSpPr txBox="1"/>
          <p:nvPr/>
        </p:nvSpPr>
        <p:spPr>
          <a:xfrm>
            <a:off x="7104893" y="4287033"/>
            <a:ext cx="30168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/>
          </a:p>
        </p:txBody>
      </p:sp>
      <p:sp>
        <p:nvSpPr>
          <p:cNvPr id="1372" name="Google Shape;1372;p51"/>
          <p:cNvSpPr txBox="1"/>
          <p:nvPr/>
        </p:nvSpPr>
        <p:spPr>
          <a:xfrm>
            <a:off x="8576486" y="4066606"/>
            <a:ext cx="2796728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IS THIS A MAX HEAP NOW?</a:t>
            </a:r>
            <a:endParaRPr/>
          </a:p>
        </p:txBody>
      </p:sp>
      <p:graphicFrame>
        <p:nvGraphicFramePr>
          <p:cNvPr id="1373" name="Google Shape;1373;p51"/>
          <p:cNvGraphicFramePr/>
          <p:nvPr/>
        </p:nvGraphicFramePr>
        <p:xfrm>
          <a:off x="7500874" y="2031696"/>
          <a:ext cx="4249800" cy="741700"/>
        </p:xfrm>
        <a:graphic>
          <a:graphicData uri="http://schemas.openxmlformats.org/drawingml/2006/table">
            <a:tbl>
              <a:tblPr firstRow="1" bandRow="1">
                <a:noFill/>
                <a:tableStyleId>{66088737-8E24-4614-AAA7-3D08145F63E1}</a:tableStyleId>
              </a:tblPr>
              <a:tblGrid>
                <a:gridCol w="472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2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72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72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722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722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722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722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4722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1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2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3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4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5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6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7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8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9</a:t>
                      </a:r>
                      <a:endParaRPr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u="none" strike="noStrike" cap="none">
                          <a:solidFill>
                            <a:schemeClr val="dk1"/>
                          </a:solidFill>
                        </a:rPr>
                        <a:t>8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u="none" strike="noStrike" cap="none">
                          <a:solidFill>
                            <a:schemeClr val="dk1"/>
                          </a:solidFill>
                        </a:rPr>
                        <a:t>7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u="none" strike="noStrike" cap="none">
                          <a:solidFill>
                            <a:schemeClr val="dk1"/>
                          </a:solidFill>
                        </a:rPr>
                        <a:t>15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u="none" strike="noStrike" cap="none">
                          <a:solidFill>
                            <a:schemeClr val="dk1"/>
                          </a:solidFill>
                        </a:rPr>
                        <a:t>9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u="none" strike="noStrike" cap="none">
                          <a:solidFill>
                            <a:schemeClr val="dk1"/>
                          </a:solidFill>
                        </a:rPr>
                        <a:t>2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u="none" strike="noStrike" cap="none">
                          <a:solidFill>
                            <a:schemeClr val="dk1"/>
                          </a:solidFill>
                        </a:rPr>
                        <a:t>2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u="none" strike="noStrike" cap="none">
                          <a:solidFill>
                            <a:schemeClr val="dk1"/>
                          </a:solidFill>
                        </a:rPr>
                        <a:t>2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u="none" strike="noStrike" cap="none">
                          <a:solidFill>
                            <a:schemeClr val="dk1"/>
                          </a:solidFill>
                        </a:rPr>
                        <a:t>2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u="none" strike="noStrike" cap="none">
                          <a:solidFill>
                            <a:schemeClr val="dk1"/>
                          </a:solidFill>
                        </a:rPr>
                        <a:t>10</a:t>
                      </a:r>
                      <a:endParaRPr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8" name="Google Shape;1378;p52"/>
          <p:cNvSpPr txBox="1">
            <a:spLocks noGrp="1"/>
          </p:cNvSpPr>
          <p:nvPr>
            <p:ph type="body" idx="1"/>
          </p:nvPr>
        </p:nvSpPr>
        <p:spPr>
          <a:xfrm>
            <a:off x="838200" y="1227909"/>
            <a:ext cx="10515600" cy="49490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2100"/>
              <a:buFont typeface="Arial"/>
              <a:buChar char="●"/>
            </a:pPr>
            <a:r>
              <a:rPr lang="en-US"/>
              <a:t>It is TRYING to make the array into a max heap</a:t>
            </a:r>
            <a:endParaRPr/>
          </a:p>
          <a:p>
            <a:pPr marL="342900" marR="0" lvl="0" indent="-3429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0033CC"/>
              </a:buClr>
              <a:buSzPts val="2100"/>
              <a:buFont typeface="Arial"/>
              <a:buChar char="●"/>
            </a:pPr>
            <a:r>
              <a:rPr lang="en-US"/>
              <a:t>But it may not fully succeed</a:t>
            </a:r>
            <a:endParaRPr/>
          </a:p>
          <a:p>
            <a:pPr marL="342900" marR="0" lvl="0" indent="-3429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0033CC"/>
              </a:buClr>
              <a:buSzPts val="2100"/>
              <a:buFont typeface="Arial"/>
              <a:buChar char="●"/>
            </a:pPr>
            <a:r>
              <a:rPr lang="en-US"/>
              <a:t>Let us consider the following example</a:t>
            </a:r>
            <a:endParaRPr/>
          </a:p>
          <a:p>
            <a:pPr marL="342900" marR="0" lvl="0" indent="-20955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0033CC"/>
              </a:buClr>
              <a:buSzPts val="2100"/>
              <a:buFont typeface="Arial"/>
              <a:buNone/>
            </a:pPr>
            <a:endParaRPr/>
          </a:p>
          <a:p>
            <a:pPr marL="342900" marR="0" lvl="0" indent="-20955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0033CC"/>
              </a:buClr>
              <a:buSzPts val="2100"/>
              <a:buFont typeface="Arial"/>
              <a:buNone/>
            </a:pPr>
            <a:endParaRPr/>
          </a:p>
        </p:txBody>
      </p:sp>
      <p:sp>
        <p:nvSpPr>
          <p:cNvPr id="1379" name="Google Shape;1379;p52"/>
          <p:cNvSpPr txBox="1">
            <a:spLocks noGrp="1"/>
          </p:cNvSpPr>
          <p:nvPr>
            <p:ph type="dt" idx="10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386FB5A8-1565-4945-AE66-898974768704}" type="datetime1">
              <a:rPr lang="en-US" smtClean="0"/>
              <a:t>1/12/2026</a:t>
            </a:fld>
            <a:endParaRPr/>
          </a:p>
        </p:txBody>
      </p:sp>
      <p:sp>
        <p:nvSpPr>
          <p:cNvPr id="1380" name="Google Shape;1380;p52"/>
          <p:cNvSpPr txBox="1">
            <a:spLocks noGrp="1"/>
          </p:cNvSpPr>
          <p:nvPr>
            <p:ph type="ftr" idx="11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Lec Asif Abrar, Dept of CSE, UIU</a:t>
            </a:r>
            <a:endParaRPr/>
          </a:p>
        </p:txBody>
      </p:sp>
      <p:sp>
        <p:nvSpPr>
          <p:cNvPr id="1381" name="Google Shape;1381;p52"/>
          <p:cNvSpPr txBox="1">
            <a:spLocks noGrp="1"/>
          </p:cNvSpPr>
          <p:nvPr>
            <p:ph type="sldNum" idx="12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38</a:t>
            </a:fld>
            <a:endParaRPr/>
          </a:p>
        </p:txBody>
      </p:sp>
      <p:sp>
        <p:nvSpPr>
          <p:cNvPr id="1382" name="Google Shape;1382;p52"/>
          <p:cNvSpPr txBox="1">
            <a:spLocks noGrp="1"/>
          </p:cNvSpPr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/>
              <a:t>Max Heapify</a:t>
            </a:r>
            <a:endParaRPr/>
          </a:p>
        </p:txBody>
      </p:sp>
      <p:graphicFrame>
        <p:nvGraphicFramePr>
          <p:cNvPr id="1383" name="Google Shape;1383;p52"/>
          <p:cNvGraphicFramePr/>
          <p:nvPr/>
        </p:nvGraphicFramePr>
        <p:xfrm>
          <a:off x="7500874" y="2031696"/>
          <a:ext cx="4249800" cy="741700"/>
        </p:xfrm>
        <a:graphic>
          <a:graphicData uri="http://schemas.openxmlformats.org/drawingml/2006/table">
            <a:tbl>
              <a:tblPr firstRow="1" bandRow="1">
                <a:noFill/>
                <a:tableStyleId>{66088737-8E24-4614-AAA7-3D08145F63E1}</a:tableStyleId>
              </a:tblPr>
              <a:tblGrid>
                <a:gridCol w="472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2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72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72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722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722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722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722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4722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1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2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3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4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5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6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7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8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9</a:t>
                      </a:r>
                      <a:endParaRPr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u="none" strike="noStrike" cap="none">
                          <a:solidFill>
                            <a:schemeClr val="dk1"/>
                          </a:solidFill>
                        </a:rPr>
                        <a:t>2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u="none" strike="noStrike" cap="none">
                          <a:solidFill>
                            <a:schemeClr val="dk1"/>
                          </a:solidFill>
                        </a:rPr>
                        <a:t>7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u="none" strike="noStrike" cap="none">
                          <a:solidFill>
                            <a:schemeClr val="dk1"/>
                          </a:solidFill>
                        </a:rPr>
                        <a:t>8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u="none" strike="noStrike" cap="none">
                          <a:solidFill>
                            <a:schemeClr val="dk1"/>
                          </a:solidFill>
                        </a:rPr>
                        <a:t>9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u="none" strike="noStrike" cap="none">
                          <a:solidFill>
                            <a:schemeClr val="dk1"/>
                          </a:solidFill>
                        </a:rPr>
                        <a:t>2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u="none" strike="noStrike" cap="none">
                          <a:solidFill>
                            <a:schemeClr val="dk1"/>
                          </a:solidFill>
                        </a:rPr>
                        <a:t>15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u="none" strike="noStrike" cap="none">
                          <a:solidFill>
                            <a:schemeClr val="dk1"/>
                          </a:solidFill>
                        </a:rPr>
                        <a:t>2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u="none" strike="noStrike" cap="none">
                          <a:solidFill>
                            <a:schemeClr val="dk1"/>
                          </a:solidFill>
                        </a:rPr>
                        <a:t>2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u="none" strike="noStrike" cap="none">
                          <a:solidFill>
                            <a:schemeClr val="dk1"/>
                          </a:solidFill>
                        </a:rPr>
                        <a:t>10</a:t>
                      </a:r>
                      <a:endParaRPr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384" name="Google Shape;1384;p52"/>
          <p:cNvSpPr/>
          <p:nvPr/>
        </p:nvSpPr>
        <p:spPr>
          <a:xfrm>
            <a:off x="4798314" y="2773376"/>
            <a:ext cx="558800" cy="558800"/>
          </a:xfrm>
          <a:prstGeom prst="ellipse">
            <a:avLst/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/>
          </a:p>
        </p:txBody>
      </p:sp>
      <p:sp>
        <p:nvSpPr>
          <p:cNvPr id="1385" name="Google Shape;1385;p52"/>
          <p:cNvSpPr/>
          <p:nvPr/>
        </p:nvSpPr>
        <p:spPr>
          <a:xfrm>
            <a:off x="3248914" y="3692472"/>
            <a:ext cx="558800" cy="558800"/>
          </a:xfrm>
          <a:prstGeom prst="ellipse">
            <a:avLst/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/>
          </a:p>
        </p:txBody>
      </p:sp>
      <p:sp>
        <p:nvSpPr>
          <p:cNvPr id="1386" name="Google Shape;1386;p52"/>
          <p:cNvSpPr/>
          <p:nvPr/>
        </p:nvSpPr>
        <p:spPr>
          <a:xfrm>
            <a:off x="2315882" y="4501895"/>
            <a:ext cx="558800" cy="558800"/>
          </a:xfrm>
          <a:prstGeom prst="ellipse">
            <a:avLst/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endParaRPr/>
          </a:p>
        </p:txBody>
      </p:sp>
      <p:sp>
        <p:nvSpPr>
          <p:cNvPr id="1387" name="Google Shape;1387;p52"/>
          <p:cNvSpPr/>
          <p:nvPr/>
        </p:nvSpPr>
        <p:spPr>
          <a:xfrm>
            <a:off x="1485587" y="5554658"/>
            <a:ext cx="558800" cy="558800"/>
          </a:xfrm>
          <a:prstGeom prst="ellipse">
            <a:avLst/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  <p:sp>
        <p:nvSpPr>
          <p:cNvPr id="1388" name="Google Shape;1388;p52"/>
          <p:cNvSpPr/>
          <p:nvPr/>
        </p:nvSpPr>
        <p:spPr>
          <a:xfrm>
            <a:off x="2771948" y="5614163"/>
            <a:ext cx="558800" cy="558800"/>
          </a:xfrm>
          <a:prstGeom prst="ellipse">
            <a:avLst/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/>
          </a:p>
        </p:txBody>
      </p:sp>
      <p:sp>
        <p:nvSpPr>
          <p:cNvPr id="1389" name="Google Shape;1389;p52"/>
          <p:cNvSpPr/>
          <p:nvPr/>
        </p:nvSpPr>
        <p:spPr>
          <a:xfrm>
            <a:off x="4197746" y="4557225"/>
            <a:ext cx="558800" cy="558800"/>
          </a:xfrm>
          <a:prstGeom prst="ellipse">
            <a:avLst/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  <p:sp>
        <p:nvSpPr>
          <p:cNvPr id="1390" name="Google Shape;1390;p52"/>
          <p:cNvSpPr/>
          <p:nvPr/>
        </p:nvSpPr>
        <p:spPr>
          <a:xfrm>
            <a:off x="6164836" y="3692472"/>
            <a:ext cx="558800" cy="558800"/>
          </a:xfrm>
          <a:prstGeom prst="ellipse">
            <a:avLst/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15</a:t>
            </a:r>
            <a:endParaRPr/>
          </a:p>
        </p:txBody>
      </p:sp>
      <p:sp>
        <p:nvSpPr>
          <p:cNvPr id="1391" name="Google Shape;1391;p52"/>
          <p:cNvSpPr/>
          <p:nvPr/>
        </p:nvSpPr>
        <p:spPr>
          <a:xfrm>
            <a:off x="5410178" y="4584315"/>
            <a:ext cx="558800" cy="558800"/>
          </a:xfrm>
          <a:prstGeom prst="ellipse">
            <a:avLst/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  <p:sp>
        <p:nvSpPr>
          <p:cNvPr id="1392" name="Google Shape;1392;p52"/>
          <p:cNvSpPr/>
          <p:nvPr/>
        </p:nvSpPr>
        <p:spPr>
          <a:xfrm>
            <a:off x="6942074" y="4584315"/>
            <a:ext cx="558800" cy="558800"/>
          </a:xfrm>
          <a:prstGeom prst="ellipse">
            <a:avLst/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  <p:cxnSp>
        <p:nvCxnSpPr>
          <p:cNvPr id="1393" name="Google Shape;1393;p52"/>
          <p:cNvCxnSpPr>
            <a:stCxn id="1384" idx="3"/>
            <a:endCxn id="1385" idx="7"/>
          </p:cNvCxnSpPr>
          <p:nvPr/>
        </p:nvCxnSpPr>
        <p:spPr>
          <a:xfrm flipH="1">
            <a:off x="3725748" y="3250342"/>
            <a:ext cx="1154400" cy="5241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1394" name="Google Shape;1394;p52"/>
          <p:cNvCxnSpPr>
            <a:stCxn id="1390" idx="1"/>
            <a:endCxn id="1384" idx="5"/>
          </p:cNvCxnSpPr>
          <p:nvPr/>
        </p:nvCxnSpPr>
        <p:spPr>
          <a:xfrm rot="10800000">
            <a:off x="5275270" y="3250206"/>
            <a:ext cx="971400" cy="5241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1395" name="Google Shape;1395;p52"/>
          <p:cNvCxnSpPr>
            <a:stCxn id="1392" idx="1"/>
            <a:endCxn id="1390" idx="5"/>
          </p:cNvCxnSpPr>
          <p:nvPr/>
        </p:nvCxnSpPr>
        <p:spPr>
          <a:xfrm rot="10800000">
            <a:off x="6641708" y="4169349"/>
            <a:ext cx="382200" cy="4968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1396" name="Google Shape;1396;p52"/>
          <p:cNvCxnSpPr>
            <a:stCxn id="1391" idx="7"/>
            <a:endCxn id="1390" idx="3"/>
          </p:cNvCxnSpPr>
          <p:nvPr/>
        </p:nvCxnSpPr>
        <p:spPr>
          <a:xfrm rot="10800000" flipH="1">
            <a:off x="5887144" y="4169349"/>
            <a:ext cx="359400" cy="4968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1397" name="Google Shape;1397;p52"/>
          <p:cNvCxnSpPr>
            <a:stCxn id="1385" idx="3"/>
            <a:endCxn id="1386" idx="7"/>
          </p:cNvCxnSpPr>
          <p:nvPr/>
        </p:nvCxnSpPr>
        <p:spPr>
          <a:xfrm flipH="1">
            <a:off x="2792848" y="4169438"/>
            <a:ext cx="537900" cy="4143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1398" name="Google Shape;1398;p52"/>
          <p:cNvCxnSpPr>
            <a:stCxn id="1385" idx="5"/>
            <a:endCxn id="1389" idx="1"/>
          </p:cNvCxnSpPr>
          <p:nvPr/>
        </p:nvCxnSpPr>
        <p:spPr>
          <a:xfrm>
            <a:off x="3725880" y="4169438"/>
            <a:ext cx="553800" cy="4695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1399" name="Google Shape;1399;p52"/>
          <p:cNvCxnSpPr>
            <a:stCxn id="1386" idx="3"/>
            <a:endCxn id="1387" idx="7"/>
          </p:cNvCxnSpPr>
          <p:nvPr/>
        </p:nvCxnSpPr>
        <p:spPr>
          <a:xfrm flipH="1">
            <a:off x="1962416" y="4978861"/>
            <a:ext cx="435300" cy="6576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1400" name="Google Shape;1400;p52"/>
          <p:cNvCxnSpPr>
            <a:stCxn id="1386" idx="5"/>
            <a:endCxn id="1388" idx="0"/>
          </p:cNvCxnSpPr>
          <p:nvPr/>
        </p:nvCxnSpPr>
        <p:spPr>
          <a:xfrm>
            <a:off x="2792848" y="4978861"/>
            <a:ext cx="258600" cy="6354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401" name="Google Shape;1401;p52"/>
          <p:cNvSpPr txBox="1"/>
          <p:nvPr/>
        </p:nvSpPr>
        <p:spPr>
          <a:xfrm>
            <a:off x="4496628" y="2782899"/>
            <a:ext cx="30168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1402" name="Google Shape;1402;p52"/>
          <p:cNvSpPr txBox="1"/>
          <p:nvPr/>
        </p:nvSpPr>
        <p:spPr>
          <a:xfrm>
            <a:off x="2947228" y="3564260"/>
            <a:ext cx="30168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  <p:sp>
        <p:nvSpPr>
          <p:cNvPr id="1403" name="Google Shape;1403;p52"/>
          <p:cNvSpPr txBox="1"/>
          <p:nvPr/>
        </p:nvSpPr>
        <p:spPr>
          <a:xfrm>
            <a:off x="6334310" y="3346829"/>
            <a:ext cx="30168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/>
          </a:p>
        </p:txBody>
      </p:sp>
      <p:sp>
        <p:nvSpPr>
          <p:cNvPr id="1404" name="Google Shape;1404;p52"/>
          <p:cNvSpPr txBox="1"/>
          <p:nvPr/>
        </p:nvSpPr>
        <p:spPr>
          <a:xfrm>
            <a:off x="2185233" y="4251272"/>
            <a:ext cx="30168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/>
          </a:p>
        </p:txBody>
      </p:sp>
      <p:sp>
        <p:nvSpPr>
          <p:cNvPr id="1405" name="Google Shape;1405;p52"/>
          <p:cNvSpPr txBox="1"/>
          <p:nvPr/>
        </p:nvSpPr>
        <p:spPr>
          <a:xfrm>
            <a:off x="1321061" y="5227696"/>
            <a:ext cx="30168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/>
          </a:p>
        </p:txBody>
      </p:sp>
      <p:sp>
        <p:nvSpPr>
          <p:cNvPr id="1406" name="Google Shape;1406;p52"/>
          <p:cNvSpPr txBox="1"/>
          <p:nvPr/>
        </p:nvSpPr>
        <p:spPr>
          <a:xfrm>
            <a:off x="2590809" y="5225158"/>
            <a:ext cx="30168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endParaRPr/>
          </a:p>
        </p:txBody>
      </p:sp>
      <p:sp>
        <p:nvSpPr>
          <p:cNvPr id="1407" name="Google Shape;1407;p52"/>
          <p:cNvSpPr txBox="1"/>
          <p:nvPr/>
        </p:nvSpPr>
        <p:spPr>
          <a:xfrm>
            <a:off x="4416033" y="4266792"/>
            <a:ext cx="30168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/>
          </a:p>
        </p:txBody>
      </p:sp>
      <p:sp>
        <p:nvSpPr>
          <p:cNvPr id="1408" name="Google Shape;1408;p52"/>
          <p:cNvSpPr txBox="1"/>
          <p:nvPr/>
        </p:nvSpPr>
        <p:spPr>
          <a:xfrm>
            <a:off x="5499910" y="4277126"/>
            <a:ext cx="30168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/>
          </a:p>
        </p:txBody>
      </p:sp>
      <p:sp>
        <p:nvSpPr>
          <p:cNvPr id="1409" name="Google Shape;1409;p52"/>
          <p:cNvSpPr txBox="1"/>
          <p:nvPr/>
        </p:nvSpPr>
        <p:spPr>
          <a:xfrm>
            <a:off x="7104893" y="4287033"/>
            <a:ext cx="30168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/>
          </a:p>
        </p:txBody>
      </p:sp>
      <p:sp>
        <p:nvSpPr>
          <p:cNvPr id="1410" name="Google Shape;1410;p52"/>
          <p:cNvSpPr txBox="1"/>
          <p:nvPr/>
        </p:nvSpPr>
        <p:spPr>
          <a:xfrm>
            <a:off x="8576486" y="4066606"/>
            <a:ext cx="2796728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IS THIS A MAX HEAP NOW?</a:t>
            </a:r>
            <a:endParaRPr/>
          </a:p>
        </p:txBody>
      </p:sp>
      <p:sp>
        <p:nvSpPr>
          <p:cNvPr id="1411" name="Google Shape;1411;p52"/>
          <p:cNvSpPr/>
          <p:nvPr/>
        </p:nvSpPr>
        <p:spPr>
          <a:xfrm>
            <a:off x="2892495" y="3564260"/>
            <a:ext cx="1289451" cy="832128"/>
          </a:xfrm>
          <a:prstGeom prst="ellipse">
            <a:avLst/>
          </a:prstGeom>
          <a:noFill/>
          <a:ln w="76200" cap="flat" cmpd="sng">
            <a:solidFill>
              <a:srgbClr val="FF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2" name="Google Shape;1412;p52"/>
          <p:cNvSpPr/>
          <p:nvPr/>
        </p:nvSpPr>
        <p:spPr>
          <a:xfrm>
            <a:off x="1601712" y="3090064"/>
            <a:ext cx="997389" cy="923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0" b="0" cap="non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No</a:t>
            </a:r>
            <a:endParaRPr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7" name="Google Shape;1417;p53"/>
          <p:cNvSpPr txBox="1">
            <a:spLocks noGrp="1"/>
          </p:cNvSpPr>
          <p:nvPr>
            <p:ph type="body" idx="1"/>
          </p:nvPr>
        </p:nvSpPr>
        <p:spPr>
          <a:xfrm>
            <a:off x="838200" y="1227909"/>
            <a:ext cx="10515600" cy="49490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1500"/>
              <a:buFont typeface="Arial"/>
              <a:buChar char="●"/>
            </a:pPr>
            <a:r>
              <a:rPr lang="en-US" sz="2000"/>
              <a:t>Converts an array into a heap</a:t>
            </a:r>
            <a:endParaRPr/>
          </a:p>
          <a:p>
            <a:pPr marL="342900" marR="0" lvl="0" indent="-2667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0033CC"/>
              </a:buClr>
              <a:buSzPts val="1200"/>
              <a:buFont typeface="Arial"/>
              <a:buNone/>
            </a:pPr>
            <a:endParaRPr sz="1600"/>
          </a:p>
          <a:p>
            <a:pPr marL="342900" marR="0" lvl="0" indent="-20955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0033CC"/>
              </a:buClr>
              <a:buSzPts val="2100"/>
              <a:buFont typeface="Arial"/>
              <a:buNone/>
            </a:pPr>
            <a:endParaRPr/>
          </a:p>
        </p:txBody>
      </p:sp>
      <p:sp>
        <p:nvSpPr>
          <p:cNvPr id="1418" name="Google Shape;1418;p53"/>
          <p:cNvSpPr txBox="1">
            <a:spLocks noGrp="1"/>
          </p:cNvSpPr>
          <p:nvPr>
            <p:ph type="dt" idx="10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13FE0A56-A9FB-4B2C-8F2B-7FA4F29BD704}" type="datetime1">
              <a:rPr lang="en-US" smtClean="0"/>
              <a:t>1/12/2026</a:t>
            </a:fld>
            <a:endParaRPr/>
          </a:p>
        </p:txBody>
      </p:sp>
      <p:sp>
        <p:nvSpPr>
          <p:cNvPr id="1419" name="Google Shape;1419;p53"/>
          <p:cNvSpPr txBox="1">
            <a:spLocks noGrp="1"/>
          </p:cNvSpPr>
          <p:nvPr>
            <p:ph type="ftr" idx="11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Lec Asif Abrar, Dept of CSE, UIU</a:t>
            </a:r>
            <a:endParaRPr/>
          </a:p>
        </p:txBody>
      </p:sp>
      <p:sp>
        <p:nvSpPr>
          <p:cNvPr id="1420" name="Google Shape;1420;p53"/>
          <p:cNvSpPr txBox="1">
            <a:spLocks noGrp="1"/>
          </p:cNvSpPr>
          <p:nvPr>
            <p:ph type="sldNum" idx="12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39</a:t>
            </a:fld>
            <a:endParaRPr/>
          </a:p>
        </p:txBody>
      </p:sp>
      <p:sp>
        <p:nvSpPr>
          <p:cNvPr id="1421" name="Google Shape;1421;p53"/>
          <p:cNvSpPr txBox="1">
            <a:spLocks noGrp="1"/>
          </p:cNvSpPr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/>
              <a:t>Build Max Heap</a:t>
            </a:r>
            <a:endParaRPr/>
          </a:p>
        </p:txBody>
      </p:sp>
      <p:pic>
        <p:nvPicPr>
          <p:cNvPr id="1422" name="Google Shape;1422;p5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727514" y="2340129"/>
            <a:ext cx="5734717" cy="217774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7" name="Google Shape;1427;p54"/>
          <p:cNvSpPr txBox="1">
            <a:spLocks noGrp="1"/>
          </p:cNvSpPr>
          <p:nvPr>
            <p:ph type="body" idx="1"/>
          </p:nvPr>
        </p:nvSpPr>
        <p:spPr>
          <a:xfrm>
            <a:off x="838200" y="1227909"/>
            <a:ext cx="10515600" cy="49490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1500"/>
              <a:buFont typeface="Arial"/>
              <a:buChar char="●"/>
            </a:pPr>
            <a:r>
              <a:rPr lang="en-US" sz="2000"/>
              <a:t>Converts an array into a heap</a:t>
            </a:r>
            <a:endParaRPr/>
          </a:p>
          <a:p>
            <a:pPr marL="342900" marR="0" lvl="0" indent="-2667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0033CC"/>
              </a:buClr>
              <a:buSzPts val="1200"/>
              <a:buFont typeface="Arial"/>
              <a:buNone/>
            </a:pPr>
            <a:endParaRPr sz="1600"/>
          </a:p>
          <a:p>
            <a:pPr marL="342900" marR="0" lvl="0" indent="-20955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0033CC"/>
              </a:buClr>
              <a:buSzPts val="2100"/>
              <a:buFont typeface="Arial"/>
              <a:buNone/>
            </a:pPr>
            <a:endParaRPr/>
          </a:p>
        </p:txBody>
      </p:sp>
      <p:sp>
        <p:nvSpPr>
          <p:cNvPr id="1428" name="Google Shape;1428;p54"/>
          <p:cNvSpPr txBox="1">
            <a:spLocks noGrp="1"/>
          </p:cNvSpPr>
          <p:nvPr>
            <p:ph type="dt" idx="10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7E91301C-1BD2-429D-A1C9-1636D189DCA6}" type="datetime1">
              <a:rPr lang="en-US" smtClean="0"/>
              <a:t>1/12/2026</a:t>
            </a:fld>
            <a:endParaRPr/>
          </a:p>
        </p:txBody>
      </p:sp>
      <p:sp>
        <p:nvSpPr>
          <p:cNvPr id="1429" name="Google Shape;1429;p54"/>
          <p:cNvSpPr txBox="1">
            <a:spLocks noGrp="1"/>
          </p:cNvSpPr>
          <p:nvPr>
            <p:ph type="ftr" idx="11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Lec Asif Abrar, Dept of CSE, UIU</a:t>
            </a:r>
            <a:endParaRPr/>
          </a:p>
        </p:txBody>
      </p:sp>
      <p:sp>
        <p:nvSpPr>
          <p:cNvPr id="1430" name="Google Shape;1430;p54"/>
          <p:cNvSpPr txBox="1">
            <a:spLocks noGrp="1"/>
          </p:cNvSpPr>
          <p:nvPr>
            <p:ph type="sldNum" idx="12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40</a:t>
            </a:fld>
            <a:endParaRPr/>
          </a:p>
        </p:txBody>
      </p:sp>
      <p:sp>
        <p:nvSpPr>
          <p:cNvPr id="1431" name="Google Shape;1431;p54"/>
          <p:cNvSpPr txBox="1">
            <a:spLocks noGrp="1"/>
          </p:cNvSpPr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/>
              <a:t>Build Max Heap</a:t>
            </a:r>
            <a:endParaRPr/>
          </a:p>
        </p:txBody>
      </p:sp>
      <p:pic>
        <p:nvPicPr>
          <p:cNvPr id="1432" name="Google Shape;1432;p5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502789" y="2500385"/>
            <a:ext cx="5734717" cy="2177741"/>
          </a:xfrm>
          <a:prstGeom prst="rect">
            <a:avLst/>
          </a:prstGeom>
          <a:noFill/>
          <a:ln>
            <a:noFill/>
          </a:ln>
        </p:spPr>
      </p:pic>
      <p:sp>
        <p:nvSpPr>
          <p:cNvPr id="1433" name="Google Shape;1433;p54"/>
          <p:cNvSpPr/>
          <p:nvPr/>
        </p:nvSpPr>
        <p:spPr>
          <a:xfrm>
            <a:off x="6880463" y="3219923"/>
            <a:ext cx="5428602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cap="non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Ensuring tha</a:t>
            </a:r>
            <a:r>
              <a:rPr lang="en-US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t all the elements are on the imaginary tree</a:t>
            </a:r>
            <a:endParaRPr sz="1800" b="0" cap="none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4" name="Google Shape;1434;p54"/>
          <p:cNvSpPr/>
          <p:nvPr/>
        </p:nvSpPr>
        <p:spPr>
          <a:xfrm>
            <a:off x="6880463" y="3589255"/>
            <a:ext cx="466429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cap="non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Running Max Heapify on all nodes with children</a:t>
            </a:r>
            <a:endParaRPr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9" name="Google Shape;1439;p55"/>
          <p:cNvSpPr txBox="1">
            <a:spLocks noGrp="1"/>
          </p:cNvSpPr>
          <p:nvPr>
            <p:ph type="body" idx="1"/>
          </p:nvPr>
        </p:nvSpPr>
        <p:spPr>
          <a:xfrm>
            <a:off x="838200" y="1227909"/>
            <a:ext cx="10515600" cy="49490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2100"/>
              <a:buFont typeface="Arial"/>
              <a:buChar char="●"/>
            </a:pPr>
            <a:r>
              <a:rPr lang="en-US"/>
              <a:t>Consider the following array</a:t>
            </a:r>
            <a:endParaRPr/>
          </a:p>
        </p:txBody>
      </p:sp>
      <p:sp>
        <p:nvSpPr>
          <p:cNvPr id="1440" name="Google Shape;1440;p55"/>
          <p:cNvSpPr txBox="1">
            <a:spLocks noGrp="1"/>
          </p:cNvSpPr>
          <p:nvPr>
            <p:ph type="dt" idx="10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896030B0-1EC4-4168-8348-7598E00C3F67}" type="datetime1">
              <a:rPr lang="en-US" smtClean="0"/>
              <a:t>1/12/2026</a:t>
            </a:fld>
            <a:endParaRPr/>
          </a:p>
        </p:txBody>
      </p:sp>
      <p:sp>
        <p:nvSpPr>
          <p:cNvPr id="1441" name="Google Shape;1441;p55"/>
          <p:cNvSpPr txBox="1">
            <a:spLocks noGrp="1"/>
          </p:cNvSpPr>
          <p:nvPr>
            <p:ph type="ftr" idx="11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Lec Asif Abrar, Dept of CSE, UIU</a:t>
            </a:r>
            <a:endParaRPr/>
          </a:p>
        </p:txBody>
      </p:sp>
      <p:sp>
        <p:nvSpPr>
          <p:cNvPr id="1442" name="Google Shape;1442;p55"/>
          <p:cNvSpPr txBox="1">
            <a:spLocks noGrp="1"/>
          </p:cNvSpPr>
          <p:nvPr>
            <p:ph type="sldNum" idx="12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41</a:t>
            </a:fld>
            <a:endParaRPr/>
          </a:p>
        </p:txBody>
      </p:sp>
      <p:sp>
        <p:nvSpPr>
          <p:cNvPr id="1443" name="Google Shape;1443;p55"/>
          <p:cNvSpPr txBox="1">
            <a:spLocks noGrp="1"/>
          </p:cNvSpPr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/>
              <a:t>Build Max Heap</a:t>
            </a:r>
            <a:endParaRPr/>
          </a:p>
        </p:txBody>
      </p:sp>
      <p:pic>
        <p:nvPicPr>
          <p:cNvPr id="1444" name="Google Shape;1444;p5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38200" y="1630240"/>
            <a:ext cx="4972050" cy="971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45" name="Google Shape;1445;p55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557712" y="2389311"/>
            <a:ext cx="2543175" cy="1866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46" name="Google Shape;1446;p55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803356" y="2672944"/>
            <a:ext cx="2628900" cy="1771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47" name="Google Shape;1447;p55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019175" y="4609001"/>
            <a:ext cx="2552700" cy="1714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48" name="Google Shape;1448;p55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4519612" y="4678362"/>
            <a:ext cx="2581275" cy="1685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49" name="Google Shape;1449;p55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8153400" y="4757575"/>
            <a:ext cx="2524125" cy="1657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50" name="Google Shape;1450;p55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1104900" y="2627251"/>
            <a:ext cx="2476500" cy="1762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4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4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4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4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4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4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5" name="Google Shape;1455;p56"/>
          <p:cNvSpPr txBox="1">
            <a:spLocks noGrp="1"/>
          </p:cNvSpPr>
          <p:nvPr>
            <p:ph type="body" idx="1"/>
          </p:nvPr>
        </p:nvSpPr>
        <p:spPr>
          <a:xfrm>
            <a:off x="838200" y="1227909"/>
            <a:ext cx="10515600" cy="49490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2095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2100"/>
              <a:buFont typeface="Arial"/>
              <a:buNone/>
            </a:pPr>
            <a:endParaRPr/>
          </a:p>
        </p:txBody>
      </p:sp>
      <p:sp>
        <p:nvSpPr>
          <p:cNvPr id="1456" name="Google Shape;1456;p56"/>
          <p:cNvSpPr txBox="1">
            <a:spLocks noGrp="1"/>
          </p:cNvSpPr>
          <p:nvPr>
            <p:ph type="dt" idx="10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B3D185EA-B778-49B2-AF16-45DDF87E2174}" type="datetime1">
              <a:rPr lang="en-US" smtClean="0"/>
              <a:t>1/12/2026</a:t>
            </a:fld>
            <a:endParaRPr/>
          </a:p>
        </p:txBody>
      </p:sp>
      <p:sp>
        <p:nvSpPr>
          <p:cNvPr id="1457" name="Google Shape;1457;p56"/>
          <p:cNvSpPr txBox="1">
            <a:spLocks noGrp="1"/>
          </p:cNvSpPr>
          <p:nvPr>
            <p:ph type="ftr" idx="11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Lec Asif Abrar, Dept of CSE, UIU</a:t>
            </a:r>
            <a:endParaRPr/>
          </a:p>
        </p:txBody>
      </p:sp>
      <p:sp>
        <p:nvSpPr>
          <p:cNvPr id="1458" name="Google Shape;1458;p56"/>
          <p:cNvSpPr txBox="1">
            <a:spLocks noGrp="1"/>
          </p:cNvSpPr>
          <p:nvPr>
            <p:ph type="sldNum" idx="12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42</a:t>
            </a:fld>
            <a:endParaRPr/>
          </a:p>
        </p:txBody>
      </p:sp>
      <p:sp>
        <p:nvSpPr>
          <p:cNvPr id="1459" name="Google Shape;1459;p56"/>
          <p:cNvSpPr txBox="1">
            <a:spLocks noGrp="1"/>
          </p:cNvSpPr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/>
              <a:t>Heap Sort</a:t>
            </a:r>
            <a:endParaRPr/>
          </a:p>
        </p:txBody>
      </p:sp>
      <p:pic>
        <p:nvPicPr>
          <p:cNvPr id="1460" name="Google Shape;1460;p5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46375" y="1227909"/>
            <a:ext cx="4287435" cy="206189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461" name="Google Shape;1461;p56"/>
          <p:cNvGrpSpPr/>
          <p:nvPr/>
        </p:nvGrpSpPr>
        <p:grpSpPr>
          <a:xfrm>
            <a:off x="1357460" y="3764938"/>
            <a:ext cx="3032569" cy="1827206"/>
            <a:chOff x="1485587" y="2773376"/>
            <a:chExt cx="6015287" cy="3399587"/>
          </a:xfrm>
        </p:grpSpPr>
        <p:sp>
          <p:nvSpPr>
            <p:cNvPr id="1462" name="Google Shape;1462;p56"/>
            <p:cNvSpPr/>
            <p:nvPr/>
          </p:nvSpPr>
          <p:spPr>
            <a:xfrm>
              <a:off x="4798314" y="2773376"/>
              <a:ext cx="558800" cy="558800"/>
            </a:xfrm>
            <a:prstGeom prst="ellipse">
              <a:avLst/>
            </a:prstGeom>
            <a:solidFill>
              <a:schemeClr val="accent1"/>
            </a:solidFill>
            <a:ln w="12700" cap="flat" cmpd="sng">
              <a:solidFill>
                <a:srgbClr val="42719B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63" name="Google Shape;1463;p56"/>
            <p:cNvSpPr/>
            <p:nvPr/>
          </p:nvSpPr>
          <p:spPr>
            <a:xfrm>
              <a:off x="3248914" y="3692472"/>
              <a:ext cx="558800" cy="558800"/>
            </a:xfrm>
            <a:prstGeom prst="ellipse">
              <a:avLst/>
            </a:prstGeom>
            <a:solidFill>
              <a:schemeClr val="accent1"/>
            </a:solidFill>
            <a:ln w="12700" cap="flat" cmpd="sng">
              <a:solidFill>
                <a:srgbClr val="42719B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64" name="Google Shape;1464;p56"/>
            <p:cNvSpPr/>
            <p:nvPr/>
          </p:nvSpPr>
          <p:spPr>
            <a:xfrm>
              <a:off x="2315882" y="4501895"/>
              <a:ext cx="558800" cy="558800"/>
            </a:xfrm>
            <a:prstGeom prst="ellipse">
              <a:avLst/>
            </a:prstGeom>
            <a:solidFill>
              <a:schemeClr val="accent1"/>
            </a:solidFill>
            <a:ln w="12700" cap="flat" cmpd="sng">
              <a:solidFill>
                <a:srgbClr val="42719B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65" name="Google Shape;1465;p56"/>
            <p:cNvSpPr/>
            <p:nvPr/>
          </p:nvSpPr>
          <p:spPr>
            <a:xfrm>
              <a:off x="1485587" y="5554658"/>
              <a:ext cx="558800" cy="558800"/>
            </a:xfrm>
            <a:prstGeom prst="ellipse">
              <a:avLst/>
            </a:prstGeom>
            <a:solidFill>
              <a:schemeClr val="accent1"/>
            </a:solidFill>
            <a:ln w="12700" cap="flat" cmpd="sng">
              <a:solidFill>
                <a:srgbClr val="42719B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66" name="Google Shape;1466;p56"/>
            <p:cNvSpPr/>
            <p:nvPr/>
          </p:nvSpPr>
          <p:spPr>
            <a:xfrm>
              <a:off x="2771948" y="5614163"/>
              <a:ext cx="558800" cy="558800"/>
            </a:xfrm>
            <a:prstGeom prst="ellipse">
              <a:avLst/>
            </a:prstGeom>
            <a:solidFill>
              <a:schemeClr val="accent1"/>
            </a:solidFill>
            <a:ln w="12700" cap="flat" cmpd="sng">
              <a:solidFill>
                <a:srgbClr val="42719B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67" name="Google Shape;1467;p56"/>
            <p:cNvSpPr/>
            <p:nvPr/>
          </p:nvSpPr>
          <p:spPr>
            <a:xfrm>
              <a:off x="4197746" y="4557225"/>
              <a:ext cx="558800" cy="558800"/>
            </a:xfrm>
            <a:prstGeom prst="ellipse">
              <a:avLst/>
            </a:prstGeom>
            <a:solidFill>
              <a:schemeClr val="accent1"/>
            </a:solidFill>
            <a:ln w="12700" cap="flat" cmpd="sng">
              <a:solidFill>
                <a:srgbClr val="42719B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68" name="Google Shape;1468;p56"/>
            <p:cNvSpPr/>
            <p:nvPr/>
          </p:nvSpPr>
          <p:spPr>
            <a:xfrm>
              <a:off x="6164836" y="3692472"/>
              <a:ext cx="558800" cy="558800"/>
            </a:xfrm>
            <a:prstGeom prst="ellipse">
              <a:avLst/>
            </a:prstGeom>
            <a:solidFill>
              <a:schemeClr val="accent1"/>
            </a:solidFill>
            <a:ln w="12700" cap="flat" cmpd="sng">
              <a:solidFill>
                <a:srgbClr val="42719B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69" name="Google Shape;1469;p56"/>
            <p:cNvSpPr/>
            <p:nvPr/>
          </p:nvSpPr>
          <p:spPr>
            <a:xfrm>
              <a:off x="5410178" y="4584315"/>
              <a:ext cx="558800" cy="558800"/>
            </a:xfrm>
            <a:prstGeom prst="ellipse">
              <a:avLst/>
            </a:prstGeom>
            <a:solidFill>
              <a:schemeClr val="accent1"/>
            </a:solidFill>
            <a:ln w="12700" cap="flat" cmpd="sng">
              <a:solidFill>
                <a:srgbClr val="42719B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70" name="Google Shape;1470;p56"/>
            <p:cNvSpPr/>
            <p:nvPr/>
          </p:nvSpPr>
          <p:spPr>
            <a:xfrm>
              <a:off x="6942074" y="4584315"/>
              <a:ext cx="558800" cy="558800"/>
            </a:xfrm>
            <a:prstGeom prst="ellipse">
              <a:avLst/>
            </a:prstGeom>
            <a:solidFill>
              <a:schemeClr val="accent1"/>
            </a:solidFill>
            <a:ln w="12700" cap="flat" cmpd="sng">
              <a:solidFill>
                <a:srgbClr val="42719B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1471" name="Google Shape;1471;p56"/>
            <p:cNvCxnSpPr>
              <a:stCxn id="1462" idx="3"/>
              <a:endCxn id="1463" idx="7"/>
            </p:cNvCxnSpPr>
            <p:nvPr/>
          </p:nvCxnSpPr>
          <p:spPr>
            <a:xfrm flipH="1">
              <a:off x="3725748" y="3250342"/>
              <a:ext cx="1154400" cy="5241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1472" name="Google Shape;1472;p56"/>
            <p:cNvCxnSpPr>
              <a:stCxn id="1468" idx="1"/>
              <a:endCxn id="1462" idx="5"/>
            </p:cNvCxnSpPr>
            <p:nvPr/>
          </p:nvCxnSpPr>
          <p:spPr>
            <a:xfrm rot="10800000">
              <a:off x="5275270" y="3250206"/>
              <a:ext cx="971400" cy="5241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1473" name="Google Shape;1473;p56"/>
            <p:cNvCxnSpPr>
              <a:stCxn id="1470" idx="1"/>
              <a:endCxn id="1468" idx="5"/>
            </p:cNvCxnSpPr>
            <p:nvPr/>
          </p:nvCxnSpPr>
          <p:spPr>
            <a:xfrm rot="10800000">
              <a:off x="6641708" y="4169349"/>
              <a:ext cx="382200" cy="4968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1474" name="Google Shape;1474;p56"/>
            <p:cNvCxnSpPr>
              <a:stCxn id="1469" idx="7"/>
              <a:endCxn id="1468" idx="3"/>
            </p:cNvCxnSpPr>
            <p:nvPr/>
          </p:nvCxnSpPr>
          <p:spPr>
            <a:xfrm rot="10800000" flipH="1">
              <a:off x="5887144" y="4169349"/>
              <a:ext cx="359400" cy="4968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1475" name="Google Shape;1475;p56"/>
            <p:cNvCxnSpPr>
              <a:stCxn id="1463" idx="3"/>
              <a:endCxn id="1464" idx="7"/>
            </p:cNvCxnSpPr>
            <p:nvPr/>
          </p:nvCxnSpPr>
          <p:spPr>
            <a:xfrm flipH="1">
              <a:off x="2792848" y="4169438"/>
              <a:ext cx="537900" cy="4143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1476" name="Google Shape;1476;p56"/>
            <p:cNvCxnSpPr>
              <a:stCxn id="1463" idx="5"/>
              <a:endCxn id="1467" idx="1"/>
            </p:cNvCxnSpPr>
            <p:nvPr/>
          </p:nvCxnSpPr>
          <p:spPr>
            <a:xfrm>
              <a:off x="3725880" y="4169438"/>
              <a:ext cx="553800" cy="4695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1477" name="Google Shape;1477;p56"/>
            <p:cNvCxnSpPr>
              <a:stCxn id="1464" idx="3"/>
              <a:endCxn id="1465" idx="7"/>
            </p:cNvCxnSpPr>
            <p:nvPr/>
          </p:nvCxnSpPr>
          <p:spPr>
            <a:xfrm flipH="1">
              <a:off x="1962416" y="4978861"/>
              <a:ext cx="435300" cy="6576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1478" name="Google Shape;1478;p56"/>
            <p:cNvCxnSpPr>
              <a:stCxn id="1464" idx="5"/>
              <a:endCxn id="1466" idx="0"/>
            </p:cNvCxnSpPr>
            <p:nvPr/>
          </p:nvCxnSpPr>
          <p:spPr>
            <a:xfrm>
              <a:off x="2792848" y="4978861"/>
              <a:ext cx="258600" cy="6354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</p:grpSp>
      <p:graphicFrame>
        <p:nvGraphicFramePr>
          <p:cNvPr id="1479" name="Google Shape;1479;p56"/>
          <p:cNvGraphicFramePr/>
          <p:nvPr/>
        </p:nvGraphicFramePr>
        <p:xfrm>
          <a:off x="1261048" y="5751391"/>
          <a:ext cx="3872700" cy="731540"/>
        </p:xfrm>
        <a:graphic>
          <a:graphicData uri="http://schemas.openxmlformats.org/drawingml/2006/table">
            <a:tbl>
              <a:tblPr firstRow="1" bandRow="1">
                <a:noFill/>
                <a:tableStyleId>{66088737-8E24-4614-AAA7-3D08145F63E1}</a:tableStyleId>
              </a:tblPr>
              <a:tblGrid>
                <a:gridCol w="430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03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03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303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303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303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303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303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4303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2914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1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2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3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4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5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6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7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8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9</a:t>
                      </a:r>
                      <a:endParaRPr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14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480" name="Google Shape;1480;p56"/>
          <p:cNvSpPr/>
          <p:nvPr/>
        </p:nvSpPr>
        <p:spPr>
          <a:xfrm>
            <a:off x="4880610" y="4274489"/>
            <a:ext cx="2658670" cy="479032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accent4"/>
          </a:solidFill>
          <a:ln w="12700" cap="flat" cmpd="sng">
            <a:solidFill>
              <a:srgbClr val="BA8C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Build Max Heap</a:t>
            </a:r>
            <a:endParaRPr/>
          </a:p>
        </p:txBody>
      </p:sp>
      <p:grpSp>
        <p:nvGrpSpPr>
          <p:cNvPr id="1481" name="Google Shape;1481;p56"/>
          <p:cNvGrpSpPr/>
          <p:nvPr/>
        </p:nvGrpSpPr>
        <p:grpSpPr>
          <a:xfrm>
            <a:off x="7272072" y="3732955"/>
            <a:ext cx="3032569" cy="1827206"/>
            <a:chOff x="1485587" y="2773376"/>
            <a:chExt cx="6015287" cy="3399587"/>
          </a:xfrm>
        </p:grpSpPr>
        <p:sp>
          <p:nvSpPr>
            <p:cNvPr id="1482" name="Google Shape;1482;p56"/>
            <p:cNvSpPr/>
            <p:nvPr/>
          </p:nvSpPr>
          <p:spPr>
            <a:xfrm>
              <a:off x="4798314" y="2773376"/>
              <a:ext cx="558800" cy="558800"/>
            </a:xfrm>
            <a:prstGeom prst="ellipse">
              <a:avLst/>
            </a:prstGeom>
            <a:solidFill>
              <a:schemeClr val="accent2"/>
            </a:solidFill>
            <a:ln w="12700" cap="flat" cmpd="sng">
              <a:solidFill>
                <a:srgbClr val="42719B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83" name="Google Shape;1483;p56"/>
            <p:cNvSpPr/>
            <p:nvPr/>
          </p:nvSpPr>
          <p:spPr>
            <a:xfrm>
              <a:off x="3248914" y="3692472"/>
              <a:ext cx="558800" cy="558800"/>
            </a:xfrm>
            <a:prstGeom prst="ellipse">
              <a:avLst/>
            </a:prstGeom>
            <a:solidFill>
              <a:schemeClr val="accent2"/>
            </a:solidFill>
            <a:ln w="12700" cap="flat" cmpd="sng">
              <a:solidFill>
                <a:srgbClr val="42719B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84" name="Google Shape;1484;p56"/>
            <p:cNvSpPr/>
            <p:nvPr/>
          </p:nvSpPr>
          <p:spPr>
            <a:xfrm>
              <a:off x="2315882" y="4501895"/>
              <a:ext cx="558800" cy="558800"/>
            </a:xfrm>
            <a:prstGeom prst="ellipse">
              <a:avLst/>
            </a:prstGeom>
            <a:solidFill>
              <a:schemeClr val="accent2"/>
            </a:solidFill>
            <a:ln w="12700" cap="flat" cmpd="sng">
              <a:solidFill>
                <a:srgbClr val="42719B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85" name="Google Shape;1485;p56"/>
            <p:cNvSpPr/>
            <p:nvPr/>
          </p:nvSpPr>
          <p:spPr>
            <a:xfrm>
              <a:off x="1485587" y="5554658"/>
              <a:ext cx="558800" cy="558800"/>
            </a:xfrm>
            <a:prstGeom prst="ellipse">
              <a:avLst/>
            </a:prstGeom>
            <a:solidFill>
              <a:schemeClr val="accent2"/>
            </a:solidFill>
            <a:ln w="12700" cap="flat" cmpd="sng">
              <a:solidFill>
                <a:srgbClr val="42719B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86" name="Google Shape;1486;p56"/>
            <p:cNvSpPr/>
            <p:nvPr/>
          </p:nvSpPr>
          <p:spPr>
            <a:xfrm>
              <a:off x="2771948" y="5614163"/>
              <a:ext cx="558800" cy="558800"/>
            </a:xfrm>
            <a:prstGeom prst="ellipse">
              <a:avLst/>
            </a:prstGeom>
            <a:solidFill>
              <a:schemeClr val="accent2"/>
            </a:solidFill>
            <a:ln w="12700" cap="flat" cmpd="sng">
              <a:solidFill>
                <a:srgbClr val="42719B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87" name="Google Shape;1487;p56"/>
            <p:cNvSpPr/>
            <p:nvPr/>
          </p:nvSpPr>
          <p:spPr>
            <a:xfrm>
              <a:off x="4197746" y="4557225"/>
              <a:ext cx="558800" cy="558800"/>
            </a:xfrm>
            <a:prstGeom prst="ellipse">
              <a:avLst/>
            </a:prstGeom>
            <a:solidFill>
              <a:schemeClr val="accent2"/>
            </a:solidFill>
            <a:ln w="12700" cap="flat" cmpd="sng">
              <a:solidFill>
                <a:srgbClr val="42719B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88" name="Google Shape;1488;p56"/>
            <p:cNvSpPr/>
            <p:nvPr/>
          </p:nvSpPr>
          <p:spPr>
            <a:xfrm>
              <a:off x="6164836" y="3692472"/>
              <a:ext cx="558800" cy="558800"/>
            </a:xfrm>
            <a:prstGeom prst="ellipse">
              <a:avLst/>
            </a:prstGeom>
            <a:solidFill>
              <a:schemeClr val="accent2"/>
            </a:solidFill>
            <a:ln w="12700" cap="flat" cmpd="sng">
              <a:solidFill>
                <a:srgbClr val="42719B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89" name="Google Shape;1489;p56"/>
            <p:cNvSpPr/>
            <p:nvPr/>
          </p:nvSpPr>
          <p:spPr>
            <a:xfrm>
              <a:off x="5410178" y="4584315"/>
              <a:ext cx="558800" cy="558800"/>
            </a:xfrm>
            <a:prstGeom prst="ellipse">
              <a:avLst/>
            </a:prstGeom>
            <a:solidFill>
              <a:schemeClr val="accent2"/>
            </a:solidFill>
            <a:ln w="12700" cap="flat" cmpd="sng">
              <a:solidFill>
                <a:srgbClr val="42719B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90" name="Google Shape;1490;p56"/>
            <p:cNvSpPr/>
            <p:nvPr/>
          </p:nvSpPr>
          <p:spPr>
            <a:xfrm>
              <a:off x="6942074" y="4584315"/>
              <a:ext cx="558800" cy="558800"/>
            </a:xfrm>
            <a:prstGeom prst="ellipse">
              <a:avLst/>
            </a:prstGeom>
            <a:solidFill>
              <a:schemeClr val="accent2"/>
            </a:solidFill>
            <a:ln w="12700" cap="flat" cmpd="sng">
              <a:solidFill>
                <a:srgbClr val="42719B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1491" name="Google Shape;1491;p56"/>
            <p:cNvCxnSpPr>
              <a:stCxn id="1482" idx="3"/>
              <a:endCxn id="1483" idx="7"/>
            </p:cNvCxnSpPr>
            <p:nvPr/>
          </p:nvCxnSpPr>
          <p:spPr>
            <a:xfrm flipH="1">
              <a:off x="3725748" y="3250342"/>
              <a:ext cx="1154400" cy="5241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1492" name="Google Shape;1492;p56"/>
            <p:cNvCxnSpPr>
              <a:stCxn id="1488" idx="1"/>
              <a:endCxn id="1482" idx="5"/>
            </p:cNvCxnSpPr>
            <p:nvPr/>
          </p:nvCxnSpPr>
          <p:spPr>
            <a:xfrm rot="10800000">
              <a:off x="5275270" y="3250206"/>
              <a:ext cx="971400" cy="5241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1493" name="Google Shape;1493;p56"/>
            <p:cNvCxnSpPr>
              <a:stCxn id="1490" idx="1"/>
              <a:endCxn id="1488" idx="5"/>
            </p:cNvCxnSpPr>
            <p:nvPr/>
          </p:nvCxnSpPr>
          <p:spPr>
            <a:xfrm rot="10800000">
              <a:off x="6641708" y="4169349"/>
              <a:ext cx="382200" cy="4968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1494" name="Google Shape;1494;p56"/>
            <p:cNvCxnSpPr>
              <a:stCxn id="1489" idx="7"/>
              <a:endCxn id="1488" idx="3"/>
            </p:cNvCxnSpPr>
            <p:nvPr/>
          </p:nvCxnSpPr>
          <p:spPr>
            <a:xfrm rot="10800000" flipH="1">
              <a:off x="5887144" y="4169349"/>
              <a:ext cx="359400" cy="4968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1495" name="Google Shape;1495;p56"/>
            <p:cNvCxnSpPr>
              <a:stCxn id="1483" idx="3"/>
              <a:endCxn id="1484" idx="7"/>
            </p:cNvCxnSpPr>
            <p:nvPr/>
          </p:nvCxnSpPr>
          <p:spPr>
            <a:xfrm flipH="1">
              <a:off x="2792848" y="4169438"/>
              <a:ext cx="537900" cy="4143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1496" name="Google Shape;1496;p56"/>
            <p:cNvCxnSpPr>
              <a:stCxn id="1483" idx="5"/>
              <a:endCxn id="1487" idx="1"/>
            </p:cNvCxnSpPr>
            <p:nvPr/>
          </p:nvCxnSpPr>
          <p:spPr>
            <a:xfrm>
              <a:off x="3725880" y="4169438"/>
              <a:ext cx="553800" cy="4695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1497" name="Google Shape;1497;p56"/>
            <p:cNvCxnSpPr>
              <a:stCxn id="1484" idx="3"/>
              <a:endCxn id="1485" idx="7"/>
            </p:cNvCxnSpPr>
            <p:nvPr/>
          </p:nvCxnSpPr>
          <p:spPr>
            <a:xfrm flipH="1">
              <a:off x="1962416" y="4978861"/>
              <a:ext cx="435300" cy="6576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1498" name="Google Shape;1498;p56"/>
            <p:cNvCxnSpPr>
              <a:stCxn id="1484" idx="5"/>
              <a:endCxn id="1486" idx="0"/>
            </p:cNvCxnSpPr>
            <p:nvPr/>
          </p:nvCxnSpPr>
          <p:spPr>
            <a:xfrm>
              <a:off x="2792848" y="4978861"/>
              <a:ext cx="258600" cy="6354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</p:grpSp>
      <p:graphicFrame>
        <p:nvGraphicFramePr>
          <p:cNvPr id="1499" name="Google Shape;1499;p56"/>
          <p:cNvGraphicFramePr/>
          <p:nvPr/>
        </p:nvGraphicFramePr>
        <p:xfrm>
          <a:off x="7175660" y="5719408"/>
          <a:ext cx="3872700" cy="731540"/>
        </p:xfrm>
        <a:graphic>
          <a:graphicData uri="http://schemas.openxmlformats.org/drawingml/2006/table">
            <a:tbl>
              <a:tblPr firstRow="1" bandRow="1">
                <a:noFill/>
                <a:tableStyleId>{66088737-8E24-4614-AAA7-3D08145F63E1}</a:tableStyleId>
              </a:tblPr>
              <a:tblGrid>
                <a:gridCol w="430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03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03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303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303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303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303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303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4303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2914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1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2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3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4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5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6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7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8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9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14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500" name="Google Shape;1500;p56"/>
          <p:cNvSpPr txBox="1"/>
          <p:nvPr/>
        </p:nvSpPr>
        <p:spPr>
          <a:xfrm>
            <a:off x="7512531" y="3187609"/>
            <a:ext cx="324612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Parents are larger than children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4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4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4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5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5" name="Google Shape;1505;p57"/>
          <p:cNvSpPr txBox="1">
            <a:spLocks noGrp="1"/>
          </p:cNvSpPr>
          <p:nvPr>
            <p:ph type="body" idx="1"/>
          </p:nvPr>
        </p:nvSpPr>
        <p:spPr>
          <a:xfrm>
            <a:off x="838200" y="1227909"/>
            <a:ext cx="10515600" cy="49490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2095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2100"/>
              <a:buFont typeface="Arial"/>
              <a:buNone/>
            </a:pPr>
            <a:endParaRPr/>
          </a:p>
        </p:txBody>
      </p:sp>
      <p:sp>
        <p:nvSpPr>
          <p:cNvPr id="1506" name="Google Shape;1506;p57"/>
          <p:cNvSpPr txBox="1">
            <a:spLocks noGrp="1"/>
          </p:cNvSpPr>
          <p:nvPr>
            <p:ph type="dt" idx="10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8DC7308C-BF8A-435C-BE2D-BB8BE270AC92}" type="datetime1">
              <a:rPr lang="en-US" smtClean="0"/>
              <a:t>1/12/2026</a:t>
            </a:fld>
            <a:endParaRPr/>
          </a:p>
        </p:txBody>
      </p:sp>
      <p:sp>
        <p:nvSpPr>
          <p:cNvPr id="1507" name="Google Shape;1507;p57"/>
          <p:cNvSpPr txBox="1">
            <a:spLocks noGrp="1"/>
          </p:cNvSpPr>
          <p:nvPr>
            <p:ph type="ftr" idx="11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Lec Asif Abrar, Dept of CSE, UIU</a:t>
            </a:r>
            <a:endParaRPr/>
          </a:p>
        </p:txBody>
      </p:sp>
      <p:sp>
        <p:nvSpPr>
          <p:cNvPr id="1508" name="Google Shape;1508;p57"/>
          <p:cNvSpPr txBox="1">
            <a:spLocks noGrp="1"/>
          </p:cNvSpPr>
          <p:nvPr>
            <p:ph type="sldNum" idx="12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43</a:t>
            </a:fld>
            <a:endParaRPr/>
          </a:p>
        </p:txBody>
      </p:sp>
      <p:sp>
        <p:nvSpPr>
          <p:cNvPr id="1509" name="Google Shape;1509;p57"/>
          <p:cNvSpPr txBox="1">
            <a:spLocks noGrp="1"/>
          </p:cNvSpPr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/>
              <a:t>Heap Sort</a:t>
            </a:r>
            <a:endParaRPr/>
          </a:p>
        </p:txBody>
      </p:sp>
      <p:pic>
        <p:nvPicPr>
          <p:cNvPr id="1510" name="Google Shape;1510;p5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46375" y="1227909"/>
            <a:ext cx="4287435" cy="206189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511" name="Google Shape;1511;p57"/>
          <p:cNvGrpSpPr/>
          <p:nvPr/>
        </p:nvGrpSpPr>
        <p:grpSpPr>
          <a:xfrm>
            <a:off x="6289881" y="2535751"/>
            <a:ext cx="3032569" cy="1827206"/>
            <a:chOff x="1485587" y="2773376"/>
            <a:chExt cx="6015287" cy="3399587"/>
          </a:xfrm>
        </p:grpSpPr>
        <p:sp>
          <p:nvSpPr>
            <p:cNvPr id="1512" name="Google Shape;1512;p57"/>
            <p:cNvSpPr/>
            <p:nvPr/>
          </p:nvSpPr>
          <p:spPr>
            <a:xfrm>
              <a:off x="4798314" y="2773376"/>
              <a:ext cx="558800" cy="558800"/>
            </a:xfrm>
            <a:prstGeom prst="ellipse">
              <a:avLst/>
            </a:prstGeom>
            <a:solidFill>
              <a:schemeClr val="accent2"/>
            </a:solidFill>
            <a:ln w="12700" cap="flat" cmpd="sng">
              <a:solidFill>
                <a:srgbClr val="42719B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13" name="Google Shape;1513;p57"/>
            <p:cNvSpPr/>
            <p:nvPr/>
          </p:nvSpPr>
          <p:spPr>
            <a:xfrm>
              <a:off x="3248914" y="3692472"/>
              <a:ext cx="558800" cy="558800"/>
            </a:xfrm>
            <a:prstGeom prst="ellipse">
              <a:avLst/>
            </a:prstGeom>
            <a:solidFill>
              <a:schemeClr val="accent2"/>
            </a:solidFill>
            <a:ln w="12700" cap="flat" cmpd="sng">
              <a:solidFill>
                <a:srgbClr val="42719B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14" name="Google Shape;1514;p57"/>
            <p:cNvSpPr/>
            <p:nvPr/>
          </p:nvSpPr>
          <p:spPr>
            <a:xfrm>
              <a:off x="2315882" y="4501895"/>
              <a:ext cx="558800" cy="558800"/>
            </a:xfrm>
            <a:prstGeom prst="ellipse">
              <a:avLst/>
            </a:prstGeom>
            <a:solidFill>
              <a:schemeClr val="accent2"/>
            </a:solidFill>
            <a:ln w="12700" cap="flat" cmpd="sng">
              <a:solidFill>
                <a:srgbClr val="42719B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15" name="Google Shape;1515;p57"/>
            <p:cNvSpPr/>
            <p:nvPr/>
          </p:nvSpPr>
          <p:spPr>
            <a:xfrm>
              <a:off x="1485587" y="5554658"/>
              <a:ext cx="558800" cy="558800"/>
            </a:xfrm>
            <a:prstGeom prst="ellipse">
              <a:avLst/>
            </a:prstGeom>
            <a:solidFill>
              <a:schemeClr val="accent2"/>
            </a:solidFill>
            <a:ln w="12700" cap="flat" cmpd="sng">
              <a:solidFill>
                <a:srgbClr val="42719B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16" name="Google Shape;1516;p57"/>
            <p:cNvSpPr/>
            <p:nvPr/>
          </p:nvSpPr>
          <p:spPr>
            <a:xfrm>
              <a:off x="2771948" y="5614163"/>
              <a:ext cx="558800" cy="558800"/>
            </a:xfrm>
            <a:prstGeom prst="ellipse">
              <a:avLst/>
            </a:prstGeom>
            <a:solidFill>
              <a:schemeClr val="accent2"/>
            </a:solidFill>
            <a:ln w="12700" cap="flat" cmpd="sng">
              <a:solidFill>
                <a:srgbClr val="42719B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17" name="Google Shape;1517;p57"/>
            <p:cNvSpPr/>
            <p:nvPr/>
          </p:nvSpPr>
          <p:spPr>
            <a:xfrm>
              <a:off x="4197746" y="4557225"/>
              <a:ext cx="558800" cy="558800"/>
            </a:xfrm>
            <a:prstGeom prst="ellipse">
              <a:avLst/>
            </a:prstGeom>
            <a:solidFill>
              <a:schemeClr val="accent2"/>
            </a:solidFill>
            <a:ln w="12700" cap="flat" cmpd="sng">
              <a:solidFill>
                <a:srgbClr val="42719B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18" name="Google Shape;1518;p57"/>
            <p:cNvSpPr/>
            <p:nvPr/>
          </p:nvSpPr>
          <p:spPr>
            <a:xfrm>
              <a:off x="6164836" y="3692472"/>
              <a:ext cx="558800" cy="558800"/>
            </a:xfrm>
            <a:prstGeom prst="ellipse">
              <a:avLst/>
            </a:prstGeom>
            <a:solidFill>
              <a:schemeClr val="accent2"/>
            </a:solidFill>
            <a:ln w="12700" cap="flat" cmpd="sng">
              <a:solidFill>
                <a:srgbClr val="42719B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19" name="Google Shape;1519;p57"/>
            <p:cNvSpPr/>
            <p:nvPr/>
          </p:nvSpPr>
          <p:spPr>
            <a:xfrm>
              <a:off x="5410178" y="4584315"/>
              <a:ext cx="558800" cy="558800"/>
            </a:xfrm>
            <a:prstGeom prst="ellipse">
              <a:avLst/>
            </a:prstGeom>
            <a:solidFill>
              <a:schemeClr val="accent2"/>
            </a:solidFill>
            <a:ln w="12700" cap="flat" cmpd="sng">
              <a:solidFill>
                <a:srgbClr val="42719B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20" name="Google Shape;1520;p57"/>
            <p:cNvSpPr/>
            <p:nvPr/>
          </p:nvSpPr>
          <p:spPr>
            <a:xfrm>
              <a:off x="6942074" y="4584315"/>
              <a:ext cx="558800" cy="558800"/>
            </a:xfrm>
            <a:prstGeom prst="ellipse">
              <a:avLst/>
            </a:prstGeom>
            <a:solidFill>
              <a:schemeClr val="accent2"/>
            </a:solidFill>
            <a:ln w="12700" cap="flat" cmpd="sng">
              <a:solidFill>
                <a:srgbClr val="42719B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1521" name="Google Shape;1521;p57"/>
            <p:cNvCxnSpPr>
              <a:stCxn id="1512" idx="3"/>
              <a:endCxn id="1513" idx="7"/>
            </p:cNvCxnSpPr>
            <p:nvPr/>
          </p:nvCxnSpPr>
          <p:spPr>
            <a:xfrm flipH="1">
              <a:off x="3725748" y="3250342"/>
              <a:ext cx="1154400" cy="5241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1522" name="Google Shape;1522;p57"/>
            <p:cNvCxnSpPr>
              <a:stCxn id="1518" idx="1"/>
              <a:endCxn id="1512" idx="5"/>
            </p:cNvCxnSpPr>
            <p:nvPr/>
          </p:nvCxnSpPr>
          <p:spPr>
            <a:xfrm rot="10800000">
              <a:off x="5275270" y="3250206"/>
              <a:ext cx="971400" cy="5241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1523" name="Google Shape;1523;p57"/>
            <p:cNvCxnSpPr>
              <a:stCxn id="1520" idx="1"/>
              <a:endCxn id="1518" idx="5"/>
            </p:cNvCxnSpPr>
            <p:nvPr/>
          </p:nvCxnSpPr>
          <p:spPr>
            <a:xfrm rot="10800000">
              <a:off x="6641708" y="4169349"/>
              <a:ext cx="382200" cy="4968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1524" name="Google Shape;1524;p57"/>
            <p:cNvCxnSpPr>
              <a:stCxn id="1519" idx="7"/>
              <a:endCxn id="1518" idx="3"/>
            </p:cNvCxnSpPr>
            <p:nvPr/>
          </p:nvCxnSpPr>
          <p:spPr>
            <a:xfrm rot="10800000" flipH="1">
              <a:off x="5887144" y="4169349"/>
              <a:ext cx="359400" cy="4968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1525" name="Google Shape;1525;p57"/>
            <p:cNvCxnSpPr>
              <a:stCxn id="1513" idx="3"/>
              <a:endCxn id="1514" idx="7"/>
            </p:cNvCxnSpPr>
            <p:nvPr/>
          </p:nvCxnSpPr>
          <p:spPr>
            <a:xfrm flipH="1">
              <a:off x="2792848" y="4169438"/>
              <a:ext cx="537900" cy="4143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1526" name="Google Shape;1526;p57"/>
            <p:cNvCxnSpPr>
              <a:stCxn id="1513" idx="5"/>
              <a:endCxn id="1517" idx="1"/>
            </p:cNvCxnSpPr>
            <p:nvPr/>
          </p:nvCxnSpPr>
          <p:spPr>
            <a:xfrm>
              <a:off x="3725880" y="4169438"/>
              <a:ext cx="553800" cy="4695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1527" name="Google Shape;1527;p57"/>
            <p:cNvCxnSpPr>
              <a:stCxn id="1514" idx="3"/>
              <a:endCxn id="1515" idx="7"/>
            </p:cNvCxnSpPr>
            <p:nvPr/>
          </p:nvCxnSpPr>
          <p:spPr>
            <a:xfrm flipH="1">
              <a:off x="1962416" y="4978861"/>
              <a:ext cx="435300" cy="6576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1528" name="Google Shape;1528;p57"/>
            <p:cNvCxnSpPr>
              <a:stCxn id="1514" idx="5"/>
              <a:endCxn id="1516" idx="0"/>
            </p:cNvCxnSpPr>
            <p:nvPr/>
          </p:nvCxnSpPr>
          <p:spPr>
            <a:xfrm>
              <a:off x="2792848" y="4978861"/>
              <a:ext cx="258600" cy="6354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</p:grpSp>
      <p:graphicFrame>
        <p:nvGraphicFramePr>
          <p:cNvPr id="1529" name="Google Shape;1529;p57"/>
          <p:cNvGraphicFramePr/>
          <p:nvPr/>
        </p:nvGraphicFramePr>
        <p:xfrm>
          <a:off x="6193469" y="4522204"/>
          <a:ext cx="3872700" cy="731540"/>
        </p:xfrm>
        <a:graphic>
          <a:graphicData uri="http://schemas.openxmlformats.org/drawingml/2006/table">
            <a:tbl>
              <a:tblPr firstRow="1" bandRow="1">
                <a:noFill/>
                <a:tableStyleId>{66088737-8E24-4614-AAA7-3D08145F63E1}</a:tableStyleId>
              </a:tblPr>
              <a:tblGrid>
                <a:gridCol w="430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03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03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303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303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303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303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303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4303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2914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1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2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3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4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5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6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7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8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9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14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4" name="Google Shape;1534;p58"/>
          <p:cNvSpPr txBox="1">
            <a:spLocks noGrp="1"/>
          </p:cNvSpPr>
          <p:nvPr>
            <p:ph type="body" idx="1"/>
          </p:nvPr>
        </p:nvSpPr>
        <p:spPr>
          <a:xfrm>
            <a:off x="838200" y="1227909"/>
            <a:ext cx="10515600" cy="49490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2095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2100"/>
              <a:buFont typeface="Arial"/>
              <a:buNone/>
            </a:pPr>
            <a:endParaRPr/>
          </a:p>
        </p:txBody>
      </p:sp>
      <p:sp>
        <p:nvSpPr>
          <p:cNvPr id="1535" name="Google Shape;1535;p58"/>
          <p:cNvSpPr txBox="1">
            <a:spLocks noGrp="1"/>
          </p:cNvSpPr>
          <p:nvPr>
            <p:ph type="dt" idx="10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CFE0E431-293A-40D5-8F82-7199AEA47B98}" type="datetime1">
              <a:rPr lang="en-US" smtClean="0"/>
              <a:t>1/12/2026</a:t>
            </a:fld>
            <a:endParaRPr/>
          </a:p>
        </p:txBody>
      </p:sp>
      <p:sp>
        <p:nvSpPr>
          <p:cNvPr id="1536" name="Google Shape;1536;p58"/>
          <p:cNvSpPr txBox="1">
            <a:spLocks noGrp="1"/>
          </p:cNvSpPr>
          <p:nvPr>
            <p:ph type="ftr" idx="11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Lec Asif Abrar, Dept of CSE, UIU</a:t>
            </a:r>
            <a:endParaRPr/>
          </a:p>
        </p:txBody>
      </p:sp>
      <p:sp>
        <p:nvSpPr>
          <p:cNvPr id="1537" name="Google Shape;1537;p58"/>
          <p:cNvSpPr txBox="1">
            <a:spLocks noGrp="1"/>
          </p:cNvSpPr>
          <p:nvPr>
            <p:ph type="sldNum" idx="12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44</a:t>
            </a:fld>
            <a:endParaRPr/>
          </a:p>
        </p:txBody>
      </p:sp>
      <p:sp>
        <p:nvSpPr>
          <p:cNvPr id="1538" name="Google Shape;1538;p58"/>
          <p:cNvSpPr txBox="1">
            <a:spLocks noGrp="1"/>
          </p:cNvSpPr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/>
              <a:t>Heap Sort</a:t>
            </a:r>
            <a:endParaRPr/>
          </a:p>
        </p:txBody>
      </p:sp>
      <p:pic>
        <p:nvPicPr>
          <p:cNvPr id="1539" name="Google Shape;1539;p5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46375" y="1227909"/>
            <a:ext cx="4287435" cy="206189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540" name="Google Shape;1540;p58"/>
          <p:cNvGrpSpPr/>
          <p:nvPr/>
        </p:nvGrpSpPr>
        <p:grpSpPr>
          <a:xfrm>
            <a:off x="6289881" y="2535751"/>
            <a:ext cx="3032569" cy="1827206"/>
            <a:chOff x="1485587" y="2773376"/>
            <a:chExt cx="6015287" cy="3399587"/>
          </a:xfrm>
        </p:grpSpPr>
        <p:sp>
          <p:nvSpPr>
            <p:cNvPr id="1541" name="Google Shape;1541;p58"/>
            <p:cNvSpPr/>
            <p:nvPr/>
          </p:nvSpPr>
          <p:spPr>
            <a:xfrm>
              <a:off x="4798314" y="2773376"/>
              <a:ext cx="558800" cy="558800"/>
            </a:xfrm>
            <a:prstGeom prst="ellipse">
              <a:avLst/>
            </a:prstGeom>
            <a:solidFill>
              <a:schemeClr val="accent2"/>
            </a:solidFill>
            <a:ln w="12700" cap="flat" cmpd="sng">
              <a:solidFill>
                <a:srgbClr val="42719B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42" name="Google Shape;1542;p58"/>
            <p:cNvSpPr/>
            <p:nvPr/>
          </p:nvSpPr>
          <p:spPr>
            <a:xfrm>
              <a:off x="3248914" y="3692472"/>
              <a:ext cx="558800" cy="558800"/>
            </a:xfrm>
            <a:prstGeom prst="ellipse">
              <a:avLst/>
            </a:prstGeom>
            <a:solidFill>
              <a:schemeClr val="accent2"/>
            </a:solidFill>
            <a:ln w="12700" cap="flat" cmpd="sng">
              <a:solidFill>
                <a:srgbClr val="42719B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43" name="Google Shape;1543;p58"/>
            <p:cNvSpPr/>
            <p:nvPr/>
          </p:nvSpPr>
          <p:spPr>
            <a:xfrm>
              <a:off x="2315882" y="4501895"/>
              <a:ext cx="558800" cy="558800"/>
            </a:xfrm>
            <a:prstGeom prst="ellipse">
              <a:avLst/>
            </a:prstGeom>
            <a:solidFill>
              <a:schemeClr val="accent2"/>
            </a:solidFill>
            <a:ln w="12700" cap="flat" cmpd="sng">
              <a:solidFill>
                <a:srgbClr val="42719B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44" name="Google Shape;1544;p58"/>
            <p:cNvSpPr/>
            <p:nvPr/>
          </p:nvSpPr>
          <p:spPr>
            <a:xfrm>
              <a:off x="1485587" y="5554658"/>
              <a:ext cx="558800" cy="558800"/>
            </a:xfrm>
            <a:prstGeom prst="ellipse">
              <a:avLst/>
            </a:prstGeom>
            <a:solidFill>
              <a:schemeClr val="accent2"/>
            </a:solidFill>
            <a:ln w="12700" cap="flat" cmpd="sng">
              <a:solidFill>
                <a:srgbClr val="42719B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45" name="Google Shape;1545;p58"/>
            <p:cNvSpPr/>
            <p:nvPr/>
          </p:nvSpPr>
          <p:spPr>
            <a:xfrm>
              <a:off x="2771948" y="5614163"/>
              <a:ext cx="558800" cy="558800"/>
            </a:xfrm>
            <a:prstGeom prst="ellipse">
              <a:avLst/>
            </a:prstGeom>
            <a:solidFill>
              <a:schemeClr val="accent2"/>
            </a:solidFill>
            <a:ln w="12700" cap="flat" cmpd="sng">
              <a:solidFill>
                <a:srgbClr val="42719B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46" name="Google Shape;1546;p58"/>
            <p:cNvSpPr/>
            <p:nvPr/>
          </p:nvSpPr>
          <p:spPr>
            <a:xfrm>
              <a:off x="4197746" y="4557225"/>
              <a:ext cx="558800" cy="558800"/>
            </a:xfrm>
            <a:prstGeom prst="ellipse">
              <a:avLst/>
            </a:prstGeom>
            <a:solidFill>
              <a:schemeClr val="accent2"/>
            </a:solidFill>
            <a:ln w="12700" cap="flat" cmpd="sng">
              <a:solidFill>
                <a:srgbClr val="42719B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47" name="Google Shape;1547;p58"/>
            <p:cNvSpPr/>
            <p:nvPr/>
          </p:nvSpPr>
          <p:spPr>
            <a:xfrm>
              <a:off x="6164836" y="3692472"/>
              <a:ext cx="558800" cy="558800"/>
            </a:xfrm>
            <a:prstGeom prst="ellipse">
              <a:avLst/>
            </a:prstGeom>
            <a:solidFill>
              <a:schemeClr val="accent2"/>
            </a:solidFill>
            <a:ln w="12700" cap="flat" cmpd="sng">
              <a:solidFill>
                <a:srgbClr val="42719B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48" name="Google Shape;1548;p58"/>
            <p:cNvSpPr/>
            <p:nvPr/>
          </p:nvSpPr>
          <p:spPr>
            <a:xfrm>
              <a:off x="5410178" y="4584315"/>
              <a:ext cx="558800" cy="558800"/>
            </a:xfrm>
            <a:prstGeom prst="ellipse">
              <a:avLst/>
            </a:prstGeom>
            <a:solidFill>
              <a:schemeClr val="accent2"/>
            </a:solidFill>
            <a:ln w="12700" cap="flat" cmpd="sng">
              <a:solidFill>
                <a:srgbClr val="42719B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49" name="Google Shape;1549;p58"/>
            <p:cNvSpPr/>
            <p:nvPr/>
          </p:nvSpPr>
          <p:spPr>
            <a:xfrm>
              <a:off x="6942074" y="4584315"/>
              <a:ext cx="558800" cy="558800"/>
            </a:xfrm>
            <a:prstGeom prst="ellipse">
              <a:avLst/>
            </a:prstGeom>
            <a:solidFill>
              <a:schemeClr val="accent2"/>
            </a:solidFill>
            <a:ln w="12700" cap="flat" cmpd="sng">
              <a:solidFill>
                <a:srgbClr val="42719B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1550" name="Google Shape;1550;p58"/>
            <p:cNvCxnSpPr>
              <a:stCxn id="1541" idx="3"/>
              <a:endCxn id="1542" idx="7"/>
            </p:cNvCxnSpPr>
            <p:nvPr/>
          </p:nvCxnSpPr>
          <p:spPr>
            <a:xfrm flipH="1">
              <a:off x="3725748" y="3250342"/>
              <a:ext cx="1154400" cy="5241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1551" name="Google Shape;1551;p58"/>
            <p:cNvCxnSpPr>
              <a:stCxn id="1547" idx="1"/>
              <a:endCxn id="1541" idx="5"/>
            </p:cNvCxnSpPr>
            <p:nvPr/>
          </p:nvCxnSpPr>
          <p:spPr>
            <a:xfrm rot="10800000">
              <a:off x="5275270" y="3250206"/>
              <a:ext cx="971400" cy="5241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1552" name="Google Shape;1552;p58"/>
            <p:cNvCxnSpPr>
              <a:stCxn id="1549" idx="1"/>
              <a:endCxn id="1547" idx="5"/>
            </p:cNvCxnSpPr>
            <p:nvPr/>
          </p:nvCxnSpPr>
          <p:spPr>
            <a:xfrm rot="10800000">
              <a:off x="6641708" y="4169349"/>
              <a:ext cx="382200" cy="4968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1553" name="Google Shape;1553;p58"/>
            <p:cNvCxnSpPr>
              <a:stCxn id="1548" idx="7"/>
              <a:endCxn id="1547" idx="3"/>
            </p:cNvCxnSpPr>
            <p:nvPr/>
          </p:nvCxnSpPr>
          <p:spPr>
            <a:xfrm rot="10800000" flipH="1">
              <a:off x="5887144" y="4169349"/>
              <a:ext cx="359400" cy="4968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1554" name="Google Shape;1554;p58"/>
            <p:cNvCxnSpPr>
              <a:stCxn id="1542" idx="3"/>
              <a:endCxn id="1543" idx="7"/>
            </p:cNvCxnSpPr>
            <p:nvPr/>
          </p:nvCxnSpPr>
          <p:spPr>
            <a:xfrm flipH="1">
              <a:off x="2792848" y="4169438"/>
              <a:ext cx="537900" cy="4143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1555" name="Google Shape;1555;p58"/>
            <p:cNvCxnSpPr>
              <a:stCxn id="1542" idx="5"/>
              <a:endCxn id="1546" idx="1"/>
            </p:cNvCxnSpPr>
            <p:nvPr/>
          </p:nvCxnSpPr>
          <p:spPr>
            <a:xfrm>
              <a:off x="3725880" y="4169438"/>
              <a:ext cx="553800" cy="4695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1556" name="Google Shape;1556;p58"/>
            <p:cNvCxnSpPr>
              <a:stCxn id="1543" idx="3"/>
              <a:endCxn id="1544" idx="7"/>
            </p:cNvCxnSpPr>
            <p:nvPr/>
          </p:nvCxnSpPr>
          <p:spPr>
            <a:xfrm flipH="1">
              <a:off x="1962416" y="4978861"/>
              <a:ext cx="435300" cy="6576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1557" name="Google Shape;1557;p58"/>
            <p:cNvCxnSpPr>
              <a:stCxn id="1543" idx="5"/>
              <a:endCxn id="1545" idx="0"/>
            </p:cNvCxnSpPr>
            <p:nvPr/>
          </p:nvCxnSpPr>
          <p:spPr>
            <a:xfrm>
              <a:off x="2792848" y="4978861"/>
              <a:ext cx="258600" cy="6354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</p:grpSp>
      <p:graphicFrame>
        <p:nvGraphicFramePr>
          <p:cNvPr id="1558" name="Google Shape;1558;p58"/>
          <p:cNvGraphicFramePr/>
          <p:nvPr/>
        </p:nvGraphicFramePr>
        <p:xfrm>
          <a:off x="6193469" y="4522204"/>
          <a:ext cx="3872700" cy="731540"/>
        </p:xfrm>
        <a:graphic>
          <a:graphicData uri="http://schemas.openxmlformats.org/drawingml/2006/table">
            <a:tbl>
              <a:tblPr firstRow="1" bandRow="1">
                <a:noFill/>
                <a:tableStyleId>{66088737-8E24-4614-AAA7-3D08145F63E1}</a:tableStyleId>
              </a:tblPr>
              <a:tblGrid>
                <a:gridCol w="430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03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03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303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303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303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303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303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4303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2914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1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2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3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4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5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6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7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8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9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14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559" name="Google Shape;1559;p58"/>
          <p:cNvSpPr/>
          <p:nvPr/>
        </p:nvSpPr>
        <p:spPr>
          <a:xfrm>
            <a:off x="682266" y="1966626"/>
            <a:ext cx="499620" cy="292231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accent2"/>
          </a:solidFill>
          <a:ln w="12700" cap="flat" cmpd="sng">
            <a:solidFill>
              <a:srgbClr val="AC5B23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0" name="Google Shape;1560;p58"/>
          <p:cNvSpPr/>
          <p:nvPr/>
        </p:nvSpPr>
        <p:spPr>
          <a:xfrm rot="5400000">
            <a:off x="6850341" y="3665600"/>
            <a:ext cx="499620" cy="292231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12700" cap="flat" cmpd="sng">
            <a:solidFill>
              <a:srgbClr val="AC5B23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5" name="Google Shape;1565;p59"/>
          <p:cNvSpPr txBox="1">
            <a:spLocks noGrp="1"/>
          </p:cNvSpPr>
          <p:nvPr>
            <p:ph type="body" idx="1"/>
          </p:nvPr>
        </p:nvSpPr>
        <p:spPr>
          <a:xfrm>
            <a:off x="838200" y="1227909"/>
            <a:ext cx="10515600" cy="49490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2095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2100"/>
              <a:buFont typeface="Arial"/>
              <a:buNone/>
            </a:pPr>
            <a:endParaRPr/>
          </a:p>
        </p:txBody>
      </p:sp>
      <p:sp>
        <p:nvSpPr>
          <p:cNvPr id="1566" name="Google Shape;1566;p59"/>
          <p:cNvSpPr txBox="1">
            <a:spLocks noGrp="1"/>
          </p:cNvSpPr>
          <p:nvPr>
            <p:ph type="dt" idx="10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3E78B9E4-9217-427D-A50C-EE4EB7D1D951}" type="datetime1">
              <a:rPr lang="en-US" smtClean="0"/>
              <a:t>1/12/2026</a:t>
            </a:fld>
            <a:endParaRPr/>
          </a:p>
        </p:txBody>
      </p:sp>
      <p:sp>
        <p:nvSpPr>
          <p:cNvPr id="1567" name="Google Shape;1567;p59"/>
          <p:cNvSpPr txBox="1">
            <a:spLocks noGrp="1"/>
          </p:cNvSpPr>
          <p:nvPr>
            <p:ph type="ftr" idx="11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Lec Asif Abrar, Dept of CSE, UIU</a:t>
            </a:r>
            <a:endParaRPr/>
          </a:p>
        </p:txBody>
      </p:sp>
      <p:sp>
        <p:nvSpPr>
          <p:cNvPr id="1568" name="Google Shape;1568;p59"/>
          <p:cNvSpPr txBox="1">
            <a:spLocks noGrp="1"/>
          </p:cNvSpPr>
          <p:nvPr>
            <p:ph type="sldNum" idx="12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45</a:t>
            </a:fld>
            <a:endParaRPr/>
          </a:p>
        </p:txBody>
      </p:sp>
      <p:sp>
        <p:nvSpPr>
          <p:cNvPr id="1569" name="Google Shape;1569;p59"/>
          <p:cNvSpPr txBox="1">
            <a:spLocks noGrp="1"/>
          </p:cNvSpPr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/>
              <a:t>Heap Sort</a:t>
            </a:r>
            <a:endParaRPr/>
          </a:p>
        </p:txBody>
      </p:sp>
      <p:pic>
        <p:nvPicPr>
          <p:cNvPr id="1570" name="Google Shape;1570;p5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46375" y="1227909"/>
            <a:ext cx="4287435" cy="206189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571" name="Google Shape;1571;p59"/>
          <p:cNvGrpSpPr/>
          <p:nvPr/>
        </p:nvGrpSpPr>
        <p:grpSpPr>
          <a:xfrm>
            <a:off x="6289881" y="2535751"/>
            <a:ext cx="3032569" cy="1827206"/>
            <a:chOff x="1485587" y="2773376"/>
            <a:chExt cx="6015287" cy="3399587"/>
          </a:xfrm>
        </p:grpSpPr>
        <p:sp>
          <p:nvSpPr>
            <p:cNvPr id="1572" name="Google Shape;1572;p59"/>
            <p:cNvSpPr/>
            <p:nvPr/>
          </p:nvSpPr>
          <p:spPr>
            <a:xfrm>
              <a:off x="4798314" y="2773376"/>
              <a:ext cx="558800" cy="558800"/>
            </a:xfrm>
            <a:prstGeom prst="ellipse">
              <a:avLst/>
            </a:prstGeom>
            <a:solidFill>
              <a:schemeClr val="accent2"/>
            </a:solidFill>
            <a:ln w="12700" cap="flat" cmpd="sng">
              <a:solidFill>
                <a:srgbClr val="42719B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73" name="Google Shape;1573;p59"/>
            <p:cNvSpPr/>
            <p:nvPr/>
          </p:nvSpPr>
          <p:spPr>
            <a:xfrm>
              <a:off x="3248914" y="3692472"/>
              <a:ext cx="558800" cy="558800"/>
            </a:xfrm>
            <a:prstGeom prst="ellipse">
              <a:avLst/>
            </a:prstGeom>
            <a:solidFill>
              <a:schemeClr val="accent2"/>
            </a:solidFill>
            <a:ln w="12700" cap="flat" cmpd="sng">
              <a:solidFill>
                <a:srgbClr val="42719B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74" name="Google Shape;1574;p59"/>
            <p:cNvSpPr/>
            <p:nvPr/>
          </p:nvSpPr>
          <p:spPr>
            <a:xfrm>
              <a:off x="2315882" y="4501895"/>
              <a:ext cx="558800" cy="558800"/>
            </a:xfrm>
            <a:prstGeom prst="ellipse">
              <a:avLst/>
            </a:prstGeom>
            <a:solidFill>
              <a:schemeClr val="accent2"/>
            </a:solidFill>
            <a:ln w="12700" cap="flat" cmpd="sng">
              <a:solidFill>
                <a:srgbClr val="42719B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75" name="Google Shape;1575;p59"/>
            <p:cNvSpPr/>
            <p:nvPr/>
          </p:nvSpPr>
          <p:spPr>
            <a:xfrm>
              <a:off x="1485587" y="5554658"/>
              <a:ext cx="558800" cy="558800"/>
            </a:xfrm>
            <a:prstGeom prst="ellipse">
              <a:avLst/>
            </a:prstGeom>
            <a:solidFill>
              <a:schemeClr val="accent2"/>
            </a:solidFill>
            <a:ln w="12700" cap="flat" cmpd="sng">
              <a:solidFill>
                <a:srgbClr val="42719B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76" name="Google Shape;1576;p59"/>
            <p:cNvSpPr/>
            <p:nvPr/>
          </p:nvSpPr>
          <p:spPr>
            <a:xfrm>
              <a:off x="2771948" y="5614163"/>
              <a:ext cx="558800" cy="558800"/>
            </a:xfrm>
            <a:prstGeom prst="ellipse">
              <a:avLst/>
            </a:prstGeom>
            <a:solidFill>
              <a:schemeClr val="accent2"/>
            </a:solidFill>
            <a:ln w="12700" cap="flat" cmpd="sng">
              <a:solidFill>
                <a:srgbClr val="42719B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77" name="Google Shape;1577;p59"/>
            <p:cNvSpPr/>
            <p:nvPr/>
          </p:nvSpPr>
          <p:spPr>
            <a:xfrm>
              <a:off x="4197746" y="4557225"/>
              <a:ext cx="558800" cy="558800"/>
            </a:xfrm>
            <a:prstGeom prst="ellipse">
              <a:avLst/>
            </a:prstGeom>
            <a:solidFill>
              <a:schemeClr val="accent2"/>
            </a:solidFill>
            <a:ln w="12700" cap="flat" cmpd="sng">
              <a:solidFill>
                <a:srgbClr val="42719B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78" name="Google Shape;1578;p59"/>
            <p:cNvSpPr/>
            <p:nvPr/>
          </p:nvSpPr>
          <p:spPr>
            <a:xfrm>
              <a:off x="6164836" y="3692472"/>
              <a:ext cx="558800" cy="558800"/>
            </a:xfrm>
            <a:prstGeom prst="ellipse">
              <a:avLst/>
            </a:prstGeom>
            <a:solidFill>
              <a:schemeClr val="accent2"/>
            </a:solidFill>
            <a:ln w="12700" cap="flat" cmpd="sng">
              <a:solidFill>
                <a:srgbClr val="42719B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79" name="Google Shape;1579;p59"/>
            <p:cNvSpPr/>
            <p:nvPr/>
          </p:nvSpPr>
          <p:spPr>
            <a:xfrm>
              <a:off x="5410178" y="4584315"/>
              <a:ext cx="558800" cy="558800"/>
            </a:xfrm>
            <a:prstGeom prst="ellipse">
              <a:avLst/>
            </a:prstGeom>
            <a:solidFill>
              <a:schemeClr val="accent2"/>
            </a:solidFill>
            <a:ln w="12700" cap="flat" cmpd="sng">
              <a:solidFill>
                <a:srgbClr val="42719B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80" name="Google Shape;1580;p59"/>
            <p:cNvSpPr/>
            <p:nvPr/>
          </p:nvSpPr>
          <p:spPr>
            <a:xfrm>
              <a:off x="6942074" y="4584315"/>
              <a:ext cx="558800" cy="558800"/>
            </a:xfrm>
            <a:prstGeom prst="ellipse">
              <a:avLst/>
            </a:prstGeom>
            <a:solidFill>
              <a:schemeClr val="accent2"/>
            </a:solidFill>
            <a:ln w="12700" cap="flat" cmpd="sng">
              <a:solidFill>
                <a:srgbClr val="42719B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1581" name="Google Shape;1581;p59"/>
            <p:cNvCxnSpPr>
              <a:stCxn id="1572" idx="3"/>
              <a:endCxn id="1573" idx="7"/>
            </p:cNvCxnSpPr>
            <p:nvPr/>
          </p:nvCxnSpPr>
          <p:spPr>
            <a:xfrm flipH="1">
              <a:off x="3725748" y="3250342"/>
              <a:ext cx="1154400" cy="5241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1582" name="Google Shape;1582;p59"/>
            <p:cNvCxnSpPr>
              <a:stCxn id="1578" idx="1"/>
              <a:endCxn id="1572" idx="5"/>
            </p:cNvCxnSpPr>
            <p:nvPr/>
          </p:nvCxnSpPr>
          <p:spPr>
            <a:xfrm rot="10800000">
              <a:off x="5275270" y="3250206"/>
              <a:ext cx="971400" cy="5241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1583" name="Google Shape;1583;p59"/>
            <p:cNvCxnSpPr>
              <a:stCxn id="1580" idx="1"/>
              <a:endCxn id="1578" idx="5"/>
            </p:cNvCxnSpPr>
            <p:nvPr/>
          </p:nvCxnSpPr>
          <p:spPr>
            <a:xfrm rot="10800000">
              <a:off x="6641708" y="4169349"/>
              <a:ext cx="382200" cy="4968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1584" name="Google Shape;1584;p59"/>
            <p:cNvCxnSpPr>
              <a:stCxn id="1579" idx="7"/>
              <a:endCxn id="1578" idx="3"/>
            </p:cNvCxnSpPr>
            <p:nvPr/>
          </p:nvCxnSpPr>
          <p:spPr>
            <a:xfrm rot="10800000" flipH="1">
              <a:off x="5887144" y="4169349"/>
              <a:ext cx="359400" cy="4968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1585" name="Google Shape;1585;p59"/>
            <p:cNvCxnSpPr>
              <a:stCxn id="1573" idx="3"/>
              <a:endCxn id="1574" idx="7"/>
            </p:cNvCxnSpPr>
            <p:nvPr/>
          </p:nvCxnSpPr>
          <p:spPr>
            <a:xfrm flipH="1">
              <a:off x="2792848" y="4169438"/>
              <a:ext cx="537900" cy="4143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1586" name="Google Shape;1586;p59"/>
            <p:cNvCxnSpPr>
              <a:stCxn id="1573" idx="5"/>
              <a:endCxn id="1577" idx="1"/>
            </p:cNvCxnSpPr>
            <p:nvPr/>
          </p:nvCxnSpPr>
          <p:spPr>
            <a:xfrm>
              <a:off x="3725880" y="4169438"/>
              <a:ext cx="553800" cy="4695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1587" name="Google Shape;1587;p59"/>
            <p:cNvCxnSpPr>
              <a:stCxn id="1574" idx="3"/>
              <a:endCxn id="1575" idx="7"/>
            </p:cNvCxnSpPr>
            <p:nvPr/>
          </p:nvCxnSpPr>
          <p:spPr>
            <a:xfrm flipH="1">
              <a:off x="1962416" y="4978861"/>
              <a:ext cx="435300" cy="6576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1588" name="Google Shape;1588;p59"/>
            <p:cNvCxnSpPr>
              <a:stCxn id="1574" idx="5"/>
              <a:endCxn id="1576" idx="0"/>
            </p:cNvCxnSpPr>
            <p:nvPr/>
          </p:nvCxnSpPr>
          <p:spPr>
            <a:xfrm>
              <a:off x="2792848" y="4978861"/>
              <a:ext cx="258600" cy="6354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</p:grpSp>
      <p:graphicFrame>
        <p:nvGraphicFramePr>
          <p:cNvPr id="1589" name="Google Shape;1589;p59"/>
          <p:cNvGraphicFramePr/>
          <p:nvPr/>
        </p:nvGraphicFramePr>
        <p:xfrm>
          <a:off x="6193469" y="4522204"/>
          <a:ext cx="3872700" cy="731540"/>
        </p:xfrm>
        <a:graphic>
          <a:graphicData uri="http://schemas.openxmlformats.org/drawingml/2006/table">
            <a:tbl>
              <a:tblPr firstRow="1" bandRow="1">
                <a:noFill/>
                <a:tableStyleId>{66088737-8E24-4614-AAA7-3D08145F63E1}</a:tableStyleId>
              </a:tblPr>
              <a:tblGrid>
                <a:gridCol w="430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03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03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303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303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303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303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303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4303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2914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1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2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3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4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5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6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7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8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9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14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590" name="Google Shape;1590;p59"/>
          <p:cNvSpPr/>
          <p:nvPr/>
        </p:nvSpPr>
        <p:spPr>
          <a:xfrm>
            <a:off x="682266" y="1966626"/>
            <a:ext cx="499620" cy="292231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accent2"/>
          </a:solidFill>
          <a:ln w="12700" cap="flat" cmpd="sng">
            <a:solidFill>
              <a:srgbClr val="AC5B23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1" name="Google Shape;1591;p59"/>
          <p:cNvSpPr/>
          <p:nvPr/>
        </p:nvSpPr>
        <p:spPr>
          <a:xfrm rot="5400000">
            <a:off x="6139631" y="3634706"/>
            <a:ext cx="499620" cy="292231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12700" cap="flat" cmpd="sng">
            <a:solidFill>
              <a:srgbClr val="AC5B23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6" name="Google Shape;1596;p60"/>
          <p:cNvSpPr txBox="1">
            <a:spLocks noGrp="1"/>
          </p:cNvSpPr>
          <p:nvPr>
            <p:ph type="body" idx="1"/>
          </p:nvPr>
        </p:nvSpPr>
        <p:spPr>
          <a:xfrm>
            <a:off x="838200" y="1227909"/>
            <a:ext cx="10515600" cy="49490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2095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2100"/>
              <a:buFont typeface="Arial"/>
              <a:buNone/>
            </a:pPr>
            <a:endParaRPr/>
          </a:p>
        </p:txBody>
      </p:sp>
      <p:sp>
        <p:nvSpPr>
          <p:cNvPr id="1597" name="Google Shape;1597;p60"/>
          <p:cNvSpPr txBox="1">
            <a:spLocks noGrp="1"/>
          </p:cNvSpPr>
          <p:nvPr>
            <p:ph type="dt" idx="10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36D85BD2-25E1-43A2-A8BE-C08F2F69C078}" type="datetime1">
              <a:rPr lang="en-US" smtClean="0"/>
              <a:t>1/12/2026</a:t>
            </a:fld>
            <a:endParaRPr/>
          </a:p>
        </p:txBody>
      </p:sp>
      <p:sp>
        <p:nvSpPr>
          <p:cNvPr id="1598" name="Google Shape;1598;p60"/>
          <p:cNvSpPr txBox="1">
            <a:spLocks noGrp="1"/>
          </p:cNvSpPr>
          <p:nvPr>
            <p:ph type="ftr" idx="11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Lec Asif Abrar, Dept of CSE, UIU</a:t>
            </a:r>
            <a:endParaRPr/>
          </a:p>
        </p:txBody>
      </p:sp>
      <p:sp>
        <p:nvSpPr>
          <p:cNvPr id="1599" name="Google Shape;1599;p60"/>
          <p:cNvSpPr txBox="1">
            <a:spLocks noGrp="1"/>
          </p:cNvSpPr>
          <p:nvPr>
            <p:ph type="sldNum" idx="12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46</a:t>
            </a:fld>
            <a:endParaRPr/>
          </a:p>
        </p:txBody>
      </p:sp>
      <p:sp>
        <p:nvSpPr>
          <p:cNvPr id="1600" name="Google Shape;1600;p60"/>
          <p:cNvSpPr txBox="1">
            <a:spLocks noGrp="1"/>
          </p:cNvSpPr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/>
              <a:t>Heap Sort</a:t>
            </a:r>
            <a:endParaRPr/>
          </a:p>
        </p:txBody>
      </p:sp>
      <p:pic>
        <p:nvPicPr>
          <p:cNvPr id="1601" name="Google Shape;1601;p6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46375" y="1227909"/>
            <a:ext cx="4287435" cy="206189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602" name="Google Shape;1602;p60"/>
          <p:cNvGrpSpPr/>
          <p:nvPr/>
        </p:nvGrpSpPr>
        <p:grpSpPr>
          <a:xfrm>
            <a:off x="6289881" y="2535751"/>
            <a:ext cx="3032569" cy="1827206"/>
            <a:chOff x="1485587" y="2773376"/>
            <a:chExt cx="6015287" cy="3399587"/>
          </a:xfrm>
        </p:grpSpPr>
        <p:sp>
          <p:nvSpPr>
            <p:cNvPr id="1603" name="Google Shape;1603;p60"/>
            <p:cNvSpPr/>
            <p:nvPr/>
          </p:nvSpPr>
          <p:spPr>
            <a:xfrm>
              <a:off x="4798314" y="2773376"/>
              <a:ext cx="558800" cy="558800"/>
            </a:xfrm>
            <a:prstGeom prst="ellipse">
              <a:avLst/>
            </a:prstGeom>
            <a:solidFill>
              <a:schemeClr val="accent2"/>
            </a:solidFill>
            <a:ln w="12700" cap="flat" cmpd="sng">
              <a:solidFill>
                <a:srgbClr val="42719B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04" name="Google Shape;1604;p60"/>
            <p:cNvSpPr/>
            <p:nvPr/>
          </p:nvSpPr>
          <p:spPr>
            <a:xfrm>
              <a:off x="3248914" y="3692472"/>
              <a:ext cx="558800" cy="558800"/>
            </a:xfrm>
            <a:prstGeom prst="ellipse">
              <a:avLst/>
            </a:prstGeom>
            <a:solidFill>
              <a:schemeClr val="accent2"/>
            </a:solidFill>
            <a:ln w="12700" cap="flat" cmpd="sng">
              <a:solidFill>
                <a:srgbClr val="42719B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05" name="Google Shape;1605;p60"/>
            <p:cNvSpPr/>
            <p:nvPr/>
          </p:nvSpPr>
          <p:spPr>
            <a:xfrm>
              <a:off x="2315882" y="4501895"/>
              <a:ext cx="558800" cy="558800"/>
            </a:xfrm>
            <a:prstGeom prst="ellipse">
              <a:avLst/>
            </a:prstGeom>
            <a:solidFill>
              <a:schemeClr val="accent2"/>
            </a:solidFill>
            <a:ln w="12700" cap="flat" cmpd="sng">
              <a:solidFill>
                <a:srgbClr val="42719B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06" name="Google Shape;1606;p60"/>
            <p:cNvSpPr/>
            <p:nvPr/>
          </p:nvSpPr>
          <p:spPr>
            <a:xfrm>
              <a:off x="1485587" y="5554658"/>
              <a:ext cx="558800" cy="558800"/>
            </a:xfrm>
            <a:prstGeom prst="ellipse">
              <a:avLst/>
            </a:prstGeom>
            <a:solidFill>
              <a:schemeClr val="accent2"/>
            </a:solidFill>
            <a:ln w="12700" cap="flat" cmpd="sng">
              <a:solidFill>
                <a:srgbClr val="42719B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07" name="Google Shape;1607;p60"/>
            <p:cNvSpPr/>
            <p:nvPr/>
          </p:nvSpPr>
          <p:spPr>
            <a:xfrm>
              <a:off x="2771948" y="5614163"/>
              <a:ext cx="558800" cy="558800"/>
            </a:xfrm>
            <a:prstGeom prst="ellipse">
              <a:avLst/>
            </a:prstGeom>
            <a:solidFill>
              <a:schemeClr val="accent2"/>
            </a:solidFill>
            <a:ln w="12700" cap="flat" cmpd="sng">
              <a:solidFill>
                <a:srgbClr val="42719B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08" name="Google Shape;1608;p60"/>
            <p:cNvSpPr/>
            <p:nvPr/>
          </p:nvSpPr>
          <p:spPr>
            <a:xfrm>
              <a:off x="4197746" y="4557225"/>
              <a:ext cx="558800" cy="558800"/>
            </a:xfrm>
            <a:prstGeom prst="ellipse">
              <a:avLst/>
            </a:prstGeom>
            <a:solidFill>
              <a:schemeClr val="accent2"/>
            </a:solidFill>
            <a:ln w="12700" cap="flat" cmpd="sng">
              <a:solidFill>
                <a:srgbClr val="42719B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09" name="Google Shape;1609;p60"/>
            <p:cNvSpPr/>
            <p:nvPr/>
          </p:nvSpPr>
          <p:spPr>
            <a:xfrm>
              <a:off x="6164836" y="3692472"/>
              <a:ext cx="558800" cy="558800"/>
            </a:xfrm>
            <a:prstGeom prst="ellipse">
              <a:avLst/>
            </a:prstGeom>
            <a:solidFill>
              <a:schemeClr val="accent2"/>
            </a:solidFill>
            <a:ln w="12700" cap="flat" cmpd="sng">
              <a:solidFill>
                <a:srgbClr val="42719B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10" name="Google Shape;1610;p60"/>
            <p:cNvSpPr/>
            <p:nvPr/>
          </p:nvSpPr>
          <p:spPr>
            <a:xfrm>
              <a:off x="5410178" y="4584315"/>
              <a:ext cx="558800" cy="558800"/>
            </a:xfrm>
            <a:prstGeom prst="ellipse">
              <a:avLst/>
            </a:prstGeom>
            <a:solidFill>
              <a:schemeClr val="accent2"/>
            </a:solidFill>
            <a:ln w="12700" cap="flat" cmpd="sng">
              <a:solidFill>
                <a:srgbClr val="42719B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11" name="Google Shape;1611;p60"/>
            <p:cNvSpPr/>
            <p:nvPr/>
          </p:nvSpPr>
          <p:spPr>
            <a:xfrm>
              <a:off x="6942074" y="4584315"/>
              <a:ext cx="558800" cy="558800"/>
            </a:xfrm>
            <a:prstGeom prst="ellipse">
              <a:avLst/>
            </a:prstGeom>
            <a:solidFill>
              <a:schemeClr val="accent2"/>
            </a:solidFill>
            <a:ln w="12700" cap="flat" cmpd="sng">
              <a:solidFill>
                <a:srgbClr val="42719B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1612" name="Google Shape;1612;p60"/>
            <p:cNvCxnSpPr>
              <a:stCxn id="1603" idx="3"/>
              <a:endCxn id="1604" idx="7"/>
            </p:cNvCxnSpPr>
            <p:nvPr/>
          </p:nvCxnSpPr>
          <p:spPr>
            <a:xfrm flipH="1">
              <a:off x="3725748" y="3250342"/>
              <a:ext cx="1154400" cy="5241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1613" name="Google Shape;1613;p60"/>
            <p:cNvCxnSpPr>
              <a:stCxn id="1609" idx="1"/>
              <a:endCxn id="1603" idx="5"/>
            </p:cNvCxnSpPr>
            <p:nvPr/>
          </p:nvCxnSpPr>
          <p:spPr>
            <a:xfrm rot="10800000">
              <a:off x="5275270" y="3250206"/>
              <a:ext cx="971400" cy="5241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1614" name="Google Shape;1614;p60"/>
            <p:cNvCxnSpPr>
              <a:stCxn id="1611" idx="1"/>
              <a:endCxn id="1609" idx="5"/>
            </p:cNvCxnSpPr>
            <p:nvPr/>
          </p:nvCxnSpPr>
          <p:spPr>
            <a:xfrm rot="10800000">
              <a:off x="6641708" y="4169349"/>
              <a:ext cx="382200" cy="4968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1615" name="Google Shape;1615;p60"/>
            <p:cNvCxnSpPr>
              <a:stCxn id="1610" idx="7"/>
              <a:endCxn id="1609" idx="3"/>
            </p:cNvCxnSpPr>
            <p:nvPr/>
          </p:nvCxnSpPr>
          <p:spPr>
            <a:xfrm rot="10800000" flipH="1">
              <a:off x="5887144" y="4169349"/>
              <a:ext cx="359400" cy="4968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1616" name="Google Shape;1616;p60"/>
            <p:cNvCxnSpPr>
              <a:stCxn id="1604" idx="3"/>
              <a:endCxn id="1605" idx="7"/>
            </p:cNvCxnSpPr>
            <p:nvPr/>
          </p:nvCxnSpPr>
          <p:spPr>
            <a:xfrm flipH="1">
              <a:off x="2792848" y="4169438"/>
              <a:ext cx="537900" cy="4143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1617" name="Google Shape;1617;p60"/>
            <p:cNvCxnSpPr>
              <a:stCxn id="1604" idx="5"/>
              <a:endCxn id="1608" idx="1"/>
            </p:cNvCxnSpPr>
            <p:nvPr/>
          </p:nvCxnSpPr>
          <p:spPr>
            <a:xfrm>
              <a:off x="3725880" y="4169438"/>
              <a:ext cx="553800" cy="4695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1618" name="Google Shape;1618;p60"/>
            <p:cNvCxnSpPr>
              <a:stCxn id="1605" idx="3"/>
              <a:endCxn id="1606" idx="7"/>
            </p:cNvCxnSpPr>
            <p:nvPr/>
          </p:nvCxnSpPr>
          <p:spPr>
            <a:xfrm flipH="1">
              <a:off x="1962416" y="4978861"/>
              <a:ext cx="435300" cy="6576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1619" name="Google Shape;1619;p60"/>
            <p:cNvCxnSpPr>
              <a:stCxn id="1605" idx="5"/>
              <a:endCxn id="1607" idx="0"/>
            </p:cNvCxnSpPr>
            <p:nvPr/>
          </p:nvCxnSpPr>
          <p:spPr>
            <a:xfrm>
              <a:off x="2792848" y="4978861"/>
              <a:ext cx="258600" cy="6354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</p:grpSp>
      <p:graphicFrame>
        <p:nvGraphicFramePr>
          <p:cNvPr id="1620" name="Google Shape;1620;p60"/>
          <p:cNvGraphicFramePr/>
          <p:nvPr/>
        </p:nvGraphicFramePr>
        <p:xfrm>
          <a:off x="6193469" y="4522204"/>
          <a:ext cx="3872700" cy="731540"/>
        </p:xfrm>
        <a:graphic>
          <a:graphicData uri="http://schemas.openxmlformats.org/drawingml/2006/table">
            <a:tbl>
              <a:tblPr firstRow="1" bandRow="1">
                <a:noFill/>
                <a:tableStyleId>{66088737-8E24-4614-AAA7-3D08145F63E1}</a:tableStyleId>
              </a:tblPr>
              <a:tblGrid>
                <a:gridCol w="430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03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03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303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303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303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303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303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4303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2914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1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2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3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4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5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6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7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8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9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14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621" name="Google Shape;1621;p60"/>
          <p:cNvSpPr/>
          <p:nvPr/>
        </p:nvSpPr>
        <p:spPr>
          <a:xfrm>
            <a:off x="682266" y="1966626"/>
            <a:ext cx="499620" cy="292231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accent2"/>
          </a:solidFill>
          <a:ln w="12700" cap="flat" cmpd="sng">
            <a:solidFill>
              <a:srgbClr val="AC5B23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2" name="Google Shape;1622;p60"/>
          <p:cNvSpPr/>
          <p:nvPr/>
        </p:nvSpPr>
        <p:spPr>
          <a:xfrm rot="5400000">
            <a:off x="8983560" y="3125411"/>
            <a:ext cx="499620" cy="292231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12700" cap="flat" cmpd="sng">
            <a:solidFill>
              <a:srgbClr val="AC5B23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7" name="Google Shape;1627;p61"/>
          <p:cNvSpPr txBox="1">
            <a:spLocks noGrp="1"/>
          </p:cNvSpPr>
          <p:nvPr>
            <p:ph type="body" idx="1"/>
          </p:nvPr>
        </p:nvSpPr>
        <p:spPr>
          <a:xfrm>
            <a:off x="838200" y="1227909"/>
            <a:ext cx="10515600" cy="49490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2095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2100"/>
              <a:buFont typeface="Arial"/>
              <a:buNone/>
            </a:pPr>
            <a:endParaRPr/>
          </a:p>
        </p:txBody>
      </p:sp>
      <p:sp>
        <p:nvSpPr>
          <p:cNvPr id="1628" name="Google Shape;1628;p61"/>
          <p:cNvSpPr txBox="1">
            <a:spLocks noGrp="1"/>
          </p:cNvSpPr>
          <p:nvPr>
            <p:ph type="dt" idx="10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AFC8D71B-E0EB-4270-A7BB-B041D02CB57E}" type="datetime1">
              <a:rPr lang="en-US" smtClean="0"/>
              <a:t>1/12/2026</a:t>
            </a:fld>
            <a:endParaRPr/>
          </a:p>
        </p:txBody>
      </p:sp>
      <p:sp>
        <p:nvSpPr>
          <p:cNvPr id="1629" name="Google Shape;1629;p61"/>
          <p:cNvSpPr txBox="1">
            <a:spLocks noGrp="1"/>
          </p:cNvSpPr>
          <p:nvPr>
            <p:ph type="ftr" idx="11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Lec Asif Abrar, Dept of CSE, UIU</a:t>
            </a:r>
            <a:endParaRPr/>
          </a:p>
        </p:txBody>
      </p:sp>
      <p:sp>
        <p:nvSpPr>
          <p:cNvPr id="1630" name="Google Shape;1630;p61"/>
          <p:cNvSpPr txBox="1">
            <a:spLocks noGrp="1"/>
          </p:cNvSpPr>
          <p:nvPr>
            <p:ph type="sldNum" idx="12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47</a:t>
            </a:fld>
            <a:endParaRPr/>
          </a:p>
        </p:txBody>
      </p:sp>
      <p:sp>
        <p:nvSpPr>
          <p:cNvPr id="1631" name="Google Shape;1631;p61"/>
          <p:cNvSpPr txBox="1">
            <a:spLocks noGrp="1"/>
          </p:cNvSpPr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/>
              <a:t>Heap Sort</a:t>
            </a:r>
            <a:endParaRPr/>
          </a:p>
        </p:txBody>
      </p:sp>
      <p:pic>
        <p:nvPicPr>
          <p:cNvPr id="1632" name="Google Shape;1632;p6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46375" y="1227909"/>
            <a:ext cx="4287435" cy="206189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633" name="Google Shape;1633;p61"/>
          <p:cNvGrpSpPr/>
          <p:nvPr/>
        </p:nvGrpSpPr>
        <p:grpSpPr>
          <a:xfrm>
            <a:off x="6289881" y="2535751"/>
            <a:ext cx="3032569" cy="1827206"/>
            <a:chOff x="1485587" y="2773376"/>
            <a:chExt cx="6015287" cy="3399587"/>
          </a:xfrm>
        </p:grpSpPr>
        <p:sp>
          <p:nvSpPr>
            <p:cNvPr id="1634" name="Google Shape;1634;p61"/>
            <p:cNvSpPr/>
            <p:nvPr/>
          </p:nvSpPr>
          <p:spPr>
            <a:xfrm>
              <a:off x="4798314" y="2773376"/>
              <a:ext cx="558800" cy="558800"/>
            </a:xfrm>
            <a:prstGeom prst="ellipse">
              <a:avLst/>
            </a:prstGeom>
            <a:solidFill>
              <a:schemeClr val="accent2"/>
            </a:solidFill>
            <a:ln w="12700" cap="flat" cmpd="sng">
              <a:solidFill>
                <a:srgbClr val="42719B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35" name="Google Shape;1635;p61"/>
            <p:cNvSpPr/>
            <p:nvPr/>
          </p:nvSpPr>
          <p:spPr>
            <a:xfrm>
              <a:off x="3248914" y="3692472"/>
              <a:ext cx="558800" cy="558800"/>
            </a:xfrm>
            <a:prstGeom prst="ellipse">
              <a:avLst/>
            </a:prstGeom>
            <a:solidFill>
              <a:schemeClr val="accent2"/>
            </a:solidFill>
            <a:ln w="12700" cap="flat" cmpd="sng">
              <a:solidFill>
                <a:srgbClr val="42719B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36" name="Google Shape;1636;p61"/>
            <p:cNvSpPr/>
            <p:nvPr/>
          </p:nvSpPr>
          <p:spPr>
            <a:xfrm>
              <a:off x="2315882" y="4501895"/>
              <a:ext cx="558800" cy="558800"/>
            </a:xfrm>
            <a:prstGeom prst="ellipse">
              <a:avLst/>
            </a:prstGeom>
            <a:solidFill>
              <a:schemeClr val="accent2"/>
            </a:solidFill>
            <a:ln w="12700" cap="flat" cmpd="sng">
              <a:solidFill>
                <a:srgbClr val="42719B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37" name="Google Shape;1637;p61"/>
            <p:cNvSpPr/>
            <p:nvPr/>
          </p:nvSpPr>
          <p:spPr>
            <a:xfrm>
              <a:off x="1485587" y="5554658"/>
              <a:ext cx="558800" cy="558800"/>
            </a:xfrm>
            <a:prstGeom prst="ellipse">
              <a:avLst/>
            </a:prstGeom>
            <a:solidFill>
              <a:schemeClr val="accent2"/>
            </a:solidFill>
            <a:ln w="12700" cap="flat" cmpd="sng">
              <a:solidFill>
                <a:srgbClr val="42719B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38" name="Google Shape;1638;p61"/>
            <p:cNvSpPr/>
            <p:nvPr/>
          </p:nvSpPr>
          <p:spPr>
            <a:xfrm>
              <a:off x="2771948" y="5614163"/>
              <a:ext cx="558800" cy="558800"/>
            </a:xfrm>
            <a:prstGeom prst="ellipse">
              <a:avLst/>
            </a:prstGeom>
            <a:solidFill>
              <a:schemeClr val="accent2"/>
            </a:solidFill>
            <a:ln w="12700" cap="flat" cmpd="sng">
              <a:solidFill>
                <a:srgbClr val="42719B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39" name="Google Shape;1639;p61"/>
            <p:cNvSpPr/>
            <p:nvPr/>
          </p:nvSpPr>
          <p:spPr>
            <a:xfrm>
              <a:off x="4197746" y="4557225"/>
              <a:ext cx="558800" cy="558800"/>
            </a:xfrm>
            <a:prstGeom prst="ellipse">
              <a:avLst/>
            </a:prstGeom>
            <a:solidFill>
              <a:schemeClr val="accent2"/>
            </a:solidFill>
            <a:ln w="12700" cap="flat" cmpd="sng">
              <a:solidFill>
                <a:srgbClr val="42719B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40" name="Google Shape;1640;p61"/>
            <p:cNvSpPr/>
            <p:nvPr/>
          </p:nvSpPr>
          <p:spPr>
            <a:xfrm>
              <a:off x="6164836" y="3692472"/>
              <a:ext cx="558800" cy="558800"/>
            </a:xfrm>
            <a:prstGeom prst="ellipse">
              <a:avLst/>
            </a:prstGeom>
            <a:solidFill>
              <a:schemeClr val="accent2"/>
            </a:solidFill>
            <a:ln w="12700" cap="flat" cmpd="sng">
              <a:solidFill>
                <a:srgbClr val="42719B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41" name="Google Shape;1641;p61"/>
            <p:cNvSpPr/>
            <p:nvPr/>
          </p:nvSpPr>
          <p:spPr>
            <a:xfrm>
              <a:off x="5410178" y="4584315"/>
              <a:ext cx="558800" cy="558800"/>
            </a:xfrm>
            <a:prstGeom prst="ellipse">
              <a:avLst/>
            </a:prstGeom>
            <a:solidFill>
              <a:schemeClr val="accent2"/>
            </a:solidFill>
            <a:ln w="12700" cap="flat" cmpd="sng">
              <a:solidFill>
                <a:srgbClr val="42719B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42" name="Google Shape;1642;p61"/>
            <p:cNvSpPr/>
            <p:nvPr/>
          </p:nvSpPr>
          <p:spPr>
            <a:xfrm>
              <a:off x="6942074" y="4584315"/>
              <a:ext cx="558800" cy="558800"/>
            </a:xfrm>
            <a:prstGeom prst="ellipse">
              <a:avLst/>
            </a:prstGeom>
            <a:solidFill>
              <a:schemeClr val="accent2"/>
            </a:solidFill>
            <a:ln w="12700" cap="flat" cmpd="sng">
              <a:solidFill>
                <a:srgbClr val="42719B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1643" name="Google Shape;1643;p61"/>
            <p:cNvCxnSpPr>
              <a:stCxn id="1634" idx="3"/>
              <a:endCxn id="1635" idx="7"/>
            </p:cNvCxnSpPr>
            <p:nvPr/>
          </p:nvCxnSpPr>
          <p:spPr>
            <a:xfrm flipH="1">
              <a:off x="3725748" y="3250342"/>
              <a:ext cx="1154400" cy="5241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1644" name="Google Shape;1644;p61"/>
            <p:cNvCxnSpPr>
              <a:stCxn id="1640" idx="1"/>
              <a:endCxn id="1634" idx="5"/>
            </p:cNvCxnSpPr>
            <p:nvPr/>
          </p:nvCxnSpPr>
          <p:spPr>
            <a:xfrm rot="10800000">
              <a:off x="5275270" y="3250206"/>
              <a:ext cx="971400" cy="5241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1645" name="Google Shape;1645;p61"/>
            <p:cNvCxnSpPr>
              <a:stCxn id="1642" idx="1"/>
              <a:endCxn id="1640" idx="5"/>
            </p:cNvCxnSpPr>
            <p:nvPr/>
          </p:nvCxnSpPr>
          <p:spPr>
            <a:xfrm rot="10800000">
              <a:off x="6641708" y="4169349"/>
              <a:ext cx="382200" cy="4968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1646" name="Google Shape;1646;p61"/>
            <p:cNvCxnSpPr>
              <a:stCxn id="1641" idx="7"/>
              <a:endCxn id="1640" idx="3"/>
            </p:cNvCxnSpPr>
            <p:nvPr/>
          </p:nvCxnSpPr>
          <p:spPr>
            <a:xfrm rot="10800000" flipH="1">
              <a:off x="5887144" y="4169349"/>
              <a:ext cx="359400" cy="4968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1647" name="Google Shape;1647;p61"/>
            <p:cNvCxnSpPr>
              <a:stCxn id="1635" idx="3"/>
              <a:endCxn id="1636" idx="7"/>
            </p:cNvCxnSpPr>
            <p:nvPr/>
          </p:nvCxnSpPr>
          <p:spPr>
            <a:xfrm flipH="1">
              <a:off x="2792848" y="4169438"/>
              <a:ext cx="537900" cy="4143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1648" name="Google Shape;1648;p61"/>
            <p:cNvCxnSpPr>
              <a:stCxn id="1635" idx="5"/>
              <a:endCxn id="1639" idx="1"/>
            </p:cNvCxnSpPr>
            <p:nvPr/>
          </p:nvCxnSpPr>
          <p:spPr>
            <a:xfrm>
              <a:off x="3725880" y="4169438"/>
              <a:ext cx="553800" cy="4695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1649" name="Google Shape;1649;p61"/>
            <p:cNvCxnSpPr>
              <a:stCxn id="1636" idx="3"/>
              <a:endCxn id="1637" idx="7"/>
            </p:cNvCxnSpPr>
            <p:nvPr/>
          </p:nvCxnSpPr>
          <p:spPr>
            <a:xfrm flipH="1">
              <a:off x="1962416" y="4978861"/>
              <a:ext cx="435300" cy="6576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1650" name="Google Shape;1650;p61"/>
            <p:cNvCxnSpPr>
              <a:stCxn id="1636" idx="5"/>
              <a:endCxn id="1638" idx="0"/>
            </p:cNvCxnSpPr>
            <p:nvPr/>
          </p:nvCxnSpPr>
          <p:spPr>
            <a:xfrm>
              <a:off x="2792848" y="4978861"/>
              <a:ext cx="258600" cy="6354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</p:grpSp>
      <p:graphicFrame>
        <p:nvGraphicFramePr>
          <p:cNvPr id="1651" name="Google Shape;1651;p61"/>
          <p:cNvGraphicFramePr/>
          <p:nvPr/>
        </p:nvGraphicFramePr>
        <p:xfrm>
          <a:off x="6193469" y="4522204"/>
          <a:ext cx="3872700" cy="731540"/>
        </p:xfrm>
        <a:graphic>
          <a:graphicData uri="http://schemas.openxmlformats.org/drawingml/2006/table">
            <a:tbl>
              <a:tblPr firstRow="1" bandRow="1">
                <a:noFill/>
                <a:tableStyleId>{66088737-8E24-4614-AAA7-3D08145F63E1}</a:tableStyleId>
              </a:tblPr>
              <a:tblGrid>
                <a:gridCol w="430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03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03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303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303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303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303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303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4303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2914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1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2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3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4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5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6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7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8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9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14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652" name="Google Shape;1652;p61"/>
          <p:cNvSpPr/>
          <p:nvPr/>
        </p:nvSpPr>
        <p:spPr>
          <a:xfrm>
            <a:off x="682266" y="1966626"/>
            <a:ext cx="499620" cy="292231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accent2"/>
          </a:solidFill>
          <a:ln w="12700" cap="flat" cmpd="sng">
            <a:solidFill>
              <a:srgbClr val="AC5B23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3" name="Google Shape;1653;p61"/>
          <p:cNvSpPr/>
          <p:nvPr/>
        </p:nvSpPr>
        <p:spPr>
          <a:xfrm rot="5400000">
            <a:off x="8115659" y="3145296"/>
            <a:ext cx="499620" cy="292231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12700" cap="flat" cmpd="sng">
            <a:solidFill>
              <a:srgbClr val="AC5B23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8" name="Google Shape;1658;p62"/>
          <p:cNvSpPr txBox="1">
            <a:spLocks noGrp="1"/>
          </p:cNvSpPr>
          <p:nvPr>
            <p:ph type="body" idx="1"/>
          </p:nvPr>
        </p:nvSpPr>
        <p:spPr>
          <a:xfrm>
            <a:off x="838200" y="1227909"/>
            <a:ext cx="10515600" cy="49490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2095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2100"/>
              <a:buFont typeface="Arial"/>
              <a:buNone/>
            </a:pPr>
            <a:endParaRPr/>
          </a:p>
        </p:txBody>
      </p:sp>
      <p:sp>
        <p:nvSpPr>
          <p:cNvPr id="1659" name="Google Shape;1659;p62"/>
          <p:cNvSpPr txBox="1">
            <a:spLocks noGrp="1"/>
          </p:cNvSpPr>
          <p:nvPr>
            <p:ph type="dt" idx="10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EE39D28-426D-45A9-A991-6BA8E92434DF}" type="datetime1">
              <a:rPr lang="en-US" smtClean="0"/>
              <a:t>1/12/2026</a:t>
            </a:fld>
            <a:endParaRPr/>
          </a:p>
        </p:txBody>
      </p:sp>
      <p:sp>
        <p:nvSpPr>
          <p:cNvPr id="1660" name="Google Shape;1660;p62"/>
          <p:cNvSpPr txBox="1">
            <a:spLocks noGrp="1"/>
          </p:cNvSpPr>
          <p:nvPr>
            <p:ph type="ftr" idx="11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Lec Asif Abrar, Dept of CSE, UIU</a:t>
            </a:r>
            <a:endParaRPr/>
          </a:p>
        </p:txBody>
      </p:sp>
      <p:sp>
        <p:nvSpPr>
          <p:cNvPr id="1661" name="Google Shape;1661;p62"/>
          <p:cNvSpPr txBox="1">
            <a:spLocks noGrp="1"/>
          </p:cNvSpPr>
          <p:nvPr>
            <p:ph type="sldNum" idx="12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48</a:t>
            </a:fld>
            <a:endParaRPr/>
          </a:p>
        </p:txBody>
      </p:sp>
      <p:sp>
        <p:nvSpPr>
          <p:cNvPr id="1662" name="Google Shape;1662;p62"/>
          <p:cNvSpPr txBox="1">
            <a:spLocks noGrp="1"/>
          </p:cNvSpPr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/>
              <a:t>Heap Sort</a:t>
            </a:r>
            <a:endParaRPr/>
          </a:p>
        </p:txBody>
      </p:sp>
      <p:pic>
        <p:nvPicPr>
          <p:cNvPr id="1663" name="Google Shape;1663;p6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46375" y="1227909"/>
            <a:ext cx="4287435" cy="206189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664" name="Google Shape;1664;p62"/>
          <p:cNvGrpSpPr/>
          <p:nvPr/>
        </p:nvGrpSpPr>
        <p:grpSpPr>
          <a:xfrm>
            <a:off x="6289881" y="2535751"/>
            <a:ext cx="3032569" cy="1827206"/>
            <a:chOff x="1485587" y="2773376"/>
            <a:chExt cx="6015287" cy="3399587"/>
          </a:xfrm>
        </p:grpSpPr>
        <p:sp>
          <p:nvSpPr>
            <p:cNvPr id="1665" name="Google Shape;1665;p62"/>
            <p:cNvSpPr/>
            <p:nvPr/>
          </p:nvSpPr>
          <p:spPr>
            <a:xfrm>
              <a:off x="4798314" y="2773376"/>
              <a:ext cx="558800" cy="558800"/>
            </a:xfrm>
            <a:prstGeom prst="ellipse">
              <a:avLst/>
            </a:prstGeom>
            <a:solidFill>
              <a:schemeClr val="accent2"/>
            </a:solidFill>
            <a:ln w="12700" cap="flat" cmpd="sng">
              <a:solidFill>
                <a:srgbClr val="42719B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66" name="Google Shape;1666;p62"/>
            <p:cNvSpPr/>
            <p:nvPr/>
          </p:nvSpPr>
          <p:spPr>
            <a:xfrm>
              <a:off x="3248914" y="3692472"/>
              <a:ext cx="558800" cy="558800"/>
            </a:xfrm>
            <a:prstGeom prst="ellipse">
              <a:avLst/>
            </a:prstGeom>
            <a:solidFill>
              <a:schemeClr val="accent2"/>
            </a:solidFill>
            <a:ln w="12700" cap="flat" cmpd="sng">
              <a:solidFill>
                <a:srgbClr val="42719B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67" name="Google Shape;1667;p62"/>
            <p:cNvSpPr/>
            <p:nvPr/>
          </p:nvSpPr>
          <p:spPr>
            <a:xfrm>
              <a:off x="2315882" y="4501895"/>
              <a:ext cx="558800" cy="558800"/>
            </a:xfrm>
            <a:prstGeom prst="ellipse">
              <a:avLst/>
            </a:prstGeom>
            <a:solidFill>
              <a:schemeClr val="accent2"/>
            </a:solidFill>
            <a:ln w="12700" cap="flat" cmpd="sng">
              <a:solidFill>
                <a:srgbClr val="42719B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68" name="Google Shape;1668;p62"/>
            <p:cNvSpPr/>
            <p:nvPr/>
          </p:nvSpPr>
          <p:spPr>
            <a:xfrm>
              <a:off x="1485587" y="5554658"/>
              <a:ext cx="558800" cy="558800"/>
            </a:xfrm>
            <a:prstGeom prst="ellipse">
              <a:avLst/>
            </a:prstGeom>
            <a:solidFill>
              <a:schemeClr val="accent2"/>
            </a:solidFill>
            <a:ln w="12700" cap="flat" cmpd="sng">
              <a:solidFill>
                <a:srgbClr val="42719B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69" name="Google Shape;1669;p62"/>
            <p:cNvSpPr/>
            <p:nvPr/>
          </p:nvSpPr>
          <p:spPr>
            <a:xfrm>
              <a:off x="2771948" y="5614163"/>
              <a:ext cx="558800" cy="558800"/>
            </a:xfrm>
            <a:prstGeom prst="ellipse">
              <a:avLst/>
            </a:prstGeom>
            <a:solidFill>
              <a:schemeClr val="accent2"/>
            </a:solidFill>
            <a:ln w="12700" cap="flat" cmpd="sng">
              <a:solidFill>
                <a:srgbClr val="42719B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70" name="Google Shape;1670;p62"/>
            <p:cNvSpPr/>
            <p:nvPr/>
          </p:nvSpPr>
          <p:spPr>
            <a:xfrm>
              <a:off x="4197746" y="4557225"/>
              <a:ext cx="558800" cy="558800"/>
            </a:xfrm>
            <a:prstGeom prst="ellipse">
              <a:avLst/>
            </a:prstGeom>
            <a:solidFill>
              <a:schemeClr val="accent2"/>
            </a:solidFill>
            <a:ln w="12700" cap="flat" cmpd="sng">
              <a:solidFill>
                <a:srgbClr val="42719B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71" name="Google Shape;1671;p62"/>
            <p:cNvSpPr/>
            <p:nvPr/>
          </p:nvSpPr>
          <p:spPr>
            <a:xfrm>
              <a:off x="6164836" y="3692472"/>
              <a:ext cx="558800" cy="558800"/>
            </a:xfrm>
            <a:prstGeom prst="ellipse">
              <a:avLst/>
            </a:prstGeom>
            <a:solidFill>
              <a:schemeClr val="accent2"/>
            </a:solidFill>
            <a:ln w="12700" cap="flat" cmpd="sng">
              <a:solidFill>
                <a:srgbClr val="42719B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72" name="Google Shape;1672;p62"/>
            <p:cNvSpPr/>
            <p:nvPr/>
          </p:nvSpPr>
          <p:spPr>
            <a:xfrm>
              <a:off x="5410178" y="4584315"/>
              <a:ext cx="558800" cy="558800"/>
            </a:xfrm>
            <a:prstGeom prst="ellipse">
              <a:avLst/>
            </a:prstGeom>
            <a:solidFill>
              <a:schemeClr val="accent2"/>
            </a:solidFill>
            <a:ln w="12700" cap="flat" cmpd="sng">
              <a:solidFill>
                <a:srgbClr val="42719B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73" name="Google Shape;1673;p62"/>
            <p:cNvSpPr/>
            <p:nvPr/>
          </p:nvSpPr>
          <p:spPr>
            <a:xfrm>
              <a:off x="6942074" y="4584315"/>
              <a:ext cx="558800" cy="558800"/>
            </a:xfrm>
            <a:prstGeom prst="ellipse">
              <a:avLst/>
            </a:prstGeom>
            <a:solidFill>
              <a:schemeClr val="accent2"/>
            </a:solidFill>
            <a:ln w="12700" cap="flat" cmpd="sng">
              <a:solidFill>
                <a:srgbClr val="42719B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1674" name="Google Shape;1674;p62"/>
            <p:cNvCxnSpPr>
              <a:stCxn id="1665" idx="3"/>
              <a:endCxn id="1666" idx="7"/>
            </p:cNvCxnSpPr>
            <p:nvPr/>
          </p:nvCxnSpPr>
          <p:spPr>
            <a:xfrm flipH="1">
              <a:off x="3725748" y="3250342"/>
              <a:ext cx="1154400" cy="5241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1675" name="Google Shape;1675;p62"/>
            <p:cNvCxnSpPr>
              <a:stCxn id="1671" idx="1"/>
              <a:endCxn id="1665" idx="5"/>
            </p:cNvCxnSpPr>
            <p:nvPr/>
          </p:nvCxnSpPr>
          <p:spPr>
            <a:xfrm rot="10800000">
              <a:off x="5275270" y="3250206"/>
              <a:ext cx="971400" cy="5241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1676" name="Google Shape;1676;p62"/>
            <p:cNvCxnSpPr>
              <a:stCxn id="1673" idx="1"/>
              <a:endCxn id="1671" idx="5"/>
            </p:cNvCxnSpPr>
            <p:nvPr/>
          </p:nvCxnSpPr>
          <p:spPr>
            <a:xfrm rot="10800000">
              <a:off x="6641708" y="4169349"/>
              <a:ext cx="382200" cy="4968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1677" name="Google Shape;1677;p62"/>
            <p:cNvCxnSpPr>
              <a:stCxn id="1672" idx="7"/>
              <a:endCxn id="1671" idx="3"/>
            </p:cNvCxnSpPr>
            <p:nvPr/>
          </p:nvCxnSpPr>
          <p:spPr>
            <a:xfrm rot="10800000" flipH="1">
              <a:off x="5887144" y="4169349"/>
              <a:ext cx="359400" cy="4968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1678" name="Google Shape;1678;p62"/>
            <p:cNvCxnSpPr>
              <a:stCxn id="1666" idx="3"/>
              <a:endCxn id="1667" idx="7"/>
            </p:cNvCxnSpPr>
            <p:nvPr/>
          </p:nvCxnSpPr>
          <p:spPr>
            <a:xfrm flipH="1">
              <a:off x="2792848" y="4169438"/>
              <a:ext cx="537900" cy="4143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1679" name="Google Shape;1679;p62"/>
            <p:cNvCxnSpPr>
              <a:stCxn id="1666" idx="5"/>
              <a:endCxn id="1670" idx="1"/>
            </p:cNvCxnSpPr>
            <p:nvPr/>
          </p:nvCxnSpPr>
          <p:spPr>
            <a:xfrm>
              <a:off x="3725880" y="4169438"/>
              <a:ext cx="553800" cy="4695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1680" name="Google Shape;1680;p62"/>
            <p:cNvCxnSpPr>
              <a:stCxn id="1667" idx="3"/>
              <a:endCxn id="1668" idx="7"/>
            </p:cNvCxnSpPr>
            <p:nvPr/>
          </p:nvCxnSpPr>
          <p:spPr>
            <a:xfrm flipH="1">
              <a:off x="1962416" y="4978861"/>
              <a:ext cx="435300" cy="6576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1681" name="Google Shape;1681;p62"/>
            <p:cNvCxnSpPr>
              <a:stCxn id="1667" idx="5"/>
              <a:endCxn id="1669" idx="0"/>
            </p:cNvCxnSpPr>
            <p:nvPr/>
          </p:nvCxnSpPr>
          <p:spPr>
            <a:xfrm>
              <a:off x="2792848" y="4978861"/>
              <a:ext cx="258600" cy="6354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</p:grpSp>
      <p:graphicFrame>
        <p:nvGraphicFramePr>
          <p:cNvPr id="1682" name="Google Shape;1682;p62"/>
          <p:cNvGraphicFramePr/>
          <p:nvPr/>
        </p:nvGraphicFramePr>
        <p:xfrm>
          <a:off x="6193469" y="4522204"/>
          <a:ext cx="3872700" cy="731540"/>
        </p:xfrm>
        <a:graphic>
          <a:graphicData uri="http://schemas.openxmlformats.org/drawingml/2006/table">
            <a:tbl>
              <a:tblPr firstRow="1" bandRow="1">
                <a:noFill/>
                <a:tableStyleId>{66088737-8E24-4614-AAA7-3D08145F63E1}</a:tableStyleId>
              </a:tblPr>
              <a:tblGrid>
                <a:gridCol w="430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03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03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303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303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303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303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303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4303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2914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1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2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3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4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5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6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7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8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9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14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683" name="Google Shape;1683;p62"/>
          <p:cNvSpPr/>
          <p:nvPr/>
        </p:nvSpPr>
        <p:spPr>
          <a:xfrm>
            <a:off x="682266" y="1966626"/>
            <a:ext cx="499620" cy="292231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accent2"/>
          </a:solidFill>
          <a:ln w="12700" cap="flat" cmpd="sng">
            <a:solidFill>
              <a:srgbClr val="AC5B23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4" name="Google Shape;1684;p62"/>
          <p:cNvSpPr/>
          <p:nvPr/>
        </p:nvSpPr>
        <p:spPr>
          <a:xfrm rot="5400000">
            <a:off x="7577307" y="3136042"/>
            <a:ext cx="499620" cy="292231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12700" cap="flat" cmpd="sng">
            <a:solidFill>
              <a:srgbClr val="AC5B23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9" name="Google Shape;1689;p63"/>
          <p:cNvSpPr txBox="1">
            <a:spLocks noGrp="1"/>
          </p:cNvSpPr>
          <p:nvPr>
            <p:ph type="body" idx="1"/>
          </p:nvPr>
        </p:nvSpPr>
        <p:spPr>
          <a:xfrm>
            <a:off x="838200" y="1227909"/>
            <a:ext cx="10515600" cy="49490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2095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2100"/>
              <a:buFont typeface="Arial"/>
              <a:buNone/>
            </a:pPr>
            <a:endParaRPr/>
          </a:p>
        </p:txBody>
      </p:sp>
      <p:sp>
        <p:nvSpPr>
          <p:cNvPr id="1690" name="Google Shape;1690;p63"/>
          <p:cNvSpPr txBox="1">
            <a:spLocks noGrp="1"/>
          </p:cNvSpPr>
          <p:nvPr>
            <p:ph type="dt" idx="10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A3631C6F-8DBD-429A-B9D2-374D60E8A4A0}" type="datetime1">
              <a:rPr lang="en-US" smtClean="0"/>
              <a:t>1/12/2026</a:t>
            </a:fld>
            <a:endParaRPr/>
          </a:p>
        </p:txBody>
      </p:sp>
      <p:sp>
        <p:nvSpPr>
          <p:cNvPr id="1691" name="Google Shape;1691;p63"/>
          <p:cNvSpPr txBox="1">
            <a:spLocks noGrp="1"/>
          </p:cNvSpPr>
          <p:nvPr>
            <p:ph type="ftr" idx="11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Lec Asif Abrar, Dept of CSE, UIU</a:t>
            </a:r>
            <a:endParaRPr/>
          </a:p>
        </p:txBody>
      </p:sp>
      <p:sp>
        <p:nvSpPr>
          <p:cNvPr id="1692" name="Google Shape;1692;p63"/>
          <p:cNvSpPr txBox="1">
            <a:spLocks noGrp="1"/>
          </p:cNvSpPr>
          <p:nvPr>
            <p:ph type="sldNum" idx="12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49</a:t>
            </a:fld>
            <a:endParaRPr/>
          </a:p>
        </p:txBody>
      </p:sp>
      <p:sp>
        <p:nvSpPr>
          <p:cNvPr id="1693" name="Google Shape;1693;p63"/>
          <p:cNvSpPr txBox="1">
            <a:spLocks noGrp="1"/>
          </p:cNvSpPr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/>
              <a:t>Heap Sort</a:t>
            </a:r>
            <a:endParaRPr/>
          </a:p>
        </p:txBody>
      </p:sp>
      <p:pic>
        <p:nvPicPr>
          <p:cNvPr id="1694" name="Google Shape;1694;p6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46375" y="1227909"/>
            <a:ext cx="4287435" cy="206189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695" name="Google Shape;1695;p63"/>
          <p:cNvGrpSpPr/>
          <p:nvPr/>
        </p:nvGrpSpPr>
        <p:grpSpPr>
          <a:xfrm>
            <a:off x="6289881" y="2535751"/>
            <a:ext cx="3032569" cy="1827206"/>
            <a:chOff x="1485587" y="2773376"/>
            <a:chExt cx="6015287" cy="3399587"/>
          </a:xfrm>
        </p:grpSpPr>
        <p:sp>
          <p:nvSpPr>
            <p:cNvPr id="1696" name="Google Shape;1696;p63"/>
            <p:cNvSpPr/>
            <p:nvPr/>
          </p:nvSpPr>
          <p:spPr>
            <a:xfrm>
              <a:off x="4798314" y="2773376"/>
              <a:ext cx="558800" cy="558800"/>
            </a:xfrm>
            <a:prstGeom prst="ellipse">
              <a:avLst/>
            </a:prstGeom>
            <a:solidFill>
              <a:schemeClr val="accent2"/>
            </a:solidFill>
            <a:ln w="12700" cap="flat" cmpd="sng">
              <a:solidFill>
                <a:srgbClr val="42719B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97" name="Google Shape;1697;p63"/>
            <p:cNvSpPr/>
            <p:nvPr/>
          </p:nvSpPr>
          <p:spPr>
            <a:xfrm>
              <a:off x="3248914" y="3692472"/>
              <a:ext cx="558800" cy="558800"/>
            </a:xfrm>
            <a:prstGeom prst="ellipse">
              <a:avLst/>
            </a:prstGeom>
            <a:solidFill>
              <a:schemeClr val="accent2"/>
            </a:solidFill>
            <a:ln w="12700" cap="flat" cmpd="sng">
              <a:solidFill>
                <a:srgbClr val="42719B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98" name="Google Shape;1698;p63"/>
            <p:cNvSpPr/>
            <p:nvPr/>
          </p:nvSpPr>
          <p:spPr>
            <a:xfrm>
              <a:off x="2315882" y="4501895"/>
              <a:ext cx="558800" cy="558800"/>
            </a:xfrm>
            <a:prstGeom prst="ellipse">
              <a:avLst/>
            </a:prstGeom>
            <a:solidFill>
              <a:schemeClr val="accent2"/>
            </a:solidFill>
            <a:ln w="12700" cap="flat" cmpd="sng">
              <a:solidFill>
                <a:srgbClr val="42719B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99" name="Google Shape;1699;p63"/>
            <p:cNvSpPr/>
            <p:nvPr/>
          </p:nvSpPr>
          <p:spPr>
            <a:xfrm>
              <a:off x="1485587" y="5554658"/>
              <a:ext cx="558800" cy="558800"/>
            </a:xfrm>
            <a:prstGeom prst="ellipse">
              <a:avLst/>
            </a:prstGeom>
            <a:solidFill>
              <a:schemeClr val="accent2"/>
            </a:solidFill>
            <a:ln w="12700" cap="flat" cmpd="sng">
              <a:solidFill>
                <a:srgbClr val="42719B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00" name="Google Shape;1700;p63"/>
            <p:cNvSpPr/>
            <p:nvPr/>
          </p:nvSpPr>
          <p:spPr>
            <a:xfrm>
              <a:off x="2771948" y="5614163"/>
              <a:ext cx="558800" cy="558800"/>
            </a:xfrm>
            <a:prstGeom prst="ellipse">
              <a:avLst/>
            </a:prstGeom>
            <a:solidFill>
              <a:schemeClr val="accent2"/>
            </a:solidFill>
            <a:ln w="12700" cap="flat" cmpd="sng">
              <a:solidFill>
                <a:srgbClr val="42719B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01" name="Google Shape;1701;p63"/>
            <p:cNvSpPr/>
            <p:nvPr/>
          </p:nvSpPr>
          <p:spPr>
            <a:xfrm>
              <a:off x="4197746" y="4557225"/>
              <a:ext cx="558800" cy="558800"/>
            </a:xfrm>
            <a:prstGeom prst="ellipse">
              <a:avLst/>
            </a:prstGeom>
            <a:solidFill>
              <a:schemeClr val="accent2"/>
            </a:solidFill>
            <a:ln w="12700" cap="flat" cmpd="sng">
              <a:solidFill>
                <a:srgbClr val="42719B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02" name="Google Shape;1702;p63"/>
            <p:cNvSpPr/>
            <p:nvPr/>
          </p:nvSpPr>
          <p:spPr>
            <a:xfrm>
              <a:off x="6164836" y="3692472"/>
              <a:ext cx="558800" cy="558800"/>
            </a:xfrm>
            <a:prstGeom prst="ellipse">
              <a:avLst/>
            </a:prstGeom>
            <a:solidFill>
              <a:schemeClr val="accent2"/>
            </a:solidFill>
            <a:ln w="12700" cap="flat" cmpd="sng">
              <a:solidFill>
                <a:srgbClr val="42719B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03" name="Google Shape;1703;p63"/>
            <p:cNvSpPr/>
            <p:nvPr/>
          </p:nvSpPr>
          <p:spPr>
            <a:xfrm>
              <a:off x="5410178" y="4584315"/>
              <a:ext cx="558800" cy="558800"/>
            </a:xfrm>
            <a:prstGeom prst="ellipse">
              <a:avLst/>
            </a:prstGeom>
            <a:solidFill>
              <a:schemeClr val="accent2"/>
            </a:solidFill>
            <a:ln w="12700" cap="flat" cmpd="sng">
              <a:solidFill>
                <a:srgbClr val="42719B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04" name="Google Shape;1704;p63"/>
            <p:cNvSpPr/>
            <p:nvPr/>
          </p:nvSpPr>
          <p:spPr>
            <a:xfrm>
              <a:off x="6942074" y="4584315"/>
              <a:ext cx="558800" cy="558800"/>
            </a:xfrm>
            <a:prstGeom prst="ellipse">
              <a:avLst/>
            </a:prstGeom>
            <a:solidFill>
              <a:schemeClr val="accent2"/>
            </a:solidFill>
            <a:ln w="12700" cap="flat" cmpd="sng">
              <a:solidFill>
                <a:srgbClr val="42719B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1705" name="Google Shape;1705;p63"/>
            <p:cNvCxnSpPr>
              <a:stCxn id="1696" idx="3"/>
              <a:endCxn id="1697" idx="7"/>
            </p:cNvCxnSpPr>
            <p:nvPr/>
          </p:nvCxnSpPr>
          <p:spPr>
            <a:xfrm flipH="1">
              <a:off x="3725748" y="3250342"/>
              <a:ext cx="1154400" cy="5241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1706" name="Google Shape;1706;p63"/>
            <p:cNvCxnSpPr>
              <a:stCxn id="1702" idx="1"/>
              <a:endCxn id="1696" idx="5"/>
            </p:cNvCxnSpPr>
            <p:nvPr/>
          </p:nvCxnSpPr>
          <p:spPr>
            <a:xfrm rot="10800000">
              <a:off x="5275270" y="3250206"/>
              <a:ext cx="971400" cy="5241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1707" name="Google Shape;1707;p63"/>
            <p:cNvCxnSpPr>
              <a:stCxn id="1704" idx="1"/>
              <a:endCxn id="1702" idx="5"/>
            </p:cNvCxnSpPr>
            <p:nvPr/>
          </p:nvCxnSpPr>
          <p:spPr>
            <a:xfrm rot="10800000">
              <a:off x="6641708" y="4169349"/>
              <a:ext cx="382200" cy="4968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1708" name="Google Shape;1708;p63"/>
            <p:cNvCxnSpPr>
              <a:stCxn id="1703" idx="7"/>
              <a:endCxn id="1702" idx="3"/>
            </p:cNvCxnSpPr>
            <p:nvPr/>
          </p:nvCxnSpPr>
          <p:spPr>
            <a:xfrm rot="10800000" flipH="1">
              <a:off x="5887144" y="4169349"/>
              <a:ext cx="359400" cy="4968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1709" name="Google Shape;1709;p63"/>
            <p:cNvCxnSpPr>
              <a:stCxn id="1697" idx="3"/>
              <a:endCxn id="1698" idx="7"/>
            </p:cNvCxnSpPr>
            <p:nvPr/>
          </p:nvCxnSpPr>
          <p:spPr>
            <a:xfrm flipH="1">
              <a:off x="2792848" y="4169438"/>
              <a:ext cx="537900" cy="4143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1710" name="Google Shape;1710;p63"/>
            <p:cNvCxnSpPr>
              <a:stCxn id="1697" idx="5"/>
              <a:endCxn id="1701" idx="1"/>
            </p:cNvCxnSpPr>
            <p:nvPr/>
          </p:nvCxnSpPr>
          <p:spPr>
            <a:xfrm>
              <a:off x="3725880" y="4169438"/>
              <a:ext cx="553800" cy="4695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1711" name="Google Shape;1711;p63"/>
            <p:cNvCxnSpPr>
              <a:stCxn id="1698" idx="3"/>
              <a:endCxn id="1699" idx="7"/>
            </p:cNvCxnSpPr>
            <p:nvPr/>
          </p:nvCxnSpPr>
          <p:spPr>
            <a:xfrm flipH="1">
              <a:off x="1962416" y="4978861"/>
              <a:ext cx="435300" cy="6576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1712" name="Google Shape;1712;p63"/>
            <p:cNvCxnSpPr>
              <a:stCxn id="1698" idx="5"/>
              <a:endCxn id="1700" idx="0"/>
            </p:cNvCxnSpPr>
            <p:nvPr/>
          </p:nvCxnSpPr>
          <p:spPr>
            <a:xfrm>
              <a:off x="2792848" y="4978861"/>
              <a:ext cx="258600" cy="6354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</p:grpSp>
      <p:graphicFrame>
        <p:nvGraphicFramePr>
          <p:cNvPr id="1713" name="Google Shape;1713;p63"/>
          <p:cNvGraphicFramePr/>
          <p:nvPr/>
        </p:nvGraphicFramePr>
        <p:xfrm>
          <a:off x="6193469" y="4522204"/>
          <a:ext cx="3872700" cy="731540"/>
        </p:xfrm>
        <a:graphic>
          <a:graphicData uri="http://schemas.openxmlformats.org/drawingml/2006/table">
            <a:tbl>
              <a:tblPr firstRow="1" bandRow="1">
                <a:noFill/>
                <a:tableStyleId>{66088737-8E24-4614-AAA7-3D08145F63E1}</a:tableStyleId>
              </a:tblPr>
              <a:tblGrid>
                <a:gridCol w="430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03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03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303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303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303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303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303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4303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2914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1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2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3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4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5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6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7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8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9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14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714" name="Google Shape;1714;p63"/>
          <p:cNvSpPr/>
          <p:nvPr/>
        </p:nvSpPr>
        <p:spPr>
          <a:xfrm>
            <a:off x="682266" y="1966626"/>
            <a:ext cx="499620" cy="292231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accent2"/>
          </a:solidFill>
          <a:ln w="12700" cap="flat" cmpd="sng">
            <a:solidFill>
              <a:srgbClr val="AC5B23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5" name="Google Shape;1715;p63"/>
          <p:cNvSpPr/>
          <p:nvPr/>
        </p:nvSpPr>
        <p:spPr>
          <a:xfrm rot="5400000">
            <a:off x="6520727" y="3112853"/>
            <a:ext cx="499620" cy="292231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12700" cap="flat" cmpd="sng">
            <a:solidFill>
              <a:srgbClr val="AC5B23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0" name="Google Shape;1720;p64"/>
          <p:cNvSpPr txBox="1">
            <a:spLocks noGrp="1"/>
          </p:cNvSpPr>
          <p:nvPr>
            <p:ph type="body" idx="1"/>
          </p:nvPr>
        </p:nvSpPr>
        <p:spPr>
          <a:xfrm>
            <a:off x="838200" y="1227909"/>
            <a:ext cx="10515600" cy="49490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2095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2100"/>
              <a:buFont typeface="Arial"/>
              <a:buNone/>
            </a:pPr>
            <a:endParaRPr/>
          </a:p>
        </p:txBody>
      </p:sp>
      <p:sp>
        <p:nvSpPr>
          <p:cNvPr id="1721" name="Google Shape;1721;p64"/>
          <p:cNvSpPr txBox="1">
            <a:spLocks noGrp="1"/>
          </p:cNvSpPr>
          <p:nvPr>
            <p:ph type="dt" idx="10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1E4E2269-6C06-4C40-86F0-6364B0B2ED3F}" type="datetime1">
              <a:rPr lang="en-US" smtClean="0"/>
              <a:t>1/12/2026</a:t>
            </a:fld>
            <a:endParaRPr/>
          </a:p>
        </p:txBody>
      </p:sp>
      <p:sp>
        <p:nvSpPr>
          <p:cNvPr id="1722" name="Google Shape;1722;p64"/>
          <p:cNvSpPr txBox="1">
            <a:spLocks noGrp="1"/>
          </p:cNvSpPr>
          <p:nvPr>
            <p:ph type="ftr" idx="11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Lec Asif Abrar, Dept of CSE, UIU</a:t>
            </a:r>
            <a:endParaRPr/>
          </a:p>
        </p:txBody>
      </p:sp>
      <p:sp>
        <p:nvSpPr>
          <p:cNvPr id="1723" name="Google Shape;1723;p64"/>
          <p:cNvSpPr txBox="1">
            <a:spLocks noGrp="1"/>
          </p:cNvSpPr>
          <p:nvPr>
            <p:ph type="sldNum" idx="12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50</a:t>
            </a:fld>
            <a:endParaRPr/>
          </a:p>
        </p:txBody>
      </p:sp>
      <p:sp>
        <p:nvSpPr>
          <p:cNvPr id="1724" name="Google Shape;1724;p64"/>
          <p:cNvSpPr txBox="1">
            <a:spLocks noGrp="1"/>
          </p:cNvSpPr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/>
              <a:t>Heap Sort</a:t>
            </a:r>
            <a:endParaRPr/>
          </a:p>
        </p:txBody>
      </p:sp>
      <p:pic>
        <p:nvPicPr>
          <p:cNvPr id="1725" name="Google Shape;1725;p6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46375" y="1227909"/>
            <a:ext cx="4287435" cy="206189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726" name="Google Shape;1726;p64"/>
          <p:cNvGrpSpPr/>
          <p:nvPr/>
        </p:nvGrpSpPr>
        <p:grpSpPr>
          <a:xfrm>
            <a:off x="6289881" y="2535751"/>
            <a:ext cx="3032569" cy="1827206"/>
            <a:chOff x="1485587" y="2773376"/>
            <a:chExt cx="6015287" cy="3399587"/>
          </a:xfrm>
        </p:grpSpPr>
        <p:sp>
          <p:nvSpPr>
            <p:cNvPr id="1727" name="Google Shape;1727;p64"/>
            <p:cNvSpPr/>
            <p:nvPr/>
          </p:nvSpPr>
          <p:spPr>
            <a:xfrm>
              <a:off x="4798314" y="2773376"/>
              <a:ext cx="558800" cy="558800"/>
            </a:xfrm>
            <a:prstGeom prst="ellipse">
              <a:avLst/>
            </a:prstGeom>
            <a:solidFill>
              <a:schemeClr val="accent2"/>
            </a:solidFill>
            <a:ln w="12700" cap="flat" cmpd="sng">
              <a:solidFill>
                <a:srgbClr val="42719B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28" name="Google Shape;1728;p64"/>
            <p:cNvSpPr/>
            <p:nvPr/>
          </p:nvSpPr>
          <p:spPr>
            <a:xfrm>
              <a:off x="3248914" y="3692472"/>
              <a:ext cx="558800" cy="558800"/>
            </a:xfrm>
            <a:prstGeom prst="ellipse">
              <a:avLst/>
            </a:prstGeom>
            <a:solidFill>
              <a:schemeClr val="accent2"/>
            </a:solidFill>
            <a:ln w="12700" cap="flat" cmpd="sng">
              <a:solidFill>
                <a:srgbClr val="42719B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29" name="Google Shape;1729;p64"/>
            <p:cNvSpPr/>
            <p:nvPr/>
          </p:nvSpPr>
          <p:spPr>
            <a:xfrm>
              <a:off x="2315882" y="4501895"/>
              <a:ext cx="558800" cy="558800"/>
            </a:xfrm>
            <a:prstGeom prst="ellipse">
              <a:avLst/>
            </a:prstGeom>
            <a:solidFill>
              <a:schemeClr val="accent2"/>
            </a:solidFill>
            <a:ln w="12700" cap="flat" cmpd="sng">
              <a:solidFill>
                <a:srgbClr val="42719B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30" name="Google Shape;1730;p64"/>
            <p:cNvSpPr/>
            <p:nvPr/>
          </p:nvSpPr>
          <p:spPr>
            <a:xfrm>
              <a:off x="1485587" y="5554658"/>
              <a:ext cx="558800" cy="558800"/>
            </a:xfrm>
            <a:prstGeom prst="ellipse">
              <a:avLst/>
            </a:prstGeom>
            <a:solidFill>
              <a:schemeClr val="accent2"/>
            </a:solidFill>
            <a:ln w="12700" cap="flat" cmpd="sng">
              <a:solidFill>
                <a:srgbClr val="42719B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31" name="Google Shape;1731;p64"/>
            <p:cNvSpPr/>
            <p:nvPr/>
          </p:nvSpPr>
          <p:spPr>
            <a:xfrm>
              <a:off x="2771948" y="5614163"/>
              <a:ext cx="558800" cy="558800"/>
            </a:xfrm>
            <a:prstGeom prst="ellipse">
              <a:avLst/>
            </a:prstGeom>
            <a:solidFill>
              <a:schemeClr val="accent2"/>
            </a:solidFill>
            <a:ln w="12700" cap="flat" cmpd="sng">
              <a:solidFill>
                <a:srgbClr val="42719B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32" name="Google Shape;1732;p64"/>
            <p:cNvSpPr/>
            <p:nvPr/>
          </p:nvSpPr>
          <p:spPr>
            <a:xfrm>
              <a:off x="4197746" y="4557225"/>
              <a:ext cx="558800" cy="558800"/>
            </a:xfrm>
            <a:prstGeom prst="ellipse">
              <a:avLst/>
            </a:prstGeom>
            <a:solidFill>
              <a:schemeClr val="accent2"/>
            </a:solidFill>
            <a:ln w="12700" cap="flat" cmpd="sng">
              <a:solidFill>
                <a:srgbClr val="42719B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33" name="Google Shape;1733;p64"/>
            <p:cNvSpPr/>
            <p:nvPr/>
          </p:nvSpPr>
          <p:spPr>
            <a:xfrm>
              <a:off x="6164836" y="3692472"/>
              <a:ext cx="558800" cy="558800"/>
            </a:xfrm>
            <a:prstGeom prst="ellipse">
              <a:avLst/>
            </a:prstGeom>
            <a:solidFill>
              <a:schemeClr val="accent2"/>
            </a:solidFill>
            <a:ln w="12700" cap="flat" cmpd="sng">
              <a:solidFill>
                <a:srgbClr val="42719B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34" name="Google Shape;1734;p64"/>
            <p:cNvSpPr/>
            <p:nvPr/>
          </p:nvSpPr>
          <p:spPr>
            <a:xfrm>
              <a:off x="5410178" y="4584315"/>
              <a:ext cx="558800" cy="558800"/>
            </a:xfrm>
            <a:prstGeom prst="ellipse">
              <a:avLst/>
            </a:prstGeom>
            <a:solidFill>
              <a:schemeClr val="accent2"/>
            </a:solidFill>
            <a:ln w="12700" cap="flat" cmpd="sng">
              <a:solidFill>
                <a:srgbClr val="42719B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35" name="Google Shape;1735;p64"/>
            <p:cNvSpPr/>
            <p:nvPr/>
          </p:nvSpPr>
          <p:spPr>
            <a:xfrm>
              <a:off x="6942074" y="4584315"/>
              <a:ext cx="558800" cy="558800"/>
            </a:xfrm>
            <a:prstGeom prst="ellipse">
              <a:avLst/>
            </a:prstGeom>
            <a:solidFill>
              <a:schemeClr val="accent2"/>
            </a:solidFill>
            <a:ln w="12700" cap="flat" cmpd="sng">
              <a:solidFill>
                <a:srgbClr val="42719B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1736" name="Google Shape;1736;p64"/>
            <p:cNvCxnSpPr>
              <a:stCxn id="1727" idx="3"/>
              <a:endCxn id="1728" idx="7"/>
            </p:cNvCxnSpPr>
            <p:nvPr/>
          </p:nvCxnSpPr>
          <p:spPr>
            <a:xfrm flipH="1">
              <a:off x="3725748" y="3250342"/>
              <a:ext cx="1154400" cy="5241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1737" name="Google Shape;1737;p64"/>
            <p:cNvCxnSpPr>
              <a:stCxn id="1733" idx="1"/>
              <a:endCxn id="1727" idx="5"/>
            </p:cNvCxnSpPr>
            <p:nvPr/>
          </p:nvCxnSpPr>
          <p:spPr>
            <a:xfrm rot="10800000">
              <a:off x="5275270" y="3250206"/>
              <a:ext cx="971400" cy="5241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1738" name="Google Shape;1738;p64"/>
            <p:cNvCxnSpPr>
              <a:stCxn id="1735" idx="1"/>
              <a:endCxn id="1733" idx="5"/>
            </p:cNvCxnSpPr>
            <p:nvPr/>
          </p:nvCxnSpPr>
          <p:spPr>
            <a:xfrm rot="10800000">
              <a:off x="6641708" y="4169349"/>
              <a:ext cx="382200" cy="4968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1739" name="Google Shape;1739;p64"/>
            <p:cNvCxnSpPr>
              <a:stCxn id="1734" idx="7"/>
              <a:endCxn id="1733" idx="3"/>
            </p:cNvCxnSpPr>
            <p:nvPr/>
          </p:nvCxnSpPr>
          <p:spPr>
            <a:xfrm rot="10800000" flipH="1">
              <a:off x="5887144" y="4169349"/>
              <a:ext cx="359400" cy="4968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1740" name="Google Shape;1740;p64"/>
            <p:cNvCxnSpPr>
              <a:stCxn id="1728" idx="3"/>
              <a:endCxn id="1729" idx="7"/>
            </p:cNvCxnSpPr>
            <p:nvPr/>
          </p:nvCxnSpPr>
          <p:spPr>
            <a:xfrm flipH="1">
              <a:off x="2792848" y="4169438"/>
              <a:ext cx="537900" cy="4143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1741" name="Google Shape;1741;p64"/>
            <p:cNvCxnSpPr>
              <a:stCxn id="1728" idx="5"/>
              <a:endCxn id="1732" idx="1"/>
            </p:cNvCxnSpPr>
            <p:nvPr/>
          </p:nvCxnSpPr>
          <p:spPr>
            <a:xfrm>
              <a:off x="3725880" y="4169438"/>
              <a:ext cx="553800" cy="4695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1742" name="Google Shape;1742;p64"/>
            <p:cNvCxnSpPr>
              <a:stCxn id="1729" idx="3"/>
              <a:endCxn id="1730" idx="7"/>
            </p:cNvCxnSpPr>
            <p:nvPr/>
          </p:nvCxnSpPr>
          <p:spPr>
            <a:xfrm flipH="1">
              <a:off x="1962416" y="4978861"/>
              <a:ext cx="435300" cy="6576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1743" name="Google Shape;1743;p64"/>
            <p:cNvCxnSpPr>
              <a:stCxn id="1729" idx="5"/>
              <a:endCxn id="1731" idx="0"/>
            </p:cNvCxnSpPr>
            <p:nvPr/>
          </p:nvCxnSpPr>
          <p:spPr>
            <a:xfrm>
              <a:off x="2792848" y="4978861"/>
              <a:ext cx="258600" cy="6354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</p:grpSp>
      <p:graphicFrame>
        <p:nvGraphicFramePr>
          <p:cNvPr id="1744" name="Google Shape;1744;p64"/>
          <p:cNvGraphicFramePr/>
          <p:nvPr/>
        </p:nvGraphicFramePr>
        <p:xfrm>
          <a:off x="6193469" y="4522204"/>
          <a:ext cx="3872700" cy="731540"/>
        </p:xfrm>
        <a:graphic>
          <a:graphicData uri="http://schemas.openxmlformats.org/drawingml/2006/table">
            <a:tbl>
              <a:tblPr firstRow="1" bandRow="1">
                <a:noFill/>
                <a:tableStyleId>{66088737-8E24-4614-AAA7-3D08145F63E1}</a:tableStyleId>
              </a:tblPr>
              <a:tblGrid>
                <a:gridCol w="430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03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03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303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303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303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303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303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4303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2914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1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2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3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4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5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6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7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8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9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14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745" name="Google Shape;1745;p64"/>
          <p:cNvSpPr/>
          <p:nvPr/>
        </p:nvSpPr>
        <p:spPr>
          <a:xfrm>
            <a:off x="682266" y="1966626"/>
            <a:ext cx="499620" cy="292231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accent2"/>
          </a:solidFill>
          <a:ln w="12700" cap="flat" cmpd="sng">
            <a:solidFill>
              <a:srgbClr val="AC5B23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6" name="Google Shape;1746;p64"/>
          <p:cNvSpPr/>
          <p:nvPr/>
        </p:nvSpPr>
        <p:spPr>
          <a:xfrm rot="5400000">
            <a:off x="8610374" y="2732224"/>
            <a:ext cx="499620" cy="292231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12700" cap="flat" cmpd="sng">
            <a:solidFill>
              <a:srgbClr val="AC5B23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1" name="Google Shape;1751;p65"/>
          <p:cNvSpPr txBox="1">
            <a:spLocks noGrp="1"/>
          </p:cNvSpPr>
          <p:nvPr>
            <p:ph type="body" idx="1"/>
          </p:nvPr>
        </p:nvSpPr>
        <p:spPr>
          <a:xfrm>
            <a:off x="838200" y="1227909"/>
            <a:ext cx="10515600" cy="49490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2095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2100"/>
              <a:buFont typeface="Arial"/>
              <a:buNone/>
            </a:pPr>
            <a:endParaRPr/>
          </a:p>
        </p:txBody>
      </p:sp>
      <p:sp>
        <p:nvSpPr>
          <p:cNvPr id="1752" name="Google Shape;1752;p65"/>
          <p:cNvSpPr txBox="1">
            <a:spLocks noGrp="1"/>
          </p:cNvSpPr>
          <p:nvPr>
            <p:ph type="dt" idx="10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51DD37DF-2387-4D40-AA65-17CE4A1C7C09}" type="datetime1">
              <a:rPr lang="en-US" smtClean="0"/>
              <a:t>1/12/2026</a:t>
            </a:fld>
            <a:endParaRPr/>
          </a:p>
        </p:txBody>
      </p:sp>
      <p:sp>
        <p:nvSpPr>
          <p:cNvPr id="1753" name="Google Shape;1753;p65"/>
          <p:cNvSpPr txBox="1">
            <a:spLocks noGrp="1"/>
          </p:cNvSpPr>
          <p:nvPr>
            <p:ph type="ftr" idx="11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Lec Asif Abrar, Dept of CSE, UIU</a:t>
            </a:r>
            <a:endParaRPr/>
          </a:p>
        </p:txBody>
      </p:sp>
      <p:sp>
        <p:nvSpPr>
          <p:cNvPr id="1754" name="Google Shape;1754;p65"/>
          <p:cNvSpPr txBox="1">
            <a:spLocks noGrp="1"/>
          </p:cNvSpPr>
          <p:nvPr>
            <p:ph type="sldNum" idx="12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51</a:t>
            </a:fld>
            <a:endParaRPr/>
          </a:p>
        </p:txBody>
      </p:sp>
      <p:sp>
        <p:nvSpPr>
          <p:cNvPr id="1755" name="Google Shape;1755;p65"/>
          <p:cNvSpPr txBox="1">
            <a:spLocks noGrp="1"/>
          </p:cNvSpPr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/>
              <a:t>Heap Sort</a:t>
            </a:r>
            <a:endParaRPr/>
          </a:p>
        </p:txBody>
      </p:sp>
      <p:pic>
        <p:nvPicPr>
          <p:cNvPr id="1756" name="Google Shape;1756;p6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46375" y="1227909"/>
            <a:ext cx="4287435" cy="206189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757" name="Google Shape;1757;p65"/>
          <p:cNvGrpSpPr/>
          <p:nvPr/>
        </p:nvGrpSpPr>
        <p:grpSpPr>
          <a:xfrm>
            <a:off x="6289881" y="2535751"/>
            <a:ext cx="3032569" cy="1827206"/>
            <a:chOff x="1485587" y="2773376"/>
            <a:chExt cx="6015287" cy="3399587"/>
          </a:xfrm>
        </p:grpSpPr>
        <p:sp>
          <p:nvSpPr>
            <p:cNvPr id="1758" name="Google Shape;1758;p65"/>
            <p:cNvSpPr/>
            <p:nvPr/>
          </p:nvSpPr>
          <p:spPr>
            <a:xfrm>
              <a:off x="4798314" y="2773376"/>
              <a:ext cx="558800" cy="558800"/>
            </a:xfrm>
            <a:prstGeom prst="ellipse">
              <a:avLst/>
            </a:prstGeom>
            <a:solidFill>
              <a:schemeClr val="accent2"/>
            </a:solidFill>
            <a:ln w="12700" cap="flat" cmpd="sng">
              <a:solidFill>
                <a:srgbClr val="42719B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59" name="Google Shape;1759;p65"/>
            <p:cNvSpPr/>
            <p:nvPr/>
          </p:nvSpPr>
          <p:spPr>
            <a:xfrm>
              <a:off x="3248914" y="3692472"/>
              <a:ext cx="558800" cy="558800"/>
            </a:xfrm>
            <a:prstGeom prst="ellipse">
              <a:avLst/>
            </a:prstGeom>
            <a:solidFill>
              <a:schemeClr val="accent2"/>
            </a:solidFill>
            <a:ln w="12700" cap="flat" cmpd="sng">
              <a:solidFill>
                <a:srgbClr val="42719B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60" name="Google Shape;1760;p65"/>
            <p:cNvSpPr/>
            <p:nvPr/>
          </p:nvSpPr>
          <p:spPr>
            <a:xfrm>
              <a:off x="2315882" y="4501895"/>
              <a:ext cx="558800" cy="558800"/>
            </a:xfrm>
            <a:prstGeom prst="ellipse">
              <a:avLst/>
            </a:prstGeom>
            <a:solidFill>
              <a:schemeClr val="accent2"/>
            </a:solidFill>
            <a:ln w="12700" cap="flat" cmpd="sng">
              <a:solidFill>
                <a:srgbClr val="42719B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61" name="Google Shape;1761;p65"/>
            <p:cNvSpPr/>
            <p:nvPr/>
          </p:nvSpPr>
          <p:spPr>
            <a:xfrm>
              <a:off x="1485587" y="5554658"/>
              <a:ext cx="558800" cy="558800"/>
            </a:xfrm>
            <a:prstGeom prst="ellipse">
              <a:avLst/>
            </a:prstGeom>
            <a:solidFill>
              <a:schemeClr val="accent2"/>
            </a:solidFill>
            <a:ln w="12700" cap="flat" cmpd="sng">
              <a:solidFill>
                <a:srgbClr val="42719B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62" name="Google Shape;1762;p65"/>
            <p:cNvSpPr/>
            <p:nvPr/>
          </p:nvSpPr>
          <p:spPr>
            <a:xfrm>
              <a:off x="2771948" y="5614163"/>
              <a:ext cx="558800" cy="558800"/>
            </a:xfrm>
            <a:prstGeom prst="ellipse">
              <a:avLst/>
            </a:prstGeom>
            <a:solidFill>
              <a:schemeClr val="accent2"/>
            </a:solidFill>
            <a:ln w="12700" cap="flat" cmpd="sng">
              <a:solidFill>
                <a:srgbClr val="42719B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63" name="Google Shape;1763;p65"/>
            <p:cNvSpPr/>
            <p:nvPr/>
          </p:nvSpPr>
          <p:spPr>
            <a:xfrm>
              <a:off x="4197746" y="4557225"/>
              <a:ext cx="558800" cy="558800"/>
            </a:xfrm>
            <a:prstGeom prst="ellipse">
              <a:avLst/>
            </a:prstGeom>
            <a:solidFill>
              <a:schemeClr val="accent2"/>
            </a:solidFill>
            <a:ln w="12700" cap="flat" cmpd="sng">
              <a:solidFill>
                <a:srgbClr val="42719B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64" name="Google Shape;1764;p65"/>
            <p:cNvSpPr/>
            <p:nvPr/>
          </p:nvSpPr>
          <p:spPr>
            <a:xfrm>
              <a:off x="6164836" y="3692472"/>
              <a:ext cx="558800" cy="558800"/>
            </a:xfrm>
            <a:prstGeom prst="ellipse">
              <a:avLst/>
            </a:prstGeom>
            <a:solidFill>
              <a:schemeClr val="accent2"/>
            </a:solidFill>
            <a:ln w="12700" cap="flat" cmpd="sng">
              <a:solidFill>
                <a:srgbClr val="42719B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65" name="Google Shape;1765;p65"/>
            <p:cNvSpPr/>
            <p:nvPr/>
          </p:nvSpPr>
          <p:spPr>
            <a:xfrm>
              <a:off x="5410178" y="4584315"/>
              <a:ext cx="558800" cy="558800"/>
            </a:xfrm>
            <a:prstGeom prst="ellipse">
              <a:avLst/>
            </a:prstGeom>
            <a:solidFill>
              <a:schemeClr val="accent2"/>
            </a:solidFill>
            <a:ln w="12700" cap="flat" cmpd="sng">
              <a:solidFill>
                <a:srgbClr val="42719B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66" name="Google Shape;1766;p65"/>
            <p:cNvSpPr/>
            <p:nvPr/>
          </p:nvSpPr>
          <p:spPr>
            <a:xfrm>
              <a:off x="6942074" y="4584315"/>
              <a:ext cx="558800" cy="558800"/>
            </a:xfrm>
            <a:prstGeom prst="ellipse">
              <a:avLst/>
            </a:prstGeom>
            <a:solidFill>
              <a:schemeClr val="accent2"/>
            </a:solidFill>
            <a:ln w="12700" cap="flat" cmpd="sng">
              <a:solidFill>
                <a:srgbClr val="42719B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1767" name="Google Shape;1767;p65"/>
            <p:cNvCxnSpPr>
              <a:stCxn id="1758" idx="3"/>
              <a:endCxn id="1759" idx="7"/>
            </p:cNvCxnSpPr>
            <p:nvPr/>
          </p:nvCxnSpPr>
          <p:spPr>
            <a:xfrm flipH="1">
              <a:off x="3725748" y="3250342"/>
              <a:ext cx="1154400" cy="5241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1768" name="Google Shape;1768;p65"/>
            <p:cNvCxnSpPr>
              <a:stCxn id="1764" idx="1"/>
              <a:endCxn id="1758" idx="5"/>
            </p:cNvCxnSpPr>
            <p:nvPr/>
          </p:nvCxnSpPr>
          <p:spPr>
            <a:xfrm rot="10800000">
              <a:off x="5275270" y="3250206"/>
              <a:ext cx="971400" cy="5241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1769" name="Google Shape;1769;p65"/>
            <p:cNvCxnSpPr>
              <a:stCxn id="1766" idx="1"/>
              <a:endCxn id="1764" idx="5"/>
            </p:cNvCxnSpPr>
            <p:nvPr/>
          </p:nvCxnSpPr>
          <p:spPr>
            <a:xfrm rot="10800000">
              <a:off x="6641708" y="4169349"/>
              <a:ext cx="382200" cy="4968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1770" name="Google Shape;1770;p65"/>
            <p:cNvCxnSpPr>
              <a:stCxn id="1765" idx="7"/>
              <a:endCxn id="1764" idx="3"/>
            </p:cNvCxnSpPr>
            <p:nvPr/>
          </p:nvCxnSpPr>
          <p:spPr>
            <a:xfrm rot="10800000" flipH="1">
              <a:off x="5887144" y="4169349"/>
              <a:ext cx="359400" cy="4968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1771" name="Google Shape;1771;p65"/>
            <p:cNvCxnSpPr>
              <a:stCxn id="1759" idx="3"/>
              <a:endCxn id="1760" idx="7"/>
            </p:cNvCxnSpPr>
            <p:nvPr/>
          </p:nvCxnSpPr>
          <p:spPr>
            <a:xfrm flipH="1">
              <a:off x="2792848" y="4169438"/>
              <a:ext cx="537900" cy="4143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1772" name="Google Shape;1772;p65"/>
            <p:cNvCxnSpPr>
              <a:stCxn id="1759" idx="5"/>
              <a:endCxn id="1763" idx="1"/>
            </p:cNvCxnSpPr>
            <p:nvPr/>
          </p:nvCxnSpPr>
          <p:spPr>
            <a:xfrm>
              <a:off x="3725880" y="4169438"/>
              <a:ext cx="553800" cy="4695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1773" name="Google Shape;1773;p65"/>
            <p:cNvCxnSpPr>
              <a:stCxn id="1760" idx="3"/>
              <a:endCxn id="1761" idx="7"/>
            </p:cNvCxnSpPr>
            <p:nvPr/>
          </p:nvCxnSpPr>
          <p:spPr>
            <a:xfrm flipH="1">
              <a:off x="1962416" y="4978861"/>
              <a:ext cx="435300" cy="6576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1774" name="Google Shape;1774;p65"/>
            <p:cNvCxnSpPr>
              <a:stCxn id="1760" idx="5"/>
              <a:endCxn id="1762" idx="0"/>
            </p:cNvCxnSpPr>
            <p:nvPr/>
          </p:nvCxnSpPr>
          <p:spPr>
            <a:xfrm>
              <a:off x="2792848" y="4978861"/>
              <a:ext cx="258600" cy="6354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</p:grpSp>
      <p:graphicFrame>
        <p:nvGraphicFramePr>
          <p:cNvPr id="1775" name="Google Shape;1775;p65"/>
          <p:cNvGraphicFramePr/>
          <p:nvPr/>
        </p:nvGraphicFramePr>
        <p:xfrm>
          <a:off x="6193469" y="4522204"/>
          <a:ext cx="3872700" cy="731540"/>
        </p:xfrm>
        <a:graphic>
          <a:graphicData uri="http://schemas.openxmlformats.org/drawingml/2006/table">
            <a:tbl>
              <a:tblPr firstRow="1" bandRow="1">
                <a:noFill/>
                <a:tableStyleId>{66088737-8E24-4614-AAA7-3D08145F63E1}</a:tableStyleId>
              </a:tblPr>
              <a:tblGrid>
                <a:gridCol w="430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03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03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303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303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303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303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303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4303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2914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1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2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3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4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5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6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7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8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9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14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776" name="Google Shape;1776;p65"/>
          <p:cNvSpPr/>
          <p:nvPr/>
        </p:nvSpPr>
        <p:spPr>
          <a:xfrm>
            <a:off x="682266" y="1966626"/>
            <a:ext cx="499620" cy="292231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accent2"/>
          </a:solidFill>
          <a:ln w="12700" cap="flat" cmpd="sng">
            <a:solidFill>
              <a:srgbClr val="AC5B23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7" name="Google Shape;1777;p65"/>
          <p:cNvSpPr/>
          <p:nvPr/>
        </p:nvSpPr>
        <p:spPr>
          <a:xfrm rot="5400000">
            <a:off x="7064225" y="2704942"/>
            <a:ext cx="499620" cy="292231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12700" cap="flat" cmpd="sng">
            <a:solidFill>
              <a:srgbClr val="AC5B23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2" name="Google Shape;1782;p66"/>
          <p:cNvSpPr txBox="1">
            <a:spLocks noGrp="1"/>
          </p:cNvSpPr>
          <p:nvPr>
            <p:ph type="body" idx="1"/>
          </p:nvPr>
        </p:nvSpPr>
        <p:spPr>
          <a:xfrm>
            <a:off x="838200" y="1227909"/>
            <a:ext cx="10515600" cy="49490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2095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2100"/>
              <a:buFont typeface="Arial"/>
              <a:buNone/>
            </a:pPr>
            <a:endParaRPr/>
          </a:p>
        </p:txBody>
      </p:sp>
      <p:sp>
        <p:nvSpPr>
          <p:cNvPr id="1783" name="Google Shape;1783;p66"/>
          <p:cNvSpPr txBox="1">
            <a:spLocks noGrp="1"/>
          </p:cNvSpPr>
          <p:nvPr>
            <p:ph type="dt" idx="10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D9D7DDFC-462A-404D-9582-FD6AE2521983}" type="datetime1">
              <a:rPr lang="en-US" smtClean="0"/>
              <a:t>1/12/2026</a:t>
            </a:fld>
            <a:endParaRPr/>
          </a:p>
        </p:txBody>
      </p:sp>
      <p:sp>
        <p:nvSpPr>
          <p:cNvPr id="1784" name="Google Shape;1784;p66"/>
          <p:cNvSpPr txBox="1">
            <a:spLocks noGrp="1"/>
          </p:cNvSpPr>
          <p:nvPr>
            <p:ph type="ftr" idx="11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Lec Asif Abrar, Dept of CSE, UIU</a:t>
            </a:r>
            <a:endParaRPr/>
          </a:p>
        </p:txBody>
      </p:sp>
      <p:sp>
        <p:nvSpPr>
          <p:cNvPr id="1785" name="Google Shape;1785;p66"/>
          <p:cNvSpPr txBox="1">
            <a:spLocks noGrp="1"/>
          </p:cNvSpPr>
          <p:nvPr>
            <p:ph type="sldNum" idx="12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52</a:t>
            </a:fld>
            <a:endParaRPr/>
          </a:p>
        </p:txBody>
      </p:sp>
      <p:sp>
        <p:nvSpPr>
          <p:cNvPr id="1786" name="Google Shape;1786;p66"/>
          <p:cNvSpPr txBox="1">
            <a:spLocks noGrp="1"/>
          </p:cNvSpPr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/>
              <a:t>Heap Sort</a:t>
            </a:r>
            <a:endParaRPr/>
          </a:p>
        </p:txBody>
      </p:sp>
      <p:pic>
        <p:nvPicPr>
          <p:cNvPr id="1787" name="Google Shape;1787;p6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46375" y="1227909"/>
            <a:ext cx="4287435" cy="206189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788" name="Google Shape;1788;p66"/>
          <p:cNvGrpSpPr/>
          <p:nvPr/>
        </p:nvGrpSpPr>
        <p:grpSpPr>
          <a:xfrm>
            <a:off x="6289881" y="2535751"/>
            <a:ext cx="3032569" cy="1827206"/>
            <a:chOff x="1485587" y="2773376"/>
            <a:chExt cx="6015287" cy="3399587"/>
          </a:xfrm>
        </p:grpSpPr>
        <p:sp>
          <p:nvSpPr>
            <p:cNvPr id="1789" name="Google Shape;1789;p66"/>
            <p:cNvSpPr/>
            <p:nvPr/>
          </p:nvSpPr>
          <p:spPr>
            <a:xfrm>
              <a:off x="4798314" y="2773376"/>
              <a:ext cx="558800" cy="558800"/>
            </a:xfrm>
            <a:prstGeom prst="ellipse">
              <a:avLst/>
            </a:prstGeom>
            <a:solidFill>
              <a:schemeClr val="accent2"/>
            </a:solidFill>
            <a:ln w="12700" cap="flat" cmpd="sng">
              <a:solidFill>
                <a:srgbClr val="42719B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90" name="Google Shape;1790;p66"/>
            <p:cNvSpPr/>
            <p:nvPr/>
          </p:nvSpPr>
          <p:spPr>
            <a:xfrm>
              <a:off x="3248914" y="3692472"/>
              <a:ext cx="558800" cy="558800"/>
            </a:xfrm>
            <a:prstGeom prst="ellipse">
              <a:avLst/>
            </a:prstGeom>
            <a:solidFill>
              <a:schemeClr val="accent2"/>
            </a:solidFill>
            <a:ln w="12700" cap="flat" cmpd="sng">
              <a:solidFill>
                <a:srgbClr val="42719B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91" name="Google Shape;1791;p66"/>
            <p:cNvSpPr/>
            <p:nvPr/>
          </p:nvSpPr>
          <p:spPr>
            <a:xfrm>
              <a:off x="2315882" y="4501895"/>
              <a:ext cx="558800" cy="558800"/>
            </a:xfrm>
            <a:prstGeom prst="ellipse">
              <a:avLst/>
            </a:prstGeom>
            <a:solidFill>
              <a:schemeClr val="accent2"/>
            </a:solidFill>
            <a:ln w="12700" cap="flat" cmpd="sng">
              <a:solidFill>
                <a:srgbClr val="42719B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92" name="Google Shape;1792;p66"/>
            <p:cNvSpPr/>
            <p:nvPr/>
          </p:nvSpPr>
          <p:spPr>
            <a:xfrm>
              <a:off x="1485587" y="5554658"/>
              <a:ext cx="558800" cy="558800"/>
            </a:xfrm>
            <a:prstGeom prst="ellipse">
              <a:avLst/>
            </a:prstGeom>
            <a:solidFill>
              <a:schemeClr val="accent2"/>
            </a:solidFill>
            <a:ln w="12700" cap="flat" cmpd="sng">
              <a:solidFill>
                <a:srgbClr val="42719B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93" name="Google Shape;1793;p66"/>
            <p:cNvSpPr/>
            <p:nvPr/>
          </p:nvSpPr>
          <p:spPr>
            <a:xfrm>
              <a:off x="2771948" y="5614163"/>
              <a:ext cx="558800" cy="558800"/>
            </a:xfrm>
            <a:prstGeom prst="ellipse">
              <a:avLst/>
            </a:prstGeom>
            <a:solidFill>
              <a:schemeClr val="accent2"/>
            </a:solidFill>
            <a:ln w="12700" cap="flat" cmpd="sng">
              <a:solidFill>
                <a:srgbClr val="42719B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94" name="Google Shape;1794;p66"/>
            <p:cNvSpPr/>
            <p:nvPr/>
          </p:nvSpPr>
          <p:spPr>
            <a:xfrm>
              <a:off x="4197746" y="4557225"/>
              <a:ext cx="558800" cy="558800"/>
            </a:xfrm>
            <a:prstGeom prst="ellipse">
              <a:avLst/>
            </a:prstGeom>
            <a:solidFill>
              <a:schemeClr val="accent2"/>
            </a:solidFill>
            <a:ln w="12700" cap="flat" cmpd="sng">
              <a:solidFill>
                <a:srgbClr val="42719B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95" name="Google Shape;1795;p66"/>
            <p:cNvSpPr/>
            <p:nvPr/>
          </p:nvSpPr>
          <p:spPr>
            <a:xfrm>
              <a:off x="6164836" y="3692472"/>
              <a:ext cx="558800" cy="558800"/>
            </a:xfrm>
            <a:prstGeom prst="ellipse">
              <a:avLst/>
            </a:prstGeom>
            <a:solidFill>
              <a:schemeClr val="accent2"/>
            </a:solidFill>
            <a:ln w="12700" cap="flat" cmpd="sng">
              <a:solidFill>
                <a:srgbClr val="42719B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96" name="Google Shape;1796;p66"/>
            <p:cNvSpPr/>
            <p:nvPr/>
          </p:nvSpPr>
          <p:spPr>
            <a:xfrm>
              <a:off x="5410178" y="4584315"/>
              <a:ext cx="558800" cy="558800"/>
            </a:xfrm>
            <a:prstGeom prst="ellipse">
              <a:avLst/>
            </a:prstGeom>
            <a:solidFill>
              <a:schemeClr val="accent2"/>
            </a:solidFill>
            <a:ln w="12700" cap="flat" cmpd="sng">
              <a:solidFill>
                <a:srgbClr val="42719B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97" name="Google Shape;1797;p66"/>
            <p:cNvSpPr/>
            <p:nvPr/>
          </p:nvSpPr>
          <p:spPr>
            <a:xfrm>
              <a:off x="6942074" y="4584315"/>
              <a:ext cx="558800" cy="558800"/>
            </a:xfrm>
            <a:prstGeom prst="ellipse">
              <a:avLst/>
            </a:prstGeom>
            <a:solidFill>
              <a:schemeClr val="accent2"/>
            </a:solidFill>
            <a:ln w="12700" cap="flat" cmpd="sng">
              <a:solidFill>
                <a:srgbClr val="42719B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1798" name="Google Shape;1798;p66"/>
            <p:cNvCxnSpPr>
              <a:stCxn id="1789" idx="3"/>
              <a:endCxn id="1790" idx="7"/>
            </p:cNvCxnSpPr>
            <p:nvPr/>
          </p:nvCxnSpPr>
          <p:spPr>
            <a:xfrm flipH="1">
              <a:off x="3725748" y="3250342"/>
              <a:ext cx="1154400" cy="5241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1799" name="Google Shape;1799;p66"/>
            <p:cNvCxnSpPr>
              <a:stCxn id="1795" idx="1"/>
              <a:endCxn id="1789" idx="5"/>
            </p:cNvCxnSpPr>
            <p:nvPr/>
          </p:nvCxnSpPr>
          <p:spPr>
            <a:xfrm rot="10800000">
              <a:off x="5275270" y="3250206"/>
              <a:ext cx="971400" cy="5241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1800" name="Google Shape;1800;p66"/>
            <p:cNvCxnSpPr>
              <a:stCxn id="1797" idx="1"/>
              <a:endCxn id="1795" idx="5"/>
            </p:cNvCxnSpPr>
            <p:nvPr/>
          </p:nvCxnSpPr>
          <p:spPr>
            <a:xfrm rot="10800000">
              <a:off x="6641708" y="4169349"/>
              <a:ext cx="382200" cy="4968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1801" name="Google Shape;1801;p66"/>
            <p:cNvCxnSpPr>
              <a:stCxn id="1796" idx="7"/>
              <a:endCxn id="1795" idx="3"/>
            </p:cNvCxnSpPr>
            <p:nvPr/>
          </p:nvCxnSpPr>
          <p:spPr>
            <a:xfrm rot="10800000" flipH="1">
              <a:off x="5887144" y="4169349"/>
              <a:ext cx="359400" cy="4968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1802" name="Google Shape;1802;p66"/>
            <p:cNvCxnSpPr>
              <a:stCxn id="1790" idx="3"/>
              <a:endCxn id="1791" idx="7"/>
            </p:cNvCxnSpPr>
            <p:nvPr/>
          </p:nvCxnSpPr>
          <p:spPr>
            <a:xfrm flipH="1">
              <a:off x="2792848" y="4169438"/>
              <a:ext cx="537900" cy="4143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1803" name="Google Shape;1803;p66"/>
            <p:cNvCxnSpPr>
              <a:stCxn id="1790" idx="5"/>
              <a:endCxn id="1794" idx="1"/>
            </p:cNvCxnSpPr>
            <p:nvPr/>
          </p:nvCxnSpPr>
          <p:spPr>
            <a:xfrm>
              <a:off x="3725880" y="4169438"/>
              <a:ext cx="553800" cy="4695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1804" name="Google Shape;1804;p66"/>
            <p:cNvCxnSpPr>
              <a:stCxn id="1791" idx="3"/>
              <a:endCxn id="1792" idx="7"/>
            </p:cNvCxnSpPr>
            <p:nvPr/>
          </p:nvCxnSpPr>
          <p:spPr>
            <a:xfrm flipH="1">
              <a:off x="1962416" y="4978861"/>
              <a:ext cx="435300" cy="6576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1805" name="Google Shape;1805;p66"/>
            <p:cNvCxnSpPr>
              <a:stCxn id="1791" idx="5"/>
              <a:endCxn id="1793" idx="0"/>
            </p:cNvCxnSpPr>
            <p:nvPr/>
          </p:nvCxnSpPr>
          <p:spPr>
            <a:xfrm>
              <a:off x="2792848" y="4978861"/>
              <a:ext cx="258600" cy="6354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</p:grpSp>
      <p:graphicFrame>
        <p:nvGraphicFramePr>
          <p:cNvPr id="1806" name="Google Shape;1806;p66"/>
          <p:cNvGraphicFramePr/>
          <p:nvPr/>
        </p:nvGraphicFramePr>
        <p:xfrm>
          <a:off x="6193469" y="4522204"/>
          <a:ext cx="3872700" cy="731540"/>
        </p:xfrm>
        <a:graphic>
          <a:graphicData uri="http://schemas.openxmlformats.org/drawingml/2006/table">
            <a:tbl>
              <a:tblPr firstRow="1" bandRow="1">
                <a:noFill/>
                <a:tableStyleId>{66088737-8E24-4614-AAA7-3D08145F63E1}</a:tableStyleId>
              </a:tblPr>
              <a:tblGrid>
                <a:gridCol w="430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03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03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303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303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303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303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303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4303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2914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1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2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3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4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5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6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7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8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9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14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1" name="Google Shape;1811;p67"/>
          <p:cNvSpPr txBox="1">
            <a:spLocks noGrp="1"/>
          </p:cNvSpPr>
          <p:nvPr>
            <p:ph type="body" idx="1"/>
          </p:nvPr>
        </p:nvSpPr>
        <p:spPr>
          <a:xfrm>
            <a:off x="838200" y="1227909"/>
            <a:ext cx="10515600" cy="49490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2095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2100"/>
              <a:buFont typeface="Arial"/>
              <a:buNone/>
            </a:pPr>
            <a:endParaRPr/>
          </a:p>
        </p:txBody>
      </p:sp>
      <p:sp>
        <p:nvSpPr>
          <p:cNvPr id="1812" name="Google Shape;1812;p67"/>
          <p:cNvSpPr txBox="1">
            <a:spLocks noGrp="1"/>
          </p:cNvSpPr>
          <p:nvPr>
            <p:ph type="dt" idx="10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FAEC6F85-84AC-443B-9A06-2F01F41F2778}" type="datetime1">
              <a:rPr lang="en-US" smtClean="0"/>
              <a:t>1/12/2026</a:t>
            </a:fld>
            <a:endParaRPr/>
          </a:p>
        </p:txBody>
      </p:sp>
      <p:sp>
        <p:nvSpPr>
          <p:cNvPr id="1813" name="Google Shape;1813;p67"/>
          <p:cNvSpPr txBox="1">
            <a:spLocks noGrp="1"/>
          </p:cNvSpPr>
          <p:nvPr>
            <p:ph type="ftr" idx="11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Lec Asif Abrar, Dept of CSE, UIU</a:t>
            </a:r>
            <a:endParaRPr/>
          </a:p>
        </p:txBody>
      </p:sp>
      <p:sp>
        <p:nvSpPr>
          <p:cNvPr id="1814" name="Google Shape;1814;p67"/>
          <p:cNvSpPr txBox="1">
            <a:spLocks noGrp="1"/>
          </p:cNvSpPr>
          <p:nvPr>
            <p:ph type="sldNum" idx="12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53</a:t>
            </a:fld>
            <a:endParaRPr/>
          </a:p>
        </p:txBody>
      </p:sp>
      <p:sp>
        <p:nvSpPr>
          <p:cNvPr id="1815" name="Google Shape;1815;p67"/>
          <p:cNvSpPr txBox="1">
            <a:spLocks noGrp="1"/>
          </p:cNvSpPr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/>
              <a:t>Heap Sort</a:t>
            </a:r>
            <a:endParaRPr/>
          </a:p>
        </p:txBody>
      </p:sp>
      <p:pic>
        <p:nvPicPr>
          <p:cNvPr id="1816" name="Google Shape;1816;p6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46375" y="1227909"/>
            <a:ext cx="4287435" cy="206189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817" name="Google Shape;1817;p67"/>
          <p:cNvGrpSpPr/>
          <p:nvPr/>
        </p:nvGrpSpPr>
        <p:grpSpPr>
          <a:xfrm>
            <a:off x="6289881" y="2535751"/>
            <a:ext cx="3032569" cy="1827206"/>
            <a:chOff x="1485587" y="2773376"/>
            <a:chExt cx="6015287" cy="3399587"/>
          </a:xfrm>
        </p:grpSpPr>
        <p:sp>
          <p:nvSpPr>
            <p:cNvPr id="1818" name="Google Shape;1818;p67"/>
            <p:cNvSpPr/>
            <p:nvPr/>
          </p:nvSpPr>
          <p:spPr>
            <a:xfrm>
              <a:off x="4798314" y="2773376"/>
              <a:ext cx="558800" cy="558800"/>
            </a:xfrm>
            <a:prstGeom prst="ellipse">
              <a:avLst/>
            </a:prstGeom>
            <a:solidFill>
              <a:schemeClr val="accent2"/>
            </a:solidFill>
            <a:ln w="12700" cap="flat" cmpd="sng">
              <a:solidFill>
                <a:srgbClr val="42719B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19" name="Google Shape;1819;p67"/>
            <p:cNvSpPr/>
            <p:nvPr/>
          </p:nvSpPr>
          <p:spPr>
            <a:xfrm>
              <a:off x="3248914" y="3692472"/>
              <a:ext cx="558800" cy="558800"/>
            </a:xfrm>
            <a:prstGeom prst="ellipse">
              <a:avLst/>
            </a:prstGeom>
            <a:solidFill>
              <a:schemeClr val="accent2"/>
            </a:solidFill>
            <a:ln w="12700" cap="flat" cmpd="sng">
              <a:solidFill>
                <a:srgbClr val="42719B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20" name="Google Shape;1820;p67"/>
            <p:cNvSpPr/>
            <p:nvPr/>
          </p:nvSpPr>
          <p:spPr>
            <a:xfrm>
              <a:off x="2315882" y="4501895"/>
              <a:ext cx="558800" cy="558800"/>
            </a:xfrm>
            <a:prstGeom prst="ellipse">
              <a:avLst/>
            </a:prstGeom>
            <a:solidFill>
              <a:schemeClr val="accent2"/>
            </a:solidFill>
            <a:ln w="12700" cap="flat" cmpd="sng">
              <a:solidFill>
                <a:srgbClr val="42719B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21" name="Google Shape;1821;p67"/>
            <p:cNvSpPr/>
            <p:nvPr/>
          </p:nvSpPr>
          <p:spPr>
            <a:xfrm>
              <a:off x="1485587" y="5554658"/>
              <a:ext cx="558800" cy="558800"/>
            </a:xfrm>
            <a:prstGeom prst="ellipse">
              <a:avLst/>
            </a:prstGeom>
            <a:solidFill>
              <a:schemeClr val="accent2"/>
            </a:solidFill>
            <a:ln w="12700" cap="flat" cmpd="sng">
              <a:solidFill>
                <a:srgbClr val="42719B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22" name="Google Shape;1822;p67"/>
            <p:cNvSpPr/>
            <p:nvPr/>
          </p:nvSpPr>
          <p:spPr>
            <a:xfrm>
              <a:off x="2771948" y="5614163"/>
              <a:ext cx="558800" cy="558800"/>
            </a:xfrm>
            <a:prstGeom prst="ellipse">
              <a:avLst/>
            </a:prstGeom>
            <a:solidFill>
              <a:schemeClr val="accent5"/>
            </a:solidFill>
            <a:ln w="12700" cap="flat" cmpd="sng">
              <a:solidFill>
                <a:srgbClr val="42719B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23" name="Google Shape;1823;p67"/>
            <p:cNvSpPr/>
            <p:nvPr/>
          </p:nvSpPr>
          <p:spPr>
            <a:xfrm>
              <a:off x="4197746" y="4557225"/>
              <a:ext cx="558800" cy="558800"/>
            </a:xfrm>
            <a:prstGeom prst="ellipse">
              <a:avLst/>
            </a:prstGeom>
            <a:solidFill>
              <a:schemeClr val="accent2"/>
            </a:solidFill>
            <a:ln w="12700" cap="flat" cmpd="sng">
              <a:solidFill>
                <a:srgbClr val="42719B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24" name="Google Shape;1824;p67"/>
            <p:cNvSpPr/>
            <p:nvPr/>
          </p:nvSpPr>
          <p:spPr>
            <a:xfrm>
              <a:off x="6164836" y="3692472"/>
              <a:ext cx="558800" cy="558800"/>
            </a:xfrm>
            <a:prstGeom prst="ellipse">
              <a:avLst/>
            </a:prstGeom>
            <a:solidFill>
              <a:schemeClr val="accent2"/>
            </a:solidFill>
            <a:ln w="12700" cap="flat" cmpd="sng">
              <a:solidFill>
                <a:srgbClr val="42719B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25" name="Google Shape;1825;p67"/>
            <p:cNvSpPr/>
            <p:nvPr/>
          </p:nvSpPr>
          <p:spPr>
            <a:xfrm>
              <a:off x="5410178" y="4584315"/>
              <a:ext cx="558800" cy="558800"/>
            </a:xfrm>
            <a:prstGeom prst="ellipse">
              <a:avLst/>
            </a:prstGeom>
            <a:solidFill>
              <a:schemeClr val="accent2"/>
            </a:solidFill>
            <a:ln w="12700" cap="flat" cmpd="sng">
              <a:solidFill>
                <a:srgbClr val="42719B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26" name="Google Shape;1826;p67"/>
            <p:cNvSpPr/>
            <p:nvPr/>
          </p:nvSpPr>
          <p:spPr>
            <a:xfrm>
              <a:off x="6942074" y="4584315"/>
              <a:ext cx="558800" cy="558800"/>
            </a:xfrm>
            <a:prstGeom prst="ellipse">
              <a:avLst/>
            </a:prstGeom>
            <a:solidFill>
              <a:schemeClr val="accent2"/>
            </a:solidFill>
            <a:ln w="12700" cap="flat" cmpd="sng">
              <a:solidFill>
                <a:srgbClr val="42719B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1827" name="Google Shape;1827;p67"/>
            <p:cNvCxnSpPr>
              <a:stCxn id="1818" idx="3"/>
              <a:endCxn id="1819" idx="7"/>
            </p:cNvCxnSpPr>
            <p:nvPr/>
          </p:nvCxnSpPr>
          <p:spPr>
            <a:xfrm flipH="1">
              <a:off x="3725748" y="3250342"/>
              <a:ext cx="1154400" cy="5241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1828" name="Google Shape;1828;p67"/>
            <p:cNvCxnSpPr>
              <a:stCxn id="1824" idx="1"/>
              <a:endCxn id="1818" idx="5"/>
            </p:cNvCxnSpPr>
            <p:nvPr/>
          </p:nvCxnSpPr>
          <p:spPr>
            <a:xfrm rot="10800000">
              <a:off x="5275270" y="3250206"/>
              <a:ext cx="971400" cy="5241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1829" name="Google Shape;1829;p67"/>
            <p:cNvCxnSpPr>
              <a:stCxn id="1826" idx="1"/>
              <a:endCxn id="1824" idx="5"/>
            </p:cNvCxnSpPr>
            <p:nvPr/>
          </p:nvCxnSpPr>
          <p:spPr>
            <a:xfrm rot="10800000">
              <a:off x="6641708" y="4169349"/>
              <a:ext cx="382200" cy="4968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1830" name="Google Shape;1830;p67"/>
            <p:cNvCxnSpPr>
              <a:stCxn id="1825" idx="7"/>
              <a:endCxn id="1824" idx="3"/>
            </p:cNvCxnSpPr>
            <p:nvPr/>
          </p:nvCxnSpPr>
          <p:spPr>
            <a:xfrm rot="10800000" flipH="1">
              <a:off x="5887144" y="4169349"/>
              <a:ext cx="359400" cy="4968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1831" name="Google Shape;1831;p67"/>
            <p:cNvCxnSpPr>
              <a:stCxn id="1819" idx="3"/>
              <a:endCxn id="1820" idx="7"/>
            </p:cNvCxnSpPr>
            <p:nvPr/>
          </p:nvCxnSpPr>
          <p:spPr>
            <a:xfrm flipH="1">
              <a:off x="2792848" y="4169438"/>
              <a:ext cx="537900" cy="4143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1832" name="Google Shape;1832;p67"/>
            <p:cNvCxnSpPr>
              <a:stCxn id="1819" idx="5"/>
              <a:endCxn id="1823" idx="1"/>
            </p:cNvCxnSpPr>
            <p:nvPr/>
          </p:nvCxnSpPr>
          <p:spPr>
            <a:xfrm>
              <a:off x="3725880" y="4169438"/>
              <a:ext cx="553800" cy="4695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1833" name="Google Shape;1833;p67"/>
            <p:cNvCxnSpPr>
              <a:stCxn id="1820" idx="3"/>
              <a:endCxn id="1821" idx="7"/>
            </p:cNvCxnSpPr>
            <p:nvPr/>
          </p:nvCxnSpPr>
          <p:spPr>
            <a:xfrm flipH="1">
              <a:off x="1962416" y="4978861"/>
              <a:ext cx="435300" cy="6576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1834" name="Google Shape;1834;p67"/>
            <p:cNvCxnSpPr>
              <a:stCxn id="1820" idx="5"/>
              <a:endCxn id="1822" idx="0"/>
            </p:cNvCxnSpPr>
            <p:nvPr/>
          </p:nvCxnSpPr>
          <p:spPr>
            <a:xfrm>
              <a:off x="2792848" y="4978861"/>
              <a:ext cx="258600" cy="6354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</p:grpSp>
      <p:graphicFrame>
        <p:nvGraphicFramePr>
          <p:cNvPr id="1835" name="Google Shape;1835;p67"/>
          <p:cNvGraphicFramePr/>
          <p:nvPr/>
        </p:nvGraphicFramePr>
        <p:xfrm>
          <a:off x="6193469" y="4522204"/>
          <a:ext cx="3872700" cy="731540"/>
        </p:xfrm>
        <a:graphic>
          <a:graphicData uri="http://schemas.openxmlformats.org/drawingml/2006/table">
            <a:tbl>
              <a:tblPr firstRow="1" bandRow="1">
                <a:noFill/>
                <a:tableStyleId>{66088737-8E24-4614-AAA7-3D08145F63E1}</a:tableStyleId>
              </a:tblPr>
              <a:tblGrid>
                <a:gridCol w="430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03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03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303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303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303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303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303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4303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2914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1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2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3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4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5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6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7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8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9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14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836" name="Google Shape;1836;p67"/>
          <p:cNvSpPr/>
          <p:nvPr/>
        </p:nvSpPr>
        <p:spPr>
          <a:xfrm>
            <a:off x="682266" y="1966626"/>
            <a:ext cx="499620" cy="292231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accent2"/>
          </a:solidFill>
          <a:ln w="12700" cap="flat" cmpd="sng">
            <a:solidFill>
              <a:srgbClr val="AC5B23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7" name="Google Shape;1837;p67"/>
          <p:cNvSpPr/>
          <p:nvPr/>
        </p:nvSpPr>
        <p:spPr>
          <a:xfrm rot="5400000">
            <a:off x="6824159" y="3619022"/>
            <a:ext cx="499620" cy="292231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12700" cap="flat" cmpd="sng">
            <a:solidFill>
              <a:srgbClr val="AC5B23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2" name="Google Shape;1842;p68"/>
          <p:cNvSpPr txBox="1">
            <a:spLocks noGrp="1"/>
          </p:cNvSpPr>
          <p:nvPr>
            <p:ph type="body" idx="1"/>
          </p:nvPr>
        </p:nvSpPr>
        <p:spPr>
          <a:xfrm>
            <a:off x="838200" y="1227909"/>
            <a:ext cx="10515600" cy="49490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2095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2100"/>
              <a:buFont typeface="Arial"/>
              <a:buNone/>
            </a:pPr>
            <a:endParaRPr/>
          </a:p>
        </p:txBody>
      </p:sp>
      <p:sp>
        <p:nvSpPr>
          <p:cNvPr id="1843" name="Google Shape;1843;p68"/>
          <p:cNvSpPr txBox="1">
            <a:spLocks noGrp="1"/>
          </p:cNvSpPr>
          <p:nvPr>
            <p:ph type="dt" idx="10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2449978C-37D0-4AC4-B89A-57AD48A30231}" type="datetime1">
              <a:rPr lang="en-US" smtClean="0"/>
              <a:t>1/12/2026</a:t>
            </a:fld>
            <a:endParaRPr/>
          </a:p>
        </p:txBody>
      </p:sp>
      <p:sp>
        <p:nvSpPr>
          <p:cNvPr id="1844" name="Google Shape;1844;p68"/>
          <p:cNvSpPr txBox="1">
            <a:spLocks noGrp="1"/>
          </p:cNvSpPr>
          <p:nvPr>
            <p:ph type="ftr" idx="11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Lec Asif Abrar, Dept of CSE, UIU</a:t>
            </a:r>
            <a:endParaRPr/>
          </a:p>
        </p:txBody>
      </p:sp>
      <p:sp>
        <p:nvSpPr>
          <p:cNvPr id="1845" name="Google Shape;1845;p68"/>
          <p:cNvSpPr txBox="1">
            <a:spLocks noGrp="1"/>
          </p:cNvSpPr>
          <p:nvPr>
            <p:ph type="sldNum" idx="12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54</a:t>
            </a:fld>
            <a:endParaRPr/>
          </a:p>
        </p:txBody>
      </p:sp>
      <p:sp>
        <p:nvSpPr>
          <p:cNvPr id="1846" name="Google Shape;1846;p68"/>
          <p:cNvSpPr txBox="1">
            <a:spLocks noGrp="1"/>
          </p:cNvSpPr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/>
              <a:t>Heap Sort</a:t>
            </a:r>
            <a:endParaRPr/>
          </a:p>
        </p:txBody>
      </p:sp>
      <p:pic>
        <p:nvPicPr>
          <p:cNvPr id="1847" name="Google Shape;1847;p6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46375" y="1227909"/>
            <a:ext cx="4287435" cy="206189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848" name="Google Shape;1848;p68"/>
          <p:cNvGrpSpPr/>
          <p:nvPr/>
        </p:nvGrpSpPr>
        <p:grpSpPr>
          <a:xfrm>
            <a:off x="6289881" y="2535751"/>
            <a:ext cx="3032569" cy="1827206"/>
            <a:chOff x="1485587" y="2773376"/>
            <a:chExt cx="6015287" cy="3399587"/>
          </a:xfrm>
        </p:grpSpPr>
        <p:sp>
          <p:nvSpPr>
            <p:cNvPr id="1849" name="Google Shape;1849;p68"/>
            <p:cNvSpPr/>
            <p:nvPr/>
          </p:nvSpPr>
          <p:spPr>
            <a:xfrm>
              <a:off x="4798314" y="2773376"/>
              <a:ext cx="558800" cy="558800"/>
            </a:xfrm>
            <a:prstGeom prst="ellipse">
              <a:avLst/>
            </a:prstGeom>
            <a:solidFill>
              <a:schemeClr val="accent1"/>
            </a:solidFill>
            <a:ln w="12700" cap="flat" cmpd="sng">
              <a:solidFill>
                <a:srgbClr val="42719B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50" name="Google Shape;1850;p68"/>
            <p:cNvSpPr/>
            <p:nvPr/>
          </p:nvSpPr>
          <p:spPr>
            <a:xfrm>
              <a:off x="3248914" y="3692472"/>
              <a:ext cx="558800" cy="558800"/>
            </a:xfrm>
            <a:prstGeom prst="ellipse">
              <a:avLst/>
            </a:prstGeom>
            <a:solidFill>
              <a:schemeClr val="accent2"/>
            </a:solidFill>
            <a:ln w="12700" cap="flat" cmpd="sng">
              <a:solidFill>
                <a:srgbClr val="42719B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51" name="Google Shape;1851;p68"/>
            <p:cNvSpPr/>
            <p:nvPr/>
          </p:nvSpPr>
          <p:spPr>
            <a:xfrm>
              <a:off x="2315882" y="4501895"/>
              <a:ext cx="558800" cy="558800"/>
            </a:xfrm>
            <a:prstGeom prst="ellipse">
              <a:avLst/>
            </a:prstGeom>
            <a:solidFill>
              <a:schemeClr val="accent2"/>
            </a:solidFill>
            <a:ln w="12700" cap="flat" cmpd="sng">
              <a:solidFill>
                <a:srgbClr val="42719B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52" name="Google Shape;1852;p68"/>
            <p:cNvSpPr/>
            <p:nvPr/>
          </p:nvSpPr>
          <p:spPr>
            <a:xfrm>
              <a:off x="1485587" y="5554658"/>
              <a:ext cx="558800" cy="558800"/>
            </a:xfrm>
            <a:prstGeom prst="ellipse">
              <a:avLst/>
            </a:prstGeom>
            <a:solidFill>
              <a:schemeClr val="accent2"/>
            </a:solidFill>
            <a:ln w="12700" cap="flat" cmpd="sng">
              <a:solidFill>
                <a:srgbClr val="42719B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53" name="Google Shape;1853;p68"/>
            <p:cNvSpPr/>
            <p:nvPr/>
          </p:nvSpPr>
          <p:spPr>
            <a:xfrm>
              <a:off x="2771948" y="5614163"/>
              <a:ext cx="558800" cy="558800"/>
            </a:xfrm>
            <a:prstGeom prst="ellipse">
              <a:avLst/>
            </a:prstGeom>
            <a:solidFill>
              <a:schemeClr val="accent2"/>
            </a:solidFill>
            <a:ln w="12700" cap="flat" cmpd="sng">
              <a:solidFill>
                <a:srgbClr val="42719B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54" name="Google Shape;1854;p68"/>
            <p:cNvSpPr/>
            <p:nvPr/>
          </p:nvSpPr>
          <p:spPr>
            <a:xfrm>
              <a:off x="4197746" y="4557225"/>
              <a:ext cx="558800" cy="558800"/>
            </a:xfrm>
            <a:prstGeom prst="ellipse">
              <a:avLst/>
            </a:prstGeom>
            <a:solidFill>
              <a:schemeClr val="accent2"/>
            </a:solidFill>
            <a:ln w="12700" cap="flat" cmpd="sng">
              <a:solidFill>
                <a:srgbClr val="42719B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55" name="Google Shape;1855;p68"/>
            <p:cNvSpPr/>
            <p:nvPr/>
          </p:nvSpPr>
          <p:spPr>
            <a:xfrm>
              <a:off x="6164836" y="3692472"/>
              <a:ext cx="558800" cy="558800"/>
            </a:xfrm>
            <a:prstGeom prst="ellipse">
              <a:avLst/>
            </a:prstGeom>
            <a:solidFill>
              <a:schemeClr val="accent2"/>
            </a:solidFill>
            <a:ln w="12700" cap="flat" cmpd="sng">
              <a:solidFill>
                <a:srgbClr val="42719B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56" name="Google Shape;1856;p68"/>
            <p:cNvSpPr/>
            <p:nvPr/>
          </p:nvSpPr>
          <p:spPr>
            <a:xfrm>
              <a:off x="5410178" y="4584315"/>
              <a:ext cx="558800" cy="558800"/>
            </a:xfrm>
            <a:prstGeom prst="ellipse">
              <a:avLst/>
            </a:prstGeom>
            <a:solidFill>
              <a:schemeClr val="accent2"/>
            </a:solidFill>
            <a:ln w="12700" cap="flat" cmpd="sng">
              <a:solidFill>
                <a:srgbClr val="42719B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57" name="Google Shape;1857;p68"/>
            <p:cNvSpPr/>
            <p:nvPr/>
          </p:nvSpPr>
          <p:spPr>
            <a:xfrm>
              <a:off x="6942074" y="4584315"/>
              <a:ext cx="558800" cy="558800"/>
            </a:xfrm>
            <a:prstGeom prst="ellipse">
              <a:avLst/>
            </a:prstGeom>
            <a:solidFill>
              <a:schemeClr val="accent2"/>
            </a:solidFill>
            <a:ln w="12700" cap="flat" cmpd="sng">
              <a:solidFill>
                <a:srgbClr val="42719B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1858" name="Google Shape;1858;p68"/>
            <p:cNvCxnSpPr>
              <a:stCxn id="1849" idx="3"/>
              <a:endCxn id="1850" idx="7"/>
            </p:cNvCxnSpPr>
            <p:nvPr/>
          </p:nvCxnSpPr>
          <p:spPr>
            <a:xfrm flipH="1">
              <a:off x="3725748" y="3250342"/>
              <a:ext cx="1154400" cy="5241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1859" name="Google Shape;1859;p68"/>
            <p:cNvCxnSpPr>
              <a:stCxn id="1855" idx="1"/>
              <a:endCxn id="1849" idx="5"/>
            </p:cNvCxnSpPr>
            <p:nvPr/>
          </p:nvCxnSpPr>
          <p:spPr>
            <a:xfrm rot="10800000">
              <a:off x="5275270" y="3250206"/>
              <a:ext cx="971400" cy="5241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1860" name="Google Shape;1860;p68"/>
            <p:cNvCxnSpPr>
              <a:stCxn id="1857" idx="1"/>
              <a:endCxn id="1855" idx="5"/>
            </p:cNvCxnSpPr>
            <p:nvPr/>
          </p:nvCxnSpPr>
          <p:spPr>
            <a:xfrm rot="10800000">
              <a:off x="6641708" y="4169349"/>
              <a:ext cx="382200" cy="4968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1861" name="Google Shape;1861;p68"/>
            <p:cNvCxnSpPr>
              <a:stCxn id="1856" idx="7"/>
              <a:endCxn id="1855" idx="3"/>
            </p:cNvCxnSpPr>
            <p:nvPr/>
          </p:nvCxnSpPr>
          <p:spPr>
            <a:xfrm rot="10800000" flipH="1">
              <a:off x="5887144" y="4169349"/>
              <a:ext cx="359400" cy="4968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1862" name="Google Shape;1862;p68"/>
            <p:cNvCxnSpPr>
              <a:stCxn id="1850" idx="3"/>
              <a:endCxn id="1851" idx="7"/>
            </p:cNvCxnSpPr>
            <p:nvPr/>
          </p:nvCxnSpPr>
          <p:spPr>
            <a:xfrm flipH="1">
              <a:off x="2792848" y="4169438"/>
              <a:ext cx="537900" cy="4143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1863" name="Google Shape;1863;p68"/>
            <p:cNvCxnSpPr>
              <a:stCxn id="1850" idx="5"/>
              <a:endCxn id="1854" idx="1"/>
            </p:cNvCxnSpPr>
            <p:nvPr/>
          </p:nvCxnSpPr>
          <p:spPr>
            <a:xfrm>
              <a:off x="3725880" y="4169438"/>
              <a:ext cx="553800" cy="4695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1864" name="Google Shape;1864;p68"/>
            <p:cNvCxnSpPr>
              <a:stCxn id="1851" idx="3"/>
              <a:endCxn id="1852" idx="7"/>
            </p:cNvCxnSpPr>
            <p:nvPr/>
          </p:nvCxnSpPr>
          <p:spPr>
            <a:xfrm flipH="1">
              <a:off x="1962416" y="4978861"/>
              <a:ext cx="435300" cy="6576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1865" name="Google Shape;1865;p68"/>
            <p:cNvCxnSpPr>
              <a:stCxn id="1851" idx="5"/>
              <a:endCxn id="1853" idx="0"/>
            </p:cNvCxnSpPr>
            <p:nvPr/>
          </p:nvCxnSpPr>
          <p:spPr>
            <a:xfrm>
              <a:off x="2792848" y="4978861"/>
              <a:ext cx="258600" cy="6354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</p:grpSp>
      <p:graphicFrame>
        <p:nvGraphicFramePr>
          <p:cNvPr id="1866" name="Google Shape;1866;p68"/>
          <p:cNvGraphicFramePr/>
          <p:nvPr/>
        </p:nvGraphicFramePr>
        <p:xfrm>
          <a:off x="6193469" y="4522204"/>
          <a:ext cx="3872700" cy="731540"/>
        </p:xfrm>
        <a:graphic>
          <a:graphicData uri="http://schemas.openxmlformats.org/drawingml/2006/table">
            <a:tbl>
              <a:tblPr firstRow="1" bandRow="1">
                <a:noFill/>
                <a:tableStyleId>{66088737-8E24-4614-AAA7-3D08145F63E1}</a:tableStyleId>
              </a:tblPr>
              <a:tblGrid>
                <a:gridCol w="430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03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03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303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303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303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303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303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4303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2914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1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2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3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4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5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6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7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8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9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14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867" name="Google Shape;1867;p68"/>
          <p:cNvSpPr/>
          <p:nvPr/>
        </p:nvSpPr>
        <p:spPr>
          <a:xfrm>
            <a:off x="602530" y="2258857"/>
            <a:ext cx="499620" cy="292231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accent2"/>
          </a:solidFill>
          <a:ln w="12700" cap="flat" cmpd="sng">
            <a:solidFill>
              <a:srgbClr val="AC5B23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8" name="Google Shape;1868;p68"/>
          <p:cNvSpPr/>
          <p:nvPr/>
        </p:nvSpPr>
        <p:spPr>
          <a:xfrm rot="5400000">
            <a:off x="6824159" y="3619022"/>
            <a:ext cx="499620" cy="292231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12700" cap="flat" cmpd="sng">
            <a:solidFill>
              <a:srgbClr val="AC5B23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3" name="Google Shape;1873;p69"/>
          <p:cNvSpPr txBox="1">
            <a:spLocks noGrp="1"/>
          </p:cNvSpPr>
          <p:nvPr>
            <p:ph type="body" idx="1"/>
          </p:nvPr>
        </p:nvSpPr>
        <p:spPr>
          <a:xfrm>
            <a:off x="838200" y="1227909"/>
            <a:ext cx="10515600" cy="49490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2095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2100"/>
              <a:buFont typeface="Arial"/>
              <a:buNone/>
            </a:pPr>
            <a:endParaRPr/>
          </a:p>
        </p:txBody>
      </p:sp>
      <p:sp>
        <p:nvSpPr>
          <p:cNvPr id="1874" name="Google Shape;1874;p69"/>
          <p:cNvSpPr txBox="1">
            <a:spLocks noGrp="1"/>
          </p:cNvSpPr>
          <p:nvPr>
            <p:ph type="dt" idx="10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B36B2D96-DCC3-4E8D-B802-CC30F3F4BD4B}" type="datetime1">
              <a:rPr lang="en-US" smtClean="0"/>
              <a:t>1/12/2026</a:t>
            </a:fld>
            <a:endParaRPr/>
          </a:p>
        </p:txBody>
      </p:sp>
      <p:sp>
        <p:nvSpPr>
          <p:cNvPr id="1875" name="Google Shape;1875;p69"/>
          <p:cNvSpPr txBox="1">
            <a:spLocks noGrp="1"/>
          </p:cNvSpPr>
          <p:nvPr>
            <p:ph type="ftr" idx="11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Lec Asif Abrar, Dept of CSE, UIU</a:t>
            </a:r>
            <a:endParaRPr/>
          </a:p>
        </p:txBody>
      </p:sp>
      <p:sp>
        <p:nvSpPr>
          <p:cNvPr id="1876" name="Google Shape;1876;p69"/>
          <p:cNvSpPr txBox="1">
            <a:spLocks noGrp="1"/>
          </p:cNvSpPr>
          <p:nvPr>
            <p:ph type="sldNum" idx="12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55</a:t>
            </a:fld>
            <a:endParaRPr/>
          </a:p>
        </p:txBody>
      </p:sp>
      <p:sp>
        <p:nvSpPr>
          <p:cNvPr id="1877" name="Google Shape;1877;p69"/>
          <p:cNvSpPr txBox="1">
            <a:spLocks noGrp="1"/>
          </p:cNvSpPr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/>
              <a:t>Heap Sort</a:t>
            </a:r>
            <a:endParaRPr/>
          </a:p>
        </p:txBody>
      </p:sp>
      <p:pic>
        <p:nvPicPr>
          <p:cNvPr id="1878" name="Google Shape;1878;p6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46375" y="1227909"/>
            <a:ext cx="4287435" cy="206189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879" name="Google Shape;1879;p69"/>
          <p:cNvGrpSpPr/>
          <p:nvPr/>
        </p:nvGrpSpPr>
        <p:grpSpPr>
          <a:xfrm>
            <a:off x="6289881" y="2535751"/>
            <a:ext cx="3032569" cy="2114727"/>
            <a:chOff x="1485587" y="2773376"/>
            <a:chExt cx="6015287" cy="3934531"/>
          </a:xfrm>
        </p:grpSpPr>
        <p:sp>
          <p:nvSpPr>
            <p:cNvPr id="1880" name="Google Shape;1880;p69"/>
            <p:cNvSpPr/>
            <p:nvPr/>
          </p:nvSpPr>
          <p:spPr>
            <a:xfrm>
              <a:off x="4798314" y="2773376"/>
              <a:ext cx="558800" cy="558800"/>
            </a:xfrm>
            <a:prstGeom prst="ellipse">
              <a:avLst/>
            </a:prstGeom>
            <a:solidFill>
              <a:schemeClr val="accent1"/>
            </a:solidFill>
            <a:ln w="12700" cap="flat" cmpd="sng">
              <a:solidFill>
                <a:srgbClr val="42719B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81" name="Google Shape;1881;p69"/>
            <p:cNvSpPr/>
            <p:nvPr/>
          </p:nvSpPr>
          <p:spPr>
            <a:xfrm>
              <a:off x="3248914" y="3692472"/>
              <a:ext cx="558800" cy="558800"/>
            </a:xfrm>
            <a:prstGeom prst="ellipse">
              <a:avLst/>
            </a:prstGeom>
            <a:solidFill>
              <a:schemeClr val="accent2"/>
            </a:solidFill>
            <a:ln w="12700" cap="flat" cmpd="sng">
              <a:solidFill>
                <a:srgbClr val="42719B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82" name="Google Shape;1882;p69"/>
            <p:cNvSpPr/>
            <p:nvPr/>
          </p:nvSpPr>
          <p:spPr>
            <a:xfrm>
              <a:off x="2315882" y="4501895"/>
              <a:ext cx="558800" cy="558800"/>
            </a:xfrm>
            <a:prstGeom prst="ellipse">
              <a:avLst/>
            </a:prstGeom>
            <a:solidFill>
              <a:schemeClr val="accent2"/>
            </a:solidFill>
            <a:ln w="12700" cap="flat" cmpd="sng">
              <a:solidFill>
                <a:srgbClr val="42719B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83" name="Google Shape;1883;p69"/>
            <p:cNvSpPr/>
            <p:nvPr/>
          </p:nvSpPr>
          <p:spPr>
            <a:xfrm>
              <a:off x="1485587" y="5554658"/>
              <a:ext cx="558800" cy="558800"/>
            </a:xfrm>
            <a:prstGeom prst="ellipse">
              <a:avLst/>
            </a:prstGeom>
            <a:solidFill>
              <a:schemeClr val="accent2"/>
            </a:solidFill>
            <a:ln w="12700" cap="flat" cmpd="sng">
              <a:solidFill>
                <a:srgbClr val="42719B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84" name="Google Shape;1884;p69"/>
            <p:cNvSpPr/>
            <p:nvPr/>
          </p:nvSpPr>
          <p:spPr>
            <a:xfrm>
              <a:off x="6088876" y="6149107"/>
              <a:ext cx="558799" cy="558800"/>
            </a:xfrm>
            <a:prstGeom prst="ellipse">
              <a:avLst/>
            </a:prstGeom>
            <a:solidFill>
              <a:schemeClr val="accent2"/>
            </a:solidFill>
            <a:ln w="12700" cap="flat" cmpd="sng">
              <a:solidFill>
                <a:srgbClr val="42719B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85" name="Google Shape;1885;p69"/>
            <p:cNvSpPr/>
            <p:nvPr/>
          </p:nvSpPr>
          <p:spPr>
            <a:xfrm>
              <a:off x="4197746" y="4557225"/>
              <a:ext cx="558800" cy="558800"/>
            </a:xfrm>
            <a:prstGeom prst="ellipse">
              <a:avLst/>
            </a:prstGeom>
            <a:solidFill>
              <a:schemeClr val="accent2"/>
            </a:solidFill>
            <a:ln w="12700" cap="flat" cmpd="sng">
              <a:solidFill>
                <a:srgbClr val="42719B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86" name="Google Shape;1886;p69"/>
            <p:cNvSpPr/>
            <p:nvPr/>
          </p:nvSpPr>
          <p:spPr>
            <a:xfrm>
              <a:off x="6164836" y="3692472"/>
              <a:ext cx="558800" cy="558800"/>
            </a:xfrm>
            <a:prstGeom prst="ellipse">
              <a:avLst/>
            </a:prstGeom>
            <a:solidFill>
              <a:schemeClr val="accent2"/>
            </a:solidFill>
            <a:ln w="12700" cap="flat" cmpd="sng">
              <a:solidFill>
                <a:srgbClr val="42719B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87" name="Google Shape;1887;p69"/>
            <p:cNvSpPr/>
            <p:nvPr/>
          </p:nvSpPr>
          <p:spPr>
            <a:xfrm>
              <a:off x="5410178" y="4584315"/>
              <a:ext cx="558800" cy="558800"/>
            </a:xfrm>
            <a:prstGeom prst="ellipse">
              <a:avLst/>
            </a:prstGeom>
            <a:solidFill>
              <a:schemeClr val="accent2"/>
            </a:solidFill>
            <a:ln w="12700" cap="flat" cmpd="sng">
              <a:solidFill>
                <a:srgbClr val="42719B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88" name="Google Shape;1888;p69"/>
            <p:cNvSpPr/>
            <p:nvPr/>
          </p:nvSpPr>
          <p:spPr>
            <a:xfrm>
              <a:off x="6942074" y="4584315"/>
              <a:ext cx="558800" cy="558800"/>
            </a:xfrm>
            <a:prstGeom prst="ellipse">
              <a:avLst/>
            </a:prstGeom>
            <a:solidFill>
              <a:schemeClr val="accent2"/>
            </a:solidFill>
            <a:ln w="12700" cap="flat" cmpd="sng">
              <a:solidFill>
                <a:srgbClr val="42719B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1889" name="Google Shape;1889;p69"/>
            <p:cNvCxnSpPr>
              <a:stCxn id="1880" idx="3"/>
              <a:endCxn id="1881" idx="7"/>
            </p:cNvCxnSpPr>
            <p:nvPr/>
          </p:nvCxnSpPr>
          <p:spPr>
            <a:xfrm flipH="1">
              <a:off x="3725748" y="3250342"/>
              <a:ext cx="1154400" cy="5241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1890" name="Google Shape;1890;p69"/>
            <p:cNvCxnSpPr>
              <a:stCxn id="1886" idx="1"/>
              <a:endCxn id="1880" idx="5"/>
            </p:cNvCxnSpPr>
            <p:nvPr/>
          </p:nvCxnSpPr>
          <p:spPr>
            <a:xfrm rot="10800000">
              <a:off x="5275270" y="3250206"/>
              <a:ext cx="971400" cy="5241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1891" name="Google Shape;1891;p69"/>
            <p:cNvCxnSpPr>
              <a:stCxn id="1888" idx="1"/>
              <a:endCxn id="1886" idx="5"/>
            </p:cNvCxnSpPr>
            <p:nvPr/>
          </p:nvCxnSpPr>
          <p:spPr>
            <a:xfrm rot="10800000">
              <a:off x="6641708" y="4169349"/>
              <a:ext cx="382200" cy="4968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1892" name="Google Shape;1892;p69"/>
            <p:cNvCxnSpPr>
              <a:stCxn id="1887" idx="7"/>
              <a:endCxn id="1886" idx="3"/>
            </p:cNvCxnSpPr>
            <p:nvPr/>
          </p:nvCxnSpPr>
          <p:spPr>
            <a:xfrm rot="10800000" flipH="1">
              <a:off x="5887144" y="4169349"/>
              <a:ext cx="359400" cy="4968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1893" name="Google Shape;1893;p69"/>
            <p:cNvCxnSpPr>
              <a:stCxn id="1881" idx="3"/>
              <a:endCxn id="1882" idx="7"/>
            </p:cNvCxnSpPr>
            <p:nvPr/>
          </p:nvCxnSpPr>
          <p:spPr>
            <a:xfrm flipH="1">
              <a:off x="2792848" y="4169438"/>
              <a:ext cx="537900" cy="4143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1894" name="Google Shape;1894;p69"/>
            <p:cNvCxnSpPr>
              <a:stCxn id="1881" idx="5"/>
              <a:endCxn id="1885" idx="1"/>
            </p:cNvCxnSpPr>
            <p:nvPr/>
          </p:nvCxnSpPr>
          <p:spPr>
            <a:xfrm>
              <a:off x="3725880" y="4169438"/>
              <a:ext cx="553800" cy="4695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1895" name="Google Shape;1895;p69"/>
            <p:cNvCxnSpPr>
              <a:stCxn id="1882" idx="3"/>
              <a:endCxn id="1883" idx="7"/>
            </p:cNvCxnSpPr>
            <p:nvPr/>
          </p:nvCxnSpPr>
          <p:spPr>
            <a:xfrm flipH="1">
              <a:off x="1962416" y="4978861"/>
              <a:ext cx="435300" cy="6576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</p:grpSp>
      <p:graphicFrame>
        <p:nvGraphicFramePr>
          <p:cNvPr id="1896" name="Google Shape;1896;p69"/>
          <p:cNvGraphicFramePr/>
          <p:nvPr/>
        </p:nvGraphicFramePr>
        <p:xfrm>
          <a:off x="6264108" y="5191177"/>
          <a:ext cx="3872700" cy="731540"/>
        </p:xfrm>
        <a:graphic>
          <a:graphicData uri="http://schemas.openxmlformats.org/drawingml/2006/table">
            <a:tbl>
              <a:tblPr firstRow="1" bandRow="1">
                <a:noFill/>
                <a:tableStyleId>{66088737-8E24-4614-AAA7-3D08145F63E1}</a:tableStyleId>
              </a:tblPr>
              <a:tblGrid>
                <a:gridCol w="430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03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03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303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303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303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303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303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4303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2914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1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2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3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4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5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6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7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8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9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14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897" name="Google Shape;1897;p69"/>
          <p:cNvSpPr/>
          <p:nvPr/>
        </p:nvSpPr>
        <p:spPr>
          <a:xfrm rot="5400000">
            <a:off x="6869867" y="3647184"/>
            <a:ext cx="499620" cy="292231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12700" cap="flat" cmpd="sng">
            <a:solidFill>
              <a:srgbClr val="AC5B23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8" name="Google Shape;1898;p69"/>
          <p:cNvSpPr/>
          <p:nvPr/>
        </p:nvSpPr>
        <p:spPr>
          <a:xfrm>
            <a:off x="597910" y="2543863"/>
            <a:ext cx="499620" cy="292231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accent2"/>
          </a:solidFill>
          <a:ln w="12700" cap="flat" cmpd="sng">
            <a:solidFill>
              <a:srgbClr val="AC5B23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3" name="Google Shape;1903;p70"/>
          <p:cNvSpPr txBox="1">
            <a:spLocks noGrp="1"/>
          </p:cNvSpPr>
          <p:nvPr>
            <p:ph type="body" idx="1"/>
          </p:nvPr>
        </p:nvSpPr>
        <p:spPr>
          <a:xfrm>
            <a:off x="838200" y="1227909"/>
            <a:ext cx="10515600" cy="49490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2095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2100"/>
              <a:buFont typeface="Arial"/>
              <a:buNone/>
            </a:pPr>
            <a:endParaRPr/>
          </a:p>
        </p:txBody>
      </p:sp>
      <p:sp>
        <p:nvSpPr>
          <p:cNvPr id="1904" name="Google Shape;1904;p70"/>
          <p:cNvSpPr txBox="1">
            <a:spLocks noGrp="1"/>
          </p:cNvSpPr>
          <p:nvPr>
            <p:ph type="dt" idx="10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C5086388-D32F-42B9-AFB1-17EBB3CC75B1}" type="datetime1">
              <a:rPr lang="en-US" smtClean="0"/>
              <a:t>1/12/2026</a:t>
            </a:fld>
            <a:endParaRPr/>
          </a:p>
        </p:txBody>
      </p:sp>
      <p:sp>
        <p:nvSpPr>
          <p:cNvPr id="1905" name="Google Shape;1905;p70"/>
          <p:cNvSpPr txBox="1">
            <a:spLocks noGrp="1"/>
          </p:cNvSpPr>
          <p:nvPr>
            <p:ph type="ftr" idx="11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Lec Asif Abrar, Dept of CSE, UIU</a:t>
            </a:r>
            <a:endParaRPr/>
          </a:p>
        </p:txBody>
      </p:sp>
      <p:sp>
        <p:nvSpPr>
          <p:cNvPr id="1906" name="Google Shape;1906;p70"/>
          <p:cNvSpPr txBox="1">
            <a:spLocks noGrp="1"/>
          </p:cNvSpPr>
          <p:nvPr>
            <p:ph type="sldNum" idx="12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56</a:t>
            </a:fld>
            <a:endParaRPr/>
          </a:p>
        </p:txBody>
      </p:sp>
      <p:sp>
        <p:nvSpPr>
          <p:cNvPr id="1907" name="Google Shape;1907;p70"/>
          <p:cNvSpPr txBox="1">
            <a:spLocks noGrp="1"/>
          </p:cNvSpPr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/>
              <a:t>Heap Sort</a:t>
            </a:r>
            <a:endParaRPr/>
          </a:p>
        </p:txBody>
      </p:sp>
      <p:pic>
        <p:nvPicPr>
          <p:cNvPr id="1908" name="Google Shape;1908;p7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46375" y="1227909"/>
            <a:ext cx="4287435" cy="206189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909" name="Google Shape;1909;p70"/>
          <p:cNvGrpSpPr/>
          <p:nvPr/>
        </p:nvGrpSpPr>
        <p:grpSpPr>
          <a:xfrm>
            <a:off x="6289881" y="2535751"/>
            <a:ext cx="3032569" cy="2114727"/>
            <a:chOff x="1485587" y="2773376"/>
            <a:chExt cx="6015287" cy="3934531"/>
          </a:xfrm>
        </p:grpSpPr>
        <p:sp>
          <p:nvSpPr>
            <p:cNvPr id="1910" name="Google Shape;1910;p70"/>
            <p:cNvSpPr/>
            <p:nvPr/>
          </p:nvSpPr>
          <p:spPr>
            <a:xfrm>
              <a:off x="4798314" y="2773376"/>
              <a:ext cx="558800" cy="558800"/>
            </a:xfrm>
            <a:prstGeom prst="ellipse">
              <a:avLst/>
            </a:prstGeom>
            <a:solidFill>
              <a:schemeClr val="accent1"/>
            </a:solidFill>
            <a:ln w="12700" cap="flat" cmpd="sng">
              <a:solidFill>
                <a:srgbClr val="42719B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11" name="Google Shape;1911;p70"/>
            <p:cNvSpPr/>
            <p:nvPr/>
          </p:nvSpPr>
          <p:spPr>
            <a:xfrm>
              <a:off x="3248914" y="3692472"/>
              <a:ext cx="558800" cy="558800"/>
            </a:xfrm>
            <a:prstGeom prst="ellipse">
              <a:avLst/>
            </a:prstGeom>
            <a:solidFill>
              <a:schemeClr val="accent2"/>
            </a:solidFill>
            <a:ln w="12700" cap="flat" cmpd="sng">
              <a:solidFill>
                <a:srgbClr val="42719B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12" name="Google Shape;1912;p70"/>
            <p:cNvSpPr/>
            <p:nvPr/>
          </p:nvSpPr>
          <p:spPr>
            <a:xfrm>
              <a:off x="2315882" y="4501895"/>
              <a:ext cx="558800" cy="558800"/>
            </a:xfrm>
            <a:prstGeom prst="ellipse">
              <a:avLst/>
            </a:prstGeom>
            <a:solidFill>
              <a:schemeClr val="accent2"/>
            </a:solidFill>
            <a:ln w="12700" cap="flat" cmpd="sng">
              <a:solidFill>
                <a:srgbClr val="42719B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13" name="Google Shape;1913;p70"/>
            <p:cNvSpPr/>
            <p:nvPr/>
          </p:nvSpPr>
          <p:spPr>
            <a:xfrm>
              <a:off x="1485587" y="5554658"/>
              <a:ext cx="558800" cy="558800"/>
            </a:xfrm>
            <a:prstGeom prst="ellipse">
              <a:avLst/>
            </a:prstGeom>
            <a:solidFill>
              <a:schemeClr val="accent2"/>
            </a:solidFill>
            <a:ln w="12700" cap="flat" cmpd="sng">
              <a:solidFill>
                <a:srgbClr val="42719B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14" name="Google Shape;1914;p70"/>
            <p:cNvSpPr/>
            <p:nvPr/>
          </p:nvSpPr>
          <p:spPr>
            <a:xfrm>
              <a:off x="6088876" y="6149107"/>
              <a:ext cx="558799" cy="558800"/>
            </a:xfrm>
            <a:prstGeom prst="ellipse">
              <a:avLst/>
            </a:prstGeom>
            <a:solidFill>
              <a:schemeClr val="accent2"/>
            </a:solidFill>
            <a:ln w="12700" cap="flat" cmpd="sng">
              <a:solidFill>
                <a:srgbClr val="42719B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15" name="Google Shape;1915;p70"/>
            <p:cNvSpPr/>
            <p:nvPr/>
          </p:nvSpPr>
          <p:spPr>
            <a:xfrm>
              <a:off x="4197746" y="4557225"/>
              <a:ext cx="558800" cy="558800"/>
            </a:xfrm>
            <a:prstGeom prst="ellipse">
              <a:avLst/>
            </a:prstGeom>
            <a:solidFill>
              <a:schemeClr val="accent2"/>
            </a:solidFill>
            <a:ln w="12700" cap="flat" cmpd="sng">
              <a:solidFill>
                <a:srgbClr val="42719B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16" name="Google Shape;1916;p70"/>
            <p:cNvSpPr/>
            <p:nvPr/>
          </p:nvSpPr>
          <p:spPr>
            <a:xfrm>
              <a:off x="6164836" y="3692472"/>
              <a:ext cx="558800" cy="558800"/>
            </a:xfrm>
            <a:prstGeom prst="ellipse">
              <a:avLst/>
            </a:prstGeom>
            <a:solidFill>
              <a:schemeClr val="accent2"/>
            </a:solidFill>
            <a:ln w="12700" cap="flat" cmpd="sng">
              <a:solidFill>
                <a:srgbClr val="42719B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17" name="Google Shape;1917;p70"/>
            <p:cNvSpPr/>
            <p:nvPr/>
          </p:nvSpPr>
          <p:spPr>
            <a:xfrm>
              <a:off x="5410178" y="4584315"/>
              <a:ext cx="558800" cy="558800"/>
            </a:xfrm>
            <a:prstGeom prst="ellipse">
              <a:avLst/>
            </a:prstGeom>
            <a:solidFill>
              <a:schemeClr val="accent2"/>
            </a:solidFill>
            <a:ln w="12700" cap="flat" cmpd="sng">
              <a:solidFill>
                <a:srgbClr val="42719B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18" name="Google Shape;1918;p70"/>
            <p:cNvSpPr/>
            <p:nvPr/>
          </p:nvSpPr>
          <p:spPr>
            <a:xfrm>
              <a:off x="6942074" y="4584315"/>
              <a:ext cx="558800" cy="558800"/>
            </a:xfrm>
            <a:prstGeom prst="ellipse">
              <a:avLst/>
            </a:prstGeom>
            <a:solidFill>
              <a:schemeClr val="accent2"/>
            </a:solidFill>
            <a:ln w="12700" cap="flat" cmpd="sng">
              <a:solidFill>
                <a:srgbClr val="42719B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1919" name="Google Shape;1919;p70"/>
            <p:cNvCxnSpPr>
              <a:stCxn id="1910" idx="3"/>
              <a:endCxn id="1911" idx="7"/>
            </p:cNvCxnSpPr>
            <p:nvPr/>
          </p:nvCxnSpPr>
          <p:spPr>
            <a:xfrm flipH="1">
              <a:off x="3725748" y="3250342"/>
              <a:ext cx="1154400" cy="5241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1920" name="Google Shape;1920;p70"/>
            <p:cNvCxnSpPr>
              <a:stCxn id="1916" idx="1"/>
              <a:endCxn id="1910" idx="5"/>
            </p:cNvCxnSpPr>
            <p:nvPr/>
          </p:nvCxnSpPr>
          <p:spPr>
            <a:xfrm rot="10800000">
              <a:off x="5275270" y="3250206"/>
              <a:ext cx="971400" cy="5241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1921" name="Google Shape;1921;p70"/>
            <p:cNvCxnSpPr>
              <a:stCxn id="1918" idx="1"/>
              <a:endCxn id="1916" idx="5"/>
            </p:cNvCxnSpPr>
            <p:nvPr/>
          </p:nvCxnSpPr>
          <p:spPr>
            <a:xfrm rot="10800000">
              <a:off x="6641708" y="4169349"/>
              <a:ext cx="382200" cy="4968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1922" name="Google Shape;1922;p70"/>
            <p:cNvCxnSpPr>
              <a:stCxn id="1917" idx="7"/>
              <a:endCxn id="1916" idx="3"/>
            </p:cNvCxnSpPr>
            <p:nvPr/>
          </p:nvCxnSpPr>
          <p:spPr>
            <a:xfrm rot="10800000" flipH="1">
              <a:off x="5887144" y="4169349"/>
              <a:ext cx="359400" cy="4968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1923" name="Google Shape;1923;p70"/>
            <p:cNvCxnSpPr>
              <a:stCxn id="1911" idx="3"/>
              <a:endCxn id="1912" idx="7"/>
            </p:cNvCxnSpPr>
            <p:nvPr/>
          </p:nvCxnSpPr>
          <p:spPr>
            <a:xfrm flipH="1">
              <a:off x="2792848" y="4169438"/>
              <a:ext cx="537900" cy="4143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1924" name="Google Shape;1924;p70"/>
            <p:cNvCxnSpPr>
              <a:stCxn id="1911" idx="5"/>
              <a:endCxn id="1915" idx="1"/>
            </p:cNvCxnSpPr>
            <p:nvPr/>
          </p:nvCxnSpPr>
          <p:spPr>
            <a:xfrm>
              <a:off x="3725880" y="4169438"/>
              <a:ext cx="553800" cy="4695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1925" name="Google Shape;1925;p70"/>
            <p:cNvCxnSpPr>
              <a:stCxn id="1912" idx="3"/>
              <a:endCxn id="1913" idx="7"/>
            </p:cNvCxnSpPr>
            <p:nvPr/>
          </p:nvCxnSpPr>
          <p:spPr>
            <a:xfrm flipH="1">
              <a:off x="1962416" y="4978861"/>
              <a:ext cx="435300" cy="6576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</p:grpSp>
      <p:graphicFrame>
        <p:nvGraphicFramePr>
          <p:cNvPr id="1926" name="Google Shape;1926;p70"/>
          <p:cNvGraphicFramePr/>
          <p:nvPr/>
        </p:nvGraphicFramePr>
        <p:xfrm>
          <a:off x="6264108" y="5191177"/>
          <a:ext cx="3872700" cy="731540"/>
        </p:xfrm>
        <a:graphic>
          <a:graphicData uri="http://schemas.openxmlformats.org/drawingml/2006/table">
            <a:tbl>
              <a:tblPr firstRow="1" bandRow="1">
                <a:noFill/>
                <a:tableStyleId>{66088737-8E24-4614-AAA7-3D08145F63E1}</a:tableStyleId>
              </a:tblPr>
              <a:tblGrid>
                <a:gridCol w="430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03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03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303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303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303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303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303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4303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2914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1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2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3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4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5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6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7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8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9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14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927" name="Google Shape;1927;p70"/>
          <p:cNvSpPr/>
          <p:nvPr/>
        </p:nvSpPr>
        <p:spPr>
          <a:xfrm rot="5400000">
            <a:off x="6869867" y="3647184"/>
            <a:ext cx="499620" cy="292231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12700" cap="flat" cmpd="sng">
            <a:solidFill>
              <a:srgbClr val="AC5B23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8" name="Google Shape;1928;p70"/>
          <p:cNvSpPr/>
          <p:nvPr/>
        </p:nvSpPr>
        <p:spPr>
          <a:xfrm>
            <a:off x="7242471" y="2119613"/>
            <a:ext cx="1939121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MaxHeapify(A,1)</a:t>
            </a:r>
            <a:endParaRPr/>
          </a:p>
        </p:txBody>
      </p:sp>
      <p:sp>
        <p:nvSpPr>
          <p:cNvPr id="1929" name="Google Shape;1929;p70"/>
          <p:cNvSpPr/>
          <p:nvPr/>
        </p:nvSpPr>
        <p:spPr>
          <a:xfrm>
            <a:off x="597910" y="2883630"/>
            <a:ext cx="499620" cy="292231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accent2"/>
          </a:solidFill>
          <a:ln w="12700" cap="flat" cmpd="sng">
            <a:solidFill>
              <a:srgbClr val="AC5B23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4" name="Google Shape;1934;p71"/>
          <p:cNvSpPr txBox="1">
            <a:spLocks noGrp="1"/>
          </p:cNvSpPr>
          <p:nvPr>
            <p:ph type="body" idx="1"/>
          </p:nvPr>
        </p:nvSpPr>
        <p:spPr>
          <a:xfrm>
            <a:off x="838200" y="1227909"/>
            <a:ext cx="10515600" cy="49490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2095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2100"/>
              <a:buFont typeface="Arial"/>
              <a:buNone/>
            </a:pPr>
            <a:endParaRPr/>
          </a:p>
        </p:txBody>
      </p:sp>
      <p:sp>
        <p:nvSpPr>
          <p:cNvPr id="1935" name="Google Shape;1935;p71"/>
          <p:cNvSpPr txBox="1">
            <a:spLocks noGrp="1"/>
          </p:cNvSpPr>
          <p:nvPr>
            <p:ph type="dt" idx="10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8B411CD3-ADDA-4B32-8DFB-A69D6D669AFD}" type="datetime1">
              <a:rPr lang="en-US" smtClean="0"/>
              <a:t>1/12/2026</a:t>
            </a:fld>
            <a:endParaRPr/>
          </a:p>
        </p:txBody>
      </p:sp>
      <p:sp>
        <p:nvSpPr>
          <p:cNvPr id="1936" name="Google Shape;1936;p71"/>
          <p:cNvSpPr txBox="1">
            <a:spLocks noGrp="1"/>
          </p:cNvSpPr>
          <p:nvPr>
            <p:ph type="ftr" idx="11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Lec Asif Abrar, Dept of CSE, UIU</a:t>
            </a:r>
            <a:endParaRPr/>
          </a:p>
        </p:txBody>
      </p:sp>
      <p:sp>
        <p:nvSpPr>
          <p:cNvPr id="1937" name="Google Shape;1937;p71"/>
          <p:cNvSpPr txBox="1">
            <a:spLocks noGrp="1"/>
          </p:cNvSpPr>
          <p:nvPr>
            <p:ph type="sldNum" idx="12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57</a:t>
            </a:fld>
            <a:endParaRPr/>
          </a:p>
        </p:txBody>
      </p:sp>
      <p:sp>
        <p:nvSpPr>
          <p:cNvPr id="1938" name="Google Shape;1938;p71"/>
          <p:cNvSpPr txBox="1">
            <a:spLocks noGrp="1"/>
          </p:cNvSpPr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/>
              <a:t>Heap Sort</a:t>
            </a:r>
            <a:endParaRPr/>
          </a:p>
        </p:txBody>
      </p:sp>
      <p:pic>
        <p:nvPicPr>
          <p:cNvPr id="1939" name="Google Shape;1939;p7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46375" y="1227909"/>
            <a:ext cx="4287435" cy="206189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940" name="Google Shape;1940;p71"/>
          <p:cNvGrpSpPr/>
          <p:nvPr/>
        </p:nvGrpSpPr>
        <p:grpSpPr>
          <a:xfrm>
            <a:off x="6289881" y="2535751"/>
            <a:ext cx="3032569" cy="2114727"/>
            <a:chOff x="1485587" y="2773376"/>
            <a:chExt cx="6015287" cy="3934531"/>
          </a:xfrm>
        </p:grpSpPr>
        <p:sp>
          <p:nvSpPr>
            <p:cNvPr id="1941" name="Google Shape;1941;p71"/>
            <p:cNvSpPr/>
            <p:nvPr/>
          </p:nvSpPr>
          <p:spPr>
            <a:xfrm>
              <a:off x="4798314" y="2773376"/>
              <a:ext cx="558800" cy="558800"/>
            </a:xfrm>
            <a:prstGeom prst="ellipse">
              <a:avLst/>
            </a:prstGeom>
            <a:solidFill>
              <a:schemeClr val="accent2"/>
            </a:solidFill>
            <a:ln w="12700" cap="flat" cmpd="sng">
              <a:solidFill>
                <a:srgbClr val="42719B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42" name="Google Shape;1942;p71"/>
            <p:cNvSpPr/>
            <p:nvPr/>
          </p:nvSpPr>
          <p:spPr>
            <a:xfrm>
              <a:off x="3248914" y="3692472"/>
              <a:ext cx="558800" cy="558800"/>
            </a:xfrm>
            <a:prstGeom prst="ellipse">
              <a:avLst/>
            </a:prstGeom>
            <a:solidFill>
              <a:schemeClr val="accent2"/>
            </a:solidFill>
            <a:ln w="12700" cap="flat" cmpd="sng">
              <a:solidFill>
                <a:srgbClr val="42719B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43" name="Google Shape;1943;p71"/>
            <p:cNvSpPr/>
            <p:nvPr/>
          </p:nvSpPr>
          <p:spPr>
            <a:xfrm>
              <a:off x="2315882" y="4501895"/>
              <a:ext cx="558800" cy="558800"/>
            </a:xfrm>
            <a:prstGeom prst="ellipse">
              <a:avLst/>
            </a:prstGeom>
            <a:solidFill>
              <a:schemeClr val="accent2"/>
            </a:solidFill>
            <a:ln w="12700" cap="flat" cmpd="sng">
              <a:solidFill>
                <a:srgbClr val="42719B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44" name="Google Shape;1944;p71"/>
            <p:cNvSpPr/>
            <p:nvPr/>
          </p:nvSpPr>
          <p:spPr>
            <a:xfrm>
              <a:off x="1485587" y="5554658"/>
              <a:ext cx="558800" cy="558800"/>
            </a:xfrm>
            <a:prstGeom prst="ellipse">
              <a:avLst/>
            </a:prstGeom>
            <a:solidFill>
              <a:schemeClr val="accent2"/>
            </a:solidFill>
            <a:ln w="12700" cap="flat" cmpd="sng">
              <a:solidFill>
                <a:srgbClr val="42719B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45" name="Google Shape;1945;p71"/>
            <p:cNvSpPr/>
            <p:nvPr/>
          </p:nvSpPr>
          <p:spPr>
            <a:xfrm>
              <a:off x="6088876" y="6149107"/>
              <a:ext cx="558799" cy="558800"/>
            </a:xfrm>
            <a:prstGeom prst="ellipse">
              <a:avLst/>
            </a:prstGeom>
            <a:solidFill>
              <a:schemeClr val="accent2"/>
            </a:solidFill>
            <a:ln w="12700" cap="flat" cmpd="sng">
              <a:solidFill>
                <a:srgbClr val="42719B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46" name="Google Shape;1946;p71"/>
            <p:cNvSpPr/>
            <p:nvPr/>
          </p:nvSpPr>
          <p:spPr>
            <a:xfrm>
              <a:off x="4197746" y="4557225"/>
              <a:ext cx="558800" cy="558800"/>
            </a:xfrm>
            <a:prstGeom prst="ellipse">
              <a:avLst/>
            </a:prstGeom>
            <a:solidFill>
              <a:schemeClr val="accent2"/>
            </a:solidFill>
            <a:ln w="12700" cap="flat" cmpd="sng">
              <a:solidFill>
                <a:srgbClr val="42719B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47" name="Google Shape;1947;p71"/>
            <p:cNvSpPr/>
            <p:nvPr/>
          </p:nvSpPr>
          <p:spPr>
            <a:xfrm>
              <a:off x="6164836" y="3692472"/>
              <a:ext cx="558800" cy="558800"/>
            </a:xfrm>
            <a:prstGeom prst="ellipse">
              <a:avLst/>
            </a:prstGeom>
            <a:solidFill>
              <a:schemeClr val="accent2"/>
            </a:solidFill>
            <a:ln w="12700" cap="flat" cmpd="sng">
              <a:solidFill>
                <a:srgbClr val="42719B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48" name="Google Shape;1948;p71"/>
            <p:cNvSpPr/>
            <p:nvPr/>
          </p:nvSpPr>
          <p:spPr>
            <a:xfrm>
              <a:off x="5410178" y="4584315"/>
              <a:ext cx="558800" cy="558800"/>
            </a:xfrm>
            <a:prstGeom prst="ellipse">
              <a:avLst/>
            </a:prstGeom>
            <a:solidFill>
              <a:schemeClr val="accent2"/>
            </a:solidFill>
            <a:ln w="12700" cap="flat" cmpd="sng">
              <a:solidFill>
                <a:srgbClr val="42719B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49" name="Google Shape;1949;p71"/>
            <p:cNvSpPr/>
            <p:nvPr/>
          </p:nvSpPr>
          <p:spPr>
            <a:xfrm>
              <a:off x="6942074" y="4584315"/>
              <a:ext cx="558800" cy="558800"/>
            </a:xfrm>
            <a:prstGeom prst="ellipse">
              <a:avLst/>
            </a:prstGeom>
            <a:solidFill>
              <a:schemeClr val="accent2"/>
            </a:solidFill>
            <a:ln w="12700" cap="flat" cmpd="sng">
              <a:solidFill>
                <a:srgbClr val="42719B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1950" name="Google Shape;1950;p71"/>
            <p:cNvCxnSpPr>
              <a:stCxn id="1941" idx="3"/>
              <a:endCxn id="1942" idx="7"/>
            </p:cNvCxnSpPr>
            <p:nvPr/>
          </p:nvCxnSpPr>
          <p:spPr>
            <a:xfrm flipH="1">
              <a:off x="3725748" y="3250342"/>
              <a:ext cx="1154400" cy="5241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1951" name="Google Shape;1951;p71"/>
            <p:cNvCxnSpPr>
              <a:stCxn id="1947" idx="1"/>
              <a:endCxn id="1941" idx="5"/>
            </p:cNvCxnSpPr>
            <p:nvPr/>
          </p:nvCxnSpPr>
          <p:spPr>
            <a:xfrm rot="10800000">
              <a:off x="5275270" y="3250206"/>
              <a:ext cx="971400" cy="5241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1952" name="Google Shape;1952;p71"/>
            <p:cNvCxnSpPr>
              <a:stCxn id="1949" idx="1"/>
              <a:endCxn id="1947" idx="5"/>
            </p:cNvCxnSpPr>
            <p:nvPr/>
          </p:nvCxnSpPr>
          <p:spPr>
            <a:xfrm rot="10800000">
              <a:off x="6641708" y="4169349"/>
              <a:ext cx="382200" cy="4968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1953" name="Google Shape;1953;p71"/>
            <p:cNvCxnSpPr>
              <a:stCxn id="1948" idx="7"/>
              <a:endCxn id="1947" idx="3"/>
            </p:cNvCxnSpPr>
            <p:nvPr/>
          </p:nvCxnSpPr>
          <p:spPr>
            <a:xfrm rot="10800000" flipH="1">
              <a:off x="5887144" y="4169349"/>
              <a:ext cx="359400" cy="4968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1954" name="Google Shape;1954;p71"/>
            <p:cNvCxnSpPr>
              <a:stCxn id="1942" idx="3"/>
              <a:endCxn id="1943" idx="7"/>
            </p:cNvCxnSpPr>
            <p:nvPr/>
          </p:nvCxnSpPr>
          <p:spPr>
            <a:xfrm flipH="1">
              <a:off x="2792848" y="4169438"/>
              <a:ext cx="537900" cy="4143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1955" name="Google Shape;1955;p71"/>
            <p:cNvCxnSpPr>
              <a:stCxn id="1942" idx="5"/>
              <a:endCxn id="1946" idx="1"/>
            </p:cNvCxnSpPr>
            <p:nvPr/>
          </p:nvCxnSpPr>
          <p:spPr>
            <a:xfrm>
              <a:off x="3725880" y="4169438"/>
              <a:ext cx="553800" cy="4695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1956" name="Google Shape;1956;p71"/>
            <p:cNvCxnSpPr>
              <a:stCxn id="1943" idx="3"/>
              <a:endCxn id="1944" idx="7"/>
            </p:cNvCxnSpPr>
            <p:nvPr/>
          </p:nvCxnSpPr>
          <p:spPr>
            <a:xfrm flipH="1">
              <a:off x="1962416" y="4978861"/>
              <a:ext cx="435300" cy="6576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</p:grpSp>
      <p:graphicFrame>
        <p:nvGraphicFramePr>
          <p:cNvPr id="1957" name="Google Shape;1957;p71"/>
          <p:cNvGraphicFramePr/>
          <p:nvPr/>
        </p:nvGraphicFramePr>
        <p:xfrm>
          <a:off x="6264108" y="5191177"/>
          <a:ext cx="3872700" cy="731540"/>
        </p:xfrm>
        <a:graphic>
          <a:graphicData uri="http://schemas.openxmlformats.org/drawingml/2006/table">
            <a:tbl>
              <a:tblPr firstRow="1" bandRow="1">
                <a:noFill/>
                <a:tableStyleId>{66088737-8E24-4614-AAA7-3D08145F63E1}</a:tableStyleId>
              </a:tblPr>
              <a:tblGrid>
                <a:gridCol w="430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03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03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303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303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303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303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303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4303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2914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1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2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3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4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5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6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7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8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9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14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958" name="Google Shape;1958;p71"/>
          <p:cNvSpPr/>
          <p:nvPr/>
        </p:nvSpPr>
        <p:spPr>
          <a:xfrm rot="5400000">
            <a:off x="6869867" y="3647184"/>
            <a:ext cx="499620" cy="292231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12700" cap="flat" cmpd="sng">
            <a:solidFill>
              <a:srgbClr val="AC5B23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9" name="Google Shape;1959;p71"/>
          <p:cNvSpPr/>
          <p:nvPr/>
        </p:nvSpPr>
        <p:spPr>
          <a:xfrm>
            <a:off x="597910" y="2883630"/>
            <a:ext cx="499620" cy="292231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accent2"/>
          </a:solidFill>
          <a:ln w="12700" cap="flat" cmpd="sng">
            <a:solidFill>
              <a:srgbClr val="AC5B23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4" name="Google Shape;1964;p72"/>
          <p:cNvSpPr txBox="1">
            <a:spLocks noGrp="1"/>
          </p:cNvSpPr>
          <p:nvPr>
            <p:ph type="body" idx="1"/>
          </p:nvPr>
        </p:nvSpPr>
        <p:spPr>
          <a:xfrm>
            <a:off x="838200" y="1227909"/>
            <a:ext cx="10515600" cy="49490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2095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2100"/>
              <a:buFont typeface="Arial"/>
              <a:buNone/>
            </a:pPr>
            <a:endParaRPr/>
          </a:p>
        </p:txBody>
      </p:sp>
      <p:sp>
        <p:nvSpPr>
          <p:cNvPr id="1965" name="Google Shape;1965;p72"/>
          <p:cNvSpPr txBox="1">
            <a:spLocks noGrp="1"/>
          </p:cNvSpPr>
          <p:nvPr>
            <p:ph type="dt" idx="10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E968B037-37CB-4C8D-A29D-717D0BA8A637}" type="datetime1">
              <a:rPr lang="en-US" smtClean="0"/>
              <a:t>1/12/2026</a:t>
            </a:fld>
            <a:endParaRPr/>
          </a:p>
        </p:txBody>
      </p:sp>
      <p:sp>
        <p:nvSpPr>
          <p:cNvPr id="1966" name="Google Shape;1966;p72"/>
          <p:cNvSpPr txBox="1">
            <a:spLocks noGrp="1"/>
          </p:cNvSpPr>
          <p:nvPr>
            <p:ph type="ftr" idx="11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Lec Asif Abrar, Dept of CSE, UIU</a:t>
            </a:r>
            <a:endParaRPr/>
          </a:p>
        </p:txBody>
      </p:sp>
      <p:sp>
        <p:nvSpPr>
          <p:cNvPr id="1967" name="Google Shape;1967;p72"/>
          <p:cNvSpPr txBox="1">
            <a:spLocks noGrp="1"/>
          </p:cNvSpPr>
          <p:nvPr>
            <p:ph type="sldNum" idx="12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58</a:t>
            </a:fld>
            <a:endParaRPr/>
          </a:p>
        </p:txBody>
      </p:sp>
      <p:sp>
        <p:nvSpPr>
          <p:cNvPr id="1968" name="Google Shape;1968;p72"/>
          <p:cNvSpPr txBox="1">
            <a:spLocks noGrp="1"/>
          </p:cNvSpPr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/>
              <a:t>Heap Sort</a:t>
            </a:r>
            <a:endParaRPr/>
          </a:p>
        </p:txBody>
      </p:sp>
      <p:pic>
        <p:nvPicPr>
          <p:cNvPr id="1969" name="Google Shape;1969;p7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46375" y="1227909"/>
            <a:ext cx="4287435" cy="206189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970" name="Google Shape;1970;p72"/>
          <p:cNvGrpSpPr/>
          <p:nvPr/>
        </p:nvGrpSpPr>
        <p:grpSpPr>
          <a:xfrm>
            <a:off x="6289881" y="2535751"/>
            <a:ext cx="3032569" cy="2114727"/>
            <a:chOff x="1485587" y="2773376"/>
            <a:chExt cx="6015287" cy="3934531"/>
          </a:xfrm>
        </p:grpSpPr>
        <p:sp>
          <p:nvSpPr>
            <p:cNvPr id="1971" name="Google Shape;1971;p72"/>
            <p:cNvSpPr/>
            <p:nvPr/>
          </p:nvSpPr>
          <p:spPr>
            <a:xfrm>
              <a:off x="4798314" y="2773376"/>
              <a:ext cx="558800" cy="558800"/>
            </a:xfrm>
            <a:prstGeom prst="ellipse">
              <a:avLst/>
            </a:prstGeom>
            <a:solidFill>
              <a:schemeClr val="accent2"/>
            </a:solidFill>
            <a:ln w="12700" cap="flat" cmpd="sng">
              <a:solidFill>
                <a:srgbClr val="42719B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72" name="Google Shape;1972;p72"/>
            <p:cNvSpPr/>
            <p:nvPr/>
          </p:nvSpPr>
          <p:spPr>
            <a:xfrm>
              <a:off x="3248914" y="3692472"/>
              <a:ext cx="558800" cy="558800"/>
            </a:xfrm>
            <a:prstGeom prst="ellipse">
              <a:avLst/>
            </a:prstGeom>
            <a:solidFill>
              <a:schemeClr val="accent2"/>
            </a:solidFill>
            <a:ln w="12700" cap="flat" cmpd="sng">
              <a:solidFill>
                <a:srgbClr val="42719B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73" name="Google Shape;1973;p72"/>
            <p:cNvSpPr/>
            <p:nvPr/>
          </p:nvSpPr>
          <p:spPr>
            <a:xfrm>
              <a:off x="2315882" y="4501895"/>
              <a:ext cx="558800" cy="558800"/>
            </a:xfrm>
            <a:prstGeom prst="ellipse">
              <a:avLst/>
            </a:prstGeom>
            <a:solidFill>
              <a:schemeClr val="accent2"/>
            </a:solidFill>
            <a:ln w="12700" cap="flat" cmpd="sng">
              <a:solidFill>
                <a:srgbClr val="42719B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74" name="Google Shape;1974;p72"/>
            <p:cNvSpPr/>
            <p:nvPr/>
          </p:nvSpPr>
          <p:spPr>
            <a:xfrm>
              <a:off x="1485587" y="5554658"/>
              <a:ext cx="558800" cy="558800"/>
            </a:xfrm>
            <a:prstGeom prst="ellipse">
              <a:avLst/>
            </a:prstGeom>
            <a:solidFill>
              <a:schemeClr val="accent1"/>
            </a:solidFill>
            <a:ln w="12700" cap="flat" cmpd="sng">
              <a:solidFill>
                <a:srgbClr val="42719B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75" name="Google Shape;1975;p72"/>
            <p:cNvSpPr/>
            <p:nvPr/>
          </p:nvSpPr>
          <p:spPr>
            <a:xfrm>
              <a:off x="6088876" y="6149107"/>
              <a:ext cx="558799" cy="558800"/>
            </a:xfrm>
            <a:prstGeom prst="ellipse">
              <a:avLst/>
            </a:prstGeom>
            <a:solidFill>
              <a:schemeClr val="accent2"/>
            </a:solidFill>
            <a:ln w="12700" cap="flat" cmpd="sng">
              <a:solidFill>
                <a:srgbClr val="42719B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76" name="Google Shape;1976;p72"/>
            <p:cNvSpPr/>
            <p:nvPr/>
          </p:nvSpPr>
          <p:spPr>
            <a:xfrm>
              <a:off x="4197746" y="4557225"/>
              <a:ext cx="558800" cy="558800"/>
            </a:xfrm>
            <a:prstGeom prst="ellipse">
              <a:avLst/>
            </a:prstGeom>
            <a:solidFill>
              <a:schemeClr val="accent2"/>
            </a:solidFill>
            <a:ln w="12700" cap="flat" cmpd="sng">
              <a:solidFill>
                <a:srgbClr val="42719B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77" name="Google Shape;1977;p72"/>
            <p:cNvSpPr/>
            <p:nvPr/>
          </p:nvSpPr>
          <p:spPr>
            <a:xfrm>
              <a:off x="6164836" y="3692472"/>
              <a:ext cx="558800" cy="558800"/>
            </a:xfrm>
            <a:prstGeom prst="ellipse">
              <a:avLst/>
            </a:prstGeom>
            <a:solidFill>
              <a:schemeClr val="accent2"/>
            </a:solidFill>
            <a:ln w="12700" cap="flat" cmpd="sng">
              <a:solidFill>
                <a:srgbClr val="42719B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78" name="Google Shape;1978;p72"/>
            <p:cNvSpPr/>
            <p:nvPr/>
          </p:nvSpPr>
          <p:spPr>
            <a:xfrm>
              <a:off x="5410178" y="4584315"/>
              <a:ext cx="558800" cy="558800"/>
            </a:xfrm>
            <a:prstGeom prst="ellipse">
              <a:avLst/>
            </a:prstGeom>
            <a:solidFill>
              <a:schemeClr val="accent2"/>
            </a:solidFill>
            <a:ln w="12700" cap="flat" cmpd="sng">
              <a:solidFill>
                <a:srgbClr val="42719B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79" name="Google Shape;1979;p72"/>
            <p:cNvSpPr/>
            <p:nvPr/>
          </p:nvSpPr>
          <p:spPr>
            <a:xfrm>
              <a:off x="6942074" y="4584315"/>
              <a:ext cx="558800" cy="558800"/>
            </a:xfrm>
            <a:prstGeom prst="ellipse">
              <a:avLst/>
            </a:prstGeom>
            <a:solidFill>
              <a:schemeClr val="accent2"/>
            </a:solidFill>
            <a:ln w="12700" cap="flat" cmpd="sng">
              <a:solidFill>
                <a:srgbClr val="42719B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1980" name="Google Shape;1980;p72"/>
            <p:cNvCxnSpPr>
              <a:stCxn id="1971" idx="3"/>
              <a:endCxn id="1972" idx="7"/>
            </p:cNvCxnSpPr>
            <p:nvPr/>
          </p:nvCxnSpPr>
          <p:spPr>
            <a:xfrm flipH="1">
              <a:off x="3725748" y="3250342"/>
              <a:ext cx="1154400" cy="5241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1981" name="Google Shape;1981;p72"/>
            <p:cNvCxnSpPr>
              <a:stCxn id="1977" idx="1"/>
              <a:endCxn id="1971" idx="5"/>
            </p:cNvCxnSpPr>
            <p:nvPr/>
          </p:nvCxnSpPr>
          <p:spPr>
            <a:xfrm rot="10800000">
              <a:off x="5275270" y="3250206"/>
              <a:ext cx="971400" cy="5241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1982" name="Google Shape;1982;p72"/>
            <p:cNvCxnSpPr>
              <a:stCxn id="1979" idx="1"/>
              <a:endCxn id="1977" idx="5"/>
            </p:cNvCxnSpPr>
            <p:nvPr/>
          </p:nvCxnSpPr>
          <p:spPr>
            <a:xfrm rot="10800000">
              <a:off x="6641708" y="4169349"/>
              <a:ext cx="382200" cy="4968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1983" name="Google Shape;1983;p72"/>
            <p:cNvCxnSpPr>
              <a:stCxn id="1978" idx="7"/>
              <a:endCxn id="1977" idx="3"/>
            </p:cNvCxnSpPr>
            <p:nvPr/>
          </p:nvCxnSpPr>
          <p:spPr>
            <a:xfrm rot="10800000" flipH="1">
              <a:off x="5887144" y="4169349"/>
              <a:ext cx="359400" cy="4968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1984" name="Google Shape;1984;p72"/>
            <p:cNvCxnSpPr>
              <a:stCxn id="1972" idx="3"/>
              <a:endCxn id="1973" idx="7"/>
            </p:cNvCxnSpPr>
            <p:nvPr/>
          </p:nvCxnSpPr>
          <p:spPr>
            <a:xfrm flipH="1">
              <a:off x="2792848" y="4169438"/>
              <a:ext cx="537900" cy="4143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1985" name="Google Shape;1985;p72"/>
            <p:cNvCxnSpPr>
              <a:stCxn id="1972" idx="5"/>
              <a:endCxn id="1976" idx="1"/>
            </p:cNvCxnSpPr>
            <p:nvPr/>
          </p:nvCxnSpPr>
          <p:spPr>
            <a:xfrm>
              <a:off x="3725880" y="4169438"/>
              <a:ext cx="553800" cy="4695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1986" name="Google Shape;1986;p72"/>
            <p:cNvCxnSpPr>
              <a:stCxn id="1973" idx="3"/>
              <a:endCxn id="1974" idx="7"/>
            </p:cNvCxnSpPr>
            <p:nvPr/>
          </p:nvCxnSpPr>
          <p:spPr>
            <a:xfrm flipH="1">
              <a:off x="1962416" y="4978861"/>
              <a:ext cx="435300" cy="6576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</p:grpSp>
      <p:graphicFrame>
        <p:nvGraphicFramePr>
          <p:cNvPr id="1987" name="Google Shape;1987;p72"/>
          <p:cNvGraphicFramePr/>
          <p:nvPr/>
        </p:nvGraphicFramePr>
        <p:xfrm>
          <a:off x="6264108" y="5191177"/>
          <a:ext cx="3872700" cy="731540"/>
        </p:xfrm>
        <a:graphic>
          <a:graphicData uri="http://schemas.openxmlformats.org/drawingml/2006/table">
            <a:tbl>
              <a:tblPr firstRow="1" bandRow="1">
                <a:noFill/>
                <a:tableStyleId>{66088737-8E24-4614-AAA7-3D08145F63E1}</a:tableStyleId>
              </a:tblPr>
              <a:tblGrid>
                <a:gridCol w="430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03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03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303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303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303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303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303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4303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2914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1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2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3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4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5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6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7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8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9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14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988" name="Google Shape;1988;p72"/>
          <p:cNvSpPr/>
          <p:nvPr/>
        </p:nvSpPr>
        <p:spPr>
          <a:xfrm rot="5400000">
            <a:off x="6087445" y="3636625"/>
            <a:ext cx="499620" cy="292231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12700" cap="flat" cmpd="sng">
            <a:solidFill>
              <a:srgbClr val="AC5B23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3" name="Google Shape;1993;p73"/>
          <p:cNvSpPr txBox="1">
            <a:spLocks noGrp="1"/>
          </p:cNvSpPr>
          <p:nvPr>
            <p:ph type="body" idx="1"/>
          </p:nvPr>
        </p:nvSpPr>
        <p:spPr>
          <a:xfrm>
            <a:off x="838200" y="1227909"/>
            <a:ext cx="10515600" cy="49490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2095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2100"/>
              <a:buFont typeface="Arial"/>
              <a:buNone/>
            </a:pPr>
            <a:endParaRPr/>
          </a:p>
        </p:txBody>
      </p:sp>
      <p:sp>
        <p:nvSpPr>
          <p:cNvPr id="1994" name="Google Shape;1994;p73"/>
          <p:cNvSpPr txBox="1">
            <a:spLocks noGrp="1"/>
          </p:cNvSpPr>
          <p:nvPr>
            <p:ph type="dt" idx="10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F00FDDE8-830F-4FBF-83F5-955642E518A7}" type="datetime1">
              <a:rPr lang="en-US" smtClean="0"/>
              <a:t>1/12/2026</a:t>
            </a:fld>
            <a:endParaRPr/>
          </a:p>
        </p:txBody>
      </p:sp>
      <p:sp>
        <p:nvSpPr>
          <p:cNvPr id="1995" name="Google Shape;1995;p73"/>
          <p:cNvSpPr txBox="1">
            <a:spLocks noGrp="1"/>
          </p:cNvSpPr>
          <p:nvPr>
            <p:ph type="ftr" idx="11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Lec Asif Abrar, Dept of CSE, UIU</a:t>
            </a:r>
            <a:endParaRPr/>
          </a:p>
        </p:txBody>
      </p:sp>
      <p:sp>
        <p:nvSpPr>
          <p:cNvPr id="1996" name="Google Shape;1996;p73"/>
          <p:cNvSpPr txBox="1">
            <a:spLocks noGrp="1"/>
          </p:cNvSpPr>
          <p:nvPr>
            <p:ph type="sldNum" idx="12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59</a:t>
            </a:fld>
            <a:endParaRPr/>
          </a:p>
        </p:txBody>
      </p:sp>
      <p:sp>
        <p:nvSpPr>
          <p:cNvPr id="1997" name="Google Shape;1997;p73"/>
          <p:cNvSpPr txBox="1">
            <a:spLocks noGrp="1"/>
          </p:cNvSpPr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/>
              <a:t>Heap Sort</a:t>
            </a:r>
            <a:endParaRPr/>
          </a:p>
        </p:txBody>
      </p:sp>
      <p:pic>
        <p:nvPicPr>
          <p:cNvPr id="1998" name="Google Shape;1998;p7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46375" y="1227909"/>
            <a:ext cx="4287435" cy="206189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999" name="Google Shape;1999;p73"/>
          <p:cNvGrpSpPr/>
          <p:nvPr/>
        </p:nvGrpSpPr>
        <p:grpSpPr>
          <a:xfrm>
            <a:off x="6289881" y="2535751"/>
            <a:ext cx="3032569" cy="2114727"/>
            <a:chOff x="1485587" y="2773376"/>
            <a:chExt cx="6015287" cy="3934531"/>
          </a:xfrm>
        </p:grpSpPr>
        <p:sp>
          <p:nvSpPr>
            <p:cNvPr id="2000" name="Google Shape;2000;p73"/>
            <p:cNvSpPr/>
            <p:nvPr/>
          </p:nvSpPr>
          <p:spPr>
            <a:xfrm>
              <a:off x="4798314" y="2773376"/>
              <a:ext cx="558800" cy="558800"/>
            </a:xfrm>
            <a:prstGeom prst="ellipse">
              <a:avLst/>
            </a:prstGeom>
            <a:solidFill>
              <a:schemeClr val="accent2"/>
            </a:solidFill>
            <a:ln w="12700" cap="flat" cmpd="sng">
              <a:solidFill>
                <a:srgbClr val="42719B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01" name="Google Shape;2001;p73"/>
            <p:cNvSpPr/>
            <p:nvPr/>
          </p:nvSpPr>
          <p:spPr>
            <a:xfrm>
              <a:off x="3248914" y="3692472"/>
              <a:ext cx="558800" cy="558800"/>
            </a:xfrm>
            <a:prstGeom prst="ellipse">
              <a:avLst/>
            </a:prstGeom>
            <a:solidFill>
              <a:schemeClr val="accent2"/>
            </a:solidFill>
            <a:ln w="12700" cap="flat" cmpd="sng">
              <a:solidFill>
                <a:srgbClr val="42719B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02" name="Google Shape;2002;p73"/>
            <p:cNvSpPr/>
            <p:nvPr/>
          </p:nvSpPr>
          <p:spPr>
            <a:xfrm>
              <a:off x="2315882" y="4501895"/>
              <a:ext cx="558800" cy="558800"/>
            </a:xfrm>
            <a:prstGeom prst="ellipse">
              <a:avLst/>
            </a:prstGeom>
            <a:solidFill>
              <a:schemeClr val="accent2"/>
            </a:solidFill>
            <a:ln w="12700" cap="flat" cmpd="sng">
              <a:solidFill>
                <a:srgbClr val="42719B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03" name="Google Shape;2003;p73"/>
            <p:cNvSpPr/>
            <p:nvPr/>
          </p:nvSpPr>
          <p:spPr>
            <a:xfrm>
              <a:off x="1485587" y="5554658"/>
              <a:ext cx="558800" cy="558800"/>
            </a:xfrm>
            <a:prstGeom prst="ellipse">
              <a:avLst/>
            </a:prstGeom>
            <a:solidFill>
              <a:schemeClr val="accent1"/>
            </a:solidFill>
            <a:ln w="12700" cap="flat" cmpd="sng">
              <a:solidFill>
                <a:srgbClr val="42719B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04" name="Google Shape;2004;p73"/>
            <p:cNvSpPr/>
            <p:nvPr/>
          </p:nvSpPr>
          <p:spPr>
            <a:xfrm>
              <a:off x="6088876" y="6149107"/>
              <a:ext cx="558799" cy="558800"/>
            </a:xfrm>
            <a:prstGeom prst="ellipse">
              <a:avLst/>
            </a:prstGeom>
            <a:solidFill>
              <a:schemeClr val="accent2"/>
            </a:solidFill>
            <a:ln w="12700" cap="flat" cmpd="sng">
              <a:solidFill>
                <a:srgbClr val="42719B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05" name="Google Shape;2005;p73"/>
            <p:cNvSpPr/>
            <p:nvPr/>
          </p:nvSpPr>
          <p:spPr>
            <a:xfrm>
              <a:off x="4197746" y="4557225"/>
              <a:ext cx="558800" cy="558800"/>
            </a:xfrm>
            <a:prstGeom prst="ellipse">
              <a:avLst/>
            </a:prstGeom>
            <a:solidFill>
              <a:schemeClr val="accent2"/>
            </a:solidFill>
            <a:ln w="12700" cap="flat" cmpd="sng">
              <a:solidFill>
                <a:srgbClr val="42719B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06" name="Google Shape;2006;p73"/>
            <p:cNvSpPr/>
            <p:nvPr/>
          </p:nvSpPr>
          <p:spPr>
            <a:xfrm>
              <a:off x="6164836" y="3692472"/>
              <a:ext cx="558800" cy="558800"/>
            </a:xfrm>
            <a:prstGeom prst="ellipse">
              <a:avLst/>
            </a:prstGeom>
            <a:solidFill>
              <a:schemeClr val="accent2"/>
            </a:solidFill>
            <a:ln w="12700" cap="flat" cmpd="sng">
              <a:solidFill>
                <a:srgbClr val="42719B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07" name="Google Shape;2007;p73"/>
            <p:cNvSpPr/>
            <p:nvPr/>
          </p:nvSpPr>
          <p:spPr>
            <a:xfrm>
              <a:off x="5410178" y="4584315"/>
              <a:ext cx="558800" cy="558800"/>
            </a:xfrm>
            <a:prstGeom prst="ellipse">
              <a:avLst/>
            </a:prstGeom>
            <a:solidFill>
              <a:schemeClr val="accent2"/>
            </a:solidFill>
            <a:ln w="12700" cap="flat" cmpd="sng">
              <a:solidFill>
                <a:srgbClr val="42719B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08" name="Google Shape;2008;p73"/>
            <p:cNvSpPr/>
            <p:nvPr/>
          </p:nvSpPr>
          <p:spPr>
            <a:xfrm>
              <a:off x="6942074" y="4584315"/>
              <a:ext cx="558800" cy="558800"/>
            </a:xfrm>
            <a:prstGeom prst="ellipse">
              <a:avLst/>
            </a:prstGeom>
            <a:solidFill>
              <a:schemeClr val="accent2"/>
            </a:solidFill>
            <a:ln w="12700" cap="flat" cmpd="sng">
              <a:solidFill>
                <a:srgbClr val="42719B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2009" name="Google Shape;2009;p73"/>
            <p:cNvCxnSpPr>
              <a:stCxn id="2000" idx="3"/>
              <a:endCxn id="2001" idx="7"/>
            </p:cNvCxnSpPr>
            <p:nvPr/>
          </p:nvCxnSpPr>
          <p:spPr>
            <a:xfrm flipH="1">
              <a:off x="3725748" y="3250342"/>
              <a:ext cx="1154400" cy="5241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2010" name="Google Shape;2010;p73"/>
            <p:cNvCxnSpPr>
              <a:stCxn id="2006" idx="1"/>
              <a:endCxn id="2000" idx="5"/>
            </p:cNvCxnSpPr>
            <p:nvPr/>
          </p:nvCxnSpPr>
          <p:spPr>
            <a:xfrm rot="10800000">
              <a:off x="5275270" y="3250206"/>
              <a:ext cx="971400" cy="5241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2011" name="Google Shape;2011;p73"/>
            <p:cNvCxnSpPr>
              <a:stCxn id="2008" idx="1"/>
              <a:endCxn id="2006" idx="5"/>
            </p:cNvCxnSpPr>
            <p:nvPr/>
          </p:nvCxnSpPr>
          <p:spPr>
            <a:xfrm rot="10800000">
              <a:off x="6641708" y="4169349"/>
              <a:ext cx="382200" cy="4968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2012" name="Google Shape;2012;p73"/>
            <p:cNvCxnSpPr>
              <a:stCxn id="2007" idx="7"/>
              <a:endCxn id="2006" idx="3"/>
            </p:cNvCxnSpPr>
            <p:nvPr/>
          </p:nvCxnSpPr>
          <p:spPr>
            <a:xfrm rot="10800000" flipH="1">
              <a:off x="5887144" y="4169349"/>
              <a:ext cx="359400" cy="4968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2013" name="Google Shape;2013;p73"/>
            <p:cNvCxnSpPr>
              <a:stCxn id="2001" idx="3"/>
              <a:endCxn id="2002" idx="7"/>
            </p:cNvCxnSpPr>
            <p:nvPr/>
          </p:nvCxnSpPr>
          <p:spPr>
            <a:xfrm flipH="1">
              <a:off x="2792848" y="4169438"/>
              <a:ext cx="537900" cy="4143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2014" name="Google Shape;2014;p73"/>
            <p:cNvCxnSpPr>
              <a:stCxn id="2001" idx="5"/>
              <a:endCxn id="2005" idx="1"/>
            </p:cNvCxnSpPr>
            <p:nvPr/>
          </p:nvCxnSpPr>
          <p:spPr>
            <a:xfrm>
              <a:off x="3725880" y="4169438"/>
              <a:ext cx="553800" cy="4695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2015" name="Google Shape;2015;p73"/>
            <p:cNvCxnSpPr>
              <a:stCxn id="2002" idx="3"/>
              <a:endCxn id="2003" idx="7"/>
            </p:cNvCxnSpPr>
            <p:nvPr/>
          </p:nvCxnSpPr>
          <p:spPr>
            <a:xfrm flipH="1">
              <a:off x="1962416" y="4978861"/>
              <a:ext cx="435300" cy="6576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</p:grpSp>
      <p:graphicFrame>
        <p:nvGraphicFramePr>
          <p:cNvPr id="2016" name="Google Shape;2016;p73"/>
          <p:cNvGraphicFramePr/>
          <p:nvPr/>
        </p:nvGraphicFramePr>
        <p:xfrm>
          <a:off x="6264108" y="5191177"/>
          <a:ext cx="3872700" cy="731540"/>
        </p:xfrm>
        <a:graphic>
          <a:graphicData uri="http://schemas.openxmlformats.org/drawingml/2006/table">
            <a:tbl>
              <a:tblPr firstRow="1" bandRow="1">
                <a:noFill/>
                <a:tableStyleId>{66088737-8E24-4614-AAA7-3D08145F63E1}</a:tableStyleId>
              </a:tblPr>
              <a:tblGrid>
                <a:gridCol w="430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03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03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303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303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303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303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303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4303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2914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1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2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3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4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5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6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7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8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9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14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2017" name="Google Shape;2017;p73"/>
          <p:cNvSpPr/>
          <p:nvPr/>
        </p:nvSpPr>
        <p:spPr>
          <a:xfrm rot="5400000">
            <a:off x="6087445" y="3636625"/>
            <a:ext cx="499620" cy="292231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12700" cap="flat" cmpd="sng">
            <a:solidFill>
              <a:srgbClr val="AC5B23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2" name="Google Shape;2022;p74"/>
          <p:cNvSpPr txBox="1">
            <a:spLocks noGrp="1"/>
          </p:cNvSpPr>
          <p:nvPr>
            <p:ph type="body" idx="1"/>
          </p:nvPr>
        </p:nvSpPr>
        <p:spPr>
          <a:xfrm>
            <a:off x="838200" y="1227909"/>
            <a:ext cx="10515600" cy="49490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2095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2100"/>
              <a:buFont typeface="Arial"/>
              <a:buNone/>
            </a:pPr>
            <a:endParaRPr/>
          </a:p>
        </p:txBody>
      </p:sp>
      <p:sp>
        <p:nvSpPr>
          <p:cNvPr id="2023" name="Google Shape;2023;p74"/>
          <p:cNvSpPr txBox="1">
            <a:spLocks noGrp="1"/>
          </p:cNvSpPr>
          <p:nvPr>
            <p:ph type="dt" idx="10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BAF6BD04-AE85-4D45-A897-3D095AB7DDDC}" type="datetime1">
              <a:rPr lang="en-US" smtClean="0"/>
              <a:t>1/12/2026</a:t>
            </a:fld>
            <a:endParaRPr/>
          </a:p>
        </p:txBody>
      </p:sp>
      <p:sp>
        <p:nvSpPr>
          <p:cNvPr id="2024" name="Google Shape;2024;p74"/>
          <p:cNvSpPr txBox="1">
            <a:spLocks noGrp="1"/>
          </p:cNvSpPr>
          <p:nvPr>
            <p:ph type="ftr" idx="11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Lec Asif Abrar, Dept of CSE, UIU</a:t>
            </a:r>
            <a:endParaRPr/>
          </a:p>
        </p:txBody>
      </p:sp>
      <p:sp>
        <p:nvSpPr>
          <p:cNvPr id="2025" name="Google Shape;2025;p74"/>
          <p:cNvSpPr txBox="1">
            <a:spLocks noGrp="1"/>
          </p:cNvSpPr>
          <p:nvPr>
            <p:ph type="sldNum" idx="12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60</a:t>
            </a:fld>
            <a:endParaRPr/>
          </a:p>
        </p:txBody>
      </p:sp>
      <p:sp>
        <p:nvSpPr>
          <p:cNvPr id="2026" name="Google Shape;2026;p74"/>
          <p:cNvSpPr txBox="1">
            <a:spLocks noGrp="1"/>
          </p:cNvSpPr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/>
              <a:t>Heap Sort</a:t>
            </a:r>
            <a:endParaRPr/>
          </a:p>
        </p:txBody>
      </p:sp>
      <p:pic>
        <p:nvPicPr>
          <p:cNvPr id="2027" name="Google Shape;2027;p7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46375" y="1227909"/>
            <a:ext cx="4287435" cy="206189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028" name="Google Shape;2028;p74"/>
          <p:cNvGrpSpPr/>
          <p:nvPr/>
        </p:nvGrpSpPr>
        <p:grpSpPr>
          <a:xfrm>
            <a:off x="6289881" y="2535751"/>
            <a:ext cx="3032569" cy="2114727"/>
            <a:chOff x="1485587" y="2773376"/>
            <a:chExt cx="6015287" cy="3934531"/>
          </a:xfrm>
        </p:grpSpPr>
        <p:sp>
          <p:nvSpPr>
            <p:cNvPr id="2029" name="Google Shape;2029;p74"/>
            <p:cNvSpPr/>
            <p:nvPr/>
          </p:nvSpPr>
          <p:spPr>
            <a:xfrm>
              <a:off x="4798314" y="2773376"/>
              <a:ext cx="558800" cy="558800"/>
            </a:xfrm>
            <a:prstGeom prst="ellipse">
              <a:avLst/>
            </a:prstGeom>
            <a:solidFill>
              <a:schemeClr val="accent1"/>
            </a:solidFill>
            <a:ln w="12700" cap="flat" cmpd="sng">
              <a:solidFill>
                <a:srgbClr val="42719B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30" name="Google Shape;2030;p74"/>
            <p:cNvSpPr/>
            <p:nvPr/>
          </p:nvSpPr>
          <p:spPr>
            <a:xfrm>
              <a:off x="3248914" y="3692472"/>
              <a:ext cx="558800" cy="558800"/>
            </a:xfrm>
            <a:prstGeom prst="ellipse">
              <a:avLst/>
            </a:prstGeom>
            <a:solidFill>
              <a:schemeClr val="accent2"/>
            </a:solidFill>
            <a:ln w="12700" cap="flat" cmpd="sng">
              <a:solidFill>
                <a:srgbClr val="42719B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31" name="Google Shape;2031;p74"/>
            <p:cNvSpPr/>
            <p:nvPr/>
          </p:nvSpPr>
          <p:spPr>
            <a:xfrm>
              <a:off x="2315882" y="4501895"/>
              <a:ext cx="558800" cy="558800"/>
            </a:xfrm>
            <a:prstGeom prst="ellipse">
              <a:avLst/>
            </a:prstGeom>
            <a:solidFill>
              <a:schemeClr val="accent2"/>
            </a:solidFill>
            <a:ln w="12700" cap="flat" cmpd="sng">
              <a:solidFill>
                <a:srgbClr val="42719B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32" name="Google Shape;2032;p74"/>
            <p:cNvSpPr/>
            <p:nvPr/>
          </p:nvSpPr>
          <p:spPr>
            <a:xfrm>
              <a:off x="1485587" y="5554658"/>
              <a:ext cx="558800" cy="558800"/>
            </a:xfrm>
            <a:prstGeom prst="ellipse">
              <a:avLst/>
            </a:prstGeom>
            <a:solidFill>
              <a:schemeClr val="accent2"/>
            </a:solidFill>
            <a:ln w="12700" cap="flat" cmpd="sng">
              <a:solidFill>
                <a:srgbClr val="42719B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33" name="Google Shape;2033;p74"/>
            <p:cNvSpPr/>
            <p:nvPr/>
          </p:nvSpPr>
          <p:spPr>
            <a:xfrm>
              <a:off x="6088876" y="6149107"/>
              <a:ext cx="558799" cy="558800"/>
            </a:xfrm>
            <a:prstGeom prst="ellipse">
              <a:avLst/>
            </a:prstGeom>
            <a:solidFill>
              <a:schemeClr val="accent2"/>
            </a:solidFill>
            <a:ln w="12700" cap="flat" cmpd="sng">
              <a:solidFill>
                <a:srgbClr val="42719B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34" name="Google Shape;2034;p74"/>
            <p:cNvSpPr/>
            <p:nvPr/>
          </p:nvSpPr>
          <p:spPr>
            <a:xfrm>
              <a:off x="4197746" y="4557225"/>
              <a:ext cx="558800" cy="558800"/>
            </a:xfrm>
            <a:prstGeom prst="ellipse">
              <a:avLst/>
            </a:prstGeom>
            <a:solidFill>
              <a:schemeClr val="accent2"/>
            </a:solidFill>
            <a:ln w="12700" cap="flat" cmpd="sng">
              <a:solidFill>
                <a:srgbClr val="42719B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35" name="Google Shape;2035;p74"/>
            <p:cNvSpPr/>
            <p:nvPr/>
          </p:nvSpPr>
          <p:spPr>
            <a:xfrm>
              <a:off x="6164836" y="3692472"/>
              <a:ext cx="558800" cy="558800"/>
            </a:xfrm>
            <a:prstGeom prst="ellipse">
              <a:avLst/>
            </a:prstGeom>
            <a:solidFill>
              <a:schemeClr val="accent2"/>
            </a:solidFill>
            <a:ln w="12700" cap="flat" cmpd="sng">
              <a:solidFill>
                <a:srgbClr val="42719B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36" name="Google Shape;2036;p74"/>
            <p:cNvSpPr/>
            <p:nvPr/>
          </p:nvSpPr>
          <p:spPr>
            <a:xfrm>
              <a:off x="5410178" y="4584315"/>
              <a:ext cx="558800" cy="558800"/>
            </a:xfrm>
            <a:prstGeom prst="ellipse">
              <a:avLst/>
            </a:prstGeom>
            <a:solidFill>
              <a:schemeClr val="accent2"/>
            </a:solidFill>
            <a:ln w="12700" cap="flat" cmpd="sng">
              <a:solidFill>
                <a:srgbClr val="42719B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37" name="Google Shape;2037;p74"/>
            <p:cNvSpPr/>
            <p:nvPr/>
          </p:nvSpPr>
          <p:spPr>
            <a:xfrm>
              <a:off x="6942074" y="4584315"/>
              <a:ext cx="558800" cy="558800"/>
            </a:xfrm>
            <a:prstGeom prst="ellipse">
              <a:avLst/>
            </a:prstGeom>
            <a:solidFill>
              <a:schemeClr val="accent2"/>
            </a:solidFill>
            <a:ln w="12700" cap="flat" cmpd="sng">
              <a:solidFill>
                <a:srgbClr val="42719B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2038" name="Google Shape;2038;p74"/>
            <p:cNvCxnSpPr>
              <a:stCxn id="2029" idx="3"/>
              <a:endCxn id="2030" idx="7"/>
            </p:cNvCxnSpPr>
            <p:nvPr/>
          </p:nvCxnSpPr>
          <p:spPr>
            <a:xfrm flipH="1">
              <a:off x="3725748" y="3250342"/>
              <a:ext cx="1154400" cy="5241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2039" name="Google Shape;2039;p74"/>
            <p:cNvCxnSpPr>
              <a:stCxn id="2035" idx="1"/>
              <a:endCxn id="2029" idx="5"/>
            </p:cNvCxnSpPr>
            <p:nvPr/>
          </p:nvCxnSpPr>
          <p:spPr>
            <a:xfrm rot="10800000">
              <a:off x="5275270" y="3250206"/>
              <a:ext cx="971400" cy="5241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2040" name="Google Shape;2040;p74"/>
            <p:cNvCxnSpPr>
              <a:stCxn id="2037" idx="1"/>
              <a:endCxn id="2035" idx="5"/>
            </p:cNvCxnSpPr>
            <p:nvPr/>
          </p:nvCxnSpPr>
          <p:spPr>
            <a:xfrm rot="10800000">
              <a:off x="6641708" y="4169349"/>
              <a:ext cx="382200" cy="4968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2041" name="Google Shape;2041;p74"/>
            <p:cNvCxnSpPr>
              <a:stCxn id="2036" idx="7"/>
              <a:endCxn id="2035" idx="3"/>
            </p:cNvCxnSpPr>
            <p:nvPr/>
          </p:nvCxnSpPr>
          <p:spPr>
            <a:xfrm rot="10800000" flipH="1">
              <a:off x="5887144" y="4169349"/>
              <a:ext cx="359400" cy="4968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2042" name="Google Shape;2042;p74"/>
            <p:cNvCxnSpPr>
              <a:stCxn id="2030" idx="3"/>
              <a:endCxn id="2031" idx="7"/>
            </p:cNvCxnSpPr>
            <p:nvPr/>
          </p:nvCxnSpPr>
          <p:spPr>
            <a:xfrm flipH="1">
              <a:off x="2792848" y="4169438"/>
              <a:ext cx="537900" cy="4143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2043" name="Google Shape;2043;p74"/>
            <p:cNvCxnSpPr>
              <a:stCxn id="2030" idx="5"/>
              <a:endCxn id="2034" idx="1"/>
            </p:cNvCxnSpPr>
            <p:nvPr/>
          </p:nvCxnSpPr>
          <p:spPr>
            <a:xfrm>
              <a:off x="3725880" y="4169438"/>
              <a:ext cx="553800" cy="4695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2044" name="Google Shape;2044;p74"/>
            <p:cNvCxnSpPr>
              <a:stCxn id="2031" idx="3"/>
              <a:endCxn id="2032" idx="7"/>
            </p:cNvCxnSpPr>
            <p:nvPr/>
          </p:nvCxnSpPr>
          <p:spPr>
            <a:xfrm flipH="1">
              <a:off x="1962416" y="4978861"/>
              <a:ext cx="435300" cy="6576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</p:grpSp>
      <p:graphicFrame>
        <p:nvGraphicFramePr>
          <p:cNvPr id="2045" name="Google Shape;2045;p74"/>
          <p:cNvGraphicFramePr/>
          <p:nvPr/>
        </p:nvGraphicFramePr>
        <p:xfrm>
          <a:off x="6264108" y="5191177"/>
          <a:ext cx="3872700" cy="731540"/>
        </p:xfrm>
        <a:graphic>
          <a:graphicData uri="http://schemas.openxmlformats.org/drawingml/2006/table">
            <a:tbl>
              <a:tblPr firstRow="1" bandRow="1">
                <a:noFill/>
                <a:tableStyleId>{66088737-8E24-4614-AAA7-3D08145F63E1}</a:tableStyleId>
              </a:tblPr>
              <a:tblGrid>
                <a:gridCol w="430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03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03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303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303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303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303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303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4303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2914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1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2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3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4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5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6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7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8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9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14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2046" name="Google Shape;2046;p74"/>
          <p:cNvSpPr/>
          <p:nvPr/>
        </p:nvSpPr>
        <p:spPr>
          <a:xfrm rot="5400000">
            <a:off x="6087445" y="3636625"/>
            <a:ext cx="499620" cy="292231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12700" cap="flat" cmpd="sng">
            <a:solidFill>
              <a:srgbClr val="AC5B23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Google Shape;2051;p75"/>
          <p:cNvSpPr txBox="1">
            <a:spLocks noGrp="1"/>
          </p:cNvSpPr>
          <p:nvPr>
            <p:ph type="body" idx="1"/>
          </p:nvPr>
        </p:nvSpPr>
        <p:spPr>
          <a:xfrm>
            <a:off x="838200" y="1227909"/>
            <a:ext cx="10515600" cy="49490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2095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2100"/>
              <a:buFont typeface="Arial"/>
              <a:buNone/>
            </a:pPr>
            <a:endParaRPr/>
          </a:p>
        </p:txBody>
      </p:sp>
      <p:sp>
        <p:nvSpPr>
          <p:cNvPr id="2052" name="Google Shape;2052;p75"/>
          <p:cNvSpPr txBox="1">
            <a:spLocks noGrp="1"/>
          </p:cNvSpPr>
          <p:nvPr>
            <p:ph type="dt" idx="10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169C568B-B685-40D7-9692-53291199FE65}" type="datetime1">
              <a:rPr lang="en-US" smtClean="0"/>
              <a:t>1/12/2026</a:t>
            </a:fld>
            <a:endParaRPr/>
          </a:p>
        </p:txBody>
      </p:sp>
      <p:sp>
        <p:nvSpPr>
          <p:cNvPr id="2053" name="Google Shape;2053;p75"/>
          <p:cNvSpPr txBox="1">
            <a:spLocks noGrp="1"/>
          </p:cNvSpPr>
          <p:nvPr>
            <p:ph type="ftr" idx="11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Lec Asif Abrar, Dept of CSE, UIU</a:t>
            </a:r>
            <a:endParaRPr/>
          </a:p>
        </p:txBody>
      </p:sp>
      <p:sp>
        <p:nvSpPr>
          <p:cNvPr id="2054" name="Google Shape;2054;p75"/>
          <p:cNvSpPr txBox="1">
            <a:spLocks noGrp="1"/>
          </p:cNvSpPr>
          <p:nvPr>
            <p:ph type="sldNum" idx="12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61</a:t>
            </a:fld>
            <a:endParaRPr/>
          </a:p>
        </p:txBody>
      </p:sp>
      <p:sp>
        <p:nvSpPr>
          <p:cNvPr id="2055" name="Google Shape;2055;p75"/>
          <p:cNvSpPr txBox="1">
            <a:spLocks noGrp="1"/>
          </p:cNvSpPr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/>
              <a:t>Heap Sort</a:t>
            </a:r>
            <a:endParaRPr/>
          </a:p>
        </p:txBody>
      </p:sp>
      <p:pic>
        <p:nvPicPr>
          <p:cNvPr id="2056" name="Google Shape;2056;p7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46375" y="1227909"/>
            <a:ext cx="4287435" cy="206189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057" name="Google Shape;2057;p75"/>
          <p:cNvGrpSpPr/>
          <p:nvPr/>
        </p:nvGrpSpPr>
        <p:grpSpPr>
          <a:xfrm>
            <a:off x="6708469" y="2535751"/>
            <a:ext cx="2613981" cy="2132913"/>
            <a:chOff x="2315882" y="2773376"/>
            <a:chExt cx="5184992" cy="3968367"/>
          </a:xfrm>
        </p:grpSpPr>
        <p:sp>
          <p:nvSpPr>
            <p:cNvPr id="2058" name="Google Shape;2058;p75"/>
            <p:cNvSpPr/>
            <p:nvPr/>
          </p:nvSpPr>
          <p:spPr>
            <a:xfrm>
              <a:off x="4798314" y="2773376"/>
              <a:ext cx="558800" cy="558800"/>
            </a:xfrm>
            <a:prstGeom prst="ellipse">
              <a:avLst/>
            </a:prstGeom>
            <a:solidFill>
              <a:schemeClr val="accent1"/>
            </a:solidFill>
            <a:ln w="12700" cap="flat" cmpd="sng">
              <a:solidFill>
                <a:srgbClr val="42719B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59" name="Google Shape;2059;p75"/>
            <p:cNvSpPr/>
            <p:nvPr/>
          </p:nvSpPr>
          <p:spPr>
            <a:xfrm>
              <a:off x="3248914" y="3692472"/>
              <a:ext cx="558800" cy="558800"/>
            </a:xfrm>
            <a:prstGeom prst="ellipse">
              <a:avLst/>
            </a:prstGeom>
            <a:solidFill>
              <a:schemeClr val="accent2"/>
            </a:solidFill>
            <a:ln w="12700" cap="flat" cmpd="sng">
              <a:solidFill>
                <a:srgbClr val="42719B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60" name="Google Shape;2060;p75"/>
            <p:cNvSpPr/>
            <p:nvPr/>
          </p:nvSpPr>
          <p:spPr>
            <a:xfrm>
              <a:off x="2315882" y="4501895"/>
              <a:ext cx="558800" cy="558800"/>
            </a:xfrm>
            <a:prstGeom prst="ellipse">
              <a:avLst/>
            </a:prstGeom>
            <a:solidFill>
              <a:schemeClr val="accent2"/>
            </a:solidFill>
            <a:ln w="12700" cap="flat" cmpd="sng">
              <a:solidFill>
                <a:srgbClr val="42719B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61" name="Google Shape;2061;p75"/>
            <p:cNvSpPr/>
            <p:nvPr/>
          </p:nvSpPr>
          <p:spPr>
            <a:xfrm>
              <a:off x="5238467" y="6182943"/>
              <a:ext cx="558799" cy="558800"/>
            </a:xfrm>
            <a:prstGeom prst="ellipse">
              <a:avLst/>
            </a:prstGeom>
            <a:solidFill>
              <a:schemeClr val="accent2"/>
            </a:solidFill>
            <a:ln w="12700" cap="flat" cmpd="sng">
              <a:solidFill>
                <a:srgbClr val="42719B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62" name="Google Shape;2062;p75"/>
            <p:cNvSpPr/>
            <p:nvPr/>
          </p:nvSpPr>
          <p:spPr>
            <a:xfrm>
              <a:off x="6088876" y="6149107"/>
              <a:ext cx="558799" cy="558800"/>
            </a:xfrm>
            <a:prstGeom prst="ellipse">
              <a:avLst/>
            </a:prstGeom>
            <a:solidFill>
              <a:schemeClr val="accent2"/>
            </a:solidFill>
            <a:ln w="12700" cap="flat" cmpd="sng">
              <a:solidFill>
                <a:srgbClr val="42719B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63" name="Google Shape;2063;p75"/>
            <p:cNvSpPr/>
            <p:nvPr/>
          </p:nvSpPr>
          <p:spPr>
            <a:xfrm>
              <a:off x="4197746" y="4557225"/>
              <a:ext cx="558800" cy="558800"/>
            </a:xfrm>
            <a:prstGeom prst="ellipse">
              <a:avLst/>
            </a:prstGeom>
            <a:solidFill>
              <a:schemeClr val="accent2"/>
            </a:solidFill>
            <a:ln w="12700" cap="flat" cmpd="sng">
              <a:solidFill>
                <a:srgbClr val="42719B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64" name="Google Shape;2064;p75"/>
            <p:cNvSpPr/>
            <p:nvPr/>
          </p:nvSpPr>
          <p:spPr>
            <a:xfrm>
              <a:off x="6164836" y="3692472"/>
              <a:ext cx="558800" cy="558800"/>
            </a:xfrm>
            <a:prstGeom prst="ellipse">
              <a:avLst/>
            </a:prstGeom>
            <a:solidFill>
              <a:schemeClr val="accent2"/>
            </a:solidFill>
            <a:ln w="12700" cap="flat" cmpd="sng">
              <a:solidFill>
                <a:srgbClr val="42719B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65" name="Google Shape;2065;p75"/>
            <p:cNvSpPr/>
            <p:nvPr/>
          </p:nvSpPr>
          <p:spPr>
            <a:xfrm>
              <a:off x="5410178" y="4584315"/>
              <a:ext cx="558800" cy="558800"/>
            </a:xfrm>
            <a:prstGeom prst="ellipse">
              <a:avLst/>
            </a:prstGeom>
            <a:solidFill>
              <a:schemeClr val="accent2"/>
            </a:solidFill>
            <a:ln w="12700" cap="flat" cmpd="sng">
              <a:solidFill>
                <a:srgbClr val="42719B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66" name="Google Shape;2066;p75"/>
            <p:cNvSpPr/>
            <p:nvPr/>
          </p:nvSpPr>
          <p:spPr>
            <a:xfrm>
              <a:off x="6942074" y="4584315"/>
              <a:ext cx="558800" cy="558800"/>
            </a:xfrm>
            <a:prstGeom prst="ellipse">
              <a:avLst/>
            </a:prstGeom>
            <a:solidFill>
              <a:schemeClr val="accent2"/>
            </a:solidFill>
            <a:ln w="12700" cap="flat" cmpd="sng">
              <a:solidFill>
                <a:srgbClr val="42719B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2067" name="Google Shape;2067;p75"/>
            <p:cNvCxnSpPr>
              <a:stCxn id="2058" idx="3"/>
              <a:endCxn id="2059" idx="7"/>
            </p:cNvCxnSpPr>
            <p:nvPr/>
          </p:nvCxnSpPr>
          <p:spPr>
            <a:xfrm flipH="1">
              <a:off x="3725748" y="3250342"/>
              <a:ext cx="1154400" cy="5241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2068" name="Google Shape;2068;p75"/>
            <p:cNvCxnSpPr>
              <a:stCxn id="2064" idx="1"/>
              <a:endCxn id="2058" idx="5"/>
            </p:cNvCxnSpPr>
            <p:nvPr/>
          </p:nvCxnSpPr>
          <p:spPr>
            <a:xfrm rot="10800000">
              <a:off x="5275270" y="3250206"/>
              <a:ext cx="971400" cy="5241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2069" name="Google Shape;2069;p75"/>
            <p:cNvCxnSpPr>
              <a:stCxn id="2066" idx="1"/>
              <a:endCxn id="2064" idx="5"/>
            </p:cNvCxnSpPr>
            <p:nvPr/>
          </p:nvCxnSpPr>
          <p:spPr>
            <a:xfrm rot="10800000">
              <a:off x="6641708" y="4169349"/>
              <a:ext cx="382200" cy="4968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2070" name="Google Shape;2070;p75"/>
            <p:cNvCxnSpPr>
              <a:stCxn id="2065" idx="7"/>
              <a:endCxn id="2064" idx="3"/>
            </p:cNvCxnSpPr>
            <p:nvPr/>
          </p:nvCxnSpPr>
          <p:spPr>
            <a:xfrm rot="10800000" flipH="1">
              <a:off x="5887144" y="4169349"/>
              <a:ext cx="359400" cy="4968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2071" name="Google Shape;2071;p75"/>
            <p:cNvCxnSpPr>
              <a:stCxn id="2059" idx="3"/>
              <a:endCxn id="2060" idx="7"/>
            </p:cNvCxnSpPr>
            <p:nvPr/>
          </p:nvCxnSpPr>
          <p:spPr>
            <a:xfrm flipH="1">
              <a:off x="2792848" y="4169438"/>
              <a:ext cx="537900" cy="4143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2072" name="Google Shape;2072;p75"/>
            <p:cNvCxnSpPr>
              <a:stCxn id="2059" idx="5"/>
              <a:endCxn id="2063" idx="1"/>
            </p:cNvCxnSpPr>
            <p:nvPr/>
          </p:nvCxnSpPr>
          <p:spPr>
            <a:xfrm>
              <a:off x="3725880" y="4169438"/>
              <a:ext cx="553800" cy="4695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</p:grpSp>
      <p:graphicFrame>
        <p:nvGraphicFramePr>
          <p:cNvPr id="2073" name="Google Shape;2073;p75"/>
          <p:cNvGraphicFramePr/>
          <p:nvPr/>
        </p:nvGraphicFramePr>
        <p:xfrm>
          <a:off x="6264108" y="5191177"/>
          <a:ext cx="3872700" cy="731540"/>
        </p:xfrm>
        <a:graphic>
          <a:graphicData uri="http://schemas.openxmlformats.org/drawingml/2006/table">
            <a:tbl>
              <a:tblPr firstRow="1" bandRow="1">
                <a:noFill/>
                <a:tableStyleId>{66088737-8E24-4614-AAA7-3D08145F63E1}</a:tableStyleId>
              </a:tblPr>
              <a:tblGrid>
                <a:gridCol w="430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03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03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303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303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303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303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303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4303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2914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1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2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3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4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5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6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7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8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9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14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2074" name="Google Shape;2074;p75"/>
          <p:cNvSpPr/>
          <p:nvPr/>
        </p:nvSpPr>
        <p:spPr>
          <a:xfrm rot="5400000">
            <a:off x="6087445" y="3636625"/>
            <a:ext cx="499620" cy="292231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12700" cap="flat" cmpd="sng">
            <a:solidFill>
              <a:srgbClr val="AC5B23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9" name="Google Shape;2079;p76"/>
          <p:cNvSpPr txBox="1">
            <a:spLocks noGrp="1"/>
          </p:cNvSpPr>
          <p:nvPr>
            <p:ph type="body" idx="1"/>
          </p:nvPr>
        </p:nvSpPr>
        <p:spPr>
          <a:xfrm>
            <a:off x="838200" y="1227909"/>
            <a:ext cx="10515600" cy="49490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2095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2100"/>
              <a:buFont typeface="Arial"/>
              <a:buNone/>
            </a:pPr>
            <a:endParaRPr/>
          </a:p>
        </p:txBody>
      </p:sp>
      <p:sp>
        <p:nvSpPr>
          <p:cNvPr id="2080" name="Google Shape;2080;p76"/>
          <p:cNvSpPr txBox="1">
            <a:spLocks noGrp="1"/>
          </p:cNvSpPr>
          <p:nvPr>
            <p:ph type="dt" idx="10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97135870-CEC9-442F-ADE7-BFCA82168C46}" type="datetime1">
              <a:rPr lang="en-US" smtClean="0"/>
              <a:t>1/12/2026</a:t>
            </a:fld>
            <a:endParaRPr/>
          </a:p>
        </p:txBody>
      </p:sp>
      <p:sp>
        <p:nvSpPr>
          <p:cNvPr id="2081" name="Google Shape;2081;p76"/>
          <p:cNvSpPr txBox="1">
            <a:spLocks noGrp="1"/>
          </p:cNvSpPr>
          <p:nvPr>
            <p:ph type="ftr" idx="11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Lec Asif Abrar, Dept of CSE, UIU</a:t>
            </a:r>
            <a:endParaRPr/>
          </a:p>
        </p:txBody>
      </p:sp>
      <p:sp>
        <p:nvSpPr>
          <p:cNvPr id="2082" name="Google Shape;2082;p76"/>
          <p:cNvSpPr txBox="1">
            <a:spLocks noGrp="1"/>
          </p:cNvSpPr>
          <p:nvPr>
            <p:ph type="sldNum" idx="12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62</a:t>
            </a:fld>
            <a:endParaRPr/>
          </a:p>
        </p:txBody>
      </p:sp>
      <p:sp>
        <p:nvSpPr>
          <p:cNvPr id="2083" name="Google Shape;2083;p76"/>
          <p:cNvSpPr txBox="1">
            <a:spLocks noGrp="1"/>
          </p:cNvSpPr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/>
              <a:t>Heap Sort</a:t>
            </a:r>
            <a:endParaRPr/>
          </a:p>
        </p:txBody>
      </p:sp>
      <p:pic>
        <p:nvPicPr>
          <p:cNvPr id="2084" name="Google Shape;2084;p7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46375" y="1227909"/>
            <a:ext cx="4287435" cy="206189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085" name="Google Shape;2085;p76"/>
          <p:cNvGrpSpPr/>
          <p:nvPr/>
        </p:nvGrpSpPr>
        <p:grpSpPr>
          <a:xfrm>
            <a:off x="6708469" y="2535751"/>
            <a:ext cx="2613981" cy="2145403"/>
            <a:chOff x="2315882" y="2773376"/>
            <a:chExt cx="5184992" cy="3991605"/>
          </a:xfrm>
        </p:grpSpPr>
        <p:sp>
          <p:nvSpPr>
            <p:cNvPr id="2086" name="Google Shape;2086;p76"/>
            <p:cNvSpPr/>
            <p:nvPr/>
          </p:nvSpPr>
          <p:spPr>
            <a:xfrm>
              <a:off x="4798314" y="2773376"/>
              <a:ext cx="558800" cy="558800"/>
            </a:xfrm>
            <a:prstGeom prst="ellipse">
              <a:avLst/>
            </a:prstGeom>
            <a:solidFill>
              <a:schemeClr val="accent1"/>
            </a:solidFill>
            <a:ln w="12700" cap="flat" cmpd="sng">
              <a:solidFill>
                <a:srgbClr val="42719B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87" name="Google Shape;2087;p76"/>
            <p:cNvSpPr/>
            <p:nvPr/>
          </p:nvSpPr>
          <p:spPr>
            <a:xfrm>
              <a:off x="3248914" y="3692472"/>
              <a:ext cx="558800" cy="558800"/>
            </a:xfrm>
            <a:prstGeom prst="ellipse">
              <a:avLst/>
            </a:prstGeom>
            <a:solidFill>
              <a:schemeClr val="accent2"/>
            </a:solidFill>
            <a:ln w="12700" cap="flat" cmpd="sng">
              <a:solidFill>
                <a:srgbClr val="42719B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88" name="Google Shape;2088;p76"/>
            <p:cNvSpPr/>
            <p:nvPr/>
          </p:nvSpPr>
          <p:spPr>
            <a:xfrm>
              <a:off x="2315882" y="4501895"/>
              <a:ext cx="558800" cy="558800"/>
            </a:xfrm>
            <a:prstGeom prst="ellipse">
              <a:avLst/>
            </a:prstGeom>
            <a:solidFill>
              <a:schemeClr val="accent2"/>
            </a:solidFill>
            <a:ln w="12700" cap="flat" cmpd="sng">
              <a:solidFill>
                <a:srgbClr val="42719B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89" name="Google Shape;2089;p76"/>
            <p:cNvSpPr/>
            <p:nvPr/>
          </p:nvSpPr>
          <p:spPr>
            <a:xfrm>
              <a:off x="5077712" y="6206181"/>
              <a:ext cx="558799" cy="558800"/>
            </a:xfrm>
            <a:prstGeom prst="ellipse">
              <a:avLst/>
            </a:prstGeom>
            <a:solidFill>
              <a:schemeClr val="accent2"/>
            </a:solidFill>
            <a:ln w="12700" cap="flat" cmpd="sng">
              <a:solidFill>
                <a:srgbClr val="42719B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90" name="Google Shape;2090;p76"/>
            <p:cNvSpPr/>
            <p:nvPr/>
          </p:nvSpPr>
          <p:spPr>
            <a:xfrm>
              <a:off x="6088876" y="6149107"/>
              <a:ext cx="558799" cy="558800"/>
            </a:xfrm>
            <a:prstGeom prst="ellipse">
              <a:avLst/>
            </a:prstGeom>
            <a:solidFill>
              <a:schemeClr val="accent2"/>
            </a:solidFill>
            <a:ln w="12700" cap="flat" cmpd="sng">
              <a:solidFill>
                <a:srgbClr val="42719B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91" name="Google Shape;2091;p76"/>
            <p:cNvSpPr/>
            <p:nvPr/>
          </p:nvSpPr>
          <p:spPr>
            <a:xfrm>
              <a:off x="4197746" y="4557225"/>
              <a:ext cx="558800" cy="558800"/>
            </a:xfrm>
            <a:prstGeom prst="ellipse">
              <a:avLst/>
            </a:prstGeom>
            <a:solidFill>
              <a:schemeClr val="accent2"/>
            </a:solidFill>
            <a:ln w="12700" cap="flat" cmpd="sng">
              <a:solidFill>
                <a:srgbClr val="42719B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92" name="Google Shape;2092;p76"/>
            <p:cNvSpPr/>
            <p:nvPr/>
          </p:nvSpPr>
          <p:spPr>
            <a:xfrm>
              <a:off x="6164836" y="3692472"/>
              <a:ext cx="558800" cy="558800"/>
            </a:xfrm>
            <a:prstGeom prst="ellipse">
              <a:avLst/>
            </a:prstGeom>
            <a:solidFill>
              <a:schemeClr val="accent2"/>
            </a:solidFill>
            <a:ln w="12700" cap="flat" cmpd="sng">
              <a:solidFill>
                <a:srgbClr val="42719B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93" name="Google Shape;2093;p76"/>
            <p:cNvSpPr/>
            <p:nvPr/>
          </p:nvSpPr>
          <p:spPr>
            <a:xfrm>
              <a:off x="5410178" y="4584315"/>
              <a:ext cx="558800" cy="558800"/>
            </a:xfrm>
            <a:prstGeom prst="ellipse">
              <a:avLst/>
            </a:prstGeom>
            <a:solidFill>
              <a:schemeClr val="accent2"/>
            </a:solidFill>
            <a:ln w="12700" cap="flat" cmpd="sng">
              <a:solidFill>
                <a:srgbClr val="42719B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94" name="Google Shape;2094;p76"/>
            <p:cNvSpPr/>
            <p:nvPr/>
          </p:nvSpPr>
          <p:spPr>
            <a:xfrm>
              <a:off x="6942074" y="4584315"/>
              <a:ext cx="558800" cy="558800"/>
            </a:xfrm>
            <a:prstGeom prst="ellipse">
              <a:avLst/>
            </a:prstGeom>
            <a:solidFill>
              <a:schemeClr val="accent2"/>
            </a:solidFill>
            <a:ln w="12700" cap="flat" cmpd="sng">
              <a:solidFill>
                <a:srgbClr val="42719B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2095" name="Google Shape;2095;p76"/>
            <p:cNvCxnSpPr>
              <a:stCxn id="2086" idx="3"/>
              <a:endCxn id="2087" idx="7"/>
            </p:cNvCxnSpPr>
            <p:nvPr/>
          </p:nvCxnSpPr>
          <p:spPr>
            <a:xfrm flipH="1">
              <a:off x="3725748" y="3250342"/>
              <a:ext cx="1154400" cy="5241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2096" name="Google Shape;2096;p76"/>
            <p:cNvCxnSpPr>
              <a:stCxn id="2092" idx="1"/>
              <a:endCxn id="2086" idx="5"/>
            </p:cNvCxnSpPr>
            <p:nvPr/>
          </p:nvCxnSpPr>
          <p:spPr>
            <a:xfrm rot="10800000">
              <a:off x="5275270" y="3250206"/>
              <a:ext cx="971400" cy="5241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2097" name="Google Shape;2097;p76"/>
            <p:cNvCxnSpPr>
              <a:stCxn id="2094" idx="1"/>
              <a:endCxn id="2092" idx="5"/>
            </p:cNvCxnSpPr>
            <p:nvPr/>
          </p:nvCxnSpPr>
          <p:spPr>
            <a:xfrm rot="10800000">
              <a:off x="6641708" y="4169349"/>
              <a:ext cx="382200" cy="4968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2098" name="Google Shape;2098;p76"/>
            <p:cNvCxnSpPr>
              <a:stCxn id="2093" idx="7"/>
              <a:endCxn id="2092" idx="3"/>
            </p:cNvCxnSpPr>
            <p:nvPr/>
          </p:nvCxnSpPr>
          <p:spPr>
            <a:xfrm rot="10800000" flipH="1">
              <a:off x="5887144" y="4169349"/>
              <a:ext cx="359400" cy="4968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2099" name="Google Shape;2099;p76"/>
            <p:cNvCxnSpPr>
              <a:stCxn id="2087" idx="3"/>
              <a:endCxn id="2088" idx="7"/>
            </p:cNvCxnSpPr>
            <p:nvPr/>
          </p:nvCxnSpPr>
          <p:spPr>
            <a:xfrm flipH="1">
              <a:off x="2792848" y="4169438"/>
              <a:ext cx="537900" cy="4143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2100" name="Google Shape;2100;p76"/>
            <p:cNvCxnSpPr>
              <a:stCxn id="2087" idx="5"/>
              <a:endCxn id="2091" idx="1"/>
            </p:cNvCxnSpPr>
            <p:nvPr/>
          </p:nvCxnSpPr>
          <p:spPr>
            <a:xfrm>
              <a:off x="3725880" y="4169438"/>
              <a:ext cx="553800" cy="4695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</p:grpSp>
      <p:graphicFrame>
        <p:nvGraphicFramePr>
          <p:cNvPr id="2101" name="Google Shape;2101;p76"/>
          <p:cNvGraphicFramePr/>
          <p:nvPr/>
        </p:nvGraphicFramePr>
        <p:xfrm>
          <a:off x="6264108" y="5191177"/>
          <a:ext cx="3872700" cy="731540"/>
        </p:xfrm>
        <a:graphic>
          <a:graphicData uri="http://schemas.openxmlformats.org/drawingml/2006/table">
            <a:tbl>
              <a:tblPr firstRow="1" bandRow="1">
                <a:noFill/>
                <a:tableStyleId>{66088737-8E24-4614-AAA7-3D08145F63E1}</a:tableStyleId>
              </a:tblPr>
              <a:tblGrid>
                <a:gridCol w="430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03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03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303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303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303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303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303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4303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2914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1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2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3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4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5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6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7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8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9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14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2102" name="Google Shape;2102;p76"/>
          <p:cNvSpPr/>
          <p:nvPr/>
        </p:nvSpPr>
        <p:spPr>
          <a:xfrm rot="5400000">
            <a:off x="6087445" y="3636625"/>
            <a:ext cx="499620" cy="292231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12700" cap="flat" cmpd="sng">
            <a:solidFill>
              <a:srgbClr val="AC5B23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3" name="Google Shape;2103;p76"/>
          <p:cNvSpPr/>
          <p:nvPr/>
        </p:nvSpPr>
        <p:spPr>
          <a:xfrm>
            <a:off x="7242471" y="2119613"/>
            <a:ext cx="1939121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MaxHeapify(A,1)</a:t>
            </a:r>
            <a:endParaRPr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8" name="Google Shape;2108;p77"/>
          <p:cNvSpPr txBox="1">
            <a:spLocks noGrp="1"/>
          </p:cNvSpPr>
          <p:nvPr>
            <p:ph type="body" idx="1"/>
          </p:nvPr>
        </p:nvSpPr>
        <p:spPr>
          <a:xfrm>
            <a:off x="838200" y="1227909"/>
            <a:ext cx="10515600" cy="49490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2095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2100"/>
              <a:buFont typeface="Arial"/>
              <a:buNone/>
            </a:pPr>
            <a:endParaRPr/>
          </a:p>
        </p:txBody>
      </p:sp>
      <p:sp>
        <p:nvSpPr>
          <p:cNvPr id="2109" name="Google Shape;2109;p77"/>
          <p:cNvSpPr txBox="1">
            <a:spLocks noGrp="1"/>
          </p:cNvSpPr>
          <p:nvPr>
            <p:ph type="dt" idx="10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1A401DFA-D190-49C5-9F3E-DA82F070D4B2}" type="datetime1">
              <a:rPr lang="en-US" smtClean="0"/>
              <a:t>1/12/2026</a:t>
            </a:fld>
            <a:endParaRPr/>
          </a:p>
        </p:txBody>
      </p:sp>
      <p:sp>
        <p:nvSpPr>
          <p:cNvPr id="2110" name="Google Shape;2110;p77"/>
          <p:cNvSpPr txBox="1">
            <a:spLocks noGrp="1"/>
          </p:cNvSpPr>
          <p:nvPr>
            <p:ph type="ftr" idx="11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Lec Asif Abrar, Dept of CSE, UIU</a:t>
            </a:r>
            <a:endParaRPr/>
          </a:p>
        </p:txBody>
      </p:sp>
      <p:sp>
        <p:nvSpPr>
          <p:cNvPr id="2111" name="Google Shape;2111;p77"/>
          <p:cNvSpPr txBox="1">
            <a:spLocks noGrp="1"/>
          </p:cNvSpPr>
          <p:nvPr>
            <p:ph type="sldNum" idx="12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63</a:t>
            </a:fld>
            <a:endParaRPr/>
          </a:p>
        </p:txBody>
      </p:sp>
      <p:sp>
        <p:nvSpPr>
          <p:cNvPr id="2112" name="Google Shape;2112;p77"/>
          <p:cNvSpPr txBox="1">
            <a:spLocks noGrp="1"/>
          </p:cNvSpPr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/>
              <a:t>Heap Sort</a:t>
            </a:r>
            <a:endParaRPr/>
          </a:p>
        </p:txBody>
      </p:sp>
      <p:pic>
        <p:nvPicPr>
          <p:cNvPr id="2113" name="Google Shape;2113;p7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46375" y="1227909"/>
            <a:ext cx="4287435" cy="206189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114" name="Google Shape;2114;p77"/>
          <p:cNvGrpSpPr/>
          <p:nvPr/>
        </p:nvGrpSpPr>
        <p:grpSpPr>
          <a:xfrm>
            <a:off x="6708469" y="2535751"/>
            <a:ext cx="2613981" cy="2145403"/>
            <a:chOff x="2315882" y="2773376"/>
            <a:chExt cx="5184992" cy="3991605"/>
          </a:xfrm>
        </p:grpSpPr>
        <p:sp>
          <p:nvSpPr>
            <p:cNvPr id="2115" name="Google Shape;2115;p77"/>
            <p:cNvSpPr/>
            <p:nvPr/>
          </p:nvSpPr>
          <p:spPr>
            <a:xfrm>
              <a:off x="4798314" y="2773376"/>
              <a:ext cx="558800" cy="558800"/>
            </a:xfrm>
            <a:prstGeom prst="ellipse">
              <a:avLst/>
            </a:prstGeom>
            <a:solidFill>
              <a:schemeClr val="accent2"/>
            </a:solidFill>
            <a:ln w="12700" cap="flat" cmpd="sng">
              <a:solidFill>
                <a:srgbClr val="42719B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16" name="Google Shape;2116;p77"/>
            <p:cNvSpPr/>
            <p:nvPr/>
          </p:nvSpPr>
          <p:spPr>
            <a:xfrm>
              <a:off x="3248914" y="3692472"/>
              <a:ext cx="558800" cy="558800"/>
            </a:xfrm>
            <a:prstGeom prst="ellipse">
              <a:avLst/>
            </a:prstGeom>
            <a:solidFill>
              <a:schemeClr val="accent2"/>
            </a:solidFill>
            <a:ln w="12700" cap="flat" cmpd="sng">
              <a:solidFill>
                <a:srgbClr val="42719B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17" name="Google Shape;2117;p77"/>
            <p:cNvSpPr/>
            <p:nvPr/>
          </p:nvSpPr>
          <p:spPr>
            <a:xfrm>
              <a:off x="2315882" y="4501895"/>
              <a:ext cx="558800" cy="558800"/>
            </a:xfrm>
            <a:prstGeom prst="ellipse">
              <a:avLst/>
            </a:prstGeom>
            <a:solidFill>
              <a:schemeClr val="accent2"/>
            </a:solidFill>
            <a:ln w="12700" cap="flat" cmpd="sng">
              <a:solidFill>
                <a:srgbClr val="42719B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18" name="Google Shape;2118;p77"/>
            <p:cNvSpPr/>
            <p:nvPr/>
          </p:nvSpPr>
          <p:spPr>
            <a:xfrm>
              <a:off x="5077712" y="6206181"/>
              <a:ext cx="558799" cy="558800"/>
            </a:xfrm>
            <a:prstGeom prst="ellipse">
              <a:avLst/>
            </a:prstGeom>
            <a:solidFill>
              <a:schemeClr val="accent2"/>
            </a:solidFill>
            <a:ln w="12700" cap="flat" cmpd="sng">
              <a:solidFill>
                <a:srgbClr val="42719B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19" name="Google Shape;2119;p77"/>
            <p:cNvSpPr/>
            <p:nvPr/>
          </p:nvSpPr>
          <p:spPr>
            <a:xfrm>
              <a:off x="6088876" y="6149107"/>
              <a:ext cx="558799" cy="558800"/>
            </a:xfrm>
            <a:prstGeom prst="ellipse">
              <a:avLst/>
            </a:prstGeom>
            <a:solidFill>
              <a:schemeClr val="accent2"/>
            </a:solidFill>
            <a:ln w="12700" cap="flat" cmpd="sng">
              <a:solidFill>
                <a:srgbClr val="42719B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20" name="Google Shape;2120;p77"/>
            <p:cNvSpPr/>
            <p:nvPr/>
          </p:nvSpPr>
          <p:spPr>
            <a:xfrm>
              <a:off x="4197746" y="4557225"/>
              <a:ext cx="558800" cy="558800"/>
            </a:xfrm>
            <a:prstGeom prst="ellipse">
              <a:avLst/>
            </a:prstGeom>
            <a:solidFill>
              <a:schemeClr val="accent2"/>
            </a:solidFill>
            <a:ln w="12700" cap="flat" cmpd="sng">
              <a:solidFill>
                <a:srgbClr val="42719B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21" name="Google Shape;2121;p77"/>
            <p:cNvSpPr/>
            <p:nvPr/>
          </p:nvSpPr>
          <p:spPr>
            <a:xfrm>
              <a:off x="6164836" y="3692472"/>
              <a:ext cx="558800" cy="558800"/>
            </a:xfrm>
            <a:prstGeom prst="ellipse">
              <a:avLst/>
            </a:prstGeom>
            <a:solidFill>
              <a:schemeClr val="accent2"/>
            </a:solidFill>
            <a:ln w="12700" cap="flat" cmpd="sng">
              <a:solidFill>
                <a:srgbClr val="42719B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22" name="Google Shape;2122;p77"/>
            <p:cNvSpPr/>
            <p:nvPr/>
          </p:nvSpPr>
          <p:spPr>
            <a:xfrm>
              <a:off x="5410178" y="4584315"/>
              <a:ext cx="558800" cy="558800"/>
            </a:xfrm>
            <a:prstGeom prst="ellipse">
              <a:avLst/>
            </a:prstGeom>
            <a:solidFill>
              <a:schemeClr val="accent2"/>
            </a:solidFill>
            <a:ln w="12700" cap="flat" cmpd="sng">
              <a:solidFill>
                <a:srgbClr val="42719B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23" name="Google Shape;2123;p77"/>
            <p:cNvSpPr/>
            <p:nvPr/>
          </p:nvSpPr>
          <p:spPr>
            <a:xfrm>
              <a:off x="6942074" y="4584315"/>
              <a:ext cx="558800" cy="558800"/>
            </a:xfrm>
            <a:prstGeom prst="ellipse">
              <a:avLst/>
            </a:prstGeom>
            <a:solidFill>
              <a:schemeClr val="accent2"/>
            </a:solidFill>
            <a:ln w="12700" cap="flat" cmpd="sng">
              <a:solidFill>
                <a:srgbClr val="42719B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2124" name="Google Shape;2124;p77"/>
            <p:cNvCxnSpPr>
              <a:stCxn id="2115" idx="3"/>
              <a:endCxn id="2116" idx="7"/>
            </p:cNvCxnSpPr>
            <p:nvPr/>
          </p:nvCxnSpPr>
          <p:spPr>
            <a:xfrm flipH="1">
              <a:off x="3725748" y="3250342"/>
              <a:ext cx="1154400" cy="5241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2125" name="Google Shape;2125;p77"/>
            <p:cNvCxnSpPr>
              <a:stCxn id="2121" idx="1"/>
              <a:endCxn id="2115" idx="5"/>
            </p:cNvCxnSpPr>
            <p:nvPr/>
          </p:nvCxnSpPr>
          <p:spPr>
            <a:xfrm rot="10800000">
              <a:off x="5275270" y="3250206"/>
              <a:ext cx="971400" cy="5241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2126" name="Google Shape;2126;p77"/>
            <p:cNvCxnSpPr>
              <a:stCxn id="2123" idx="1"/>
              <a:endCxn id="2121" idx="5"/>
            </p:cNvCxnSpPr>
            <p:nvPr/>
          </p:nvCxnSpPr>
          <p:spPr>
            <a:xfrm rot="10800000">
              <a:off x="6641708" y="4169349"/>
              <a:ext cx="382200" cy="4968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2127" name="Google Shape;2127;p77"/>
            <p:cNvCxnSpPr>
              <a:stCxn id="2122" idx="7"/>
              <a:endCxn id="2121" idx="3"/>
            </p:cNvCxnSpPr>
            <p:nvPr/>
          </p:nvCxnSpPr>
          <p:spPr>
            <a:xfrm rot="10800000" flipH="1">
              <a:off x="5887144" y="4169349"/>
              <a:ext cx="359400" cy="4968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2128" name="Google Shape;2128;p77"/>
            <p:cNvCxnSpPr>
              <a:stCxn id="2116" idx="3"/>
              <a:endCxn id="2117" idx="7"/>
            </p:cNvCxnSpPr>
            <p:nvPr/>
          </p:nvCxnSpPr>
          <p:spPr>
            <a:xfrm flipH="1">
              <a:off x="2792848" y="4169438"/>
              <a:ext cx="537900" cy="4143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2129" name="Google Shape;2129;p77"/>
            <p:cNvCxnSpPr>
              <a:stCxn id="2116" idx="5"/>
              <a:endCxn id="2120" idx="1"/>
            </p:cNvCxnSpPr>
            <p:nvPr/>
          </p:nvCxnSpPr>
          <p:spPr>
            <a:xfrm>
              <a:off x="3725880" y="4169438"/>
              <a:ext cx="553800" cy="4695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</p:grpSp>
      <p:graphicFrame>
        <p:nvGraphicFramePr>
          <p:cNvPr id="2130" name="Google Shape;2130;p77"/>
          <p:cNvGraphicFramePr/>
          <p:nvPr/>
        </p:nvGraphicFramePr>
        <p:xfrm>
          <a:off x="6264108" y="5191177"/>
          <a:ext cx="3872700" cy="731540"/>
        </p:xfrm>
        <a:graphic>
          <a:graphicData uri="http://schemas.openxmlformats.org/drawingml/2006/table">
            <a:tbl>
              <a:tblPr firstRow="1" bandRow="1">
                <a:noFill/>
                <a:tableStyleId>{66088737-8E24-4614-AAA7-3D08145F63E1}</a:tableStyleId>
              </a:tblPr>
              <a:tblGrid>
                <a:gridCol w="430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03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03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303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303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303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303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303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4303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2914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1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2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3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4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5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6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7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8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9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14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5" name="Google Shape;2135;p78"/>
          <p:cNvSpPr txBox="1">
            <a:spLocks noGrp="1"/>
          </p:cNvSpPr>
          <p:nvPr>
            <p:ph type="body" idx="1"/>
          </p:nvPr>
        </p:nvSpPr>
        <p:spPr>
          <a:xfrm>
            <a:off x="838200" y="1227909"/>
            <a:ext cx="10515600" cy="49490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2095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2100"/>
              <a:buFont typeface="Arial"/>
              <a:buNone/>
            </a:pPr>
            <a:endParaRPr/>
          </a:p>
        </p:txBody>
      </p:sp>
      <p:sp>
        <p:nvSpPr>
          <p:cNvPr id="2136" name="Google Shape;2136;p78"/>
          <p:cNvSpPr txBox="1">
            <a:spLocks noGrp="1"/>
          </p:cNvSpPr>
          <p:nvPr>
            <p:ph type="dt" idx="10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894376D1-C14E-4404-8588-7A87D151502C}" type="datetime1">
              <a:rPr lang="en-US" smtClean="0"/>
              <a:t>1/12/2026</a:t>
            </a:fld>
            <a:endParaRPr/>
          </a:p>
        </p:txBody>
      </p:sp>
      <p:sp>
        <p:nvSpPr>
          <p:cNvPr id="2137" name="Google Shape;2137;p78"/>
          <p:cNvSpPr txBox="1">
            <a:spLocks noGrp="1"/>
          </p:cNvSpPr>
          <p:nvPr>
            <p:ph type="ftr" idx="11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Lec Asif Abrar, Dept of CSE, UIU</a:t>
            </a:r>
            <a:endParaRPr/>
          </a:p>
        </p:txBody>
      </p:sp>
      <p:sp>
        <p:nvSpPr>
          <p:cNvPr id="2138" name="Google Shape;2138;p78"/>
          <p:cNvSpPr txBox="1">
            <a:spLocks noGrp="1"/>
          </p:cNvSpPr>
          <p:nvPr>
            <p:ph type="sldNum" idx="12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64</a:t>
            </a:fld>
            <a:endParaRPr/>
          </a:p>
        </p:txBody>
      </p:sp>
      <p:sp>
        <p:nvSpPr>
          <p:cNvPr id="2139" name="Google Shape;2139;p78"/>
          <p:cNvSpPr txBox="1">
            <a:spLocks noGrp="1"/>
          </p:cNvSpPr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/>
              <a:t>Heap Sort</a:t>
            </a:r>
            <a:endParaRPr/>
          </a:p>
        </p:txBody>
      </p:sp>
      <p:pic>
        <p:nvPicPr>
          <p:cNvPr id="2140" name="Google Shape;2140;p7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46375" y="1227909"/>
            <a:ext cx="4287435" cy="206189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141" name="Google Shape;2141;p78"/>
          <p:cNvGrpSpPr/>
          <p:nvPr/>
        </p:nvGrpSpPr>
        <p:grpSpPr>
          <a:xfrm>
            <a:off x="6708469" y="2535751"/>
            <a:ext cx="2613981" cy="2145403"/>
            <a:chOff x="2315882" y="2773376"/>
            <a:chExt cx="5184992" cy="3991605"/>
          </a:xfrm>
        </p:grpSpPr>
        <p:sp>
          <p:nvSpPr>
            <p:cNvPr id="2142" name="Google Shape;2142;p78"/>
            <p:cNvSpPr/>
            <p:nvPr/>
          </p:nvSpPr>
          <p:spPr>
            <a:xfrm>
              <a:off x="4798314" y="2773376"/>
              <a:ext cx="558800" cy="558800"/>
            </a:xfrm>
            <a:prstGeom prst="ellipse">
              <a:avLst/>
            </a:prstGeom>
            <a:solidFill>
              <a:schemeClr val="accent2"/>
            </a:solidFill>
            <a:ln w="12700" cap="flat" cmpd="sng">
              <a:solidFill>
                <a:srgbClr val="42719B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43" name="Google Shape;2143;p78"/>
            <p:cNvSpPr/>
            <p:nvPr/>
          </p:nvSpPr>
          <p:spPr>
            <a:xfrm>
              <a:off x="3248914" y="3692472"/>
              <a:ext cx="558800" cy="558800"/>
            </a:xfrm>
            <a:prstGeom prst="ellipse">
              <a:avLst/>
            </a:prstGeom>
            <a:solidFill>
              <a:schemeClr val="accent2"/>
            </a:solidFill>
            <a:ln w="12700" cap="flat" cmpd="sng">
              <a:solidFill>
                <a:srgbClr val="42719B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44" name="Google Shape;2144;p78"/>
            <p:cNvSpPr/>
            <p:nvPr/>
          </p:nvSpPr>
          <p:spPr>
            <a:xfrm>
              <a:off x="2315882" y="4501895"/>
              <a:ext cx="558800" cy="558800"/>
            </a:xfrm>
            <a:prstGeom prst="ellipse">
              <a:avLst/>
            </a:prstGeom>
            <a:solidFill>
              <a:schemeClr val="accent2"/>
            </a:solidFill>
            <a:ln w="12700" cap="flat" cmpd="sng">
              <a:solidFill>
                <a:srgbClr val="42719B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45" name="Google Shape;2145;p78"/>
            <p:cNvSpPr/>
            <p:nvPr/>
          </p:nvSpPr>
          <p:spPr>
            <a:xfrm>
              <a:off x="5077712" y="6206181"/>
              <a:ext cx="558799" cy="558800"/>
            </a:xfrm>
            <a:prstGeom prst="ellipse">
              <a:avLst/>
            </a:prstGeom>
            <a:solidFill>
              <a:schemeClr val="accent2"/>
            </a:solidFill>
            <a:ln w="12700" cap="flat" cmpd="sng">
              <a:solidFill>
                <a:srgbClr val="42719B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46" name="Google Shape;2146;p78"/>
            <p:cNvSpPr/>
            <p:nvPr/>
          </p:nvSpPr>
          <p:spPr>
            <a:xfrm>
              <a:off x="6088876" y="6149107"/>
              <a:ext cx="558799" cy="558800"/>
            </a:xfrm>
            <a:prstGeom prst="ellipse">
              <a:avLst/>
            </a:prstGeom>
            <a:solidFill>
              <a:schemeClr val="accent2"/>
            </a:solidFill>
            <a:ln w="12700" cap="flat" cmpd="sng">
              <a:solidFill>
                <a:srgbClr val="42719B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47" name="Google Shape;2147;p78"/>
            <p:cNvSpPr/>
            <p:nvPr/>
          </p:nvSpPr>
          <p:spPr>
            <a:xfrm>
              <a:off x="4197746" y="4557225"/>
              <a:ext cx="558800" cy="558800"/>
            </a:xfrm>
            <a:prstGeom prst="ellipse">
              <a:avLst/>
            </a:prstGeom>
            <a:solidFill>
              <a:schemeClr val="accent2"/>
            </a:solidFill>
            <a:ln w="12700" cap="flat" cmpd="sng">
              <a:solidFill>
                <a:srgbClr val="42719B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48" name="Google Shape;2148;p78"/>
            <p:cNvSpPr/>
            <p:nvPr/>
          </p:nvSpPr>
          <p:spPr>
            <a:xfrm>
              <a:off x="6164836" y="3692472"/>
              <a:ext cx="558800" cy="558800"/>
            </a:xfrm>
            <a:prstGeom prst="ellipse">
              <a:avLst/>
            </a:prstGeom>
            <a:solidFill>
              <a:schemeClr val="accent2"/>
            </a:solidFill>
            <a:ln w="12700" cap="flat" cmpd="sng">
              <a:solidFill>
                <a:srgbClr val="42719B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49" name="Google Shape;2149;p78"/>
            <p:cNvSpPr/>
            <p:nvPr/>
          </p:nvSpPr>
          <p:spPr>
            <a:xfrm>
              <a:off x="5410178" y="4584315"/>
              <a:ext cx="558800" cy="558800"/>
            </a:xfrm>
            <a:prstGeom prst="ellipse">
              <a:avLst/>
            </a:prstGeom>
            <a:solidFill>
              <a:schemeClr val="accent2"/>
            </a:solidFill>
            <a:ln w="12700" cap="flat" cmpd="sng">
              <a:solidFill>
                <a:srgbClr val="42719B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50" name="Google Shape;2150;p78"/>
            <p:cNvSpPr/>
            <p:nvPr/>
          </p:nvSpPr>
          <p:spPr>
            <a:xfrm>
              <a:off x="6942074" y="4584315"/>
              <a:ext cx="558800" cy="558800"/>
            </a:xfrm>
            <a:prstGeom prst="ellipse">
              <a:avLst/>
            </a:prstGeom>
            <a:solidFill>
              <a:schemeClr val="accent1"/>
            </a:solidFill>
            <a:ln w="12700" cap="flat" cmpd="sng">
              <a:solidFill>
                <a:srgbClr val="42719B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2151" name="Google Shape;2151;p78"/>
            <p:cNvCxnSpPr>
              <a:stCxn id="2142" idx="3"/>
              <a:endCxn id="2143" idx="7"/>
            </p:cNvCxnSpPr>
            <p:nvPr/>
          </p:nvCxnSpPr>
          <p:spPr>
            <a:xfrm flipH="1">
              <a:off x="3725748" y="3250342"/>
              <a:ext cx="1154400" cy="5241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2152" name="Google Shape;2152;p78"/>
            <p:cNvCxnSpPr>
              <a:stCxn id="2148" idx="1"/>
              <a:endCxn id="2142" idx="5"/>
            </p:cNvCxnSpPr>
            <p:nvPr/>
          </p:nvCxnSpPr>
          <p:spPr>
            <a:xfrm rot="10800000">
              <a:off x="5275270" y="3250206"/>
              <a:ext cx="971400" cy="5241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2153" name="Google Shape;2153;p78"/>
            <p:cNvCxnSpPr>
              <a:stCxn id="2150" idx="1"/>
              <a:endCxn id="2148" idx="5"/>
            </p:cNvCxnSpPr>
            <p:nvPr/>
          </p:nvCxnSpPr>
          <p:spPr>
            <a:xfrm rot="10800000">
              <a:off x="6641708" y="4169349"/>
              <a:ext cx="382200" cy="4968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2154" name="Google Shape;2154;p78"/>
            <p:cNvCxnSpPr>
              <a:stCxn id="2149" idx="7"/>
              <a:endCxn id="2148" idx="3"/>
            </p:cNvCxnSpPr>
            <p:nvPr/>
          </p:nvCxnSpPr>
          <p:spPr>
            <a:xfrm rot="10800000" flipH="1">
              <a:off x="5887144" y="4169349"/>
              <a:ext cx="359400" cy="4968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2155" name="Google Shape;2155;p78"/>
            <p:cNvCxnSpPr>
              <a:stCxn id="2143" idx="3"/>
              <a:endCxn id="2144" idx="7"/>
            </p:cNvCxnSpPr>
            <p:nvPr/>
          </p:nvCxnSpPr>
          <p:spPr>
            <a:xfrm flipH="1">
              <a:off x="2792848" y="4169438"/>
              <a:ext cx="537900" cy="4143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2156" name="Google Shape;2156;p78"/>
            <p:cNvCxnSpPr>
              <a:stCxn id="2143" idx="5"/>
              <a:endCxn id="2147" idx="1"/>
            </p:cNvCxnSpPr>
            <p:nvPr/>
          </p:nvCxnSpPr>
          <p:spPr>
            <a:xfrm>
              <a:off x="3725880" y="4169438"/>
              <a:ext cx="553800" cy="4695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</p:grpSp>
      <p:graphicFrame>
        <p:nvGraphicFramePr>
          <p:cNvPr id="2157" name="Google Shape;2157;p78"/>
          <p:cNvGraphicFramePr/>
          <p:nvPr/>
        </p:nvGraphicFramePr>
        <p:xfrm>
          <a:off x="6264108" y="5191177"/>
          <a:ext cx="3872700" cy="731540"/>
        </p:xfrm>
        <a:graphic>
          <a:graphicData uri="http://schemas.openxmlformats.org/drawingml/2006/table">
            <a:tbl>
              <a:tblPr firstRow="1" bandRow="1">
                <a:noFill/>
                <a:tableStyleId>{66088737-8E24-4614-AAA7-3D08145F63E1}</a:tableStyleId>
              </a:tblPr>
              <a:tblGrid>
                <a:gridCol w="430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03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03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303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303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303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303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303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4303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2914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1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2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3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4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5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6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7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8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9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14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2158" name="Google Shape;2158;p78"/>
          <p:cNvSpPr/>
          <p:nvPr/>
        </p:nvSpPr>
        <p:spPr>
          <a:xfrm rot="5400000">
            <a:off x="9055796" y="3033075"/>
            <a:ext cx="499620" cy="292231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12700" cap="flat" cmpd="sng">
            <a:solidFill>
              <a:srgbClr val="AC5B23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3" name="Google Shape;2163;p79"/>
          <p:cNvSpPr txBox="1">
            <a:spLocks noGrp="1"/>
          </p:cNvSpPr>
          <p:nvPr>
            <p:ph type="body" idx="1"/>
          </p:nvPr>
        </p:nvSpPr>
        <p:spPr>
          <a:xfrm>
            <a:off x="838200" y="1227909"/>
            <a:ext cx="10515600" cy="49490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2095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2100"/>
              <a:buFont typeface="Arial"/>
              <a:buNone/>
            </a:pPr>
            <a:endParaRPr/>
          </a:p>
        </p:txBody>
      </p:sp>
      <p:sp>
        <p:nvSpPr>
          <p:cNvPr id="2164" name="Google Shape;2164;p79"/>
          <p:cNvSpPr txBox="1">
            <a:spLocks noGrp="1"/>
          </p:cNvSpPr>
          <p:nvPr>
            <p:ph type="dt" idx="10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157DF3E0-6C63-4EEA-B724-5B2ECCA2ED9D}" type="datetime1">
              <a:rPr lang="en-US" smtClean="0"/>
              <a:t>1/12/2026</a:t>
            </a:fld>
            <a:endParaRPr/>
          </a:p>
        </p:txBody>
      </p:sp>
      <p:sp>
        <p:nvSpPr>
          <p:cNvPr id="2165" name="Google Shape;2165;p79"/>
          <p:cNvSpPr txBox="1">
            <a:spLocks noGrp="1"/>
          </p:cNvSpPr>
          <p:nvPr>
            <p:ph type="ftr" idx="11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Lec Asif Abrar, Dept of CSE, UIU</a:t>
            </a:r>
            <a:endParaRPr/>
          </a:p>
        </p:txBody>
      </p:sp>
      <p:sp>
        <p:nvSpPr>
          <p:cNvPr id="2166" name="Google Shape;2166;p79"/>
          <p:cNvSpPr txBox="1">
            <a:spLocks noGrp="1"/>
          </p:cNvSpPr>
          <p:nvPr>
            <p:ph type="sldNum" idx="12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65</a:t>
            </a:fld>
            <a:endParaRPr/>
          </a:p>
        </p:txBody>
      </p:sp>
      <p:sp>
        <p:nvSpPr>
          <p:cNvPr id="2167" name="Google Shape;2167;p79"/>
          <p:cNvSpPr txBox="1">
            <a:spLocks noGrp="1"/>
          </p:cNvSpPr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/>
              <a:t>Heap Sort</a:t>
            </a:r>
            <a:endParaRPr/>
          </a:p>
        </p:txBody>
      </p:sp>
      <p:pic>
        <p:nvPicPr>
          <p:cNvPr id="2168" name="Google Shape;2168;p7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46375" y="1227909"/>
            <a:ext cx="4287435" cy="206189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169" name="Google Shape;2169;p79"/>
          <p:cNvGrpSpPr/>
          <p:nvPr/>
        </p:nvGrpSpPr>
        <p:grpSpPr>
          <a:xfrm>
            <a:off x="6708469" y="2535751"/>
            <a:ext cx="2613981" cy="2145403"/>
            <a:chOff x="2315882" y="2773376"/>
            <a:chExt cx="5184992" cy="3991605"/>
          </a:xfrm>
        </p:grpSpPr>
        <p:sp>
          <p:nvSpPr>
            <p:cNvPr id="2170" name="Google Shape;2170;p79"/>
            <p:cNvSpPr/>
            <p:nvPr/>
          </p:nvSpPr>
          <p:spPr>
            <a:xfrm>
              <a:off x="4798314" y="2773376"/>
              <a:ext cx="558800" cy="558800"/>
            </a:xfrm>
            <a:prstGeom prst="ellipse">
              <a:avLst/>
            </a:prstGeom>
            <a:solidFill>
              <a:schemeClr val="accent1"/>
            </a:solidFill>
            <a:ln w="12700" cap="flat" cmpd="sng">
              <a:solidFill>
                <a:srgbClr val="42719B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71" name="Google Shape;2171;p79"/>
            <p:cNvSpPr/>
            <p:nvPr/>
          </p:nvSpPr>
          <p:spPr>
            <a:xfrm>
              <a:off x="3248914" y="3692472"/>
              <a:ext cx="558800" cy="558800"/>
            </a:xfrm>
            <a:prstGeom prst="ellipse">
              <a:avLst/>
            </a:prstGeom>
            <a:solidFill>
              <a:schemeClr val="accent2"/>
            </a:solidFill>
            <a:ln w="12700" cap="flat" cmpd="sng">
              <a:solidFill>
                <a:srgbClr val="42719B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72" name="Google Shape;2172;p79"/>
            <p:cNvSpPr/>
            <p:nvPr/>
          </p:nvSpPr>
          <p:spPr>
            <a:xfrm>
              <a:off x="2315882" y="4501895"/>
              <a:ext cx="558800" cy="558800"/>
            </a:xfrm>
            <a:prstGeom prst="ellipse">
              <a:avLst/>
            </a:prstGeom>
            <a:solidFill>
              <a:schemeClr val="accent2"/>
            </a:solidFill>
            <a:ln w="12700" cap="flat" cmpd="sng">
              <a:solidFill>
                <a:srgbClr val="42719B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73" name="Google Shape;2173;p79"/>
            <p:cNvSpPr/>
            <p:nvPr/>
          </p:nvSpPr>
          <p:spPr>
            <a:xfrm>
              <a:off x="5077712" y="6206181"/>
              <a:ext cx="558799" cy="558800"/>
            </a:xfrm>
            <a:prstGeom prst="ellipse">
              <a:avLst/>
            </a:prstGeom>
            <a:solidFill>
              <a:schemeClr val="accent2"/>
            </a:solidFill>
            <a:ln w="12700" cap="flat" cmpd="sng">
              <a:solidFill>
                <a:srgbClr val="42719B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74" name="Google Shape;2174;p79"/>
            <p:cNvSpPr/>
            <p:nvPr/>
          </p:nvSpPr>
          <p:spPr>
            <a:xfrm>
              <a:off x="6088876" y="6149107"/>
              <a:ext cx="558799" cy="558800"/>
            </a:xfrm>
            <a:prstGeom prst="ellipse">
              <a:avLst/>
            </a:prstGeom>
            <a:solidFill>
              <a:schemeClr val="accent2"/>
            </a:solidFill>
            <a:ln w="12700" cap="flat" cmpd="sng">
              <a:solidFill>
                <a:srgbClr val="42719B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75" name="Google Shape;2175;p79"/>
            <p:cNvSpPr/>
            <p:nvPr/>
          </p:nvSpPr>
          <p:spPr>
            <a:xfrm>
              <a:off x="4197746" y="4557225"/>
              <a:ext cx="558800" cy="558800"/>
            </a:xfrm>
            <a:prstGeom prst="ellipse">
              <a:avLst/>
            </a:prstGeom>
            <a:solidFill>
              <a:schemeClr val="accent2"/>
            </a:solidFill>
            <a:ln w="12700" cap="flat" cmpd="sng">
              <a:solidFill>
                <a:srgbClr val="42719B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76" name="Google Shape;2176;p79"/>
            <p:cNvSpPr/>
            <p:nvPr/>
          </p:nvSpPr>
          <p:spPr>
            <a:xfrm>
              <a:off x="6164836" y="3692472"/>
              <a:ext cx="558800" cy="558800"/>
            </a:xfrm>
            <a:prstGeom prst="ellipse">
              <a:avLst/>
            </a:prstGeom>
            <a:solidFill>
              <a:schemeClr val="accent2"/>
            </a:solidFill>
            <a:ln w="12700" cap="flat" cmpd="sng">
              <a:solidFill>
                <a:srgbClr val="42719B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77" name="Google Shape;2177;p79"/>
            <p:cNvSpPr/>
            <p:nvPr/>
          </p:nvSpPr>
          <p:spPr>
            <a:xfrm>
              <a:off x="5410178" y="4584315"/>
              <a:ext cx="558800" cy="558800"/>
            </a:xfrm>
            <a:prstGeom prst="ellipse">
              <a:avLst/>
            </a:prstGeom>
            <a:solidFill>
              <a:schemeClr val="accent2"/>
            </a:solidFill>
            <a:ln w="12700" cap="flat" cmpd="sng">
              <a:solidFill>
                <a:srgbClr val="42719B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78" name="Google Shape;2178;p79"/>
            <p:cNvSpPr/>
            <p:nvPr/>
          </p:nvSpPr>
          <p:spPr>
            <a:xfrm>
              <a:off x="6942074" y="4584315"/>
              <a:ext cx="558800" cy="558800"/>
            </a:xfrm>
            <a:prstGeom prst="ellipse">
              <a:avLst/>
            </a:prstGeom>
            <a:solidFill>
              <a:schemeClr val="accent2"/>
            </a:solidFill>
            <a:ln w="12700" cap="flat" cmpd="sng">
              <a:solidFill>
                <a:srgbClr val="42719B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2179" name="Google Shape;2179;p79"/>
            <p:cNvCxnSpPr>
              <a:stCxn id="2170" idx="3"/>
              <a:endCxn id="2171" idx="7"/>
            </p:cNvCxnSpPr>
            <p:nvPr/>
          </p:nvCxnSpPr>
          <p:spPr>
            <a:xfrm flipH="1">
              <a:off x="3725748" y="3250342"/>
              <a:ext cx="1154400" cy="5241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2180" name="Google Shape;2180;p79"/>
            <p:cNvCxnSpPr>
              <a:stCxn id="2176" idx="1"/>
              <a:endCxn id="2170" idx="5"/>
            </p:cNvCxnSpPr>
            <p:nvPr/>
          </p:nvCxnSpPr>
          <p:spPr>
            <a:xfrm rot="10800000">
              <a:off x="5275270" y="3250206"/>
              <a:ext cx="971400" cy="5241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2181" name="Google Shape;2181;p79"/>
            <p:cNvCxnSpPr>
              <a:stCxn id="2178" idx="1"/>
              <a:endCxn id="2176" idx="5"/>
            </p:cNvCxnSpPr>
            <p:nvPr/>
          </p:nvCxnSpPr>
          <p:spPr>
            <a:xfrm rot="10800000">
              <a:off x="6641708" y="4169349"/>
              <a:ext cx="382200" cy="4968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2182" name="Google Shape;2182;p79"/>
            <p:cNvCxnSpPr>
              <a:stCxn id="2177" idx="7"/>
              <a:endCxn id="2176" idx="3"/>
            </p:cNvCxnSpPr>
            <p:nvPr/>
          </p:nvCxnSpPr>
          <p:spPr>
            <a:xfrm rot="10800000" flipH="1">
              <a:off x="5887144" y="4169349"/>
              <a:ext cx="359400" cy="4968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2183" name="Google Shape;2183;p79"/>
            <p:cNvCxnSpPr>
              <a:stCxn id="2171" idx="3"/>
              <a:endCxn id="2172" idx="7"/>
            </p:cNvCxnSpPr>
            <p:nvPr/>
          </p:nvCxnSpPr>
          <p:spPr>
            <a:xfrm flipH="1">
              <a:off x="2792848" y="4169438"/>
              <a:ext cx="537900" cy="4143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2184" name="Google Shape;2184;p79"/>
            <p:cNvCxnSpPr>
              <a:stCxn id="2171" idx="5"/>
              <a:endCxn id="2175" idx="1"/>
            </p:cNvCxnSpPr>
            <p:nvPr/>
          </p:nvCxnSpPr>
          <p:spPr>
            <a:xfrm>
              <a:off x="3725880" y="4169438"/>
              <a:ext cx="553800" cy="4695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</p:grpSp>
      <p:graphicFrame>
        <p:nvGraphicFramePr>
          <p:cNvPr id="2185" name="Google Shape;2185;p79"/>
          <p:cNvGraphicFramePr/>
          <p:nvPr/>
        </p:nvGraphicFramePr>
        <p:xfrm>
          <a:off x="6264108" y="5191177"/>
          <a:ext cx="3872700" cy="731540"/>
        </p:xfrm>
        <a:graphic>
          <a:graphicData uri="http://schemas.openxmlformats.org/drawingml/2006/table">
            <a:tbl>
              <a:tblPr firstRow="1" bandRow="1">
                <a:noFill/>
                <a:tableStyleId>{66088737-8E24-4614-AAA7-3D08145F63E1}</a:tableStyleId>
              </a:tblPr>
              <a:tblGrid>
                <a:gridCol w="430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03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03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303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303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303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303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303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4303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2914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1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2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3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4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5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6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7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8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9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14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2186" name="Google Shape;2186;p79"/>
          <p:cNvSpPr/>
          <p:nvPr/>
        </p:nvSpPr>
        <p:spPr>
          <a:xfrm rot="5400000">
            <a:off x="9055796" y="3033075"/>
            <a:ext cx="499620" cy="292231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12700" cap="flat" cmpd="sng">
            <a:solidFill>
              <a:srgbClr val="AC5B23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1" name="Google Shape;2191;p80"/>
          <p:cNvSpPr txBox="1">
            <a:spLocks noGrp="1"/>
          </p:cNvSpPr>
          <p:nvPr>
            <p:ph type="body" idx="1"/>
          </p:nvPr>
        </p:nvSpPr>
        <p:spPr>
          <a:xfrm>
            <a:off x="838200" y="1227909"/>
            <a:ext cx="10515600" cy="49490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2095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2100"/>
              <a:buFont typeface="Arial"/>
              <a:buNone/>
            </a:pPr>
            <a:endParaRPr/>
          </a:p>
        </p:txBody>
      </p:sp>
      <p:sp>
        <p:nvSpPr>
          <p:cNvPr id="2192" name="Google Shape;2192;p80"/>
          <p:cNvSpPr txBox="1">
            <a:spLocks noGrp="1"/>
          </p:cNvSpPr>
          <p:nvPr>
            <p:ph type="dt" idx="10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33623F55-1A54-486B-8D38-EA4850278255}" type="datetime1">
              <a:rPr lang="en-US" smtClean="0"/>
              <a:t>1/12/2026</a:t>
            </a:fld>
            <a:endParaRPr/>
          </a:p>
        </p:txBody>
      </p:sp>
      <p:sp>
        <p:nvSpPr>
          <p:cNvPr id="2193" name="Google Shape;2193;p80"/>
          <p:cNvSpPr txBox="1">
            <a:spLocks noGrp="1"/>
          </p:cNvSpPr>
          <p:nvPr>
            <p:ph type="ftr" idx="11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Lec Asif Abrar, Dept of CSE, UIU</a:t>
            </a:r>
            <a:endParaRPr/>
          </a:p>
        </p:txBody>
      </p:sp>
      <p:sp>
        <p:nvSpPr>
          <p:cNvPr id="2194" name="Google Shape;2194;p80"/>
          <p:cNvSpPr txBox="1">
            <a:spLocks noGrp="1"/>
          </p:cNvSpPr>
          <p:nvPr>
            <p:ph type="sldNum" idx="12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66</a:t>
            </a:fld>
            <a:endParaRPr/>
          </a:p>
        </p:txBody>
      </p:sp>
      <p:sp>
        <p:nvSpPr>
          <p:cNvPr id="2195" name="Google Shape;2195;p80"/>
          <p:cNvSpPr txBox="1">
            <a:spLocks noGrp="1"/>
          </p:cNvSpPr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/>
              <a:t>Heap Sort</a:t>
            </a:r>
            <a:endParaRPr/>
          </a:p>
        </p:txBody>
      </p:sp>
      <p:pic>
        <p:nvPicPr>
          <p:cNvPr id="2196" name="Google Shape;2196;p8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46375" y="1227909"/>
            <a:ext cx="4287435" cy="206189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197" name="Google Shape;2197;p80"/>
          <p:cNvGrpSpPr/>
          <p:nvPr/>
        </p:nvGrpSpPr>
        <p:grpSpPr>
          <a:xfrm>
            <a:off x="6708469" y="2535751"/>
            <a:ext cx="2222141" cy="2161431"/>
            <a:chOff x="2315882" y="2773376"/>
            <a:chExt cx="4407754" cy="4021426"/>
          </a:xfrm>
        </p:grpSpPr>
        <p:sp>
          <p:nvSpPr>
            <p:cNvPr id="2198" name="Google Shape;2198;p80"/>
            <p:cNvSpPr/>
            <p:nvPr/>
          </p:nvSpPr>
          <p:spPr>
            <a:xfrm>
              <a:off x="4798314" y="2773376"/>
              <a:ext cx="558800" cy="558800"/>
            </a:xfrm>
            <a:prstGeom prst="ellipse">
              <a:avLst/>
            </a:prstGeom>
            <a:solidFill>
              <a:schemeClr val="accent1"/>
            </a:solidFill>
            <a:ln w="12700" cap="flat" cmpd="sng">
              <a:solidFill>
                <a:srgbClr val="42719B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99" name="Google Shape;2199;p80"/>
            <p:cNvSpPr/>
            <p:nvPr/>
          </p:nvSpPr>
          <p:spPr>
            <a:xfrm>
              <a:off x="3248914" y="3692472"/>
              <a:ext cx="558800" cy="558800"/>
            </a:xfrm>
            <a:prstGeom prst="ellipse">
              <a:avLst/>
            </a:prstGeom>
            <a:solidFill>
              <a:schemeClr val="accent2"/>
            </a:solidFill>
            <a:ln w="12700" cap="flat" cmpd="sng">
              <a:solidFill>
                <a:srgbClr val="42719B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00" name="Google Shape;2200;p80"/>
            <p:cNvSpPr/>
            <p:nvPr/>
          </p:nvSpPr>
          <p:spPr>
            <a:xfrm>
              <a:off x="2315882" y="4501895"/>
              <a:ext cx="558800" cy="558800"/>
            </a:xfrm>
            <a:prstGeom prst="ellipse">
              <a:avLst/>
            </a:prstGeom>
            <a:solidFill>
              <a:schemeClr val="accent2"/>
            </a:solidFill>
            <a:ln w="12700" cap="flat" cmpd="sng">
              <a:solidFill>
                <a:srgbClr val="42719B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01" name="Google Shape;2201;p80"/>
            <p:cNvSpPr/>
            <p:nvPr/>
          </p:nvSpPr>
          <p:spPr>
            <a:xfrm>
              <a:off x="5077712" y="6206181"/>
              <a:ext cx="558799" cy="558800"/>
            </a:xfrm>
            <a:prstGeom prst="ellipse">
              <a:avLst/>
            </a:prstGeom>
            <a:solidFill>
              <a:schemeClr val="accent2"/>
            </a:solidFill>
            <a:ln w="12700" cap="flat" cmpd="sng">
              <a:solidFill>
                <a:srgbClr val="42719B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02" name="Google Shape;2202;p80"/>
            <p:cNvSpPr/>
            <p:nvPr/>
          </p:nvSpPr>
          <p:spPr>
            <a:xfrm>
              <a:off x="6088876" y="6149107"/>
              <a:ext cx="558799" cy="558800"/>
            </a:xfrm>
            <a:prstGeom prst="ellipse">
              <a:avLst/>
            </a:prstGeom>
            <a:solidFill>
              <a:schemeClr val="accent2"/>
            </a:solidFill>
            <a:ln w="12700" cap="flat" cmpd="sng">
              <a:solidFill>
                <a:srgbClr val="42719B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03" name="Google Shape;2203;p80"/>
            <p:cNvSpPr/>
            <p:nvPr/>
          </p:nvSpPr>
          <p:spPr>
            <a:xfrm>
              <a:off x="4197746" y="4557225"/>
              <a:ext cx="558800" cy="558800"/>
            </a:xfrm>
            <a:prstGeom prst="ellipse">
              <a:avLst/>
            </a:prstGeom>
            <a:solidFill>
              <a:schemeClr val="accent2"/>
            </a:solidFill>
            <a:ln w="12700" cap="flat" cmpd="sng">
              <a:solidFill>
                <a:srgbClr val="42719B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04" name="Google Shape;2204;p80"/>
            <p:cNvSpPr/>
            <p:nvPr/>
          </p:nvSpPr>
          <p:spPr>
            <a:xfrm>
              <a:off x="6164836" y="3692472"/>
              <a:ext cx="558800" cy="558800"/>
            </a:xfrm>
            <a:prstGeom prst="ellipse">
              <a:avLst/>
            </a:prstGeom>
            <a:solidFill>
              <a:schemeClr val="accent2"/>
            </a:solidFill>
            <a:ln w="12700" cap="flat" cmpd="sng">
              <a:solidFill>
                <a:srgbClr val="42719B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05" name="Google Shape;2205;p80"/>
            <p:cNvSpPr/>
            <p:nvPr/>
          </p:nvSpPr>
          <p:spPr>
            <a:xfrm>
              <a:off x="5410178" y="4584315"/>
              <a:ext cx="558800" cy="558800"/>
            </a:xfrm>
            <a:prstGeom prst="ellipse">
              <a:avLst/>
            </a:prstGeom>
            <a:solidFill>
              <a:schemeClr val="accent2"/>
            </a:solidFill>
            <a:ln w="12700" cap="flat" cmpd="sng">
              <a:solidFill>
                <a:srgbClr val="42719B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06" name="Google Shape;2206;p80"/>
            <p:cNvSpPr/>
            <p:nvPr/>
          </p:nvSpPr>
          <p:spPr>
            <a:xfrm>
              <a:off x="4321350" y="6236002"/>
              <a:ext cx="558799" cy="558800"/>
            </a:xfrm>
            <a:prstGeom prst="ellipse">
              <a:avLst/>
            </a:prstGeom>
            <a:solidFill>
              <a:schemeClr val="accent2"/>
            </a:solidFill>
            <a:ln w="12700" cap="flat" cmpd="sng">
              <a:solidFill>
                <a:srgbClr val="42719B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2207" name="Google Shape;2207;p80"/>
            <p:cNvCxnSpPr>
              <a:stCxn id="2198" idx="3"/>
              <a:endCxn id="2199" idx="7"/>
            </p:cNvCxnSpPr>
            <p:nvPr/>
          </p:nvCxnSpPr>
          <p:spPr>
            <a:xfrm flipH="1">
              <a:off x="3725748" y="3250342"/>
              <a:ext cx="1154400" cy="5241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2208" name="Google Shape;2208;p80"/>
            <p:cNvCxnSpPr>
              <a:stCxn id="2204" idx="1"/>
              <a:endCxn id="2198" idx="5"/>
            </p:cNvCxnSpPr>
            <p:nvPr/>
          </p:nvCxnSpPr>
          <p:spPr>
            <a:xfrm rot="10800000">
              <a:off x="5275270" y="3250206"/>
              <a:ext cx="971400" cy="5241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2209" name="Google Shape;2209;p80"/>
            <p:cNvCxnSpPr>
              <a:stCxn id="2205" idx="7"/>
              <a:endCxn id="2204" idx="3"/>
            </p:cNvCxnSpPr>
            <p:nvPr/>
          </p:nvCxnSpPr>
          <p:spPr>
            <a:xfrm rot="10800000" flipH="1">
              <a:off x="5887144" y="4169349"/>
              <a:ext cx="359400" cy="4968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2210" name="Google Shape;2210;p80"/>
            <p:cNvCxnSpPr>
              <a:stCxn id="2199" idx="3"/>
              <a:endCxn id="2200" idx="7"/>
            </p:cNvCxnSpPr>
            <p:nvPr/>
          </p:nvCxnSpPr>
          <p:spPr>
            <a:xfrm flipH="1">
              <a:off x="2792848" y="4169438"/>
              <a:ext cx="537900" cy="4143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2211" name="Google Shape;2211;p80"/>
            <p:cNvCxnSpPr>
              <a:stCxn id="2199" idx="5"/>
              <a:endCxn id="2203" idx="1"/>
            </p:cNvCxnSpPr>
            <p:nvPr/>
          </p:nvCxnSpPr>
          <p:spPr>
            <a:xfrm>
              <a:off x="3725880" y="4169438"/>
              <a:ext cx="553800" cy="4695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</p:grpSp>
      <p:graphicFrame>
        <p:nvGraphicFramePr>
          <p:cNvPr id="2212" name="Google Shape;2212;p80"/>
          <p:cNvGraphicFramePr/>
          <p:nvPr/>
        </p:nvGraphicFramePr>
        <p:xfrm>
          <a:off x="6264108" y="5191177"/>
          <a:ext cx="3872700" cy="731540"/>
        </p:xfrm>
        <a:graphic>
          <a:graphicData uri="http://schemas.openxmlformats.org/drawingml/2006/table">
            <a:tbl>
              <a:tblPr firstRow="1" bandRow="1">
                <a:noFill/>
                <a:tableStyleId>{66088737-8E24-4614-AAA7-3D08145F63E1}</a:tableStyleId>
              </a:tblPr>
              <a:tblGrid>
                <a:gridCol w="430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03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03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303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303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303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303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303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4303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2914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1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2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3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4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5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6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7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8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9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14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2213" name="Google Shape;2213;p80"/>
          <p:cNvSpPr/>
          <p:nvPr/>
        </p:nvSpPr>
        <p:spPr>
          <a:xfrm rot="5400000">
            <a:off x="9055796" y="3033075"/>
            <a:ext cx="499620" cy="292231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12700" cap="flat" cmpd="sng">
            <a:solidFill>
              <a:srgbClr val="AC5B23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8" name="Google Shape;2218;p81"/>
          <p:cNvSpPr txBox="1">
            <a:spLocks noGrp="1"/>
          </p:cNvSpPr>
          <p:nvPr>
            <p:ph type="body" idx="1"/>
          </p:nvPr>
        </p:nvSpPr>
        <p:spPr>
          <a:xfrm>
            <a:off x="838200" y="1227909"/>
            <a:ext cx="10515600" cy="49490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2095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2100"/>
              <a:buFont typeface="Arial"/>
              <a:buNone/>
            </a:pPr>
            <a:endParaRPr/>
          </a:p>
        </p:txBody>
      </p:sp>
      <p:sp>
        <p:nvSpPr>
          <p:cNvPr id="2219" name="Google Shape;2219;p81"/>
          <p:cNvSpPr txBox="1">
            <a:spLocks noGrp="1"/>
          </p:cNvSpPr>
          <p:nvPr>
            <p:ph type="dt" idx="10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310371A9-CF85-4294-9077-2E37EC8A9D54}" type="datetime1">
              <a:rPr lang="en-US" smtClean="0"/>
              <a:t>1/12/2026</a:t>
            </a:fld>
            <a:endParaRPr/>
          </a:p>
        </p:txBody>
      </p:sp>
      <p:sp>
        <p:nvSpPr>
          <p:cNvPr id="2220" name="Google Shape;2220;p81"/>
          <p:cNvSpPr txBox="1">
            <a:spLocks noGrp="1"/>
          </p:cNvSpPr>
          <p:nvPr>
            <p:ph type="ftr" idx="11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Lec Asif Abrar, Dept of CSE, UIU</a:t>
            </a:r>
            <a:endParaRPr/>
          </a:p>
        </p:txBody>
      </p:sp>
      <p:sp>
        <p:nvSpPr>
          <p:cNvPr id="2221" name="Google Shape;2221;p81"/>
          <p:cNvSpPr txBox="1">
            <a:spLocks noGrp="1"/>
          </p:cNvSpPr>
          <p:nvPr>
            <p:ph type="sldNum" idx="12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67</a:t>
            </a:fld>
            <a:endParaRPr/>
          </a:p>
        </p:txBody>
      </p:sp>
      <p:sp>
        <p:nvSpPr>
          <p:cNvPr id="2222" name="Google Shape;2222;p81"/>
          <p:cNvSpPr txBox="1">
            <a:spLocks noGrp="1"/>
          </p:cNvSpPr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/>
              <a:t>Heap Sort</a:t>
            </a:r>
            <a:endParaRPr/>
          </a:p>
        </p:txBody>
      </p:sp>
      <p:pic>
        <p:nvPicPr>
          <p:cNvPr id="2223" name="Google Shape;2223;p8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46375" y="1227909"/>
            <a:ext cx="4287435" cy="206189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224" name="Google Shape;2224;p81"/>
          <p:cNvGrpSpPr/>
          <p:nvPr/>
        </p:nvGrpSpPr>
        <p:grpSpPr>
          <a:xfrm>
            <a:off x="6708469" y="2535751"/>
            <a:ext cx="2222141" cy="2145403"/>
            <a:chOff x="2315882" y="2773376"/>
            <a:chExt cx="4407754" cy="3991605"/>
          </a:xfrm>
        </p:grpSpPr>
        <p:sp>
          <p:nvSpPr>
            <p:cNvPr id="2225" name="Google Shape;2225;p81"/>
            <p:cNvSpPr/>
            <p:nvPr/>
          </p:nvSpPr>
          <p:spPr>
            <a:xfrm>
              <a:off x="4798314" y="2773376"/>
              <a:ext cx="558800" cy="558800"/>
            </a:xfrm>
            <a:prstGeom prst="ellipse">
              <a:avLst/>
            </a:prstGeom>
            <a:solidFill>
              <a:schemeClr val="accent1"/>
            </a:solidFill>
            <a:ln w="12700" cap="flat" cmpd="sng">
              <a:solidFill>
                <a:srgbClr val="42719B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26" name="Google Shape;2226;p81"/>
            <p:cNvSpPr/>
            <p:nvPr/>
          </p:nvSpPr>
          <p:spPr>
            <a:xfrm>
              <a:off x="3248914" y="3692472"/>
              <a:ext cx="558800" cy="558800"/>
            </a:xfrm>
            <a:prstGeom prst="ellipse">
              <a:avLst/>
            </a:prstGeom>
            <a:solidFill>
              <a:schemeClr val="accent2"/>
            </a:solidFill>
            <a:ln w="12700" cap="flat" cmpd="sng">
              <a:solidFill>
                <a:srgbClr val="42719B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27" name="Google Shape;2227;p81"/>
            <p:cNvSpPr/>
            <p:nvPr/>
          </p:nvSpPr>
          <p:spPr>
            <a:xfrm>
              <a:off x="2315882" y="4501895"/>
              <a:ext cx="558800" cy="558800"/>
            </a:xfrm>
            <a:prstGeom prst="ellipse">
              <a:avLst/>
            </a:prstGeom>
            <a:solidFill>
              <a:schemeClr val="accent2"/>
            </a:solidFill>
            <a:ln w="12700" cap="flat" cmpd="sng">
              <a:solidFill>
                <a:srgbClr val="42719B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28" name="Google Shape;2228;p81"/>
            <p:cNvSpPr/>
            <p:nvPr/>
          </p:nvSpPr>
          <p:spPr>
            <a:xfrm>
              <a:off x="5077712" y="6206181"/>
              <a:ext cx="558799" cy="558800"/>
            </a:xfrm>
            <a:prstGeom prst="ellipse">
              <a:avLst/>
            </a:prstGeom>
            <a:solidFill>
              <a:schemeClr val="accent2"/>
            </a:solidFill>
            <a:ln w="12700" cap="flat" cmpd="sng">
              <a:solidFill>
                <a:srgbClr val="42719B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29" name="Google Shape;2229;p81"/>
            <p:cNvSpPr/>
            <p:nvPr/>
          </p:nvSpPr>
          <p:spPr>
            <a:xfrm>
              <a:off x="6088876" y="6149107"/>
              <a:ext cx="558799" cy="558800"/>
            </a:xfrm>
            <a:prstGeom prst="ellipse">
              <a:avLst/>
            </a:prstGeom>
            <a:solidFill>
              <a:schemeClr val="accent2"/>
            </a:solidFill>
            <a:ln w="12700" cap="flat" cmpd="sng">
              <a:solidFill>
                <a:srgbClr val="42719B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30" name="Google Shape;2230;p81"/>
            <p:cNvSpPr/>
            <p:nvPr/>
          </p:nvSpPr>
          <p:spPr>
            <a:xfrm>
              <a:off x="4197746" y="4557225"/>
              <a:ext cx="558800" cy="558800"/>
            </a:xfrm>
            <a:prstGeom prst="ellipse">
              <a:avLst/>
            </a:prstGeom>
            <a:solidFill>
              <a:schemeClr val="accent2"/>
            </a:solidFill>
            <a:ln w="12700" cap="flat" cmpd="sng">
              <a:solidFill>
                <a:srgbClr val="42719B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31" name="Google Shape;2231;p81"/>
            <p:cNvSpPr/>
            <p:nvPr/>
          </p:nvSpPr>
          <p:spPr>
            <a:xfrm>
              <a:off x="6164836" y="3692472"/>
              <a:ext cx="558800" cy="558800"/>
            </a:xfrm>
            <a:prstGeom prst="ellipse">
              <a:avLst/>
            </a:prstGeom>
            <a:solidFill>
              <a:schemeClr val="accent2"/>
            </a:solidFill>
            <a:ln w="12700" cap="flat" cmpd="sng">
              <a:solidFill>
                <a:srgbClr val="42719B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32" name="Google Shape;2232;p81"/>
            <p:cNvSpPr/>
            <p:nvPr/>
          </p:nvSpPr>
          <p:spPr>
            <a:xfrm>
              <a:off x="5410178" y="4584315"/>
              <a:ext cx="558800" cy="558800"/>
            </a:xfrm>
            <a:prstGeom prst="ellipse">
              <a:avLst/>
            </a:prstGeom>
            <a:solidFill>
              <a:schemeClr val="accent2"/>
            </a:solidFill>
            <a:ln w="12700" cap="flat" cmpd="sng">
              <a:solidFill>
                <a:srgbClr val="42719B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33" name="Google Shape;2233;p81"/>
            <p:cNvSpPr/>
            <p:nvPr/>
          </p:nvSpPr>
          <p:spPr>
            <a:xfrm>
              <a:off x="4197744" y="6206179"/>
              <a:ext cx="558799" cy="558800"/>
            </a:xfrm>
            <a:prstGeom prst="ellipse">
              <a:avLst/>
            </a:prstGeom>
            <a:solidFill>
              <a:schemeClr val="accent2"/>
            </a:solidFill>
            <a:ln w="12700" cap="flat" cmpd="sng">
              <a:solidFill>
                <a:srgbClr val="42719B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2234" name="Google Shape;2234;p81"/>
            <p:cNvCxnSpPr>
              <a:stCxn id="2225" idx="3"/>
              <a:endCxn id="2226" idx="7"/>
            </p:cNvCxnSpPr>
            <p:nvPr/>
          </p:nvCxnSpPr>
          <p:spPr>
            <a:xfrm flipH="1">
              <a:off x="3725748" y="3250342"/>
              <a:ext cx="1154400" cy="5241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2235" name="Google Shape;2235;p81"/>
            <p:cNvCxnSpPr>
              <a:stCxn id="2231" idx="1"/>
              <a:endCxn id="2225" idx="5"/>
            </p:cNvCxnSpPr>
            <p:nvPr/>
          </p:nvCxnSpPr>
          <p:spPr>
            <a:xfrm rot="10800000">
              <a:off x="5275270" y="3250206"/>
              <a:ext cx="971400" cy="5241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2236" name="Google Shape;2236;p81"/>
            <p:cNvCxnSpPr>
              <a:stCxn id="2232" idx="7"/>
              <a:endCxn id="2231" idx="3"/>
            </p:cNvCxnSpPr>
            <p:nvPr/>
          </p:nvCxnSpPr>
          <p:spPr>
            <a:xfrm rot="10800000" flipH="1">
              <a:off x="5887144" y="4169349"/>
              <a:ext cx="359400" cy="4968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2237" name="Google Shape;2237;p81"/>
            <p:cNvCxnSpPr>
              <a:stCxn id="2226" idx="3"/>
              <a:endCxn id="2227" idx="7"/>
            </p:cNvCxnSpPr>
            <p:nvPr/>
          </p:nvCxnSpPr>
          <p:spPr>
            <a:xfrm flipH="1">
              <a:off x="2792848" y="4169438"/>
              <a:ext cx="537900" cy="4143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2238" name="Google Shape;2238;p81"/>
            <p:cNvCxnSpPr>
              <a:stCxn id="2226" idx="5"/>
              <a:endCxn id="2230" idx="1"/>
            </p:cNvCxnSpPr>
            <p:nvPr/>
          </p:nvCxnSpPr>
          <p:spPr>
            <a:xfrm>
              <a:off x="3725880" y="4169438"/>
              <a:ext cx="553800" cy="4695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</p:grpSp>
      <p:graphicFrame>
        <p:nvGraphicFramePr>
          <p:cNvPr id="2239" name="Google Shape;2239;p81"/>
          <p:cNvGraphicFramePr/>
          <p:nvPr/>
        </p:nvGraphicFramePr>
        <p:xfrm>
          <a:off x="6264108" y="5191177"/>
          <a:ext cx="3872700" cy="731540"/>
        </p:xfrm>
        <a:graphic>
          <a:graphicData uri="http://schemas.openxmlformats.org/drawingml/2006/table">
            <a:tbl>
              <a:tblPr firstRow="1" bandRow="1">
                <a:noFill/>
                <a:tableStyleId>{66088737-8E24-4614-AAA7-3D08145F63E1}</a:tableStyleId>
              </a:tblPr>
              <a:tblGrid>
                <a:gridCol w="430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03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03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303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303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303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303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303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4303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2914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1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2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3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4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5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6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7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8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9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14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2240" name="Google Shape;2240;p81"/>
          <p:cNvSpPr/>
          <p:nvPr/>
        </p:nvSpPr>
        <p:spPr>
          <a:xfrm rot="5400000">
            <a:off x="9055796" y="3033075"/>
            <a:ext cx="499620" cy="292231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12700" cap="flat" cmpd="sng">
            <a:solidFill>
              <a:srgbClr val="AC5B23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1" name="Google Shape;2241;p81"/>
          <p:cNvSpPr/>
          <p:nvPr/>
        </p:nvSpPr>
        <p:spPr>
          <a:xfrm>
            <a:off x="7242471" y="2119613"/>
            <a:ext cx="1939121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MaxHeapify(A,1)</a:t>
            </a:r>
            <a:endParaRPr/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6" name="Google Shape;2246;p82"/>
          <p:cNvSpPr txBox="1">
            <a:spLocks noGrp="1"/>
          </p:cNvSpPr>
          <p:nvPr>
            <p:ph type="body" idx="1"/>
          </p:nvPr>
        </p:nvSpPr>
        <p:spPr>
          <a:xfrm>
            <a:off x="838200" y="1227909"/>
            <a:ext cx="10515600" cy="49490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2095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2100"/>
              <a:buFont typeface="Arial"/>
              <a:buNone/>
            </a:pPr>
            <a:endParaRPr/>
          </a:p>
        </p:txBody>
      </p:sp>
      <p:sp>
        <p:nvSpPr>
          <p:cNvPr id="2247" name="Google Shape;2247;p82"/>
          <p:cNvSpPr txBox="1">
            <a:spLocks noGrp="1"/>
          </p:cNvSpPr>
          <p:nvPr>
            <p:ph type="dt" idx="10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DAC228A9-2318-474E-B42D-02FCA29599D5}" type="datetime1">
              <a:rPr lang="en-US" smtClean="0"/>
              <a:t>1/12/2026</a:t>
            </a:fld>
            <a:endParaRPr/>
          </a:p>
        </p:txBody>
      </p:sp>
      <p:sp>
        <p:nvSpPr>
          <p:cNvPr id="2248" name="Google Shape;2248;p82"/>
          <p:cNvSpPr txBox="1">
            <a:spLocks noGrp="1"/>
          </p:cNvSpPr>
          <p:nvPr>
            <p:ph type="ftr" idx="11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Lec Asif Abrar, Dept of CSE, UIU</a:t>
            </a:r>
            <a:endParaRPr/>
          </a:p>
        </p:txBody>
      </p:sp>
      <p:sp>
        <p:nvSpPr>
          <p:cNvPr id="2249" name="Google Shape;2249;p82"/>
          <p:cNvSpPr txBox="1">
            <a:spLocks noGrp="1"/>
          </p:cNvSpPr>
          <p:nvPr>
            <p:ph type="sldNum" idx="12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68</a:t>
            </a:fld>
            <a:endParaRPr/>
          </a:p>
        </p:txBody>
      </p:sp>
      <p:sp>
        <p:nvSpPr>
          <p:cNvPr id="2250" name="Google Shape;2250;p82"/>
          <p:cNvSpPr txBox="1">
            <a:spLocks noGrp="1"/>
          </p:cNvSpPr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/>
              <a:t>Heap Sort</a:t>
            </a:r>
            <a:endParaRPr/>
          </a:p>
        </p:txBody>
      </p:sp>
      <p:pic>
        <p:nvPicPr>
          <p:cNvPr id="2251" name="Google Shape;2251;p8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46375" y="1227909"/>
            <a:ext cx="4287435" cy="206189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252" name="Google Shape;2252;p82"/>
          <p:cNvGrpSpPr/>
          <p:nvPr/>
        </p:nvGrpSpPr>
        <p:grpSpPr>
          <a:xfrm>
            <a:off x="5812810" y="2535751"/>
            <a:ext cx="3079505" cy="2225143"/>
            <a:chOff x="539287" y="2773376"/>
            <a:chExt cx="6108388" cy="4139965"/>
          </a:xfrm>
        </p:grpSpPr>
        <p:sp>
          <p:nvSpPr>
            <p:cNvPr id="2253" name="Google Shape;2253;p82"/>
            <p:cNvSpPr/>
            <p:nvPr/>
          </p:nvSpPr>
          <p:spPr>
            <a:xfrm>
              <a:off x="4798314" y="2773376"/>
              <a:ext cx="558800" cy="558800"/>
            </a:xfrm>
            <a:prstGeom prst="ellipse">
              <a:avLst/>
            </a:prstGeom>
            <a:solidFill>
              <a:schemeClr val="accent2"/>
            </a:solidFill>
            <a:ln w="12700" cap="flat" cmpd="sng">
              <a:solidFill>
                <a:srgbClr val="42719B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54" name="Google Shape;2254;p82"/>
            <p:cNvSpPr/>
            <p:nvPr/>
          </p:nvSpPr>
          <p:spPr>
            <a:xfrm>
              <a:off x="3248914" y="3692472"/>
              <a:ext cx="558800" cy="558800"/>
            </a:xfrm>
            <a:prstGeom prst="ellipse">
              <a:avLst/>
            </a:prstGeom>
            <a:solidFill>
              <a:schemeClr val="accent2"/>
            </a:solidFill>
            <a:ln w="12700" cap="flat" cmpd="sng">
              <a:solidFill>
                <a:srgbClr val="42719B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55" name="Google Shape;2255;p82"/>
            <p:cNvSpPr/>
            <p:nvPr/>
          </p:nvSpPr>
          <p:spPr>
            <a:xfrm>
              <a:off x="2525630" y="6214353"/>
              <a:ext cx="558799" cy="558800"/>
            </a:xfrm>
            <a:prstGeom prst="ellipse">
              <a:avLst/>
            </a:prstGeom>
            <a:solidFill>
              <a:schemeClr val="accent2"/>
            </a:solidFill>
            <a:ln w="12700" cap="flat" cmpd="sng">
              <a:solidFill>
                <a:srgbClr val="42719B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56" name="Google Shape;2256;p82"/>
            <p:cNvSpPr/>
            <p:nvPr/>
          </p:nvSpPr>
          <p:spPr>
            <a:xfrm>
              <a:off x="5077712" y="6206181"/>
              <a:ext cx="558799" cy="558800"/>
            </a:xfrm>
            <a:prstGeom prst="ellipse">
              <a:avLst/>
            </a:prstGeom>
            <a:solidFill>
              <a:schemeClr val="accent2"/>
            </a:solidFill>
            <a:ln w="12700" cap="flat" cmpd="sng">
              <a:solidFill>
                <a:srgbClr val="42719B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57" name="Google Shape;2257;p82"/>
            <p:cNvSpPr/>
            <p:nvPr/>
          </p:nvSpPr>
          <p:spPr>
            <a:xfrm>
              <a:off x="6088876" y="6149107"/>
              <a:ext cx="558799" cy="558800"/>
            </a:xfrm>
            <a:prstGeom prst="ellipse">
              <a:avLst/>
            </a:prstGeom>
            <a:solidFill>
              <a:schemeClr val="accent2"/>
            </a:solidFill>
            <a:ln w="12700" cap="flat" cmpd="sng">
              <a:solidFill>
                <a:srgbClr val="42719B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58" name="Google Shape;2258;p82"/>
            <p:cNvSpPr/>
            <p:nvPr/>
          </p:nvSpPr>
          <p:spPr>
            <a:xfrm>
              <a:off x="3379250" y="6163800"/>
              <a:ext cx="558799" cy="558800"/>
            </a:xfrm>
            <a:prstGeom prst="ellipse">
              <a:avLst/>
            </a:prstGeom>
            <a:solidFill>
              <a:schemeClr val="accent2"/>
            </a:solidFill>
            <a:ln w="12700" cap="flat" cmpd="sng">
              <a:solidFill>
                <a:srgbClr val="42719B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59" name="Google Shape;2259;p82"/>
            <p:cNvSpPr/>
            <p:nvPr/>
          </p:nvSpPr>
          <p:spPr>
            <a:xfrm>
              <a:off x="539287" y="6354541"/>
              <a:ext cx="558799" cy="558800"/>
            </a:xfrm>
            <a:prstGeom prst="ellipse">
              <a:avLst/>
            </a:prstGeom>
            <a:solidFill>
              <a:schemeClr val="accent2"/>
            </a:solidFill>
            <a:ln w="12700" cap="flat" cmpd="sng">
              <a:solidFill>
                <a:srgbClr val="42719B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60" name="Google Shape;2260;p82"/>
            <p:cNvSpPr/>
            <p:nvPr/>
          </p:nvSpPr>
          <p:spPr>
            <a:xfrm>
              <a:off x="1584257" y="6245634"/>
              <a:ext cx="558799" cy="558800"/>
            </a:xfrm>
            <a:prstGeom prst="ellipse">
              <a:avLst/>
            </a:prstGeom>
            <a:solidFill>
              <a:schemeClr val="accent2"/>
            </a:solidFill>
            <a:ln w="12700" cap="flat" cmpd="sng">
              <a:solidFill>
                <a:srgbClr val="42719B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61" name="Google Shape;2261;p82"/>
            <p:cNvSpPr/>
            <p:nvPr/>
          </p:nvSpPr>
          <p:spPr>
            <a:xfrm>
              <a:off x="4197744" y="6206179"/>
              <a:ext cx="558799" cy="558800"/>
            </a:xfrm>
            <a:prstGeom prst="ellipse">
              <a:avLst/>
            </a:prstGeom>
            <a:solidFill>
              <a:schemeClr val="accent2"/>
            </a:solidFill>
            <a:ln w="12700" cap="flat" cmpd="sng">
              <a:solidFill>
                <a:srgbClr val="42719B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2262" name="Google Shape;2262;p82"/>
            <p:cNvCxnSpPr>
              <a:stCxn id="2253" idx="3"/>
              <a:endCxn id="2254" idx="7"/>
            </p:cNvCxnSpPr>
            <p:nvPr/>
          </p:nvCxnSpPr>
          <p:spPr>
            <a:xfrm flipH="1">
              <a:off x="3725748" y="3250342"/>
              <a:ext cx="1154400" cy="5241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</p:grpSp>
      <p:graphicFrame>
        <p:nvGraphicFramePr>
          <p:cNvPr id="2263" name="Google Shape;2263;p82"/>
          <p:cNvGraphicFramePr/>
          <p:nvPr/>
        </p:nvGraphicFramePr>
        <p:xfrm>
          <a:off x="6264108" y="5191177"/>
          <a:ext cx="3872700" cy="731540"/>
        </p:xfrm>
        <a:graphic>
          <a:graphicData uri="http://schemas.openxmlformats.org/drawingml/2006/table">
            <a:tbl>
              <a:tblPr firstRow="1" bandRow="1">
                <a:noFill/>
                <a:tableStyleId>{66088737-8E24-4614-AAA7-3D08145F63E1}</a:tableStyleId>
              </a:tblPr>
              <a:tblGrid>
                <a:gridCol w="430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03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03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303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303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303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303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303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4303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2914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1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2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3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4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5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6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7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8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9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14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2264" name="Google Shape;2264;p82"/>
          <p:cNvSpPr/>
          <p:nvPr/>
        </p:nvSpPr>
        <p:spPr>
          <a:xfrm>
            <a:off x="12831656" y="2769209"/>
            <a:ext cx="1939121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MaxHeapify(A,1)</a:t>
            </a:r>
            <a:endParaRPr/>
          </a:p>
        </p:txBody>
      </p:sp>
      <p:sp>
        <p:nvSpPr>
          <p:cNvPr id="2265" name="Google Shape;2265;p82"/>
          <p:cNvSpPr/>
          <p:nvPr/>
        </p:nvSpPr>
        <p:spPr>
          <a:xfrm rot="5400000">
            <a:off x="6851374" y="2626380"/>
            <a:ext cx="499620" cy="292231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12700" cap="flat" cmpd="sng">
            <a:solidFill>
              <a:srgbClr val="AC5B23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0" name="Google Shape;2270;p83"/>
          <p:cNvSpPr txBox="1">
            <a:spLocks noGrp="1"/>
          </p:cNvSpPr>
          <p:nvPr>
            <p:ph type="body" idx="1"/>
          </p:nvPr>
        </p:nvSpPr>
        <p:spPr>
          <a:xfrm>
            <a:off x="838200" y="1227909"/>
            <a:ext cx="10515600" cy="49490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2095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2100"/>
              <a:buFont typeface="Arial"/>
              <a:buNone/>
            </a:pPr>
            <a:endParaRPr/>
          </a:p>
        </p:txBody>
      </p:sp>
      <p:sp>
        <p:nvSpPr>
          <p:cNvPr id="2271" name="Google Shape;2271;p83"/>
          <p:cNvSpPr txBox="1">
            <a:spLocks noGrp="1"/>
          </p:cNvSpPr>
          <p:nvPr>
            <p:ph type="dt" idx="10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9EF0520D-A968-413E-80DF-E172B1D20E3F}" type="datetime1">
              <a:rPr lang="en-US" smtClean="0"/>
              <a:t>1/12/2026</a:t>
            </a:fld>
            <a:endParaRPr/>
          </a:p>
        </p:txBody>
      </p:sp>
      <p:sp>
        <p:nvSpPr>
          <p:cNvPr id="2272" name="Google Shape;2272;p83"/>
          <p:cNvSpPr txBox="1">
            <a:spLocks noGrp="1"/>
          </p:cNvSpPr>
          <p:nvPr>
            <p:ph type="ftr" idx="11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Lec Asif Abrar, Dept of CSE, UIU</a:t>
            </a:r>
            <a:endParaRPr/>
          </a:p>
        </p:txBody>
      </p:sp>
      <p:sp>
        <p:nvSpPr>
          <p:cNvPr id="2273" name="Google Shape;2273;p83"/>
          <p:cNvSpPr txBox="1">
            <a:spLocks noGrp="1"/>
          </p:cNvSpPr>
          <p:nvPr>
            <p:ph type="sldNum" idx="12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69</a:t>
            </a:fld>
            <a:endParaRPr/>
          </a:p>
        </p:txBody>
      </p:sp>
      <p:sp>
        <p:nvSpPr>
          <p:cNvPr id="2274" name="Google Shape;2274;p83"/>
          <p:cNvSpPr txBox="1">
            <a:spLocks noGrp="1"/>
          </p:cNvSpPr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/>
              <a:t>Heap Sort</a:t>
            </a:r>
            <a:endParaRPr/>
          </a:p>
        </p:txBody>
      </p:sp>
      <p:pic>
        <p:nvPicPr>
          <p:cNvPr id="2275" name="Google Shape;2275;p8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46375" y="1227909"/>
            <a:ext cx="4287435" cy="206189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276" name="Google Shape;2276;p83"/>
          <p:cNvGrpSpPr/>
          <p:nvPr/>
        </p:nvGrpSpPr>
        <p:grpSpPr>
          <a:xfrm>
            <a:off x="5812810" y="2535751"/>
            <a:ext cx="3079505" cy="2225143"/>
            <a:chOff x="539287" y="2773376"/>
            <a:chExt cx="6108388" cy="4139965"/>
          </a:xfrm>
        </p:grpSpPr>
        <p:sp>
          <p:nvSpPr>
            <p:cNvPr id="2277" name="Google Shape;2277;p83"/>
            <p:cNvSpPr/>
            <p:nvPr/>
          </p:nvSpPr>
          <p:spPr>
            <a:xfrm>
              <a:off x="4798314" y="2773376"/>
              <a:ext cx="558800" cy="558800"/>
            </a:xfrm>
            <a:prstGeom prst="ellipse">
              <a:avLst/>
            </a:prstGeom>
            <a:solidFill>
              <a:schemeClr val="accent2"/>
            </a:solidFill>
            <a:ln w="12700" cap="flat" cmpd="sng">
              <a:solidFill>
                <a:srgbClr val="42719B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78" name="Google Shape;2278;p83"/>
            <p:cNvSpPr/>
            <p:nvPr/>
          </p:nvSpPr>
          <p:spPr>
            <a:xfrm>
              <a:off x="3248914" y="3692472"/>
              <a:ext cx="558800" cy="558800"/>
            </a:xfrm>
            <a:prstGeom prst="ellipse">
              <a:avLst/>
            </a:prstGeom>
            <a:solidFill>
              <a:schemeClr val="accent1"/>
            </a:solidFill>
            <a:ln w="12700" cap="flat" cmpd="sng">
              <a:solidFill>
                <a:srgbClr val="42719B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79" name="Google Shape;2279;p83"/>
            <p:cNvSpPr/>
            <p:nvPr/>
          </p:nvSpPr>
          <p:spPr>
            <a:xfrm>
              <a:off x="2525630" y="6214353"/>
              <a:ext cx="558799" cy="558800"/>
            </a:xfrm>
            <a:prstGeom prst="ellipse">
              <a:avLst/>
            </a:prstGeom>
            <a:solidFill>
              <a:schemeClr val="accent2"/>
            </a:solidFill>
            <a:ln w="12700" cap="flat" cmpd="sng">
              <a:solidFill>
                <a:srgbClr val="42719B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80" name="Google Shape;2280;p83"/>
            <p:cNvSpPr/>
            <p:nvPr/>
          </p:nvSpPr>
          <p:spPr>
            <a:xfrm>
              <a:off x="5077712" y="6206181"/>
              <a:ext cx="558799" cy="558800"/>
            </a:xfrm>
            <a:prstGeom prst="ellipse">
              <a:avLst/>
            </a:prstGeom>
            <a:solidFill>
              <a:schemeClr val="accent2"/>
            </a:solidFill>
            <a:ln w="12700" cap="flat" cmpd="sng">
              <a:solidFill>
                <a:srgbClr val="42719B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81" name="Google Shape;2281;p83"/>
            <p:cNvSpPr/>
            <p:nvPr/>
          </p:nvSpPr>
          <p:spPr>
            <a:xfrm>
              <a:off x="6088876" y="6149107"/>
              <a:ext cx="558799" cy="558800"/>
            </a:xfrm>
            <a:prstGeom prst="ellipse">
              <a:avLst/>
            </a:prstGeom>
            <a:solidFill>
              <a:schemeClr val="accent2"/>
            </a:solidFill>
            <a:ln w="12700" cap="flat" cmpd="sng">
              <a:solidFill>
                <a:srgbClr val="42719B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82" name="Google Shape;2282;p83"/>
            <p:cNvSpPr/>
            <p:nvPr/>
          </p:nvSpPr>
          <p:spPr>
            <a:xfrm>
              <a:off x="3379250" y="6163800"/>
              <a:ext cx="558799" cy="558800"/>
            </a:xfrm>
            <a:prstGeom prst="ellipse">
              <a:avLst/>
            </a:prstGeom>
            <a:solidFill>
              <a:schemeClr val="accent2"/>
            </a:solidFill>
            <a:ln w="12700" cap="flat" cmpd="sng">
              <a:solidFill>
                <a:srgbClr val="42719B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83" name="Google Shape;2283;p83"/>
            <p:cNvSpPr/>
            <p:nvPr/>
          </p:nvSpPr>
          <p:spPr>
            <a:xfrm>
              <a:off x="539287" y="6354541"/>
              <a:ext cx="558799" cy="558800"/>
            </a:xfrm>
            <a:prstGeom prst="ellipse">
              <a:avLst/>
            </a:prstGeom>
            <a:solidFill>
              <a:schemeClr val="accent2"/>
            </a:solidFill>
            <a:ln w="12700" cap="flat" cmpd="sng">
              <a:solidFill>
                <a:srgbClr val="42719B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84" name="Google Shape;2284;p83"/>
            <p:cNvSpPr/>
            <p:nvPr/>
          </p:nvSpPr>
          <p:spPr>
            <a:xfrm>
              <a:off x="1584257" y="6245634"/>
              <a:ext cx="558799" cy="558800"/>
            </a:xfrm>
            <a:prstGeom prst="ellipse">
              <a:avLst/>
            </a:prstGeom>
            <a:solidFill>
              <a:schemeClr val="accent2"/>
            </a:solidFill>
            <a:ln w="12700" cap="flat" cmpd="sng">
              <a:solidFill>
                <a:srgbClr val="42719B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85" name="Google Shape;2285;p83"/>
            <p:cNvSpPr/>
            <p:nvPr/>
          </p:nvSpPr>
          <p:spPr>
            <a:xfrm>
              <a:off x="4197744" y="6206179"/>
              <a:ext cx="558799" cy="558800"/>
            </a:xfrm>
            <a:prstGeom prst="ellipse">
              <a:avLst/>
            </a:prstGeom>
            <a:solidFill>
              <a:schemeClr val="accent2"/>
            </a:solidFill>
            <a:ln w="12700" cap="flat" cmpd="sng">
              <a:solidFill>
                <a:srgbClr val="42719B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2286" name="Google Shape;2286;p83"/>
            <p:cNvCxnSpPr>
              <a:stCxn id="2277" idx="3"/>
              <a:endCxn id="2278" idx="7"/>
            </p:cNvCxnSpPr>
            <p:nvPr/>
          </p:nvCxnSpPr>
          <p:spPr>
            <a:xfrm flipH="1">
              <a:off x="3725748" y="3250342"/>
              <a:ext cx="1154400" cy="5241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</p:grpSp>
      <p:graphicFrame>
        <p:nvGraphicFramePr>
          <p:cNvPr id="2287" name="Google Shape;2287;p83"/>
          <p:cNvGraphicFramePr/>
          <p:nvPr/>
        </p:nvGraphicFramePr>
        <p:xfrm>
          <a:off x="6264108" y="5191177"/>
          <a:ext cx="3872700" cy="731540"/>
        </p:xfrm>
        <a:graphic>
          <a:graphicData uri="http://schemas.openxmlformats.org/drawingml/2006/table">
            <a:tbl>
              <a:tblPr firstRow="1" bandRow="1">
                <a:noFill/>
                <a:tableStyleId>{66088737-8E24-4614-AAA7-3D08145F63E1}</a:tableStyleId>
              </a:tblPr>
              <a:tblGrid>
                <a:gridCol w="430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03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03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303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303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303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303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303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4303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2914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1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2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3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4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5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6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7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8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9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14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2288" name="Google Shape;2288;p83"/>
          <p:cNvSpPr/>
          <p:nvPr/>
        </p:nvSpPr>
        <p:spPr>
          <a:xfrm>
            <a:off x="12831656" y="2769209"/>
            <a:ext cx="1939121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MaxHeapify(A,1)</a:t>
            </a:r>
            <a:endParaRPr/>
          </a:p>
        </p:txBody>
      </p:sp>
      <p:sp>
        <p:nvSpPr>
          <p:cNvPr id="2289" name="Google Shape;2289;p83"/>
          <p:cNvSpPr/>
          <p:nvPr/>
        </p:nvSpPr>
        <p:spPr>
          <a:xfrm rot="5400000">
            <a:off x="6851374" y="2626380"/>
            <a:ext cx="499620" cy="292231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12700" cap="flat" cmpd="sng">
            <a:solidFill>
              <a:srgbClr val="AC5B23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4" name="Google Shape;2294;p84"/>
          <p:cNvSpPr txBox="1">
            <a:spLocks noGrp="1"/>
          </p:cNvSpPr>
          <p:nvPr>
            <p:ph type="body" idx="1"/>
          </p:nvPr>
        </p:nvSpPr>
        <p:spPr>
          <a:xfrm>
            <a:off x="838200" y="1227909"/>
            <a:ext cx="10515600" cy="49490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2095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2100"/>
              <a:buFont typeface="Arial"/>
              <a:buNone/>
            </a:pPr>
            <a:endParaRPr/>
          </a:p>
        </p:txBody>
      </p:sp>
      <p:sp>
        <p:nvSpPr>
          <p:cNvPr id="2295" name="Google Shape;2295;p84"/>
          <p:cNvSpPr txBox="1">
            <a:spLocks noGrp="1"/>
          </p:cNvSpPr>
          <p:nvPr>
            <p:ph type="dt" idx="10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CE82A08F-494F-43B3-9A43-A238E6A5DF9E}" type="datetime1">
              <a:rPr lang="en-US" smtClean="0"/>
              <a:t>1/12/2026</a:t>
            </a:fld>
            <a:endParaRPr/>
          </a:p>
        </p:txBody>
      </p:sp>
      <p:sp>
        <p:nvSpPr>
          <p:cNvPr id="2296" name="Google Shape;2296;p84"/>
          <p:cNvSpPr txBox="1">
            <a:spLocks noGrp="1"/>
          </p:cNvSpPr>
          <p:nvPr>
            <p:ph type="ftr" idx="11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Lec Asif Abrar, Dept of CSE, UIU</a:t>
            </a:r>
            <a:endParaRPr/>
          </a:p>
        </p:txBody>
      </p:sp>
      <p:sp>
        <p:nvSpPr>
          <p:cNvPr id="2297" name="Google Shape;2297;p84"/>
          <p:cNvSpPr txBox="1">
            <a:spLocks noGrp="1"/>
          </p:cNvSpPr>
          <p:nvPr>
            <p:ph type="sldNum" idx="12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70</a:t>
            </a:fld>
            <a:endParaRPr/>
          </a:p>
        </p:txBody>
      </p:sp>
      <p:sp>
        <p:nvSpPr>
          <p:cNvPr id="2298" name="Google Shape;2298;p84"/>
          <p:cNvSpPr txBox="1">
            <a:spLocks noGrp="1"/>
          </p:cNvSpPr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/>
              <a:t>Heap Sort</a:t>
            </a:r>
            <a:endParaRPr/>
          </a:p>
        </p:txBody>
      </p:sp>
      <p:pic>
        <p:nvPicPr>
          <p:cNvPr id="2299" name="Google Shape;2299;p8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46375" y="1227909"/>
            <a:ext cx="4287435" cy="206189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300" name="Google Shape;2300;p84"/>
          <p:cNvGrpSpPr/>
          <p:nvPr/>
        </p:nvGrpSpPr>
        <p:grpSpPr>
          <a:xfrm>
            <a:off x="5812810" y="2535751"/>
            <a:ext cx="3079505" cy="2225143"/>
            <a:chOff x="539287" y="2773376"/>
            <a:chExt cx="6108388" cy="4139965"/>
          </a:xfrm>
        </p:grpSpPr>
        <p:sp>
          <p:nvSpPr>
            <p:cNvPr id="2301" name="Google Shape;2301;p84"/>
            <p:cNvSpPr/>
            <p:nvPr/>
          </p:nvSpPr>
          <p:spPr>
            <a:xfrm>
              <a:off x="4798314" y="2773376"/>
              <a:ext cx="558800" cy="558800"/>
            </a:xfrm>
            <a:prstGeom prst="ellipse">
              <a:avLst/>
            </a:prstGeom>
            <a:solidFill>
              <a:schemeClr val="accent1"/>
            </a:solidFill>
            <a:ln w="12700" cap="flat" cmpd="sng">
              <a:solidFill>
                <a:srgbClr val="42719B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02" name="Google Shape;2302;p84"/>
            <p:cNvSpPr/>
            <p:nvPr/>
          </p:nvSpPr>
          <p:spPr>
            <a:xfrm>
              <a:off x="3248914" y="3692472"/>
              <a:ext cx="558800" cy="558800"/>
            </a:xfrm>
            <a:prstGeom prst="ellipse">
              <a:avLst/>
            </a:prstGeom>
            <a:solidFill>
              <a:schemeClr val="accent2"/>
            </a:solidFill>
            <a:ln w="12700" cap="flat" cmpd="sng">
              <a:solidFill>
                <a:srgbClr val="42719B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03" name="Google Shape;2303;p84"/>
            <p:cNvSpPr/>
            <p:nvPr/>
          </p:nvSpPr>
          <p:spPr>
            <a:xfrm>
              <a:off x="2525630" y="6214353"/>
              <a:ext cx="558799" cy="558800"/>
            </a:xfrm>
            <a:prstGeom prst="ellipse">
              <a:avLst/>
            </a:prstGeom>
            <a:solidFill>
              <a:schemeClr val="accent2"/>
            </a:solidFill>
            <a:ln w="12700" cap="flat" cmpd="sng">
              <a:solidFill>
                <a:srgbClr val="42719B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04" name="Google Shape;2304;p84"/>
            <p:cNvSpPr/>
            <p:nvPr/>
          </p:nvSpPr>
          <p:spPr>
            <a:xfrm>
              <a:off x="5077712" y="6206181"/>
              <a:ext cx="558799" cy="558800"/>
            </a:xfrm>
            <a:prstGeom prst="ellipse">
              <a:avLst/>
            </a:prstGeom>
            <a:solidFill>
              <a:schemeClr val="accent2"/>
            </a:solidFill>
            <a:ln w="12700" cap="flat" cmpd="sng">
              <a:solidFill>
                <a:srgbClr val="42719B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05" name="Google Shape;2305;p84"/>
            <p:cNvSpPr/>
            <p:nvPr/>
          </p:nvSpPr>
          <p:spPr>
            <a:xfrm>
              <a:off x="6088876" y="6149107"/>
              <a:ext cx="558799" cy="558800"/>
            </a:xfrm>
            <a:prstGeom prst="ellipse">
              <a:avLst/>
            </a:prstGeom>
            <a:solidFill>
              <a:schemeClr val="accent2"/>
            </a:solidFill>
            <a:ln w="12700" cap="flat" cmpd="sng">
              <a:solidFill>
                <a:srgbClr val="42719B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06" name="Google Shape;2306;p84"/>
            <p:cNvSpPr/>
            <p:nvPr/>
          </p:nvSpPr>
          <p:spPr>
            <a:xfrm>
              <a:off x="3379250" y="6163800"/>
              <a:ext cx="558799" cy="558800"/>
            </a:xfrm>
            <a:prstGeom prst="ellipse">
              <a:avLst/>
            </a:prstGeom>
            <a:solidFill>
              <a:schemeClr val="accent2"/>
            </a:solidFill>
            <a:ln w="12700" cap="flat" cmpd="sng">
              <a:solidFill>
                <a:srgbClr val="42719B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07" name="Google Shape;2307;p84"/>
            <p:cNvSpPr/>
            <p:nvPr/>
          </p:nvSpPr>
          <p:spPr>
            <a:xfrm>
              <a:off x="539287" y="6354541"/>
              <a:ext cx="558799" cy="558800"/>
            </a:xfrm>
            <a:prstGeom prst="ellipse">
              <a:avLst/>
            </a:prstGeom>
            <a:solidFill>
              <a:schemeClr val="accent2"/>
            </a:solidFill>
            <a:ln w="12700" cap="flat" cmpd="sng">
              <a:solidFill>
                <a:srgbClr val="42719B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08" name="Google Shape;2308;p84"/>
            <p:cNvSpPr/>
            <p:nvPr/>
          </p:nvSpPr>
          <p:spPr>
            <a:xfrm>
              <a:off x="1584257" y="6245634"/>
              <a:ext cx="558799" cy="558800"/>
            </a:xfrm>
            <a:prstGeom prst="ellipse">
              <a:avLst/>
            </a:prstGeom>
            <a:solidFill>
              <a:schemeClr val="accent2"/>
            </a:solidFill>
            <a:ln w="12700" cap="flat" cmpd="sng">
              <a:solidFill>
                <a:srgbClr val="42719B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09" name="Google Shape;2309;p84"/>
            <p:cNvSpPr/>
            <p:nvPr/>
          </p:nvSpPr>
          <p:spPr>
            <a:xfrm>
              <a:off x="4197744" y="6206179"/>
              <a:ext cx="558799" cy="558800"/>
            </a:xfrm>
            <a:prstGeom prst="ellipse">
              <a:avLst/>
            </a:prstGeom>
            <a:solidFill>
              <a:schemeClr val="accent2"/>
            </a:solidFill>
            <a:ln w="12700" cap="flat" cmpd="sng">
              <a:solidFill>
                <a:srgbClr val="42719B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2310" name="Google Shape;2310;p84"/>
            <p:cNvCxnSpPr>
              <a:stCxn id="2301" idx="3"/>
              <a:endCxn id="2302" idx="7"/>
            </p:cNvCxnSpPr>
            <p:nvPr/>
          </p:nvCxnSpPr>
          <p:spPr>
            <a:xfrm flipH="1">
              <a:off x="3725748" y="3250342"/>
              <a:ext cx="1154400" cy="5241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</p:grpSp>
      <p:graphicFrame>
        <p:nvGraphicFramePr>
          <p:cNvPr id="2311" name="Google Shape;2311;p84"/>
          <p:cNvGraphicFramePr/>
          <p:nvPr/>
        </p:nvGraphicFramePr>
        <p:xfrm>
          <a:off x="6264108" y="5191177"/>
          <a:ext cx="3872700" cy="731540"/>
        </p:xfrm>
        <a:graphic>
          <a:graphicData uri="http://schemas.openxmlformats.org/drawingml/2006/table">
            <a:tbl>
              <a:tblPr firstRow="1" bandRow="1">
                <a:noFill/>
                <a:tableStyleId>{66088737-8E24-4614-AAA7-3D08145F63E1}</a:tableStyleId>
              </a:tblPr>
              <a:tblGrid>
                <a:gridCol w="430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03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03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303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303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303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303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303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4303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2914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1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2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3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4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5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6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7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8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9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14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2312" name="Google Shape;2312;p84"/>
          <p:cNvSpPr/>
          <p:nvPr/>
        </p:nvSpPr>
        <p:spPr>
          <a:xfrm>
            <a:off x="12831656" y="2769209"/>
            <a:ext cx="1939121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MaxHeapify(A,1)</a:t>
            </a:r>
            <a:endParaRPr/>
          </a:p>
        </p:txBody>
      </p:sp>
      <p:sp>
        <p:nvSpPr>
          <p:cNvPr id="2313" name="Google Shape;2313;p84"/>
          <p:cNvSpPr/>
          <p:nvPr/>
        </p:nvSpPr>
        <p:spPr>
          <a:xfrm rot="5400000">
            <a:off x="6851374" y="2626380"/>
            <a:ext cx="499620" cy="292231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12700" cap="flat" cmpd="sng">
            <a:solidFill>
              <a:srgbClr val="AC5B23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8" name="Google Shape;2318;p85"/>
          <p:cNvSpPr txBox="1">
            <a:spLocks noGrp="1"/>
          </p:cNvSpPr>
          <p:nvPr>
            <p:ph type="body" idx="1"/>
          </p:nvPr>
        </p:nvSpPr>
        <p:spPr>
          <a:xfrm>
            <a:off x="838200" y="1227909"/>
            <a:ext cx="10515600" cy="49490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2095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2100"/>
              <a:buFont typeface="Arial"/>
              <a:buNone/>
            </a:pPr>
            <a:endParaRPr/>
          </a:p>
        </p:txBody>
      </p:sp>
      <p:sp>
        <p:nvSpPr>
          <p:cNvPr id="2319" name="Google Shape;2319;p85"/>
          <p:cNvSpPr txBox="1">
            <a:spLocks noGrp="1"/>
          </p:cNvSpPr>
          <p:nvPr>
            <p:ph type="dt" idx="10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6916EFF8-07DA-401A-A480-8E050288AFD1}" type="datetime1">
              <a:rPr lang="en-US" smtClean="0"/>
              <a:t>1/12/2026</a:t>
            </a:fld>
            <a:endParaRPr/>
          </a:p>
        </p:txBody>
      </p:sp>
      <p:sp>
        <p:nvSpPr>
          <p:cNvPr id="2320" name="Google Shape;2320;p85"/>
          <p:cNvSpPr txBox="1">
            <a:spLocks noGrp="1"/>
          </p:cNvSpPr>
          <p:nvPr>
            <p:ph type="ftr" idx="11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Lec Asif Abrar, Dept of CSE, UIU</a:t>
            </a:r>
            <a:endParaRPr/>
          </a:p>
        </p:txBody>
      </p:sp>
      <p:sp>
        <p:nvSpPr>
          <p:cNvPr id="2321" name="Google Shape;2321;p85"/>
          <p:cNvSpPr txBox="1">
            <a:spLocks noGrp="1"/>
          </p:cNvSpPr>
          <p:nvPr>
            <p:ph type="sldNum" idx="12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71</a:t>
            </a:fld>
            <a:endParaRPr/>
          </a:p>
        </p:txBody>
      </p:sp>
      <p:sp>
        <p:nvSpPr>
          <p:cNvPr id="2322" name="Google Shape;2322;p85"/>
          <p:cNvSpPr txBox="1">
            <a:spLocks noGrp="1"/>
          </p:cNvSpPr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/>
              <a:t>Heap Sort</a:t>
            </a:r>
            <a:endParaRPr/>
          </a:p>
        </p:txBody>
      </p:sp>
      <p:pic>
        <p:nvPicPr>
          <p:cNvPr id="2323" name="Google Shape;2323;p8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46375" y="1227909"/>
            <a:ext cx="4287435" cy="206189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324" name="Google Shape;2324;p85"/>
          <p:cNvGrpSpPr/>
          <p:nvPr/>
        </p:nvGrpSpPr>
        <p:grpSpPr>
          <a:xfrm>
            <a:off x="5377789" y="2535751"/>
            <a:ext cx="3514526" cy="2225143"/>
            <a:chOff x="-323604" y="2773376"/>
            <a:chExt cx="6971279" cy="4139965"/>
          </a:xfrm>
        </p:grpSpPr>
        <p:sp>
          <p:nvSpPr>
            <p:cNvPr id="2325" name="Google Shape;2325;p85"/>
            <p:cNvSpPr/>
            <p:nvPr/>
          </p:nvSpPr>
          <p:spPr>
            <a:xfrm>
              <a:off x="4798314" y="2773376"/>
              <a:ext cx="558800" cy="558800"/>
            </a:xfrm>
            <a:prstGeom prst="ellipse">
              <a:avLst/>
            </a:prstGeom>
            <a:solidFill>
              <a:schemeClr val="accent1"/>
            </a:solidFill>
            <a:ln w="12700" cap="flat" cmpd="sng">
              <a:solidFill>
                <a:srgbClr val="42719B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26" name="Google Shape;2326;p85"/>
            <p:cNvSpPr/>
            <p:nvPr/>
          </p:nvSpPr>
          <p:spPr>
            <a:xfrm>
              <a:off x="-323604" y="6354539"/>
              <a:ext cx="558799" cy="558800"/>
            </a:xfrm>
            <a:prstGeom prst="ellipse">
              <a:avLst/>
            </a:prstGeom>
            <a:solidFill>
              <a:schemeClr val="accent2"/>
            </a:solidFill>
            <a:ln w="12700" cap="flat" cmpd="sng">
              <a:solidFill>
                <a:srgbClr val="42719B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27" name="Google Shape;2327;p85"/>
            <p:cNvSpPr/>
            <p:nvPr/>
          </p:nvSpPr>
          <p:spPr>
            <a:xfrm>
              <a:off x="2525630" y="6214353"/>
              <a:ext cx="558799" cy="558800"/>
            </a:xfrm>
            <a:prstGeom prst="ellipse">
              <a:avLst/>
            </a:prstGeom>
            <a:solidFill>
              <a:schemeClr val="accent2"/>
            </a:solidFill>
            <a:ln w="12700" cap="flat" cmpd="sng">
              <a:solidFill>
                <a:srgbClr val="42719B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28" name="Google Shape;2328;p85"/>
            <p:cNvSpPr/>
            <p:nvPr/>
          </p:nvSpPr>
          <p:spPr>
            <a:xfrm>
              <a:off x="5077712" y="6206181"/>
              <a:ext cx="558799" cy="558800"/>
            </a:xfrm>
            <a:prstGeom prst="ellipse">
              <a:avLst/>
            </a:prstGeom>
            <a:solidFill>
              <a:schemeClr val="accent2"/>
            </a:solidFill>
            <a:ln w="12700" cap="flat" cmpd="sng">
              <a:solidFill>
                <a:srgbClr val="42719B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29" name="Google Shape;2329;p85"/>
            <p:cNvSpPr/>
            <p:nvPr/>
          </p:nvSpPr>
          <p:spPr>
            <a:xfrm>
              <a:off x="6088876" y="6149107"/>
              <a:ext cx="558799" cy="558800"/>
            </a:xfrm>
            <a:prstGeom prst="ellipse">
              <a:avLst/>
            </a:prstGeom>
            <a:solidFill>
              <a:schemeClr val="accent2"/>
            </a:solidFill>
            <a:ln w="12700" cap="flat" cmpd="sng">
              <a:solidFill>
                <a:srgbClr val="42719B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30" name="Google Shape;2330;p85"/>
            <p:cNvSpPr/>
            <p:nvPr/>
          </p:nvSpPr>
          <p:spPr>
            <a:xfrm>
              <a:off x="3379250" y="6163800"/>
              <a:ext cx="558799" cy="558800"/>
            </a:xfrm>
            <a:prstGeom prst="ellipse">
              <a:avLst/>
            </a:prstGeom>
            <a:solidFill>
              <a:schemeClr val="accent2"/>
            </a:solidFill>
            <a:ln w="12700" cap="flat" cmpd="sng">
              <a:solidFill>
                <a:srgbClr val="42719B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31" name="Google Shape;2331;p85"/>
            <p:cNvSpPr/>
            <p:nvPr/>
          </p:nvSpPr>
          <p:spPr>
            <a:xfrm>
              <a:off x="539287" y="6354541"/>
              <a:ext cx="558799" cy="558800"/>
            </a:xfrm>
            <a:prstGeom prst="ellipse">
              <a:avLst/>
            </a:prstGeom>
            <a:solidFill>
              <a:schemeClr val="accent2"/>
            </a:solidFill>
            <a:ln w="12700" cap="flat" cmpd="sng">
              <a:solidFill>
                <a:srgbClr val="42719B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32" name="Google Shape;2332;p85"/>
            <p:cNvSpPr/>
            <p:nvPr/>
          </p:nvSpPr>
          <p:spPr>
            <a:xfrm>
              <a:off x="1584257" y="6245634"/>
              <a:ext cx="558799" cy="558800"/>
            </a:xfrm>
            <a:prstGeom prst="ellipse">
              <a:avLst/>
            </a:prstGeom>
            <a:solidFill>
              <a:schemeClr val="accent2"/>
            </a:solidFill>
            <a:ln w="12700" cap="flat" cmpd="sng">
              <a:solidFill>
                <a:srgbClr val="42719B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33" name="Google Shape;2333;p85"/>
            <p:cNvSpPr/>
            <p:nvPr/>
          </p:nvSpPr>
          <p:spPr>
            <a:xfrm>
              <a:off x="4197744" y="6206179"/>
              <a:ext cx="558799" cy="558800"/>
            </a:xfrm>
            <a:prstGeom prst="ellipse">
              <a:avLst/>
            </a:prstGeom>
            <a:solidFill>
              <a:schemeClr val="accent2"/>
            </a:solidFill>
            <a:ln w="12700" cap="flat" cmpd="sng">
              <a:solidFill>
                <a:srgbClr val="42719B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aphicFrame>
        <p:nvGraphicFramePr>
          <p:cNvPr id="2334" name="Google Shape;2334;p85"/>
          <p:cNvGraphicFramePr/>
          <p:nvPr/>
        </p:nvGraphicFramePr>
        <p:xfrm>
          <a:off x="6264108" y="5191177"/>
          <a:ext cx="3872700" cy="731540"/>
        </p:xfrm>
        <a:graphic>
          <a:graphicData uri="http://schemas.openxmlformats.org/drawingml/2006/table">
            <a:tbl>
              <a:tblPr firstRow="1" bandRow="1">
                <a:noFill/>
                <a:tableStyleId>{66088737-8E24-4614-AAA7-3D08145F63E1}</a:tableStyleId>
              </a:tblPr>
              <a:tblGrid>
                <a:gridCol w="430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03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03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303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303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303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303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303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4303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2914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1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2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3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4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5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6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7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8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9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14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2335" name="Google Shape;2335;p85"/>
          <p:cNvSpPr/>
          <p:nvPr/>
        </p:nvSpPr>
        <p:spPr>
          <a:xfrm>
            <a:off x="12831656" y="2769209"/>
            <a:ext cx="1939121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MaxHeapify(A,1)</a:t>
            </a:r>
            <a:endParaRPr/>
          </a:p>
        </p:txBody>
      </p:sp>
      <p:sp>
        <p:nvSpPr>
          <p:cNvPr id="2336" name="Google Shape;2336;p85"/>
          <p:cNvSpPr/>
          <p:nvPr/>
        </p:nvSpPr>
        <p:spPr>
          <a:xfrm rot="5400000">
            <a:off x="7261272" y="2872904"/>
            <a:ext cx="499620" cy="292231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12700" cap="flat" cmpd="sng">
            <a:solidFill>
              <a:srgbClr val="AC5B23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1" name="Google Shape;2341;p86"/>
          <p:cNvSpPr txBox="1">
            <a:spLocks noGrp="1"/>
          </p:cNvSpPr>
          <p:nvPr>
            <p:ph type="body" idx="1"/>
          </p:nvPr>
        </p:nvSpPr>
        <p:spPr>
          <a:xfrm>
            <a:off x="838200" y="1227909"/>
            <a:ext cx="10515600" cy="49490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2095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2100"/>
              <a:buFont typeface="Arial"/>
              <a:buNone/>
            </a:pPr>
            <a:endParaRPr/>
          </a:p>
        </p:txBody>
      </p:sp>
      <p:sp>
        <p:nvSpPr>
          <p:cNvPr id="2342" name="Google Shape;2342;p86"/>
          <p:cNvSpPr txBox="1">
            <a:spLocks noGrp="1"/>
          </p:cNvSpPr>
          <p:nvPr>
            <p:ph type="dt" idx="10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953650D6-535B-4150-A907-BB99674222A1}" type="datetime1">
              <a:rPr lang="en-US" smtClean="0"/>
              <a:t>1/12/2026</a:t>
            </a:fld>
            <a:endParaRPr/>
          </a:p>
        </p:txBody>
      </p:sp>
      <p:sp>
        <p:nvSpPr>
          <p:cNvPr id="2343" name="Google Shape;2343;p86"/>
          <p:cNvSpPr txBox="1">
            <a:spLocks noGrp="1"/>
          </p:cNvSpPr>
          <p:nvPr>
            <p:ph type="ftr" idx="11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Lec Asif Abrar, Dept of CSE, UIU</a:t>
            </a:r>
            <a:endParaRPr/>
          </a:p>
        </p:txBody>
      </p:sp>
      <p:sp>
        <p:nvSpPr>
          <p:cNvPr id="2344" name="Google Shape;2344;p86"/>
          <p:cNvSpPr txBox="1">
            <a:spLocks noGrp="1"/>
          </p:cNvSpPr>
          <p:nvPr>
            <p:ph type="sldNum" idx="12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72</a:t>
            </a:fld>
            <a:endParaRPr/>
          </a:p>
        </p:txBody>
      </p:sp>
      <p:sp>
        <p:nvSpPr>
          <p:cNvPr id="2345" name="Google Shape;2345;p86"/>
          <p:cNvSpPr txBox="1">
            <a:spLocks noGrp="1"/>
          </p:cNvSpPr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/>
              <a:t>Heap Sort</a:t>
            </a:r>
            <a:endParaRPr/>
          </a:p>
        </p:txBody>
      </p:sp>
      <p:pic>
        <p:nvPicPr>
          <p:cNvPr id="2346" name="Google Shape;2346;p8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46375" y="1227909"/>
            <a:ext cx="4287435" cy="206189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347" name="Google Shape;2347;p86"/>
          <p:cNvGrpSpPr/>
          <p:nvPr/>
        </p:nvGrpSpPr>
        <p:grpSpPr>
          <a:xfrm>
            <a:off x="5377789" y="2535751"/>
            <a:ext cx="3514526" cy="2225143"/>
            <a:chOff x="-323604" y="2773376"/>
            <a:chExt cx="6971279" cy="4139965"/>
          </a:xfrm>
        </p:grpSpPr>
        <p:sp>
          <p:nvSpPr>
            <p:cNvPr id="2348" name="Google Shape;2348;p86"/>
            <p:cNvSpPr/>
            <p:nvPr/>
          </p:nvSpPr>
          <p:spPr>
            <a:xfrm>
              <a:off x="4798314" y="2773376"/>
              <a:ext cx="558800" cy="558800"/>
            </a:xfrm>
            <a:prstGeom prst="ellipse">
              <a:avLst/>
            </a:prstGeom>
            <a:solidFill>
              <a:schemeClr val="accent1"/>
            </a:solidFill>
            <a:ln w="12700" cap="flat" cmpd="sng">
              <a:solidFill>
                <a:srgbClr val="42719B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49" name="Google Shape;2349;p86"/>
            <p:cNvSpPr/>
            <p:nvPr/>
          </p:nvSpPr>
          <p:spPr>
            <a:xfrm>
              <a:off x="-323604" y="6354539"/>
              <a:ext cx="558799" cy="558800"/>
            </a:xfrm>
            <a:prstGeom prst="ellipse">
              <a:avLst/>
            </a:prstGeom>
            <a:solidFill>
              <a:schemeClr val="accent2"/>
            </a:solidFill>
            <a:ln w="12700" cap="flat" cmpd="sng">
              <a:solidFill>
                <a:srgbClr val="42719B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50" name="Google Shape;2350;p86"/>
            <p:cNvSpPr/>
            <p:nvPr/>
          </p:nvSpPr>
          <p:spPr>
            <a:xfrm>
              <a:off x="2525630" y="6214353"/>
              <a:ext cx="558799" cy="558800"/>
            </a:xfrm>
            <a:prstGeom prst="ellipse">
              <a:avLst/>
            </a:prstGeom>
            <a:solidFill>
              <a:schemeClr val="accent2"/>
            </a:solidFill>
            <a:ln w="12700" cap="flat" cmpd="sng">
              <a:solidFill>
                <a:srgbClr val="42719B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51" name="Google Shape;2351;p86"/>
            <p:cNvSpPr/>
            <p:nvPr/>
          </p:nvSpPr>
          <p:spPr>
            <a:xfrm>
              <a:off x="5077712" y="6206181"/>
              <a:ext cx="558799" cy="558800"/>
            </a:xfrm>
            <a:prstGeom prst="ellipse">
              <a:avLst/>
            </a:prstGeom>
            <a:solidFill>
              <a:schemeClr val="accent2"/>
            </a:solidFill>
            <a:ln w="12700" cap="flat" cmpd="sng">
              <a:solidFill>
                <a:srgbClr val="42719B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52" name="Google Shape;2352;p86"/>
            <p:cNvSpPr/>
            <p:nvPr/>
          </p:nvSpPr>
          <p:spPr>
            <a:xfrm>
              <a:off x="6088876" y="6149107"/>
              <a:ext cx="558799" cy="558800"/>
            </a:xfrm>
            <a:prstGeom prst="ellipse">
              <a:avLst/>
            </a:prstGeom>
            <a:solidFill>
              <a:schemeClr val="accent2"/>
            </a:solidFill>
            <a:ln w="12700" cap="flat" cmpd="sng">
              <a:solidFill>
                <a:srgbClr val="42719B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53" name="Google Shape;2353;p86"/>
            <p:cNvSpPr/>
            <p:nvPr/>
          </p:nvSpPr>
          <p:spPr>
            <a:xfrm>
              <a:off x="3379250" y="6163800"/>
              <a:ext cx="558799" cy="558800"/>
            </a:xfrm>
            <a:prstGeom prst="ellipse">
              <a:avLst/>
            </a:prstGeom>
            <a:solidFill>
              <a:schemeClr val="accent2"/>
            </a:solidFill>
            <a:ln w="12700" cap="flat" cmpd="sng">
              <a:solidFill>
                <a:srgbClr val="42719B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54" name="Google Shape;2354;p86"/>
            <p:cNvSpPr/>
            <p:nvPr/>
          </p:nvSpPr>
          <p:spPr>
            <a:xfrm>
              <a:off x="539287" y="6354541"/>
              <a:ext cx="558799" cy="558800"/>
            </a:xfrm>
            <a:prstGeom prst="ellipse">
              <a:avLst/>
            </a:prstGeom>
            <a:solidFill>
              <a:schemeClr val="accent2"/>
            </a:solidFill>
            <a:ln w="12700" cap="flat" cmpd="sng">
              <a:solidFill>
                <a:srgbClr val="42719B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55" name="Google Shape;2355;p86"/>
            <p:cNvSpPr/>
            <p:nvPr/>
          </p:nvSpPr>
          <p:spPr>
            <a:xfrm>
              <a:off x="1584257" y="6245634"/>
              <a:ext cx="558799" cy="558800"/>
            </a:xfrm>
            <a:prstGeom prst="ellipse">
              <a:avLst/>
            </a:prstGeom>
            <a:solidFill>
              <a:schemeClr val="accent2"/>
            </a:solidFill>
            <a:ln w="12700" cap="flat" cmpd="sng">
              <a:solidFill>
                <a:srgbClr val="42719B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56" name="Google Shape;2356;p86"/>
            <p:cNvSpPr/>
            <p:nvPr/>
          </p:nvSpPr>
          <p:spPr>
            <a:xfrm>
              <a:off x="4197744" y="6206179"/>
              <a:ext cx="558799" cy="558800"/>
            </a:xfrm>
            <a:prstGeom prst="ellipse">
              <a:avLst/>
            </a:prstGeom>
            <a:solidFill>
              <a:schemeClr val="accent2"/>
            </a:solidFill>
            <a:ln w="12700" cap="flat" cmpd="sng">
              <a:solidFill>
                <a:srgbClr val="42719B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aphicFrame>
        <p:nvGraphicFramePr>
          <p:cNvPr id="2357" name="Google Shape;2357;p86"/>
          <p:cNvGraphicFramePr/>
          <p:nvPr/>
        </p:nvGraphicFramePr>
        <p:xfrm>
          <a:off x="6264108" y="5191177"/>
          <a:ext cx="3872700" cy="731540"/>
        </p:xfrm>
        <a:graphic>
          <a:graphicData uri="http://schemas.openxmlformats.org/drawingml/2006/table">
            <a:tbl>
              <a:tblPr firstRow="1" bandRow="1">
                <a:noFill/>
                <a:tableStyleId>{66088737-8E24-4614-AAA7-3D08145F63E1}</a:tableStyleId>
              </a:tblPr>
              <a:tblGrid>
                <a:gridCol w="430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03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03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303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303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303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303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303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4303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2914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1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2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3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4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5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6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7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8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9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14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2358" name="Google Shape;2358;p86"/>
          <p:cNvSpPr/>
          <p:nvPr/>
        </p:nvSpPr>
        <p:spPr>
          <a:xfrm>
            <a:off x="8241685" y="2148851"/>
            <a:ext cx="1939121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MaxHeapify(A,1)</a:t>
            </a:r>
            <a:endParaRPr/>
          </a:p>
        </p:txBody>
      </p:sp>
      <p:sp>
        <p:nvSpPr>
          <p:cNvPr id="2359" name="Google Shape;2359;p86"/>
          <p:cNvSpPr/>
          <p:nvPr/>
        </p:nvSpPr>
        <p:spPr>
          <a:xfrm rot="5400000">
            <a:off x="7225653" y="2711934"/>
            <a:ext cx="499620" cy="292231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12700" cap="flat" cmpd="sng">
            <a:solidFill>
              <a:srgbClr val="AC5B23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4" name="Google Shape;2364;p87"/>
          <p:cNvSpPr txBox="1">
            <a:spLocks noGrp="1"/>
          </p:cNvSpPr>
          <p:nvPr>
            <p:ph type="body" idx="1"/>
          </p:nvPr>
        </p:nvSpPr>
        <p:spPr>
          <a:xfrm>
            <a:off x="838200" y="1227909"/>
            <a:ext cx="10515600" cy="49490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2095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2100"/>
              <a:buFont typeface="Arial"/>
              <a:buNone/>
            </a:pPr>
            <a:endParaRPr/>
          </a:p>
        </p:txBody>
      </p:sp>
      <p:sp>
        <p:nvSpPr>
          <p:cNvPr id="2365" name="Google Shape;2365;p87"/>
          <p:cNvSpPr txBox="1">
            <a:spLocks noGrp="1"/>
          </p:cNvSpPr>
          <p:nvPr>
            <p:ph type="dt" idx="10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6C9A2F0B-FB4B-425F-842E-CDB1E23394E5}" type="datetime1">
              <a:rPr lang="en-US" smtClean="0"/>
              <a:t>1/12/2026</a:t>
            </a:fld>
            <a:endParaRPr/>
          </a:p>
        </p:txBody>
      </p:sp>
      <p:sp>
        <p:nvSpPr>
          <p:cNvPr id="2366" name="Google Shape;2366;p87"/>
          <p:cNvSpPr txBox="1">
            <a:spLocks noGrp="1"/>
          </p:cNvSpPr>
          <p:nvPr>
            <p:ph type="ftr" idx="11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Lec Asif Abrar, Dept of CSE, UIU</a:t>
            </a:r>
            <a:endParaRPr/>
          </a:p>
        </p:txBody>
      </p:sp>
      <p:sp>
        <p:nvSpPr>
          <p:cNvPr id="2367" name="Google Shape;2367;p87"/>
          <p:cNvSpPr txBox="1">
            <a:spLocks noGrp="1"/>
          </p:cNvSpPr>
          <p:nvPr>
            <p:ph type="sldNum" idx="12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73</a:t>
            </a:fld>
            <a:endParaRPr/>
          </a:p>
        </p:txBody>
      </p:sp>
      <p:sp>
        <p:nvSpPr>
          <p:cNvPr id="2368" name="Google Shape;2368;p87"/>
          <p:cNvSpPr txBox="1">
            <a:spLocks noGrp="1"/>
          </p:cNvSpPr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/>
              <a:t>Let us Run Heap Sort At First</a:t>
            </a:r>
            <a:endParaRPr/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3" name="Google Shape;2373;p88"/>
          <p:cNvSpPr txBox="1">
            <a:spLocks noGrp="1"/>
          </p:cNvSpPr>
          <p:nvPr>
            <p:ph type="body" idx="1"/>
          </p:nvPr>
        </p:nvSpPr>
        <p:spPr>
          <a:xfrm>
            <a:off x="838200" y="1227909"/>
            <a:ext cx="10515600" cy="49490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2095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2100"/>
              <a:buFont typeface="Arial"/>
              <a:buNone/>
            </a:pPr>
            <a:endParaRPr/>
          </a:p>
        </p:txBody>
      </p:sp>
      <p:sp>
        <p:nvSpPr>
          <p:cNvPr id="2374" name="Google Shape;2374;p88"/>
          <p:cNvSpPr txBox="1">
            <a:spLocks noGrp="1"/>
          </p:cNvSpPr>
          <p:nvPr>
            <p:ph type="dt" idx="10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DF859C64-07AC-43A3-9D32-704CC1CA6458}" type="datetime1">
              <a:rPr lang="en-US" smtClean="0"/>
              <a:t>1/12/2026</a:t>
            </a:fld>
            <a:endParaRPr/>
          </a:p>
        </p:txBody>
      </p:sp>
      <p:sp>
        <p:nvSpPr>
          <p:cNvPr id="2375" name="Google Shape;2375;p88"/>
          <p:cNvSpPr txBox="1">
            <a:spLocks noGrp="1"/>
          </p:cNvSpPr>
          <p:nvPr>
            <p:ph type="ftr" idx="11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Lec Asif Abrar, Dept of CSE, UIU</a:t>
            </a:r>
            <a:endParaRPr/>
          </a:p>
        </p:txBody>
      </p:sp>
      <p:sp>
        <p:nvSpPr>
          <p:cNvPr id="2376" name="Google Shape;2376;p88"/>
          <p:cNvSpPr txBox="1">
            <a:spLocks noGrp="1"/>
          </p:cNvSpPr>
          <p:nvPr>
            <p:ph type="sldNum" idx="12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74</a:t>
            </a:fld>
            <a:endParaRPr/>
          </a:p>
        </p:txBody>
      </p:sp>
      <p:sp>
        <p:nvSpPr>
          <p:cNvPr id="2377" name="Google Shape;2377;p88"/>
          <p:cNvSpPr txBox="1">
            <a:spLocks noGrp="1"/>
          </p:cNvSpPr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/>
              <a:t>Heap Sort</a:t>
            </a:r>
            <a:endParaRPr/>
          </a:p>
        </p:txBody>
      </p:sp>
      <p:pic>
        <p:nvPicPr>
          <p:cNvPr id="2378" name="Google Shape;2378;p8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31217" y="1322816"/>
            <a:ext cx="5428078" cy="2610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3" name="Google Shape;2383;p89"/>
          <p:cNvSpPr txBox="1">
            <a:spLocks noGrp="1"/>
          </p:cNvSpPr>
          <p:nvPr>
            <p:ph type="body" idx="1"/>
          </p:nvPr>
        </p:nvSpPr>
        <p:spPr>
          <a:xfrm>
            <a:off x="838200" y="1227909"/>
            <a:ext cx="10515600" cy="49490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2095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2100"/>
              <a:buFont typeface="Arial"/>
              <a:buNone/>
            </a:pPr>
            <a:endParaRPr/>
          </a:p>
        </p:txBody>
      </p:sp>
      <p:sp>
        <p:nvSpPr>
          <p:cNvPr id="2384" name="Google Shape;2384;p89"/>
          <p:cNvSpPr txBox="1">
            <a:spLocks noGrp="1"/>
          </p:cNvSpPr>
          <p:nvPr>
            <p:ph type="dt" idx="10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E886BFB3-3275-4CA1-90D2-53DAAB0DF2B3}" type="datetime1">
              <a:rPr lang="en-US" smtClean="0"/>
              <a:t>1/12/2026</a:t>
            </a:fld>
            <a:endParaRPr/>
          </a:p>
        </p:txBody>
      </p:sp>
      <p:sp>
        <p:nvSpPr>
          <p:cNvPr id="2385" name="Google Shape;2385;p89"/>
          <p:cNvSpPr txBox="1">
            <a:spLocks noGrp="1"/>
          </p:cNvSpPr>
          <p:nvPr>
            <p:ph type="ftr" idx="11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Lec Asif Abrar, Dept of CSE, UIU</a:t>
            </a:r>
            <a:endParaRPr/>
          </a:p>
        </p:txBody>
      </p:sp>
      <p:sp>
        <p:nvSpPr>
          <p:cNvPr id="2386" name="Google Shape;2386;p89"/>
          <p:cNvSpPr txBox="1">
            <a:spLocks noGrp="1"/>
          </p:cNvSpPr>
          <p:nvPr>
            <p:ph type="sldNum" idx="12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75</a:t>
            </a:fld>
            <a:endParaRPr/>
          </a:p>
        </p:txBody>
      </p:sp>
      <p:sp>
        <p:nvSpPr>
          <p:cNvPr id="2387" name="Google Shape;2387;p89"/>
          <p:cNvSpPr txBox="1">
            <a:spLocks noGrp="1"/>
          </p:cNvSpPr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/>
              <a:t>Let us Run Heap Sort At First</a:t>
            </a:r>
            <a:endParaRPr/>
          </a:p>
        </p:txBody>
      </p:sp>
      <p:pic>
        <p:nvPicPr>
          <p:cNvPr id="2388" name="Google Shape;2388;p8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045257" y="0"/>
            <a:ext cx="8017963" cy="67872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0" name="Google Shape;3050;p109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5400"/>
              <a:buFont typeface="Times New Roman"/>
              <a:buNone/>
            </a:pPr>
            <a:r>
              <a:rPr lang="en-US"/>
              <a:t>MAX HEAP AS A PRIORITY QUEUE</a:t>
            </a:r>
            <a:endParaRPr/>
          </a:p>
        </p:txBody>
      </p:sp>
      <p:sp>
        <p:nvSpPr>
          <p:cNvPr id="3051" name="Google Shape;3051;p109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endParaRPr/>
          </a:p>
        </p:txBody>
      </p:sp>
      <p:sp>
        <p:nvSpPr>
          <p:cNvPr id="3052" name="Google Shape;3052;p109"/>
          <p:cNvSpPr txBox="1">
            <a:spLocks noGrp="1"/>
          </p:cNvSpPr>
          <p:nvPr>
            <p:ph type="dt" idx="10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57D639E8-2D92-4529-B7E5-FAD78E9C8D2B}" type="datetime1">
              <a:rPr lang="en-US" smtClean="0"/>
              <a:t>1/12/2026</a:t>
            </a:fld>
            <a:endParaRPr/>
          </a:p>
        </p:txBody>
      </p:sp>
      <p:sp>
        <p:nvSpPr>
          <p:cNvPr id="3053" name="Google Shape;3053;p109"/>
          <p:cNvSpPr txBox="1">
            <a:spLocks noGrp="1"/>
          </p:cNvSpPr>
          <p:nvPr>
            <p:ph type="ftr" idx="11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Lec Asif Abrar, Dept of CSE, UIU</a:t>
            </a:r>
            <a:endParaRPr/>
          </a:p>
        </p:txBody>
      </p:sp>
      <p:sp>
        <p:nvSpPr>
          <p:cNvPr id="3054" name="Google Shape;3054;p109"/>
          <p:cNvSpPr txBox="1">
            <a:spLocks noGrp="1"/>
          </p:cNvSpPr>
          <p:nvPr>
            <p:ph type="sldNum" idx="12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76</a:t>
            </a:fld>
            <a:endParaRPr/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9" name="Google Shape;3059;p110"/>
          <p:cNvSpPr txBox="1">
            <a:spLocks noGrp="1"/>
          </p:cNvSpPr>
          <p:nvPr>
            <p:ph type="body" idx="1"/>
          </p:nvPr>
        </p:nvSpPr>
        <p:spPr>
          <a:xfrm>
            <a:off x="838200" y="1227909"/>
            <a:ext cx="10515600" cy="49490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1500"/>
              <a:buFont typeface="Arial"/>
              <a:buChar char="●"/>
            </a:pPr>
            <a:r>
              <a:rPr lang="en-US" sz="2000" b="1"/>
              <a:t>Priority Queue functions</a:t>
            </a:r>
            <a:endParaRPr/>
          </a:p>
          <a:p>
            <a:pPr marL="742950" lvl="1" indent="-28575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040"/>
              <a:buChar char="●"/>
            </a:pPr>
            <a:r>
              <a:rPr lang="en-US" sz="1600"/>
              <a:t>HEAP-MAXIMUM </a:t>
            </a:r>
            <a:endParaRPr/>
          </a:p>
          <a:p>
            <a:pPr marL="742950" lvl="1" indent="-28575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040"/>
              <a:buChar char="●"/>
            </a:pPr>
            <a:r>
              <a:rPr lang="en-US" sz="1600"/>
              <a:t>MAX-HEAP-INSERT</a:t>
            </a:r>
            <a:endParaRPr/>
          </a:p>
          <a:p>
            <a:pPr marL="742950" lvl="1" indent="-28575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040"/>
              <a:buChar char="●"/>
            </a:pPr>
            <a:r>
              <a:rPr lang="en-US" sz="1600"/>
              <a:t>HEAP-EXTRACT-MAX</a:t>
            </a:r>
            <a:endParaRPr/>
          </a:p>
          <a:p>
            <a:pPr marL="742950" lvl="1" indent="-28575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040"/>
              <a:buChar char="●"/>
            </a:pPr>
            <a:r>
              <a:rPr lang="en-US" sz="1600"/>
              <a:t>HEAP-INCREASE-KEY</a:t>
            </a:r>
            <a:endParaRPr/>
          </a:p>
        </p:txBody>
      </p:sp>
      <p:sp>
        <p:nvSpPr>
          <p:cNvPr id="3060" name="Google Shape;3060;p110"/>
          <p:cNvSpPr txBox="1">
            <a:spLocks noGrp="1"/>
          </p:cNvSpPr>
          <p:nvPr>
            <p:ph type="dt" idx="10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F98C6EB3-851A-4849-A995-7C78E38F9236}" type="datetime1">
              <a:rPr lang="en-US" smtClean="0"/>
              <a:t>1/12/2026</a:t>
            </a:fld>
            <a:endParaRPr/>
          </a:p>
        </p:txBody>
      </p:sp>
      <p:sp>
        <p:nvSpPr>
          <p:cNvPr id="3061" name="Google Shape;3061;p110"/>
          <p:cNvSpPr txBox="1">
            <a:spLocks noGrp="1"/>
          </p:cNvSpPr>
          <p:nvPr>
            <p:ph type="ftr" idx="11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Lec Asif Abrar, Dept of CSE, UIU</a:t>
            </a:r>
            <a:endParaRPr/>
          </a:p>
        </p:txBody>
      </p:sp>
      <p:sp>
        <p:nvSpPr>
          <p:cNvPr id="3062" name="Google Shape;3062;p110"/>
          <p:cNvSpPr txBox="1">
            <a:spLocks noGrp="1"/>
          </p:cNvSpPr>
          <p:nvPr>
            <p:ph type="sldNum" idx="12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77</a:t>
            </a:fld>
            <a:endParaRPr/>
          </a:p>
        </p:txBody>
      </p:sp>
      <p:sp>
        <p:nvSpPr>
          <p:cNvPr id="3063" name="Google Shape;3063;p110"/>
          <p:cNvSpPr txBox="1">
            <a:spLocks noGrp="1"/>
          </p:cNvSpPr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/>
              <a:t>Max heap as a priority queue</a:t>
            </a:r>
            <a:endParaRPr/>
          </a:p>
        </p:txBody>
      </p:sp>
      <p:sp>
        <p:nvSpPr>
          <p:cNvPr id="3064" name="Google Shape;3064;p110"/>
          <p:cNvSpPr/>
          <p:nvPr/>
        </p:nvSpPr>
        <p:spPr>
          <a:xfrm>
            <a:off x="4270193" y="3335875"/>
            <a:ext cx="556142" cy="509345"/>
          </a:xfrm>
          <a:prstGeom prst="ellipse">
            <a:avLst/>
          </a:prstGeom>
          <a:solidFill>
            <a:schemeClr val="accent2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16</a:t>
            </a:r>
            <a:endParaRPr/>
          </a:p>
        </p:txBody>
      </p:sp>
      <p:sp>
        <p:nvSpPr>
          <p:cNvPr id="3065" name="Google Shape;3065;p110"/>
          <p:cNvSpPr/>
          <p:nvPr/>
        </p:nvSpPr>
        <p:spPr>
          <a:xfrm>
            <a:off x="2247415" y="4097144"/>
            <a:ext cx="556142" cy="509345"/>
          </a:xfrm>
          <a:prstGeom prst="ellipse">
            <a:avLst/>
          </a:prstGeom>
          <a:solidFill>
            <a:schemeClr val="accent2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14</a:t>
            </a:r>
            <a:endParaRPr/>
          </a:p>
        </p:txBody>
      </p:sp>
      <p:sp>
        <p:nvSpPr>
          <p:cNvPr id="3066" name="Google Shape;3066;p110"/>
          <p:cNvSpPr/>
          <p:nvPr/>
        </p:nvSpPr>
        <p:spPr>
          <a:xfrm>
            <a:off x="1625939" y="4653360"/>
            <a:ext cx="556142" cy="509345"/>
          </a:xfrm>
          <a:prstGeom prst="ellipse">
            <a:avLst/>
          </a:prstGeom>
          <a:solidFill>
            <a:schemeClr val="accent2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/>
          </a:p>
        </p:txBody>
      </p:sp>
      <p:sp>
        <p:nvSpPr>
          <p:cNvPr id="3067" name="Google Shape;3067;p110"/>
          <p:cNvSpPr/>
          <p:nvPr/>
        </p:nvSpPr>
        <p:spPr>
          <a:xfrm>
            <a:off x="1072894" y="5376794"/>
            <a:ext cx="556142" cy="509345"/>
          </a:xfrm>
          <a:prstGeom prst="ellipse">
            <a:avLst/>
          </a:prstGeom>
          <a:solidFill>
            <a:schemeClr val="accent2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  <p:sp>
        <p:nvSpPr>
          <p:cNvPr id="3068" name="Google Shape;3068;p110"/>
          <p:cNvSpPr/>
          <p:nvPr/>
        </p:nvSpPr>
        <p:spPr>
          <a:xfrm>
            <a:off x="1929716" y="5417685"/>
            <a:ext cx="556142" cy="509345"/>
          </a:xfrm>
          <a:prstGeom prst="ellipse">
            <a:avLst/>
          </a:prstGeom>
          <a:solidFill>
            <a:schemeClr val="accent2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/>
          </a:p>
        </p:txBody>
      </p:sp>
      <p:sp>
        <p:nvSpPr>
          <p:cNvPr id="3069" name="Google Shape;3069;p110"/>
          <p:cNvSpPr/>
          <p:nvPr/>
        </p:nvSpPr>
        <p:spPr>
          <a:xfrm>
            <a:off x="3210468" y="4743554"/>
            <a:ext cx="556142" cy="509345"/>
          </a:xfrm>
          <a:prstGeom prst="ellipse">
            <a:avLst/>
          </a:prstGeom>
          <a:solidFill>
            <a:schemeClr val="accent2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/>
          </a:p>
        </p:txBody>
      </p:sp>
      <p:sp>
        <p:nvSpPr>
          <p:cNvPr id="3070" name="Google Shape;3070;p110"/>
          <p:cNvSpPr/>
          <p:nvPr/>
        </p:nvSpPr>
        <p:spPr>
          <a:xfrm>
            <a:off x="5698070" y="4025144"/>
            <a:ext cx="556142" cy="509345"/>
          </a:xfrm>
          <a:prstGeom prst="ellipse">
            <a:avLst/>
          </a:prstGeom>
          <a:solidFill>
            <a:schemeClr val="accent2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/>
          </a:p>
        </p:txBody>
      </p:sp>
      <p:cxnSp>
        <p:nvCxnSpPr>
          <p:cNvPr id="3071" name="Google Shape;3071;p110"/>
          <p:cNvCxnSpPr>
            <a:stCxn id="3064" idx="3"/>
            <a:endCxn id="3065" idx="7"/>
          </p:cNvCxnSpPr>
          <p:nvPr/>
        </p:nvCxnSpPr>
        <p:spPr>
          <a:xfrm flipH="1">
            <a:off x="2722038" y="3770628"/>
            <a:ext cx="1629600" cy="401100"/>
          </a:xfrm>
          <a:prstGeom prst="straightConnector1">
            <a:avLst/>
          </a:prstGeom>
          <a:solidFill>
            <a:schemeClr val="accent2"/>
          </a:solidFill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3072" name="Google Shape;3072;p110"/>
          <p:cNvCxnSpPr>
            <a:stCxn id="3070" idx="1"/>
            <a:endCxn id="3064" idx="5"/>
          </p:cNvCxnSpPr>
          <p:nvPr/>
        </p:nvCxnSpPr>
        <p:spPr>
          <a:xfrm rot="10800000">
            <a:off x="4744815" y="3770636"/>
            <a:ext cx="1034700" cy="329100"/>
          </a:xfrm>
          <a:prstGeom prst="straightConnector1">
            <a:avLst/>
          </a:prstGeom>
          <a:solidFill>
            <a:schemeClr val="accent2"/>
          </a:solidFill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3073" name="Google Shape;3073;p110"/>
          <p:cNvCxnSpPr>
            <a:stCxn id="3074" idx="0"/>
            <a:endCxn id="3070" idx="5"/>
          </p:cNvCxnSpPr>
          <p:nvPr/>
        </p:nvCxnSpPr>
        <p:spPr>
          <a:xfrm rot="10800000">
            <a:off x="6172625" y="4459883"/>
            <a:ext cx="728100" cy="286500"/>
          </a:xfrm>
          <a:prstGeom prst="straightConnector1">
            <a:avLst/>
          </a:prstGeom>
          <a:solidFill>
            <a:schemeClr val="accent2"/>
          </a:solidFill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3075" name="Google Shape;3075;p110"/>
          <p:cNvCxnSpPr>
            <a:stCxn id="3076" idx="0"/>
            <a:endCxn id="3070" idx="3"/>
          </p:cNvCxnSpPr>
          <p:nvPr/>
        </p:nvCxnSpPr>
        <p:spPr>
          <a:xfrm rot="10800000" flipH="1">
            <a:off x="5447878" y="4459986"/>
            <a:ext cx="331500" cy="200400"/>
          </a:xfrm>
          <a:prstGeom prst="straightConnector1">
            <a:avLst/>
          </a:prstGeom>
          <a:solidFill>
            <a:schemeClr val="accent2"/>
          </a:solidFill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3077" name="Google Shape;3077;p110"/>
          <p:cNvCxnSpPr>
            <a:stCxn id="3065" idx="3"/>
            <a:endCxn id="3066" idx="7"/>
          </p:cNvCxnSpPr>
          <p:nvPr/>
        </p:nvCxnSpPr>
        <p:spPr>
          <a:xfrm flipH="1">
            <a:off x="2100560" y="4531897"/>
            <a:ext cx="228300" cy="196200"/>
          </a:xfrm>
          <a:prstGeom prst="straightConnector1">
            <a:avLst/>
          </a:prstGeom>
          <a:solidFill>
            <a:schemeClr val="accent2"/>
          </a:solidFill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3078" name="Google Shape;3078;p110"/>
          <p:cNvCxnSpPr>
            <a:stCxn id="3065" idx="5"/>
            <a:endCxn id="3069" idx="1"/>
          </p:cNvCxnSpPr>
          <p:nvPr/>
        </p:nvCxnSpPr>
        <p:spPr>
          <a:xfrm>
            <a:off x="2722112" y="4531897"/>
            <a:ext cx="569700" cy="286200"/>
          </a:xfrm>
          <a:prstGeom prst="straightConnector1">
            <a:avLst/>
          </a:prstGeom>
          <a:solidFill>
            <a:schemeClr val="accent2"/>
          </a:solidFill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3079" name="Google Shape;3079;p110"/>
          <p:cNvCxnSpPr>
            <a:stCxn id="3066" idx="3"/>
            <a:endCxn id="3067" idx="7"/>
          </p:cNvCxnSpPr>
          <p:nvPr/>
        </p:nvCxnSpPr>
        <p:spPr>
          <a:xfrm flipH="1">
            <a:off x="1547484" y="5088113"/>
            <a:ext cx="159900" cy="363300"/>
          </a:xfrm>
          <a:prstGeom prst="straightConnector1">
            <a:avLst/>
          </a:prstGeom>
          <a:solidFill>
            <a:schemeClr val="accent2"/>
          </a:solidFill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3080" name="Google Shape;3080;p110"/>
          <p:cNvCxnSpPr>
            <a:stCxn id="3066" idx="5"/>
            <a:endCxn id="3068" idx="0"/>
          </p:cNvCxnSpPr>
          <p:nvPr/>
        </p:nvCxnSpPr>
        <p:spPr>
          <a:xfrm>
            <a:off x="2100636" y="5088113"/>
            <a:ext cx="107100" cy="329700"/>
          </a:xfrm>
          <a:prstGeom prst="straightConnector1">
            <a:avLst/>
          </a:prstGeom>
          <a:solidFill>
            <a:schemeClr val="accent2"/>
          </a:solidFill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3081" name="Google Shape;3081;p110"/>
          <p:cNvSpPr/>
          <p:nvPr/>
        </p:nvSpPr>
        <p:spPr>
          <a:xfrm>
            <a:off x="2604089" y="5451386"/>
            <a:ext cx="556142" cy="509345"/>
          </a:xfrm>
          <a:prstGeom prst="ellipse">
            <a:avLst/>
          </a:prstGeom>
          <a:solidFill>
            <a:schemeClr val="accent2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cxnSp>
        <p:nvCxnSpPr>
          <p:cNvPr id="3082" name="Google Shape;3082;p110"/>
          <p:cNvCxnSpPr>
            <a:stCxn id="3069" idx="3"/>
            <a:endCxn id="3081" idx="7"/>
          </p:cNvCxnSpPr>
          <p:nvPr/>
        </p:nvCxnSpPr>
        <p:spPr>
          <a:xfrm flipH="1">
            <a:off x="3078913" y="5178307"/>
            <a:ext cx="213000" cy="347700"/>
          </a:xfrm>
          <a:prstGeom prst="straightConnector1">
            <a:avLst/>
          </a:prstGeom>
          <a:solidFill>
            <a:schemeClr val="accent2"/>
          </a:solidFill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3076" name="Google Shape;3076;p110"/>
          <p:cNvSpPr/>
          <p:nvPr/>
        </p:nvSpPr>
        <p:spPr>
          <a:xfrm>
            <a:off x="5169807" y="4660386"/>
            <a:ext cx="556142" cy="509345"/>
          </a:xfrm>
          <a:prstGeom prst="ellipse">
            <a:avLst/>
          </a:prstGeom>
          <a:solidFill>
            <a:schemeClr val="accent2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endParaRPr/>
          </a:p>
        </p:txBody>
      </p:sp>
      <p:sp>
        <p:nvSpPr>
          <p:cNvPr id="3074" name="Google Shape;3074;p110"/>
          <p:cNvSpPr/>
          <p:nvPr/>
        </p:nvSpPr>
        <p:spPr>
          <a:xfrm>
            <a:off x="6622654" y="4746383"/>
            <a:ext cx="556142" cy="509345"/>
          </a:xfrm>
          <a:prstGeom prst="ellipse">
            <a:avLst/>
          </a:prstGeom>
          <a:solidFill>
            <a:schemeClr val="accent2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/>
          </a:p>
        </p:txBody>
      </p:sp>
      <p:sp>
        <p:nvSpPr>
          <p:cNvPr id="3083" name="Google Shape;3083;p110"/>
          <p:cNvSpPr/>
          <p:nvPr/>
        </p:nvSpPr>
        <p:spPr>
          <a:xfrm>
            <a:off x="6884435" y="1093648"/>
            <a:ext cx="4497258" cy="8309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Initially the array must 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be a max heap (run a max heapify)</a:t>
            </a:r>
            <a:endParaRPr/>
          </a:p>
        </p:txBody>
      </p:sp>
      <p:graphicFrame>
        <p:nvGraphicFramePr>
          <p:cNvPr id="3084" name="Google Shape;3084;p110"/>
          <p:cNvGraphicFramePr/>
          <p:nvPr/>
        </p:nvGraphicFramePr>
        <p:xfrm>
          <a:off x="6851939" y="2264136"/>
          <a:ext cx="4562250" cy="731540"/>
        </p:xfrm>
        <a:graphic>
          <a:graphicData uri="http://schemas.openxmlformats.org/drawingml/2006/table">
            <a:tbl>
              <a:tblPr firstRow="1" bandRow="1">
                <a:noFill/>
                <a:tableStyleId>{66088737-8E24-4614-AAA7-3D08145F63E1}</a:tableStyleId>
              </a:tblPr>
              <a:tblGrid>
                <a:gridCol w="4562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62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562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008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115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562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5622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5622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45622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45622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2914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1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2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3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4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5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6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7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8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9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10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14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u="none" strike="noStrike" cap="none">
                          <a:solidFill>
                            <a:schemeClr val="dk1"/>
                          </a:solidFill>
                        </a:rPr>
                        <a:t>16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u="none" strike="noStrike" cap="none">
                          <a:solidFill>
                            <a:schemeClr val="dk1"/>
                          </a:solidFill>
                        </a:rPr>
                        <a:t>14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u="none" strike="noStrike" cap="none">
                          <a:solidFill>
                            <a:schemeClr val="dk1"/>
                          </a:solidFill>
                        </a:rPr>
                        <a:t>10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u="none" strike="noStrike" cap="none">
                          <a:solidFill>
                            <a:schemeClr val="dk1"/>
                          </a:solidFill>
                        </a:rPr>
                        <a:t>8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u="none" strike="noStrike" cap="none">
                          <a:solidFill>
                            <a:schemeClr val="dk1"/>
                          </a:solidFill>
                        </a:rPr>
                        <a:t>7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u="none" strike="noStrike" cap="none">
                          <a:solidFill>
                            <a:schemeClr val="dk1"/>
                          </a:solidFill>
                        </a:rPr>
                        <a:t>9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u="none" strike="noStrike" cap="none">
                          <a:solidFill>
                            <a:schemeClr val="dk1"/>
                          </a:solidFill>
                        </a:rPr>
                        <a:t>3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u="none" strike="noStrike" cap="none">
                          <a:solidFill>
                            <a:schemeClr val="dk1"/>
                          </a:solidFill>
                        </a:rPr>
                        <a:t>2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u="none" strike="noStrike" cap="none">
                          <a:solidFill>
                            <a:schemeClr val="dk1"/>
                          </a:solidFill>
                        </a:rPr>
                        <a:t>4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u="none" strike="noStrike" cap="none">
                          <a:solidFill>
                            <a:schemeClr val="dk1"/>
                          </a:solidFill>
                        </a:rPr>
                        <a:t>1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9" name="Google Shape;3089;p111"/>
          <p:cNvSpPr txBox="1">
            <a:spLocks noGrp="1"/>
          </p:cNvSpPr>
          <p:nvPr>
            <p:ph type="body" idx="1"/>
          </p:nvPr>
        </p:nvSpPr>
        <p:spPr>
          <a:xfrm>
            <a:off x="838200" y="1227909"/>
            <a:ext cx="10515600" cy="49490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1500"/>
              <a:buFont typeface="Arial"/>
              <a:buChar char="●"/>
            </a:pPr>
            <a:r>
              <a:rPr lang="en-US" sz="2000" b="1"/>
              <a:t>Priority Queue functions</a:t>
            </a:r>
            <a:endParaRPr/>
          </a:p>
          <a:p>
            <a:pPr marL="742950" lvl="1" indent="-28575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040"/>
              <a:buChar char="●"/>
            </a:pPr>
            <a:r>
              <a:rPr lang="en-US" sz="1600" b="1"/>
              <a:t>HEAP-MAXIMUM</a:t>
            </a:r>
            <a:r>
              <a:rPr lang="en-US" sz="1600"/>
              <a:t> – </a:t>
            </a:r>
            <a:r>
              <a:rPr lang="en-US" sz="1600">
                <a:solidFill>
                  <a:srgbClr val="FF0000"/>
                </a:solidFill>
              </a:rPr>
              <a:t>checks what is the age of the eldest citizen</a:t>
            </a:r>
            <a:endParaRPr/>
          </a:p>
          <a:p>
            <a:pPr marL="742950" lvl="1" indent="-28575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040"/>
              <a:buChar char="●"/>
            </a:pPr>
            <a:r>
              <a:rPr lang="en-US" sz="1600"/>
              <a:t>MAX-HEAP-INSERT</a:t>
            </a:r>
            <a:endParaRPr/>
          </a:p>
          <a:p>
            <a:pPr marL="742950" lvl="1" indent="-28575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040"/>
              <a:buChar char="●"/>
            </a:pPr>
            <a:r>
              <a:rPr lang="en-US" sz="1600"/>
              <a:t>HEAP-EXTRACT-MAX</a:t>
            </a:r>
            <a:endParaRPr/>
          </a:p>
          <a:p>
            <a:pPr marL="742950" lvl="1" indent="-28575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040"/>
              <a:buChar char="●"/>
            </a:pPr>
            <a:r>
              <a:rPr lang="en-US" sz="1600"/>
              <a:t>HEAP-INCREASE-KEY</a:t>
            </a:r>
            <a:endParaRPr/>
          </a:p>
        </p:txBody>
      </p:sp>
      <p:sp>
        <p:nvSpPr>
          <p:cNvPr id="3090" name="Google Shape;3090;p111"/>
          <p:cNvSpPr txBox="1">
            <a:spLocks noGrp="1"/>
          </p:cNvSpPr>
          <p:nvPr>
            <p:ph type="dt" idx="10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924BAF43-17AA-429E-8644-B096B67B96D4}" type="datetime1">
              <a:rPr lang="en-US" smtClean="0"/>
              <a:t>1/12/2026</a:t>
            </a:fld>
            <a:endParaRPr/>
          </a:p>
        </p:txBody>
      </p:sp>
      <p:sp>
        <p:nvSpPr>
          <p:cNvPr id="3091" name="Google Shape;3091;p111"/>
          <p:cNvSpPr txBox="1">
            <a:spLocks noGrp="1"/>
          </p:cNvSpPr>
          <p:nvPr>
            <p:ph type="ftr" idx="11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Lec Asif Abrar, Dept of CSE, UIU</a:t>
            </a:r>
            <a:endParaRPr/>
          </a:p>
        </p:txBody>
      </p:sp>
      <p:sp>
        <p:nvSpPr>
          <p:cNvPr id="3092" name="Google Shape;3092;p111"/>
          <p:cNvSpPr txBox="1">
            <a:spLocks noGrp="1"/>
          </p:cNvSpPr>
          <p:nvPr>
            <p:ph type="sldNum" idx="12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78</a:t>
            </a:fld>
            <a:endParaRPr/>
          </a:p>
        </p:txBody>
      </p:sp>
      <p:sp>
        <p:nvSpPr>
          <p:cNvPr id="3093" name="Google Shape;3093;p111"/>
          <p:cNvSpPr txBox="1">
            <a:spLocks noGrp="1"/>
          </p:cNvSpPr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/>
              <a:t>Max heap as a priority queue</a:t>
            </a:r>
            <a:endParaRPr/>
          </a:p>
        </p:txBody>
      </p:sp>
      <p:sp>
        <p:nvSpPr>
          <p:cNvPr id="3094" name="Google Shape;3094;p111"/>
          <p:cNvSpPr/>
          <p:nvPr/>
        </p:nvSpPr>
        <p:spPr>
          <a:xfrm>
            <a:off x="4270193" y="3335875"/>
            <a:ext cx="556142" cy="509345"/>
          </a:xfrm>
          <a:prstGeom prst="ellipse">
            <a:avLst/>
          </a:prstGeom>
          <a:solidFill>
            <a:schemeClr val="accent2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16</a:t>
            </a:r>
            <a:endParaRPr/>
          </a:p>
        </p:txBody>
      </p:sp>
      <p:sp>
        <p:nvSpPr>
          <p:cNvPr id="3095" name="Google Shape;3095;p111"/>
          <p:cNvSpPr/>
          <p:nvPr/>
        </p:nvSpPr>
        <p:spPr>
          <a:xfrm>
            <a:off x="2247415" y="4097144"/>
            <a:ext cx="556142" cy="509345"/>
          </a:xfrm>
          <a:prstGeom prst="ellipse">
            <a:avLst/>
          </a:prstGeom>
          <a:solidFill>
            <a:schemeClr val="accent2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14</a:t>
            </a:r>
            <a:endParaRPr/>
          </a:p>
        </p:txBody>
      </p:sp>
      <p:sp>
        <p:nvSpPr>
          <p:cNvPr id="3096" name="Google Shape;3096;p111"/>
          <p:cNvSpPr/>
          <p:nvPr/>
        </p:nvSpPr>
        <p:spPr>
          <a:xfrm>
            <a:off x="1625939" y="4653360"/>
            <a:ext cx="556142" cy="509345"/>
          </a:xfrm>
          <a:prstGeom prst="ellipse">
            <a:avLst/>
          </a:prstGeom>
          <a:solidFill>
            <a:schemeClr val="accent2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/>
          </a:p>
        </p:txBody>
      </p:sp>
      <p:sp>
        <p:nvSpPr>
          <p:cNvPr id="3097" name="Google Shape;3097;p111"/>
          <p:cNvSpPr/>
          <p:nvPr/>
        </p:nvSpPr>
        <p:spPr>
          <a:xfrm>
            <a:off x="1072894" y="5376794"/>
            <a:ext cx="556142" cy="509345"/>
          </a:xfrm>
          <a:prstGeom prst="ellipse">
            <a:avLst/>
          </a:prstGeom>
          <a:solidFill>
            <a:schemeClr val="accent2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  <p:sp>
        <p:nvSpPr>
          <p:cNvPr id="3098" name="Google Shape;3098;p111"/>
          <p:cNvSpPr/>
          <p:nvPr/>
        </p:nvSpPr>
        <p:spPr>
          <a:xfrm>
            <a:off x="1929716" y="5417685"/>
            <a:ext cx="556142" cy="509345"/>
          </a:xfrm>
          <a:prstGeom prst="ellipse">
            <a:avLst/>
          </a:prstGeom>
          <a:solidFill>
            <a:schemeClr val="accent2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/>
          </a:p>
        </p:txBody>
      </p:sp>
      <p:sp>
        <p:nvSpPr>
          <p:cNvPr id="3099" name="Google Shape;3099;p111"/>
          <p:cNvSpPr/>
          <p:nvPr/>
        </p:nvSpPr>
        <p:spPr>
          <a:xfrm>
            <a:off x="3210468" y="4743554"/>
            <a:ext cx="556142" cy="509345"/>
          </a:xfrm>
          <a:prstGeom prst="ellipse">
            <a:avLst/>
          </a:prstGeom>
          <a:solidFill>
            <a:schemeClr val="accent2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/>
          </a:p>
        </p:txBody>
      </p:sp>
      <p:sp>
        <p:nvSpPr>
          <p:cNvPr id="3100" name="Google Shape;3100;p111"/>
          <p:cNvSpPr/>
          <p:nvPr/>
        </p:nvSpPr>
        <p:spPr>
          <a:xfrm>
            <a:off x="5698070" y="4025144"/>
            <a:ext cx="556142" cy="509345"/>
          </a:xfrm>
          <a:prstGeom prst="ellipse">
            <a:avLst/>
          </a:prstGeom>
          <a:solidFill>
            <a:schemeClr val="accent2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/>
          </a:p>
        </p:txBody>
      </p:sp>
      <p:cxnSp>
        <p:nvCxnSpPr>
          <p:cNvPr id="3101" name="Google Shape;3101;p111"/>
          <p:cNvCxnSpPr>
            <a:stCxn id="3094" idx="3"/>
            <a:endCxn id="3095" idx="7"/>
          </p:cNvCxnSpPr>
          <p:nvPr/>
        </p:nvCxnSpPr>
        <p:spPr>
          <a:xfrm flipH="1">
            <a:off x="2722038" y="3770628"/>
            <a:ext cx="1629600" cy="401100"/>
          </a:xfrm>
          <a:prstGeom prst="straightConnector1">
            <a:avLst/>
          </a:prstGeom>
          <a:solidFill>
            <a:schemeClr val="accent2"/>
          </a:solidFill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3102" name="Google Shape;3102;p111"/>
          <p:cNvCxnSpPr>
            <a:stCxn id="3100" idx="1"/>
            <a:endCxn id="3094" idx="5"/>
          </p:cNvCxnSpPr>
          <p:nvPr/>
        </p:nvCxnSpPr>
        <p:spPr>
          <a:xfrm rot="10800000">
            <a:off x="4744815" y="3770636"/>
            <a:ext cx="1034700" cy="329100"/>
          </a:xfrm>
          <a:prstGeom prst="straightConnector1">
            <a:avLst/>
          </a:prstGeom>
          <a:solidFill>
            <a:schemeClr val="accent2"/>
          </a:solidFill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3103" name="Google Shape;3103;p111"/>
          <p:cNvCxnSpPr>
            <a:stCxn id="3104" idx="0"/>
            <a:endCxn id="3100" idx="5"/>
          </p:cNvCxnSpPr>
          <p:nvPr/>
        </p:nvCxnSpPr>
        <p:spPr>
          <a:xfrm rot="10800000">
            <a:off x="6172625" y="4459883"/>
            <a:ext cx="728100" cy="286500"/>
          </a:xfrm>
          <a:prstGeom prst="straightConnector1">
            <a:avLst/>
          </a:prstGeom>
          <a:solidFill>
            <a:schemeClr val="accent2"/>
          </a:solidFill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3105" name="Google Shape;3105;p111"/>
          <p:cNvCxnSpPr>
            <a:stCxn id="3106" idx="0"/>
            <a:endCxn id="3100" idx="3"/>
          </p:cNvCxnSpPr>
          <p:nvPr/>
        </p:nvCxnSpPr>
        <p:spPr>
          <a:xfrm rot="10800000" flipH="1">
            <a:off x="5447878" y="4459986"/>
            <a:ext cx="331500" cy="200400"/>
          </a:xfrm>
          <a:prstGeom prst="straightConnector1">
            <a:avLst/>
          </a:prstGeom>
          <a:solidFill>
            <a:schemeClr val="accent2"/>
          </a:solidFill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3107" name="Google Shape;3107;p111"/>
          <p:cNvCxnSpPr>
            <a:stCxn id="3095" idx="3"/>
            <a:endCxn id="3096" idx="7"/>
          </p:cNvCxnSpPr>
          <p:nvPr/>
        </p:nvCxnSpPr>
        <p:spPr>
          <a:xfrm flipH="1">
            <a:off x="2100560" y="4531897"/>
            <a:ext cx="228300" cy="196200"/>
          </a:xfrm>
          <a:prstGeom prst="straightConnector1">
            <a:avLst/>
          </a:prstGeom>
          <a:solidFill>
            <a:schemeClr val="accent2"/>
          </a:solidFill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3108" name="Google Shape;3108;p111"/>
          <p:cNvCxnSpPr>
            <a:stCxn id="3095" idx="5"/>
            <a:endCxn id="3099" idx="1"/>
          </p:cNvCxnSpPr>
          <p:nvPr/>
        </p:nvCxnSpPr>
        <p:spPr>
          <a:xfrm>
            <a:off x="2722112" y="4531897"/>
            <a:ext cx="569700" cy="286200"/>
          </a:xfrm>
          <a:prstGeom prst="straightConnector1">
            <a:avLst/>
          </a:prstGeom>
          <a:solidFill>
            <a:schemeClr val="accent2"/>
          </a:solidFill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3109" name="Google Shape;3109;p111"/>
          <p:cNvCxnSpPr>
            <a:stCxn id="3096" idx="3"/>
            <a:endCxn id="3097" idx="7"/>
          </p:cNvCxnSpPr>
          <p:nvPr/>
        </p:nvCxnSpPr>
        <p:spPr>
          <a:xfrm flipH="1">
            <a:off x="1547484" y="5088113"/>
            <a:ext cx="159900" cy="363300"/>
          </a:xfrm>
          <a:prstGeom prst="straightConnector1">
            <a:avLst/>
          </a:prstGeom>
          <a:solidFill>
            <a:schemeClr val="accent2"/>
          </a:solidFill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3110" name="Google Shape;3110;p111"/>
          <p:cNvCxnSpPr>
            <a:stCxn id="3096" idx="5"/>
            <a:endCxn id="3098" idx="0"/>
          </p:cNvCxnSpPr>
          <p:nvPr/>
        </p:nvCxnSpPr>
        <p:spPr>
          <a:xfrm>
            <a:off x="2100636" y="5088113"/>
            <a:ext cx="107100" cy="329700"/>
          </a:xfrm>
          <a:prstGeom prst="straightConnector1">
            <a:avLst/>
          </a:prstGeom>
          <a:solidFill>
            <a:schemeClr val="accent2"/>
          </a:solidFill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3111" name="Google Shape;3111;p111"/>
          <p:cNvSpPr/>
          <p:nvPr/>
        </p:nvSpPr>
        <p:spPr>
          <a:xfrm>
            <a:off x="2604089" y="5451386"/>
            <a:ext cx="556142" cy="509345"/>
          </a:xfrm>
          <a:prstGeom prst="ellipse">
            <a:avLst/>
          </a:prstGeom>
          <a:solidFill>
            <a:schemeClr val="accent2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cxnSp>
        <p:nvCxnSpPr>
          <p:cNvPr id="3112" name="Google Shape;3112;p111"/>
          <p:cNvCxnSpPr>
            <a:stCxn id="3099" idx="3"/>
            <a:endCxn id="3111" idx="7"/>
          </p:cNvCxnSpPr>
          <p:nvPr/>
        </p:nvCxnSpPr>
        <p:spPr>
          <a:xfrm flipH="1">
            <a:off x="3078913" y="5178307"/>
            <a:ext cx="213000" cy="347700"/>
          </a:xfrm>
          <a:prstGeom prst="straightConnector1">
            <a:avLst/>
          </a:prstGeom>
          <a:solidFill>
            <a:schemeClr val="accent2"/>
          </a:solidFill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3106" name="Google Shape;3106;p111"/>
          <p:cNvSpPr/>
          <p:nvPr/>
        </p:nvSpPr>
        <p:spPr>
          <a:xfrm>
            <a:off x="5169807" y="4660386"/>
            <a:ext cx="556142" cy="509345"/>
          </a:xfrm>
          <a:prstGeom prst="ellipse">
            <a:avLst/>
          </a:prstGeom>
          <a:solidFill>
            <a:schemeClr val="accent2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endParaRPr/>
          </a:p>
        </p:txBody>
      </p:sp>
      <p:sp>
        <p:nvSpPr>
          <p:cNvPr id="3104" name="Google Shape;3104;p111"/>
          <p:cNvSpPr/>
          <p:nvPr/>
        </p:nvSpPr>
        <p:spPr>
          <a:xfrm>
            <a:off x="6622654" y="4746383"/>
            <a:ext cx="556142" cy="509345"/>
          </a:xfrm>
          <a:prstGeom prst="ellipse">
            <a:avLst/>
          </a:prstGeom>
          <a:solidFill>
            <a:schemeClr val="accent2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/>
          </a:p>
        </p:txBody>
      </p:sp>
      <p:sp>
        <p:nvSpPr>
          <p:cNvPr id="3113" name="Google Shape;3113;p111"/>
          <p:cNvSpPr/>
          <p:nvPr/>
        </p:nvSpPr>
        <p:spPr>
          <a:xfrm>
            <a:off x="6884435" y="1093648"/>
            <a:ext cx="4497258" cy="8309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Initially the array must 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be a max heap (run a max heapify)</a:t>
            </a:r>
            <a:endParaRPr/>
          </a:p>
        </p:txBody>
      </p:sp>
      <p:graphicFrame>
        <p:nvGraphicFramePr>
          <p:cNvPr id="3114" name="Google Shape;3114;p111"/>
          <p:cNvGraphicFramePr/>
          <p:nvPr/>
        </p:nvGraphicFramePr>
        <p:xfrm>
          <a:off x="6851939" y="2264136"/>
          <a:ext cx="4562250" cy="731540"/>
        </p:xfrm>
        <a:graphic>
          <a:graphicData uri="http://schemas.openxmlformats.org/drawingml/2006/table">
            <a:tbl>
              <a:tblPr firstRow="1" bandRow="1">
                <a:noFill/>
                <a:tableStyleId>{66088737-8E24-4614-AAA7-3D08145F63E1}</a:tableStyleId>
              </a:tblPr>
              <a:tblGrid>
                <a:gridCol w="4562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62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562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008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115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562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5622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5622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45622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45622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2914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1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2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3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4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5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6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7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8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9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10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14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u="none" strike="noStrike" cap="none">
                          <a:solidFill>
                            <a:schemeClr val="dk1"/>
                          </a:solidFill>
                        </a:rPr>
                        <a:t>16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u="none" strike="noStrike" cap="none">
                          <a:solidFill>
                            <a:schemeClr val="dk1"/>
                          </a:solidFill>
                        </a:rPr>
                        <a:t>14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u="none" strike="noStrike" cap="none">
                          <a:solidFill>
                            <a:schemeClr val="dk1"/>
                          </a:solidFill>
                        </a:rPr>
                        <a:t>10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u="none" strike="noStrike" cap="none">
                          <a:solidFill>
                            <a:schemeClr val="dk1"/>
                          </a:solidFill>
                        </a:rPr>
                        <a:t>8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u="none" strike="noStrike" cap="none">
                          <a:solidFill>
                            <a:schemeClr val="dk1"/>
                          </a:solidFill>
                        </a:rPr>
                        <a:t>7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u="none" strike="noStrike" cap="none">
                          <a:solidFill>
                            <a:schemeClr val="dk1"/>
                          </a:solidFill>
                        </a:rPr>
                        <a:t>9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u="none" strike="noStrike" cap="none">
                          <a:solidFill>
                            <a:schemeClr val="dk1"/>
                          </a:solidFill>
                        </a:rPr>
                        <a:t>3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u="none" strike="noStrike" cap="none">
                          <a:solidFill>
                            <a:schemeClr val="dk1"/>
                          </a:solidFill>
                        </a:rPr>
                        <a:t>2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u="none" strike="noStrike" cap="none">
                          <a:solidFill>
                            <a:schemeClr val="dk1"/>
                          </a:solidFill>
                        </a:rPr>
                        <a:t>4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u="none" strike="noStrike" cap="none">
                          <a:solidFill>
                            <a:schemeClr val="dk1"/>
                          </a:solidFill>
                        </a:rPr>
                        <a:t>1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pic>
        <p:nvPicPr>
          <p:cNvPr id="3115" name="Google Shape;3115;p11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576092" y="4675021"/>
            <a:ext cx="2777708" cy="921751"/>
          </a:xfrm>
          <a:prstGeom prst="rect">
            <a:avLst/>
          </a:prstGeom>
          <a:noFill/>
          <a:ln>
            <a:noFill/>
          </a:ln>
        </p:spPr>
      </p:pic>
      <p:sp>
        <p:nvSpPr>
          <p:cNvPr id="3116" name="Google Shape;3116;p111"/>
          <p:cNvSpPr/>
          <p:nvPr/>
        </p:nvSpPr>
        <p:spPr>
          <a:xfrm>
            <a:off x="6717089" y="2503503"/>
            <a:ext cx="727958" cy="606723"/>
          </a:xfrm>
          <a:prstGeom prst="ellipse">
            <a:avLst/>
          </a:prstGeom>
          <a:noFill/>
          <a:ln w="57150" cap="flat" cmpd="sng">
            <a:solidFill>
              <a:srgbClr val="FF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1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1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1" name="Google Shape;3121;p112"/>
          <p:cNvSpPr txBox="1">
            <a:spLocks noGrp="1"/>
          </p:cNvSpPr>
          <p:nvPr>
            <p:ph type="body" idx="1"/>
          </p:nvPr>
        </p:nvSpPr>
        <p:spPr>
          <a:xfrm>
            <a:off x="838200" y="1227909"/>
            <a:ext cx="10515600" cy="49490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1500"/>
              <a:buFont typeface="Arial"/>
              <a:buChar char="●"/>
            </a:pPr>
            <a:r>
              <a:rPr lang="en-US" sz="2000" b="1"/>
              <a:t>Priority Queue functions</a:t>
            </a:r>
            <a:endParaRPr/>
          </a:p>
          <a:p>
            <a:pPr marL="742950" lvl="1" indent="-28575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040"/>
              <a:buChar char="●"/>
            </a:pPr>
            <a:r>
              <a:rPr lang="en-US" sz="1600"/>
              <a:t>HEAP-MAXIMUM </a:t>
            </a:r>
            <a:endParaRPr/>
          </a:p>
          <a:p>
            <a:pPr marL="742950" lvl="1" indent="-28575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040"/>
              <a:buChar char="●"/>
            </a:pPr>
            <a:r>
              <a:rPr lang="en-US" sz="1600"/>
              <a:t>MAX-HEAP-INSERT</a:t>
            </a:r>
            <a:endParaRPr/>
          </a:p>
          <a:p>
            <a:pPr marL="742950" lvl="1" indent="-28575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040"/>
              <a:buChar char="●"/>
            </a:pPr>
            <a:r>
              <a:rPr lang="en-US" sz="1600" b="1"/>
              <a:t>HEAP-EXTRACT-MAX – </a:t>
            </a:r>
            <a:r>
              <a:rPr lang="en-US" sz="1600">
                <a:solidFill>
                  <a:srgbClr val="FF0000"/>
                </a:solidFill>
              </a:rPr>
              <a:t>extract the eldest citizen</a:t>
            </a:r>
            <a:endParaRPr sz="1600" b="1">
              <a:solidFill>
                <a:srgbClr val="FF0000"/>
              </a:solidFill>
            </a:endParaRPr>
          </a:p>
          <a:p>
            <a:pPr marL="742950" lvl="1" indent="-28575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040"/>
              <a:buChar char="●"/>
            </a:pPr>
            <a:r>
              <a:rPr lang="en-US" sz="1600"/>
              <a:t>HEAP-INCREASE-KEY</a:t>
            </a:r>
            <a:endParaRPr/>
          </a:p>
        </p:txBody>
      </p:sp>
      <p:sp>
        <p:nvSpPr>
          <p:cNvPr id="3122" name="Google Shape;3122;p112"/>
          <p:cNvSpPr txBox="1">
            <a:spLocks noGrp="1"/>
          </p:cNvSpPr>
          <p:nvPr>
            <p:ph type="dt" idx="10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CEAF0448-1207-4047-BB91-555F42177602}" type="datetime1">
              <a:rPr lang="en-US" smtClean="0"/>
              <a:t>1/12/2026</a:t>
            </a:fld>
            <a:endParaRPr/>
          </a:p>
        </p:txBody>
      </p:sp>
      <p:sp>
        <p:nvSpPr>
          <p:cNvPr id="3123" name="Google Shape;3123;p112"/>
          <p:cNvSpPr txBox="1">
            <a:spLocks noGrp="1"/>
          </p:cNvSpPr>
          <p:nvPr>
            <p:ph type="ftr" idx="11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Lec Asif Abrar, Dept of CSE, UIU</a:t>
            </a:r>
            <a:endParaRPr/>
          </a:p>
        </p:txBody>
      </p:sp>
      <p:sp>
        <p:nvSpPr>
          <p:cNvPr id="3124" name="Google Shape;3124;p112"/>
          <p:cNvSpPr txBox="1">
            <a:spLocks noGrp="1"/>
          </p:cNvSpPr>
          <p:nvPr>
            <p:ph type="sldNum" idx="12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79</a:t>
            </a:fld>
            <a:endParaRPr/>
          </a:p>
        </p:txBody>
      </p:sp>
      <p:sp>
        <p:nvSpPr>
          <p:cNvPr id="3125" name="Google Shape;3125;p112"/>
          <p:cNvSpPr txBox="1">
            <a:spLocks noGrp="1"/>
          </p:cNvSpPr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/>
              <a:t>Max heap as a priority queue</a:t>
            </a:r>
            <a:endParaRPr/>
          </a:p>
        </p:txBody>
      </p:sp>
      <p:sp>
        <p:nvSpPr>
          <p:cNvPr id="3126" name="Google Shape;3126;p112"/>
          <p:cNvSpPr/>
          <p:nvPr/>
        </p:nvSpPr>
        <p:spPr>
          <a:xfrm>
            <a:off x="3581400" y="3429000"/>
            <a:ext cx="556142" cy="509345"/>
          </a:xfrm>
          <a:prstGeom prst="ellipse">
            <a:avLst/>
          </a:prstGeom>
          <a:solidFill>
            <a:schemeClr val="accent2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16</a:t>
            </a:r>
            <a:endParaRPr/>
          </a:p>
        </p:txBody>
      </p:sp>
      <p:sp>
        <p:nvSpPr>
          <p:cNvPr id="3127" name="Google Shape;3127;p112"/>
          <p:cNvSpPr/>
          <p:nvPr/>
        </p:nvSpPr>
        <p:spPr>
          <a:xfrm>
            <a:off x="1558622" y="4190269"/>
            <a:ext cx="556142" cy="509345"/>
          </a:xfrm>
          <a:prstGeom prst="ellipse">
            <a:avLst/>
          </a:prstGeom>
          <a:solidFill>
            <a:schemeClr val="accent2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14</a:t>
            </a:r>
            <a:endParaRPr/>
          </a:p>
        </p:txBody>
      </p:sp>
      <p:sp>
        <p:nvSpPr>
          <p:cNvPr id="3128" name="Google Shape;3128;p112"/>
          <p:cNvSpPr/>
          <p:nvPr/>
        </p:nvSpPr>
        <p:spPr>
          <a:xfrm>
            <a:off x="937146" y="4746485"/>
            <a:ext cx="556142" cy="509345"/>
          </a:xfrm>
          <a:prstGeom prst="ellipse">
            <a:avLst/>
          </a:prstGeom>
          <a:solidFill>
            <a:schemeClr val="accent2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/>
          </a:p>
        </p:txBody>
      </p:sp>
      <p:sp>
        <p:nvSpPr>
          <p:cNvPr id="3129" name="Google Shape;3129;p112"/>
          <p:cNvSpPr/>
          <p:nvPr/>
        </p:nvSpPr>
        <p:spPr>
          <a:xfrm>
            <a:off x="384101" y="5469919"/>
            <a:ext cx="556142" cy="509345"/>
          </a:xfrm>
          <a:prstGeom prst="ellipse">
            <a:avLst/>
          </a:prstGeom>
          <a:solidFill>
            <a:schemeClr val="accent2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  <p:sp>
        <p:nvSpPr>
          <p:cNvPr id="3130" name="Google Shape;3130;p112"/>
          <p:cNvSpPr/>
          <p:nvPr/>
        </p:nvSpPr>
        <p:spPr>
          <a:xfrm>
            <a:off x="1240923" y="5510810"/>
            <a:ext cx="556142" cy="509345"/>
          </a:xfrm>
          <a:prstGeom prst="ellipse">
            <a:avLst/>
          </a:prstGeom>
          <a:solidFill>
            <a:schemeClr val="accent2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/>
          </a:p>
        </p:txBody>
      </p:sp>
      <p:sp>
        <p:nvSpPr>
          <p:cNvPr id="3131" name="Google Shape;3131;p112"/>
          <p:cNvSpPr/>
          <p:nvPr/>
        </p:nvSpPr>
        <p:spPr>
          <a:xfrm>
            <a:off x="2521675" y="4836679"/>
            <a:ext cx="556142" cy="509345"/>
          </a:xfrm>
          <a:prstGeom prst="ellipse">
            <a:avLst/>
          </a:prstGeom>
          <a:solidFill>
            <a:schemeClr val="accent2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/>
          </a:p>
        </p:txBody>
      </p:sp>
      <p:sp>
        <p:nvSpPr>
          <p:cNvPr id="3132" name="Google Shape;3132;p112"/>
          <p:cNvSpPr/>
          <p:nvPr/>
        </p:nvSpPr>
        <p:spPr>
          <a:xfrm>
            <a:off x="5009277" y="4118269"/>
            <a:ext cx="556142" cy="509345"/>
          </a:xfrm>
          <a:prstGeom prst="ellipse">
            <a:avLst/>
          </a:prstGeom>
          <a:solidFill>
            <a:schemeClr val="accent2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/>
          </a:p>
        </p:txBody>
      </p:sp>
      <p:cxnSp>
        <p:nvCxnSpPr>
          <p:cNvPr id="3133" name="Google Shape;3133;p112"/>
          <p:cNvCxnSpPr>
            <a:stCxn id="3126" idx="3"/>
            <a:endCxn id="3127" idx="7"/>
          </p:cNvCxnSpPr>
          <p:nvPr/>
        </p:nvCxnSpPr>
        <p:spPr>
          <a:xfrm flipH="1">
            <a:off x="2033245" y="3863753"/>
            <a:ext cx="1629600" cy="401100"/>
          </a:xfrm>
          <a:prstGeom prst="straightConnector1">
            <a:avLst/>
          </a:prstGeom>
          <a:solidFill>
            <a:schemeClr val="accent2"/>
          </a:solidFill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3134" name="Google Shape;3134;p112"/>
          <p:cNvCxnSpPr>
            <a:stCxn id="3132" idx="1"/>
            <a:endCxn id="3126" idx="5"/>
          </p:cNvCxnSpPr>
          <p:nvPr/>
        </p:nvCxnSpPr>
        <p:spPr>
          <a:xfrm rot="10800000">
            <a:off x="4056022" y="3863761"/>
            <a:ext cx="1034700" cy="329100"/>
          </a:xfrm>
          <a:prstGeom prst="straightConnector1">
            <a:avLst/>
          </a:prstGeom>
          <a:solidFill>
            <a:schemeClr val="accent2"/>
          </a:solidFill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3135" name="Google Shape;3135;p112"/>
          <p:cNvCxnSpPr>
            <a:stCxn id="3136" idx="0"/>
            <a:endCxn id="3132" idx="5"/>
          </p:cNvCxnSpPr>
          <p:nvPr/>
        </p:nvCxnSpPr>
        <p:spPr>
          <a:xfrm rot="10800000">
            <a:off x="5483832" y="4553008"/>
            <a:ext cx="728100" cy="286500"/>
          </a:xfrm>
          <a:prstGeom prst="straightConnector1">
            <a:avLst/>
          </a:prstGeom>
          <a:solidFill>
            <a:schemeClr val="accent2"/>
          </a:solidFill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3137" name="Google Shape;3137;p112"/>
          <p:cNvCxnSpPr>
            <a:stCxn id="3138" idx="0"/>
            <a:endCxn id="3132" idx="3"/>
          </p:cNvCxnSpPr>
          <p:nvPr/>
        </p:nvCxnSpPr>
        <p:spPr>
          <a:xfrm rot="10800000" flipH="1">
            <a:off x="4759085" y="4553111"/>
            <a:ext cx="331500" cy="200400"/>
          </a:xfrm>
          <a:prstGeom prst="straightConnector1">
            <a:avLst/>
          </a:prstGeom>
          <a:solidFill>
            <a:schemeClr val="accent2"/>
          </a:solidFill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3139" name="Google Shape;3139;p112"/>
          <p:cNvCxnSpPr>
            <a:stCxn id="3127" idx="3"/>
            <a:endCxn id="3128" idx="7"/>
          </p:cNvCxnSpPr>
          <p:nvPr/>
        </p:nvCxnSpPr>
        <p:spPr>
          <a:xfrm flipH="1">
            <a:off x="1411767" y="4625022"/>
            <a:ext cx="228300" cy="196200"/>
          </a:xfrm>
          <a:prstGeom prst="straightConnector1">
            <a:avLst/>
          </a:prstGeom>
          <a:solidFill>
            <a:schemeClr val="accent2"/>
          </a:solidFill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3140" name="Google Shape;3140;p112"/>
          <p:cNvCxnSpPr>
            <a:stCxn id="3127" idx="5"/>
            <a:endCxn id="3131" idx="1"/>
          </p:cNvCxnSpPr>
          <p:nvPr/>
        </p:nvCxnSpPr>
        <p:spPr>
          <a:xfrm>
            <a:off x="2033319" y="4625022"/>
            <a:ext cx="569700" cy="286200"/>
          </a:xfrm>
          <a:prstGeom prst="straightConnector1">
            <a:avLst/>
          </a:prstGeom>
          <a:solidFill>
            <a:schemeClr val="accent2"/>
          </a:solidFill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3141" name="Google Shape;3141;p112"/>
          <p:cNvCxnSpPr>
            <a:stCxn id="3128" idx="3"/>
            <a:endCxn id="3129" idx="7"/>
          </p:cNvCxnSpPr>
          <p:nvPr/>
        </p:nvCxnSpPr>
        <p:spPr>
          <a:xfrm flipH="1">
            <a:off x="858691" y="5181238"/>
            <a:ext cx="159900" cy="363300"/>
          </a:xfrm>
          <a:prstGeom prst="straightConnector1">
            <a:avLst/>
          </a:prstGeom>
          <a:solidFill>
            <a:schemeClr val="accent2"/>
          </a:solidFill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3142" name="Google Shape;3142;p112"/>
          <p:cNvCxnSpPr>
            <a:stCxn id="3128" idx="5"/>
            <a:endCxn id="3130" idx="0"/>
          </p:cNvCxnSpPr>
          <p:nvPr/>
        </p:nvCxnSpPr>
        <p:spPr>
          <a:xfrm>
            <a:off x="1411843" y="5181238"/>
            <a:ext cx="107100" cy="329700"/>
          </a:xfrm>
          <a:prstGeom prst="straightConnector1">
            <a:avLst/>
          </a:prstGeom>
          <a:solidFill>
            <a:schemeClr val="accent2"/>
          </a:solidFill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3143" name="Google Shape;3143;p112"/>
          <p:cNvSpPr/>
          <p:nvPr/>
        </p:nvSpPr>
        <p:spPr>
          <a:xfrm>
            <a:off x="1915296" y="5544511"/>
            <a:ext cx="556142" cy="509345"/>
          </a:xfrm>
          <a:prstGeom prst="ellipse">
            <a:avLst/>
          </a:prstGeom>
          <a:solidFill>
            <a:schemeClr val="accent2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cxnSp>
        <p:nvCxnSpPr>
          <p:cNvPr id="3144" name="Google Shape;3144;p112"/>
          <p:cNvCxnSpPr>
            <a:stCxn id="3131" idx="3"/>
            <a:endCxn id="3143" idx="7"/>
          </p:cNvCxnSpPr>
          <p:nvPr/>
        </p:nvCxnSpPr>
        <p:spPr>
          <a:xfrm flipH="1">
            <a:off x="2390120" y="5271432"/>
            <a:ext cx="213000" cy="347700"/>
          </a:xfrm>
          <a:prstGeom prst="straightConnector1">
            <a:avLst/>
          </a:prstGeom>
          <a:solidFill>
            <a:schemeClr val="accent2"/>
          </a:solidFill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3138" name="Google Shape;3138;p112"/>
          <p:cNvSpPr/>
          <p:nvPr/>
        </p:nvSpPr>
        <p:spPr>
          <a:xfrm>
            <a:off x="4481014" y="4753511"/>
            <a:ext cx="556142" cy="509345"/>
          </a:xfrm>
          <a:prstGeom prst="ellipse">
            <a:avLst/>
          </a:prstGeom>
          <a:solidFill>
            <a:schemeClr val="accent2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endParaRPr/>
          </a:p>
        </p:txBody>
      </p:sp>
      <p:sp>
        <p:nvSpPr>
          <p:cNvPr id="3136" name="Google Shape;3136;p112"/>
          <p:cNvSpPr/>
          <p:nvPr/>
        </p:nvSpPr>
        <p:spPr>
          <a:xfrm>
            <a:off x="5933861" y="4839508"/>
            <a:ext cx="556142" cy="509345"/>
          </a:xfrm>
          <a:prstGeom prst="ellipse">
            <a:avLst/>
          </a:prstGeom>
          <a:solidFill>
            <a:schemeClr val="accent2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/>
          </a:p>
        </p:txBody>
      </p:sp>
      <p:sp>
        <p:nvSpPr>
          <p:cNvPr id="3145" name="Google Shape;3145;p112"/>
          <p:cNvSpPr/>
          <p:nvPr/>
        </p:nvSpPr>
        <p:spPr>
          <a:xfrm>
            <a:off x="6884435" y="1093648"/>
            <a:ext cx="4497258" cy="8309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Initially the array must 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be a max heap (run a max heapify)</a:t>
            </a:r>
            <a:endParaRPr/>
          </a:p>
        </p:txBody>
      </p:sp>
      <p:graphicFrame>
        <p:nvGraphicFramePr>
          <p:cNvPr id="3146" name="Google Shape;3146;p112"/>
          <p:cNvGraphicFramePr/>
          <p:nvPr/>
        </p:nvGraphicFramePr>
        <p:xfrm>
          <a:off x="6851939" y="2264136"/>
          <a:ext cx="4562250" cy="731540"/>
        </p:xfrm>
        <a:graphic>
          <a:graphicData uri="http://schemas.openxmlformats.org/drawingml/2006/table">
            <a:tbl>
              <a:tblPr firstRow="1" bandRow="1">
                <a:noFill/>
                <a:tableStyleId>{66088737-8E24-4614-AAA7-3D08145F63E1}</a:tableStyleId>
              </a:tblPr>
              <a:tblGrid>
                <a:gridCol w="4562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62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562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008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115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562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5622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5622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45622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45622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2914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1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2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3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4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5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6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7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8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9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10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14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u="none" strike="noStrike" cap="none">
                          <a:solidFill>
                            <a:schemeClr val="dk1"/>
                          </a:solidFill>
                        </a:rPr>
                        <a:t>16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u="none" strike="noStrike" cap="none">
                          <a:solidFill>
                            <a:schemeClr val="dk1"/>
                          </a:solidFill>
                        </a:rPr>
                        <a:t>14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u="none" strike="noStrike" cap="none">
                          <a:solidFill>
                            <a:schemeClr val="dk1"/>
                          </a:solidFill>
                        </a:rPr>
                        <a:t>10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u="none" strike="noStrike" cap="none">
                          <a:solidFill>
                            <a:schemeClr val="dk1"/>
                          </a:solidFill>
                        </a:rPr>
                        <a:t>8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u="none" strike="noStrike" cap="none">
                          <a:solidFill>
                            <a:schemeClr val="dk1"/>
                          </a:solidFill>
                        </a:rPr>
                        <a:t>7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u="none" strike="noStrike" cap="none">
                          <a:solidFill>
                            <a:schemeClr val="dk1"/>
                          </a:solidFill>
                        </a:rPr>
                        <a:t>9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u="none" strike="noStrike" cap="none">
                          <a:solidFill>
                            <a:schemeClr val="dk1"/>
                          </a:solidFill>
                        </a:rPr>
                        <a:t>3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u="none" strike="noStrike" cap="none">
                          <a:solidFill>
                            <a:schemeClr val="dk1"/>
                          </a:solidFill>
                        </a:rPr>
                        <a:t>2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u="none" strike="noStrike" cap="none">
                          <a:solidFill>
                            <a:schemeClr val="dk1"/>
                          </a:solidFill>
                        </a:rPr>
                        <a:t>4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u="none" strike="noStrike" cap="none">
                          <a:solidFill>
                            <a:schemeClr val="dk1"/>
                          </a:solidFill>
                        </a:rPr>
                        <a:t>1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1" name="Google Shape;3151;p113"/>
          <p:cNvSpPr txBox="1">
            <a:spLocks noGrp="1"/>
          </p:cNvSpPr>
          <p:nvPr>
            <p:ph type="body" idx="1"/>
          </p:nvPr>
        </p:nvSpPr>
        <p:spPr>
          <a:xfrm>
            <a:off x="838200" y="1227909"/>
            <a:ext cx="10515600" cy="49490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1500"/>
              <a:buFont typeface="Arial"/>
              <a:buChar char="●"/>
            </a:pPr>
            <a:r>
              <a:rPr lang="en-US" sz="2000" b="1"/>
              <a:t>Priority Queue functions</a:t>
            </a:r>
            <a:endParaRPr/>
          </a:p>
          <a:p>
            <a:pPr marL="742950" lvl="1" indent="-28575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040"/>
              <a:buChar char="●"/>
            </a:pPr>
            <a:r>
              <a:rPr lang="en-US" sz="1600"/>
              <a:t>HEAP-MAXIMUM </a:t>
            </a:r>
            <a:endParaRPr/>
          </a:p>
          <a:p>
            <a:pPr marL="742950" lvl="1" indent="-28575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040"/>
              <a:buChar char="●"/>
            </a:pPr>
            <a:r>
              <a:rPr lang="en-US" sz="1600"/>
              <a:t>MAX-HEAP-INSERT</a:t>
            </a:r>
            <a:endParaRPr/>
          </a:p>
          <a:p>
            <a:pPr marL="742950" lvl="1" indent="-28575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040"/>
              <a:buChar char="●"/>
            </a:pPr>
            <a:r>
              <a:rPr lang="en-US" sz="1600" b="1"/>
              <a:t>HEAP-EXTRACT-MAX – </a:t>
            </a:r>
            <a:r>
              <a:rPr lang="en-US" sz="1600">
                <a:solidFill>
                  <a:srgbClr val="FF0000"/>
                </a:solidFill>
              </a:rPr>
              <a:t>extract the eldest citizen</a:t>
            </a:r>
            <a:endParaRPr sz="1600" b="1">
              <a:solidFill>
                <a:srgbClr val="FF0000"/>
              </a:solidFill>
            </a:endParaRPr>
          </a:p>
          <a:p>
            <a:pPr marL="742950" lvl="1" indent="-28575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040"/>
              <a:buChar char="●"/>
            </a:pPr>
            <a:r>
              <a:rPr lang="en-US" sz="1600"/>
              <a:t>HEAP-INCREASE-KEY</a:t>
            </a:r>
            <a:endParaRPr/>
          </a:p>
        </p:txBody>
      </p:sp>
      <p:sp>
        <p:nvSpPr>
          <p:cNvPr id="3152" name="Google Shape;3152;p113"/>
          <p:cNvSpPr txBox="1">
            <a:spLocks noGrp="1"/>
          </p:cNvSpPr>
          <p:nvPr>
            <p:ph type="dt" idx="10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BEC00239-7B55-4953-8DBC-293221489024}" type="datetime1">
              <a:rPr lang="en-US" smtClean="0"/>
              <a:t>1/12/2026</a:t>
            </a:fld>
            <a:endParaRPr/>
          </a:p>
        </p:txBody>
      </p:sp>
      <p:sp>
        <p:nvSpPr>
          <p:cNvPr id="3153" name="Google Shape;3153;p113"/>
          <p:cNvSpPr txBox="1">
            <a:spLocks noGrp="1"/>
          </p:cNvSpPr>
          <p:nvPr>
            <p:ph type="ftr" idx="11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Lec Asif Abrar, Dept of CSE, UIU</a:t>
            </a:r>
            <a:endParaRPr/>
          </a:p>
        </p:txBody>
      </p:sp>
      <p:sp>
        <p:nvSpPr>
          <p:cNvPr id="3154" name="Google Shape;3154;p113"/>
          <p:cNvSpPr txBox="1">
            <a:spLocks noGrp="1"/>
          </p:cNvSpPr>
          <p:nvPr>
            <p:ph type="sldNum" idx="12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80</a:t>
            </a:fld>
            <a:endParaRPr/>
          </a:p>
        </p:txBody>
      </p:sp>
      <p:sp>
        <p:nvSpPr>
          <p:cNvPr id="3155" name="Google Shape;3155;p113"/>
          <p:cNvSpPr txBox="1">
            <a:spLocks noGrp="1"/>
          </p:cNvSpPr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/>
              <a:t>Max heap as a priority queue</a:t>
            </a:r>
            <a:endParaRPr/>
          </a:p>
        </p:txBody>
      </p:sp>
      <p:sp>
        <p:nvSpPr>
          <p:cNvPr id="3156" name="Google Shape;3156;p113"/>
          <p:cNvSpPr/>
          <p:nvPr/>
        </p:nvSpPr>
        <p:spPr>
          <a:xfrm>
            <a:off x="3581400" y="3429000"/>
            <a:ext cx="556142" cy="509345"/>
          </a:xfrm>
          <a:prstGeom prst="ellipse">
            <a:avLst/>
          </a:prstGeom>
          <a:solidFill>
            <a:schemeClr val="accent2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16</a:t>
            </a:r>
            <a:endParaRPr/>
          </a:p>
        </p:txBody>
      </p:sp>
      <p:sp>
        <p:nvSpPr>
          <p:cNvPr id="3157" name="Google Shape;3157;p113"/>
          <p:cNvSpPr/>
          <p:nvPr/>
        </p:nvSpPr>
        <p:spPr>
          <a:xfrm>
            <a:off x="1558622" y="4190269"/>
            <a:ext cx="556142" cy="509345"/>
          </a:xfrm>
          <a:prstGeom prst="ellipse">
            <a:avLst/>
          </a:prstGeom>
          <a:solidFill>
            <a:schemeClr val="accent2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14</a:t>
            </a:r>
            <a:endParaRPr/>
          </a:p>
        </p:txBody>
      </p:sp>
      <p:sp>
        <p:nvSpPr>
          <p:cNvPr id="3158" name="Google Shape;3158;p113"/>
          <p:cNvSpPr/>
          <p:nvPr/>
        </p:nvSpPr>
        <p:spPr>
          <a:xfrm>
            <a:off x="937146" y="4746485"/>
            <a:ext cx="556142" cy="509345"/>
          </a:xfrm>
          <a:prstGeom prst="ellipse">
            <a:avLst/>
          </a:prstGeom>
          <a:solidFill>
            <a:schemeClr val="accent2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/>
          </a:p>
        </p:txBody>
      </p:sp>
      <p:sp>
        <p:nvSpPr>
          <p:cNvPr id="3159" name="Google Shape;3159;p113"/>
          <p:cNvSpPr/>
          <p:nvPr/>
        </p:nvSpPr>
        <p:spPr>
          <a:xfrm>
            <a:off x="384101" y="5469919"/>
            <a:ext cx="556142" cy="509345"/>
          </a:xfrm>
          <a:prstGeom prst="ellipse">
            <a:avLst/>
          </a:prstGeom>
          <a:solidFill>
            <a:schemeClr val="accent2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  <p:sp>
        <p:nvSpPr>
          <p:cNvPr id="3160" name="Google Shape;3160;p113"/>
          <p:cNvSpPr/>
          <p:nvPr/>
        </p:nvSpPr>
        <p:spPr>
          <a:xfrm>
            <a:off x="1240923" y="5510810"/>
            <a:ext cx="556142" cy="509345"/>
          </a:xfrm>
          <a:prstGeom prst="ellipse">
            <a:avLst/>
          </a:prstGeom>
          <a:solidFill>
            <a:schemeClr val="accent2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/>
          </a:p>
        </p:txBody>
      </p:sp>
      <p:sp>
        <p:nvSpPr>
          <p:cNvPr id="3161" name="Google Shape;3161;p113"/>
          <p:cNvSpPr/>
          <p:nvPr/>
        </p:nvSpPr>
        <p:spPr>
          <a:xfrm>
            <a:off x="2521675" y="4836679"/>
            <a:ext cx="556142" cy="509345"/>
          </a:xfrm>
          <a:prstGeom prst="ellipse">
            <a:avLst/>
          </a:prstGeom>
          <a:solidFill>
            <a:schemeClr val="accent2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/>
          </a:p>
        </p:txBody>
      </p:sp>
      <p:sp>
        <p:nvSpPr>
          <p:cNvPr id="3162" name="Google Shape;3162;p113"/>
          <p:cNvSpPr/>
          <p:nvPr/>
        </p:nvSpPr>
        <p:spPr>
          <a:xfrm>
            <a:off x="5009277" y="4118269"/>
            <a:ext cx="556142" cy="509345"/>
          </a:xfrm>
          <a:prstGeom prst="ellipse">
            <a:avLst/>
          </a:prstGeom>
          <a:solidFill>
            <a:schemeClr val="accent2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/>
          </a:p>
        </p:txBody>
      </p:sp>
      <p:cxnSp>
        <p:nvCxnSpPr>
          <p:cNvPr id="3163" name="Google Shape;3163;p113"/>
          <p:cNvCxnSpPr>
            <a:stCxn id="3156" idx="3"/>
            <a:endCxn id="3157" idx="7"/>
          </p:cNvCxnSpPr>
          <p:nvPr/>
        </p:nvCxnSpPr>
        <p:spPr>
          <a:xfrm flipH="1">
            <a:off x="2033245" y="3863753"/>
            <a:ext cx="1629600" cy="401100"/>
          </a:xfrm>
          <a:prstGeom prst="straightConnector1">
            <a:avLst/>
          </a:prstGeom>
          <a:solidFill>
            <a:schemeClr val="accent2"/>
          </a:solidFill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3164" name="Google Shape;3164;p113"/>
          <p:cNvCxnSpPr>
            <a:stCxn id="3162" idx="1"/>
            <a:endCxn id="3156" idx="5"/>
          </p:cNvCxnSpPr>
          <p:nvPr/>
        </p:nvCxnSpPr>
        <p:spPr>
          <a:xfrm rot="10800000">
            <a:off x="4056022" y="3863761"/>
            <a:ext cx="1034700" cy="329100"/>
          </a:xfrm>
          <a:prstGeom prst="straightConnector1">
            <a:avLst/>
          </a:prstGeom>
          <a:solidFill>
            <a:schemeClr val="accent2"/>
          </a:solidFill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3165" name="Google Shape;3165;p113"/>
          <p:cNvCxnSpPr>
            <a:stCxn id="3166" idx="0"/>
            <a:endCxn id="3162" idx="5"/>
          </p:cNvCxnSpPr>
          <p:nvPr/>
        </p:nvCxnSpPr>
        <p:spPr>
          <a:xfrm rot="10800000">
            <a:off x="5483832" y="4553008"/>
            <a:ext cx="728100" cy="286500"/>
          </a:xfrm>
          <a:prstGeom prst="straightConnector1">
            <a:avLst/>
          </a:prstGeom>
          <a:solidFill>
            <a:schemeClr val="accent2"/>
          </a:solidFill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3167" name="Google Shape;3167;p113"/>
          <p:cNvCxnSpPr>
            <a:stCxn id="3168" idx="0"/>
            <a:endCxn id="3162" idx="3"/>
          </p:cNvCxnSpPr>
          <p:nvPr/>
        </p:nvCxnSpPr>
        <p:spPr>
          <a:xfrm rot="10800000" flipH="1">
            <a:off x="4759085" y="4553111"/>
            <a:ext cx="331500" cy="200400"/>
          </a:xfrm>
          <a:prstGeom prst="straightConnector1">
            <a:avLst/>
          </a:prstGeom>
          <a:solidFill>
            <a:schemeClr val="accent2"/>
          </a:solidFill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3169" name="Google Shape;3169;p113"/>
          <p:cNvCxnSpPr>
            <a:stCxn id="3157" idx="3"/>
            <a:endCxn id="3158" idx="7"/>
          </p:cNvCxnSpPr>
          <p:nvPr/>
        </p:nvCxnSpPr>
        <p:spPr>
          <a:xfrm flipH="1">
            <a:off x="1411767" y="4625022"/>
            <a:ext cx="228300" cy="196200"/>
          </a:xfrm>
          <a:prstGeom prst="straightConnector1">
            <a:avLst/>
          </a:prstGeom>
          <a:solidFill>
            <a:schemeClr val="accent2"/>
          </a:solidFill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3170" name="Google Shape;3170;p113"/>
          <p:cNvCxnSpPr>
            <a:stCxn id="3157" idx="5"/>
            <a:endCxn id="3161" idx="1"/>
          </p:cNvCxnSpPr>
          <p:nvPr/>
        </p:nvCxnSpPr>
        <p:spPr>
          <a:xfrm>
            <a:off x="2033319" y="4625022"/>
            <a:ext cx="569700" cy="286200"/>
          </a:xfrm>
          <a:prstGeom prst="straightConnector1">
            <a:avLst/>
          </a:prstGeom>
          <a:solidFill>
            <a:schemeClr val="accent2"/>
          </a:solidFill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3171" name="Google Shape;3171;p113"/>
          <p:cNvCxnSpPr>
            <a:stCxn id="3158" idx="3"/>
            <a:endCxn id="3159" idx="7"/>
          </p:cNvCxnSpPr>
          <p:nvPr/>
        </p:nvCxnSpPr>
        <p:spPr>
          <a:xfrm flipH="1">
            <a:off x="858691" y="5181238"/>
            <a:ext cx="159900" cy="363300"/>
          </a:xfrm>
          <a:prstGeom prst="straightConnector1">
            <a:avLst/>
          </a:prstGeom>
          <a:solidFill>
            <a:schemeClr val="accent2"/>
          </a:solidFill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3172" name="Google Shape;3172;p113"/>
          <p:cNvCxnSpPr>
            <a:stCxn id="3158" idx="5"/>
            <a:endCxn id="3160" idx="0"/>
          </p:cNvCxnSpPr>
          <p:nvPr/>
        </p:nvCxnSpPr>
        <p:spPr>
          <a:xfrm>
            <a:off x="1411843" y="5181238"/>
            <a:ext cx="107100" cy="329700"/>
          </a:xfrm>
          <a:prstGeom prst="straightConnector1">
            <a:avLst/>
          </a:prstGeom>
          <a:solidFill>
            <a:schemeClr val="accent2"/>
          </a:solidFill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3173" name="Google Shape;3173;p113"/>
          <p:cNvSpPr/>
          <p:nvPr/>
        </p:nvSpPr>
        <p:spPr>
          <a:xfrm>
            <a:off x="1915296" y="5544511"/>
            <a:ext cx="556142" cy="509345"/>
          </a:xfrm>
          <a:prstGeom prst="ellipse">
            <a:avLst/>
          </a:prstGeom>
          <a:solidFill>
            <a:schemeClr val="accent2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cxnSp>
        <p:nvCxnSpPr>
          <p:cNvPr id="3174" name="Google Shape;3174;p113"/>
          <p:cNvCxnSpPr>
            <a:stCxn id="3161" idx="3"/>
            <a:endCxn id="3173" idx="7"/>
          </p:cNvCxnSpPr>
          <p:nvPr/>
        </p:nvCxnSpPr>
        <p:spPr>
          <a:xfrm flipH="1">
            <a:off x="2390120" y="5271432"/>
            <a:ext cx="213000" cy="347700"/>
          </a:xfrm>
          <a:prstGeom prst="straightConnector1">
            <a:avLst/>
          </a:prstGeom>
          <a:solidFill>
            <a:schemeClr val="accent2"/>
          </a:solidFill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3168" name="Google Shape;3168;p113"/>
          <p:cNvSpPr/>
          <p:nvPr/>
        </p:nvSpPr>
        <p:spPr>
          <a:xfrm>
            <a:off x="4481014" y="4753511"/>
            <a:ext cx="556142" cy="509345"/>
          </a:xfrm>
          <a:prstGeom prst="ellipse">
            <a:avLst/>
          </a:prstGeom>
          <a:solidFill>
            <a:schemeClr val="accent2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endParaRPr/>
          </a:p>
        </p:txBody>
      </p:sp>
      <p:sp>
        <p:nvSpPr>
          <p:cNvPr id="3166" name="Google Shape;3166;p113"/>
          <p:cNvSpPr/>
          <p:nvPr/>
        </p:nvSpPr>
        <p:spPr>
          <a:xfrm>
            <a:off x="5933861" y="4839508"/>
            <a:ext cx="556142" cy="509345"/>
          </a:xfrm>
          <a:prstGeom prst="ellipse">
            <a:avLst/>
          </a:prstGeom>
          <a:solidFill>
            <a:schemeClr val="accent2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/>
          </a:p>
        </p:txBody>
      </p:sp>
      <p:sp>
        <p:nvSpPr>
          <p:cNvPr id="3175" name="Google Shape;3175;p113"/>
          <p:cNvSpPr/>
          <p:nvPr/>
        </p:nvSpPr>
        <p:spPr>
          <a:xfrm>
            <a:off x="6884435" y="1093648"/>
            <a:ext cx="4497258" cy="8309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Initially the array must 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be a max heap (run a max heapify)</a:t>
            </a:r>
            <a:endParaRPr/>
          </a:p>
        </p:txBody>
      </p:sp>
      <p:graphicFrame>
        <p:nvGraphicFramePr>
          <p:cNvPr id="3176" name="Google Shape;3176;p113"/>
          <p:cNvGraphicFramePr/>
          <p:nvPr/>
        </p:nvGraphicFramePr>
        <p:xfrm>
          <a:off x="6851939" y="2264136"/>
          <a:ext cx="4562250" cy="731540"/>
        </p:xfrm>
        <a:graphic>
          <a:graphicData uri="http://schemas.openxmlformats.org/drawingml/2006/table">
            <a:tbl>
              <a:tblPr firstRow="1" bandRow="1">
                <a:noFill/>
                <a:tableStyleId>{66088737-8E24-4614-AAA7-3D08145F63E1}</a:tableStyleId>
              </a:tblPr>
              <a:tblGrid>
                <a:gridCol w="4562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62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562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008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115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562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5622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5622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45622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45622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2914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1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2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3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4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5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6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7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8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9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10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14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u="none" strike="noStrike" cap="none">
                          <a:solidFill>
                            <a:schemeClr val="dk1"/>
                          </a:solidFill>
                        </a:rPr>
                        <a:t>16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u="none" strike="noStrike" cap="none">
                          <a:solidFill>
                            <a:schemeClr val="dk1"/>
                          </a:solidFill>
                        </a:rPr>
                        <a:t>14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u="none" strike="noStrike" cap="none">
                          <a:solidFill>
                            <a:schemeClr val="dk1"/>
                          </a:solidFill>
                        </a:rPr>
                        <a:t>10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u="none" strike="noStrike" cap="none">
                          <a:solidFill>
                            <a:schemeClr val="dk1"/>
                          </a:solidFill>
                        </a:rPr>
                        <a:t>8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u="none" strike="noStrike" cap="none">
                          <a:solidFill>
                            <a:schemeClr val="dk1"/>
                          </a:solidFill>
                        </a:rPr>
                        <a:t>7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u="none" strike="noStrike" cap="none">
                          <a:solidFill>
                            <a:schemeClr val="dk1"/>
                          </a:solidFill>
                        </a:rPr>
                        <a:t>9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u="none" strike="noStrike" cap="none">
                          <a:solidFill>
                            <a:schemeClr val="dk1"/>
                          </a:solidFill>
                        </a:rPr>
                        <a:t>3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u="none" strike="noStrike" cap="none">
                          <a:solidFill>
                            <a:schemeClr val="dk1"/>
                          </a:solidFill>
                        </a:rPr>
                        <a:t>2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u="none" strike="noStrike" cap="none">
                          <a:solidFill>
                            <a:schemeClr val="dk1"/>
                          </a:solidFill>
                        </a:rPr>
                        <a:t>4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u="none" strike="noStrike" cap="none">
                          <a:solidFill>
                            <a:schemeClr val="dk1"/>
                          </a:solidFill>
                        </a:rPr>
                        <a:t>1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3177" name="Google Shape;3177;p113"/>
          <p:cNvSpPr/>
          <p:nvPr/>
        </p:nvSpPr>
        <p:spPr>
          <a:xfrm>
            <a:off x="1797065" y="5414009"/>
            <a:ext cx="806055" cy="762953"/>
          </a:xfrm>
          <a:prstGeom prst="donut">
            <a:avLst>
              <a:gd name="adj" fmla="val 17685"/>
            </a:avLst>
          </a:prstGeom>
          <a:solidFill>
            <a:srgbClr val="FF0000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78" name="Google Shape;3178;p113"/>
          <p:cNvSpPr/>
          <p:nvPr/>
        </p:nvSpPr>
        <p:spPr>
          <a:xfrm>
            <a:off x="3470208" y="3306782"/>
            <a:ext cx="806055" cy="762953"/>
          </a:xfrm>
          <a:prstGeom prst="donut">
            <a:avLst>
              <a:gd name="adj" fmla="val 17685"/>
            </a:avLst>
          </a:prstGeom>
          <a:solidFill>
            <a:srgbClr val="FF0000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79" name="Google Shape;3179;p113"/>
          <p:cNvSpPr txBox="1"/>
          <p:nvPr/>
        </p:nvSpPr>
        <p:spPr>
          <a:xfrm>
            <a:off x="7343481" y="3756305"/>
            <a:ext cx="379854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1.Swap the last element with the root</a:t>
            </a:r>
            <a:endParaRPr/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4" name="Google Shape;3184;p114"/>
          <p:cNvSpPr txBox="1">
            <a:spLocks noGrp="1"/>
          </p:cNvSpPr>
          <p:nvPr>
            <p:ph type="body" idx="1"/>
          </p:nvPr>
        </p:nvSpPr>
        <p:spPr>
          <a:xfrm>
            <a:off x="838200" y="1227909"/>
            <a:ext cx="10515600" cy="49490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1500"/>
              <a:buFont typeface="Arial"/>
              <a:buChar char="●"/>
            </a:pPr>
            <a:r>
              <a:rPr lang="en-US" sz="2000" b="1"/>
              <a:t>Priority Queue functions</a:t>
            </a:r>
            <a:endParaRPr/>
          </a:p>
          <a:p>
            <a:pPr marL="742950" lvl="1" indent="-28575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040"/>
              <a:buChar char="●"/>
            </a:pPr>
            <a:r>
              <a:rPr lang="en-US" sz="1600"/>
              <a:t>HEAP-MAXIMUM </a:t>
            </a:r>
            <a:endParaRPr/>
          </a:p>
          <a:p>
            <a:pPr marL="742950" lvl="1" indent="-28575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040"/>
              <a:buChar char="●"/>
            </a:pPr>
            <a:r>
              <a:rPr lang="en-US" sz="1600"/>
              <a:t>MAX-HEAP-INSERT</a:t>
            </a:r>
            <a:endParaRPr/>
          </a:p>
          <a:p>
            <a:pPr marL="742950" lvl="1" indent="-28575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040"/>
              <a:buChar char="●"/>
            </a:pPr>
            <a:r>
              <a:rPr lang="en-US" sz="1600" b="1"/>
              <a:t>HEAP-EXTRACT-MAX – </a:t>
            </a:r>
            <a:r>
              <a:rPr lang="en-US" sz="1600">
                <a:solidFill>
                  <a:srgbClr val="FF0000"/>
                </a:solidFill>
              </a:rPr>
              <a:t>extract the eldest citizen</a:t>
            </a:r>
            <a:endParaRPr sz="1600" b="1">
              <a:solidFill>
                <a:srgbClr val="FF0000"/>
              </a:solidFill>
            </a:endParaRPr>
          </a:p>
          <a:p>
            <a:pPr marL="742950" lvl="1" indent="-28575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040"/>
              <a:buChar char="●"/>
            </a:pPr>
            <a:r>
              <a:rPr lang="en-US" sz="1600"/>
              <a:t>HEAP-INCREASE-KEY</a:t>
            </a:r>
            <a:endParaRPr/>
          </a:p>
        </p:txBody>
      </p:sp>
      <p:sp>
        <p:nvSpPr>
          <p:cNvPr id="3185" name="Google Shape;3185;p114"/>
          <p:cNvSpPr txBox="1">
            <a:spLocks noGrp="1"/>
          </p:cNvSpPr>
          <p:nvPr>
            <p:ph type="dt" idx="10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656DCDEF-8896-48AE-9CB3-30D090BCBB62}" type="datetime1">
              <a:rPr lang="en-US" smtClean="0"/>
              <a:t>1/12/2026</a:t>
            </a:fld>
            <a:endParaRPr/>
          </a:p>
        </p:txBody>
      </p:sp>
      <p:sp>
        <p:nvSpPr>
          <p:cNvPr id="3186" name="Google Shape;3186;p114"/>
          <p:cNvSpPr txBox="1">
            <a:spLocks noGrp="1"/>
          </p:cNvSpPr>
          <p:nvPr>
            <p:ph type="ftr" idx="11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Lec Asif Abrar, Dept of CSE, UIU</a:t>
            </a:r>
            <a:endParaRPr/>
          </a:p>
        </p:txBody>
      </p:sp>
      <p:sp>
        <p:nvSpPr>
          <p:cNvPr id="3187" name="Google Shape;3187;p114"/>
          <p:cNvSpPr txBox="1">
            <a:spLocks noGrp="1"/>
          </p:cNvSpPr>
          <p:nvPr>
            <p:ph type="sldNum" idx="12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81</a:t>
            </a:fld>
            <a:endParaRPr/>
          </a:p>
        </p:txBody>
      </p:sp>
      <p:sp>
        <p:nvSpPr>
          <p:cNvPr id="3188" name="Google Shape;3188;p114"/>
          <p:cNvSpPr txBox="1">
            <a:spLocks noGrp="1"/>
          </p:cNvSpPr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/>
              <a:t>Max heap as a priority queue</a:t>
            </a:r>
            <a:endParaRPr/>
          </a:p>
        </p:txBody>
      </p:sp>
      <p:sp>
        <p:nvSpPr>
          <p:cNvPr id="3189" name="Google Shape;3189;p114"/>
          <p:cNvSpPr/>
          <p:nvPr/>
        </p:nvSpPr>
        <p:spPr>
          <a:xfrm>
            <a:off x="3581400" y="3429000"/>
            <a:ext cx="556142" cy="509345"/>
          </a:xfrm>
          <a:prstGeom prst="ellipse">
            <a:avLst/>
          </a:prstGeom>
          <a:solidFill>
            <a:schemeClr val="accent2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3190" name="Google Shape;3190;p114"/>
          <p:cNvSpPr/>
          <p:nvPr/>
        </p:nvSpPr>
        <p:spPr>
          <a:xfrm>
            <a:off x="1558622" y="4190269"/>
            <a:ext cx="556142" cy="509345"/>
          </a:xfrm>
          <a:prstGeom prst="ellipse">
            <a:avLst/>
          </a:prstGeom>
          <a:solidFill>
            <a:schemeClr val="accent2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14</a:t>
            </a:r>
            <a:endParaRPr/>
          </a:p>
        </p:txBody>
      </p:sp>
      <p:sp>
        <p:nvSpPr>
          <p:cNvPr id="3191" name="Google Shape;3191;p114"/>
          <p:cNvSpPr/>
          <p:nvPr/>
        </p:nvSpPr>
        <p:spPr>
          <a:xfrm>
            <a:off x="937146" y="4746485"/>
            <a:ext cx="556142" cy="509345"/>
          </a:xfrm>
          <a:prstGeom prst="ellipse">
            <a:avLst/>
          </a:prstGeom>
          <a:solidFill>
            <a:schemeClr val="accent2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/>
          </a:p>
        </p:txBody>
      </p:sp>
      <p:sp>
        <p:nvSpPr>
          <p:cNvPr id="3192" name="Google Shape;3192;p114"/>
          <p:cNvSpPr/>
          <p:nvPr/>
        </p:nvSpPr>
        <p:spPr>
          <a:xfrm>
            <a:off x="384101" y="5469919"/>
            <a:ext cx="556142" cy="509345"/>
          </a:xfrm>
          <a:prstGeom prst="ellipse">
            <a:avLst/>
          </a:prstGeom>
          <a:solidFill>
            <a:schemeClr val="accent2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  <p:sp>
        <p:nvSpPr>
          <p:cNvPr id="3193" name="Google Shape;3193;p114"/>
          <p:cNvSpPr/>
          <p:nvPr/>
        </p:nvSpPr>
        <p:spPr>
          <a:xfrm>
            <a:off x="1240923" y="5510810"/>
            <a:ext cx="556142" cy="509345"/>
          </a:xfrm>
          <a:prstGeom prst="ellipse">
            <a:avLst/>
          </a:prstGeom>
          <a:solidFill>
            <a:schemeClr val="accent2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/>
          </a:p>
        </p:txBody>
      </p:sp>
      <p:sp>
        <p:nvSpPr>
          <p:cNvPr id="3194" name="Google Shape;3194;p114"/>
          <p:cNvSpPr/>
          <p:nvPr/>
        </p:nvSpPr>
        <p:spPr>
          <a:xfrm>
            <a:off x="2521675" y="4836679"/>
            <a:ext cx="556142" cy="509345"/>
          </a:xfrm>
          <a:prstGeom prst="ellipse">
            <a:avLst/>
          </a:prstGeom>
          <a:solidFill>
            <a:schemeClr val="accent2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/>
          </a:p>
        </p:txBody>
      </p:sp>
      <p:sp>
        <p:nvSpPr>
          <p:cNvPr id="3195" name="Google Shape;3195;p114"/>
          <p:cNvSpPr/>
          <p:nvPr/>
        </p:nvSpPr>
        <p:spPr>
          <a:xfrm>
            <a:off x="5009277" y="4118269"/>
            <a:ext cx="556142" cy="509345"/>
          </a:xfrm>
          <a:prstGeom prst="ellipse">
            <a:avLst/>
          </a:prstGeom>
          <a:solidFill>
            <a:schemeClr val="accent2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/>
          </a:p>
        </p:txBody>
      </p:sp>
      <p:cxnSp>
        <p:nvCxnSpPr>
          <p:cNvPr id="3196" name="Google Shape;3196;p114"/>
          <p:cNvCxnSpPr>
            <a:stCxn id="3189" idx="3"/>
            <a:endCxn id="3190" idx="7"/>
          </p:cNvCxnSpPr>
          <p:nvPr/>
        </p:nvCxnSpPr>
        <p:spPr>
          <a:xfrm flipH="1">
            <a:off x="2033245" y="3863753"/>
            <a:ext cx="1629600" cy="401100"/>
          </a:xfrm>
          <a:prstGeom prst="straightConnector1">
            <a:avLst/>
          </a:prstGeom>
          <a:solidFill>
            <a:schemeClr val="accent2"/>
          </a:solidFill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3197" name="Google Shape;3197;p114"/>
          <p:cNvCxnSpPr>
            <a:stCxn id="3195" idx="1"/>
            <a:endCxn id="3189" idx="5"/>
          </p:cNvCxnSpPr>
          <p:nvPr/>
        </p:nvCxnSpPr>
        <p:spPr>
          <a:xfrm rot="10800000">
            <a:off x="4056022" y="3863761"/>
            <a:ext cx="1034700" cy="329100"/>
          </a:xfrm>
          <a:prstGeom prst="straightConnector1">
            <a:avLst/>
          </a:prstGeom>
          <a:solidFill>
            <a:schemeClr val="accent2"/>
          </a:solidFill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3198" name="Google Shape;3198;p114"/>
          <p:cNvCxnSpPr>
            <a:stCxn id="3199" idx="0"/>
            <a:endCxn id="3195" idx="5"/>
          </p:cNvCxnSpPr>
          <p:nvPr/>
        </p:nvCxnSpPr>
        <p:spPr>
          <a:xfrm rot="10800000">
            <a:off x="5483832" y="4553008"/>
            <a:ext cx="728100" cy="286500"/>
          </a:xfrm>
          <a:prstGeom prst="straightConnector1">
            <a:avLst/>
          </a:prstGeom>
          <a:solidFill>
            <a:schemeClr val="accent2"/>
          </a:solidFill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3200" name="Google Shape;3200;p114"/>
          <p:cNvCxnSpPr>
            <a:stCxn id="3201" idx="0"/>
            <a:endCxn id="3195" idx="3"/>
          </p:cNvCxnSpPr>
          <p:nvPr/>
        </p:nvCxnSpPr>
        <p:spPr>
          <a:xfrm rot="10800000" flipH="1">
            <a:off x="4759085" y="4553111"/>
            <a:ext cx="331500" cy="200400"/>
          </a:xfrm>
          <a:prstGeom prst="straightConnector1">
            <a:avLst/>
          </a:prstGeom>
          <a:solidFill>
            <a:schemeClr val="accent2"/>
          </a:solidFill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3202" name="Google Shape;3202;p114"/>
          <p:cNvCxnSpPr>
            <a:stCxn id="3190" idx="3"/>
            <a:endCxn id="3191" idx="7"/>
          </p:cNvCxnSpPr>
          <p:nvPr/>
        </p:nvCxnSpPr>
        <p:spPr>
          <a:xfrm flipH="1">
            <a:off x="1411767" y="4625022"/>
            <a:ext cx="228300" cy="196200"/>
          </a:xfrm>
          <a:prstGeom prst="straightConnector1">
            <a:avLst/>
          </a:prstGeom>
          <a:solidFill>
            <a:schemeClr val="accent2"/>
          </a:solidFill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3203" name="Google Shape;3203;p114"/>
          <p:cNvCxnSpPr>
            <a:stCxn id="3190" idx="5"/>
            <a:endCxn id="3194" idx="1"/>
          </p:cNvCxnSpPr>
          <p:nvPr/>
        </p:nvCxnSpPr>
        <p:spPr>
          <a:xfrm>
            <a:off x="2033319" y="4625022"/>
            <a:ext cx="569700" cy="286200"/>
          </a:xfrm>
          <a:prstGeom prst="straightConnector1">
            <a:avLst/>
          </a:prstGeom>
          <a:solidFill>
            <a:schemeClr val="accent2"/>
          </a:solidFill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3204" name="Google Shape;3204;p114"/>
          <p:cNvCxnSpPr>
            <a:stCxn id="3191" idx="3"/>
            <a:endCxn id="3192" idx="7"/>
          </p:cNvCxnSpPr>
          <p:nvPr/>
        </p:nvCxnSpPr>
        <p:spPr>
          <a:xfrm flipH="1">
            <a:off x="858691" y="5181238"/>
            <a:ext cx="159900" cy="363300"/>
          </a:xfrm>
          <a:prstGeom prst="straightConnector1">
            <a:avLst/>
          </a:prstGeom>
          <a:solidFill>
            <a:schemeClr val="accent2"/>
          </a:solidFill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3205" name="Google Shape;3205;p114"/>
          <p:cNvCxnSpPr>
            <a:stCxn id="3191" idx="5"/>
            <a:endCxn id="3193" idx="0"/>
          </p:cNvCxnSpPr>
          <p:nvPr/>
        </p:nvCxnSpPr>
        <p:spPr>
          <a:xfrm>
            <a:off x="1411843" y="5181238"/>
            <a:ext cx="107100" cy="329700"/>
          </a:xfrm>
          <a:prstGeom prst="straightConnector1">
            <a:avLst/>
          </a:prstGeom>
          <a:solidFill>
            <a:schemeClr val="accent2"/>
          </a:solidFill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3206" name="Google Shape;3206;p114"/>
          <p:cNvSpPr/>
          <p:nvPr/>
        </p:nvSpPr>
        <p:spPr>
          <a:xfrm>
            <a:off x="1915296" y="5544511"/>
            <a:ext cx="556142" cy="509345"/>
          </a:xfrm>
          <a:prstGeom prst="ellipse">
            <a:avLst/>
          </a:prstGeom>
          <a:solidFill>
            <a:schemeClr val="accent2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16</a:t>
            </a:r>
            <a:endParaRPr/>
          </a:p>
        </p:txBody>
      </p:sp>
      <p:cxnSp>
        <p:nvCxnSpPr>
          <p:cNvPr id="3207" name="Google Shape;3207;p114"/>
          <p:cNvCxnSpPr>
            <a:stCxn id="3194" idx="3"/>
            <a:endCxn id="3206" idx="7"/>
          </p:cNvCxnSpPr>
          <p:nvPr/>
        </p:nvCxnSpPr>
        <p:spPr>
          <a:xfrm flipH="1">
            <a:off x="2390120" y="5271432"/>
            <a:ext cx="213000" cy="347700"/>
          </a:xfrm>
          <a:prstGeom prst="straightConnector1">
            <a:avLst/>
          </a:prstGeom>
          <a:solidFill>
            <a:schemeClr val="accent2"/>
          </a:solidFill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3201" name="Google Shape;3201;p114"/>
          <p:cNvSpPr/>
          <p:nvPr/>
        </p:nvSpPr>
        <p:spPr>
          <a:xfrm>
            <a:off x="4481014" y="4753511"/>
            <a:ext cx="556142" cy="509345"/>
          </a:xfrm>
          <a:prstGeom prst="ellipse">
            <a:avLst/>
          </a:prstGeom>
          <a:solidFill>
            <a:schemeClr val="accent2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endParaRPr/>
          </a:p>
        </p:txBody>
      </p:sp>
      <p:sp>
        <p:nvSpPr>
          <p:cNvPr id="3199" name="Google Shape;3199;p114"/>
          <p:cNvSpPr/>
          <p:nvPr/>
        </p:nvSpPr>
        <p:spPr>
          <a:xfrm>
            <a:off x="5933861" y="4839508"/>
            <a:ext cx="556142" cy="509345"/>
          </a:xfrm>
          <a:prstGeom prst="ellipse">
            <a:avLst/>
          </a:prstGeom>
          <a:solidFill>
            <a:schemeClr val="accent2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/>
          </a:p>
        </p:txBody>
      </p:sp>
      <p:sp>
        <p:nvSpPr>
          <p:cNvPr id="3208" name="Google Shape;3208;p114"/>
          <p:cNvSpPr/>
          <p:nvPr/>
        </p:nvSpPr>
        <p:spPr>
          <a:xfrm>
            <a:off x="6884435" y="1093648"/>
            <a:ext cx="4497258" cy="8309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Initially the array must 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be a max heap (run a max heapify)</a:t>
            </a:r>
            <a:endParaRPr/>
          </a:p>
        </p:txBody>
      </p:sp>
      <p:graphicFrame>
        <p:nvGraphicFramePr>
          <p:cNvPr id="3209" name="Google Shape;3209;p114"/>
          <p:cNvGraphicFramePr/>
          <p:nvPr/>
        </p:nvGraphicFramePr>
        <p:xfrm>
          <a:off x="6851939" y="2264136"/>
          <a:ext cx="4562250" cy="731540"/>
        </p:xfrm>
        <a:graphic>
          <a:graphicData uri="http://schemas.openxmlformats.org/drawingml/2006/table">
            <a:tbl>
              <a:tblPr firstRow="1" bandRow="1">
                <a:noFill/>
                <a:tableStyleId>{66088737-8E24-4614-AAA7-3D08145F63E1}</a:tableStyleId>
              </a:tblPr>
              <a:tblGrid>
                <a:gridCol w="4562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62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562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008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115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562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5622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5622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45622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45622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2914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1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2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3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4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5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6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7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8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9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10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14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u="none" strike="noStrike" cap="none">
                          <a:solidFill>
                            <a:schemeClr val="dk1"/>
                          </a:solidFill>
                        </a:rPr>
                        <a:t>1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u="none" strike="noStrike" cap="none">
                          <a:solidFill>
                            <a:schemeClr val="dk1"/>
                          </a:solidFill>
                        </a:rPr>
                        <a:t>14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u="none" strike="noStrike" cap="none">
                          <a:solidFill>
                            <a:schemeClr val="dk1"/>
                          </a:solidFill>
                        </a:rPr>
                        <a:t>10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u="none" strike="noStrike" cap="none">
                          <a:solidFill>
                            <a:schemeClr val="dk1"/>
                          </a:solidFill>
                        </a:rPr>
                        <a:t>8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u="none" strike="noStrike" cap="none">
                          <a:solidFill>
                            <a:schemeClr val="dk1"/>
                          </a:solidFill>
                        </a:rPr>
                        <a:t>7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u="none" strike="noStrike" cap="none">
                          <a:solidFill>
                            <a:schemeClr val="dk1"/>
                          </a:solidFill>
                        </a:rPr>
                        <a:t>9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u="none" strike="noStrike" cap="none">
                          <a:solidFill>
                            <a:schemeClr val="dk1"/>
                          </a:solidFill>
                        </a:rPr>
                        <a:t>3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u="none" strike="noStrike" cap="none">
                          <a:solidFill>
                            <a:schemeClr val="dk1"/>
                          </a:solidFill>
                        </a:rPr>
                        <a:t>2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u="none" strike="noStrike" cap="none">
                          <a:solidFill>
                            <a:schemeClr val="dk1"/>
                          </a:solidFill>
                        </a:rPr>
                        <a:t>4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u="none" strike="noStrike" cap="none">
                          <a:solidFill>
                            <a:schemeClr val="dk1"/>
                          </a:solidFill>
                        </a:rPr>
                        <a:t>16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3210" name="Google Shape;3210;p114"/>
          <p:cNvSpPr/>
          <p:nvPr/>
        </p:nvSpPr>
        <p:spPr>
          <a:xfrm>
            <a:off x="1797065" y="5414009"/>
            <a:ext cx="806055" cy="762953"/>
          </a:xfrm>
          <a:prstGeom prst="donut">
            <a:avLst>
              <a:gd name="adj" fmla="val 17685"/>
            </a:avLst>
          </a:prstGeom>
          <a:solidFill>
            <a:srgbClr val="FF0000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11" name="Google Shape;3211;p114"/>
          <p:cNvSpPr/>
          <p:nvPr/>
        </p:nvSpPr>
        <p:spPr>
          <a:xfrm>
            <a:off x="3470208" y="3306782"/>
            <a:ext cx="806055" cy="762953"/>
          </a:xfrm>
          <a:prstGeom prst="donut">
            <a:avLst>
              <a:gd name="adj" fmla="val 17685"/>
            </a:avLst>
          </a:prstGeom>
          <a:solidFill>
            <a:srgbClr val="FF0000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12" name="Google Shape;3212;p114"/>
          <p:cNvSpPr txBox="1"/>
          <p:nvPr/>
        </p:nvSpPr>
        <p:spPr>
          <a:xfrm>
            <a:off x="7343481" y="3756305"/>
            <a:ext cx="379854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1.Swap the last element with the root</a:t>
            </a:r>
            <a:endParaRPr/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7" name="Google Shape;3217;p115"/>
          <p:cNvSpPr txBox="1">
            <a:spLocks noGrp="1"/>
          </p:cNvSpPr>
          <p:nvPr>
            <p:ph type="body" idx="1"/>
          </p:nvPr>
        </p:nvSpPr>
        <p:spPr>
          <a:xfrm>
            <a:off x="838200" y="1227909"/>
            <a:ext cx="10515600" cy="49490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1500"/>
              <a:buFont typeface="Arial"/>
              <a:buChar char="●"/>
            </a:pPr>
            <a:r>
              <a:rPr lang="en-US" sz="2000" b="1"/>
              <a:t>Priority Queue functions</a:t>
            </a:r>
            <a:endParaRPr/>
          </a:p>
          <a:p>
            <a:pPr marL="742950" lvl="1" indent="-28575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040"/>
              <a:buChar char="●"/>
            </a:pPr>
            <a:r>
              <a:rPr lang="en-US" sz="1600"/>
              <a:t>HEAP-MAXIMUM </a:t>
            </a:r>
            <a:endParaRPr/>
          </a:p>
          <a:p>
            <a:pPr marL="742950" lvl="1" indent="-28575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040"/>
              <a:buChar char="●"/>
            </a:pPr>
            <a:r>
              <a:rPr lang="en-US" sz="1600"/>
              <a:t>MAX-HEAP-INSERT</a:t>
            </a:r>
            <a:endParaRPr/>
          </a:p>
          <a:p>
            <a:pPr marL="742950" lvl="1" indent="-28575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040"/>
              <a:buChar char="●"/>
            </a:pPr>
            <a:r>
              <a:rPr lang="en-US" sz="1600" b="1"/>
              <a:t>HEAP-EXTRACT-MAX – </a:t>
            </a:r>
            <a:r>
              <a:rPr lang="en-US" sz="1600">
                <a:solidFill>
                  <a:srgbClr val="FF0000"/>
                </a:solidFill>
              </a:rPr>
              <a:t>extract the eldest citizen</a:t>
            </a:r>
            <a:endParaRPr sz="1600" b="1">
              <a:solidFill>
                <a:srgbClr val="FF0000"/>
              </a:solidFill>
            </a:endParaRPr>
          </a:p>
          <a:p>
            <a:pPr marL="742950" lvl="1" indent="-28575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040"/>
              <a:buChar char="●"/>
            </a:pPr>
            <a:r>
              <a:rPr lang="en-US" sz="1600"/>
              <a:t>HEAP-INCREASE-KEY</a:t>
            </a:r>
            <a:endParaRPr/>
          </a:p>
        </p:txBody>
      </p:sp>
      <p:sp>
        <p:nvSpPr>
          <p:cNvPr id="3218" name="Google Shape;3218;p115"/>
          <p:cNvSpPr txBox="1">
            <a:spLocks noGrp="1"/>
          </p:cNvSpPr>
          <p:nvPr>
            <p:ph type="dt" idx="10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28431C76-C3FD-418B-A286-0489F028C94E}" type="datetime1">
              <a:rPr lang="en-US" smtClean="0"/>
              <a:t>1/12/2026</a:t>
            </a:fld>
            <a:endParaRPr/>
          </a:p>
        </p:txBody>
      </p:sp>
      <p:sp>
        <p:nvSpPr>
          <p:cNvPr id="3219" name="Google Shape;3219;p115"/>
          <p:cNvSpPr txBox="1">
            <a:spLocks noGrp="1"/>
          </p:cNvSpPr>
          <p:nvPr>
            <p:ph type="ftr" idx="11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Lec Asif Abrar, Dept of CSE, UIU</a:t>
            </a:r>
            <a:endParaRPr/>
          </a:p>
        </p:txBody>
      </p:sp>
      <p:sp>
        <p:nvSpPr>
          <p:cNvPr id="3220" name="Google Shape;3220;p115"/>
          <p:cNvSpPr txBox="1">
            <a:spLocks noGrp="1"/>
          </p:cNvSpPr>
          <p:nvPr>
            <p:ph type="sldNum" idx="12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82</a:t>
            </a:fld>
            <a:endParaRPr/>
          </a:p>
        </p:txBody>
      </p:sp>
      <p:sp>
        <p:nvSpPr>
          <p:cNvPr id="3221" name="Google Shape;3221;p115"/>
          <p:cNvSpPr txBox="1">
            <a:spLocks noGrp="1"/>
          </p:cNvSpPr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/>
              <a:t>Max heap as a priority queue</a:t>
            </a:r>
            <a:endParaRPr/>
          </a:p>
        </p:txBody>
      </p:sp>
      <p:sp>
        <p:nvSpPr>
          <p:cNvPr id="3222" name="Google Shape;3222;p115"/>
          <p:cNvSpPr/>
          <p:nvPr/>
        </p:nvSpPr>
        <p:spPr>
          <a:xfrm>
            <a:off x="3581400" y="3429000"/>
            <a:ext cx="556142" cy="509345"/>
          </a:xfrm>
          <a:prstGeom prst="ellipse">
            <a:avLst/>
          </a:prstGeom>
          <a:solidFill>
            <a:schemeClr val="accent2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3223" name="Google Shape;3223;p115"/>
          <p:cNvSpPr/>
          <p:nvPr/>
        </p:nvSpPr>
        <p:spPr>
          <a:xfrm>
            <a:off x="1558622" y="4190269"/>
            <a:ext cx="556142" cy="509345"/>
          </a:xfrm>
          <a:prstGeom prst="ellipse">
            <a:avLst/>
          </a:prstGeom>
          <a:solidFill>
            <a:schemeClr val="accent2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14</a:t>
            </a:r>
            <a:endParaRPr/>
          </a:p>
        </p:txBody>
      </p:sp>
      <p:sp>
        <p:nvSpPr>
          <p:cNvPr id="3224" name="Google Shape;3224;p115"/>
          <p:cNvSpPr/>
          <p:nvPr/>
        </p:nvSpPr>
        <p:spPr>
          <a:xfrm>
            <a:off x="937146" y="4746485"/>
            <a:ext cx="556142" cy="509345"/>
          </a:xfrm>
          <a:prstGeom prst="ellipse">
            <a:avLst/>
          </a:prstGeom>
          <a:solidFill>
            <a:schemeClr val="accent2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/>
          </a:p>
        </p:txBody>
      </p:sp>
      <p:sp>
        <p:nvSpPr>
          <p:cNvPr id="3225" name="Google Shape;3225;p115"/>
          <p:cNvSpPr/>
          <p:nvPr/>
        </p:nvSpPr>
        <p:spPr>
          <a:xfrm>
            <a:off x="384101" y="5469919"/>
            <a:ext cx="556142" cy="509345"/>
          </a:xfrm>
          <a:prstGeom prst="ellipse">
            <a:avLst/>
          </a:prstGeom>
          <a:solidFill>
            <a:schemeClr val="accent2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  <p:sp>
        <p:nvSpPr>
          <p:cNvPr id="3226" name="Google Shape;3226;p115"/>
          <p:cNvSpPr/>
          <p:nvPr/>
        </p:nvSpPr>
        <p:spPr>
          <a:xfrm>
            <a:off x="1240923" y="5510810"/>
            <a:ext cx="556142" cy="509345"/>
          </a:xfrm>
          <a:prstGeom prst="ellipse">
            <a:avLst/>
          </a:prstGeom>
          <a:solidFill>
            <a:schemeClr val="accent2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/>
          </a:p>
        </p:txBody>
      </p:sp>
      <p:sp>
        <p:nvSpPr>
          <p:cNvPr id="3227" name="Google Shape;3227;p115"/>
          <p:cNvSpPr/>
          <p:nvPr/>
        </p:nvSpPr>
        <p:spPr>
          <a:xfrm>
            <a:off x="2521675" y="4836679"/>
            <a:ext cx="556142" cy="509345"/>
          </a:xfrm>
          <a:prstGeom prst="ellipse">
            <a:avLst/>
          </a:prstGeom>
          <a:solidFill>
            <a:schemeClr val="accent2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/>
          </a:p>
        </p:txBody>
      </p:sp>
      <p:sp>
        <p:nvSpPr>
          <p:cNvPr id="3228" name="Google Shape;3228;p115"/>
          <p:cNvSpPr/>
          <p:nvPr/>
        </p:nvSpPr>
        <p:spPr>
          <a:xfrm>
            <a:off x="5009277" y="4118269"/>
            <a:ext cx="556142" cy="509345"/>
          </a:xfrm>
          <a:prstGeom prst="ellipse">
            <a:avLst/>
          </a:prstGeom>
          <a:solidFill>
            <a:schemeClr val="accent2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/>
          </a:p>
        </p:txBody>
      </p:sp>
      <p:cxnSp>
        <p:nvCxnSpPr>
          <p:cNvPr id="3229" name="Google Shape;3229;p115"/>
          <p:cNvCxnSpPr>
            <a:stCxn id="3222" idx="3"/>
            <a:endCxn id="3223" idx="7"/>
          </p:cNvCxnSpPr>
          <p:nvPr/>
        </p:nvCxnSpPr>
        <p:spPr>
          <a:xfrm flipH="1">
            <a:off x="2033245" y="3863753"/>
            <a:ext cx="1629600" cy="401100"/>
          </a:xfrm>
          <a:prstGeom prst="straightConnector1">
            <a:avLst/>
          </a:prstGeom>
          <a:solidFill>
            <a:schemeClr val="accent2"/>
          </a:solidFill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3230" name="Google Shape;3230;p115"/>
          <p:cNvCxnSpPr>
            <a:stCxn id="3228" idx="1"/>
            <a:endCxn id="3222" idx="5"/>
          </p:cNvCxnSpPr>
          <p:nvPr/>
        </p:nvCxnSpPr>
        <p:spPr>
          <a:xfrm rot="10800000">
            <a:off x="4056022" y="3863761"/>
            <a:ext cx="1034700" cy="329100"/>
          </a:xfrm>
          <a:prstGeom prst="straightConnector1">
            <a:avLst/>
          </a:prstGeom>
          <a:solidFill>
            <a:schemeClr val="accent2"/>
          </a:solidFill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3231" name="Google Shape;3231;p115"/>
          <p:cNvCxnSpPr>
            <a:stCxn id="3232" idx="0"/>
            <a:endCxn id="3228" idx="5"/>
          </p:cNvCxnSpPr>
          <p:nvPr/>
        </p:nvCxnSpPr>
        <p:spPr>
          <a:xfrm rot="10800000">
            <a:off x="5483832" y="4553008"/>
            <a:ext cx="728100" cy="286500"/>
          </a:xfrm>
          <a:prstGeom prst="straightConnector1">
            <a:avLst/>
          </a:prstGeom>
          <a:solidFill>
            <a:schemeClr val="accent2"/>
          </a:solidFill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3233" name="Google Shape;3233;p115"/>
          <p:cNvCxnSpPr>
            <a:stCxn id="3234" idx="0"/>
            <a:endCxn id="3228" idx="3"/>
          </p:cNvCxnSpPr>
          <p:nvPr/>
        </p:nvCxnSpPr>
        <p:spPr>
          <a:xfrm rot="10800000" flipH="1">
            <a:off x="4759085" y="4553111"/>
            <a:ext cx="331500" cy="200400"/>
          </a:xfrm>
          <a:prstGeom prst="straightConnector1">
            <a:avLst/>
          </a:prstGeom>
          <a:solidFill>
            <a:schemeClr val="accent2"/>
          </a:solidFill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3235" name="Google Shape;3235;p115"/>
          <p:cNvCxnSpPr>
            <a:stCxn id="3223" idx="3"/>
            <a:endCxn id="3224" idx="7"/>
          </p:cNvCxnSpPr>
          <p:nvPr/>
        </p:nvCxnSpPr>
        <p:spPr>
          <a:xfrm flipH="1">
            <a:off x="1411767" y="4625022"/>
            <a:ext cx="228300" cy="196200"/>
          </a:xfrm>
          <a:prstGeom prst="straightConnector1">
            <a:avLst/>
          </a:prstGeom>
          <a:solidFill>
            <a:schemeClr val="accent2"/>
          </a:solidFill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3236" name="Google Shape;3236;p115"/>
          <p:cNvCxnSpPr>
            <a:stCxn id="3223" idx="5"/>
            <a:endCxn id="3227" idx="1"/>
          </p:cNvCxnSpPr>
          <p:nvPr/>
        </p:nvCxnSpPr>
        <p:spPr>
          <a:xfrm>
            <a:off x="2033319" y="4625022"/>
            <a:ext cx="569700" cy="286200"/>
          </a:xfrm>
          <a:prstGeom prst="straightConnector1">
            <a:avLst/>
          </a:prstGeom>
          <a:solidFill>
            <a:schemeClr val="accent2"/>
          </a:solidFill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3237" name="Google Shape;3237;p115"/>
          <p:cNvCxnSpPr>
            <a:stCxn id="3224" idx="3"/>
            <a:endCxn id="3225" idx="7"/>
          </p:cNvCxnSpPr>
          <p:nvPr/>
        </p:nvCxnSpPr>
        <p:spPr>
          <a:xfrm flipH="1">
            <a:off x="858691" y="5181238"/>
            <a:ext cx="159900" cy="363300"/>
          </a:xfrm>
          <a:prstGeom prst="straightConnector1">
            <a:avLst/>
          </a:prstGeom>
          <a:solidFill>
            <a:schemeClr val="accent2"/>
          </a:solidFill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3238" name="Google Shape;3238;p115"/>
          <p:cNvCxnSpPr>
            <a:stCxn id="3224" idx="5"/>
            <a:endCxn id="3226" idx="0"/>
          </p:cNvCxnSpPr>
          <p:nvPr/>
        </p:nvCxnSpPr>
        <p:spPr>
          <a:xfrm>
            <a:off x="1411843" y="5181238"/>
            <a:ext cx="107100" cy="329700"/>
          </a:xfrm>
          <a:prstGeom prst="straightConnector1">
            <a:avLst/>
          </a:prstGeom>
          <a:solidFill>
            <a:schemeClr val="accent2"/>
          </a:solidFill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3239" name="Google Shape;3239;p115"/>
          <p:cNvSpPr/>
          <p:nvPr/>
        </p:nvSpPr>
        <p:spPr>
          <a:xfrm>
            <a:off x="4525401" y="5922134"/>
            <a:ext cx="556142" cy="509345"/>
          </a:xfrm>
          <a:prstGeom prst="ellipse">
            <a:avLst/>
          </a:prstGeom>
          <a:solidFill>
            <a:schemeClr val="accent2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16</a:t>
            </a:r>
            <a:endParaRPr/>
          </a:p>
        </p:txBody>
      </p:sp>
      <p:sp>
        <p:nvSpPr>
          <p:cNvPr id="3234" name="Google Shape;3234;p115"/>
          <p:cNvSpPr/>
          <p:nvPr/>
        </p:nvSpPr>
        <p:spPr>
          <a:xfrm>
            <a:off x="4481014" y="4753511"/>
            <a:ext cx="556142" cy="509345"/>
          </a:xfrm>
          <a:prstGeom prst="ellipse">
            <a:avLst/>
          </a:prstGeom>
          <a:solidFill>
            <a:schemeClr val="accent2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endParaRPr/>
          </a:p>
        </p:txBody>
      </p:sp>
      <p:sp>
        <p:nvSpPr>
          <p:cNvPr id="3232" name="Google Shape;3232;p115"/>
          <p:cNvSpPr/>
          <p:nvPr/>
        </p:nvSpPr>
        <p:spPr>
          <a:xfrm>
            <a:off x="5933861" y="4839508"/>
            <a:ext cx="556142" cy="509345"/>
          </a:xfrm>
          <a:prstGeom prst="ellipse">
            <a:avLst/>
          </a:prstGeom>
          <a:solidFill>
            <a:schemeClr val="accent2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/>
          </a:p>
        </p:txBody>
      </p:sp>
      <p:sp>
        <p:nvSpPr>
          <p:cNvPr id="3240" name="Google Shape;3240;p115"/>
          <p:cNvSpPr/>
          <p:nvPr/>
        </p:nvSpPr>
        <p:spPr>
          <a:xfrm>
            <a:off x="6884435" y="1093648"/>
            <a:ext cx="4497258" cy="8309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Initially the array must 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be a max heap (run a max heapify)</a:t>
            </a:r>
            <a:endParaRPr/>
          </a:p>
        </p:txBody>
      </p:sp>
      <p:graphicFrame>
        <p:nvGraphicFramePr>
          <p:cNvPr id="3241" name="Google Shape;3241;p115"/>
          <p:cNvGraphicFramePr/>
          <p:nvPr/>
        </p:nvGraphicFramePr>
        <p:xfrm>
          <a:off x="6851939" y="2264136"/>
          <a:ext cx="4562250" cy="731540"/>
        </p:xfrm>
        <a:graphic>
          <a:graphicData uri="http://schemas.openxmlformats.org/drawingml/2006/table">
            <a:tbl>
              <a:tblPr firstRow="1" bandRow="1">
                <a:noFill/>
                <a:tableStyleId>{66088737-8E24-4614-AAA7-3D08145F63E1}</a:tableStyleId>
              </a:tblPr>
              <a:tblGrid>
                <a:gridCol w="4562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62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562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008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115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562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5622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5622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45622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45622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2914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1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2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3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4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5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6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7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8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9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10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14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u="none" strike="noStrike" cap="none">
                          <a:solidFill>
                            <a:schemeClr val="dk1"/>
                          </a:solidFill>
                        </a:rPr>
                        <a:t>1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u="none" strike="noStrike" cap="none">
                          <a:solidFill>
                            <a:schemeClr val="dk1"/>
                          </a:solidFill>
                        </a:rPr>
                        <a:t>14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u="none" strike="noStrike" cap="none">
                          <a:solidFill>
                            <a:schemeClr val="dk1"/>
                          </a:solidFill>
                        </a:rPr>
                        <a:t>10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u="none" strike="noStrike" cap="none">
                          <a:solidFill>
                            <a:schemeClr val="dk1"/>
                          </a:solidFill>
                        </a:rPr>
                        <a:t>8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u="none" strike="noStrike" cap="none">
                          <a:solidFill>
                            <a:schemeClr val="dk1"/>
                          </a:solidFill>
                        </a:rPr>
                        <a:t>7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u="none" strike="noStrike" cap="none">
                          <a:solidFill>
                            <a:schemeClr val="dk1"/>
                          </a:solidFill>
                        </a:rPr>
                        <a:t>9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u="none" strike="noStrike" cap="none">
                          <a:solidFill>
                            <a:schemeClr val="dk1"/>
                          </a:solidFill>
                        </a:rPr>
                        <a:t>3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u="none" strike="noStrike" cap="none">
                          <a:solidFill>
                            <a:schemeClr val="dk1"/>
                          </a:solidFill>
                        </a:rPr>
                        <a:t>2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u="none" strike="noStrike" cap="none">
                          <a:solidFill>
                            <a:schemeClr val="dk1"/>
                          </a:solidFill>
                        </a:rPr>
                        <a:t>4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u="none" strike="noStrike" cap="none">
                          <a:solidFill>
                            <a:schemeClr val="dk1"/>
                          </a:solidFill>
                        </a:rPr>
                        <a:t>16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3242" name="Google Shape;3242;p115"/>
          <p:cNvSpPr txBox="1"/>
          <p:nvPr/>
        </p:nvSpPr>
        <p:spPr>
          <a:xfrm>
            <a:off x="7343481" y="3756305"/>
            <a:ext cx="3798540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1.Swap the last element with the root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2.Remove the largest element</a:t>
            </a:r>
            <a:endParaRPr/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7" name="Google Shape;3247;p116"/>
          <p:cNvSpPr txBox="1">
            <a:spLocks noGrp="1"/>
          </p:cNvSpPr>
          <p:nvPr>
            <p:ph type="body" idx="1"/>
          </p:nvPr>
        </p:nvSpPr>
        <p:spPr>
          <a:xfrm>
            <a:off x="838200" y="1227909"/>
            <a:ext cx="10515600" cy="49490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1500"/>
              <a:buFont typeface="Arial"/>
              <a:buChar char="●"/>
            </a:pPr>
            <a:r>
              <a:rPr lang="en-US" sz="2000" b="1"/>
              <a:t>Priority Queue functions</a:t>
            </a:r>
            <a:endParaRPr/>
          </a:p>
          <a:p>
            <a:pPr marL="742950" lvl="1" indent="-28575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040"/>
              <a:buChar char="●"/>
            </a:pPr>
            <a:r>
              <a:rPr lang="en-US" sz="1600"/>
              <a:t>HEAP-MAXIMUM </a:t>
            </a:r>
            <a:endParaRPr/>
          </a:p>
          <a:p>
            <a:pPr marL="742950" lvl="1" indent="-28575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040"/>
              <a:buChar char="●"/>
            </a:pPr>
            <a:r>
              <a:rPr lang="en-US" sz="1600"/>
              <a:t>MAX-HEAP-INSERT</a:t>
            </a:r>
            <a:endParaRPr/>
          </a:p>
          <a:p>
            <a:pPr marL="742950" lvl="1" indent="-28575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040"/>
              <a:buChar char="●"/>
            </a:pPr>
            <a:r>
              <a:rPr lang="en-US" sz="1600" b="1"/>
              <a:t>HEAP-EXTRACT-MAX – </a:t>
            </a:r>
            <a:r>
              <a:rPr lang="en-US" sz="1600">
                <a:solidFill>
                  <a:srgbClr val="FF0000"/>
                </a:solidFill>
              </a:rPr>
              <a:t>extract the eldest citizen</a:t>
            </a:r>
            <a:endParaRPr sz="1600" b="1">
              <a:solidFill>
                <a:srgbClr val="FF0000"/>
              </a:solidFill>
            </a:endParaRPr>
          </a:p>
          <a:p>
            <a:pPr marL="742950" lvl="1" indent="-28575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040"/>
              <a:buChar char="●"/>
            </a:pPr>
            <a:r>
              <a:rPr lang="en-US" sz="1600"/>
              <a:t>HEAP-INCREASE-KEY</a:t>
            </a:r>
            <a:endParaRPr/>
          </a:p>
        </p:txBody>
      </p:sp>
      <p:sp>
        <p:nvSpPr>
          <p:cNvPr id="3248" name="Google Shape;3248;p116"/>
          <p:cNvSpPr txBox="1">
            <a:spLocks noGrp="1"/>
          </p:cNvSpPr>
          <p:nvPr>
            <p:ph type="dt" idx="10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9F469DC8-7A0B-4513-B453-7ECA7A0DC05E}" type="datetime1">
              <a:rPr lang="en-US" smtClean="0"/>
              <a:t>1/12/2026</a:t>
            </a:fld>
            <a:endParaRPr/>
          </a:p>
        </p:txBody>
      </p:sp>
      <p:sp>
        <p:nvSpPr>
          <p:cNvPr id="3249" name="Google Shape;3249;p116"/>
          <p:cNvSpPr txBox="1">
            <a:spLocks noGrp="1"/>
          </p:cNvSpPr>
          <p:nvPr>
            <p:ph type="ftr" idx="11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Lec Asif Abrar, Dept of CSE, UIU</a:t>
            </a:r>
            <a:endParaRPr/>
          </a:p>
        </p:txBody>
      </p:sp>
      <p:sp>
        <p:nvSpPr>
          <p:cNvPr id="3250" name="Google Shape;3250;p116"/>
          <p:cNvSpPr txBox="1">
            <a:spLocks noGrp="1"/>
          </p:cNvSpPr>
          <p:nvPr>
            <p:ph type="sldNum" idx="12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83</a:t>
            </a:fld>
            <a:endParaRPr/>
          </a:p>
        </p:txBody>
      </p:sp>
      <p:sp>
        <p:nvSpPr>
          <p:cNvPr id="3251" name="Google Shape;3251;p116"/>
          <p:cNvSpPr txBox="1">
            <a:spLocks noGrp="1"/>
          </p:cNvSpPr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/>
              <a:t>Max heap as a priority queue</a:t>
            </a:r>
            <a:endParaRPr/>
          </a:p>
        </p:txBody>
      </p:sp>
      <p:sp>
        <p:nvSpPr>
          <p:cNvPr id="3252" name="Google Shape;3252;p116"/>
          <p:cNvSpPr/>
          <p:nvPr/>
        </p:nvSpPr>
        <p:spPr>
          <a:xfrm>
            <a:off x="3581400" y="3429000"/>
            <a:ext cx="556142" cy="509345"/>
          </a:xfrm>
          <a:prstGeom prst="ellipse">
            <a:avLst/>
          </a:prstGeom>
          <a:solidFill>
            <a:schemeClr val="accent2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3253" name="Google Shape;3253;p116"/>
          <p:cNvSpPr/>
          <p:nvPr/>
        </p:nvSpPr>
        <p:spPr>
          <a:xfrm>
            <a:off x="1558622" y="4190269"/>
            <a:ext cx="556142" cy="509345"/>
          </a:xfrm>
          <a:prstGeom prst="ellipse">
            <a:avLst/>
          </a:prstGeom>
          <a:solidFill>
            <a:schemeClr val="accent2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14</a:t>
            </a:r>
            <a:endParaRPr/>
          </a:p>
        </p:txBody>
      </p:sp>
      <p:sp>
        <p:nvSpPr>
          <p:cNvPr id="3254" name="Google Shape;3254;p116"/>
          <p:cNvSpPr/>
          <p:nvPr/>
        </p:nvSpPr>
        <p:spPr>
          <a:xfrm>
            <a:off x="937146" y="4746485"/>
            <a:ext cx="556142" cy="509345"/>
          </a:xfrm>
          <a:prstGeom prst="ellipse">
            <a:avLst/>
          </a:prstGeom>
          <a:solidFill>
            <a:schemeClr val="accent2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/>
          </a:p>
        </p:txBody>
      </p:sp>
      <p:sp>
        <p:nvSpPr>
          <p:cNvPr id="3255" name="Google Shape;3255;p116"/>
          <p:cNvSpPr/>
          <p:nvPr/>
        </p:nvSpPr>
        <p:spPr>
          <a:xfrm>
            <a:off x="384101" y="5469919"/>
            <a:ext cx="556142" cy="509345"/>
          </a:xfrm>
          <a:prstGeom prst="ellipse">
            <a:avLst/>
          </a:prstGeom>
          <a:solidFill>
            <a:schemeClr val="accent2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  <p:sp>
        <p:nvSpPr>
          <p:cNvPr id="3256" name="Google Shape;3256;p116"/>
          <p:cNvSpPr/>
          <p:nvPr/>
        </p:nvSpPr>
        <p:spPr>
          <a:xfrm>
            <a:off x="1240923" y="5510810"/>
            <a:ext cx="556142" cy="509345"/>
          </a:xfrm>
          <a:prstGeom prst="ellipse">
            <a:avLst/>
          </a:prstGeom>
          <a:solidFill>
            <a:schemeClr val="accent2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/>
          </a:p>
        </p:txBody>
      </p:sp>
      <p:sp>
        <p:nvSpPr>
          <p:cNvPr id="3257" name="Google Shape;3257;p116"/>
          <p:cNvSpPr/>
          <p:nvPr/>
        </p:nvSpPr>
        <p:spPr>
          <a:xfrm>
            <a:off x="2521675" y="4836679"/>
            <a:ext cx="556142" cy="509345"/>
          </a:xfrm>
          <a:prstGeom prst="ellipse">
            <a:avLst/>
          </a:prstGeom>
          <a:solidFill>
            <a:schemeClr val="accent2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/>
          </a:p>
        </p:txBody>
      </p:sp>
      <p:sp>
        <p:nvSpPr>
          <p:cNvPr id="3258" name="Google Shape;3258;p116"/>
          <p:cNvSpPr/>
          <p:nvPr/>
        </p:nvSpPr>
        <p:spPr>
          <a:xfrm>
            <a:off x="5009277" y="4118269"/>
            <a:ext cx="556142" cy="509345"/>
          </a:xfrm>
          <a:prstGeom prst="ellipse">
            <a:avLst/>
          </a:prstGeom>
          <a:solidFill>
            <a:schemeClr val="accent2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/>
          </a:p>
        </p:txBody>
      </p:sp>
      <p:cxnSp>
        <p:nvCxnSpPr>
          <p:cNvPr id="3259" name="Google Shape;3259;p116"/>
          <p:cNvCxnSpPr>
            <a:stCxn id="3252" idx="3"/>
            <a:endCxn id="3253" idx="7"/>
          </p:cNvCxnSpPr>
          <p:nvPr/>
        </p:nvCxnSpPr>
        <p:spPr>
          <a:xfrm flipH="1">
            <a:off x="2033245" y="3863753"/>
            <a:ext cx="1629600" cy="401100"/>
          </a:xfrm>
          <a:prstGeom prst="straightConnector1">
            <a:avLst/>
          </a:prstGeom>
          <a:solidFill>
            <a:schemeClr val="accent2"/>
          </a:solidFill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3260" name="Google Shape;3260;p116"/>
          <p:cNvCxnSpPr>
            <a:stCxn id="3258" idx="1"/>
            <a:endCxn id="3252" idx="5"/>
          </p:cNvCxnSpPr>
          <p:nvPr/>
        </p:nvCxnSpPr>
        <p:spPr>
          <a:xfrm rot="10800000">
            <a:off x="4056022" y="3863761"/>
            <a:ext cx="1034700" cy="329100"/>
          </a:xfrm>
          <a:prstGeom prst="straightConnector1">
            <a:avLst/>
          </a:prstGeom>
          <a:solidFill>
            <a:schemeClr val="accent2"/>
          </a:solidFill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3261" name="Google Shape;3261;p116"/>
          <p:cNvCxnSpPr>
            <a:stCxn id="3262" idx="0"/>
            <a:endCxn id="3258" idx="5"/>
          </p:cNvCxnSpPr>
          <p:nvPr/>
        </p:nvCxnSpPr>
        <p:spPr>
          <a:xfrm rot="10800000">
            <a:off x="5483832" y="4553008"/>
            <a:ext cx="728100" cy="286500"/>
          </a:xfrm>
          <a:prstGeom prst="straightConnector1">
            <a:avLst/>
          </a:prstGeom>
          <a:solidFill>
            <a:schemeClr val="accent2"/>
          </a:solidFill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3263" name="Google Shape;3263;p116"/>
          <p:cNvCxnSpPr>
            <a:stCxn id="3264" idx="0"/>
            <a:endCxn id="3258" idx="3"/>
          </p:cNvCxnSpPr>
          <p:nvPr/>
        </p:nvCxnSpPr>
        <p:spPr>
          <a:xfrm rot="10800000" flipH="1">
            <a:off x="4759085" y="4553111"/>
            <a:ext cx="331500" cy="200400"/>
          </a:xfrm>
          <a:prstGeom prst="straightConnector1">
            <a:avLst/>
          </a:prstGeom>
          <a:solidFill>
            <a:schemeClr val="accent2"/>
          </a:solidFill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3265" name="Google Shape;3265;p116"/>
          <p:cNvCxnSpPr>
            <a:stCxn id="3253" idx="3"/>
            <a:endCxn id="3254" idx="7"/>
          </p:cNvCxnSpPr>
          <p:nvPr/>
        </p:nvCxnSpPr>
        <p:spPr>
          <a:xfrm flipH="1">
            <a:off x="1411767" y="4625022"/>
            <a:ext cx="228300" cy="196200"/>
          </a:xfrm>
          <a:prstGeom prst="straightConnector1">
            <a:avLst/>
          </a:prstGeom>
          <a:solidFill>
            <a:schemeClr val="accent2"/>
          </a:solidFill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3266" name="Google Shape;3266;p116"/>
          <p:cNvCxnSpPr>
            <a:stCxn id="3253" idx="5"/>
            <a:endCxn id="3257" idx="1"/>
          </p:cNvCxnSpPr>
          <p:nvPr/>
        </p:nvCxnSpPr>
        <p:spPr>
          <a:xfrm>
            <a:off x="2033319" y="4625022"/>
            <a:ext cx="569700" cy="286200"/>
          </a:xfrm>
          <a:prstGeom prst="straightConnector1">
            <a:avLst/>
          </a:prstGeom>
          <a:solidFill>
            <a:schemeClr val="accent2"/>
          </a:solidFill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3267" name="Google Shape;3267;p116"/>
          <p:cNvCxnSpPr>
            <a:stCxn id="3254" idx="3"/>
            <a:endCxn id="3255" idx="7"/>
          </p:cNvCxnSpPr>
          <p:nvPr/>
        </p:nvCxnSpPr>
        <p:spPr>
          <a:xfrm flipH="1">
            <a:off x="858691" y="5181238"/>
            <a:ext cx="159900" cy="363300"/>
          </a:xfrm>
          <a:prstGeom prst="straightConnector1">
            <a:avLst/>
          </a:prstGeom>
          <a:solidFill>
            <a:schemeClr val="accent2"/>
          </a:solidFill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3268" name="Google Shape;3268;p116"/>
          <p:cNvCxnSpPr>
            <a:stCxn id="3254" idx="5"/>
            <a:endCxn id="3256" idx="0"/>
          </p:cNvCxnSpPr>
          <p:nvPr/>
        </p:nvCxnSpPr>
        <p:spPr>
          <a:xfrm>
            <a:off x="1411843" y="5181238"/>
            <a:ext cx="107100" cy="329700"/>
          </a:xfrm>
          <a:prstGeom prst="straightConnector1">
            <a:avLst/>
          </a:prstGeom>
          <a:solidFill>
            <a:schemeClr val="accent2"/>
          </a:solidFill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3269" name="Google Shape;3269;p116"/>
          <p:cNvSpPr/>
          <p:nvPr/>
        </p:nvSpPr>
        <p:spPr>
          <a:xfrm>
            <a:off x="4525401" y="5922134"/>
            <a:ext cx="556142" cy="509345"/>
          </a:xfrm>
          <a:prstGeom prst="ellipse">
            <a:avLst/>
          </a:prstGeom>
          <a:solidFill>
            <a:schemeClr val="accent2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16</a:t>
            </a:r>
            <a:endParaRPr/>
          </a:p>
        </p:txBody>
      </p:sp>
      <p:sp>
        <p:nvSpPr>
          <p:cNvPr id="3264" name="Google Shape;3264;p116"/>
          <p:cNvSpPr/>
          <p:nvPr/>
        </p:nvSpPr>
        <p:spPr>
          <a:xfrm>
            <a:off x="4481014" y="4753511"/>
            <a:ext cx="556142" cy="509345"/>
          </a:xfrm>
          <a:prstGeom prst="ellipse">
            <a:avLst/>
          </a:prstGeom>
          <a:solidFill>
            <a:schemeClr val="accent2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endParaRPr/>
          </a:p>
        </p:txBody>
      </p:sp>
      <p:sp>
        <p:nvSpPr>
          <p:cNvPr id="3262" name="Google Shape;3262;p116"/>
          <p:cNvSpPr/>
          <p:nvPr/>
        </p:nvSpPr>
        <p:spPr>
          <a:xfrm>
            <a:off x="5933861" y="4839508"/>
            <a:ext cx="556142" cy="509345"/>
          </a:xfrm>
          <a:prstGeom prst="ellipse">
            <a:avLst/>
          </a:prstGeom>
          <a:solidFill>
            <a:schemeClr val="accent2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/>
          </a:p>
        </p:txBody>
      </p:sp>
      <p:sp>
        <p:nvSpPr>
          <p:cNvPr id="3270" name="Google Shape;3270;p116"/>
          <p:cNvSpPr/>
          <p:nvPr/>
        </p:nvSpPr>
        <p:spPr>
          <a:xfrm>
            <a:off x="6884435" y="1093648"/>
            <a:ext cx="4497258" cy="8309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Initially the array must 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be a max heap (run a max heapify)</a:t>
            </a:r>
            <a:endParaRPr/>
          </a:p>
        </p:txBody>
      </p:sp>
      <p:graphicFrame>
        <p:nvGraphicFramePr>
          <p:cNvPr id="3271" name="Google Shape;3271;p116"/>
          <p:cNvGraphicFramePr/>
          <p:nvPr/>
        </p:nvGraphicFramePr>
        <p:xfrm>
          <a:off x="6851939" y="2264136"/>
          <a:ext cx="4562250" cy="731540"/>
        </p:xfrm>
        <a:graphic>
          <a:graphicData uri="http://schemas.openxmlformats.org/drawingml/2006/table">
            <a:tbl>
              <a:tblPr firstRow="1" bandRow="1">
                <a:noFill/>
                <a:tableStyleId>{66088737-8E24-4614-AAA7-3D08145F63E1}</a:tableStyleId>
              </a:tblPr>
              <a:tblGrid>
                <a:gridCol w="4562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62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562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008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115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562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5622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5622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45622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45622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2914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1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2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3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4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5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6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7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8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9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10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14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u="none" strike="noStrike" cap="none">
                          <a:solidFill>
                            <a:schemeClr val="dk1"/>
                          </a:solidFill>
                        </a:rPr>
                        <a:t>16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u="none" strike="noStrike" cap="none">
                          <a:solidFill>
                            <a:schemeClr val="dk1"/>
                          </a:solidFill>
                        </a:rPr>
                        <a:t>14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u="none" strike="noStrike" cap="none">
                          <a:solidFill>
                            <a:schemeClr val="dk1"/>
                          </a:solidFill>
                        </a:rPr>
                        <a:t>10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u="none" strike="noStrike" cap="none">
                          <a:solidFill>
                            <a:schemeClr val="dk1"/>
                          </a:solidFill>
                        </a:rPr>
                        <a:t>8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u="none" strike="noStrike" cap="none">
                          <a:solidFill>
                            <a:schemeClr val="dk1"/>
                          </a:solidFill>
                        </a:rPr>
                        <a:t>7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u="none" strike="noStrike" cap="none">
                          <a:solidFill>
                            <a:schemeClr val="dk1"/>
                          </a:solidFill>
                        </a:rPr>
                        <a:t>9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u="none" strike="noStrike" cap="none">
                          <a:solidFill>
                            <a:schemeClr val="dk1"/>
                          </a:solidFill>
                        </a:rPr>
                        <a:t>3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u="none" strike="noStrike" cap="none">
                          <a:solidFill>
                            <a:schemeClr val="dk1"/>
                          </a:solidFill>
                        </a:rPr>
                        <a:t>2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u="none" strike="noStrike" cap="none">
                          <a:solidFill>
                            <a:schemeClr val="dk1"/>
                          </a:solidFill>
                        </a:rPr>
                        <a:t>4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u="none" strike="noStrike" cap="none">
                          <a:solidFill>
                            <a:schemeClr val="dk1"/>
                          </a:solidFill>
                        </a:rPr>
                        <a:t>1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3272" name="Google Shape;3272;p116"/>
          <p:cNvSpPr txBox="1"/>
          <p:nvPr/>
        </p:nvSpPr>
        <p:spPr>
          <a:xfrm>
            <a:off x="7343481" y="3756305"/>
            <a:ext cx="3798540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1.Swap the last element with the root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2.Remove the largest element</a:t>
            </a:r>
            <a:endParaRPr/>
          </a:p>
        </p:txBody>
      </p:sp>
      <p:sp>
        <p:nvSpPr>
          <p:cNvPr id="3273" name="Google Shape;3273;p116"/>
          <p:cNvSpPr/>
          <p:nvPr/>
        </p:nvSpPr>
        <p:spPr>
          <a:xfrm rot="-5400000">
            <a:off x="10536352" y="3166312"/>
            <a:ext cx="386570" cy="222383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74" name="Google Shape;3274;p116"/>
          <p:cNvSpPr txBox="1"/>
          <p:nvPr/>
        </p:nvSpPr>
        <p:spPr>
          <a:xfrm>
            <a:off x="10195423" y="3440393"/>
            <a:ext cx="1089978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Heap Size</a:t>
            </a:r>
            <a:endParaRPr/>
          </a:p>
        </p:txBody>
      </p:sp>
      <p:graphicFrame>
        <p:nvGraphicFramePr>
          <p:cNvPr id="3275" name="Google Shape;3275;p116"/>
          <p:cNvGraphicFramePr/>
          <p:nvPr/>
        </p:nvGraphicFramePr>
        <p:xfrm>
          <a:off x="6851939" y="2275983"/>
          <a:ext cx="4562250" cy="731540"/>
        </p:xfrm>
        <a:graphic>
          <a:graphicData uri="http://schemas.openxmlformats.org/drawingml/2006/table">
            <a:tbl>
              <a:tblPr firstRow="1" bandRow="1">
                <a:noFill/>
                <a:tableStyleId>{66088737-8E24-4614-AAA7-3D08145F63E1}</a:tableStyleId>
              </a:tblPr>
              <a:tblGrid>
                <a:gridCol w="4562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62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562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008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115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562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5622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5622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45622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45622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2914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1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2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3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4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5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6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7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8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9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10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14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u="none" strike="noStrike" cap="none">
                          <a:solidFill>
                            <a:schemeClr val="dk1"/>
                          </a:solidFill>
                        </a:rPr>
                        <a:t>1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u="none" strike="noStrike" cap="none">
                          <a:solidFill>
                            <a:schemeClr val="dk1"/>
                          </a:solidFill>
                        </a:rPr>
                        <a:t>14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u="none" strike="noStrike" cap="none">
                          <a:solidFill>
                            <a:schemeClr val="dk1"/>
                          </a:solidFill>
                        </a:rPr>
                        <a:t>10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u="none" strike="noStrike" cap="none">
                          <a:solidFill>
                            <a:schemeClr val="dk1"/>
                          </a:solidFill>
                        </a:rPr>
                        <a:t>8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u="none" strike="noStrike" cap="none">
                          <a:solidFill>
                            <a:schemeClr val="dk1"/>
                          </a:solidFill>
                        </a:rPr>
                        <a:t>7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u="none" strike="noStrike" cap="none">
                          <a:solidFill>
                            <a:schemeClr val="dk1"/>
                          </a:solidFill>
                        </a:rPr>
                        <a:t>9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u="none" strike="noStrike" cap="none">
                          <a:solidFill>
                            <a:schemeClr val="dk1"/>
                          </a:solidFill>
                        </a:rPr>
                        <a:t>3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u="none" strike="noStrike" cap="none">
                          <a:solidFill>
                            <a:schemeClr val="dk1"/>
                          </a:solidFill>
                        </a:rPr>
                        <a:t>2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u="none" strike="noStrike" cap="none">
                          <a:solidFill>
                            <a:schemeClr val="dk1"/>
                          </a:solidFill>
                        </a:rPr>
                        <a:t>4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u="none" strike="noStrike" cap="none">
                          <a:solidFill>
                            <a:schemeClr val="dk1"/>
                          </a:solidFill>
                        </a:rPr>
                        <a:t>16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0" name="Google Shape;3280;p117"/>
          <p:cNvSpPr txBox="1">
            <a:spLocks noGrp="1"/>
          </p:cNvSpPr>
          <p:nvPr>
            <p:ph type="body" idx="1"/>
          </p:nvPr>
        </p:nvSpPr>
        <p:spPr>
          <a:xfrm>
            <a:off x="838200" y="1227909"/>
            <a:ext cx="10515600" cy="49490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1500"/>
              <a:buFont typeface="Arial"/>
              <a:buChar char="●"/>
            </a:pPr>
            <a:r>
              <a:rPr lang="en-US" sz="2000" b="1"/>
              <a:t>Priority Queue functions</a:t>
            </a:r>
            <a:endParaRPr/>
          </a:p>
          <a:p>
            <a:pPr marL="742950" lvl="1" indent="-28575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040"/>
              <a:buChar char="●"/>
            </a:pPr>
            <a:r>
              <a:rPr lang="en-US" sz="1600"/>
              <a:t>HEAP-MAXIMUM </a:t>
            </a:r>
            <a:endParaRPr/>
          </a:p>
          <a:p>
            <a:pPr marL="742950" lvl="1" indent="-28575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040"/>
              <a:buChar char="●"/>
            </a:pPr>
            <a:r>
              <a:rPr lang="en-US" sz="1600"/>
              <a:t>MAX-HEAP-INSERT</a:t>
            </a:r>
            <a:endParaRPr/>
          </a:p>
          <a:p>
            <a:pPr marL="742950" lvl="1" indent="-28575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040"/>
              <a:buChar char="●"/>
            </a:pPr>
            <a:r>
              <a:rPr lang="en-US" sz="1600" b="1"/>
              <a:t>HEAP-EXTRACT-MAX – </a:t>
            </a:r>
            <a:r>
              <a:rPr lang="en-US" sz="1600">
                <a:solidFill>
                  <a:srgbClr val="FF0000"/>
                </a:solidFill>
              </a:rPr>
              <a:t>extract the eldest citizen</a:t>
            </a:r>
            <a:endParaRPr sz="1600" b="1">
              <a:solidFill>
                <a:srgbClr val="FF0000"/>
              </a:solidFill>
            </a:endParaRPr>
          </a:p>
          <a:p>
            <a:pPr marL="742950" lvl="1" indent="-28575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040"/>
              <a:buChar char="●"/>
            </a:pPr>
            <a:r>
              <a:rPr lang="en-US" sz="1600"/>
              <a:t>HEAP-INCREASE-KEY</a:t>
            </a:r>
            <a:endParaRPr/>
          </a:p>
        </p:txBody>
      </p:sp>
      <p:sp>
        <p:nvSpPr>
          <p:cNvPr id="3281" name="Google Shape;3281;p117"/>
          <p:cNvSpPr txBox="1">
            <a:spLocks noGrp="1"/>
          </p:cNvSpPr>
          <p:nvPr>
            <p:ph type="dt" idx="10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60BC6F22-1B99-4043-8D63-4FED852595F3}" type="datetime1">
              <a:rPr lang="en-US" smtClean="0"/>
              <a:t>1/12/2026</a:t>
            </a:fld>
            <a:endParaRPr/>
          </a:p>
        </p:txBody>
      </p:sp>
      <p:sp>
        <p:nvSpPr>
          <p:cNvPr id="3282" name="Google Shape;3282;p117"/>
          <p:cNvSpPr txBox="1">
            <a:spLocks noGrp="1"/>
          </p:cNvSpPr>
          <p:nvPr>
            <p:ph type="ftr" idx="11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Lec Asif Abrar, Dept of CSE, UIU</a:t>
            </a:r>
            <a:endParaRPr/>
          </a:p>
        </p:txBody>
      </p:sp>
      <p:sp>
        <p:nvSpPr>
          <p:cNvPr id="3283" name="Google Shape;3283;p117"/>
          <p:cNvSpPr txBox="1">
            <a:spLocks noGrp="1"/>
          </p:cNvSpPr>
          <p:nvPr>
            <p:ph type="sldNum" idx="12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84</a:t>
            </a:fld>
            <a:endParaRPr/>
          </a:p>
        </p:txBody>
      </p:sp>
      <p:sp>
        <p:nvSpPr>
          <p:cNvPr id="3284" name="Google Shape;3284;p117"/>
          <p:cNvSpPr txBox="1">
            <a:spLocks noGrp="1"/>
          </p:cNvSpPr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/>
              <a:t>Max heap as a priority queue</a:t>
            </a:r>
            <a:endParaRPr/>
          </a:p>
        </p:txBody>
      </p:sp>
      <p:sp>
        <p:nvSpPr>
          <p:cNvPr id="3285" name="Google Shape;3285;p117"/>
          <p:cNvSpPr/>
          <p:nvPr/>
        </p:nvSpPr>
        <p:spPr>
          <a:xfrm>
            <a:off x="3581400" y="3429000"/>
            <a:ext cx="556142" cy="509345"/>
          </a:xfrm>
          <a:prstGeom prst="ellipse">
            <a:avLst/>
          </a:prstGeom>
          <a:solidFill>
            <a:schemeClr val="accent2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3286" name="Google Shape;3286;p117"/>
          <p:cNvSpPr/>
          <p:nvPr/>
        </p:nvSpPr>
        <p:spPr>
          <a:xfrm>
            <a:off x="1558622" y="4190269"/>
            <a:ext cx="556142" cy="509345"/>
          </a:xfrm>
          <a:prstGeom prst="ellipse">
            <a:avLst/>
          </a:prstGeom>
          <a:solidFill>
            <a:schemeClr val="accent2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14</a:t>
            </a:r>
            <a:endParaRPr/>
          </a:p>
        </p:txBody>
      </p:sp>
      <p:sp>
        <p:nvSpPr>
          <p:cNvPr id="3287" name="Google Shape;3287;p117"/>
          <p:cNvSpPr/>
          <p:nvPr/>
        </p:nvSpPr>
        <p:spPr>
          <a:xfrm>
            <a:off x="937146" y="4746485"/>
            <a:ext cx="556142" cy="509345"/>
          </a:xfrm>
          <a:prstGeom prst="ellipse">
            <a:avLst/>
          </a:prstGeom>
          <a:solidFill>
            <a:schemeClr val="accent2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/>
          </a:p>
        </p:txBody>
      </p:sp>
      <p:sp>
        <p:nvSpPr>
          <p:cNvPr id="3288" name="Google Shape;3288;p117"/>
          <p:cNvSpPr/>
          <p:nvPr/>
        </p:nvSpPr>
        <p:spPr>
          <a:xfrm>
            <a:off x="384101" y="5469919"/>
            <a:ext cx="556142" cy="509345"/>
          </a:xfrm>
          <a:prstGeom prst="ellipse">
            <a:avLst/>
          </a:prstGeom>
          <a:solidFill>
            <a:schemeClr val="accent2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  <p:sp>
        <p:nvSpPr>
          <p:cNvPr id="3289" name="Google Shape;3289;p117"/>
          <p:cNvSpPr/>
          <p:nvPr/>
        </p:nvSpPr>
        <p:spPr>
          <a:xfrm>
            <a:off x="1240923" y="5510810"/>
            <a:ext cx="556142" cy="509345"/>
          </a:xfrm>
          <a:prstGeom prst="ellipse">
            <a:avLst/>
          </a:prstGeom>
          <a:solidFill>
            <a:schemeClr val="accent2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/>
          </a:p>
        </p:txBody>
      </p:sp>
      <p:sp>
        <p:nvSpPr>
          <p:cNvPr id="3290" name="Google Shape;3290;p117"/>
          <p:cNvSpPr/>
          <p:nvPr/>
        </p:nvSpPr>
        <p:spPr>
          <a:xfrm>
            <a:off x="2521675" y="4836679"/>
            <a:ext cx="556142" cy="509345"/>
          </a:xfrm>
          <a:prstGeom prst="ellipse">
            <a:avLst/>
          </a:prstGeom>
          <a:solidFill>
            <a:schemeClr val="accent2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/>
          </a:p>
        </p:txBody>
      </p:sp>
      <p:sp>
        <p:nvSpPr>
          <p:cNvPr id="3291" name="Google Shape;3291;p117"/>
          <p:cNvSpPr/>
          <p:nvPr/>
        </p:nvSpPr>
        <p:spPr>
          <a:xfrm>
            <a:off x="5009277" y="4118269"/>
            <a:ext cx="556142" cy="509345"/>
          </a:xfrm>
          <a:prstGeom prst="ellipse">
            <a:avLst/>
          </a:prstGeom>
          <a:solidFill>
            <a:schemeClr val="accent2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/>
          </a:p>
        </p:txBody>
      </p:sp>
      <p:cxnSp>
        <p:nvCxnSpPr>
          <p:cNvPr id="3292" name="Google Shape;3292;p117"/>
          <p:cNvCxnSpPr>
            <a:stCxn id="3285" idx="3"/>
            <a:endCxn id="3286" idx="7"/>
          </p:cNvCxnSpPr>
          <p:nvPr/>
        </p:nvCxnSpPr>
        <p:spPr>
          <a:xfrm flipH="1">
            <a:off x="2033245" y="3863753"/>
            <a:ext cx="1629600" cy="401100"/>
          </a:xfrm>
          <a:prstGeom prst="straightConnector1">
            <a:avLst/>
          </a:prstGeom>
          <a:solidFill>
            <a:schemeClr val="accent2"/>
          </a:solidFill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3293" name="Google Shape;3293;p117"/>
          <p:cNvCxnSpPr>
            <a:stCxn id="3291" idx="1"/>
            <a:endCxn id="3285" idx="5"/>
          </p:cNvCxnSpPr>
          <p:nvPr/>
        </p:nvCxnSpPr>
        <p:spPr>
          <a:xfrm rot="10800000">
            <a:off x="4056022" y="3863761"/>
            <a:ext cx="1034700" cy="329100"/>
          </a:xfrm>
          <a:prstGeom prst="straightConnector1">
            <a:avLst/>
          </a:prstGeom>
          <a:solidFill>
            <a:schemeClr val="accent2"/>
          </a:solidFill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3294" name="Google Shape;3294;p117"/>
          <p:cNvCxnSpPr>
            <a:stCxn id="3295" idx="0"/>
            <a:endCxn id="3291" idx="5"/>
          </p:cNvCxnSpPr>
          <p:nvPr/>
        </p:nvCxnSpPr>
        <p:spPr>
          <a:xfrm rot="10800000">
            <a:off x="5483832" y="4553008"/>
            <a:ext cx="728100" cy="286500"/>
          </a:xfrm>
          <a:prstGeom prst="straightConnector1">
            <a:avLst/>
          </a:prstGeom>
          <a:solidFill>
            <a:schemeClr val="accent2"/>
          </a:solidFill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3296" name="Google Shape;3296;p117"/>
          <p:cNvCxnSpPr>
            <a:stCxn id="3297" idx="0"/>
            <a:endCxn id="3291" idx="3"/>
          </p:cNvCxnSpPr>
          <p:nvPr/>
        </p:nvCxnSpPr>
        <p:spPr>
          <a:xfrm rot="10800000" flipH="1">
            <a:off x="4759085" y="4553111"/>
            <a:ext cx="331500" cy="200400"/>
          </a:xfrm>
          <a:prstGeom prst="straightConnector1">
            <a:avLst/>
          </a:prstGeom>
          <a:solidFill>
            <a:schemeClr val="accent2"/>
          </a:solidFill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3298" name="Google Shape;3298;p117"/>
          <p:cNvCxnSpPr>
            <a:stCxn id="3286" idx="3"/>
            <a:endCxn id="3287" idx="7"/>
          </p:cNvCxnSpPr>
          <p:nvPr/>
        </p:nvCxnSpPr>
        <p:spPr>
          <a:xfrm flipH="1">
            <a:off x="1411767" y="4625022"/>
            <a:ext cx="228300" cy="196200"/>
          </a:xfrm>
          <a:prstGeom prst="straightConnector1">
            <a:avLst/>
          </a:prstGeom>
          <a:solidFill>
            <a:schemeClr val="accent2"/>
          </a:solidFill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3299" name="Google Shape;3299;p117"/>
          <p:cNvCxnSpPr>
            <a:stCxn id="3286" idx="5"/>
            <a:endCxn id="3290" idx="1"/>
          </p:cNvCxnSpPr>
          <p:nvPr/>
        </p:nvCxnSpPr>
        <p:spPr>
          <a:xfrm>
            <a:off x="2033319" y="4625022"/>
            <a:ext cx="569700" cy="286200"/>
          </a:xfrm>
          <a:prstGeom prst="straightConnector1">
            <a:avLst/>
          </a:prstGeom>
          <a:solidFill>
            <a:schemeClr val="accent2"/>
          </a:solidFill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3300" name="Google Shape;3300;p117"/>
          <p:cNvCxnSpPr>
            <a:stCxn id="3287" idx="3"/>
            <a:endCxn id="3288" idx="7"/>
          </p:cNvCxnSpPr>
          <p:nvPr/>
        </p:nvCxnSpPr>
        <p:spPr>
          <a:xfrm flipH="1">
            <a:off x="858691" y="5181238"/>
            <a:ext cx="159900" cy="363300"/>
          </a:xfrm>
          <a:prstGeom prst="straightConnector1">
            <a:avLst/>
          </a:prstGeom>
          <a:solidFill>
            <a:schemeClr val="accent2"/>
          </a:solidFill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3301" name="Google Shape;3301;p117"/>
          <p:cNvCxnSpPr>
            <a:stCxn id="3287" idx="5"/>
            <a:endCxn id="3289" idx="0"/>
          </p:cNvCxnSpPr>
          <p:nvPr/>
        </p:nvCxnSpPr>
        <p:spPr>
          <a:xfrm>
            <a:off x="1411843" y="5181238"/>
            <a:ext cx="107100" cy="329700"/>
          </a:xfrm>
          <a:prstGeom prst="straightConnector1">
            <a:avLst/>
          </a:prstGeom>
          <a:solidFill>
            <a:schemeClr val="accent2"/>
          </a:solidFill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3302" name="Google Shape;3302;p117"/>
          <p:cNvSpPr/>
          <p:nvPr/>
        </p:nvSpPr>
        <p:spPr>
          <a:xfrm>
            <a:off x="4525401" y="5922134"/>
            <a:ext cx="556142" cy="509345"/>
          </a:xfrm>
          <a:prstGeom prst="ellipse">
            <a:avLst/>
          </a:prstGeom>
          <a:solidFill>
            <a:schemeClr val="accent2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16</a:t>
            </a:r>
            <a:endParaRPr/>
          </a:p>
        </p:txBody>
      </p:sp>
      <p:sp>
        <p:nvSpPr>
          <p:cNvPr id="3297" name="Google Shape;3297;p117"/>
          <p:cNvSpPr/>
          <p:nvPr/>
        </p:nvSpPr>
        <p:spPr>
          <a:xfrm>
            <a:off x="4481014" y="4753511"/>
            <a:ext cx="556142" cy="509345"/>
          </a:xfrm>
          <a:prstGeom prst="ellipse">
            <a:avLst/>
          </a:prstGeom>
          <a:solidFill>
            <a:schemeClr val="accent2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endParaRPr/>
          </a:p>
        </p:txBody>
      </p:sp>
      <p:sp>
        <p:nvSpPr>
          <p:cNvPr id="3295" name="Google Shape;3295;p117"/>
          <p:cNvSpPr/>
          <p:nvPr/>
        </p:nvSpPr>
        <p:spPr>
          <a:xfrm>
            <a:off x="5933861" y="4839508"/>
            <a:ext cx="556142" cy="509345"/>
          </a:xfrm>
          <a:prstGeom prst="ellipse">
            <a:avLst/>
          </a:prstGeom>
          <a:solidFill>
            <a:schemeClr val="accent2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/>
          </a:p>
        </p:txBody>
      </p:sp>
      <p:sp>
        <p:nvSpPr>
          <p:cNvPr id="3303" name="Google Shape;3303;p117"/>
          <p:cNvSpPr/>
          <p:nvPr/>
        </p:nvSpPr>
        <p:spPr>
          <a:xfrm>
            <a:off x="6884435" y="1093648"/>
            <a:ext cx="4497258" cy="8309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Initially the array must 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be a max heap (run a max heapify)</a:t>
            </a:r>
            <a:endParaRPr/>
          </a:p>
        </p:txBody>
      </p:sp>
      <p:graphicFrame>
        <p:nvGraphicFramePr>
          <p:cNvPr id="3304" name="Google Shape;3304;p117"/>
          <p:cNvGraphicFramePr/>
          <p:nvPr/>
        </p:nvGraphicFramePr>
        <p:xfrm>
          <a:off x="6851939" y="2264136"/>
          <a:ext cx="4562250" cy="731540"/>
        </p:xfrm>
        <a:graphic>
          <a:graphicData uri="http://schemas.openxmlformats.org/drawingml/2006/table">
            <a:tbl>
              <a:tblPr firstRow="1" bandRow="1">
                <a:noFill/>
                <a:tableStyleId>{66088737-8E24-4614-AAA7-3D08145F63E1}</a:tableStyleId>
              </a:tblPr>
              <a:tblGrid>
                <a:gridCol w="4562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62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562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008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115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562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5622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5622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45622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45622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2914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1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2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3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4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5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6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7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8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9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10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14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u="none" strike="noStrike" cap="none">
                          <a:solidFill>
                            <a:schemeClr val="dk1"/>
                          </a:solidFill>
                        </a:rPr>
                        <a:t>16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u="none" strike="noStrike" cap="none">
                          <a:solidFill>
                            <a:schemeClr val="dk1"/>
                          </a:solidFill>
                        </a:rPr>
                        <a:t>14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u="none" strike="noStrike" cap="none">
                          <a:solidFill>
                            <a:schemeClr val="dk1"/>
                          </a:solidFill>
                        </a:rPr>
                        <a:t>10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u="none" strike="noStrike" cap="none">
                          <a:solidFill>
                            <a:schemeClr val="dk1"/>
                          </a:solidFill>
                        </a:rPr>
                        <a:t>8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u="none" strike="noStrike" cap="none">
                          <a:solidFill>
                            <a:schemeClr val="dk1"/>
                          </a:solidFill>
                        </a:rPr>
                        <a:t>7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u="none" strike="noStrike" cap="none">
                          <a:solidFill>
                            <a:schemeClr val="dk1"/>
                          </a:solidFill>
                        </a:rPr>
                        <a:t>9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u="none" strike="noStrike" cap="none">
                          <a:solidFill>
                            <a:schemeClr val="dk1"/>
                          </a:solidFill>
                        </a:rPr>
                        <a:t>3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u="none" strike="noStrike" cap="none">
                          <a:solidFill>
                            <a:schemeClr val="dk1"/>
                          </a:solidFill>
                        </a:rPr>
                        <a:t>2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u="none" strike="noStrike" cap="none">
                          <a:solidFill>
                            <a:schemeClr val="dk1"/>
                          </a:solidFill>
                        </a:rPr>
                        <a:t>4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u="none" strike="noStrike" cap="none">
                          <a:solidFill>
                            <a:schemeClr val="dk1"/>
                          </a:solidFill>
                        </a:rPr>
                        <a:t>1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3305" name="Google Shape;3305;p117"/>
          <p:cNvSpPr txBox="1"/>
          <p:nvPr/>
        </p:nvSpPr>
        <p:spPr>
          <a:xfrm>
            <a:off x="7343481" y="3756305"/>
            <a:ext cx="3798540" cy="923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1.Swap the last element with the root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2.Remove the largest element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3.Run a max heapify</a:t>
            </a:r>
            <a:endParaRPr sz="180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06" name="Google Shape;3306;p117"/>
          <p:cNvSpPr/>
          <p:nvPr/>
        </p:nvSpPr>
        <p:spPr>
          <a:xfrm rot="-5400000">
            <a:off x="10536352" y="3166312"/>
            <a:ext cx="386570" cy="222383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07" name="Google Shape;3307;p117"/>
          <p:cNvSpPr txBox="1"/>
          <p:nvPr/>
        </p:nvSpPr>
        <p:spPr>
          <a:xfrm>
            <a:off x="10195423" y="3440393"/>
            <a:ext cx="1089978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Heap Size</a:t>
            </a:r>
            <a:endParaRPr/>
          </a:p>
        </p:txBody>
      </p:sp>
      <p:graphicFrame>
        <p:nvGraphicFramePr>
          <p:cNvPr id="3308" name="Google Shape;3308;p117"/>
          <p:cNvGraphicFramePr/>
          <p:nvPr/>
        </p:nvGraphicFramePr>
        <p:xfrm>
          <a:off x="6851939" y="2275266"/>
          <a:ext cx="4562250" cy="731540"/>
        </p:xfrm>
        <a:graphic>
          <a:graphicData uri="http://schemas.openxmlformats.org/drawingml/2006/table">
            <a:tbl>
              <a:tblPr firstRow="1" bandRow="1">
                <a:noFill/>
                <a:tableStyleId>{66088737-8E24-4614-AAA7-3D08145F63E1}</a:tableStyleId>
              </a:tblPr>
              <a:tblGrid>
                <a:gridCol w="4562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62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562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008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115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562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5622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5622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45622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45622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2914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1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2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3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4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5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6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7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8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9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10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14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u="none" strike="noStrike" cap="none">
                          <a:solidFill>
                            <a:schemeClr val="dk1"/>
                          </a:solidFill>
                        </a:rPr>
                        <a:t>1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u="none" strike="noStrike" cap="none">
                          <a:solidFill>
                            <a:schemeClr val="dk1"/>
                          </a:solidFill>
                        </a:rPr>
                        <a:t>14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u="none" strike="noStrike" cap="none">
                          <a:solidFill>
                            <a:schemeClr val="dk1"/>
                          </a:solidFill>
                        </a:rPr>
                        <a:t>10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u="none" strike="noStrike" cap="none">
                          <a:solidFill>
                            <a:schemeClr val="dk1"/>
                          </a:solidFill>
                        </a:rPr>
                        <a:t>8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u="none" strike="noStrike" cap="none">
                          <a:solidFill>
                            <a:schemeClr val="dk1"/>
                          </a:solidFill>
                        </a:rPr>
                        <a:t>7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u="none" strike="noStrike" cap="none">
                          <a:solidFill>
                            <a:schemeClr val="dk1"/>
                          </a:solidFill>
                        </a:rPr>
                        <a:t>9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u="none" strike="noStrike" cap="none">
                          <a:solidFill>
                            <a:schemeClr val="dk1"/>
                          </a:solidFill>
                        </a:rPr>
                        <a:t>3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u="none" strike="noStrike" cap="none">
                          <a:solidFill>
                            <a:schemeClr val="dk1"/>
                          </a:solidFill>
                        </a:rPr>
                        <a:t>2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u="none" strike="noStrike" cap="none">
                          <a:solidFill>
                            <a:schemeClr val="dk1"/>
                          </a:solidFill>
                        </a:rPr>
                        <a:t>4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u="none" strike="noStrike" cap="none">
                          <a:solidFill>
                            <a:schemeClr val="dk1"/>
                          </a:solidFill>
                        </a:rPr>
                        <a:t>16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3" name="Google Shape;3313;p118"/>
          <p:cNvSpPr txBox="1">
            <a:spLocks noGrp="1"/>
          </p:cNvSpPr>
          <p:nvPr>
            <p:ph type="body" idx="1"/>
          </p:nvPr>
        </p:nvSpPr>
        <p:spPr>
          <a:xfrm>
            <a:off x="838200" y="1227909"/>
            <a:ext cx="10515600" cy="49490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1500"/>
              <a:buFont typeface="Arial"/>
              <a:buChar char="●"/>
            </a:pPr>
            <a:r>
              <a:rPr lang="en-US" sz="2000" b="1"/>
              <a:t>Priority Queue functions</a:t>
            </a:r>
            <a:endParaRPr/>
          </a:p>
          <a:p>
            <a:pPr marL="742950" lvl="1" indent="-28575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040"/>
              <a:buChar char="●"/>
            </a:pPr>
            <a:r>
              <a:rPr lang="en-US" sz="1600"/>
              <a:t>HEAP-MAXIMUM </a:t>
            </a:r>
            <a:endParaRPr/>
          </a:p>
          <a:p>
            <a:pPr marL="742950" lvl="1" indent="-28575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040"/>
              <a:buChar char="●"/>
            </a:pPr>
            <a:r>
              <a:rPr lang="en-US" sz="1600"/>
              <a:t>MAX-HEAP-INSERT</a:t>
            </a:r>
            <a:endParaRPr/>
          </a:p>
          <a:p>
            <a:pPr marL="742950" lvl="1" indent="-28575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040"/>
              <a:buChar char="●"/>
            </a:pPr>
            <a:r>
              <a:rPr lang="en-US" sz="1600" b="1"/>
              <a:t>HEAP-EXTRACT-MAX – </a:t>
            </a:r>
            <a:r>
              <a:rPr lang="en-US" sz="1600">
                <a:solidFill>
                  <a:srgbClr val="FF0000"/>
                </a:solidFill>
              </a:rPr>
              <a:t>extract the eldest citizen</a:t>
            </a:r>
            <a:endParaRPr sz="1600" b="1">
              <a:solidFill>
                <a:srgbClr val="FF0000"/>
              </a:solidFill>
            </a:endParaRPr>
          </a:p>
          <a:p>
            <a:pPr marL="742950" lvl="1" indent="-28575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040"/>
              <a:buChar char="●"/>
            </a:pPr>
            <a:r>
              <a:rPr lang="en-US" sz="1600"/>
              <a:t>HEAP-INCREASE-KEY</a:t>
            </a:r>
            <a:endParaRPr/>
          </a:p>
        </p:txBody>
      </p:sp>
      <p:sp>
        <p:nvSpPr>
          <p:cNvPr id="3314" name="Google Shape;3314;p118"/>
          <p:cNvSpPr txBox="1">
            <a:spLocks noGrp="1"/>
          </p:cNvSpPr>
          <p:nvPr>
            <p:ph type="dt" idx="10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CD2CE239-F09A-4A54-8C6D-676DC7ACC9D9}" type="datetime1">
              <a:rPr lang="en-US" smtClean="0"/>
              <a:t>1/12/2026</a:t>
            </a:fld>
            <a:endParaRPr/>
          </a:p>
        </p:txBody>
      </p:sp>
      <p:sp>
        <p:nvSpPr>
          <p:cNvPr id="3315" name="Google Shape;3315;p118"/>
          <p:cNvSpPr txBox="1">
            <a:spLocks noGrp="1"/>
          </p:cNvSpPr>
          <p:nvPr>
            <p:ph type="ftr" idx="11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Lec Asif Abrar, Dept of CSE, UIU</a:t>
            </a:r>
            <a:endParaRPr/>
          </a:p>
        </p:txBody>
      </p:sp>
      <p:sp>
        <p:nvSpPr>
          <p:cNvPr id="3316" name="Google Shape;3316;p118"/>
          <p:cNvSpPr txBox="1">
            <a:spLocks noGrp="1"/>
          </p:cNvSpPr>
          <p:nvPr>
            <p:ph type="sldNum" idx="12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85</a:t>
            </a:fld>
            <a:endParaRPr/>
          </a:p>
        </p:txBody>
      </p:sp>
      <p:sp>
        <p:nvSpPr>
          <p:cNvPr id="3317" name="Google Shape;3317;p118"/>
          <p:cNvSpPr txBox="1">
            <a:spLocks noGrp="1"/>
          </p:cNvSpPr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/>
              <a:t>Max heap as a priority queue</a:t>
            </a:r>
            <a:endParaRPr/>
          </a:p>
        </p:txBody>
      </p:sp>
      <p:sp>
        <p:nvSpPr>
          <p:cNvPr id="3318" name="Google Shape;3318;p118"/>
          <p:cNvSpPr/>
          <p:nvPr/>
        </p:nvSpPr>
        <p:spPr>
          <a:xfrm>
            <a:off x="3581400" y="3429000"/>
            <a:ext cx="556142" cy="509345"/>
          </a:xfrm>
          <a:prstGeom prst="ellipse">
            <a:avLst/>
          </a:prstGeom>
          <a:solidFill>
            <a:schemeClr val="accent2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3319" name="Google Shape;3319;p118"/>
          <p:cNvSpPr/>
          <p:nvPr/>
        </p:nvSpPr>
        <p:spPr>
          <a:xfrm>
            <a:off x="1558622" y="4190269"/>
            <a:ext cx="556142" cy="509345"/>
          </a:xfrm>
          <a:prstGeom prst="ellipse">
            <a:avLst/>
          </a:prstGeom>
          <a:solidFill>
            <a:schemeClr val="accent2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14</a:t>
            </a:r>
            <a:endParaRPr/>
          </a:p>
        </p:txBody>
      </p:sp>
      <p:sp>
        <p:nvSpPr>
          <p:cNvPr id="3320" name="Google Shape;3320;p118"/>
          <p:cNvSpPr/>
          <p:nvPr/>
        </p:nvSpPr>
        <p:spPr>
          <a:xfrm>
            <a:off x="937146" y="4746485"/>
            <a:ext cx="556142" cy="509345"/>
          </a:xfrm>
          <a:prstGeom prst="ellipse">
            <a:avLst/>
          </a:prstGeom>
          <a:solidFill>
            <a:schemeClr val="accent2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/>
          </a:p>
        </p:txBody>
      </p:sp>
      <p:sp>
        <p:nvSpPr>
          <p:cNvPr id="3321" name="Google Shape;3321;p118"/>
          <p:cNvSpPr/>
          <p:nvPr/>
        </p:nvSpPr>
        <p:spPr>
          <a:xfrm>
            <a:off x="384101" y="5469919"/>
            <a:ext cx="556142" cy="509345"/>
          </a:xfrm>
          <a:prstGeom prst="ellipse">
            <a:avLst/>
          </a:prstGeom>
          <a:solidFill>
            <a:schemeClr val="accent2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  <p:sp>
        <p:nvSpPr>
          <p:cNvPr id="3322" name="Google Shape;3322;p118"/>
          <p:cNvSpPr/>
          <p:nvPr/>
        </p:nvSpPr>
        <p:spPr>
          <a:xfrm>
            <a:off x="1240923" y="5510810"/>
            <a:ext cx="556142" cy="509345"/>
          </a:xfrm>
          <a:prstGeom prst="ellipse">
            <a:avLst/>
          </a:prstGeom>
          <a:solidFill>
            <a:schemeClr val="accent2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/>
          </a:p>
        </p:txBody>
      </p:sp>
      <p:sp>
        <p:nvSpPr>
          <p:cNvPr id="3323" name="Google Shape;3323;p118"/>
          <p:cNvSpPr/>
          <p:nvPr/>
        </p:nvSpPr>
        <p:spPr>
          <a:xfrm>
            <a:off x="2521675" y="4836679"/>
            <a:ext cx="556142" cy="509345"/>
          </a:xfrm>
          <a:prstGeom prst="ellipse">
            <a:avLst/>
          </a:prstGeom>
          <a:solidFill>
            <a:schemeClr val="accent2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/>
          </a:p>
        </p:txBody>
      </p:sp>
      <p:sp>
        <p:nvSpPr>
          <p:cNvPr id="3324" name="Google Shape;3324;p118"/>
          <p:cNvSpPr/>
          <p:nvPr/>
        </p:nvSpPr>
        <p:spPr>
          <a:xfrm>
            <a:off x="5009277" y="4118269"/>
            <a:ext cx="556142" cy="509345"/>
          </a:xfrm>
          <a:prstGeom prst="ellipse">
            <a:avLst/>
          </a:prstGeom>
          <a:solidFill>
            <a:schemeClr val="accent2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/>
          </a:p>
        </p:txBody>
      </p:sp>
      <p:cxnSp>
        <p:nvCxnSpPr>
          <p:cNvPr id="3325" name="Google Shape;3325;p118"/>
          <p:cNvCxnSpPr>
            <a:stCxn id="3318" idx="3"/>
            <a:endCxn id="3319" idx="7"/>
          </p:cNvCxnSpPr>
          <p:nvPr/>
        </p:nvCxnSpPr>
        <p:spPr>
          <a:xfrm flipH="1">
            <a:off x="2033245" y="3863753"/>
            <a:ext cx="1629600" cy="401100"/>
          </a:xfrm>
          <a:prstGeom prst="straightConnector1">
            <a:avLst/>
          </a:prstGeom>
          <a:solidFill>
            <a:schemeClr val="accent2"/>
          </a:solidFill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3326" name="Google Shape;3326;p118"/>
          <p:cNvCxnSpPr>
            <a:stCxn id="3324" idx="1"/>
            <a:endCxn id="3318" idx="5"/>
          </p:cNvCxnSpPr>
          <p:nvPr/>
        </p:nvCxnSpPr>
        <p:spPr>
          <a:xfrm rot="10800000">
            <a:off x="4056022" y="3863761"/>
            <a:ext cx="1034700" cy="329100"/>
          </a:xfrm>
          <a:prstGeom prst="straightConnector1">
            <a:avLst/>
          </a:prstGeom>
          <a:solidFill>
            <a:schemeClr val="accent2"/>
          </a:solidFill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3327" name="Google Shape;3327;p118"/>
          <p:cNvCxnSpPr>
            <a:stCxn id="3328" idx="0"/>
            <a:endCxn id="3324" idx="5"/>
          </p:cNvCxnSpPr>
          <p:nvPr/>
        </p:nvCxnSpPr>
        <p:spPr>
          <a:xfrm rot="10800000">
            <a:off x="5483832" y="4553008"/>
            <a:ext cx="728100" cy="286500"/>
          </a:xfrm>
          <a:prstGeom prst="straightConnector1">
            <a:avLst/>
          </a:prstGeom>
          <a:solidFill>
            <a:schemeClr val="accent2"/>
          </a:solidFill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3329" name="Google Shape;3329;p118"/>
          <p:cNvCxnSpPr>
            <a:stCxn id="3330" idx="0"/>
            <a:endCxn id="3324" idx="3"/>
          </p:cNvCxnSpPr>
          <p:nvPr/>
        </p:nvCxnSpPr>
        <p:spPr>
          <a:xfrm rot="10800000" flipH="1">
            <a:off x="4759085" y="4553111"/>
            <a:ext cx="331500" cy="200400"/>
          </a:xfrm>
          <a:prstGeom prst="straightConnector1">
            <a:avLst/>
          </a:prstGeom>
          <a:solidFill>
            <a:schemeClr val="accent2"/>
          </a:solidFill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3331" name="Google Shape;3331;p118"/>
          <p:cNvCxnSpPr>
            <a:stCxn id="3319" idx="3"/>
            <a:endCxn id="3320" idx="7"/>
          </p:cNvCxnSpPr>
          <p:nvPr/>
        </p:nvCxnSpPr>
        <p:spPr>
          <a:xfrm flipH="1">
            <a:off x="1411767" y="4625022"/>
            <a:ext cx="228300" cy="196200"/>
          </a:xfrm>
          <a:prstGeom prst="straightConnector1">
            <a:avLst/>
          </a:prstGeom>
          <a:solidFill>
            <a:schemeClr val="accent2"/>
          </a:solidFill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3332" name="Google Shape;3332;p118"/>
          <p:cNvCxnSpPr>
            <a:stCxn id="3319" idx="5"/>
            <a:endCxn id="3323" idx="1"/>
          </p:cNvCxnSpPr>
          <p:nvPr/>
        </p:nvCxnSpPr>
        <p:spPr>
          <a:xfrm>
            <a:off x="2033319" y="4625022"/>
            <a:ext cx="569700" cy="286200"/>
          </a:xfrm>
          <a:prstGeom prst="straightConnector1">
            <a:avLst/>
          </a:prstGeom>
          <a:solidFill>
            <a:schemeClr val="accent2"/>
          </a:solidFill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3333" name="Google Shape;3333;p118"/>
          <p:cNvCxnSpPr>
            <a:stCxn id="3320" idx="3"/>
            <a:endCxn id="3321" idx="7"/>
          </p:cNvCxnSpPr>
          <p:nvPr/>
        </p:nvCxnSpPr>
        <p:spPr>
          <a:xfrm flipH="1">
            <a:off x="858691" y="5181238"/>
            <a:ext cx="159900" cy="363300"/>
          </a:xfrm>
          <a:prstGeom prst="straightConnector1">
            <a:avLst/>
          </a:prstGeom>
          <a:solidFill>
            <a:schemeClr val="accent2"/>
          </a:solidFill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3334" name="Google Shape;3334;p118"/>
          <p:cNvCxnSpPr>
            <a:stCxn id="3320" idx="5"/>
            <a:endCxn id="3322" idx="0"/>
          </p:cNvCxnSpPr>
          <p:nvPr/>
        </p:nvCxnSpPr>
        <p:spPr>
          <a:xfrm>
            <a:off x="1411843" y="5181238"/>
            <a:ext cx="107100" cy="329700"/>
          </a:xfrm>
          <a:prstGeom prst="straightConnector1">
            <a:avLst/>
          </a:prstGeom>
          <a:solidFill>
            <a:schemeClr val="accent2"/>
          </a:solidFill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3335" name="Google Shape;3335;p118"/>
          <p:cNvSpPr/>
          <p:nvPr/>
        </p:nvSpPr>
        <p:spPr>
          <a:xfrm>
            <a:off x="4525401" y="5922134"/>
            <a:ext cx="556142" cy="509345"/>
          </a:xfrm>
          <a:prstGeom prst="ellipse">
            <a:avLst/>
          </a:prstGeom>
          <a:solidFill>
            <a:schemeClr val="accent2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16</a:t>
            </a:r>
            <a:endParaRPr/>
          </a:p>
        </p:txBody>
      </p:sp>
      <p:sp>
        <p:nvSpPr>
          <p:cNvPr id="3330" name="Google Shape;3330;p118"/>
          <p:cNvSpPr/>
          <p:nvPr/>
        </p:nvSpPr>
        <p:spPr>
          <a:xfrm>
            <a:off x="4481014" y="4753511"/>
            <a:ext cx="556142" cy="509345"/>
          </a:xfrm>
          <a:prstGeom prst="ellipse">
            <a:avLst/>
          </a:prstGeom>
          <a:solidFill>
            <a:schemeClr val="accent2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endParaRPr/>
          </a:p>
        </p:txBody>
      </p:sp>
      <p:sp>
        <p:nvSpPr>
          <p:cNvPr id="3328" name="Google Shape;3328;p118"/>
          <p:cNvSpPr/>
          <p:nvPr/>
        </p:nvSpPr>
        <p:spPr>
          <a:xfrm>
            <a:off x="5933861" y="4839508"/>
            <a:ext cx="556142" cy="509345"/>
          </a:xfrm>
          <a:prstGeom prst="ellipse">
            <a:avLst/>
          </a:prstGeom>
          <a:solidFill>
            <a:schemeClr val="accent2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/>
          </a:p>
        </p:txBody>
      </p:sp>
      <p:sp>
        <p:nvSpPr>
          <p:cNvPr id="3336" name="Google Shape;3336;p118"/>
          <p:cNvSpPr/>
          <p:nvPr/>
        </p:nvSpPr>
        <p:spPr>
          <a:xfrm>
            <a:off x="6884435" y="1093648"/>
            <a:ext cx="4497258" cy="8309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Initially the array must 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be a max heap (run a max heapify)</a:t>
            </a:r>
            <a:endParaRPr/>
          </a:p>
        </p:txBody>
      </p:sp>
      <p:graphicFrame>
        <p:nvGraphicFramePr>
          <p:cNvPr id="3337" name="Google Shape;3337;p118"/>
          <p:cNvGraphicFramePr/>
          <p:nvPr/>
        </p:nvGraphicFramePr>
        <p:xfrm>
          <a:off x="6851939" y="2264136"/>
          <a:ext cx="4562250" cy="731540"/>
        </p:xfrm>
        <a:graphic>
          <a:graphicData uri="http://schemas.openxmlformats.org/drawingml/2006/table">
            <a:tbl>
              <a:tblPr firstRow="1" bandRow="1">
                <a:noFill/>
                <a:tableStyleId>{66088737-8E24-4614-AAA7-3D08145F63E1}</a:tableStyleId>
              </a:tblPr>
              <a:tblGrid>
                <a:gridCol w="4562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62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562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008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115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562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5622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5622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45622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45622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2914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1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2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3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4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5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6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7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8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9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10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14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u="none" strike="noStrike" cap="none">
                          <a:solidFill>
                            <a:schemeClr val="dk1"/>
                          </a:solidFill>
                        </a:rPr>
                        <a:t>16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u="none" strike="noStrike" cap="none">
                          <a:solidFill>
                            <a:schemeClr val="dk1"/>
                          </a:solidFill>
                        </a:rPr>
                        <a:t>14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u="none" strike="noStrike" cap="none">
                          <a:solidFill>
                            <a:schemeClr val="dk1"/>
                          </a:solidFill>
                        </a:rPr>
                        <a:t>10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u="none" strike="noStrike" cap="none">
                          <a:solidFill>
                            <a:schemeClr val="dk1"/>
                          </a:solidFill>
                        </a:rPr>
                        <a:t>8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u="none" strike="noStrike" cap="none">
                          <a:solidFill>
                            <a:schemeClr val="dk1"/>
                          </a:solidFill>
                        </a:rPr>
                        <a:t>7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u="none" strike="noStrike" cap="none">
                          <a:solidFill>
                            <a:schemeClr val="dk1"/>
                          </a:solidFill>
                        </a:rPr>
                        <a:t>9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u="none" strike="noStrike" cap="none">
                          <a:solidFill>
                            <a:schemeClr val="dk1"/>
                          </a:solidFill>
                        </a:rPr>
                        <a:t>3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u="none" strike="noStrike" cap="none">
                          <a:solidFill>
                            <a:schemeClr val="dk1"/>
                          </a:solidFill>
                        </a:rPr>
                        <a:t>2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u="none" strike="noStrike" cap="none">
                          <a:solidFill>
                            <a:schemeClr val="dk1"/>
                          </a:solidFill>
                        </a:rPr>
                        <a:t>4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u="none" strike="noStrike" cap="none">
                          <a:solidFill>
                            <a:schemeClr val="dk1"/>
                          </a:solidFill>
                        </a:rPr>
                        <a:t>1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3338" name="Google Shape;3338;p118"/>
          <p:cNvSpPr txBox="1"/>
          <p:nvPr/>
        </p:nvSpPr>
        <p:spPr>
          <a:xfrm>
            <a:off x="7343481" y="3756305"/>
            <a:ext cx="3798540" cy="923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1.Swap the last element with the root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2.Remove the largest element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3.Run a max heapify</a:t>
            </a:r>
            <a:endParaRPr sz="180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339" name="Google Shape;3339;p118"/>
          <p:cNvCxnSpPr>
            <a:stCxn id="3319" idx="0"/>
            <a:endCxn id="3318" idx="1"/>
          </p:cNvCxnSpPr>
          <p:nvPr/>
        </p:nvCxnSpPr>
        <p:spPr>
          <a:xfrm rot="-5400000">
            <a:off x="2406393" y="2933869"/>
            <a:ext cx="686700" cy="1826100"/>
          </a:xfrm>
          <a:prstGeom prst="curvedConnector3">
            <a:avLst>
              <a:gd name="adj1" fmla="val 144149"/>
            </a:avLst>
          </a:prstGeom>
          <a:noFill/>
          <a:ln w="57150" cap="flat" cmpd="sng">
            <a:solidFill>
              <a:srgbClr val="FF0000"/>
            </a:solidFill>
            <a:prstDash val="solid"/>
            <a:miter lim="800000"/>
            <a:headEnd type="triangle" w="med" len="med"/>
            <a:tailEnd type="triangle" w="med" len="med"/>
          </a:ln>
        </p:spPr>
      </p:cxnSp>
      <p:sp>
        <p:nvSpPr>
          <p:cNvPr id="3340" name="Google Shape;3340;p118"/>
          <p:cNvSpPr/>
          <p:nvPr/>
        </p:nvSpPr>
        <p:spPr>
          <a:xfrm rot="-5400000">
            <a:off x="10536352" y="3166312"/>
            <a:ext cx="386570" cy="222383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41" name="Google Shape;3341;p118"/>
          <p:cNvSpPr txBox="1"/>
          <p:nvPr/>
        </p:nvSpPr>
        <p:spPr>
          <a:xfrm>
            <a:off x="10195423" y="3440393"/>
            <a:ext cx="1089978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Heap Size</a:t>
            </a:r>
            <a:endParaRPr/>
          </a:p>
        </p:txBody>
      </p:sp>
      <p:graphicFrame>
        <p:nvGraphicFramePr>
          <p:cNvPr id="3342" name="Google Shape;3342;p118"/>
          <p:cNvGraphicFramePr/>
          <p:nvPr/>
        </p:nvGraphicFramePr>
        <p:xfrm>
          <a:off x="6851939" y="2285568"/>
          <a:ext cx="4562250" cy="731540"/>
        </p:xfrm>
        <a:graphic>
          <a:graphicData uri="http://schemas.openxmlformats.org/drawingml/2006/table">
            <a:tbl>
              <a:tblPr firstRow="1" bandRow="1">
                <a:noFill/>
                <a:tableStyleId>{66088737-8E24-4614-AAA7-3D08145F63E1}</a:tableStyleId>
              </a:tblPr>
              <a:tblGrid>
                <a:gridCol w="4562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62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562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008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115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562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5622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5622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45622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45622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2914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1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2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3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4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5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6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7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8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9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10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14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u="none" strike="noStrike" cap="none">
                          <a:solidFill>
                            <a:schemeClr val="dk1"/>
                          </a:solidFill>
                        </a:rPr>
                        <a:t>1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u="none" strike="noStrike" cap="none">
                          <a:solidFill>
                            <a:schemeClr val="dk1"/>
                          </a:solidFill>
                        </a:rPr>
                        <a:t>14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u="none" strike="noStrike" cap="none">
                          <a:solidFill>
                            <a:schemeClr val="dk1"/>
                          </a:solidFill>
                        </a:rPr>
                        <a:t>10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u="none" strike="noStrike" cap="none">
                          <a:solidFill>
                            <a:schemeClr val="dk1"/>
                          </a:solidFill>
                        </a:rPr>
                        <a:t>8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u="none" strike="noStrike" cap="none">
                          <a:solidFill>
                            <a:schemeClr val="dk1"/>
                          </a:solidFill>
                        </a:rPr>
                        <a:t>7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u="none" strike="noStrike" cap="none">
                          <a:solidFill>
                            <a:schemeClr val="dk1"/>
                          </a:solidFill>
                        </a:rPr>
                        <a:t>9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u="none" strike="noStrike" cap="none">
                          <a:solidFill>
                            <a:schemeClr val="dk1"/>
                          </a:solidFill>
                        </a:rPr>
                        <a:t>3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u="none" strike="noStrike" cap="none">
                          <a:solidFill>
                            <a:schemeClr val="dk1"/>
                          </a:solidFill>
                        </a:rPr>
                        <a:t>2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u="none" strike="noStrike" cap="none">
                          <a:solidFill>
                            <a:schemeClr val="dk1"/>
                          </a:solidFill>
                        </a:rPr>
                        <a:t>4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u="none" strike="noStrike" cap="none">
                          <a:solidFill>
                            <a:schemeClr val="dk1"/>
                          </a:solidFill>
                        </a:rPr>
                        <a:t>16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7" name="Google Shape;3347;p119"/>
          <p:cNvSpPr txBox="1">
            <a:spLocks noGrp="1"/>
          </p:cNvSpPr>
          <p:nvPr>
            <p:ph type="body" idx="1"/>
          </p:nvPr>
        </p:nvSpPr>
        <p:spPr>
          <a:xfrm>
            <a:off x="838200" y="1227909"/>
            <a:ext cx="10515600" cy="49490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1500"/>
              <a:buFont typeface="Arial"/>
              <a:buChar char="●"/>
            </a:pPr>
            <a:r>
              <a:rPr lang="en-US" sz="2000" b="1"/>
              <a:t>Priority Queue functions</a:t>
            </a:r>
            <a:endParaRPr/>
          </a:p>
          <a:p>
            <a:pPr marL="742950" lvl="1" indent="-28575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040"/>
              <a:buChar char="●"/>
            </a:pPr>
            <a:r>
              <a:rPr lang="en-US" sz="1600"/>
              <a:t>HEAP-MAXIMUM </a:t>
            </a:r>
            <a:endParaRPr/>
          </a:p>
          <a:p>
            <a:pPr marL="742950" lvl="1" indent="-28575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040"/>
              <a:buChar char="●"/>
            </a:pPr>
            <a:r>
              <a:rPr lang="en-US" sz="1600"/>
              <a:t>MAX-HEAP-INSERT</a:t>
            </a:r>
            <a:endParaRPr/>
          </a:p>
          <a:p>
            <a:pPr marL="742950" lvl="1" indent="-28575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040"/>
              <a:buChar char="●"/>
            </a:pPr>
            <a:r>
              <a:rPr lang="en-US" sz="1600" b="1"/>
              <a:t>HEAP-EXTRACT-MAX – </a:t>
            </a:r>
            <a:r>
              <a:rPr lang="en-US" sz="1600">
                <a:solidFill>
                  <a:srgbClr val="FF0000"/>
                </a:solidFill>
              </a:rPr>
              <a:t>extract the eldest citizen</a:t>
            </a:r>
            <a:endParaRPr sz="1600" b="1">
              <a:solidFill>
                <a:srgbClr val="FF0000"/>
              </a:solidFill>
            </a:endParaRPr>
          </a:p>
          <a:p>
            <a:pPr marL="742950" lvl="1" indent="-28575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040"/>
              <a:buChar char="●"/>
            </a:pPr>
            <a:r>
              <a:rPr lang="en-US" sz="1600"/>
              <a:t>HEAP-INCREASE-KEY</a:t>
            </a:r>
            <a:endParaRPr/>
          </a:p>
        </p:txBody>
      </p:sp>
      <p:sp>
        <p:nvSpPr>
          <p:cNvPr id="3348" name="Google Shape;3348;p119"/>
          <p:cNvSpPr txBox="1">
            <a:spLocks noGrp="1"/>
          </p:cNvSpPr>
          <p:nvPr>
            <p:ph type="dt" idx="10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48489C7E-2C9A-4E5A-8BA7-90C25D8716BC}" type="datetime1">
              <a:rPr lang="en-US" smtClean="0"/>
              <a:t>1/12/2026</a:t>
            </a:fld>
            <a:endParaRPr/>
          </a:p>
        </p:txBody>
      </p:sp>
      <p:sp>
        <p:nvSpPr>
          <p:cNvPr id="3349" name="Google Shape;3349;p119"/>
          <p:cNvSpPr txBox="1">
            <a:spLocks noGrp="1"/>
          </p:cNvSpPr>
          <p:nvPr>
            <p:ph type="ftr" idx="11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Lec Asif Abrar, Dept of CSE, UIU</a:t>
            </a:r>
            <a:endParaRPr/>
          </a:p>
        </p:txBody>
      </p:sp>
      <p:sp>
        <p:nvSpPr>
          <p:cNvPr id="3350" name="Google Shape;3350;p119"/>
          <p:cNvSpPr txBox="1">
            <a:spLocks noGrp="1"/>
          </p:cNvSpPr>
          <p:nvPr>
            <p:ph type="sldNum" idx="12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86</a:t>
            </a:fld>
            <a:endParaRPr/>
          </a:p>
        </p:txBody>
      </p:sp>
      <p:sp>
        <p:nvSpPr>
          <p:cNvPr id="3351" name="Google Shape;3351;p119"/>
          <p:cNvSpPr txBox="1">
            <a:spLocks noGrp="1"/>
          </p:cNvSpPr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/>
              <a:t>Max heap as a priority queue</a:t>
            </a:r>
            <a:endParaRPr/>
          </a:p>
        </p:txBody>
      </p:sp>
      <p:sp>
        <p:nvSpPr>
          <p:cNvPr id="3352" name="Google Shape;3352;p119"/>
          <p:cNvSpPr/>
          <p:nvPr/>
        </p:nvSpPr>
        <p:spPr>
          <a:xfrm>
            <a:off x="3581400" y="3429000"/>
            <a:ext cx="556142" cy="509345"/>
          </a:xfrm>
          <a:prstGeom prst="ellipse">
            <a:avLst/>
          </a:prstGeom>
          <a:solidFill>
            <a:schemeClr val="accent2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14</a:t>
            </a:r>
            <a:endParaRPr/>
          </a:p>
        </p:txBody>
      </p:sp>
      <p:sp>
        <p:nvSpPr>
          <p:cNvPr id="3353" name="Google Shape;3353;p119"/>
          <p:cNvSpPr/>
          <p:nvPr/>
        </p:nvSpPr>
        <p:spPr>
          <a:xfrm>
            <a:off x="1558622" y="4190269"/>
            <a:ext cx="556142" cy="509345"/>
          </a:xfrm>
          <a:prstGeom prst="ellipse">
            <a:avLst/>
          </a:prstGeom>
          <a:solidFill>
            <a:schemeClr val="accent2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3354" name="Google Shape;3354;p119"/>
          <p:cNvSpPr/>
          <p:nvPr/>
        </p:nvSpPr>
        <p:spPr>
          <a:xfrm>
            <a:off x="937146" y="4746485"/>
            <a:ext cx="556142" cy="509345"/>
          </a:xfrm>
          <a:prstGeom prst="ellipse">
            <a:avLst/>
          </a:prstGeom>
          <a:solidFill>
            <a:schemeClr val="accent2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/>
          </a:p>
        </p:txBody>
      </p:sp>
      <p:sp>
        <p:nvSpPr>
          <p:cNvPr id="3355" name="Google Shape;3355;p119"/>
          <p:cNvSpPr/>
          <p:nvPr/>
        </p:nvSpPr>
        <p:spPr>
          <a:xfrm>
            <a:off x="384101" y="5469919"/>
            <a:ext cx="556142" cy="509345"/>
          </a:xfrm>
          <a:prstGeom prst="ellipse">
            <a:avLst/>
          </a:prstGeom>
          <a:solidFill>
            <a:schemeClr val="accent2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  <p:sp>
        <p:nvSpPr>
          <p:cNvPr id="3356" name="Google Shape;3356;p119"/>
          <p:cNvSpPr/>
          <p:nvPr/>
        </p:nvSpPr>
        <p:spPr>
          <a:xfrm>
            <a:off x="1240923" y="5510810"/>
            <a:ext cx="556142" cy="509345"/>
          </a:xfrm>
          <a:prstGeom prst="ellipse">
            <a:avLst/>
          </a:prstGeom>
          <a:solidFill>
            <a:schemeClr val="accent2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/>
          </a:p>
        </p:txBody>
      </p:sp>
      <p:sp>
        <p:nvSpPr>
          <p:cNvPr id="3357" name="Google Shape;3357;p119"/>
          <p:cNvSpPr/>
          <p:nvPr/>
        </p:nvSpPr>
        <p:spPr>
          <a:xfrm>
            <a:off x="2521675" y="4836679"/>
            <a:ext cx="556142" cy="509345"/>
          </a:xfrm>
          <a:prstGeom prst="ellipse">
            <a:avLst/>
          </a:prstGeom>
          <a:solidFill>
            <a:schemeClr val="accent2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/>
          </a:p>
        </p:txBody>
      </p:sp>
      <p:sp>
        <p:nvSpPr>
          <p:cNvPr id="3358" name="Google Shape;3358;p119"/>
          <p:cNvSpPr/>
          <p:nvPr/>
        </p:nvSpPr>
        <p:spPr>
          <a:xfrm>
            <a:off x="5009277" y="4118269"/>
            <a:ext cx="556142" cy="509345"/>
          </a:xfrm>
          <a:prstGeom prst="ellipse">
            <a:avLst/>
          </a:prstGeom>
          <a:solidFill>
            <a:schemeClr val="accent2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/>
          </a:p>
        </p:txBody>
      </p:sp>
      <p:cxnSp>
        <p:nvCxnSpPr>
          <p:cNvPr id="3359" name="Google Shape;3359;p119"/>
          <p:cNvCxnSpPr>
            <a:stCxn id="3352" idx="3"/>
            <a:endCxn id="3353" idx="7"/>
          </p:cNvCxnSpPr>
          <p:nvPr/>
        </p:nvCxnSpPr>
        <p:spPr>
          <a:xfrm flipH="1">
            <a:off x="2033245" y="3863753"/>
            <a:ext cx="1629600" cy="401100"/>
          </a:xfrm>
          <a:prstGeom prst="straightConnector1">
            <a:avLst/>
          </a:prstGeom>
          <a:solidFill>
            <a:schemeClr val="accent2"/>
          </a:solidFill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3360" name="Google Shape;3360;p119"/>
          <p:cNvCxnSpPr>
            <a:stCxn id="3358" idx="1"/>
            <a:endCxn id="3352" idx="5"/>
          </p:cNvCxnSpPr>
          <p:nvPr/>
        </p:nvCxnSpPr>
        <p:spPr>
          <a:xfrm rot="10800000">
            <a:off x="4056022" y="3863761"/>
            <a:ext cx="1034700" cy="329100"/>
          </a:xfrm>
          <a:prstGeom prst="straightConnector1">
            <a:avLst/>
          </a:prstGeom>
          <a:solidFill>
            <a:schemeClr val="accent2"/>
          </a:solidFill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3361" name="Google Shape;3361;p119"/>
          <p:cNvCxnSpPr>
            <a:stCxn id="3362" idx="0"/>
            <a:endCxn id="3358" idx="5"/>
          </p:cNvCxnSpPr>
          <p:nvPr/>
        </p:nvCxnSpPr>
        <p:spPr>
          <a:xfrm rot="10800000">
            <a:off x="5483832" y="4553008"/>
            <a:ext cx="728100" cy="286500"/>
          </a:xfrm>
          <a:prstGeom prst="straightConnector1">
            <a:avLst/>
          </a:prstGeom>
          <a:solidFill>
            <a:schemeClr val="accent2"/>
          </a:solidFill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3363" name="Google Shape;3363;p119"/>
          <p:cNvCxnSpPr>
            <a:stCxn id="3364" idx="0"/>
            <a:endCxn id="3358" idx="3"/>
          </p:cNvCxnSpPr>
          <p:nvPr/>
        </p:nvCxnSpPr>
        <p:spPr>
          <a:xfrm rot="10800000" flipH="1">
            <a:off x="4759085" y="4553111"/>
            <a:ext cx="331500" cy="200400"/>
          </a:xfrm>
          <a:prstGeom prst="straightConnector1">
            <a:avLst/>
          </a:prstGeom>
          <a:solidFill>
            <a:schemeClr val="accent2"/>
          </a:solidFill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3365" name="Google Shape;3365;p119"/>
          <p:cNvCxnSpPr>
            <a:stCxn id="3353" idx="3"/>
            <a:endCxn id="3354" idx="7"/>
          </p:cNvCxnSpPr>
          <p:nvPr/>
        </p:nvCxnSpPr>
        <p:spPr>
          <a:xfrm flipH="1">
            <a:off x="1411767" y="4625022"/>
            <a:ext cx="228300" cy="196200"/>
          </a:xfrm>
          <a:prstGeom prst="straightConnector1">
            <a:avLst/>
          </a:prstGeom>
          <a:solidFill>
            <a:schemeClr val="accent2"/>
          </a:solidFill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3366" name="Google Shape;3366;p119"/>
          <p:cNvCxnSpPr>
            <a:stCxn id="3353" idx="5"/>
            <a:endCxn id="3357" idx="1"/>
          </p:cNvCxnSpPr>
          <p:nvPr/>
        </p:nvCxnSpPr>
        <p:spPr>
          <a:xfrm>
            <a:off x="2033319" y="4625022"/>
            <a:ext cx="569700" cy="286200"/>
          </a:xfrm>
          <a:prstGeom prst="straightConnector1">
            <a:avLst/>
          </a:prstGeom>
          <a:solidFill>
            <a:schemeClr val="accent2"/>
          </a:solidFill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3367" name="Google Shape;3367;p119"/>
          <p:cNvCxnSpPr>
            <a:stCxn id="3354" idx="3"/>
            <a:endCxn id="3355" idx="7"/>
          </p:cNvCxnSpPr>
          <p:nvPr/>
        </p:nvCxnSpPr>
        <p:spPr>
          <a:xfrm flipH="1">
            <a:off x="858691" y="5181238"/>
            <a:ext cx="159900" cy="363300"/>
          </a:xfrm>
          <a:prstGeom prst="straightConnector1">
            <a:avLst/>
          </a:prstGeom>
          <a:solidFill>
            <a:schemeClr val="accent2"/>
          </a:solidFill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3368" name="Google Shape;3368;p119"/>
          <p:cNvCxnSpPr>
            <a:stCxn id="3354" idx="5"/>
            <a:endCxn id="3356" idx="0"/>
          </p:cNvCxnSpPr>
          <p:nvPr/>
        </p:nvCxnSpPr>
        <p:spPr>
          <a:xfrm>
            <a:off x="1411843" y="5181238"/>
            <a:ext cx="107100" cy="329700"/>
          </a:xfrm>
          <a:prstGeom prst="straightConnector1">
            <a:avLst/>
          </a:prstGeom>
          <a:solidFill>
            <a:schemeClr val="accent2"/>
          </a:solidFill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3369" name="Google Shape;3369;p119"/>
          <p:cNvSpPr/>
          <p:nvPr/>
        </p:nvSpPr>
        <p:spPr>
          <a:xfrm>
            <a:off x="4525401" y="5922134"/>
            <a:ext cx="556142" cy="509345"/>
          </a:xfrm>
          <a:prstGeom prst="ellipse">
            <a:avLst/>
          </a:prstGeom>
          <a:solidFill>
            <a:schemeClr val="accent2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16</a:t>
            </a:r>
            <a:endParaRPr/>
          </a:p>
        </p:txBody>
      </p:sp>
      <p:sp>
        <p:nvSpPr>
          <p:cNvPr id="3364" name="Google Shape;3364;p119"/>
          <p:cNvSpPr/>
          <p:nvPr/>
        </p:nvSpPr>
        <p:spPr>
          <a:xfrm>
            <a:off x="4481014" y="4753511"/>
            <a:ext cx="556142" cy="509345"/>
          </a:xfrm>
          <a:prstGeom prst="ellipse">
            <a:avLst/>
          </a:prstGeom>
          <a:solidFill>
            <a:schemeClr val="accent2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endParaRPr/>
          </a:p>
        </p:txBody>
      </p:sp>
      <p:sp>
        <p:nvSpPr>
          <p:cNvPr id="3362" name="Google Shape;3362;p119"/>
          <p:cNvSpPr/>
          <p:nvPr/>
        </p:nvSpPr>
        <p:spPr>
          <a:xfrm>
            <a:off x="5933861" y="4839508"/>
            <a:ext cx="556142" cy="509345"/>
          </a:xfrm>
          <a:prstGeom prst="ellipse">
            <a:avLst/>
          </a:prstGeom>
          <a:solidFill>
            <a:schemeClr val="accent2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/>
          </a:p>
        </p:txBody>
      </p:sp>
      <p:sp>
        <p:nvSpPr>
          <p:cNvPr id="3370" name="Google Shape;3370;p119"/>
          <p:cNvSpPr/>
          <p:nvPr/>
        </p:nvSpPr>
        <p:spPr>
          <a:xfrm>
            <a:off x="6884435" y="1093648"/>
            <a:ext cx="4497258" cy="8309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Initially the array must 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be a max heap (run a max heapify)</a:t>
            </a:r>
            <a:endParaRPr/>
          </a:p>
        </p:txBody>
      </p:sp>
      <p:graphicFrame>
        <p:nvGraphicFramePr>
          <p:cNvPr id="3371" name="Google Shape;3371;p119"/>
          <p:cNvGraphicFramePr/>
          <p:nvPr/>
        </p:nvGraphicFramePr>
        <p:xfrm>
          <a:off x="6851939" y="2264136"/>
          <a:ext cx="4562250" cy="731540"/>
        </p:xfrm>
        <a:graphic>
          <a:graphicData uri="http://schemas.openxmlformats.org/drawingml/2006/table">
            <a:tbl>
              <a:tblPr firstRow="1" bandRow="1">
                <a:noFill/>
                <a:tableStyleId>{66088737-8E24-4614-AAA7-3D08145F63E1}</a:tableStyleId>
              </a:tblPr>
              <a:tblGrid>
                <a:gridCol w="4562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62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562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008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115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562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5622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5622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45622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45622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2914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1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2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3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4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5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6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7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8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9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10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14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u="none" strike="noStrike" cap="none">
                          <a:solidFill>
                            <a:schemeClr val="dk1"/>
                          </a:solidFill>
                        </a:rPr>
                        <a:t>16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u="none" strike="noStrike" cap="none">
                          <a:solidFill>
                            <a:schemeClr val="dk1"/>
                          </a:solidFill>
                        </a:rPr>
                        <a:t>14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u="none" strike="noStrike" cap="none">
                          <a:solidFill>
                            <a:schemeClr val="dk1"/>
                          </a:solidFill>
                        </a:rPr>
                        <a:t>10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u="none" strike="noStrike" cap="none">
                          <a:solidFill>
                            <a:schemeClr val="dk1"/>
                          </a:solidFill>
                        </a:rPr>
                        <a:t>8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u="none" strike="noStrike" cap="none">
                          <a:solidFill>
                            <a:schemeClr val="dk1"/>
                          </a:solidFill>
                        </a:rPr>
                        <a:t>7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u="none" strike="noStrike" cap="none">
                          <a:solidFill>
                            <a:schemeClr val="dk1"/>
                          </a:solidFill>
                        </a:rPr>
                        <a:t>9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u="none" strike="noStrike" cap="none">
                          <a:solidFill>
                            <a:schemeClr val="dk1"/>
                          </a:solidFill>
                        </a:rPr>
                        <a:t>3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u="none" strike="noStrike" cap="none">
                          <a:solidFill>
                            <a:schemeClr val="dk1"/>
                          </a:solidFill>
                        </a:rPr>
                        <a:t>2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u="none" strike="noStrike" cap="none">
                          <a:solidFill>
                            <a:schemeClr val="dk1"/>
                          </a:solidFill>
                        </a:rPr>
                        <a:t>4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u="none" strike="noStrike" cap="none">
                          <a:solidFill>
                            <a:schemeClr val="dk1"/>
                          </a:solidFill>
                        </a:rPr>
                        <a:t>1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3372" name="Google Shape;3372;p119"/>
          <p:cNvSpPr txBox="1"/>
          <p:nvPr/>
        </p:nvSpPr>
        <p:spPr>
          <a:xfrm>
            <a:off x="7343481" y="3756305"/>
            <a:ext cx="3798540" cy="923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1.Swap the last element with the root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2.Remove the largest element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3.Run a max heapify</a:t>
            </a:r>
            <a:endParaRPr sz="180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373" name="Google Shape;3373;p119"/>
          <p:cNvCxnSpPr>
            <a:stCxn id="3353" idx="0"/>
            <a:endCxn id="3352" idx="1"/>
          </p:cNvCxnSpPr>
          <p:nvPr/>
        </p:nvCxnSpPr>
        <p:spPr>
          <a:xfrm rot="-5400000">
            <a:off x="2406393" y="2933869"/>
            <a:ext cx="686700" cy="1826100"/>
          </a:xfrm>
          <a:prstGeom prst="curvedConnector3">
            <a:avLst>
              <a:gd name="adj1" fmla="val 144149"/>
            </a:avLst>
          </a:prstGeom>
          <a:noFill/>
          <a:ln w="57150" cap="flat" cmpd="sng">
            <a:solidFill>
              <a:srgbClr val="FF0000"/>
            </a:solidFill>
            <a:prstDash val="solid"/>
            <a:miter lim="800000"/>
            <a:headEnd type="triangle" w="med" len="med"/>
            <a:tailEnd type="triangle" w="med" len="med"/>
          </a:ln>
        </p:spPr>
      </p:cxnSp>
      <p:sp>
        <p:nvSpPr>
          <p:cNvPr id="3374" name="Google Shape;3374;p119"/>
          <p:cNvSpPr/>
          <p:nvPr/>
        </p:nvSpPr>
        <p:spPr>
          <a:xfrm rot="-5400000">
            <a:off x="10536352" y="3166312"/>
            <a:ext cx="386570" cy="222383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75" name="Google Shape;3375;p119"/>
          <p:cNvSpPr txBox="1"/>
          <p:nvPr/>
        </p:nvSpPr>
        <p:spPr>
          <a:xfrm>
            <a:off x="10195423" y="3440393"/>
            <a:ext cx="1089978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Heap Size</a:t>
            </a:r>
            <a:endParaRPr/>
          </a:p>
        </p:txBody>
      </p:sp>
      <p:graphicFrame>
        <p:nvGraphicFramePr>
          <p:cNvPr id="3376" name="Google Shape;3376;p119"/>
          <p:cNvGraphicFramePr/>
          <p:nvPr/>
        </p:nvGraphicFramePr>
        <p:xfrm>
          <a:off x="6851939" y="2275983"/>
          <a:ext cx="4562250" cy="731540"/>
        </p:xfrm>
        <a:graphic>
          <a:graphicData uri="http://schemas.openxmlformats.org/drawingml/2006/table">
            <a:tbl>
              <a:tblPr firstRow="1" bandRow="1">
                <a:noFill/>
                <a:tableStyleId>{66088737-8E24-4614-AAA7-3D08145F63E1}</a:tableStyleId>
              </a:tblPr>
              <a:tblGrid>
                <a:gridCol w="4562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62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562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008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115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562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5622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5622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45622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45622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2914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1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2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3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4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5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6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7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8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9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10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14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u="none" strike="noStrike" cap="none">
                          <a:solidFill>
                            <a:schemeClr val="dk1"/>
                          </a:solidFill>
                        </a:rPr>
                        <a:t>14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u="none" strike="noStrike" cap="none">
                          <a:solidFill>
                            <a:schemeClr val="dk1"/>
                          </a:solidFill>
                        </a:rPr>
                        <a:t>1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u="none" strike="noStrike" cap="none">
                          <a:solidFill>
                            <a:schemeClr val="dk1"/>
                          </a:solidFill>
                        </a:rPr>
                        <a:t>10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u="none" strike="noStrike" cap="none">
                          <a:solidFill>
                            <a:schemeClr val="dk1"/>
                          </a:solidFill>
                        </a:rPr>
                        <a:t>8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u="none" strike="noStrike" cap="none">
                          <a:solidFill>
                            <a:schemeClr val="dk1"/>
                          </a:solidFill>
                        </a:rPr>
                        <a:t>7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u="none" strike="noStrike" cap="none">
                          <a:solidFill>
                            <a:schemeClr val="dk1"/>
                          </a:solidFill>
                        </a:rPr>
                        <a:t>9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u="none" strike="noStrike" cap="none">
                          <a:solidFill>
                            <a:schemeClr val="dk1"/>
                          </a:solidFill>
                        </a:rPr>
                        <a:t>3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u="none" strike="noStrike" cap="none">
                          <a:solidFill>
                            <a:schemeClr val="dk1"/>
                          </a:solidFill>
                        </a:rPr>
                        <a:t>2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u="none" strike="noStrike" cap="none">
                          <a:solidFill>
                            <a:schemeClr val="dk1"/>
                          </a:solidFill>
                        </a:rPr>
                        <a:t>4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u="none" strike="noStrike" cap="none">
                          <a:solidFill>
                            <a:schemeClr val="dk1"/>
                          </a:solidFill>
                        </a:rPr>
                        <a:t>16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1" name="Google Shape;3381;p120"/>
          <p:cNvSpPr txBox="1">
            <a:spLocks noGrp="1"/>
          </p:cNvSpPr>
          <p:nvPr>
            <p:ph type="body" idx="1"/>
          </p:nvPr>
        </p:nvSpPr>
        <p:spPr>
          <a:xfrm>
            <a:off x="838200" y="1227909"/>
            <a:ext cx="10515600" cy="49490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1500"/>
              <a:buFont typeface="Arial"/>
              <a:buChar char="●"/>
            </a:pPr>
            <a:r>
              <a:rPr lang="en-US" sz="2000" b="1"/>
              <a:t>Priority Queue functions</a:t>
            </a:r>
            <a:endParaRPr/>
          </a:p>
          <a:p>
            <a:pPr marL="742950" lvl="1" indent="-28575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040"/>
              <a:buChar char="●"/>
            </a:pPr>
            <a:r>
              <a:rPr lang="en-US" sz="1600"/>
              <a:t>HEAP-MAXIMUM </a:t>
            </a:r>
            <a:endParaRPr/>
          </a:p>
          <a:p>
            <a:pPr marL="742950" lvl="1" indent="-28575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040"/>
              <a:buChar char="●"/>
            </a:pPr>
            <a:r>
              <a:rPr lang="en-US" sz="1600"/>
              <a:t>MAX-HEAP-INSERT</a:t>
            </a:r>
            <a:endParaRPr/>
          </a:p>
          <a:p>
            <a:pPr marL="742950" lvl="1" indent="-28575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040"/>
              <a:buChar char="●"/>
            </a:pPr>
            <a:r>
              <a:rPr lang="en-US" sz="1600" b="1"/>
              <a:t>HEAP-EXTRACT-MAX – </a:t>
            </a:r>
            <a:r>
              <a:rPr lang="en-US" sz="1600">
                <a:solidFill>
                  <a:srgbClr val="FF0000"/>
                </a:solidFill>
              </a:rPr>
              <a:t>extract the eldest citizen</a:t>
            </a:r>
            <a:endParaRPr sz="1600" b="1">
              <a:solidFill>
                <a:srgbClr val="FF0000"/>
              </a:solidFill>
            </a:endParaRPr>
          </a:p>
          <a:p>
            <a:pPr marL="742950" lvl="1" indent="-28575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040"/>
              <a:buChar char="●"/>
            </a:pPr>
            <a:r>
              <a:rPr lang="en-US" sz="1600"/>
              <a:t>HEAP-INCREASE-KEY</a:t>
            </a:r>
            <a:endParaRPr/>
          </a:p>
        </p:txBody>
      </p:sp>
      <p:sp>
        <p:nvSpPr>
          <p:cNvPr id="3382" name="Google Shape;3382;p120"/>
          <p:cNvSpPr txBox="1">
            <a:spLocks noGrp="1"/>
          </p:cNvSpPr>
          <p:nvPr>
            <p:ph type="dt" idx="10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CE251820-E649-441F-9FAF-E69FF7D25D2C}" type="datetime1">
              <a:rPr lang="en-US" smtClean="0"/>
              <a:t>1/12/2026</a:t>
            </a:fld>
            <a:endParaRPr/>
          </a:p>
        </p:txBody>
      </p:sp>
      <p:sp>
        <p:nvSpPr>
          <p:cNvPr id="3383" name="Google Shape;3383;p120"/>
          <p:cNvSpPr txBox="1">
            <a:spLocks noGrp="1"/>
          </p:cNvSpPr>
          <p:nvPr>
            <p:ph type="ftr" idx="11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Lec Asif Abrar, Dept of CSE, UIU</a:t>
            </a:r>
            <a:endParaRPr/>
          </a:p>
        </p:txBody>
      </p:sp>
      <p:sp>
        <p:nvSpPr>
          <p:cNvPr id="3384" name="Google Shape;3384;p120"/>
          <p:cNvSpPr txBox="1">
            <a:spLocks noGrp="1"/>
          </p:cNvSpPr>
          <p:nvPr>
            <p:ph type="sldNum" idx="12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87</a:t>
            </a:fld>
            <a:endParaRPr/>
          </a:p>
        </p:txBody>
      </p:sp>
      <p:sp>
        <p:nvSpPr>
          <p:cNvPr id="3385" name="Google Shape;3385;p120"/>
          <p:cNvSpPr txBox="1">
            <a:spLocks noGrp="1"/>
          </p:cNvSpPr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/>
              <a:t>Max heap as a priority queue</a:t>
            </a:r>
            <a:endParaRPr/>
          </a:p>
        </p:txBody>
      </p:sp>
      <p:sp>
        <p:nvSpPr>
          <p:cNvPr id="3386" name="Google Shape;3386;p120"/>
          <p:cNvSpPr/>
          <p:nvPr/>
        </p:nvSpPr>
        <p:spPr>
          <a:xfrm>
            <a:off x="3581400" y="3429000"/>
            <a:ext cx="556142" cy="509345"/>
          </a:xfrm>
          <a:prstGeom prst="ellipse">
            <a:avLst/>
          </a:prstGeom>
          <a:solidFill>
            <a:schemeClr val="accent2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14</a:t>
            </a:r>
            <a:endParaRPr/>
          </a:p>
        </p:txBody>
      </p:sp>
      <p:sp>
        <p:nvSpPr>
          <p:cNvPr id="3387" name="Google Shape;3387;p120"/>
          <p:cNvSpPr/>
          <p:nvPr/>
        </p:nvSpPr>
        <p:spPr>
          <a:xfrm>
            <a:off x="1558622" y="4190269"/>
            <a:ext cx="556142" cy="509345"/>
          </a:xfrm>
          <a:prstGeom prst="ellipse">
            <a:avLst/>
          </a:prstGeom>
          <a:solidFill>
            <a:schemeClr val="accent2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3388" name="Google Shape;3388;p120"/>
          <p:cNvSpPr/>
          <p:nvPr/>
        </p:nvSpPr>
        <p:spPr>
          <a:xfrm>
            <a:off x="937146" y="4746485"/>
            <a:ext cx="556142" cy="509345"/>
          </a:xfrm>
          <a:prstGeom prst="ellipse">
            <a:avLst/>
          </a:prstGeom>
          <a:solidFill>
            <a:schemeClr val="accent2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/>
          </a:p>
        </p:txBody>
      </p:sp>
      <p:sp>
        <p:nvSpPr>
          <p:cNvPr id="3389" name="Google Shape;3389;p120"/>
          <p:cNvSpPr/>
          <p:nvPr/>
        </p:nvSpPr>
        <p:spPr>
          <a:xfrm>
            <a:off x="384101" y="5469919"/>
            <a:ext cx="556142" cy="509345"/>
          </a:xfrm>
          <a:prstGeom prst="ellipse">
            <a:avLst/>
          </a:prstGeom>
          <a:solidFill>
            <a:schemeClr val="accent2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  <p:sp>
        <p:nvSpPr>
          <p:cNvPr id="3390" name="Google Shape;3390;p120"/>
          <p:cNvSpPr/>
          <p:nvPr/>
        </p:nvSpPr>
        <p:spPr>
          <a:xfrm>
            <a:off x="1240923" y="5510810"/>
            <a:ext cx="556142" cy="509345"/>
          </a:xfrm>
          <a:prstGeom prst="ellipse">
            <a:avLst/>
          </a:prstGeom>
          <a:solidFill>
            <a:schemeClr val="accent2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/>
          </a:p>
        </p:txBody>
      </p:sp>
      <p:sp>
        <p:nvSpPr>
          <p:cNvPr id="3391" name="Google Shape;3391;p120"/>
          <p:cNvSpPr/>
          <p:nvPr/>
        </p:nvSpPr>
        <p:spPr>
          <a:xfrm>
            <a:off x="2521675" y="4836679"/>
            <a:ext cx="556142" cy="509345"/>
          </a:xfrm>
          <a:prstGeom prst="ellipse">
            <a:avLst/>
          </a:prstGeom>
          <a:solidFill>
            <a:schemeClr val="accent2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/>
          </a:p>
        </p:txBody>
      </p:sp>
      <p:sp>
        <p:nvSpPr>
          <p:cNvPr id="3392" name="Google Shape;3392;p120"/>
          <p:cNvSpPr/>
          <p:nvPr/>
        </p:nvSpPr>
        <p:spPr>
          <a:xfrm>
            <a:off x="5009277" y="4118269"/>
            <a:ext cx="556142" cy="509345"/>
          </a:xfrm>
          <a:prstGeom prst="ellipse">
            <a:avLst/>
          </a:prstGeom>
          <a:solidFill>
            <a:schemeClr val="accent2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/>
          </a:p>
        </p:txBody>
      </p:sp>
      <p:cxnSp>
        <p:nvCxnSpPr>
          <p:cNvPr id="3393" name="Google Shape;3393;p120"/>
          <p:cNvCxnSpPr>
            <a:stCxn id="3386" idx="3"/>
            <a:endCxn id="3387" idx="7"/>
          </p:cNvCxnSpPr>
          <p:nvPr/>
        </p:nvCxnSpPr>
        <p:spPr>
          <a:xfrm flipH="1">
            <a:off x="2033245" y="3863753"/>
            <a:ext cx="1629600" cy="401100"/>
          </a:xfrm>
          <a:prstGeom prst="straightConnector1">
            <a:avLst/>
          </a:prstGeom>
          <a:solidFill>
            <a:schemeClr val="accent2"/>
          </a:solidFill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3394" name="Google Shape;3394;p120"/>
          <p:cNvCxnSpPr>
            <a:stCxn id="3392" idx="1"/>
            <a:endCxn id="3386" idx="5"/>
          </p:cNvCxnSpPr>
          <p:nvPr/>
        </p:nvCxnSpPr>
        <p:spPr>
          <a:xfrm rot="10800000">
            <a:off x="4056022" y="3863761"/>
            <a:ext cx="1034700" cy="329100"/>
          </a:xfrm>
          <a:prstGeom prst="straightConnector1">
            <a:avLst/>
          </a:prstGeom>
          <a:solidFill>
            <a:schemeClr val="accent2"/>
          </a:solidFill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3395" name="Google Shape;3395;p120"/>
          <p:cNvCxnSpPr>
            <a:stCxn id="3396" idx="0"/>
            <a:endCxn id="3392" idx="5"/>
          </p:cNvCxnSpPr>
          <p:nvPr/>
        </p:nvCxnSpPr>
        <p:spPr>
          <a:xfrm rot="10800000">
            <a:off x="5483832" y="4553008"/>
            <a:ext cx="728100" cy="286500"/>
          </a:xfrm>
          <a:prstGeom prst="straightConnector1">
            <a:avLst/>
          </a:prstGeom>
          <a:solidFill>
            <a:schemeClr val="accent2"/>
          </a:solidFill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3397" name="Google Shape;3397;p120"/>
          <p:cNvCxnSpPr>
            <a:stCxn id="3398" idx="0"/>
            <a:endCxn id="3392" idx="3"/>
          </p:cNvCxnSpPr>
          <p:nvPr/>
        </p:nvCxnSpPr>
        <p:spPr>
          <a:xfrm rot="10800000" flipH="1">
            <a:off x="4759085" y="4553111"/>
            <a:ext cx="331500" cy="200400"/>
          </a:xfrm>
          <a:prstGeom prst="straightConnector1">
            <a:avLst/>
          </a:prstGeom>
          <a:solidFill>
            <a:schemeClr val="accent2"/>
          </a:solidFill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3399" name="Google Shape;3399;p120"/>
          <p:cNvCxnSpPr>
            <a:stCxn id="3387" idx="3"/>
            <a:endCxn id="3388" idx="7"/>
          </p:cNvCxnSpPr>
          <p:nvPr/>
        </p:nvCxnSpPr>
        <p:spPr>
          <a:xfrm flipH="1">
            <a:off x="1411767" y="4625022"/>
            <a:ext cx="228300" cy="196200"/>
          </a:xfrm>
          <a:prstGeom prst="straightConnector1">
            <a:avLst/>
          </a:prstGeom>
          <a:solidFill>
            <a:schemeClr val="accent2"/>
          </a:solidFill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3400" name="Google Shape;3400;p120"/>
          <p:cNvCxnSpPr>
            <a:stCxn id="3387" idx="5"/>
            <a:endCxn id="3391" idx="1"/>
          </p:cNvCxnSpPr>
          <p:nvPr/>
        </p:nvCxnSpPr>
        <p:spPr>
          <a:xfrm>
            <a:off x="2033319" y="4625022"/>
            <a:ext cx="569700" cy="286200"/>
          </a:xfrm>
          <a:prstGeom prst="straightConnector1">
            <a:avLst/>
          </a:prstGeom>
          <a:solidFill>
            <a:schemeClr val="accent2"/>
          </a:solidFill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3401" name="Google Shape;3401;p120"/>
          <p:cNvCxnSpPr>
            <a:stCxn id="3388" idx="3"/>
            <a:endCxn id="3389" idx="7"/>
          </p:cNvCxnSpPr>
          <p:nvPr/>
        </p:nvCxnSpPr>
        <p:spPr>
          <a:xfrm flipH="1">
            <a:off x="858691" y="5181238"/>
            <a:ext cx="159900" cy="363300"/>
          </a:xfrm>
          <a:prstGeom prst="straightConnector1">
            <a:avLst/>
          </a:prstGeom>
          <a:solidFill>
            <a:schemeClr val="accent2"/>
          </a:solidFill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3402" name="Google Shape;3402;p120"/>
          <p:cNvCxnSpPr>
            <a:stCxn id="3388" idx="5"/>
            <a:endCxn id="3390" idx="0"/>
          </p:cNvCxnSpPr>
          <p:nvPr/>
        </p:nvCxnSpPr>
        <p:spPr>
          <a:xfrm>
            <a:off x="1411843" y="5181238"/>
            <a:ext cx="107100" cy="329700"/>
          </a:xfrm>
          <a:prstGeom prst="straightConnector1">
            <a:avLst/>
          </a:prstGeom>
          <a:solidFill>
            <a:schemeClr val="accent2"/>
          </a:solidFill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3403" name="Google Shape;3403;p120"/>
          <p:cNvSpPr/>
          <p:nvPr/>
        </p:nvSpPr>
        <p:spPr>
          <a:xfrm>
            <a:off x="4525401" y="5922134"/>
            <a:ext cx="556142" cy="509345"/>
          </a:xfrm>
          <a:prstGeom prst="ellipse">
            <a:avLst/>
          </a:prstGeom>
          <a:solidFill>
            <a:schemeClr val="accent2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16</a:t>
            </a:r>
            <a:endParaRPr/>
          </a:p>
        </p:txBody>
      </p:sp>
      <p:sp>
        <p:nvSpPr>
          <p:cNvPr id="3398" name="Google Shape;3398;p120"/>
          <p:cNvSpPr/>
          <p:nvPr/>
        </p:nvSpPr>
        <p:spPr>
          <a:xfrm>
            <a:off x="4481014" y="4753511"/>
            <a:ext cx="556142" cy="509345"/>
          </a:xfrm>
          <a:prstGeom prst="ellipse">
            <a:avLst/>
          </a:prstGeom>
          <a:solidFill>
            <a:schemeClr val="accent2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endParaRPr/>
          </a:p>
        </p:txBody>
      </p:sp>
      <p:sp>
        <p:nvSpPr>
          <p:cNvPr id="3396" name="Google Shape;3396;p120"/>
          <p:cNvSpPr/>
          <p:nvPr/>
        </p:nvSpPr>
        <p:spPr>
          <a:xfrm>
            <a:off x="5933861" y="4839508"/>
            <a:ext cx="556142" cy="509345"/>
          </a:xfrm>
          <a:prstGeom prst="ellipse">
            <a:avLst/>
          </a:prstGeom>
          <a:solidFill>
            <a:schemeClr val="accent2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/>
          </a:p>
        </p:txBody>
      </p:sp>
      <p:sp>
        <p:nvSpPr>
          <p:cNvPr id="3404" name="Google Shape;3404;p120"/>
          <p:cNvSpPr/>
          <p:nvPr/>
        </p:nvSpPr>
        <p:spPr>
          <a:xfrm>
            <a:off x="6884435" y="1093648"/>
            <a:ext cx="4497258" cy="8309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Initially the array must 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be a max heap (run a max heapify)</a:t>
            </a:r>
            <a:endParaRPr/>
          </a:p>
        </p:txBody>
      </p:sp>
      <p:graphicFrame>
        <p:nvGraphicFramePr>
          <p:cNvPr id="3405" name="Google Shape;3405;p120"/>
          <p:cNvGraphicFramePr/>
          <p:nvPr/>
        </p:nvGraphicFramePr>
        <p:xfrm>
          <a:off x="6851939" y="2264136"/>
          <a:ext cx="4562250" cy="731540"/>
        </p:xfrm>
        <a:graphic>
          <a:graphicData uri="http://schemas.openxmlformats.org/drawingml/2006/table">
            <a:tbl>
              <a:tblPr firstRow="1" bandRow="1">
                <a:noFill/>
                <a:tableStyleId>{66088737-8E24-4614-AAA7-3D08145F63E1}</a:tableStyleId>
              </a:tblPr>
              <a:tblGrid>
                <a:gridCol w="4562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62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562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008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115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562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5622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5622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45622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45622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2914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1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2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3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4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5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6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7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8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9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10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14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u="none" strike="noStrike" cap="none">
                          <a:solidFill>
                            <a:schemeClr val="dk1"/>
                          </a:solidFill>
                        </a:rPr>
                        <a:t>16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u="none" strike="noStrike" cap="none">
                          <a:solidFill>
                            <a:schemeClr val="dk1"/>
                          </a:solidFill>
                        </a:rPr>
                        <a:t>14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u="none" strike="noStrike" cap="none">
                          <a:solidFill>
                            <a:schemeClr val="dk1"/>
                          </a:solidFill>
                        </a:rPr>
                        <a:t>10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u="none" strike="noStrike" cap="none">
                          <a:solidFill>
                            <a:schemeClr val="dk1"/>
                          </a:solidFill>
                        </a:rPr>
                        <a:t>8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u="none" strike="noStrike" cap="none">
                          <a:solidFill>
                            <a:schemeClr val="dk1"/>
                          </a:solidFill>
                        </a:rPr>
                        <a:t>7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u="none" strike="noStrike" cap="none">
                          <a:solidFill>
                            <a:schemeClr val="dk1"/>
                          </a:solidFill>
                        </a:rPr>
                        <a:t>9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u="none" strike="noStrike" cap="none">
                          <a:solidFill>
                            <a:schemeClr val="dk1"/>
                          </a:solidFill>
                        </a:rPr>
                        <a:t>3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u="none" strike="noStrike" cap="none">
                          <a:solidFill>
                            <a:schemeClr val="dk1"/>
                          </a:solidFill>
                        </a:rPr>
                        <a:t>2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u="none" strike="noStrike" cap="none">
                          <a:solidFill>
                            <a:schemeClr val="dk1"/>
                          </a:solidFill>
                        </a:rPr>
                        <a:t>4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u="none" strike="noStrike" cap="none">
                          <a:solidFill>
                            <a:schemeClr val="dk1"/>
                          </a:solidFill>
                        </a:rPr>
                        <a:t>1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3406" name="Google Shape;3406;p120"/>
          <p:cNvSpPr txBox="1"/>
          <p:nvPr/>
        </p:nvSpPr>
        <p:spPr>
          <a:xfrm>
            <a:off x="7343481" y="3756305"/>
            <a:ext cx="3798540" cy="923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1.Swap the last element with the root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2.Remove the largest element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3.Run a max heapify</a:t>
            </a:r>
            <a:endParaRPr sz="180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407" name="Google Shape;3407;p120"/>
          <p:cNvCxnSpPr>
            <a:stCxn id="3388" idx="2"/>
            <a:endCxn id="3387" idx="1"/>
          </p:cNvCxnSpPr>
          <p:nvPr/>
        </p:nvCxnSpPr>
        <p:spPr>
          <a:xfrm rot="10800000" flipH="1">
            <a:off x="937146" y="4264958"/>
            <a:ext cx="702900" cy="736200"/>
          </a:xfrm>
          <a:prstGeom prst="curvedConnector4">
            <a:avLst>
              <a:gd name="adj1" fmla="val -32522"/>
              <a:gd name="adj2" fmla="val 141196"/>
            </a:avLst>
          </a:prstGeom>
          <a:noFill/>
          <a:ln w="57150" cap="flat" cmpd="sng">
            <a:solidFill>
              <a:srgbClr val="FF0000"/>
            </a:solidFill>
            <a:prstDash val="solid"/>
            <a:miter lim="800000"/>
            <a:headEnd type="triangle" w="med" len="med"/>
            <a:tailEnd type="triangle" w="med" len="med"/>
          </a:ln>
        </p:spPr>
      </p:cxnSp>
      <p:sp>
        <p:nvSpPr>
          <p:cNvPr id="3408" name="Google Shape;3408;p120"/>
          <p:cNvSpPr/>
          <p:nvPr/>
        </p:nvSpPr>
        <p:spPr>
          <a:xfrm rot="-5400000">
            <a:off x="10536352" y="3166312"/>
            <a:ext cx="386570" cy="222383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09" name="Google Shape;3409;p120"/>
          <p:cNvSpPr txBox="1"/>
          <p:nvPr/>
        </p:nvSpPr>
        <p:spPr>
          <a:xfrm>
            <a:off x="10195423" y="3440393"/>
            <a:ext cx="1089978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Heap Size</a:t>
            </a:r>
            <a:endParaRPr/>
          </a:p>
        </p:txBody>
      </p:sp>
      <p:graphicFrame>
        <p:nvGraphicFramePr>
          <p:cNvPr id="3410" name="Google Shape;3410;p120"/>
          <p:cNvGraphicFramePr/>
          <p:nvPr/>
        </p:nvGraphicFramePr>
        <p:xfrm>
          <a:off x="6851939" y="2275983"/>
          <a:ext cx="4562250" cy="731540"/>
        </p:xfrm>
        <a:graphic>
          <a:graphicData uri="http://schemas.openxmlformats.org/drawingml/2006/table">
            <a:tbl>
              <a:tblPr firstRow="1" bandRow="1">
                <a:noFill/>
                <a:tableStyleId>{66088737-8E24-4614-AAA7-3D08145F63E1}</a:tableStyleId>
              </a:tblPr>
              <a:tblGrid>
                <a:gridCol w="4562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62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562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008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115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562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5622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5622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45622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45622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2914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1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2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3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4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5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6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7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8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9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10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14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u="none" strike="noStrike" cap="none">
                          <a:solidFill>
                            <a:schemeClr val="dk1"/>
                          </a:solidFill>
                        </a:rPr>
                        <a:t>14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u="none" strike="noStrike" cap="none">
                          <a:solidFill>
                            <a:schemeClr val="dk1"/>
                          </a:solidFill>
                        </a:rPr>
                        <a:t>1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u="none" strike="noStrike" cap="none">
                          <a:solidFill>
                            <a:schemeClr val="dk1"/>
                          </a:solidFill>
                        </a:rPr>
                        <a:t>10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u="none" strike="noStrike" cap="none">
                          <a:solidFill>
                            <a:schemeClr val="dk1"/>
                          </a:solidFill>
                        </a:rPr>
                        <a:t>8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u="none" strike="noStrike" cap="none">
                          <a:solidFill>
                            <a:schemeClr val="dk1"/>
                          </a:solidFill>
                        </a:rPr>
                        <a:t>7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u="none" strike="noStrike" cap="none">
                          <a:solidFill>
                            <a:schemeClr val="dk1"/>
                          </a:solidFill>
                        </a:rPr>
                        <a:t>9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u="none" strike="noStrike" cap="none">
                          <a:solidFill>
                            <a:schemeClr val="dk1"/>
                          </a:solidFill>
                        </a:rPr>
                        <a:t>3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u="none" strike="noStrike" cap="none">
                          <a:solidFill>
                            <a:schemeClr val="dk1"/>
                          </a:solidFill>
                        </a:rPr>
                        <a:t>2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u="none" strike="noStrike" cap="none">
                          <a:solidFill>
                            <a:schemeClr val="dk1"/>
                          </a:solidFill>
                        </a:rPr>
                        <a:t>4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u="none" strike="noStrike" cap="none">
                          <a:solidFill>
                            <a:schemeClr val="dk1"/>
                          </a:solidFill>
                        </a:rPr>
                        <a:t>16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5" name="Google Shape;3415;p121"/>
          <p:cNvSpPr txBox="1">
            <a:spLocks noGrp="1"/>
          </p:cNvSpPr>
          <p:nvPr>
            <p:ph type="body" idx="1"/>
          </p:nvPr>
        </p:nvSpPr>
        <p:spPr>
          <a:xfrm>
            <a:off x="838200" y="1227909"/>
            <a:ext cx="10515600" cy="49490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1500"/>
              <a:buFont typeface="Arial"/>
              <a:buChar char="●"/>
            </a:pPr>
            <a:r>
              <a:rPr lang="en-US" sz="2000" b="1"/>
              <a:t>Priority Queue functions</a:t>
            </a:r>
            <a:endParaRPr/>
          </a:p>
          <a:p>
            <a:pPr marL="742950" lvl="1" indent="-28575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040"/>
              <a:buChar char="●"/>
            </a:pPr>
            <a:r>
              <a:rPr lang="en-US" sz="1600"/>
              <a:t>HEAP-MAXIMUM </a:t>
            </a:r>
            <a:endParaRPr/>
          </a:p>
          <a:p>
            <a:pPr marL="742950" lvl="1" indent="-28575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040"/>
              <a:buChar char="●"/>
            </a:pPr>
            <a:r>
              <a:rPr lang="en-US" sz="1600"/>
              <a:t>MAX-HEAP-INSERT</a:t>
            </a:r>
            <a:endParaRPr/>
          </a:p>
          <a:p>
            <a:pPr marL="742950" lvl="1" indent="-28575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040"/>
              <a:buChar char="●"/>
            </a:pPr>
            <a:r>
              <a:rPr lang="en-US" sz="1600" b="1"/>
              <a:t>HEAP-EXTRACT-MAX – </a:t>
            </a:r>
            <a:r>
              <a:rPr lang="en-US" sz="1600">
                <a:solidFill>
                  <a:srgbClr val="FF0000"/>
                </a:solidFill>
              </a:rPr>
              <a:t>extract the eldest citizen</a:t>
            </a:r>
            <a:endParaRPr sz="1600" b="1">
              <a:solidFill>
                <a:srgbClr val="FF0000"/>
              </a:solidFill>
            </a:endParaRPr>
          </a:p>
          <a:p>
            <a:pPr marL="742950" lvl="1" indent="-28575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040"/>
              <a:buChar char="●"/>
            </a:pPr>
            <a:r>
              <a:rPr lang="en-US" sz="1600"/>
              <a:t>HEAP-INCREASE-KEY</a:t>
            </a:r>
            <a:endParaRPr/>
          </a:p>
        </p:txBody>
      </p:sp>
      <p:sp>
        <p:nvSpPr>
          <p:cNvPr id="3416" name="Google Shape;3416;p121"/>
          <p:cNvSpPr txBox="1">
            <a:spLocks noGrp="1"/>
          </p:cNvSpPr>
          <p:nvPr>
            <p:ph type="dt" idx="10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5C76196B-D151-48E8-B3E7-D1106A382A8A}" type="datetime1">
              <a:rPr lang="en-US" smtClean="0"/>
              <a:t>1/12/2026</a:t>
            </a:fld>
            <a:endParaRPr/>
          </a:p>
        </p:txBody>
      </p:sp>
      <p:sp>
        <p:nvSpPr>
          <p:cNvPr id="3417" name="Google Shape;3417;p121"/>
          <p:cNvSpPr txBox="1">
            <a:spLocks noGrp="1"/>
          </p:cNvSpPr>
          <p:nvPr>
            <p:ph type="ftr" idx="11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Lec Asif Abrar, Dept of CSE, UIU</a:t>
            </a:r>
            <a:endParaRPr/>
          </a:p>
        </p:txBody>
      </p:sp>
      <p:sp>
        <p:nvSpPr>
          <p:cNvPr id="3418" name="Google Shape;3418;p121"/>
          <p:cNvSpPr txBox="1">
            <a:spLocks noGrp="1"/>
          </p:cNvSpPr>
          <p:nvPr>
            <p:ph type="sldNum" idx="12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88</a:t>
            </a:fld>
            <a:endParaRPr/>
          </a:p>
        </p:txBody>
      </p:sp>
      <p:sp>
        <p:nvSpPr>
          <p:cNvPr id="3419" name="Google Shape;3419;p121"/>
          <p:cNvSpPr txBox="1">
            <a:spLocks noGrp="1"/>
          </p:cNvSpPr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/>
              <a:t>Max heap as a priority queue</a:t>
            </a:r>
            <a:endParaRPr/>
          </a:p>
        </p:txBody>
      </p:sp>
      <p:sp>
        <p:nvSpPr>
          <p:cNvPr id="3420" name="Google Shape;3420;p121"/>
          <p:cNvSpPr/>
          <p:nvPr/>
        </p:nvSpPr>
        <p:spPr>
          <a:xfrm>
            <a:off x="3581400" y="3429000"/>
            <a:ext cx="556142" cy="509345"/>
          </a:xfrm>
          <a:prstGeom prst="ellipse">
            <a:avLst/>
          </a:prstGeom>
          <a:solidFill>
            <a:schemeClr val="accent2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14</a:t>
            </a:r>
            <a:endParaRPr/>
          </a:p>
        </p:txBody>
      </p:sp>
      <p:sp>
        <p:nvSpPr>
          <p:cNvPr id="3421" name="Google Shape;3421;p121"/>
          <p:cNvSpPr/>
          <p:nvPr/>
        </p:nvSpPr>
        <p:spPr>
          <a:xfrm>
            <a:off x="1558622" y="4190269"/>
            <a:ext cx="556142" cy="509345"/>
          </a:xfrm>
          <a:prstGeom prst="ellipse">
            <a:avLst/>
          </a:prstGeom>
          <a:solidFill>
            <a:schemeClr val="accent2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/>
          </a:p>
        </p:txBody>
      </p:sp>
      <p:sp>
        <p:nvSpPr>
          <p:cNvPr id="3422" name="Google Shape;3422;p121"/>
          <p:cNvSpPr/>
          <p:nvPr/>
        </p:nvSpPr>
        <p:spPr>
          <a:xfrm>
            <a:off x="937146" y="4746485"/>
            <a:ext cx="556142" cy="509345"/>
          </a:xfrm>
          <a:prstGeom prst="ellipse">
            <a:avLst/>
          </a:prstGeom>
          <a:solidFill>
            <a:schemeClr val="accent2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3423" name="Google Shape;3423;p121"/>
          <p:cNvSpPr/>
          <p:nvPr/>
        </p:nvSpPr>
        <p:spPr>
          <a:xfrm>
            <a:off x="384101" y="5469919"/>
            <a:ext cx="556142" cy="509345"/>
          </a:xfrm>
          <a:prstGeom prst="ellipse">
            <a:avLst/>
          </a:prstGeom>
          <a:solidFill>
            <a:schemeClr val="accent2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  <p:sp>
        <p:nvSpPr>
          <p:cNvPr id="3424" name="Google Shape;3424;p121"/>
          <p:cNvSpPr/>
          <p:nvPr/>
        </p:nvSpPr>
        <p:spPr>
          <a:xfrm>
            <a:off x="1240923" y="5510810"/>
            <a:ext cx="556142" cy="509345"/>
          </a:xfrm>
          <a:prstGeom prst="ellipse">
            <a:avLst/>
          </a:prstGeom>
          <a:solidFill>
            <a:schemeClr val="accent2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/>
          </a:p>
        </p:txBody>
      </p:sp>
      <p:sp>
        <p:nvSpPr>
          <p:cNvPr id="3425" name="Google Shape;3425;p121"/>
          <p:cNvSpPr/>
          <p:nvPr/>
        </p:nvSpPr>
        <p:spPr>
          <a:xfrm>
            <a:off x="2521675" y="4836679"/>
            <a:ext cx="556142" cy="509345"/>
          </a:xfrm>
          <a:prstGeom prst="ellipse">
            <a:avLst/>
          </a:prstGeom>
          <a:solidFill>
            <a:schemeClr val="accent2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/>
          </a:p>
        </p:txBody>
      </p:sp>
      <p:sp>
        <p:nvSpPr>
          <p:cNvPr id="3426" name="Google Shape;3426;p121"/>
          <p:cNvSpPr/>
          <p:nvPr/>
        </p:nvSpPr>
        <p:spPr>
          <a:xfrm>
            <a:off x="5009277" y="4118269"/>
            <a:ext cx="556142" cy="509345"/>
          </a:xfrm>
          <a:prstGeom prst="ellipse">
            <a:avLst/>
          </a:prstGeom>
          <a:solidFill>
            <a:schemeClr val="accent2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/>
          </a:p>
        </p:txBody>
      </p:sp>
      <p:cxnSp>
        <p:nvCxnSpPr>
          <p:cNvPr id="3427" name="Google Shape;3427;p121"/>
          <p:cNvCxnSpPr>
            <a:stCxn id="3420" idx="3"/>
            <a:endCxn id="3421" idx="7"/>
          </p:cNvCxnSpPr>
          <p:nvPr/>
        </p:nvCxnSpPr>
        <p:spPr>
          <a:xfrm flipH="1">
            <a:off x="2033245" y="3863753"/>
            <a:ext cx="1629600" cy="401100"/>
          </a:xfrm>
          <a:prstGeom prst="straightConnector1">
            <a:avLst/>
          </a:prstGeom>
          <a:solidFill>
            <a:schemeClr val="accent2"/>
          </a:solidFill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3428" name="Google Shape;3428;p121"/>
          <p:cNvCxnSpPr>
            <a:stCxn id="3426" idx="1"/>
            <a:endCxn id="3420" idx="5"/>
          </p:cNvCxnSpPr>
          <p:nvPr/>
        </p:nvCxnSpPr>
        <p:spPr>
          <a:xfrm rot="10800000">
            <a:off x="4056022" y="3863761"/>
            <a:ext cx="1034700" cy="329100"/>
          </a:xfrm>
          <a:prstGeom prst="straightConnector1">
            <a:avLst/>
          </a:prstGeom>
          <a:solidFill>
            <a:schemeClr val="accent2"/>
          </a:solidFill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3429" name="Google Shape;3429;p121"/>
          <p:cNvCxnSpPr>
            <a:stCxn id="3430" idx="0"/>
            <a:endCxn id="3426" idx="5"/>
          </p:cNvCxnSpPr>
          <p:nvPr/>
        </p:nvCxnSpPr>
        <p:spPr>
          <a:xfrm rot="10800000">
            <a:off x="5483832" y="4553008"/>
            <a:ext cx="728100" cy="286500"/>
          </a:xfrm>
          <a:prstGeom prst="straightConnector1">
            <a:avLst/>
          </a:prstGeom>
          <a:solidFill>
            <a:schemeClr val="accent2"/>
          </a:solidFill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3431" name="Google Shape;3431;p121"/>
          <p:cNvCxnSpPr>
            <a:stCxn id="3432" idx="0"/>
            <a:endCxn id="3426" idx="3"/>
          </p:cNvCxnSpPr>
          <p:nvPr/>
        </p:nvCxnSpPr>
        <p:spPr>
          <a:xfrm rot="10800000" flipH="1">
            <a:off x="4759085" y="4553111"/>
            <a:ext cx="331500" cy="200400"/>
          </a:xfrm>
          <a:prstGeom prst="straightConnector1">
            <a:avLst/>
          </a:prstGeom>
          <a:solidFill>
            <a:schemeClr val="accent2"/>
          </a:solidFill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3433" name="Google Shape;3433;p121"/>
          <p:cNvCxnSpPr>
            <a:stCxn id="3421" idx="3"/>
            <a:endCxn id="3422" idx="7"/>
          </p:cNvCxnSpPr>
          <p:nvPr/>
        </p:nvCxnSpPr>
        <p:spPr>
          <a:xfrm flipH="1">
            <a:off x="1411767" y="4625022"/>
            <a:ext cx="228300" cy="196200"/>
          </a:xfrm>
          <a:prstGeom prst="straightConnector1">
            <a:avLst/>
          </a:prstGeom>
          <a:solidFill>
            <a:schemeClr val="accent2"/>
          </a:solidFill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3434" name="Google Shape;3434;p121"/>
          <p:cNvCxnSpPr>
            <a:stCxn id="3421" idx="5"/>
            <a:endCxn id="3425" idx="1"/>
          </p:cNvCxnSpPr>
          <p:nvPr/>
        </p:nvCxnSpPr>
        <p:spPr>
          <a:xfrm>
            <a:off x="2033319" y="4625022"/>
            <a:ext cx="569700" cy="286200"/>
          </a:xfrm>
          <a:prstGeom prst="straightConnector1">
            <a:avLst/>
          </a:prstGeom>
          <a:solidFill>
            <a:schemeClr val="accent2"/>
          </a:solidFill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3435" name="Google Shape;3435;p121"/>
          <p:cNvCxnSpPr>
            <a:stCxn id="3422" idx="3"/>
            <a:endCxn id="3423" idx="7"/>
          </p:cNvCxnSpPr>
          <p:nvPr/>
        </p:nvCxnSpPr>
        <p:spPr>
          <a:xfrm flipH="1">
            <a:off x="858691" y="5181238"/>
            <a:ext cx="159900" cy="363300"/>
          </a:xfrm>
          <a:prstGeom prst="straightConnector1">
            <a:avLst/>
          </a:prstGeom>
          <a:solidFill>
            <a:schemeClr val="accent2"/>
          </a:solidFill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3436" name="Google Shape;3436;p121"/>
          <p:cNvCxnSpPr>
            <a:stCxn id="3422" idx="5"/>
            <a:endCxn id="3424" idx="0"/>
          </p:cNvCxnSpPr>
          <p:nvPr/>
        </p:nvCxnSpPr>
        <p:spPr>
          <a:xfrm>
            <a:off x="1411843" y="5181238"/>
            <a:ext cx="107100" cy="329700"/>
          </a:xfrm>
          <a:prstGeom prst="straightConnector1">
            <a:avLst/>
          </a:prstGeom>
          <a:solidFill>
            <a:schemeClr val="accent2"/>
          </a:solidFill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3437" name="Google Shape;3437;p121"/>
          <p:cNvSpPr/>
          <p:nvPr/>
        </p:nvSpPr>
        <p:spPr>
          <a:xfrm>
            <a:off x="4525401" y="5922134"/>
            <a:ext cx="556142" cy="509345"/>
          </a:xfrm>
          <a:prstGeom prst="ellipse">
            <a:avLst/>
          </a:prstGeom>
          <a:solidFill>
            <a:schemeClr val="accent2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16</a:t>
            </a:r>
            <a:endParaRPr/>
          </a:p>
        </p:txBody>
      </p:sp>
      <p:sp>
        <p:nvSpPr>
          <p:cNvPr id="3432" name="Google Shape;3432;p121"/>
          <p:cNvSpPr/>
          <p:nvPr/>
        </p:nvSpPr>
        <p:spPr>
          <a:xfrm>
            <a:off x="4481014" y="4753511"/>
            <a:ext cx="556142" cy="509345"/>
          </a:xfrm>
          <a:prstGeom prst="ellipse">
            <a:avLst/>
          </a:prstGeom>
          <a:solidFill>
            <a:schemeClr val="accent2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endParaRPr/>
          </a:p>
        </p:txBody>
      </p:sp>
      <p:sp>
        <p:nvSpPr>
          <p:cNvPr id="3430" name="Google Shape;3430;p121"/>
          <p:cNvSpPr/>
          <p:nvPr/>
        </p:nvSpPr>
        <p:spPr>
          <a:xfrm>
            <a:off x="5933861" y="4839508"/>
            <a:ext cx="556142" cy="509345"/>
          </a:xfrm>
          <a:prstGeom prst="ellipse">
            <a:avLst/>
          </a:prstGeom>
          <a:solidFill>
            <a:schemeClr val="accent2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/>
          </a:p>
        </p:txBody>
      </p:sp>
      <p:sp>
        <p:nvSpPr>
          <p:cNvPr id="3438" name="Google Shape;3438;p121"/>
          <p:cNvSpPr/>
          <p:nvPr/>
        </p:nvSpPr>
        <p:spPr>
          <a:xfrm>
            <a:off x="6884435" y="1093648"/>
            <a:ext cx="4497258" cy="8309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Initially the array must 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be a max heap (run a max heapify)</a:t>
            </a:r>
            <a:endParaRPr/>
          </a:p>
        </p:txBody>
      </p:sp>
      <p:graphicFrame>
        <p:nvGraphicFramePr>
          <p:cNvPr id="3439" name="Google Shape;3439;p121"/>
          <p:cNvGraphicFramePr/>
          <p:nvPr/>
        </p:nvGraphicFramePr>
        <p:xfrm>
          <a:off x="6851939" y="2264136"/>
          <a:ext cx="4562250" cy="731540"/>
        </p:xfrm>
        <a:graphic>
          <a:graphicData uri="http://schemas.openxmlformats.org/drawingml/2006/table">
            <a:tbl>
              <a:tblPr firstRow="1" bandRow="1">
                <a:noFill/>
                <a:tableStyleId>{66088737-8E24-4614-AAA7-3D08145F63E1}</a:tableStyleId>
              </a:tblPr>
              <a:tblGrid>
                <a:gridCol w="4562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62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562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008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115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562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5622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5622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45622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45622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2914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1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2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3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4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5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6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7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8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9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10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14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u="none" strike="noStrike" cap="none">
                          <a:solidFill>
                            <a:schemeClr val="dk1"/>
                          </a:solidFill>
                        </a:rPr>
                        <a:t>16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u="none" strike="noStrike" cap="none">
                          <a:solidFill>
                            <a:schemeClr val="dk1"/>
                          </a:solidFill>
                        </a:rPr>
                        <a:t>14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u="none" strike="noStrike" cap="none">
                          <a:solidFill>
                            <a:schemeClr val="dk1"/>
                          </a:solidFill>
                        </a:rPr>
                        <a:t>10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u="none" strike="noStrike" cap="none">
                          <a:solidFill>
                            <a:schemeClr val="dk1"/>
                          </a:solidFill>
                        </a:rPr>
                        <a:t>8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u="none" strike="noStrike" cap="none">
                          <a:solidFill>
                            <a:schemeClr val="dk1"/>
                          </a:solidFill>
                        </a:rPr>
                        <a:t>7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u="none" strike="noStrike" cap="none">
                          <a:solidFill>
                            <a:schemeClr val="dk1"/>
                          </a:solidFill>
                        </a:rPr>
                        <a:t>9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u="none" strike="noStrike" cap="none">
                          <a:solidFill>
                            <a:schemeClr val="dk1"/>
                          </a:solidFill>
                        </a:rPr>
                        <a:t>3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u="none" strike="noStrike" cap="none">
                          <a:solidFill>
                            <a:schemeClr val="dk1"/>
                          </a:solidFill>
                        </a:rPr>
                        <a:t>2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u="none" strike="noStrike" cap="none">
                          <a:solidFill>
                            <a:schemeClr val="dk1"/>
                          </a:solidFill>
                        </a:rPr>
                        <a:t>4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u="none" strike="noStrike" cap="none">
                          <a:solidFill>
                            <a:schemeClr val="dk1"/>
                          </a:solidFill>
                        </a:rPr>
                        <a:t>1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3440" name="Google Shape;3440;p121"/>
          <p:cNvSpPr txBox="1"/>
          <p:nvPr/>
        </p:nvSpPr>
        <p:spPr>
          <a:xfrm>
            <a:off x="7343481" y="3756305"/>
            <a:ext cx="3798540" cy="923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1.Swap the last element with the root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2.Remove the largest element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3.Run a max heapify</a:t>
            </a:r>
            <a:endParaRPr sz="180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441" name="Google Shape;3441;p121"/>
          <p:cNvCxnSpPr>
            <a:stCxn id="3422" idx="2"/>
            <a:endCxn id="3421" idx="1"/>
          </p:cNvCxnSpPr>
          <p:nvPr/>
        </p:nvCxnSpPr>
        <p:spPr>
          <a:xfrm rot="10800000" flipH="1">
            <a:off x="937146" y="4264958"/>
            <a:ext cx="702900" cy="736200"/>
          </a:xfrm>
          <a:prstGeom prst="curvedConnector4">
            <a:avLst>
              <a:gd name="adj1" fmla="val -32522"/>
              <a:gd name="adj2" fmla="val 141196"/>
            </a:avLst>
          </a:prstGeom>
          <a:noFill/>
          <a:ln w="57150" cap="flat" cmpd="sng">
            <a:solidFill>
              <a:srgbClr val="FF0000"/>
            </a:solidFill>
            <a:prstDash val="solid"/>
            <a:miter lim="800000"/>
            <a:headEnd type="triangle" w="med" len="med"/>
            <a:tailEnd type="triangle" w="med" len="med"/>
          </a:ln>
        </p:spPr>
      </p:cxnSp>
      <p:sp>
        <p:nvSpPr>
          <p:cNvPr id="3442" name="Google Shape;3442;p121"/>
          <p:cNvSpPr/>
          <p:nvPr/>
        </p:nvSpPr>
        <p:spPr>
          <a:xfrm rot="-5400000">
            <a:off x="10536352" y="3166312"/>
            <a:ext cx="386570" cy="222383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43" name="Google Shape;3443;p121"/>
          <p:cNvSpPr txBox="1"/>
          <p:nvPr/>
        </p:nvSpPr>
        <p:spPr>
          <a:xfrm>
            <a:off x="10195423" y="3440393"/>
            <a:ext cx="1089978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Heap Size</a:t>
            </a:r>
            <a:endParaRPr/>
          </a:p>
        </p:txBody>
      </p:sp>
      <p:graphicFrame>
        <p:nvGraphicFramePr>
          <p:cNvPr id="3444" name="Google Shape;3444;p121"/>
          <p:cNvGraphicFramePr/>
          <p:nvPr/>
        </p:nvGraphicFramePr>
        <p:xfrm>
          <a:off x="6851939" y="2265517"/>
          <a:ext cx="4562250" cy="731540"/>
        </p:xfrm>
        <a:graphic>
          <a:graphicData uri="http://schemas.openxmlformats.org/drawingml/2006/table">
            <a:tbl>
              <a:tblPr firstRow="1" bandRow="1">
                <a:noFill/>
                <a:tableStyleId>{66088737-8E24-4614-AAA7-3D08145F63E1}</a:tableStyleId>
              </a:tblPr>
              <a:tblGrid>
                <a:gridCol w="4562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62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562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008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115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562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5622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5622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45622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45622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2914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1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2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3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4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5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6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7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8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9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10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14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u="none" strike="noStrike" cap="none">
                          <a:solidFill>
                            <a:schemeClr val="dk1"/>
                          </a:solidFill>
                        </a:rPr>
                        <a:t>14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u="none" strike="noStrike" cap="none">
                          <a:solidFill>
                            <a:schemeClr val="dk1"/>
                          </a:solidFill>
                        </a:rPr>
                        <a:t>8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u="none" strike="noStrike" cap="none">
                          <a:solidFill>
                            <a:schemeClr val="dk1"/>
                          </a:solidFill>
                        </a:rPr>
                        <a:t>10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u="none" strike="noStrike" cap="none">
                          <a:solidFill>
                            <a:schemeClr val="dk1"/>
                          </a:solidFill>
                        </a:rPr>
                        <a:t>1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u="none" strike="noStrike" cap="none">
                          <a:solidFill>
                            <a:schemeClr val="dk1"/>
                          </a:solidFill>
                        </a:rPr>
                        <a:t>7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u="none" strike="noStrike" cap="none">
                          <a:solidFill>
                            <a:schemeClr val="dk1"/>
                          </a:solidFill>
                        </a:rPr>
                        <a:t>9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u="none" strike="noStrike" cap="none">
                          <a:solidFill>
                            <a:schemeClr val="dk1"/>
                          </a:solidFill>
                        </a:rPr>
                        <a:t>3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u="none" strike="noStrike" cap="none">
                          <a:solidFill>
                            <a:schemeClr val="dk1"/>
                          </a:solidFill>
                        </a:rPr>
                        <a:t>2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u="none" strike="noStrike" cap="none">
                          <a:solidFill>
                            <a:schemeClr val="dk1"/>
                          </a:solidFill>
                        </a:rPr>
                        <a:t>4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u="none" strike="noStrike" cap="none">
                          <a:solidFill>
                            <a:schemeClr val="dk1"/>
                          </a:solidFill>
                        </a:rPr>
                        <a:t>16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9" name="Google Shape;3449;p122"/>
          <p:cNvSpPr txBox="1">
            <a:spLocks noGrp="1"/>
          </p:cNvSpPr>
          <p:nvPr>
            <p:ph type="body" idx="1"/>
          </p:nvPr>
        </p:nvSpPr>
        <p:spPr>
          <a:xfrm>
            <a:off x="838200" y="1227909"/>
            <a:ext cx="10515600" cy="49490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1500"/>
              <a:buFont typeface="Arial"/>
              <a:buChar char="●"/>
            </a:pPr>
            <a:r>
              <a:rPr lang="en-US" sz="2000" b="1"/>
              <a:t>Priority Queue functions</a:t>
            </a:r>
            <a:endParaRPr/>
          </a:p>
          <a:p>
            <a:pPr marL="742950" lvl="1" indent="-28575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040"/>
              <a:buChar char="●"/>
            </a:pPr>
            <a:r>
              <a:rPr lang="en-US" sz="1600"/>
              <a:t>HEAP-MAXIMUM </a:t>
            </a:r>
            <a:endParaRPr/>
          </a:p>
          <a:p>
            <a:pPr marL="742950" lvl="1" indent="-28575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040"/>
              <a:buChar char="●"/>
            </a:pPr>
            <a:r>
              <a:rPr lang="en-US" sz="1600"/>
              <a:t>MAX-HEAP-INSERT</a:t>
            </a:r>
            <a:endParaRPr/>
          </a:p>
          <a:p>
            <a:pPr marL="742950" lvl="1" indent="-28575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040"/>
              <a:buChar char="●"/>
            </a:pPr>
            <a:r>
              <a:rPr lang="en-US" sz="1600" b="1"/>
              <a:t>HEAP-EXTRACT-MAX – </a:t>
            </a:r>
            <a:r>
              <a:rPr lang="en-US" sz="1600">
                <a:solidFill>
                  <a:srgbClr val="FF0000"/>
                </a:solidFill>
              </a:rPr>
              <a:t>extract the eldest citizen</a:t>
            </a:r>
            <a:endParaRPr sz="1600" b="1">
              <a:solidFill>
                <a:srgbClr val="FF0000"/>
              </a:solidFill>
            </a:endParaRPr>
          </a:p>
          <a:p>
            <a:pPr marL="742950" lvl="1" indent="-28575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040"/>
              <a:buChar char="●"/>
            </a:pPr>
            <a:r>
              <a:rPr lang="en-US" sz="1600"/>
              <a:t>HEAP-INCREASE-KEY</a:t>
            </a:r>
            <a:endParaRPr/>
          </a:p>
        </p:txBody>
      </p:sp>
      <p:sp>
        <p:nvSpPr>
          <p:cNvPr id="3450" name="Google Shape;3450;p122"/>
          <p:cNvSpPr txBox="1">
            <a:spLocks noGrp="1"/>
          </p:cNvSpPr>
          <p:nvPr>
            <p:ph type="dt" idx="10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CA79C485-BEBF-470B-BCF0-827E19AC8872}" type="datetime1">
              <a:rPr lang="en-US" smtClean="0"/>
              <a:t>1/12/2026</a:t>
            </a:fld>
            <a:endParaRPr/>
          </a:p>
        </p:txBody>
      </p:sp>
      <p:sp>
        <p:nvSpPr>
          <p:cNvPr id="3451" name="Google Shape;3451;p122"/>
          <p:cNvSpPr txBox="1">
            <a:spLocks noGrp="1"/>
          </p:cNvSpPr>
          <p:nvPr>
            <p:ph type="ftr" idx="11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Lec Asif Abrar, Dept of CSE, UIU</a:t>
            </a:r>
            <a:endParaRPr/>
          </a:p>
        </p:txBody>
      </p:sp>
      <p:sp>
        <p:nvSpPr>
          <p:cNvPr id="3452" name="Google Shape;3452;p122"/>
          <p:cNvSpPr txBox="1">
            <a:spLocks noGrp="1"/>
          </p:cNvSpPr>
          <p:nvPr>
            <p:ph type="sldNum" idx="12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89</a:t>
            </a:fld>
            <a:endParaRPr/>
          </a:p>
        </p:txBody>
      </p:sp>
      <p:sp>
        <p:nvSpPr>
          <p:cNvPr id="3453" name="Google Shape;3453;p122"/>
          <p:cNvSpPr txBox="1">
            <a:spLocks noGrp="1"/>
          </p:cNvSpPr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/>
              <a:t>Max heap as a priority queue</a:t>
            </a:r>
            <a:endParaRPr/>
          </a:p>
        </p:txBody>
      </p:sp>
      <p:sp>
        <p:nvSpPr>
          <p:cNvPr id="3454" name="Google Shape;3454;p122"/>
          <p:cNvSpPr/>
          <p:nvPr/>
        </p:nvSpPr>
        <p:spPr>
          <a:xfrm>
            <a:off x="3581400" y="3429000"/>
            <a:ext cx="556142" cy="509345"/>
          </a:xfrm>
          <a:prstGeom prst="ellipse">
            <a:avLst/>
          </a:prstGeom>
          <a:solidFill>
            <a:schemeClr val="accent2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14</a:t>
            </a:r>
            <a:endParaRPr/>
          </a:p>
        </p:txBody>
      </p:sp>
      <p:sp>
        <p:nvSpPr>
          <p:cNvPr id="3455" name="Google Shape;3455;p122"/>
          <p:cNvSpPr/>
          <p:nvPr/>
        </p:nvSpPr>
        <p:spPr>
          <a:xfrm>
            <a:off x="1558622" y="4190269"/>
            <a:ext cx="556142" cy="509345"/>
          </a:xfrm>
          <a:prstGeom prst="ellipse">
            <a:avLst/>
          </a:prstGeom>
          <a:solidFill>
            <a:schemeClr val="accent2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/>
          </a:p>
        </p:txBody>
      </p:sp>
      <p:sp>
        <p:nvSpPr>
          <p:cNvPr id="3456" name="Google Shape;3456;p122"/>
          <p:cNvSpPr/>
          <p:nvPr/>
        </p:nvSpPr>
        <p:spPr>
          <a:xfrm>
            <a:off x="937146" y="4746485"/>
            <a:ext cx="556142" cy="509345"/>
          </a:xfrm>
          <a:prstGeom prst="ellipse">
            <a:avLst/>
          </a:prstGeom>
          <a:solidFill>
            <a:schemeClr val="accent2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3457" name="Google Shape;3457;p122"/>
          <p:cNvSpPr/>
          <p:nvPr/>
        </p:nvSpPr>
        <p:spPr>
          <a:xfrm>
            <a:off x="384101" y="5469919"/>
            <a:ext cx="556142" cy="509345"/>
          </a:xfrm>
          <a:prstGeom prst="ellipse">
            <a:avLst/>
          </a:prstGeom>
          <a:solidFill>
            <a:schemeClr val="accent2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  <p:sp>
        <p:nvSpPr>
          <p:cNvPr id="3458" name="Google Shape;3458;p122"/>
          <p:cNvSpPr/>
          <p:nvPr/>
        </p:nvSpPr>
        <p:spPr>
          <a:xfrm>
            <a:off x="1240923" y="5510810"/>
            <a:ext cx="556142" cy="509345"/>
          </a:xfrm>
          <a:prstGeom prst="ellipse">
            <a:avLst/>
          </a:prstGeom>
          <a:solidFill>
            <a:schemeClr val="accent2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/>
          </a:p>
        </p:txBody>
      </p:sp>
      <p:sp>
        <p:nvSpPr>
          <p:cNvPr id="3459" name="Google Shape;3459;p122"/>
          <p:cNvSpPr/>
          <p:nvPr/>
        </p:nvSpPr>
        <p:spPr>
          <a:xfrm>
            <a:off x="2521675" y="4836679"/>
            <a:ext cx="556142" cy="509345"/>
          </a:xfrm>
          <a:prstGeom prst="ellipse">
            <a:avLst/>
          </a:prstGeom>
          <a:solidFill>
            <a:schemeClr val="accent2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/>
          </a:p>
        </p:txBody>
      </p:sp>
      <p:sp>
        <p:nvSpPr>
          <p:cNvPr id="3460" name="Google Shape;3460;p122"/>
          <p:cNvSpPr/>
          <p:nvPr/>
        </p:nvSpPr>
        <p:spPr>
          <a:xfrm>
            <a:off x="5009277" y="4118269"/>
            <a:ext cx="556142" cy="509345"/>
          </a:xfrm>
          <a:prstGeom prst="ellipse">
            <a:avLst/>
          </a:prstGeom>
          <a:solidFill>
            <a:schemeClr val="accent2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/>
          </a:p>
        </p:txBody>
      </p:sp>
      <p:cxnSp>
        <p:nvCxnSpPr>
          <p:cNvPr id="3461" name="Google Shape;3461;p122"/>
          <p:cNvCxnSpPr>
            <a:stCxn id="3454" idx="3"/>
            <a:endCxn id="3455" idx="7"/>
          </p:cNvCxnSpPr>
          <p:nvPr/>
        </p:nvCxnSpPr>
        <p:spPr>
          <a:xfrm flipH="1">
            <a:off x="2033245" y="3863753"/>
            <a:ext cx="1629600" cy="401100"/>
          </a:xfrm>
          <a:prstGeom prst="straightConnector1">
            <a:avLst/>
          </a:prstGeom>
          <a:solidFill>
            <a:schemeClr val="accent2"/>
          </a:solidFill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3462" name="Google Shape;3462;p122"/>
          <p:cNvCxnSpPr>
            <a:stCxn id="3460" idx="1"/>
            <a:endCxn id="3454" idx="5"/>
          </p:cNvCxnSpPr>
          <p:nvPr/>
        </p:nvCxnSpPr>
        <p:spPr>
          <a:xfrm rot="10800000">
            <a:off x="4056022" y="3863761"/>
            <a:ext cx="1034700" cy="329100"/>
          </a:xfrm>
          <a:prstGeom prst="straightConnector1">
            <a:avLst/>
          </a:prstGeom>
          <a:solidFill>
            <a:schemeClr val="accent2"/>
          </a:solidFill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3463" name="Google Shape;3463;p122"/>
          <p:cNvCxnSpPr>
            <a:stCxn id="3464" idx="0"/>
            <a:endCxn id="3460" idx="5"/>
          </p:cNvCxnSpPr>
          <p:nvPr/>
        </p:nvCxnSpPr>
        <p:spPr>
          <a:xfrm rot="10800000">
            <a:off x="5483832" y="4553008"/>
            <a:ext cx="728100" cy="286500"/>
          </a:xfrm>
          <a:prstGeom prst="straightConnector1">
            <a:avLst/>
          </a:prstGeom>
          <a:solidFill>
            <a:schemeClr val="accent2"/>
          </a:solidFill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3465" name="Google Shape;3465;p122"/>
          <p:cNvCxnSpPr>
            <a:stCxn id="3466" idx="0"/>
            <a:endCxn id="3460" idx="3"/>
          </p:cNvCxnSpPr>
          <p:nvPr/>
        </p:nvCxnSpPr>
        <p:spPr>
          <a:xfrm rot="10800000" flipH="1">
            <a:off x="4759085" y="4553111"/>
            <a:ext cx="331500" cy="200400"/>
          </a:xfrm>
          <a:prstGeom prst="straightConnector1">
            <a:avLst/>
          </a:prstGeom>
          <a:solidFill>
            <a:schemeClr val="accent2"/>
          </a:solidFill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3467" name="Google Shape;3467;p122"/>
          <p:cNvCxnSpPr>
            <a:stCxn id="3455" idx="3"/>
            <a:endCxn id="3456" idx="7"/>
          </p:cNvCxnSpPr>
          <p:nvPr/>
        </p:nvCxnSpPr>
        <p:spPr>
          <a:xfrm flipH="1">
            <a:off x="1411767" y="4625022"/>
            <a:ext cx="228300" cy="196200"/>
          </a:xfrm>
          <a:prstGeom prst="straightConnector1">
            <a:avLst/>
          </a:prstGeom>
          <a:solidFill>
            <a:schemeClr val="accent2"/>
          </a:solidFill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3468" name="Google Shape;3468;p122"/>
          <p:cNvCxnSpPr>
            <a:stCxn id="3455" idx="5"/>
            <a:endCxn id="3459" idx="1"/>
          </p:cNvCxnSpPr>
          <p:nvPr/>
        </p:nvCxnSpPr>
        <p:spPr>
          <a:xfrm>
            <a:off x="2033319" y="4625022"/>
            <a:ext cx="569700" cy="286200"/>
          </a:xfrm>
          <a:prstGeom prst="straightConnector1">
            <a:avLst/>
          </a:prstGeom>
          <a:solidFill>
            <a:schemeClr val="accent2"/>
          </a:solidFill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3469" name="Google Shape;3469;p122"/>
          <p:cNvCxnSpPr>
            <a:stCxn id="3456" idx="3"/>
            <a:endCxn id="3457" idx="7"/>
          </p:cNvCxnSpPr>
          <p:nvPr/>
        </p:nvCxnSpPr>
        <p:spPr>
          <a:xfrm flipH="1">
            <a:off x="858691" y="5181238"/>
            <a:ext cx="159900" cy="363300"/>
          </a:xfrm>
          <a:prstGeom prst="straightConnector1">
            <a:avLst/>
          </a:prstGeom>
          <a:solidFill>
            <a:schemeClr val="accent2"/>
          </a:solidFill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3470" name="Google Shape;3470;p122"/>
          <p:cNvCxnSpPr>
            <a:stCxn id="3456" idx="5"/>
            <a:endCxn id="3458" idx="0"/>
          </p:cNvCxnSpPr>
          <p:nvPr/>
        </p:nvCxnSpPr>
        <p:spPr>
          <a:xfrm>
            <a:off x="1411843" y="5181238"/>
            <a:ext cx="107100" cy="329700"/>
          </a:xfrm>
          <a:prstGeom prst="straightConnector1">
            <a:avLst/>
          </a:prstGeom>
          <a:solidFill>
            <a:schemeClr val="accent2"/>
          </a:solidFill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3471" name="Google Shape;3471;p122"/>
          <p:cNvSpPr/>
          <p:nvPr/>
        </p:nvSpPr>
        <p:spPr>
          <a:xfrm>
            <a:off x="4525401" y="5922134"/>
            <a:ext cx="556142" cy="509345"/>
          </a:xfrm>
          <a:prstGeom prst="ellipse">
            <a:avLst/>
          </a:prstGeom>
          <a:solidFill>
            <a:schemeClr val="accent2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16</a:t>
            </a:r>
            <a:endParaRPr/>
          </a:p>
        </p:txBody>
      </p:sp>
      <p:sp>
        <p:nvSpPr>
          <p:cNvPr id="3466" name="Google Shape;3466;p122"/>
          <p:cNvSpPr/>
          <p:nvPr/>
        </p:nvSpPr>
        <p:spPr>
          <a:xfrm>
            <a:off x="4481014" y="4753511"/>
            <a:ext cx="556142" cy="509345"/>
          </a:xfrm>
          <a:prstGeom prst="ellipse">
            <a:avLst/>
          </a:prstGeom>
          <a:solidFill>
            <a:schemeClr val="accent2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endParaRPr/>
          </a:p>
        </p:txBody>
      </p:sp>
      <p:sp>
        <p:nvSpPr>
          <p:cNvPr id="3464" name="Google Shape;3464;p122"/>
          <p:cNvSpPr/>
          <p:nvPr/>
        </p:nvSpPr>
        <p:spPr>
          <a:xfrm>
            <a:off x="5933861" y="4839508"/>
            <a:ext cx="556142" cy="509345"/>
          </a:xfrm>
          <a:prstGeom prst="ellipse">
            <a:avLst/>
          </a:prstGeom>
          <a:solidFill>
            <a:schemeClr val="accent2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/>
          </a:p>
        </p:txBody>
      </p:sp>
      <p:sp>
        <p:nvSpPr>
          <p:cNvPr id="3472" name="Google Shape;3472;p122"/>
          <p:cNvSpPr/>
          <p:nvPr/>
        </p:nvSpPr>
        <p:spPr>
          <a:xfrm>
            <a:off x="6884435" y="1093648"/>
            <a:ext cx="4497258" cy="8309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Initially the array must 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be a max heap (run a max heapify)</a:t>
            </a:r>
            <a:endParaRPr/>
          </a:p>
        </p:txBody>
      </p:sp>
      <p:graphicFrame>
        <p:nvGraphicFramePr>
          <p:cNvPr id="3473" name="Google Shape;3473;p122"/>
          <p:cNvGraphicFramePr/>
          <p:nvPr/>
        </p:nvGraphicFramePr>
        <p:xfrm>
          <a:off x="6851939" y="2264136"/>
          <a:ext cx="4562250" cy="731540"/>
        </p:xfrm>
        <a:graphic>
          <a:graphicData uri="http://schemas.openxmlformats.org/drawingml/2006/table">
            <a:tbl>
              <a:tblPr firstRow="1" bandRow="1">
                <a:noFill/>
                <a:tableStyleId>{66088737-8E24-4614-AAA7-3D08145F63E1}</a:tableStyleId>
              </a:tblPr>
              <a:tblGrid>
                <a:gridCol w="4562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62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562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008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115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562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5622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5622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45622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45622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2914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1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2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3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4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5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6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7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8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9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10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14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u="none" strike="noStrike" cap="none">
                          <a:solidFill>
                            <a:schemeClr val="dk1"/>
                          </a:solidFill>
                        </a:rPr>
                        <a:t>16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u="none" strike="noStrike" cap="none">
                          <a:solidFill>
                            <a:schemeClr val="dk1"/>
                          </a:solidFill>
                        </a:rPr>
                        <a:t>14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u="none" strike="noStrike" cap="none">
                          <a:solidFill>
                            <a:schemeClr val="dk1"/>
                          </a:solidFill>
                        </a:rPr>
                        <a:t>10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u="none" strike="noStrike" cap="none">
                          <a:solidFill>
                            <a:schemeClr val="dk1"/>
                          </a:solidFill>
                        </a:rPr>
                        <a:t>8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u="none" strike="noStrike" cap="none">
                          <a:solidFill>
                            <a:schemeClr val="dk1"/>
                          </a:solidFill>
                        </a:rPr>
                        <a:t>7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u="none" strike="noStrike" cap="none">
                          <a:solidFill>
                            <a:schemeClr val="dk1"/>
                          </a:solidFill>
                        </a:rPr>
                        <a:t>9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u="none" strike="noStrike" cap="none">
                          <a:solidFill>
                            <a:schemeClr val="dk1"/>
                          </a:solidFill>
                        </a:rPr>
                        <a:t>3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u="none" strike="noStrike" cap="none">
                          <a:solidFill>
                            <a:schemeClr val="dk1"/>
                          </a:solidFill>
                        </a:rPr>
                        <a:t>2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u="none" strike="noStrike" cap="none">
                          <a:solidFill>
                            <a:schemeClr val="dk1"/>
                          </a:solidFill>
                        </a:rPr>
                        <a:t>4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u="none" strike="noStrike" cap="none">
                          <a:solidFill>
                            <a:schemeClr val="dk1"/>
                          </a:solidFill>
                        </a:rPr>
                        <a:t>1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3474" name="Google Shape;3474;p122"/>
          <p:cNvSpPr txBox="1"/>
          <p:nvPr/>
        </p:nvSpPr>
        <p:spPr>
          <a:xfrm>
            <a:off x="7343481" y="3756305"/>
            <a:ext cx="3798540" cy="923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1.Swap the last element with the root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2.Remove the largest element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3.Run a max heapify</a:t>
            </a:r>
            <a:endParaRPr sz="180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475" name="Google Shape;3475;p122"/>
          <p:cNvCxnSpPr>
            <a:stCxn id="3458" idx="6"/>
            <a:endCxn id="3456" idx="7"/>
          </p:cNvCxnSpPr>
          <p:nvPr/>
        </p:nvCxnSpPr>
        <p:spPr>
          <a:xfrm rot="10800000">
            <a:off x="1411865" y="4821083"/>
            <a:ext cx="385200" cy="944400"/>
          </a:xfrm>
          <a:prstGeom prst="curvedConnector4">
            <a:avLst>
              <a:gd name="adj1" fmla="val -59345"/>
              <a:gd name="adj2" fmla="val 132105"/>
            </a:avLst>
          </a:prstGeom>
          <a:noFill/>
          <a:ln w="57150" cap="flat" cmpd="sng">
            <a:solidFill>
              <a:srgbClr val="FF0000"/>
            </a:solidFill>
            <a:prstDash val="solid"/>
            <a:miter lim="800000"/>
            <a:headEnd type="triangle" w="med" len="med"/>
            <a:tailEnd type="triangle" w="med" len="med"/>
          </a:ln>
        </p:spPr>
      </p:cxnSp>
      <p:sp>
        <p:nvSpPr>
          <p:cNvPr id="3476" name="Google Shape;3476;p122"/>
          <p:cNvSpPr/>
          <p:nvPr/>
        </p:nvSpPr>
        <p:spPr>
          <a:xfrm rot="-5400000">
            <a:off x="10536352" y="3166312"/>
            <a:ext cx="386570" cy="222383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77" name="Google Shape;3477;p122"/>
          <p:cNvSpPr txBox="1"/>
          <p:nvPr/>
        </p:nvSpPr>
        <p:spPr>
          <a:xfrm>
            <a:off x="10195423" y="3440393"/>
            <a:ext cx="1089978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Heap Size</a:t>
            </a:r>
            <a:endParaRPr/>
          </a:p>
        </p:txBody>
      </p:sp>
      <p:graphicFrame>
        <p:nvGraphicFramePr>
          <p:cNvPr id="3478" name="Google Shape;3478;p122"/>
          <p:cNvGraphicFramePr/>
          <p:nvPr/>
        </p:nvGraphicFramePr>
        <p:xfrm>
          <a:off x="6851939" y="2285568"/>
          <a:ext cx="4562250" cy="731540"/>
        </p:xfrm>
        <a:graphic>
          <a:graphicData uri="http://schemas.openxmlformats.org/drawingml/2006/table">
            <a:tbl>
              <a:tblPr firstRow="1" bandRow="1">
                <a:noFill/>
                <a:tableStyleId>{66088737-8E24-4614-AAA7-3D08145F63E1}</a:tableStyleId>
              </a:tblPr>
              <a:tblGrid>
                <a:gridCol w="4562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62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562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008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115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562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5622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5622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45622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45622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2914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1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2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3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4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5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6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7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8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9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10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14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u="none" strike="noStrike" cap="none">
                          <a:solidFill>
                            <a:schemeClr val="dk1"/>
                          </a:solidFill>
                        </a:rPr>
                        <a:t>14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u="none" strike="noStrike" cap="none">
                          <a:solidFill>
                            <a:schemeClr val="dk1"/>
                          </a:solidFill>
                        </a:rPr>
                        <a:t>8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u="none" strike="noStrike" cap="none">
                          <a:solidFill>
                            <a:schemeClr val="dk1"/>
                          </a:solidFill>
                        </a:rPr>
                        <a:t>10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u="none" strike="noStrike" cap="none">
                          <a:solidFill>
                            <a:schemeClr val="dk1"/>
                          </a:solidFill>
                        </a:rPr>
                        <a:t>1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u="none" strike="noStrike" cap="none">
                          <a:solidFill>
                            <a:schemeClr val="dk1"/>
                          </a:solidFill>
                        </a:rPr>
                        <a:t>7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u="none" strike="noStrike" cap="none">
                          <a:solidFill>
                            <a:schemeClr val="dk1"/>
                          </a:solidFill>
                        </a:rPr>
                        <a:t>9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u="none" strike="noStrike" cap="none">
                          <a:solidFill>
                            <a:schemeClr val="dk1"/>
                          </a:solidFill>
                        </a:rPr>
                        <a:t>3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u="none" strike="noStrike" cap="none">
                          <a:solidFill>
                            <a:schemeClr val="dk1"/>
                          </a:solidFill>
                        </a:rPr>
                        <a:t>2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u="none" strike="noStrike" cap="none">
                          <a:solidFill>
                            <a:schemeClr val="dk1"/>
                          </a:solidFill>
                        </a:rPr>
                        <a:t>4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u="none" strike="noStrike" cap="none">
                          <a:solidFill>
                            <a:schemeClr val="dk1"/>
                          </a:solidFill>
                        </a:rPr>
                        <a:t>16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3" name="Google Shape;3483;p123"/>
          <p:cNvSpPr txBox="1">
            <a:spLocks noGrp="1"/>
          </p:cNvSpPr>
          <p:nvPr>
            <p:ph type="body" idx="1"/>
          </p:nvPr>
        </p:nvSpPr>
        <p:spPr>
          <a:xfrm>
            <a:off x="838200" y="1227909"/>
            <a:ext cx="10515600" cy="49490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1500"/>
              <a:buFont typeface="Arial"/>
              <a:buChar char="●"/>
            </a:pPr>
            <a:r>
              <a:rPr lang="en-US" sz="2000" b="1"/>
              <a:t>Priority Queue functions</a:t>
            </a:r>
            <a:endParaRPr/>
          </a:p>
          <a:p>
            <a:pPr marL="742950" lvl="1" indent="-28575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040"/>
              <a:buChar char="●"/>
            </a:pPr>
            <a:r>
              <a:rPr lang="en-US" sz="1600"/>
              <a:t>HEAP-MAXIMUM </a:t>
            </a:r>
            <a:endParaRPr/>
          </a:p>
          <a:p>
            <a:pPr marL="742950" lvl="1" indent="-28575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040"/>
              <a:buChar char="●"/>
            </a:pPr>
            <a:r>
              <a:rPr lang="en-US" sz="1600"/>
              <a:t>MAX-HEAP-INSERT</a:t>
            </a:r>
            <a:endParaRPr/>
          </a:p>
          <a:p>
            <a:pPr marL="742950" lvl="1" indent="-28575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040"/>
              <a:buChar char="●"/>
            </a:pPr>
            <a:r>
              <a:rPr lang="en-US" sz="1600" b="1"/>
              <a:t>HEAP-EXTRACT-MAX – </a:t>
            </a:r>
            <a:r>
              <a:rPr lang="en-US" sz="1600">
                <a:solidFill>
                  <a:srgbClr val="FF0000"/>
                </a:solidFill>
              </a:rPr>
              <a:t>extract the eldest citizen</a:t>
            </a:r>
            <a:endParaRPr sz="1600" b="1">
              <a:solidFill>
                <a:srgbClr val="FF0000"/>
              </a:solidFill>
            </a:endParaRPr>
          </a:p>
          <a:p>
            <a:pPr marL="742950" lvl="1" indent="-28575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040"/>
              <a:buChar char="●"/>
            </a:pPr>
            <a:r>
              <a:rPr lang="en-US" sz="1600"/>
              <a:t>HEAP-INCREASE-KEY</a:t>
            </a:r>
            <a:endParaRPr/>
          </a:p>
        </p:txBody>
      </p:sp>
      <p:sp>
        <p:nvSpPr>
          <p:cNvPr id="3484" name="Google Shape;3484;p123"/>
          <p:cNvSpPr txBox="1">
            <a:spLocks noGrp="1"/>
          </p:cNvSpPr>
          <p:nvPr>
            <p:ph type="dt" idx="10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4CF30A86-D26A-4BA6-80DD-40A28054D76E}" type="datetime1">
              <a:rPr lang="en-US" smtClean="0"/>
              <a:t>1/12/2026</a:t>
            </a:fld>
            <a:endParaRPr/>
          </a:p>
        </p:txBody>
      </p:sp>
      <p:sp>
        <p:nvSpPr>
          <p:cNvPr id="3485" name="Google Shape;3485;p123"/>
          <p:cNvSpPr txBox="1">
            <a:spLocks noGrp="1"/>
          </p:cNvSpPr>
          <p:nvPr>
            <p:ph type="ftr" idx="11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Lec Asif Abrar, Dept of CSE, UIU</a:t>
            </a:r>
            <a:endParaRPr/>
          </a:p>
        </p:txBody>
      </p:sp>
      <p:sp>
        <p:nvSpPr>
          <p:cNvPr id="3486" name="Google Shape;3486;p123"/>
          <p:cNvSpPr txBox="1">
            <a:spLocks noGrp="1"/>
          </p:cNvSpPr>
          <p:nvPr>
            <p:ph type="sldNum" idx="12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90</a:t>
            </a:fld>
            <a:endParaRPr/>
          </a:p>
        </p:txBody>
      </p:sp>
      <p:sp>
        <p:nvSpPr>
          <p:cNvPr id="3487" name="Google Shape;3487;p123"/>
          <p:cNvSpPr txBox="1">
            <a:spLocks noGrp="1"/>
          </p:cNvSpPr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/>
              <a:t>Max heap as a priority queue</a:t>
            </a:r>
            <a:endParaRPr/>
          </a:p>
        </p:txBody>
      </p:sp>
      <p:sp>
        <p:nvSpPr>
          <p:cNvPr id="3488" name="Google Shape;3488;p123"/>
          <p:cNvSpPr/>
          <p:nvPr/>
        </p:nvSpPr>
        <p:spPr>
          <a:xfrm>
            <a:off x="3581400" y="3429000"/>
            <a:ext cx="556142" cy="509345"/>
          </a:xfrm>
          <a:prstGeom prst="ellipse">
            <a:avLst/>
          </a:prstGeom>
          <a:solidFill>
            <a:schemeClr val="accent2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14</a:t>
            </a:r>
            <a:endParaRPr/>
          </a:p>
        </p:txBody>
      </p:sp>
      <p:sp>
        <p:nvSpPr>
          <p:cNvPr id="3489" name="Google Shape;3489;p123"/>
          <p:cNvSpPr/>
          <p:nvPr/>
        </p:nvSpPr>
        <p:spPr>
          <a:xfrm>
            <a:off x="1558622" y="4190269"/>
            <a:ext cx="556142" cy="509345"/>
          </a:xfrm>
          <a:prstGeom prst="ellipse">
            <a:avLst/>
          </a:prstGeom>
          <a:solidFill>
            <a:schemeClr val="accent2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/>
          </a:p>
        </p:txBody>
      </p:sp>
      <p:sp>
        <p:nvSpPr>
          <p:cNvPr id="3490" name="Google Shape;3490;p123"/>
          <p:cNvSpPr/>
          <p:nvPr/>
        </p:nvSpPr>
        <p:spPr>
          <a:xfrm>
            <a:off x="937146" y="4746485"/>
            <a:ext cx="556142" cy="509345"/>
          </a:xfrm>
          <a:prstGeom prst="ellipse">
            <a:avLst/>
          </a:prstGeom>
          <a:solidFill>
            <a:schemeClr val="accent2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/>
          </a:p>
        </p:txBody>
      </p:sp>
      <p:sp>
        <p:nvSpPr>
          <p:cNvPr id="3491" name="Google Shape;3491;p123"/>
          <p:cNvSpPr/>
          <p:nvPr/>
        </p:nvSpPr>
        <p:spPr>
          <a:xfrm>
            <a:off x="384101" y="5469919"/>
            <a:ext cx="556142" cy="509345"/>
          </a:xfrm>
          <a:prstGeom prst="ellipse">
            <a:avLst/>
          </a:prstGeom>
          <a:solidFill>
            <a:schemeClr val="accent2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  <p:sp>
        <p:nvSpPr>
          <p:cNvPr id="3492" name="Google Shape;3492;p123"/>
          <p:cNvSpPr/>
          <p:nvPr/>
        </p:nvSpPr>
        <p:spPr>
          <a:xfrm>
            <a:off x="1240923" y="5510810"/>
            <a:ext cx="556142" cy="509345"/>
          </a:xfrm>
          <a:prstGeom prst="ellipse">
            <a:avLst/>
          </a:prstGeom>
          <a:solidFill>
            <a:schemeClr val="accent2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3493" name="Google Shape;3493;p123"/>
          <p:cNvSpPr/>
          <p:nvPr/>
        </p:nvSpPr>
        <p:spPr>
          <a:xfrm>
            <a:off x="2521675" y="4836679"/>
            <a:ext cx="556142" cy="509345"/>
          </a:xfrm>
          <a:prstGeom prst="ellipse">
            <a:avLst/>
          </a:prstGeom>
          <a:solidFill>
            <a:schemeClr val="accent2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/>
          </a:p>
        </p:txBody>
      </p:sp>
      <p:sp>
        <p:nvSpPr>
          <p:cNvPr id="3494" name="Google Shape;3494;p123"/>
          <p:cNvSpPr/>
          <p:nvPr/>
        </p:nvSpPr>
        <p:spPr>
          <a:xfrm>
            <a:off x="5009277" y="4118269"/>
            <a:ext cx="556142" cy="509345"/>
          </a:xfrm>
          <a:prstGeom prst="ellipse">
            <a:avLst/>
          </a:prstGeom>
          <a:solidFill>
            <a:schemeClr val="accent2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/>
          </a:p>
        </p:txBody>
      </p:sp>
      <p:cxnSp>
        <p:nvCxnSpPr>
          <p:cNvPr id="3495" name="Google Shape;3495;p123"/>
          <p:cNvCxnSpPr>
            <a:stCxn id="3488" idx="3"/>
            <a:endCxn id="3489" idx="7"/>
          </p:cNvCxnSpPr>
          <p:nvPr/>
        </p:nvCxnSpPr>
        <p:spPr>
          <a:xfrm flipH="1">
            <a:off x="2033245" y="3863753"/>
            <a:ext cx="1629600" cy="401100"/>
          </a:xfrm>
          <a:prstGeom prst="straightConnector1">
            <a:avLst/>
          </a:prstGeom>
          <a:solidFill>
            <a:schemeClr val="accent2"/>
          </a:solidFill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3496" name="Google Shape;3496;p123"/>
          <p:cNvCxnSpPr>
            <a:stCxn id="3494" idx="1"/>
            <a:endCxn id="3488" idx="5"/>
          </p:cNvCxnSpPr>
          <p:nvPr/>
        </p:nvCxnSpPr>
        <p:spPr>
          <a:xfrm rot="10800000">
            <a:off x="4056022" y="3863761"/>
            <a:ext cx="1034700" cy="329100"/>
          </a:xfrm>
          <a:prstGeom prst="straightConnector1">
            <a:avLst/>
          </a:prstGeom>
          <a:solidFill>
            <a:schemeClr val="accent2"/>
          </a:solidFill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3497" name="Google Shape;3497;p123"/>
          <p:cNvCxnSpPr>
            <a:stCxn id="3498" idx="0"/>
            <a:endCxn id="3494" idx="5"/>
          </p:cNvCxnSpPr>
          <p:nvPr/>
        </p:nvCxnSpPr>
        <p:spPr>
          <a:xfrm rot="10800000">
            <a:off x="5483832" y="4553008"/>
            <a:ext cx="728100" cy="286500"/>
          </a:xfrm>
          <a:prstGeom prst="straightConnector1">
            <a:avLst/>
          </a:prstGeom>
          <a:solidFill>
            <a:schemeClr val="accent2"/>
          </a:solidFill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3499" name="Google Shape;3499;p123"/>
          <p:cNvCxnSpPr>
            <a:stCxn id="3500" idx="0"/>
            <a:endCxn id="3494" idx="3"/>
          </p:cNvCxnSpPr>
          <p:nvPr/>
        </p:nvCxnSpPr>
        <p:spPr>
          <a:xfrm rot="10800000" flipH="1">
            <a:off x="4759085" y="4553111"/>
            <a:ext cx="331500" cy="200400"/>
          </a:xfrm>
          <a:prstGeom prst="straightConnector1">
            <a:avLst/>
          </a:prstGeom>
          <a:solidFill>
            <a:schemeClr val="accent2"/>
          </a:solidFill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3501" name="Google Shape;3501;p123"/>
          <p:cNvCxnSpPr>
            <a:stCxn id="3489" idx="3"/>
            <a:endCxn id="3490" idx="7"/>
          </p:cNvCxnSpPr>
          <p:nvPr/>
        </p:nvCxnSpPr>
        <p:spPr>
          <a:xfrm flipH="1">
            <a:off x="1411767" y="4625022"/>
            <a:ext cx="228300" cy="196200"/>
          </a:xfrm>
          <a:prstGeom prst="straightConnector1">
            <a:avLst/>
          </a:prstGeom>
          <a:solidFill>
            <a:schemeClr val="accent2"/>
          </a:solidFill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3502" name="Google Shape;3502;p123"/>
          <p:cNvCxnSpPr>
            <a:stCxn id="3489" idx="5"/>
            <a:endCxn id="3493" idx="1"/>
          </p:cNvCxnSpPr>
          <p:nvPr/>
        </p:nvCxnSpPr>
        <p:spPr>
          <a:xfrm>
            <a:off x="2033319" y="4625022"/>
            <a:ext cx="569700" cy="286200"/>
          </a:xfrm>
          <a:prstGeom prst="straightConnector1">
            <a:avLst/>
          </a:prstGeom>
          <a:solidFill>
            <a:schemeClr val="accent2"/>
          </a:solidFill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3503" name="Google Shape;3503;p123"/>
          <p:cNvCxnSpPr>
            <a:stCxn id="3490" idx="3"/>
            <a:endCxn id="3491" idx="7"/>
          </p:cNvCxnSpPr>
          <p:nvPr/>
        </p:nvCxnSpPr>
        <p:spPr>
          <a:xfrm flipH="1">
            <a:off x="858691" y="5181238"/>
            <a:ext cx="159900" cy="363300"/>
          </a:xfrm>
          <a:prstGeom prst="straightConnector1">
            <a:avLst/>
          </a:prstGeom>
          <a:solidFill>
            <a:schemeClr val="accent2"/>
          </a:solidFill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3504" name="Google Shape;3504;p123"/>
          <p:cNvCxnSpPr>
            <a:stCxn id="3490" idx="5"/>
            <a:endCxn id="3492" idx="0"/>
          </p:cNvCxnSpPr>
          <p:nvPr/>
        </p:nvCxnSpPr>
        <p:spPr>
          <a:xfrm>
            <a:off x="1411843" y="5181238"/>
            <a:ext cx="107100" cy="329700"/>
          </a:xfrm>
          <a:prstGeom prst="straightConnector1">
            <a:avLst/>
          </a:prstGeom>
          <a:solidFill>
            <a:schemeClr val="accent2"/>
          </a:solidFill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3505" name="Google Shape;3505;p123"/>
          <p:cNvSpPr/>
          <p:nvPr/>
        </p:nvSpPr>
        <p:spPr>
          <a:xfrm>
            <a:off x="4525401" y="5922134"/>
            <a:ext cx="556142" cy="509345"/>
          </a:xfrm>
          <a:prstGeom prst="ellipse">
            <a:avLst/>
          </a:prstGeom>
          <a:solidFill>
            <a:schemeClr val="accent2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16</a:t>
            </a:r>
            <a:endParaRPr/>
          </a:p>
        </p:txBody>
      </p:sp>
      <p:sp>
        <p:nvSpPr>
          <p:cNvPr id="3500" name="Google Shape;3500;p123"/>
          <p:cNvSpPr/>
          <p:nvPr/>
        </p:nvSpPr>
        <p:spPr>
          <a:xfrm>
            <a:off x="4481014" y="4753511"/>
            <a:ext cx="556142" cy="509345"/>
          </a:xfrm>
          <a:prstGeom prst="ellipse">
            <a:avLst/>
          </a:prstGeom>
          <a:solidFill>
            <a:schemeClr val="accent2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endParaRPr/>
          </a:p>
        </p:txBody>
      </p:sp>
      <p:sp>
        <p:nvSpPr>
          <p:cNvPr id="3498" name="Google Shape;3498;p123"/>
          <p:cNvSpPr/>
          <p:nvPr/>
        </p:nvSpPr>
        <p:spPr>
          <a:xfrm>
            <a:off x="5933861" y="4839508"/>
            <a:ext cx="556142" cy="509345"/>
          </a:xfrm>
          <a:prstGeom prst="ellipse">
            <a:avLst/>
          </a:prstGeom>
          <a:solidFill>
            <a:schemeClr val="accent2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/>
          </a:p>
        </p:txBody>
      </p:sp>
      <p:sp>
        <p:nvSpPr>
          <p:cNvPr id="3506" name="Google Shape;3506;p123"/>
          <p:cNvSpPr/>
          <p:nvPr/>
        </p:nvSpPr>
        <p:spPr>
          <a:xfrm>
            <a:off x="6884435" y="1093648"/>
            <a:ext cx="4497258" cy="8309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Initially the array must 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be a max heap (run a max heapify)</a:t>
            </a:r>
            <a:endParaRPr/>
          </a:p>
        </p:txBody>
      </p:sp>
      <p:graphicFrame>
        <p:nvGraphicFramePr>
          <p:cNvPr id="3507" name="Google Shape;3507;p123"/>
          <p:cNvGraphicFramePr/>
          <p:nvPr/>
        </p:nvGraphicFramePr>
        <p:xfrm>
          <a:off x="6851939" y="2264136"/>
          <a:ext cx="4562250" cy="731540"/>
        </p:xfrm>
        <a:graphic>
          <a:graphicData uri="http://schemas.openxmlformats.org/drawingml/2006/table">
            <a:tbl>
              <a:tblPr firstRow="1" bandRow="1">
                <a:noFill/>
                <a:tableStyleId>{66088737-8E24-4614-AAA7-3D08145F63E1}</a:tableStyleId>
              </a:tblPr>
              <a:tblGrid>
                <a:gridCol w="4562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62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562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008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115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562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5622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5622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45622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45622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2914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1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2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3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4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5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6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7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8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9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10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14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u="none" strike="noStrike" cap="none">
                          <a:solidFill>
                            <a:schemeClr val="dk1"/>
                          </a:solidFill>
                        </a:rPr>
                        <a:t>16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u="none" strike="noStrike" cap="none">
                          <a:solidFill>
                            <a:schemeClr val="dk1"/>
                          </a:solidFill>
                        </a:rPr>
                        <a:t>14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u="none" strike="noStrike" cap="none">
                          <a:solidFill>
                            <a:schemeClr val="dk1"/>
                          </a:solidFill>
                        </a:rPr>
                        <a:t>10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u="none" strike="noStrike" cap="none">
                          <a:solidFill>
                            <a:schemeClr val="dk1"/>
                          </a:solidFill>
                        </a:rPr>
                        <a:t>8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u="none" strike="noStrike" cap="none">
                          <a:solidFill>
                            <a:schemeClr val="dk1"/>
                          </a:solidFill>
                        </a:rPr>
                        <a:t>7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u="none" strike="noStrike" cap="none">
                          <a:solidFill>
                            <a:schemeClr val="dk1"/>
                          </a:solidFill>
                        </a:rPr>
                        <a:t>9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u="none" strike="noStrike" cap="none">
                          <a:solidFill>
                            <a:schemeClr val="dk1"/>
                          </a:solidFill>
                        </a:rPr>
                        <a:t>3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u="none" strike="noStrike" cap="none">
                          <a:solidFill>
                            <a:schemeClr val="dk1"/>
                          </a:solidFill>
                        </a:rPr>
                        <a:t>2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u="none" strike="noStrike" cap="none">
                          <a:solidFill>
                            <a:schemeClr val="dk1"/>
                          </a:solidFill>
                        </a:rPr>
                        <a:t>4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u="none" strike="noStrike" cap="none">
                          <a:solidFill>
                            <a:schemeClr val="dk1"/>
                          </a:solidFill>
                        </a:rPr>
                        <a:t>1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3508" name="Google Shape;3508;p123"/>
          <p:cNvSpPr txBox="1"/>
          <p:nvPr/>
        </p:nvSpPr>
        <p:spPr>
          <a:xfrm>
            <a:off x="7343481" y="3756305"/>
            <a:ext cx="3798540" cy="923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1.Swap the last element with the root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2.Remove the largest element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3.Run a max heapify</a:t>
            </a:r>
            <a:endParaRPr sz="180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509" name="Google Shape;3509;p123"/>
          <p:cNvCxnSpPr>
            <a:stCxn id="3492" idx="6"/>
            <a:endCxn id="3490" idx="7"/>
          </p:cNvCxnSpPr>
          <p:nvPr/>
        </p:nvCxnSpPr>
        <p:spPr>
          <a:xfrm rot="10800000">
            <a:off x="1411865" y="4821083"/>
            <a:ext cx="385200" cy="944400"/>
          </a:xfrm>
          <a:prstGeom prst="curvedConnector4">
            <a:avLst>
              <a:gd name="adj1" fmla="val -59345"/>
              <a:gd name="adj2" fmla="val 132105"/>
            </a:avLst>
          </a:prstGeom>
          <a:noFill/>
          <a:ln w="57150" cap="flat" cmpd="sng">
            <a:solidFill>
              <a:srgbClr val="FF0000"/>
            </a:solidFill>
            <a:prstDash val="solid"/>
            <a:miter lim="800000"/>
            <a:headEnd type="triangle" w="med" len="med"/>
            <a:tailEnd type="triangle" w="med" len="med"/>
          </a:ln>
        </p:spPr>
      </p:cxnSp>
      <p:sp>
        <p:nvSpPr>
          <p:cNvPr id="3510" name="Google Shape;3510;p123"/>
          <p:cNvSpPr/>
          <p:nvPr/>
        </p:nvSpPr>
        <p:spPr>
          <a:xfrm rot="-5400000">
            <a:off x="10536352" y="3166312"/>
            <a:ext cx="386570" cy="222383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11" name="Google Shape;3511;p123"/>
          <p:cNvSpPr txBox="1"/>
          <p:nvPr/>
        </p:nvSpPr>
        <p:spPr>
          <a:xfrm>
            <a:off x="10195423" y="3440393"/>
            <a:ext cx="1089978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Heap Size</a:t>
            </a:r>
            <a:endParaRPr/>
          </a:p>
        </p:txBody>
      </p:sp>
      <p:graphicFrame>
        <p:nvGraphicFramePr>
          <p:cNvPr id="3512" name="Google Shape;3512;p123"/>
          <p:cNvGraphicFramePr/>
          <p:nvPr/>
        </p:nvGraphicFramePr>
        <p:xfrm>
          <a:off x="6851939" y="2275983"/>
          <a:ext cx="4562250" cy="731540"/>
        </p:xfrm>
        <a:graphic>
          <a:graphicData uri="http://schemas.openxmlformats.org/drawingml/2006/table">
            <a:tbl>
              <a:tblPr firstRow="1" bandRow="1">
                <a:noFill/>
                <a:tableStyleId>{66088737-8E24-4614-AAA7-3D08145F63E1}</a:tableStyleId>
              </a:tblPr>
              <a:tblGrid>
                <a:gridCol w="4562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62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562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008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115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562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5622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5622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45622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45622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2914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1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2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3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4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5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6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7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8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9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10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14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u="none" strike="noStrike" cap="none">
                          <a:solidFill>
                            <a:schemeClr val="dk1"/>
                          </a:solidFill>
                        </a:rPr>
                        <a:t>14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u="none" strike="noStrike" cap="none">
                          <a:solidFill>
                            <a:schemeClr val="dk1"/>
                          </a:solidFill>
                        </a:rPr>
                        <a:t>8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u="none" strike="noStrike" cap="none">
                          <a:solidFill>
                            <a:schemeClr val="dk1"/>
                          </a:solidFill>
                        </a:rPr>
                        <a:t>10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u="none" strike="noStrike" cap="none">
                          <a:solidFill>
                            <a:schemeClr val="dk1"/>
                          </a:solidFill>
                        </a:rPr>
                        <a:t>4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u="none" strike="noStrike" cap="none">
                          <a:solidFill>
                            <a:schemeClr val="dk1"/>
                          </a:solidFill>
                        </a:rPr>
                        <a:t>7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u="none" strike="noStrike" cap="none">
                          <a:solidFill>
                            <a:schemeClr val="dk1"/>
                          </a:solidFill>
                        </a:rPr>
                        <a:t>9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u="none" strike="noStrike" cap="none">
                          <a:solidFill>
                            <a:schemeClr val="dk1"/>
                          </a:solidFill>
                        </a:rPr>
                        <a:t>3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u="none" strike="noStrike" cap="none">
                          <a:solidFill>
                            <a:schemeClr val="dk1"/>
                          </a:solidFill>
                        </a:rPr>
                        <a:t>2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u="none" strike="noStrike" cap="none">
                          <a:solidFill>
                            <a:schemeClr val="dk1"/>
                          </a:solidFill>
                        </a:rPr>
                        <a:t>1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u="none" strike="noStrike" cap="none">
                          <a:solidFill>
                            <a:schemeClr val="dk1"/>
                          </a:solidFill>
                        </a:rPr>
                        <a:t>16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7" name="Google Shape;3517;p124"/>
          <p:cNvSpPr txBox="1">
            <a:spLocks noGrp="1"/>
          </p:cNvSpPr>
          <p:nvPr>
            <p:ph type="body" idx="1"/>
          </p:nvPr>
        </p:nvSpPr>
        <p:spPr>
          <a:xfrm>
            <a:off x="838200" y="1227909"/>
            <a:ext cx="10515600" cy="49490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1500"/>
              <a:buFont typeface="Arial"/>
              <a:buChar char="●"/>
            </a:pPr>
            <a:r>
              <a:rPr lang="en-US" sz="2000" b="1"/>
              <a:t>Priority Queue functions</a:t>
            </a:r>
            <a:endParaRPr/>
          </a:p>
          <a:p>
            <a:pPr marL="742950" lvl="1" indent="-28575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040"/>
              <a:buChar char="●"/>
            </a:pPr>
            <a:r>
              <a:rPr lang="en-US" sz="1600"/>
              <a:t>HEAP-MAXIMUM </a:t>
            </a:r>
            <a:endParaRPr/>
          </a:p>
          <a:p>
            <a:pPr marL="742950" lvl="1" indent="-28575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040"/>
              <a:buChar char="●"/>
            </a:pPr>
            <a:r>
              <a:rPr lang="en-US" sz="1600"/>
              <a:t>MAX-HEAP-INSERT</a:t>
            </a:r>
            <a:endParaRPr/>
          </a:p>
          <a:p>
            <a:pPr marL="742950" lvl="1" indent="-28575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040"/>
              <a:buChar char="●"/>
            </a:pPr>
            <a:r>
              <a:rPr lang="en-US" sz="1600" b="1"/>
              <a:t>HEAP-EXTRACT-MAX – </a:t>
            </a:r>
            <a:r>
              <a:rPr lang="en-US" sz="1600">
                <a:solidFill>
                  <a:srgbClr val="FF0000"/>
                </a:solidFill>
              </a:rPr>
              <a:t>extract the eldest citizen</a:t>
            </a:r>
            <a:endParaRPr sz="1600" b="1">
              <a:solidFill>
                <a:srgbClr val="FF0000"/>
              </a:solidFill>
            </a:endParaRPr>
          </a:p>
          <a:p>
            <a:pPr marL="742950" lvl="1" indent="-28575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040"/>
              <a:buChar char="●"/>
            </a:pPr>
            <a:r>
              <a:rPr lang="en-US" sz="1600"/>
              <a:t>HEAP-INCREASE-KEY</a:t>
            </a:r>
            <a:endParaRPr/>
          </a:p>
        </p:txBody>
      </p:sp>
      <p:sp>
        <p:nvSpPr>
          <p:cNvPr id="3518" name="Google Shape;3518;p124"/>
          <p:cNvSpPr txBox="1">
            <a:spLocks noGrp="1"/>
          </p:cNvSpPr>
          <p:nvPr>
            <p:ph type="dt" idx="10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9800EA0F-562A-495D-8421-4A102F823CB9}" type="datetime1">
              <a:rPr lang="en-US" smtClean="0"/>
              <a:t>1/12/2026</a:t>
            </a:fld>
            <a:endParaRPr/>
          </a:p>
        </p:txBody>
      </p:sp>
      <p:sp>
        <p:nvSpPr>
          <p:cNvPr id="3519" name="Google Shape;3519;p124"/>
          <p:cNvSpPr txBox="1">
            <a:spLocks noGrp="1"/>
          </p:cNvSpPr>
          <p:nvPr>
            <p:ph type="ftr" idx="11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Lec Asif Abrar, Dept of CSE, UIU</a:t>
            </a:r>
            <a:endParaRPr/>
          </a:p>
        </p:txBody>
      </p:sp>
      <p:sp>
        <p:nvSpPr>
          <p:cNvPr id="3520" name="Google Shape;3520;p124"/>
          <p:cNvSpPr txBox="1">
            <a:spLocks noGrp="1"/>
          </p:cNvSpPr>
          <p:nvPr>
            <p:ph type="sldNum" idx="12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91</a:t>
            </a:fld>
            <a:endParaRPr/>
          </a:p>
        </p:txBody>
      </p:sp>
      <p:sp>
        <p:nvSpPr>
          <p:cNvPr id="3521" name="Google Shape;3521;p124"/>
          <p:cNvSpPr txBox="1">
            <a:spLocks noGrp="1"/>
          </p:cNvSpPr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/>
              <a:t>Max heap as a priority queue</a:t>
            </a:r>
            <a:endParaRPr/>
          </a:p>
        </p:txBody>
      </p:sp>
      <p:sp>
        <p:nvSpPr>
          <p:cNvPr id="3522" name="Google Shape;3522;p124"/>
          <p:cNvSpPr/>
          <p:nvPr/>
        </p:nvSpPr>
        <p:spPr>
          <a:xfrm>
            <a:off x="3581400" y="3429000"/>
            <a:ext cx="556142" cy="509345"/>
          </a:xfrm>
          <a:prstGeom prst="ellipse">
            <a:avLst/>
          </a:prstGeom>
          <a:solidFill>
            <a:schemeClr val="accent2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14</a:t>
            </a:r>
            <a:endParaRPr/>
          </a:p>
        </p:txBody>
      </p:sp>
      <p:sp>
        <p:nvSpPr>
          <p:cNvPr id="3523" name="Google Shape;3523;p124"/>
          <p:cNvSpPr/>
          <p:nvPr/>
        </p:nvSpPr>
        <p:spPr>
          <a:xfrm>
            <a:off x="1558622" y="4190269"/>
            <a:ext cx="556142" cy="509345"/>
          </a:xfrm>
          <a:prstGeom prst="ellipse">
            <a:avLst/>
          </a:prstGeom>
          <a:solidFill>
            <a:schemeClr val="accent2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/>
          </a:p>
        </p:txBody>
      </p:sp>
      <p:sp>
        <p:nvSpPr>
          <p:cNvPr id="3524" name="Google Shape;3524;p124"/>
          <p:cNvSpPr/>
          <p:nvPr/>
        </p:nvSpPr>
        <p:spPr>
          <a:xfrm>
            <a:off x="937146" y="4746485"/>
            <a:ext cx="556142" cy="509345"/>
          </a:xfrm>
          <a:prstGeom prst="ellipse">
            <a:avLst/>
          </a:prstGeom>
          <a:solidFill>
            <a:schemeClr val="accent2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/>
          </a:p>
        </p:txBody>
      </p:sp>
      <p:sp>
        <p:nvSpPr>
          <p:cNvPr id="3525" name="Google Shape;3525;p124"/>
          <p:cNvSpPr/>
          <p:nvPr/>
        </p:nvSpPr>
        <p:spPr>
          <a:xfrm>
            <a:off x="384101" y="5469919"/>
            <a:ext cx="556142" cy="509345"/>
          </a:xfrm>
          <a:prstGeom prst="ellipse">
            <a:avLst/>
          </a:prstGeom>
          <a:solidFill>
            <a:schemeClr val="accent2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  <p:sp>
        <p:nvSpPr>
          <p:cNvPr id="3526" name="Google Shape;3526;p124"/>
          <p:cNvSpPr/>
          <p:nvPr/>
        </p:nvSpPr>
        <p:spPr>
          <a:xfrm>
            <a:off x="1240923" y="5510810"/>
            <a:ext cx="556142" cy="509345"/>
          </a:xfrm>
          <a:prstGeom prst="ellipse">
            <a:avLst/>
          </a:prstGeom>
          <a:solidFill>
            <a:schemeClr val="accent2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3527" name="Google Shape;3527;p124"/>
          <p:cNvSpPr/>
          <p:nvPr/>
        </p:nvSpPr>
        <p:spPr>
          <a:xfrm>
            <a:off x="2521675" y="4836679"/>
            <a:ext cx="556142" cy="509345"/>
          </a:xfrm>
          <a:prstGeom prst="ellipse">
            <a:avLst/>
          </a:prstGeom>
          <a:solidFill>
            <a:schemeClr val="accent2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/>
          </a:p>
        </p:txBody>
      </p:sp>
      <p:sp>
        <p:nvSpPr>
          <p:cNvPr id="3528" name="Google Shape;3528;p124"/>
          <p:cNvSpPr/>
          <p:nvPr/>
        </p:nvSpPr>
        <p:spPr>
          <a:xfrm>
            <a:off x="5009277" y="4118269"/>
            <a:ext cx="556142" cy="509345"/>
          </a:xfrm>
          <a:prstGeom prst="ellipse">
            <a:avLst/>
          </a:prstGeom>
          <a:solidFill>
            <a:schemeClr val="accent2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/>
          </a:p>
        </p:txBody>
      </p:sp>
      <p:cxnSp>
        <p:nvCxnSpPr>
          <p:cNvPr id="3529" name="Google Shape;3529;p124"/>
          <p:cNvCxnSpPr>
            <a:stCxn id="3522" idx="3"/>
            <a:endCxn id="3523" idx="7"/>
          </p:cNvCxnSpPr>
          <p:nvPr/>
        </p:nvCxnSpPr>
        <p:spPr>
          <a:xfrm flipH="1">
            <a:off x="2033245" y="3863753"/>
            <a:ext cx="1629600" cy="401100"/>
          </a:xfrm>
          <a:prstGeom prst="straightConnector1">
            <a:avLst/>
          </a:prstGeom>
          <a:solidFill>
            <a:schemeClr val="accent2"/>
          </a:solidFill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3530" name="Google Shape;3530;p124"/>
          <p:cNvCxnSpPr>
            <a:stCxn id="3528" idx="1"/>
            <a:endCxn id="3522" idx="5"/>
          </p:cNvCxnSpPr>
          <p:nvPr/>
        </p:nvCxnSpPr>
        <p:spPr>
          <a:xfrm rot="10800000">
            <a:off x="4056022" y="3863761"/>
            <a:ext cx="1034700" cy="329100"/>
          </a:xfrm>
          <a:prstGeom prst="straightConnector1">
            <a:avLst/>
          </a:prstGeom>
          <a:solidFill>
            <a:schemeClr val="accent2"/>
          </a:solidFill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3531" name="Google Shape;3531;p124"/>
          <p:cNvCxnSpPr>
            <a:stCxn id="3532" idx="0"/>
            <a:endCxn id="3528" idx="5"/>
          </p:cNvCxnSpPr>
          <p:nvPr/>
        </p:nvCxnSpPr>
        <p:spPr>
          <a:xfrm rot="10800000">
            <a:off x="5483832" y="4553008"/>
            <a:ext cx="728100" cy="286500"/>
          </a:xfrm>
          <a:prstGeom prst="straightConnector1">
            <a:avLst/>
          </a:prstGeom>
          <a:solidFill>
            <a:schemeClr val="accent2"/>
          </a:solidFill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3533" name="Google Shape;3533;p124"/>
          <p:cNvCxnSpPr>
            <a:stCxn id="3534" idx="0"/>
            <a:endCxn id="3528" idx="3"/>
          </p:cNvCxnSpPr>
          <p:nvPr/>
        </p:nvCxnSpPr>
        <p:spPr>
          <a:xfrm rot="10800000" flipH="1">
            <a:off x="4759085" y="4553111"/>
            <a:ext cx="331500" cy="200400"/>
          </a:xfrm>
          <a:prstGeom prst="straightConnector1">
            <a:avLst/>
          </a:prstGeom>
          <a:solidFill>
            <a:schemeClr val="accent2"/>
          </a:solidFill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3535" name="Google Shape;3535;p124"/>
          <p:cNvCxnSpPr>
            <a:stCxn id="3523" idx="3"/>
            <a:endCxn id="3524" idx="7"/>
          </p:cNvCxnSpPr>
          <p:nvPr/>
        </p:nvCxnSpPr>
        <p:spPr>
          <a:xfrm flipH="1">
            <a:off x="1411767" y="4625022"/>
            <a:ext cx="228300" cy="196200"/>
          </a:xfrm>
          <a:prstGeom prst="straightConnector1">
            <a:avLst/>
          </a:prstGeom>
          <a:solidFill>
            <a:schemeClr val="accent2"/>
          </a:solidFill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3536" name="Google Shape;3536;p124"/>
          <p:cNvCxnSpPr>
            <a:stCxn id="3523" idx="5"/>
            <a:endCxn id="3527" idx="1"/>
          </p:cNvCxnSpPr>
          <p:nvPr/>
        </p:nvCxnSpPr>
        <p:spPr>
          <a:xfrm>
            <a:off x="2033319" y="4625022"/>
            <a:ext cx="569700" cy="286200"/>
          </a:xfrm>
          <a:prstGeom prst="straightConnector1">
            <a:avLst/>
          </a:prstGeom>
          <a:solidFill>
            <a:schemeClr val="accent2"/>
          </a:solidFill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3537" name="Google Shape;3537;p124"/>
          <p:cNvCxnSpPr>
            <a:stCxn id="3524" idx="3"/>
            <a:endCxn id="3525" idx="7"/>
          </p:cNvCxnSpPr>
          <p:nvPr/>
        </p:nvCxnSpPr>
        <p:spPr>
          <a:xfrm flipH="1">
            <a:off x="858691" y="5181238"/>
            <a:ext cx="159900" cy="363300"/>
          </a:xfrm>
          <a:prstGeom prst="straightConnector1">
            <a:avLst/>
          </a:prstGeom>
          <a:solidFill>
            <a:schemeClr val="accent2"/>
          </a:solidFill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3538" name="Google Shape;3538;p124"/>
          <p:cNvCxnSpPr>
            <a:stCxn id="3524" idx="5"/>
            <a:endCxn id="3526" idx="0"/>
          </p:cNvCxnSpPr>
          <p:nvPr/>
        </p:nvCxnSpPr>
        <p:spPr>
          <a:xfrm>
            <a:off x="1411843" y="5181238"/>
            <a:ext cx="107100" cy="329700"/>
          </a:xfrm>
          <a:prstGeom prst="straightConnector1">
            <a:avLst/>
          </a:prstGeom>
          <a:solidFill>
            <a:schemeClr val="accent2"/>
          </a:solidFill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3539" name="Google Shape;3539;p124"/>
          <p:cNvSpPr/>
          <p:nvPr/>
        </p:nvSpPr>
        <p:spPr>
          <a:xfrm>
            <a:off x="4525401" y="5922134"/>
            <a:ext cx="556142" cy="509345"/>
          </a:xfrm>
          <a:prstGeom prst="ellipse">
            <a:avLst/>
          </a:prstGeom>
          <a:solidFill>
            <a:schemeClr val="accent2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16</a:t>
            </a:r>
            <a:endParaRPr/>
          </a:p>
        </p:txBody>
      </p:sp>
      <p:sp>
        <p:nvSpPr>
          <p:cNvPr id="3534" name="Google Shape;3534;p124"/>
          <p:cNvSpPr/>
          <p:nvPr/>
        </p:nvSpPr>
        <p:spPr>
          <a:xfrm>
            <a:off x="4481014" y="4753511"/>
            <a:ext cx="556142" cy="509345"/>
          </a:xfrm>
          <a:prstGeom prst="ellipse">
            <a:avLst/>
          </a:prstGeom>
          <a:solidFill>
            <a:schemeClr val="accent2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endParaRPr/>
          </a:p>
        </p:txBody>
      </p:sp>
      <p:sp>
        <p:nvSpPr>
          <p:cNvPr id="3532" name="Google Shape;3532;p124"/>
          <p:cNvSpPr/>
          <p:nvPr/>
        </p:nvSpPr>
        <p:spPr>
          <a:xfrm>
            <a:off x="5933861" y="4839508"/>
            <a:ext cx="556142" cy="509345"/>
          </a:xfrm>
          <a:prstGeom prst="ellipse">
            <a:avLst/>
          </a:prstGeom>
          <a:solidFill>
            <a:schemeClr val="accent2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/>
          </a:p>
        </p:txBody>
      </p:sp>
      <p:sp>
        <p:nvSpPr>
          <p:cNvPr id="3540" name="Google Shape;3540;p124"/>
          <p:cNvSpPr/>
          <p:nvPr/>
        </p:nvSpPr>
        <p:spPr>
          <a:xfrm>
            <a:off x="6884435" y="1093648"/>
            <a:ext cx="4497258" cy="8309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Initially the array must 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be a max heap (run a max heapify)</a:t>
            </a:r>
            <a:endParaRPr/>
          </a:p>
        </p:txBody>
      </p:sp>
      <p:graphicFrame>
        <p:nvGraphicFramePr>
          <p:cNvPr id="3541" name="Google Shape;3541;p124"/>
          <p:cNvGraphicFramePr/>
          <p:nvPr/>
        </p:nvGraphicFramePr>
        <p:xfrm>
          <a:off x="6851939" y="2264136"/>
          <a:ext cx="4562250" cy="731540"/>
        </p:xfrm>
        <a:graphic>
          <a:graphicData uri="http://schemas.openxmlformats.org/drawingml/2006/table">
            <a:tbl>
              <a:tblPr firstRow="1" bandRow="1">
                <a:noFill/>
                <a:tableStyleId>{66088737-8E24-4614-AAA7-3D08145F63E1}</a:tableStyleId>
              </a:tblPr>
              <a:tblGrid>
                <a:gridCol w="4562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62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562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008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115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562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5622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5622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45622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45622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2914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1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2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3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4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5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6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7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8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9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10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14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u="none" strike="noStrike" cap="none">
                          <a:solidFill>
                            <a:schemeClr val="dk1"/>
                          </a:solidFill>
                        </a:rPr>
                        <a:t>16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u="none" strike="noStrike" cap="none">
                          <a:solidFill>
                            <a:schemeClr val="dk1"/>
                          </a:solidFill>
                        </a:rPr>
                        <a:t>14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u="none" strike="noStrike" cap="none">
                          <a:solidFill>
                            <a:schemeClr val="dk1"/>
                          </a:solidFill>
                        </a:rPr>
                        <a:t>10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u="none" strike="noStrike" cap="none">
                          <a:solidFill>
                            <a:schemeClr val="dk1"/>
                          </a:solidFill>
                        </a:rPr>
                        <a:t>8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u="none" strike="noStrike" cap="none">
                          <a:solidFill>
                            <a:schemeClr val="dk1"/>
                          </a:solidFill>
                        </a:rPr>
                        <a:t>7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u="none" strike="noStrike" cap="none">
                          <a:solidFill>
                            <a:schemeClr val="dk1"/>
                          </a:solidFill>
                        </a:rPr>
                        <a:t>9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u="none" strike="noStrike" cap="none">
                          <a:solidFill>
                            <a:schemeClr val="dk1"/>
                          </a:solidFill>
                        </a:rPr>
                        <a:t>3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u="none" strike="noStrike" cap="none">
                          <a:solidFill>
                            <a:schemeClr val="dk1"/>
                          </a:solidFill>
                        </a:rPr>
                        <a:t>2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u="none" strike="noStrike" cap="none">
                          <a:solidFill>
                            <a:schemeClr val="dk1"/>
                          </a:solidFill>
                        </a:rPr>
                        <a:t>4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u="none" strike="noStrike" cap="none">
                          <a:solidFill>
                            <a:schemeClr val="dk1"/>
                          </a:solidFill>
                        </a:rPr>
                        <a:t>1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3542" name="Google Shape;3542;p124"/>
          <p:cNvSpPr txBox="1"/>
          <p:nvPr/>
        </p:nvSpPr>
        <p:spPr>
          <a:xfrm>
            <a:off x="7343481" y="3756305"/>
            <a:ext cx="3798540" cy="12003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1.Swap the last element with the root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2.Remove the largest element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3.Run a max heapify</a:t>
            </a:r>
            <a:endParaRPr sz="180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Observe that it is still a max heap</a:t>
            </a:r>
            <a:endParaRPr/>
          </a:p>
        </p:txBody>
      </p:sp>
      <p:sp>
        <p:nvSpPr>
          <p:cNvPr id="3543" name="Google Shape;3543;p124"/>
          <p:cNvSpPr/>
          <p:nvPr/>
        </p:nvSpPr>
        <p:spPr>
          <a:xfrm rot="-5400000">
            <a:off x="10536352" y="3166312"/>
            <a:ext cx="386570" cy="222383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44" name="Google Shape;3544;p124"/>
          <p:cNvSpPr txBox="1"/>
          <p:nvPr/>
        </p:nvSpPr>
        <p:spPr>
          <a:xfrm>
            <a:off x="10195423" y="3440393"/>
            <a:ext cx="1089978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Heap Size</a:t>
            </a:r>
            <a:endParaRPr/>
          </a:p>
        </p:txBody>
      </p:sp>
      <p:graphicFrame>
        <p:nvGraphicFramePr>
          <p:cNvPr id="3545" name="Google Shape;3545;p124"/>
          <p:cNvGraphicFramePr/>
          <p:nvPr/>
        </p:nvGraphicFramePr>
        <p:xfrm>
          <a:off x="6851939" y="2275983"/>
          <a:ext cx="4562250" cy="731540"/>
        </p:xfrm>
        <a:graphic>
          <a:graphicData uri="http://schemas.openxmlformats.org/drawingml/2006/table">
            <a:tbl>
              <a:tblPr firstRow="1" bandRow="1">
                <a:noFill/>
                <a:tableStyleId>{66088737-8E24-4614-AAA7-3D08145F63E1}</a:tableStyleId>
              </a:tblPr>
              <a:tblGrid>
                <a:gridCol w="4562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62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562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008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115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562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5622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5622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45622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45622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2914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1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2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3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4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5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6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7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8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9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10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14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u="none" strike="noStrike" cap="none">
                          <a:solidFill>
                            <a:schemeClr val="dk1"/>
                          </a:solidFill>
                        </a:rPr>
                        <a:t>14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u="none" strike="noStrike" cap="none">
                          <a:solidFill>
                            <a:schemeClr val="dk1"/>
                          </a:solidFill>
                        </a:rPr>
                        <a:t>8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u="none" strike="noStrike" cap="none">
                          <a:solidFill>
                            <a:schemeClr val="dk1"/>
                          </a:solidFill>
                        </a:rPr>
                        <a:t>10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u="none" strike="noStrike" cap="none">
                          <a:solidFill>
                            <a:schemeClr val="dk1"/>
                          </a:solidFill>
                        </a:rPr>
                        <a:t>4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u="none" strike="noStrike" cap="none">
                          <a:solidFill>
                            <a:schemeClr val="dk1"/>
                          </a:solidFill>
                        </a:rPr>
                        <a:t>7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u="none" strike="noStrike" cap="none">
                          <a:solidFill>
                            <a:schemeClr val="dk1"/>
                          </a:solidFill>
                        </a:rPr>
                        <a:t>9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u="none" strike="noStrike" cap="none">
                          <a:solidFill>
                            <a:schemeClr val="dk1"/>
                          </a:solidFill>
                        </a:rPr>
                        <a:t>3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u="none" strike="noStrike" cap="none">
                          <a:solidFill>
                            <a:schemeClr val="dk1"/>
                          </a:solidFill>
                        </a:rPr>
                        <a:t>2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u="none" strike="noStrike" cap="none">
                          <a:solidFill>
                            <a:schemeClr val="dk1"/>
                          </a:solidFill>
                        </a:rPr>
                        <a:t>1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u="none" strike="noStrike" cap="none">
                          <a:solidFill>
                            <a:schemeClr val="dk1"/>
                          </a:solidFill>
                        </a:rPr>
                        <a:t>16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0" name="Google Shape;3550;p125"/>
          <p:cNvSpPr txBox="1">
            <a:spLocks noGrp="1"/>
          </p:cNvSpPr>
          <p:nvPr>
            <p:ph type="body" idx="1"/>
          </p:nvPr>
        </p:nvSpPr>
        <p:spPr>
          <a:xfrm>
            <a:off x="838200" y="1227909"/>
            <a:ext cx="10515600" cy="49490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1500"/>
              <a:buFont typeface="Arial"/>
              <a:buChar char="●"/>
            </a:pPr>
            <a:r>
              <a:rPr lang="en-US" sz="2000" b="1"/>
              <a:t>Priority Queue functions</a:t>
            </a:r>
            <a:endParaRPr/>
          </a:p>
          <a:p>
            <a:pPr marL="742950" lvl="1" indent="-28575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040"/>
              <a:buChar char="●"/>
            </a:pPr>
            <a:r>
              <a:rPr lang="en-US" sz="1600"/>
              <a:t>HEAP-MAXIMUM </a:t>
            </a:r>
            <a:endParaRPr/>
          </a:p>
          <a:p>
            <a:pPr marL="742950" lvl="1" indent="-28575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040"/>
              <a:buChar char="●"/>
            </a:pPr>
            <a:r>
              <a:rPr lang="en-US" sz="1600"/>
              <a:t>MAX-HEAP-INSERT</a:t>
            </a:r>
            <a:endParaRPr/>
          </a:p>
          <a:p>
            <a:pPr marL="742950" lvl="1" indent="-28575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040"/>
              <a:buChar char="●"/>
            </a:pPr>
            <a:r>
              <a:rPr lang="en-US" sz="1600" b="1"/>
              <a:t>HEAP-EXTRACT-MAX – </a:t>
            </a:r>
            <a:r>
              <a:rPr lang="en-US" sz="1600">
                <a:solidFill>
                  <a:srgbClr val="FF0000"/>
                </a:solidFill>
              </a:rPr>
              <a:t>extract the eldest citizen</a:t>
            </a:r>
            <a:endParaRPr sz="1600" b="1">
              <a:solidFill>
                <a:srgbClr val="FF0000"/>
              </a:solidFill>
            </a:endParaRPr>
          </a:p>
          <a:p>
            <a:pPr marL="742950" lvl="1" indent="-28575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040"/>
              <a:buChar char="●"/>
            </a:pPr>
            <a:r>
              <a:rPr lang="en-US" sz="1600"/>
              <a:t>HEAP-INCREASE-KEY</a:t>
            </a:r>
            <a:endParaRPr/>
          </a:p>
        </p:txBody>
      </p:sp>
      <p:sp>
        <p:nvSpPr>
          <p:cNvPr id="3551" name="Google Shape;3551;p125"/>
          <p:cNvSpPr txBox="1">
            <a:spLocks noGrp="1"/>
          </p:cNvSpPr>
          <p:nvPr>
            <p:ph type="dt" idx="10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2865B7AC-7DEC-4C67-9D90-002D35176ECF}" type="datetime1">
              <a:rPr lang="en-US" smtClean="0"/>
              <a:t>1/12/2026</a:t>
            </a:fld>
            <a:endParaRPr/>
          </a:p>
        </p:txBody>
      </p:sp>
      <p:sp>
        <p:nvSpPr>
          <p:cNvPr id="3552" name="Google Shape;3552;p125"/>
          <p:cNvSpPr txBox="1">
            <a:spLocks noGrp="1"/>
          </p:cNvSpPr>
          <p:nvPr>
            <p:ph type="ftr" idx="11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Lec Asif Abrar, Dept of CSE, UIU</a:t>
            </a:r>
            <a:endParaRPr/>
          </a:p>
        </p:txBody>
      </p:sp>
      <p:sp>
        <p:nvSpPr>
          <p:cNvPr id="3553" name="Google Shape;3553;p125"/>
          <p:cNvSpPr txBox="1">
            <a:spLocks noGrp="1"/>
          </p:cNvSpPr>
          <p:nvPr>
            <p:ph type="sldNum" idx="12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92</a:t>
            </a:fld>
            <a:endParaRPr/>
          </a:p>
        </p:txBody>
      </p:sp>
      <p:sp>
        <p:nvSpPr>
          <p:cNvPr id="3554" name="Google Shape;3554;p125"/>
          <p:cNvSpPr txBox="1">
            <a:spLocks noGrp="1"/>
          </p:cNvSpPr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/>
              <a:t>Max heap as a priority queue</a:t>
            </a:r>
            <a:endParaRPr/>
          </a:p>
        </p:txBody>
      </p:sp>
      <p:sp>
        <p:nvSpPr>
          <p:cNvPr id="3555" name="Google Shape;3555;p125"/>
          <p:cNvSpPr/>
          <p:nvPr/>
        </p:nvSpPr>
        <p:spPr>
          <a:xfrm>
            <a:off x="3581400" y="3429000"/>
            <a:ext cx="556142" cy="509345"/>
          </a:xfrm>
          <a:prstGeom prst="ellipse">
            <a:avLst/>
          </a:prstGeom>
          <a:solidFill>
            <a:schemeClr val="accent2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14</a:t>
            </a:r>
            <a:endParaRPr/>
          </a:p>
        </p:txBody>
      </p:sp>
      <p:sp>
        <p:nvSpPr>
          <p:cNvPr id="3556" name="Google Shape;3556;p125"/>
          <p:cNvSpPr/>
          <p:nvPr/>
        </p:nvSpPr>
        <p:spPr>
          <a:xfrm>
            <a:off x="1558622" y="4190269"/>
            <a:ext cx="556142" cy="509345"/>
          </a:xfrm>
          <a:prstGeom prst="ellipse">
            <a:avLst/>
          </a:prstGeom>
          <a:solidFill>
            <a:schemeClr val="accent2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/>
          </a:p>
        </p:txBody>
      </p:sp>
      <p:sp>
        <p:nvSpPr>
          <p:cNvPr id="3557" name="Google Shape;3557;p125"/>
          <p:cNvSpPr/>
          <p:nvPr/>
        </p:nvSpPr>
        <p:spPr>
          <a:xfrm>
            <a:off x="937146" y="4746485"/>
            <a:ext cx="556142" cy="509345"/>
          </a:xfrm>
          <a:prstGeom prst="ellipse">
            <a:avLst/>
          </a:prstGeom>
          <a:solidFill>
            <a:schemeClr val="accent2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/>
          </a:p>
        </p:txBody>
      </p:sp>
      <p:sp>
        <p:nvSpPr>
          <p:cNvPr id="3558" name="Google Shape;3558;p125"/>
          <p:cNvSpPr/>
          <p:nvPr/>
        </p:nvSpPr>
        <p:spPr>
          <a:xfrm>
            <a:off x="384101" y="5469919"/>
            <a:ext cx="556142" cy="509345"/>
          </a:xfrm>
          <a:prstGeom prst="ellipse">
            <a:avLst/>
          </a:prstGeom>
          <a:solidFill>
            <a:schemeClr val="accent2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  <p:sp>
        <p:nvSpPr>
          <p:cNvPr id="3559" name="Google Shape;3559;p125"/>
          <p:cNvSpPr/>
          <p:nvPr/>
        </p:nvSpPr>
        <p:spPr>
          <a:xfrm>
            <a:off x="1240923" y="5510810"/>
            <a:ext cx="556142" cy="509345"/>
          </a:xfrm>
          <a:prstGeom prst="ellipse">
            <a:avLst/>
          </a:prstGeom>
          <a:solidFill>
            <a:schemeClr val="accent2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3560" name="Google Shape;3560;p125"/>
          <p:cNvSpPr/>
          <p:nvPr/>
        </p:nvSpPr>
        <p:spPr>
          <a:xfrm>
            <a:off x="2521675" y="4836679"/>
            <a:ext cx="556142" cy="509345"/>
          </a:xfrm>
          <a:prstGeom prst="ellipse">
            <a:avLst/>
          </a:prstGeom>
          <a:solidFill>
            <a:schemeClr val="accent2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/>
          </a:p>
        </p:txBody>
      </p:sp>
      <p:sp>
        <p:nvSpPr>
          <p:cNvPr id="3561" name="Google Shape;3561;p125"/>
          <p:cNvSpPr/>
          <p:nvPr/>
        </p:nvSpPr>
        <p:spPr>
          <a:xfrm>
            <a:off x="5009277" y="4118269"/>
            <a:ext cx="556142" cy="509345"/>
          </a:xfrm>
          <a:prstGeom prst="ellipse">
            <a:avLst/>
          </a:prstGeom>
          <a:solidFill>
            <a:schemeClr val="accent2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/>
          </a:p>
        </p:txBody>
      </p:sp>
      <p:cxnSp>
        <p:nvCxnSpPr>
          <p:cNvPr id="3562" name="Google Shape;3562;p125"/>
          <p:cNvCxnSpPr>
            <a:stCxn id="3555" idx="3"/>
            <a:endCxn id="3556" idx="7"/>
          </p:cNvCxnSpPr>
          <p:nvPr/>
        </p:nvCxnSpPr>
        <p:spPr>
          <a:xfrm flipH="1">
            <a:off x="2033245" y="3863753"/>
            <a:ext cx="1629600" cy="401100"/>
          </a:xfrm>
          <a:prstGeom prst="straightConnector1">
            <a:avLst/>
          </a:prstGeom>
          <a:solidFill>
            <a:schemeClr val="accent2"/>
          </a:solidFill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3563" name="Google Shape;3563;p125"/>
          <p:cNvCxnSpPr>
            <a:stCxn id="3561" idx="1"/>
            <a:endCxn id="3555" idx="5"/>
          </p:cNvCxnSpPr>
          <p:nvPr/>
        </p:nvCxnSpPr>
        <p:spPr>
          <a:xfrm rot="10800000">
            <a:off x="4056022" y="3863761"/>
            <a:ext cx="1034700" cy="329100"/>
          </a:xfrm>
          <a:prstGeom prst="straightConnector1">
            <a:avLst/>
          </a:prstGeom>
          <a:solidFill>
            <a:schemeClr val="accent2"/>
          </a:solidFill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3564" name="Google Shape;3564;p125"/>
          <p:cNvCxnSpPr>
            <a:stCxn id="3565" idx="0"/>
            <a:endCxn id="3561" idx="5"/>
          </p:cNvCxnSpPr>
          <p:nvPr/>
        </p:nvCxnSpPr>
        <p:spPr>
          <a:xfrm rot="10800000">
            <a:off x="5483832" y="4553008"/>
            <a:ext cx="728100" cy="286500"/>
          </a:xfrm>
          <a:prstGeom prst="straightConnector1">
            <a:avLst/>
          </a:prstGeom>
          <a:solidFill>
            <a:schemeClr val="accent2"/>
          </a:solidFill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3566" name="Google Shape;3566;p125"/>
          <p:cNvCxnSpPr>
            <a:stCxn id="3567" idx="0"/>
            <a:endCxn id="3561" idx="3"/>
          </p:cNvCxnSpPr>
          <p:nvPr/>
        </p:nvCxnSpPr>
        <p:spPr>
          <a:xfrm rot="10800000" flipH="1">
            <a:off x="4759085" y="4553111"/>
            <a:ext cx="331500" cy="200400"/>
          </a:xfrm>
          <a:prstGeom prst="straightConnector1">
            <a:avLst/>
          </a:prstGeom>
          <a:solidFill>
            <a:schemeClr val="accent2"/>
          </a:solidFill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3568" name="Google Shape;3568;p125"/>
          <p:cNvCxnSpPr>
            <a:stCxn id="3556" idx="3"/>
            <a:endCxn id="3557" idx="7"/>
          </p:cNvCxnSpPr>
          <p:nvPr/>
        </p:nvCxnSpPr>
        <p:spPr>
          <a:xfrm flipH="1">
            <a:off x="1411767" y="4625022"/>
            <a:ext cx="228300" cy="196200"/>
          </a:xfrm>
          <a:prstGeom prst="straightConnector1">
            <a:avLst/>
          </a:prstGeom>
          <a:solidFill>
            <a:schemeClr val="accent2"/>
          </a:solidFill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3569" name="Google Shape;3569;p125"/>
          <p:cNvCxnSpPr>
            <a:stCxn id="3556" idx="5"/>
            <a:endCxn id="3560" idx="1"/>
          </p:cNvCxnSpPr>
          <p:nvPr/>
        </p:nvCxnSpPr>
        <p:spPr>
          <a:xfrm>
            <a:off x="2033319" y="4625022"/>
            <a:ext cx="569700" cy="286200"/>
          </a:xfrm>
          <a:prstGeom prst="straightConnector1">
            <a:avLst/>
          </a:prstGeom>
          <a:solidFill>
            <a:schemeClr val="accent2"/>
          </a:solidFill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3570" name="Google Shape;3570;p125"/>
          <p:cNvCxnSpPr>
            <a:stCxn id="3557" idx="3"/>
            <a:endCxn id="3558" idx="7"/>
          </p:cNvCxnSpPr>
          <p:nvPr/>
        </p:nvCxnSpPr>
        <p:spPr>
          <a:xfrm flipH="1">
            <a:off x="858691" y="5181238"/>
            <a:ext cx="159900" cy="363300"/>
          </a:xfrm>
          <a:prstGeom prst="straightConnector1">
            <a:avLst/>
          </a:prstGeom>
          <a:solidFill>
            <a:schemeClr val="accent2"/>
          </a:solidFill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3571" name="Google Shape;3571;p125"/>
          <p:cNvCxnSpPr>
            <a:stCxn id="3557" idx="5"/>
            <a:endCxn id="3559" idx="0"/>
          </p:cNvCxnSpPr>
          <p:nvPr/>
        </p:nvCxnSpPr>
        <p:spPr>
          <a:xfrm>
            <a:off x="1411843" y="5181238"/>
            <a:ext cx="107100" cy="329700"/>
          </a:xfrm>
          <a:prstGeom prst="straightConnector1">
            <a:avLst/>
          </a:prstGeom>
          <a:solidFill>
            <a:schemeClr val="accent2"/>
          </a:solidFill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3572" name="Google Shape;3572;p125"/>
          <p:cNvSpPr/>
          <p:nvPr/>
        </p:nvSpPr>
        <p:spPr>
          <a:xfrm>
            <a:off x="4525401" y="5922134"/>
            <a:ext cx="556142" cy="509345"/>
          </a:xfrm>
          <a:prstGeom prst="ellipse">
            <a:avLst/>
          </a:prstGeom>
          <a:solidFill>
            <a:schemeClr val="accent2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16</a:t>
            </a:r>
            <a:endParaRPr/>
          </a:p>
        </p:txBody>
      </p:sp>
      <p:sp>
        <p:nvSpPr>
          <p:cNvPr id="3567" name="Google Shape;3567;p125"/>
          <p:cNvSpPr/>
          <p:nvPr/>
        </p:nvSpPr>
        <p:spPr>
          <a:xfrm>
            <a:off x="4481014" y="4753511"/>
            <a:ext cx="556142" cy="509345"/>
          </a:xfrm>
          <a:prstGeom prst="ellipse">
            <a:avLst/>
          </a:prstGeom>
          <a:solidFill>
            <a:schemeClr val="accent2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endParaRPr/>
          </a:p>
        </p:txBody>
      </p:sp>
      <p:sp>
        <p:nvSpPr>
          <p:cNvPr id="3565" name="Google Shape;3565;p125"/>
          <p:cNvSpPr/>
          <p:nvPr/>
        </p:nvSpPr>
        <p:spPr>
          <a:xfrm>
            <a:off x="5933861" y="4839508"/>
            <a:ext cx="556142" cy="509345"/>
          </a:xfrm>
          <a:prstGeom prst="ellipse">
            <a:avLst/>
          </a:prstGeom>
          <a:solidFill>
            <a:schemeClr val="accent2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/>
          </a:p>
        </p:txBody>
      </p:sp>
      <p:sp>
        <p:nvSpPr>
          <p:cNvPr id="3573" name="Google Shape;3573;p125"/>
          <p:cNvSpPr/>
          <p:nvPr/>
        </p:nvSpPr>
        <p:spPr>
          <a:xfrm>
            <a:off x="6884435" y="1093648"/>
            <a:ext cx="4497258" cy="8309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Initially the array must 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be a max heap (run a max heapify)</a:t>
            </a:r>
            <a:endParaRPr/>
          </a:p>
        </p:txBody>
      </p:sp>
      <p:graphicFrame>
        <p:nvGraphicFramePr>
          <p:cNvPr id="3574" name="Google Shape;3574;p125"/>
          <p:cNvGraphicFramePr/>
          <p:nvPr/>
        </p:nvGraphicFramePr>
        <p:xfrm>
          <a:off x="6851939" y="2264136"/>
          <a:ext cx="4562250" cy="731540"/>
        </p:xfrm>
        <a:graphic>
          <a:graphicData uri="http://schemas.openxmlformats.org/drawingml/2006/table">
            <a:tbl>
              <a:tblPr firstRow="1" bandRow="1">
                <a:noFill/>
                <a:tableStyleId>{66088737-8E24-4614-AAA7-3D08145F63E1}</a:tableStyleId>
              </a:tblPr>
              <a:tblGrid>
                <a:gridCol w="4562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62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562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008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115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562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5622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5622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45622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45622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2914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1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2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3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4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5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6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7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8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9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10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14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u="none" strike="noStrike" cap="none">
                          <a:solidFill>
                            <a:schemeClr val="dk1"/>
                          </a:solidFill>
                        </a:rPr>
                        <a:t>16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u="none" strike="noStrike" cap="none">
                          <a:solidFill>
                            <a:schemeClr val="dk1"/>
                          </a:solidFill>
                        </a:rPr>
                        <a:t>14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u="none" strike="noStrike" cap="none">
                          <a:solidFill>
                            <a:schemeClr val="dk1"/>
                          </a:solidFill>
                        </a:rPr>
                        <a:t>10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u="none" strike="noStrike" cap="none">
                          <a:solidFill>
                            <a:schemeClr val="dk1"/>
                          </a:solidFill>
                        </a:rPr>
                        <a:t>8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u="none" strike="noStrike" cap="none">
                          <a:solidFill>
                            <a:schemeClr val="dk1"/>
                          </a:solidFill>
                        </a:rPr>
                        <a:t>7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u="none" strike="noStrike" cap="none">
                          <a:solidFill>
                            <a:schemeClr val="dk1"/>
                          </a:solidFill>
                        </a:rPr>
                        <a:t>9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u="none" strike="noStrike" cap="none">
                          <a:solidFill>
                            <a:schemeClr val="dk1"/>
                          </a:solidFill>
                        </a:rPr>
                        <a:t>3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u="none" strike="noStrike" cap="none">
                          <a:solidFill>
                            <a:schemeClr val="dk1"/>
                          </a:solidFill>
                        </a:rPr>
                        <a:t>2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u="none" strike="noStrike" cap="none">
                          <a:solidFill>
                            <a:schemeClr val="dk1"/>
                          </a:solidFill>
                        </a:rPr>
                        <a:t>4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u="none" strike="noStrike" cap="none">
                          <a:solidFill>
                            <a:schemeClr val="dk1"/>
                          </a:solidFill>
                        </a:rPr>
                        <a:t>1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3575" name="Google Shape;3575;p125"/>
          <p:cNvSpPr txBox="1"/>
          <p:nvPr/>
        </p:nvSpPr>
        <p:spPr>
          <a:xfrm>
            <a:off x="7343481" y="3756305"/>
            <a:ext cx="3798540" cy="14773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1.Swap the last element with the root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2.Remove the largest element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3.Run a max heapify</a:t>
            </a:r>
            <a:endParaRPr sz="180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Observe that it is still a max heap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4. Return A[heapsize+1]</a:t>
            </a:r>
            <a:endParaRPr/>
          </a:p>
        </p:txBody>
      </p:sp>
      <p:sp>
        <p:nvSpPr>
          <p:cNvPr id="3576" name="Google Shape;3576;p125"/>
          <p:cNvSpPr/>
          <p:nvPr/>
        </p:nvSpPr>
        <p:spPr>
          <a:xfrm rot="-5400000">
            <a:off x="10536352" y="3166312"/>
            <a:ext cx="386570" cy="222383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77" name="Google Shape;3577;p125"/>
          <p:cNvSpPr txBox="1"/>
          <p:nvPr/>
        </p:nvSpPr>
        <p:spPr>
          <a:xfrm>
            <a:off x="10195423" y="3440393"/>
            <a:ext cx="1089978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Heap Size</a:t>
            </a:r>
            <a:endParaRPr/>
          </a:p>
        </p:txBody>
      </p:sp>
      <p:graphicFrame>
        <p:nvGraphicFramePr>
          <p:cNvPr id="3578" name="Google Shape;3578;p125"/>
          <p:cNvGraphicFramePr/>
          <p:nvPr/>
        </p:nvGraphicFramePr>
        <p:xfrm>
          <a:off x="6851939" y="2275983"/>
          <a:ext cx="4562250" cy="731540"/>
        </p:xfrm>
        <a:graphic>
          <a:graphicData uri="http://schemas.openxmlformats.org/drawingml/2006/table">
            <a:tbl>
              <a:tblPr firstRow="1" bandRow="1">
                <a:noFill/>
                <a:tableStyleId>{66088737-8E24-4614-AAA7-3D08145F63E1}</a:tableStyleId>
              </a:tblPr>
              <a:tblGrid>
                <a:gridCol w="4562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62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562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008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115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562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5622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5622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45622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45622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2914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1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2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3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4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5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6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7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8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9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10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14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u="none" strike="noStrike" cap="none">
                          <a:solidFill>
                            <a:schemeClr val="dk1"/>
                          </a:solidFill>
                        </a:rPr>
                        <a:t>14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u="none" strike="noStrike" cap="none">
                          <a:solidFill>
                            <a:schemeClr val="dk1"/>
                          </a:solidFill>
                        </a:rPr>
                        <a:t>8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u="none" strike="noStrike" cap="none">
                          <a:solidFill>
                            <a:schemeClr val="dk1"/>
                          </a:solidFill>
                        </a:rPr>
                        <a:t>10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u="none" strike="noStrike" cap="none">
                          <a:solidFill>
                            <a:schemeClr val="dk1"/>
                          </a:solidFill>
                        </a:rPr>
                        <a:t>4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u="none" strike="noStrike" cap="none">
                          <a:solidFill>
                            <a:schemeClr val="dk1"/>
                          </a:solidFill>
                        </a:rPr>
                        <a:t>7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u="none" strike="noStrike" cap="none">
                          <a:solidFill>
                            <a:schemeClr val="dk1"/>
                          </a:solidFill>
                        </a:rPr>
                        <a:t>9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u="none" strike="noStrike" cap="none">
                          <a:solidFill>
                            <a:schemeClr val="dk1"/>
                          </a:solidFill>
                        </a:rPr>
                        <a:t>3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u="none" strike="noStrike" cap="none">
                          <a:solidFill>
                            <a:schemeClr val="dk1"/>
                          </a:solidFill>
                        </a:rPr>
                        <a:t>2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u="none" strike="noStrike" cap="none">
                          <a:solidFill>
                            <a:schemeClr val="dk1"/>
                          </a:solidFill>
                        </a:rPr>
                        <a:t>1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u="none" strike="noStrike" cap="none">
                          <a:solidFill>
                            <a:schemeClr val="dk1"/>
                          </a:solidFill>
                        </a:rPr>
                        <a:t>16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3" name="Google Shape;3583;p126"/>
          <p:cNvSpPr txBox="1">
            <a:spLocks noGrp="1"/>
          </p:cNvSpPr>
          <p:nvPr>
            <p:ph type="body" idx="1"/>
          </p:nvPr>
        </p:nvSpPr>
        <p:spPr>
          <a:xfrm>
            <a:off x="838200" y="1227909"/>
            <a:ext cx="10515600" cy="49490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1500"/>
              <a:buFont typeface="Arial"/>
              <a:buChar char="●"/>
            </a:pPr>
            <a:r>
              <a:rPr lang="en-US" sz="2000" b="1"/>
              <a:t>Priority Queue functions</a:t>
            </a:r>
            <a:endParaRPr/>
          </a:p>
          <a:p>
            <a:pPr marL="742950" lvl="1" indent="-28575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040"/>
              <a:buChar char="●"/>
            </a:pPr>
            <a:r>
              <a:rPr lang="en-US" sz="1600"/>
              <a:t>HEAP-MAXIMUM </a:t>
            </a:r>
            <a:endParaRPr/>
          </a:p>
          <a:p>
            <a:pPr marL="742950" lvl="1" indent="-28575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040"/>
              <a:buChar char="●"/>
            </a:pPr>
            <a:r>
              <a:rPr lang="en-US" sz="1600"/>
              <a:t>MAX-HEAP-INSERT</a:t>
            </a:r>
            <a:endParaRPr/>
          </a:p>
          <a:p>
            <a:pPr marL="742950" lvl="1" indent="-28575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040"/>
              <a:buChar char="●"/>
            </a:pPr>
            <a:r>
              <a:rPr lang="en-US" sz="1600" b="1"/>
              <a:t>HEAP-EXTRACT-MAX – </a:t>
            </a:r>
            <a:r>
              <a:rPr lang="en-US" sz="1600">
                <a:solidFill>
                  <a:srgbClr val="FF0000"/>
                </a:solidFill>
              </a:rPr>
              <a:t>extract the eldest citizen</a:t>
            </a:r>
            <a:endParaRPr sz="1600" b="1">
              <a:solidFill>
                <a:srgbClr val="FF0000"/>
              </a:solidFill>
            </a:endParaRPr>
          </a:p>
          <a:p>
            <a:pPr marL="742950" lvl="1" indent="-28575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040"/>
              <a:buChar char="●"/>
            </a:pPr>
            <a:r>
              <a:rPr lang="en-US" sz="1600"/>
              <a:t>HEAP-INCREASE-KEY</a:t>
            </a:r>
            <a:endParaRPr/>
          </a:p>
        </p:txBody>
      </p:sp>
      <p:sp>
        <p:nvSpPr>
          <p:cNvPr id="3584" name="Google Shape;3584;p126"/>
          <p:cNvSpPr txBox="1">
            <a:spLocks noGrp="1"/>
          </p:cNvSpPr>
          <p:nvPr>
            <p:ph type="dt" idx="10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FA22FD76-8D4D-4152-AA87-CE8A4792E7ED}" type="datetime1">
              <a:rPr lang="en-US" smtClean="0"/>
              <a:t>1/12/2026</a:t>
            </a:fld>
            <a:endParaRPr/>
          </a:p>
        </p:txBody>
      </p:sp>
      <p:sp>
        <p:nvSpPr>
          <p:cNvPr id="3585" name="Google Shape;3585;p126"/>
          <p:cNvSpPr txBox="1">
            <a:spLocks noGrp="1"/>
          </p:cNvSpPr>
          <p:nvPr>
            <p:ph type="ftr" idx="11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Lec Asif Abrar, Dept of CSE, UIU</a:t>
            </a:r>
            <a:endParaRPr/>
          </a:p>
        </p:txBody>
      </p:sp>
      <p:sp>
        <p:nvSpPr>
          <p:cNvPr id="3586" name="Google Shape;3586;p126"/>
          <p:cNvSpPr txBox="1">
            <a:spLocks noGrp="1"/>
          </p:cNvSpPr>
          <p:nvPr>
            <p:ph type="sldNum" idx="12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93</a:t>
            </a:fld>
            <a:endParaRPr/>
          </a:p>
        </p:txBody>
      </p:sp>
      <p:sp>
        <p:nvSpPr>
          <p:cNvPr id="3587" name="Google Shape;3587;p126"/>
          <p:cNvSpPr txBox="1">
            <a:spLocks noGrp="1"/>
          </p:cNvSpPr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/>
              <a:t>Max heap as a priority queue</a:t>
            </a:r>
            <a:endParaRPr/>
          </a:p>
        </p:txBody>
      </p:sp>
      <p:sp>
        <p:nvSpPr>
          <p:cNvPr id="3588" name="Google Shape;3588;p126"/>
          <p:cNvSpPr/>
          <p:nvPr/>
        </p:nvSpPr>
        <p:spPr>
          <a:xfrm>
            <a:off x="3581400" y="3429000"/>
            <a:ext cx="556142" cy="509345"/>
          </a:xfrm>
          <a:prstGeom prst="ellipse">
            <a:avLst/>
          </a:prstGeom>
          <a:solidFill>
            <a:schemeClr val="accent2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14</a:t>
            </a:r>
            <a:endParaRPr/>
          </a:p>
        </p:txBody>
      </p:sp>
      <p:sp>
        <p:nvSpPr>
          <p:cNvPr id="3589" name="Google Shape;3589;p126"/>
          <p:cNvSpPr/>
          <p:nvPr/>
        </p:nvSpPr>
        <p:spPr>
          <a:xfrm>
            <a:off x="1558622" y="4190269"/>
            <a:ext cx="556142" cy="509345"/>
          </a:xfrm>
          <a:prstGeom prst="ellipse">
            <a:avLst/>
          </a:prstGeom>
          <a:solidFill>
            <a:schemeClr val="accent2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/>
          </a:p>
        </p:txBody>
      </p:sp>
      <p:sp>
        <p:nvSpPr>
          <p:cNvPr id="3590" name="Google Shape;3590;p126"/>
          <p:cNvSpPr/>
          <p:nvPr/>
        </p:nvSpPr>
        <p:spPr>
          <a:xfrm>
            <a:off x="937146" y="4746485"/>
            <a:ext cx="556142" cy="509345"/>
          </a:xfrm>
          <a:prstGeom prst="ellipse">
            <a:avLst/>
          </a:prstGeom>
          <a:solidFill>
            <a:schemeClr val="accent2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/>
          </a:p>
        </p:txBody>
      </p:sp>
      <p:sp>
        <p:nvSpPr>
          <p:cNvPr id="3591" name="Google Shape;3591;p126"/>
          <p:cNvSpPr/>
          <p:nvPr/>
        </p:nvSpPr>
        <p:spPr>
          <a:xfrm>
            <a:off x="384101" y="5469919"/>
            <a:ext cx="556142" cy="509345"/>
          </a:xfrm>
          <a:prstGeom prst="ellipse">
            <a:avLst/>
          </a:prstGeom>
          <a:solidFill>
            <a:schemeClr val="accent2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  <p:sp>
        <p:nvSpPr>
          <p:cNvPr id="3592" name="Google Shape;3592;p126"/>
          <p:cNvSpPr/>
          <p:nvPr/>
        </p:nvSpPr>
        <p:spPr>
          <a:xfrm>
            <a:off x="1240923" y="5510810"/>
            <a:ext cx="556142" cy="509345"/>
          </a:xfrm>
          <a:prstGeom prst="ellipse">
            <a:avLst/>
          </a:prstGeom>
          <a:solidFill>
            <a:schemeClr val="accent2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3593" name="Google Shape;3593;p126"/>
          <p:cNvSpPr/>
          <p:nvPr/>
        </p:nvSpPr>
        <p:spPr>
          <a:xfrm>
            <a:off x="2521675" y="4836679"/>
            <a:ext cx="556142" cy="509345"/>
          </a:xfrm>
          <a:prstGeom prst="ellipse">
            <a:avLst/>
          </a:prstGeom>
          <a:solidFill>
            <a:schemeClr val="accent2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/>
          </a:p>
        </p:txBody>
      </p:sp>
      <p:sp>
        <p:nvSpPr>
          <p:cNvPr id="3594" name="Google Shape;3594;p126"/>
          <p:cNvSpPr/>
          <p:nvPr/>
        </p:nvSpPr>
        <p:spPr>
          <a:xfrm>
            <a:off x="5009277" y="4118269"/>
            <a:ext cx="556142" cy="509345"/>
          </a:xfrm>
          <a:prstGeom prst="ellipse">
            <a:avLst/>
          </a:prstGeom>
          <a:solidFill>
            <a:schemeClr val="accent2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/>
          </a:p>
        </p:txBody>
      </p:sp>
      <p:cxnSp>
        <p:nvCxnSpPr>
          <p:cNvPr id="3595" name="Google Shape;3595;p126"/>
          <p:cNvCxnSpPr>
            <a:stCxn id="3588" idx="3"/>
            <a:endCxn id="3589" idx="7"/>
          </p:cNvCxnSpPr>
          <p:nvPr/>
        </p:nvCxnSpPr>
        <p:spPr>
          <a:xfrm flipH="1">
            <a:off x="2033245" y="3863753"/>
            <a:ext cx="1629600" cy="401100"/>
          </a:xfrm>
          <a:prstGeom prst="straightConnector1">
            <a:avLst/>
          </a:prstGeom>
          <a:solidFill>
            <a:schemeClr val="accent2"/>
          </a:solidFill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3596" name="Google Shape;3596;p126"/>
          <p:cNvCxnSpPr>
            <a:stCxn id="3594" idx="1"/>
            <a:endCxn id="3588" idx="5"/>
          </p:cNvCxnSpPr>
          <p:nvPr/>
        </p:nvCxnSpPr>
        <p:spPr>
          <a:xfrm rot="10800000">
            <a:off x="4056022" y="3863761"/>
            <a:ext cx="1034700" cy="329100"/>
          </a:xfrm>
          <a:prstGeom prst="straightConnector1">
            <a:avLst/>
          </a:prstGeom>
          <a:solidFill>
            <a:schemeClr val="accent2"/>
          </a:solidFill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3597" name="Google Shape;3597;p126"/>
          <p:cNvCxnSpPr>
            <a:stCxn id="3598" idx="0"/>
            <a:endCxn id="3594" idx="5"/>
          </p:cNvCxnSpPr>
          <p:nvPr/>
        </p:nvCxnSpPr>
        <p:spPr>
          <a:xfrm rot="10800000">
            <a:off x="5483832" y="4553008"/>
            <a:ext cx="728100" cy="286500"/>
          </a:xfrm>
          <a:prstGeom prst="straightConnector1">
            <a:avLst/>
          </a:prstGeom>
          <a:solidFill>
            <a:schemeClr val="accent2"/>
          </a:solidFill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3599" name="Google Shape;3599;p126"/>
          <p:cNvCxnSpPr>
            <a:stCxn id="3600" idx="0"/>
            <a:endCxn id="3594" idx="3"/>
          </p:cNvCxnSpPr>
          <p:nvPr/>
        </p:nvCxnSpPr>
        <p:spPr>
          <a:xfrm rot="10800000" flipH="1">
            <a:off x="4759085" y="4553111"/>
            <a:ext cx="331500" cy="200400"/>
          </a:xfrm>
          <a:prstGeom prst="straightConnector1">
            <a:avLst/>
          </a:prstGeom>
          <a:solidFill>
            <a:schemeClr val="accent2"/>
          </a:solidFill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3601" name="Google Shape;3601;p126"/>
          <p:cNvCxnSpPr>
            <a:stCxn id="3589" idx="3"/>
            <a:endCxn id="3590" idx="7"/>
          </p:cNvCxnSpPr>
          <p:nvPr/>
        </p:nvCxnSpPr>
        <p:spPr>
          <a:xfrm flipH="1">
            <a:off x="1411767" y="4625022"/>
            <a:ext cx="228300" cy="196200"/>
          </a:xfrm>
          <a:prstGeom prst="straightConnector1">
            <a:avLst/>
          </a:prstGeom>
          <a:solidFill>
            <a:schemeClr val="accent2"/>
          </a:solidFill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3602" name="Google Shape;3602;p126"/>
          <p:cNvCxnSpPr>
            <a:stCxn id="3589" idx="5"/>
            <a:endCxn id="3593" idx="1"/>
          </p:cNvCxnSpPr>
          <p:nvPr/>
        </p:nvCxnSpPr>
        <p:spPr>
          <a:xfrm>
            <a:off x="2033319" y="4625022"/>
            <a:ext cx="569700" cy="286200"/>
          </a:xfrm>
          <a:prstGeom prst="straightConnector1">
            <a:avLst/>
          </a:prstGeom>
          <a:solidFill>
            <a:schemeClr val="accent2"/>
          </a:solidFill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3603" name="Google Shape;3603;p126"/>
          <p:cNvCxnSpPr>
            <a:stCxn id="3590" idx="3"/>
            <a:endCxn id="3591" idx="7"/>
          </p:cNvCxnSpPr>
          <p:nvPr/>
        </p:nvCxnSpPr>
        <p:spPr>
          <a:xfrm flipH="1">
            <a:off x="858691" y="5181238"/>
            <a:ext cx="159900" cy="363300"/>
          </a:xfrm>
          <a:prstGeom prst="straightConnector1">
            <a:avLst/>
          </a:prstGeom>
          <a:solidFill>
            <a:schemeClr val="accent2"/>
          </a:solidFill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3604" name="Google Shape;3604;p126"/>
          <p:cNvCxnSpPr>
            <a:stCxn id="3590" idx="5"/>
            <a:endCxn id="3592" idx="0"/>
          </p:cNvCxnSpPr>
          <p:nvPr/>
        </p:nvCxnSpPr>
        <p:spPr>
          <a:xfrm>
            <a:off x="1411843" y="5181238"/>
            <a:ext cx="107100" cy="329700"/>
          </a:xfrm>
          <a:prstGeom prst="straightConnector1">
            <a:avLst/>
          </a:prstGeom>
          <a:solidFill>
            <a:schemeClr val="accent2"/>
          </a:solidFill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3605" name="Google Shape;3605;p126"/>
          <p:cNvSpPr/>
          <p:nvPr/>
        </p:nvSpPr>
        <p:spPr>
          <a:xfrm>
            <a:off x="4525401" y="5922134"/>
            <a:ext cx="556142" cy="509345"/>
          </a:xfrm>
          <a:prstGeom prst="ellipse">
            <a:avLst/>
          </a:prstGeom>
          <a:solidFill>
            <a:schemeClr val="accent2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16</a:t>
            </a:r>
            <a:endParaRPr/>
          </a:p>
        </p:txBody>
      </p:sp>
      <p:sp>
        <p:nvSpPr>
          <p:cNvPr id="3600" name="Google Shape;3600;p126"/>
          <p:cNvSpPr/>
          <p:nvPr/>
        </p:nvSpPr>
        <p:spPr>
          <a:xfrm>
            <a:off x="4481014" y="4753511"/>
            <a:ext cx="556142" cy="509345"/>
          </a:xfrm>
          <a:prstGeom prst="ellipse">
            <a:avLst/>
          </a:prstGeom>
          <a:solidFill>
            <a:schemeClr val="accent2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endParaRPr/>
          </a:p>
        </p:txBody>
      </p:sp>
      <p:sp>
        <p:nvSpPr>
          <p:cNvPr id="3598" name="Google Shape;3598;p126"/>
          <p:cNvSpPr/>
          <p:nvPr/>
        </p:nvSpPr>
        <p:spPr>
          <a:xfrm>
            <a:off x="5933861" y="4839508"/>
            <a:ext cx="556142" cy="509345"/>
          </a:xfrm>
          <a:prstGeom prst="ellipse">
            <a:avLst/>
          </a:prstGeom>
          <a:solidFill>
            <a:schemeClr val="accent2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/>
          </a:p>
        </p:txBody>
      </p:sp>
      <p:sp>
        <p:nvSpPr>
          <p:cNvPr id="3606" name="Google Shape;3606;p126"/>
          <p:cNvSpPr/>
          <p:nvPr/>
        </p:nvSpPr>
        <p:spPr>
          <a:xfrm>
            <a:off x="6884435" y="1093648"/>
            <a:ext cx="4497258" cy="8309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Initially the array must 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be a max heap (run a max heapify)</a:t>
            </a:r>
            <a:endParaRPr/>
          </a:p>
        </p:txBody>
      </p:sp>
      <p:graphicFrame>
        <p:nvGraphicFramePr>
          <p:cNvPr id="3607" name="Google Shape;3607;p126"/>
          <p:cNvGraphicFramePr/>
          <p:nvPr/>
        </p:nvGraphicFramePr>
        <p:xfrm>
          <a:off x="6851939" y="2264136"/>
          <a:ext cx="4562250" cy="731540"/>
        </p:xfrm>
        <a:graphic>
          <a:graphicData uri="http://schemas.openxmlformats.org/drawingml/2006/table">
            <a:tbl>
              <a:tblPr firstRow="1" bandRow="1">
                <a:noFill/>
                <a:tableStyleId>{66088737-8E24-4614-AAA7-3D08145F63E1}</a:tableStyleId>
              </a:tblPr>
              <a:tblGrid>
                <a:gridCol w="4562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62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562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008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115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562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5622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5622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45622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45622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2914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1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2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3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4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5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6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7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8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9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10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14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u="none" strike="noStrike" cap="none">
                          <a:solidFill>
                            <a:schemeClr val="dk1"/>
                          </a:solidFill>
                        </a:rPr>
                        <a:t>16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u="none" strike="noStrike" cap="none">
                          <a:solidFill>
                            <a:schemeClr val="dk1"/>
                          </a:solidFill>
                        </a:rPr>
                        <a:t>14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u="none" strike="noStrike" cap="none">
                          <a:solidFill>
                            <a:schemeClr val="dk1"/>
                          </a:solidFill>
                        </a:rPr>
                        <a:t>10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u="none" strike="noStrike" cap="none">
                          <a:solidFill>
                            <a:schemeClr val="dk1"/>
                          </a:solidFill>
                        </a:rPr>
                        <a:t>8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u="none" strike="noStrike" cap="none">
                          <a:solidFill>
                            <a:schemeClr val="dk1"/>
                          </a:solidFill>
                        </a:rPr>
                        <a:t>7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u="none" strike="noStrike" cap="none">
                          <a:solidFill>
                            <a:schemeClr val="dk1"/>
                          </a:solidFill>
                        </a:rPr>
                        <a:t>9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u="none" strike="noStrike" cap="none">
                          <a:solidFill>
                            <a:schemeClr val="dk1"/>
                          </a:solidFill>
                        </a:rPr>
                        <a:t>3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u="none" strike="noStrike" cap="none">
                          <a:solidFill>
                            <a:schemeClr val="dk1"/>
                          </a:solidFill>
                        </a:rPr>
                        <a:t>2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u="none" strike="noStrike" cap="none">
                          <a:solidFill>
                            <a:schemeClr val="dk1"/>
                          </a:solidFill>
                        </a:rPr>
                        <a:t>4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u="none" strike="noStrike" cap="none">
                          <a:solidFill>
                            <a:schemeClr val="dk1"/>
                          </a:solidFill>
                        </a:rPr>
                        <a:t>1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3608" name="Google Shape;3608;p126"/>
          <p:cNvSpPr txBox="1"/>
          <p:nvPr/>
        </p:nvSpPr>
        <p:spPr>
          <a:xfrm>
            <a:off x="7343481" y="3756305"/>
            <a:ext cx="3798540" cy="14773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1.Swap the last element with the root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2.Remove the largest element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3.Run a max heapify</a:t>
            </a:r>
            <a:endParaRPr sz="180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Observe that it is still a max heap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4. Return A[heapsize+1]</a:t>
            </a:r>
            <a:endParaRPr/>
          </a:p>
        </p:txBody>
      </p:sp>
      <p:graphicFrame>
        <p:nvGraphicFramePr>
          <p:cNvPr id="3609" name="Google Shape;3609;p126"/>
          <p:cNvGraphicFramePr/>
          <p:nvPr/>
        </p:nvGraphicFramePr>
        <p:xfrm>
          <a:off x="6851939" y="2275983"/>
          <a:ext cx="4562250" cy="731540"/>
        </p:xfrm>
        <a:graphic>
          <a:graphicData uri="http://schemas.openxmlformats.org/drawingml/2006/table">
            <a:tbl>
              <a:tblPr firstRow="1" bandRow="1">
                <a:noFill/>
                <a:tableStyleId>{66088737-8E24-4614-AAA7-3D08145F63E1}</a:tableStyleId>
              </a:tblPr>
              <a:tblGrid>
                <a:gridCol w="4562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62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562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008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115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562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5622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5622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45622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45622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2914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1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2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3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4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5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6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7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8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9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10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14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u="none" strike="noStrike" cap="none">
                          <a:solidFill>
                            <a:schemeClr val="dk1"/>
                          </a:solidFill>
                        </a:rPr>
                        <a:t>14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u="none" strike="noStrike" cap="none">
                          <a:solidFill>
                            <a:schemeClr val="dk1"/>
                          </a:solidFill>
                        </a:rPr>
                        <a:t>8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u="none" strike="noStrike" cap="none">
                          <a:solidFill>
                            <a:schemeClr val="dk1"/>
                          </a:solidFill>
                        </a:rPr>
                        <a:t>10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u="none" strike="noStrike" cap="none">
                          <a:solidFill>
                            <a:schemeClr val="dk1"/>
                          </a:solidFill>
                        </a:rPr>
                        <a:t>4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u="none" strike="noStrike" cap="none">
                          <a:solidFill>
                            <a:schemeClr val="dk1"/>
                          </a:solidFill>
                        </a:rPr>
                        <a:t>7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u="none" strike="noStrike" cap="none">
                          <a:solidFill>
                            <a:schemeClr val="dk1"/>
                          </a:solidFill>
                        </a:rPr>
                        <a:t>9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u="none" strike="noStrike" cap="none">
                          <a:solidFill>
                            <a:schemeClr val="dk1"/>
                          </a:solidFill>
                        </a:rPr>
                        <a:t>3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u="none" strike="noStrike" cap="none">
                          <a:solidFill>
                            <a:schemeClr val="dk1"/>
                          </a:solidFill>
                        </a:rPr>
                        <a:t>2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u="none" strike="noStrike" cap="none">
                          <a:solidFill>
                            <a:schemeClr val="dk1"/>
                          </a:solidFill>
                        </a:rPr>
                        <a:t>1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u="none" strike="noStrike" cap="none">
                          <a:solidFill>
                            <a:schemeClr val="dk1"/>
                          </a:solidFill>
                        </a:rPr>
                        <a:t>16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pic>
        <p:nvPicPr>
          <p:cNvPr id="3610" name="Google Shape;3610;p12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880742" y="3804829"/>
            <a:ext cx="4514850" cy="2905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5" name="Google Shape;3615;p127"/>
          <p:cNvSpPr txBox="1">
            <a:spLocks noGrp="1"/>
          </p:cNvSpPr>
          <p:nvPr>
            <p:ph type="body" idx="1"/>
          </p:nvPr>
        </p:nvSpPr>
        <p:spPr>
          <a:xfrm>
            <a:off x="838200" y="1227909"/>
            <a:ext cx="10515600" cy="49490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1500"/>
              <a:buFont typeface="Arial"/>
              <a:buChar char="●"/>
            </a:pPr>
            <a:r>
              <a:rPr lang="en-US" sz="2000" b="1"/>
              <a:t>Priority Queue functions</a:t>
            </a:r>
            <a:endParaRPr/>
          </a:p>
          <a:p>
            <a:pPr marL="742950" lvl="1" indent="-28575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040"/>
              <a:buChar char="●"/>
            </a:pPr>
            <a:r>
              <a:rPr lang="en-US" sz="1600"/>
              <a:t>HEAP-MAXIMUM </a:t>
            </a:r>
            <a:endParaRPr/>
          </a:p>
          <a:p>
            <a:pPr marL="742950" lvl="1" indent="-28575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040"/>
              <a:buChar char="●"/>
            </a:pPr>
            <a:r>
              <a:rPr lang="en-US" sz="1600"/>
              <a:t>MAX-HEAP-INSERT</a:t>
            </a:r>
            <a:endParaRPr/>
          </a:p>
          <a:p>
            <a:pPr marL="742950" lvl="1" indent="-28575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040"/>
              <a:buChar char="●"/>
            </a:pPr>
            <a:r>
              <a:rPr lang="en-US" sz="1600" b="1"/>
              <a:t>HEAP-EXTRACT-MAX – </a:t>
            </a:r>
            <a:r>
              <a:rPr lang="en-US" sz="1600">
                <a:solidFill>
                  <a:srgbClr val="FF0000"/>
                </a:solidFill>
              </a:rPr>
              <a:t>extract the eldest citizen</a:t>
            </a:r>
            <a:endParaRPr sz="1600" b="1">
              <a:solidFill>
                <a:srgbClr val="FF0000"/>
              </a:solidFill>
            </a:endParaRPr>
          </a:p>
          <a:p>
            <a:pPr marL="742950" lvl="1" indent="-28575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040"/>
              <a:buChar char="●"/>
            </a:pPr>
            <a:r>
              <a:rPr lang="en-US" sz="1600"/>
              <a:t>HEAP-INCREASE-KEY</a:t>
            </a:r>
            <a:endParaRPr/>
          </a:p>
        </p:txBody>
      </p:sp>
      <p:sp>
        <p:nvSpPr>
          <p:cNvPr id="3616" name="Google Shape;3616;p127"/>
          <p:cNvSpPr txBox="1">
            <a:spLocks noGrp="1"/>
          </p:cNvSpPr>
          <p:nvPr>
            <p:ph type="dt" idx="10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A9EC271D-7B79-4E90-96A0-BF462CCD2DD0}" type="datetime1">
              <a:rPr lang="en-US" smtClean="0"/>
              <a:t>1/12/2026</a:t>
            </a:fld>
            <a:endParaRPr/>
          </a:p>
        </p:txBody>
      </p:sp>
      <p:sp>
        <p:nvSpPr>
          <p:cNvPr id="3617" name="Google Shape;3617;p127"/>
          <p:cNvSpPr txBox="1">
            <a:spLocks noGrp="1"/>
          </p:cNvSpPr>
          <p:nvPr>
            <p:ph type="ftr" idx="11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Lec Asif Abrar, Dept of CSE, UIU</a:t>
            </a:r>
            <a:endParaRPr/>
          </a:p>
        </p:txBody>
      </p:sp>
      <p:sp>
        <p:nvSpPr>
          <p:cNvPr id="3618" name="Google Shape;3618;p127"/>
          <p:cNvSpPr txBox="1">
            <a:spLocks noGrp="1"/>
          </p:cNvSpPr>
          <p:nvPr>
            <p:ph type="sldNum" idx="12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94</a:t>
            </a:fld>
            <a:endParaRPr/>
          </a:p>
        </p:txBody>
      </p:sp>
      <p:sp>
        <p:nvSpPr>
          <p:cNvPr id="3619" name="Google Shape;3619;p127"/>
          <p:cNvSpPr txBox="1">
            <a:spLocks noGrp="1"/>
          </p:cNvSpPr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/>
              <a:t>Max heap as a priority queue</a:t>
            </a:r>
            <a:endParaRPr/>
          </a:p>
        </p:txBody>
      </p:sp>
      <p:sp>
        <p:nvSpPr>
          <p:cNvPr id="3620" name="Google Shape;3620;p127"/>
          <p:cNvSpPr/>
          <p:nvPr/>
        </p:nvSpPr>
        <p:spPr>
          <a:xfrm>
            <a:off x="3581400" y="3429000"/>
            <a:ext cx="556142" cy="509345"/>
          </a:xfrm>
          <a:prstGeom prst="ellipse">
            <a:avLst/>
          </a:prstGeom>
          <a:solidFill>
            <a:schemeClr val="accent2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14</a:t>
            </a:r>
            <a:endParaRPr/>
          </a:p>
        </p:txBody>
      </p:sp>
      <p:sp>
        <p:nvSpPr>
          <p:cNvPr id="3621" name="Google Shape;3621;p127"/>
          <p:cNvSpPr/>
          <p:nvPr/>
        </p:nvSpPr>
        <p:spPr>
          <a:xfrm>
            <a:off x="1558622" y="4190269"/>
            <a:ext cx="556142" cy="509345"/>
          </a:xfrm>
          <a:prstGeom prst="ellipse">
            <a:avLst/>
          </a:prstGeom>
          <a:solidFill>
            <a:schemeClr val="accent2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/>
          </a:p>
        </p:txBody>
      </p:sp>
      <p:sp>
        <p:nvSpPr>
          <p:cNvPr id="3622" name="Google Shape;3622;p127"/>
          <p:cNvSpPr/>
          <p:nvPr/>
        </p:nvSpPr>
        <p:spPr>
          <a:xfrm>
            <a:off x="937146" y="4746485"/>
            <a:ext cx="556142" cy="509345"/>
          </a:xfrm>
          <a:prstGeom prst="ellipse">
            <a:avLst/>
          </a:prstGeom>
          <a:solidFill>
            <a:schemeClr val="accent2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/>
          </a:p>
        </p:txBody>
      </p:sp>
      <p:sp>
        <p:nvSpPr>
          <p:cNvPr id="3623" name="Google Shape;3623;p127"/>
          <p:cNvSpPr/>
          <p:nvPr/>
        </p:nvSpPr>
        <p:spPr>
          <a:xfrm>
            <a:off x="384101" y="5469919"/>
            <a:ext cx="556142" cy="509345"/>
          </a:xfrm>
          <a:prstGeom prst="ellipse">
            <a:avLst/>
          </a:prstGeom>
          <a:solidFill>
            <a:schemeClr val="accent2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  <p:sp>
        <p:nvSpPr>
          <p:cNvPr id="3624" name="Google Shape;3624;p127"/>
          <p:cNvSpPr/>
          <p:nvPr/>
        </p:nvSpPr>
        <p:spPr>
          <a:xfrm>
            <a:off x="1240923" y="5510810"/>
            <a:ext cx="556142" cy="509345"/>
          </a:xfrm>
          <a:prstGeom prst="ellipse">
            <a:avLst/>
          </a:prstGeom>
          <a:solidFill>
            <a:schemeClr val="accent2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3625" name="Google Shape;3625;p127"/>
          <p:cNvSpPr/>
          <p:nvPr/>
        </p:nvSpPr>
        <p:spPr>
          <a:xfrm>
            <a:off x="2521675" y="4836679"/>
            <a:ext cx="556142" cy="509345"/>
          </a:xfrm>
          <a:prstGeom prst="ellipse">
            <a:avLst/>
          </a:prstGeom>
          <a:solidFill>
            <a:schemeClr val="accent2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/>
          </a:p>
        </p:txBody>
      </p:sp>
      <p:sp>
        <p:nvSpPr>
          <p:cNvPr id="3626" name="Google Shape;3626;p127"/>
          <p:cNvSpPr/>
          <p:nvPr/>
        </p:nvSpPr>
        <p:spPr>
          <a:xfrm>
            <a:off x="5009277" y="4118269"/>
            <a:ext cx="556142" cy="509345"/>
          </a:xfrm>
          <a:prstGeom prst="ellipse">
            <a:avLst/>
          </a:prstGeom>
          <a:solidFill>
            <a:schemeClr val="accent2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/>
          </a:p>
        </p:txBody>
      </p:sp>
      <p:cxnSp>
        <p:nvCxnSpPr>
          <p:cNvPr id="3627" name="Google Shape;3627;p127"/>
          <p:cNvCxnSpPr>
            <a:stCxn id="3620" idx="3"/>
            <a:endCxn id="3621" idx="7"/>
          </p:cNvCxnSpPr>
          <p:nvPr/>
        </p:nvCxnSpPr>
        <p:spPr>
          <a:xfrm flipH="1">
            <a:off x="2033245" y="3863753"/>
            <a:ext cx="1629600" cy="401100"/>
          </a:xfrm>
          <a:prstGeom prst="straightConnector1">
            <a:avLst/>
          </a:prstGeom>
          <a:solidFill>
            <a:schemeClr val="accent2"/>
          </a:solidFill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3628" name="Google Shape;3628;p127"/>
          <p:cNvCxnSpPr>
            <a:stCxn id="3626" idx="1"/>
            <a:endCxn id="3620" idx="5"/>
          </p:cNvCxnSpPr>
          <p:nvPr/>
        </p:nvCxnSpPr>
        <p:spPr>
          <a:xfrm rot="10800000">
            <a:off x="4056022" y="3863761"/>
            <a:ext cx="1034700" cy="329100"/>
          </a:xfrm>
          <a:prstGeom prst="straightConnector1">
            <a:avLst/>
          </a:prstGeom>
          <a:solidFill>
            <a:schemeClr val="accent2"/>
          </a:solidFill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3629" name="Google Shape;3629;p127"/>
          <p:cNvCxnSpPr>
            <a:stCxn id="3630" idx="0"/>
            <a:endCxn id="3626" idx="5"/>
          </p:cNvCxnSpPr>
          <p:nvPr/>
        </p:nvCxnSpPr>
        <p:spPr>
          <a:xfrm rot="10800000">
            <a:off x="5483832" y="4553008"/>
            <a:ext cx="728100" cy="286500"/>
          </a:xfrm>
          <a:prstGeom prst="straightConnector1">
            <a:avLst/>
          </a:prstGeom>
          <a:solidFill>
            <a:schemeClr val="accent2"/>
          </a:solidFill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3631" name="Google Shape;3631;p127"/>
          <p:cNvCxnSpPr>
            <a:stCxn id="3632" idx="0"/>
            <a:endCxn id="3626" idx="3"/>
          </p:cNvCxnSpPr>
          <p:nvPr/>
        </p:nvCxnSpPr>
        <p:spPr>
          <a:xfrm rot="10800000" flipH="1">
            <a:off x="4759085" y="4553111"/>
            <a:ext cx="331500" cy="200400"/>
          </a:xfrm>
          <a:prstGeom prst="straightConnector1">
            <a:avLst/>
          </a:prstGeom>
          <a:solidFill>
            <a:schemeClr val="accent2"/>
          </a:solidFill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3633" name="Google Shape;3633;p127"/>
          <p:cNvCxnSpPr>
            <a:stCxn id="3621" idx="3"/>
            <a:endCxn id="3622" idx="7"/>
          </p:cNvCxnSpPr>
          <p:nvPr/>
        </p:nvCxnSpPr>
        <p:spPr>
          <a:xfrm flipH="1">
            <a:off x="1411767" y="4625022"/>
            <a:ext cx="228300" cy="196200"/>
          </a:xfrm>
          <a:prstGeom prst="straightConnector1">
            <a:avLst/>
          </a:prstGeom>
          <a:solidFill>
            <a:schemeClr val="accent2"/>
          </a:solidFill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3634" name="Google Shape;3634;p127"/>
          <p:cNvCxnSpPr>
            <a:stCxn id="3621" idx="5"/>
            <a:endCxn id="3625" idx="1"/>
          </p:cNvCxnSpPr>
          <p:nvPr/>
        </p:nvCxnSpPr>
        <p:spPr>
          <a:xfrm>
            <a:off x="2033319" y="4625022"/>
            <a:ext cx="569700" cy="286200"/>
          </a:xfrm>
          <a:prstGeom prst="straightConnector1">
            <a:avLst/>
          </a:prstGeom>
          <a:solidFill>
            <a:schemeClr val="accent2"/>
          </a:solidFill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3635" name="Google Shape;3635;p127"/>
          <p:cNvCxnSpPr>
            <a:stCxn id="3622" idx="3"/>
            <a:endCxn id="3623" idx="7"/>
          </p:cNvCxnSpPr>
          <p:nvPr/>
        </p:nvCxnSpPr>
        <p:spPr>
          <a:xfrm flipH="1">
            <a:off x="858691" y="5181238"/>
            <a:ext cx="159900" cy="363300"/>
          </a:xfrm>
          <a:prstGeom prst="straightConnector1">
            <a:avLst/>
          </a:prstGeom>
          <a:solidFill>
            <a:schemeClr val="accent2"/>
          </a:solidFill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3636" name="Google Shape;3636;p127"/>
          <p:cNvCxnSpPr>
            <a:stCxn id="3622" idx="5"/>
            <a:endCxn id="3624" idx="0"/>
          </p:cNvCxnSpPr>
          <p:nvPr/>
        </p:nvCxnSpPr>
        <p:spPr>
          <a:xfrm>
            <a:off x="1411843" y="5181238"/>
            <a:ext cx="107100" cy="329700"/>
          </a:xfrm>
          <a:prstGeom prst="straightConnector1">
            <a:avLst/>
          </a:prstGeom>
          <a:solidFill>
            <a:schemeClr val="accent2"/>
          </a:solidFill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3637" name="Google Shape;3637;p127"/>
          <p:cNvSpPr/>
          <p:nvPr/>
        </p:nvSpPr>
        <p:spPr>
          <a:xfrm>
            <a:off x="4525401" y="5922134"/>
            <a:ext cx="556142" cy="509345"/>
          </a:xfrm>
          <a:prstGeom prst="ellipse">
            <a:avLst/>
          </a:prstGeom>
          <a:solidFill>
            <a:schemeClr val="accent2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16</a:t>
            </a:r>
            <a:endParaRPr/>
          </a:p>
        </p:txBody>
      </p:sp>
      <p:sp>
        <p:nvSpPr>
          <p:cNvPr id="3632" name="Google Shape;3632;p127"/>
          <p:cNvSpPr/>
          <p:nvPr/>
        </p:nvSpPr>
        <p:spPr>
          <a:xfrm>
            <a:off x="4481014" y="4753511"/>
            <a:ext cx="556142" cy="509345"/>
          </a:xfrm>
          <a:prstGeom prst="ellipse">
            <a:avLst/>
          </a:prstGeom>
          <a:solidFill>
            <a:schemeClr val="accent2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endParaRPr/>
          </a:p>
        </p:txBody>
      </p:sp>
      <p:sp>
        <p:nvSpPr>
          <p:cNvPr id="3630" name="Google Shape;3630;p127"/>
          <p:cNvSpPr/>
          <p:nvPr/>
        </p:nvSpPr>
        <p:spPr>
          <a:xfrm>
            <a:off x="5933861" y="4839508"/>
            <a:ext cx="556142" cy="509345"/>
          </a:xfrm>
          <a:prstGeom prst="ellipse">
            <a:avLst/>
          </a:prstGeom>
          <a:solidFill>
            <a:schemeClr val="accent2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/>
          </a:p>
        </p:txBody>
      </p:sp>
      <p:sp>
        <p:nvSpPr>
          <p:cNvPr id="3638" name="Google Shape;3638;p127"/>
          <p:cNvSpPr/>
          <p:nvPr/>
        </p:nvSpPr>
        <p:spPr>
          <a:xfrm>
            <a:off x="6884435" y="1093648"/>
            <a:ext cx="4497258" cy="8309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Initially the array must 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be a max heap (run a max heapify)</a:t>
            </a:r>
            <a:endParaRPr/>
          </a:p>
        </p:txBody>
      </p:sp>
      <p:graphicFrame>
        <p:nvGraphicFramePr>
          <p:cNvPr id="3639" name="Google Shape;3639;p127"/>
          <p:cNvGraphicFramePr/>
          <p:nvPr/>
        </p:nvGraphicFramePr>
        <p:xfrm>
          <a:off x="6851939" y="2264136"/>
          <a:ext cx="4562250" cy="731540"/>
        </p:xfrm>
        <a:graphic>
          <a:graphicData uri="http://schemas.openxmlformats.org/drawingml/2006/table">
            <a:tbl>
              <a:tblPr firstRow="1" bandRow="1">
                <a:noFill/>
                <a:tableStyleId>{66088737-8E24-4614-AAA7-3D08145F63E1}</a:tableStyleId>
              </a:tblPr>
              <a:tblGrid>
                <a:gridCol w="4562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62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562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008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115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562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5622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5622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45622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45622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2914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1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2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3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4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5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6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7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8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9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10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14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u="none" strike="noStrike" cap="none">
                          <a:solidFill>
                            <a:schemeClr val="dk1"/>
                          </a:solidFill>
                        </a:rPr>
                        <a:t>16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u="none" strike="noStrike" cap="none">
                          <a:solidFill>
                            <a:schemeClr val="dk1"/>
                          </a:solidFill>
                        </a:rPr>
                        <a:t>14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u="none" strike="noStrike" cap="none">
                          <a:solidFill>
                            <a:schemeClr val="dk1"/>
                          </a:solidFill>
                        </a:rPr>
                        <a:t>10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u="none" strike="noStrike" cap="none">
                          <a:solidFill>
                            <a:schemeClr val="dk1"/>
                          </a:solidFill>
                        </a:rPr>
                        <a:t>8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u="none" strike="noStrike" cap="none">
                          <a:solidFill>
                            <a:schemeClr val="dk1"/>
                          </a:solidFill>
                        </a:rPr>
                        <a:t>7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u="none" strike="noStrike" cap="none">
                          <a:solidFill>
                            <a:schemeClr val="dk1"/>
                          </a:solidFill>
                        </a:rPr>
                        <a:t>9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u="none" strike="noStrike" cap="none">
                          <a:solidFill>
                            <a:schemeClr val="dk1"/>
                          </a:solidFill>
                        </a:rPr>
                        <a:t>3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u="none" strike="noStrike" cap="none">
                          <a:solidFill>
                            <a:schemeClr val="dk1"/>
                          </a:solidFill>
                        </a:rPr>
                        <a:t>2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u="none" strike="noStrike" cap="none">
                          <a:solidFill>
                            <a:schemeClr val="dk1"/>
                          </a:solidFill>
                        </a:rPr>
                        <a:t>4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u="none" strike="noStrike" cap="none">
                          <a:solidFill>
                            <a:schemeClr val="dk1"/>
                          </a:solidFill>
                        </a:rPr>
                        <a:t>1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3640" name="Google Shape;3640;p127"/>
          <p:cNvSpPr txBox="1"/>
          <p:nvPr/>
        </p:nvSpPr>
        <p:spPr>
          <a:xfrm>
            <a:off x="7343481" y="3756305"/>
            <a:ext cx="3798540" cy="14773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1.Swap the last element with the root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2.Remove the largest element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3.Run a max heapify</a:t>
            </a:r>
            <a:endParaRPr sz="180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Observe that it is still a max heap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4. Return A[heapsize+1]</a:t>
            </a:r>
            <a:endParaRPr/>
          </a:p>
        </p:txBody>
      </p:sp>
      <p:graphicFrame>
        <p:nvGraphicFramePr>
          <p:cNvPr id="3641" name="Google Shape;3641;p127"/>
          <p:cNvGraphicFramePr/>
          <p:nvPr/>
        </p:nvGraphicFramePr>
        <p:xfrm>
          <a:off x="6851939" y="2275983"/>
          <a:ext cx="4562250" cy="731540"/>
        </p:xfrm>
        <a:graphic>
          <a:graphicData uri="http://schemas.openxmlformats.org/drawingml/2006/table">
            <a:tbl>
              <a:tblPr firstRow="1" bandRow="1">
                <a:noFill/>
                <a:tableStyleId>{66088737-8E24-4614-AAA7-3D08145F63E1}</a:tableStyleId>
              </a:tblPr>
              <a:tblGrid>
                <a:gridCol w="4562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62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562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008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115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562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5622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5622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45622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45622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2914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1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2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3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4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5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6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7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8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9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10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14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u="none" strike="noStrike" cap="none">
                          <a:solidFill>
                            <a:schemeClr val="dk1"/>
                          </a:solidFill>
                        </a:rPr>
                        <a:t>14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u="none" strike="noStrike" cap="none">
                          <a:solidFill>
                            <a:schemeClr val="dk1"/>
                          </a:solidFill>
                        </a:rPr>
                        <a:t>8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u="none" strike="noStrike" cap="none">
                          <a:solidFill>
                            <a:schemeClr val="dk1"/>
                          </a:solidFill>
                        </a:rPr>
                        <a:t>10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u="none" strike="noStrike" cap="none">
                          <a:solidFill>
                            <a:schemeClr val="dk1"/>
                          </a:solidFill>
                        </a:rPr>
                        <a:t>4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u="none" strike="noStrike" cap="none">
                          <a:solidFill>
                            <a:schemeClr val="dk1"/>
                          </a:solidFill>
                        </a:rPr>
                        <a:t>7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u="none" strike="noStrike" cap="none">
                          <a:solidFill>
                            <a:schemeClr val="dk1"/>
                          </a:solidFill>
                        </a:rPr>
                        <a:t>9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u="none" strike="noStrike" cap="none">
                          <a:solidFill>
                            <a:schemeClr val="dk1"/>
                          </a:solidFill>
                        </a:rPr>
                        <a:t>3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u="none" strike="noStrike" cap="none">
                          <a:solidFill>
                            <a:schemeClr val="dk1"/>
                          </a:solidFill>
                        </a:rPr>
                        <a:t>2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u="none" strike="noStrike" cap="none">
                          <a:solidFill>
                            <a:schemeClr val="dk1"/>
                          </a:solidFill>
                        </a:rPr>
                        <a:t>1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u="none" strike="noStrike" cap="none">
                          <a:solidFill>
                            <a:schemeClr val="dk1"/>
                          </a:solidFill>
                        </a:rPr>
                        <a:t>16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pic>
        <p:nvPicPr>
          <p:cNvPr id="3642" name="Google Shape;3642;p12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880742" y="3804829"/>
            <a:ext cx="4514850" cy="2905125"/>
          </a:xfrm>
          <a:prstGeom prst="rect">
            <a:avLst/>
          </a:prstGeom>
          <a:noFill/>
          <a:ln>
            <a:noFill/>
          </a:ln>
        </p:spPr>
      </p:pic>
      <p:sp>
        <p:nvSpPr>
          <p:cNvPr id="3643" name="Google Shape;3643;p127"/>
          <p:cNvSpPr/>
          <p:nvPr/>
        </p:nvSpPr>
        <p:spPr>
          <a:xfrm>
            <a:off x="7021589" y="3247765"/>
            <a:ext cx="2887777" cy="523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Takes O(logn time)</a:t>
            </a:r>
            <a:endParaRPr/>
          </a:p>
        </p:txBody>
      </p:sp>
      <p:sp>
        <p:nvSpPr>
          <p:cNvPr id="3644" name="Google Shape;3644;p127"/>
          <p:cNvSpPr/>
          <p:nvPr/>
        </p:nvSpPr>
        <p:spPr>
          <a:xfrm>
            <a:off x="9965465" y="5908259"/>
            <a:ext cx="1268296" cy="523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O(logn)</a:t>
            </a:r>
            <a:endParaRPr/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9" name="Google Shape;3649;p128"/>
          <p:cNvSpPr txBox="1">
            <a:spLocks noGrp="1"/>
          </p:cNvSpPr>
          <p:nvPr>
            <p:ph type="body" idx="1"/>
          </p:nvPr>
        </p:nvSpPr>
        <p:spPr>
          <a:xfrm>
            <a:off x="838200" y="1227909"/>
            <a:ext cx="10515600" cy="49490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1500"/>
              <a:buFont typeface="Arial"/>
              <a:buChar char="●"/>
            </a:pPr>
            <a:r>
              <a:rPr lang="en-US" sz="2000" b="1"/>
              <a:t>Priority Queue functions</a:t>
            </a:r>
            <a:endParaRPr/>
          </a:p>
          <a:p>
            <a:pPr marL="742950" lvl="1" indent="-28575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040"/>
              <a:buChar char="●"/>
            </a:pPr>
            <a:r>
              <a:rPr lang="en-US" sz="1600"/>
              <a:t>HEAP-MAXIMUM </a:t>
            </a:r>
            <a:endParaRPr/>
          </a:p>
          <a:p>
            <a:pPr marL="742950" lvl="1" indent="-28575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040"/>
              <a:buChar char="●"/>
            </a:pPr>
            <a:r>
              <a:rPr lang="en-US" sz="1600"/>
              <a:t>MAX-HEAP-INSERT</a:t>
            </a:r>
            <a:endParaRPr/>
          </a:p>
          <a:p>
            <a:pPr marL="742950" lvl="1" indent="-28575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040"/>
              <a:buChar char="●"/>
            </a:pPr>
            <a:r>
              <a:rPr lang="en-US" sz="1600"/>
              <a:t>HEAP-EXTRACT-MAX </a:t>
            </a:r>
            <a:endParaRPr/>
          </a:p>
          <a:p>
            <a:pPr marL="742950" lvl="1" indent="-28575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040"/>
              <a:buChar char="●"/>
            </a:pPr>
            <a:r>
              <a:rPr lang="en-US" sz="1600" b="1"/>
              <a:t>HEAP-INCREASE-KEY – </a:t>
            </a:r>
            <a:r>
              <a:rPr lang="en-US" sz="1600">
                <a:solidFill>
                  <a:srgbClr val="FF0000"/>
                </a:solidFill>
              </a:rPr>
              <a:t>increase the value of  a particular index</a:t>
            </a:r>
            <a:endParaRPr/>
          </a:p>
          <a:p>
            <a:pPr marL="342900" marR="0" lvl="0" indent="-20955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0033CC"/>
              </a:buClr>
              <a:buSzPts val="2100"/>
              <a:buFont typeface="Arial"/>
              <a:buNone/>
            </a:pPr>
            <a:endParaRPr/>
          </a:p>
        </p:txBody>
      </p:sp>
      <p:sp>
        <p:nvSpPr>
          <p:cNvPr id="3650" name="Google Shape;3650;p128"/>
          <p:cNvSpPr txBox="1">
            <a:spLocks noGrp="1"/>
          </p:cNvSpPr>
          <p:nvPr>
            <p:ph type="dt" idx="10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C5B41781-776F-4391-8549-3F76D89F0E0A}" type="datetime1">
              <a:rPr lang="en-US" smtClean="0"/>
              <a:t>1/12/2026</a:t>
            </a:fld>
            <a:endParaRPr/>
          </a:p>
        </p:txBody>
      </p:sp>
      <p:sp>
        <p:nvSpPr>
          <p:cNvPr id="3651" name="Google Shape;3651;p128"/>
          <p:cNvSpPr txBox="1">
            <a:spLocks noGrp="1"/>
          </p:cNvSpPr>
          <p:nvPr>
            <p:ph type="ftr" idx="11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Lec Asif Abrar, Dept of CSE, UIU</a:t>
            </a:r>
            <a:endParaRPr/>
          </a:p>
        </p:txBody>
      </p:sp>
      <p:sp>
        <p:nvSpPr>
          <p:cNvPr id="3652" name="Google Shape;3652;p128"/>
          <p:cNvSpPr txBox="1">
            <a:spLocks noGrp="1"/>
          </p:cNvSpPr>
          <p:nvPr>
            <p:ph type="sldNum" idx="12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95</a:t>
            </a:fld>
            <a:endParaRPr/>
          </a:p>
        </p:txBody>
      </p:sp>
      <p:sp>
        <p:nvSpPr>
          <p:cNvPr id="3653" name="Google Shape;3653;p128"/>
          <p:cNvSpPr txBox="1">
            <a:spLocks noGrp="1"/>
          </p:cNvSpPr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endParaRPr/>
          </a:p>
        </p:txBody>
      </p:sp>
      <p:sp>
        <p:nvSpPr>
          <p:cNvPr id="3654" name="Google Shape;3654;p128"/>
          <p:cNvSpPr/>
          <p:nvPr/>
        </p:nvSpPr>
        <p:spPr>
          <a:xfrm>
            <a:off x="4270193" y="3335875"/>
            <a:ext cx="556142" cy="509345"/>
          </a:xfrm>
          <a:prstGeom prst="ellipse">
            <a:avLst/>
          </a:prstGeom>
          <a:solidFill>
            <a:schemeClr val="accent2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16</a:t>
            </a:r>
            <a:endParaRPr/>
          </a:p>
        </p:txBody>
      </p:sp>
      <p:sp>
        <p:nvSpPr>
          <p:cNvPr id="3655" name="Google Shape;3655;p128"/>
          <p:cNvSpPr/>
          <p:nvPr/>
        </p:nvSpPr>
        <p:spPr>
          <a:xfrm>
            <a:off x="2247415" y="4097144"/>
            <a:ext cx="556142" cy="509345"/>
          </a:xfrm>
          <a:prstGeom prst="ellipse">
            <a:avLst/>
          </a:prstGeom>
          <a:solidFill>
            <a:schemeClr val="accent2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14</a:t>
            </a:r>
            <a:endParaRPr/>
          </a:p>
        </p:txBody>
      </p:sp>
      <p:sp>
        <p:nvSpPr>
          <p:cNvPr id="3656" name="Google Shape;3656;p128"/>
          <p:cNvSpPr/>
          <p:nvPr/>
        </p:nvSpPr>
        <p:spPr>
          <a:xfrm>
            <a:off x="1625939" y="4653360"/>
            <a:ext cx="556142" cy="509345"/>
          </a:xfrm>
          <a:prstGeom prst="ellipse">
            <a:avLst/>
          </a:prstGeom>
          <a:solidFill>
            <a:schemeClr val="accent2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/>
          </a:p>
        </p:txBody>
      </p:sp>
      <p:sp>
        <p:nvSpPr>
          <p:cNvPr id="3657" name="Google Shape;3657;p128"/>
          <p:cNvSpPr/>
          <p:nvPr/>
        </p:nvSpPr>
        <p:spPr>
          <a:xfrm>
            <a:off x="1072894" y="5376794"/>
            <a:ext cx="556142" cy="509345"/>
          </a:xfrm>
          <a:prstGeom prst="ellipse">
            <a:avLst/>
          </a:prstGeom>
          <a:solidFill>
            <a:schemeClr val="accent2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  <p:sp>
        <p:nvSpPr>
          <p:cNvPr id="3658" name="Google Shape;3658;p128"/>
          <p:cNvSpPr/>
          <p:nvPr/>
        </p:nvSpPr>
        <p:spPr>
          <a:xfrm>
            <a:off x="1929716" y="5417685"/>
            <a:ext cx="556142" cy="509345"/>
          </a:xfrm>
          <a:prstGeom prst="ellipse">
            <a:avLst/>
          </a:prstGeom>
          <a:solidFill>
            <a:schemeClr val="accent2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/>
          </a:p>
        </p:txBody>
      </p:sp>
      <p:sp>
        <p:nvSpPr>
          <p:cNvPr id="3659" name="Google Shape;3659;p128"/>
          <p:cNvSpPr/>
          <p:nvPr/>
        </p:nvSpPr>
        <p:spPr>
          <a:xfrm>
            <a:off x="3210468" y="4743554"/>
            <a:ext cx="556142" cy="509345"/>
          </a:xfrm>
          <a:prstGeom prst="ellipse">
            <a:avLst/>
          </a:prstGeom>
          <a:solidFill>
            <a:schemeClr val="accent2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/>
          </a:p>
        </p:txBody>
      </p:sp>
      <p:sp>
        <p:nvSpPr>
          <p:cNvPr id="3660" name="Google Shape;3660;p128"/>
          <p:cNvSpPr/>
          <p:nvPr/>
        </p:nvSpPr>
        <p:spPr>
          <a:xfrm>
            <a:off x="5698070" y="4025144"/>
            <a:ext cx="556142" cy="509345"/>
          </a:xfrm>
          <a:prstGeom prst="ellipse">
            <a:avLst/>
          </a:prstGeom>
          <a:solidFill>
            <a:schemeClr val="accent2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/>
          </a:p>
        </p:txBody>
      </p:sp>
      <p:cxnSp>
        <p:nvCxnSpPr>
          <p:cNvPr id="3661" name="Google Shape;3661;p128"/>
          <p:cNvCxnSpPr>
            <a:stCxn id="3654" idx="3"/>
            <a:endCxn id="3655" idx="7"/>
          </p:cNvCxnSpPr>
          <p:nvPr/>
        </p:nvCxnSpPr>
        <p:spPr>
          <a:xfrm flipH="1">
            <a:off x="2722038" y="3770628"/>
            <a:ext cx="1629600" cy="401100"/>
          </a:xfrm>
          <a:prstGeom prst="straightConnector1">
            <a:avLst/>
          </a:prstGeom>
          <a:solidFill>
            <a:schemeClr val="accent2"/>
          </a:solidFill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3662" name="Google Shape;3662;p128"/>
          <p:cNvCxnSpPr>
            <a:stCxn id="3660" idx="1"/>
            <a:endCxn id="3654" idx="5"/>
          </p:cNvCxnSpPr>
          <p:nvPr/>
        </p:nvCxnSpPr>
        <p:spPr>
          <a:xfrm rot="10800000">
            <a:off x="4744815" y="3770636"/>
            <a:ext cx="1034700" cy="329100"/>
          </a:xfrm>
          <a:prstGeom prst="straightConnector1">
            <a:avLst/>
          </a:prstGeom>
          <a:solidFill>
            <a:schemeClr val="accent2"/>
          </a:solidFill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3663" name="Google Shape;3663;p128"/>
          <p:cNvCxnSpPr>
            <a:stCxn id="3664" idx="0"/>
            <a:endCxn id="3660" idx="5"/>
          </p:cNvCxnSpPr>
          <p:nvPr/>
        </p:nvCxnSpPr>
        <p:spPr>
          <a:xfrm rot="10800000">
            <a:off x="6172625" y="4459883"/>
            <a:ext cx="728100" cy="286500"/>
          </a:xfrm>
          <a:prstGeom prst="straightConnector1">
            <a:avLst/>
          </a:prstGeom>
          <a:solidFill>
            <a:schemeClr val="accent2"/>
          </a:solidFill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3665" name="Google Shape;3665;p128"/>
          <p:cNvCxnSpPr>
            <a:stCxn id="3666" idx="0"/>
            <a:endCxn id="3660" idx="3"/>
          </p:cNvCxnSpPr>
          <p:nvPr/>
        </p:nvCxnSpPr>
        <p:spPr>
          <a:xfrm rot="10800000" flipH="1">
            <a:off x="5447878" y="4459986"/>
            <a:ext cx="331500" cy="200400"/>
          </a:xfrm>
          <a:prstGeom prst="straightConnector1">
            <a:avLst/>
          </a:prstGeom>
          <a:solidFill>
            <a:schemeClr val="accent2"/>
          </a:solidFill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3667" name="Google Shape;3667;p128"/>
          <p:cNvCxnSpPr>
            <a:stCxn id="3655" idx="3"/>
            <a:endCxn id="3656" idx="7"/>
          </p:cNvCxnSpPr>
          <p:nvPr/>
        </p:nvCxnSpPr>
        <p:spPr>
          <a:xfrm flipH="1">
            <a:off x="2100560" y="4531897"/>
            <a:ext cx="228300" cy="196200"/>
          </a:xfrm>
          <a:prstGeom prst="straightConnector1">
            <a:avLst/>
          </a:prstGeom>
          <a:solidFill>
            <a:schemeClr val="accent2"/>
          </a:solidFill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3668" name="Google Shape;3668;p128"/>
          <p:cNvCxnSpPr>
            <a:stCxn id="3655" idx="5"/>
            <a:endCxn id="3659" idx="1"/>
          </p:cNvCxnSpPr>
          <p:nvPr/>
        </p:nvCxnSpPr>
        <p:spPr>
          <a:xfrm>
            <a:off x="2722112" y="4531897"/>
            <a:ext cx="569700" cy="286200"/>
          </a:xfrm>
          <a:prstGeom prst="straightConnector1">
            <a:avLst/>
          </a:prstGeom>
          <a:solidFill>
            <a:schemeClr val="accent2"/>
          </a:solidFill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3669" name="Google Shape;3669;p128"/>
          <p:cNvCxnSpPr>
            <a:stCxn id="3656" idx="3"/>
            <a:endCxn id="3657" idx="7"/>
          </p:cNvCxnSpPr>
          <p:nvPr/>
        </p:nvCxnSpPr>
        <p:spPr>
          <a:xfrm flipH="1">
            <a:off x="1547484" y="5088113"/>
            <a:ext cx="159900" cy="363300"/>
          </a:xfrm>
          <a:prstGeom prst="straightConnector1">
            <a:avLst/>
          </a:prstGeom>
          <a:solidFill>
            <a:schemeClr val="accent2"/>
          </a:solidFill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3670" name="Google Shape;3670;p128"/>
          <p:cNvCxnSpPr>
            <a:stCxn id="3656" idx="5"/>
            <a:endCxn id="3658" idx="0"/>
          </p:cNvCxnSpPr>
          <p:nvPr/>
        </p:nvCxnSpPr>
        <p:spPr>
          <a:xfrm>
            <a:off x="2100636" y="5088113"/>
            <a:ext cx="107100" cy="329700"/>
          </a:xfrm>
          <a:prstGeom prst="straightConnector1">
            <a:avLst/>
          </a:prstGeom>
          <a:solidFill>
            <a:schemeClr val="accent2"/>
          </a:solidFill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3671" name="Google Shape;3671;p128"/>
          <p:cNvSpPr/>
          <p:nvPr/>
        </p:nvSpPr>
        <p:spPr>
          <a:xfrm>
            <a:off x="2604089" y="5451386"/>
            <a:ext cx="556142" cy="509345"/>
          </a:xfrm>
          <a:prstGeom prst="ellipse">
            <a:avLst/>
          </a:prstGeom>
          <a:solidFill>
            <a:schemeClr val="accent2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cxnSp>
        <p:nvCxnSpPr>
          <p:cNvPr id="3672" name="Google Shape;3672;p128"/>
          <p:cNvCxnSpPr>
            <a:stCxn id="3659" idx="3"/>
            <a:endCxn id="3671" idx="7"/>
          </p:cNvCxnSpPr>
          <p:nvPr/>
        </p:nvCxnSpPr>
        <p:spPr>
          <a:xfrm flipH="1">
            <a:off x="3078913" y="5178307"/>
            <a:ext cx="213000" cy="347700"/>
          </a:xfrm>
          <a:prstGeom prst="straightConnector1">
            <a:avLst/>
          </a:prstGeom>
          <a:solidFill>
            <a:schemeClr val="accent2"/>
          </a:solidFill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3666" name="Google Shape;3666;p128"/>
          <p:cNvSpPr/>
          <p:nvPr/>
        </p:nvSpPr>
        <p:spPr>
          <a:xfrm>
            <a:off x="5169807" y="4660386"/>
            <a:ext cx="556142" cy="509345"/>
          </a:xfrm>
          <a:prstGeom prst="ellipse">
            <a:avLst/>
          </a:prstGeom>
          <a:solidFill>
            <a:schemeClr val="accent2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endParaRPr/>
          </a:p>
        </p:txBody>
      </p:sp>
      <p:sp>
        <p:nvSpPr>
          <p:cNvPr id="3664" name="Google Shape;3664;p128"/>
          <p:cNvSpPr/>
          <p:nvPr/>
        </p:nvSpPr>
        <p:spPr>
          <a:xfrm>
            <a:off x="6622654" y="4746383"/>
            <a:ext cx="556142" cy="509345"/>
          </a:xfrm>
          <a:prstGeom prst="ellipse">
            <a:avLst/>
          </a:prstGeom>
          <a:solidFill>
            <a:schemeClr val="accent2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/>
          </a:p>
        </p:txBody>
      </p:sp>
      <p:graphicFrame>
        <p:nvGraphicFramePr>
          <p:cNvPr id="3673" name="Google Shape;3673;p128"/>
          <p:cNvGraphicFramePr/>
          <p:nvPr/>
        </p:nvGraphicFramePr>
        <p:xfrm>
          <a:off x="7178796" y="1889866"/>
          <a:ext cx="4562250" cy="731540"/>
        </p:xfrm>
        <a:graphic>
          <a:graphicData uri="http://schemas.openxmlformats.org/drawingml/2006/table">
            <a:tbl>
              <a:tblPr firstRow="1" bandRow="1">
                <a:noFill/>
                <a:tableStyleId>{66088737-8E24-4614-AAA7-3D08145F63E1}</a:tableStyleId>
              </a:tblPr>
              <a:tblGrid>
                <a:gridCol w="4562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62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562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008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115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562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5622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5622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45622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45622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2914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1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2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3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4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5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6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7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8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9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10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14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u="none" strike="noStrike" cap="none">
                          <a:solidFill>
                            <a:schemeClr val="dk1"/>
                          </a:solidFill>
                        </a:rPr>
                        <a:t>16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u="none" strike="noStrike" cap="none">
                          <a:solidFill>
                            <a:schemeClr val="dk1"/>
                          </a:solidFill>
                        </a:rPr>
                        <a:t>14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u="none" strike="noStrike" cap="none">
                          <a:solidFill>
                            <a:schemeClr val="dk1"/>
                          </a:solidFill>
                        </a:rPr>
                        <a:t>10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u="none" strike="noStrike" cap="none">
                          <a:solidFill>
                            <a:schemeClr val="dk1"/>
                          </a:solidFill>
                        </a:rPr>
                        <a:t>8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u="none" strike="noStrike" cap="none">
                          <a:solidFill>
                            <a:schemeClr val="dk1"/>
                          </a:solidFill>
                        </a:rPr>
                        <a:t>7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u="none" strike="noStrike" cap="none">
                          <a:solidFill>
                            <a:schemeClr val="dk1"/>
                          </a:solidFill>
                        </a:rPr>
                        <a:t>9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u="none" strike="noStrike" cap="none">
                          <a:solidFill>
                            <a:schemeClr val="dk1"/>
                          </a:solidFill>
                        </a:rPr>
                        <a:t>3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u="none" strike="noStrike" cap="none">
                          <a:solidFill>
                            <a:schemeClr val="dk1"/>
                          </a:solidFill>
                        </a:rPr>
                        <a:t>2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u="none" strike="noStrike" cap="none">
                          <a:solidFill>
                            <a:schemeClr val="dk1"/>
                          </a:solidFill>
                        </a:rPr>
                        <a:t>4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u="none" strike="noStrike" cap="none">
                          <a:solidFill>
                            <a:schemeClr val="dk1"/>
                          </a:solidFill>
                        </a:rPr>
                        <a:t>1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8" name="Google Shape;3678;p129"/>
          <p:cNvSpPr txBox="1">
            <a:spLocks noGrp="1"/>
          </p:cNvSpPr>
          <p:nvPr>
            <p:ph type="body" idx="1"/>
          </p:nvPr>
        </p:nvSpPr>
        <p:spPr>
          <a:xfrm>
            <a:off x="838200" y="1227909"/>
            <a:ext cx="10515600" cy="49490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1500"/>
              <a:buFont typeface="Arial"/>
              <a:buChar char="●"/>
            </a:pPr>
            <a:r>
              <a:rPr lang="en-US" sz="2000" b="1"/>
              <a:t>Priority Queue functions</a:t>
            </a:r>
            <a:endParaRPr/>
          </a:p>
          <a:p>
            <a:pPr marL="742950" lvl="1" indent="-28575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040"/>
              <a:buChar char="●"/>
            </a:pPr>
            <a:r>
              <a:rPr lang="en-US" sz="1600"/>
              <a:t>HEAP-MAXIMUM </a:t>
            </a:r>
            <a:endParaRPr/>
          </a:p>
          <a:p>
            <a:pPr marL="742950" lvl="1" indent="-28575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040"/>
              <a:buChar char="●"/>
            </a:pPr>
            <a:r>
              <a:rPr lang="en-US" sz="1600"/>
              <a:t>MAX-HEAP-INSERT</a:t>
            </a:r>
            <a:endParaRPr/>
          </a:p>
          <a:p>
            <a:pPr marL="742950" lvl="1" indent="-28575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040"/>
              <a:buChar char="●"/>
            </a:pPr>
            <a:r>
              <a:rPr lang="en-US" sz="1600"/>
              <a:t>HEAP-EXTRACT-MAX </a:t>
            </a:r>
            <a:endParaRPr/>
          </a:p>
          <a:p>
            <a:pPr marL="742950" lvl="1" indent="-28575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040"/>
              <a:buChar char="●"/>
            </a:pPr>
            <a:r>
              <a:rPr lang="en-US" sz="1600" b="1"/>
              <a:t>HEAP-INCREASE-KEY – </a:t>
            </a:r>
            <a:r>
              <a:rPr lang="en-US" sz="1600">
                <a:solidFill>
                  <a:srgbClr val="FF0000"/>
                </a:solidFill>
              </a:rPr>
              <a:t>increase the value of  a particular index</a:t>
            </a:r>
            <a:endParaRPr/>
          </a:p>
          <a:p>
            <a:pPr marL="342900" marR="0" lvl="0" indent="-20955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0033CC"/>
              </a:buClr>
              <a:buSzPts val="2100"/>
              <a:buFont typeface="Arial"/>
              <a:buNone/>
            </a:pPr>
            <a:endParaRPr/>
          </a:p>
        </p:txBody>
      </p:sp>
      <p:sp>
        <p:nvSpPr>
          <p:cNvPr id="3679" name="Google Shape;3679;p129"/>
          <p:cNvSpPr txBox="1">
            <a:spLocks noGrp="1"/>
          </p:cNvSpPr>
          <p:nvPr>
            <p:ph type="dt" idx="10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4890E6FC-C5AB-4443-A0A4-02E238479DC8}" type="datetime1">
              <a:rPr lang="en-US" smtClean="0"/>
              <a:t>1/12/2026</a:t>
            </a:fld>
            <a:endParaRPr/>
          </a:p>
        </p:txBody>
      </p:sp>
      <p:sp>
        <p:nvSpPr>
          <p:cNvPr id="3680" name="Google Shape;3680;p129"/>
          <p:cNvSpPr txBox="1">
            <a:spLocks noGrp="1"/>
          </p:cNvSpPr>
          <p:nvPr>
            <p:ph type="ftr" idx="11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Lec Asif Abrar, Dept of CSE, UIU</a:t>
            </a:r>
            <a:endParaRPr/>
          </a:p>
        </p:txBody>
      </p:sp>
      <p:sp>
        <p:nvSpPr>
          <p:cNvPr id="3681" name="Google Shape;3681;p129"/>
          <p:cNvSpPr txBox="1">
            <a:spLocks noGrp="1"/>
          </p:cNvSpPr>
          <p:nvPr>
            <p:ph type="sldNum" idx="12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96</a:t>
            </a:fld>
            <a:endParaRPr/>
          </a:p>
        </p:txBody>
      </p:sp>
      <p:sp>
        <p:nvSpPr>
          <p:cNvPr id="3682" name="Google Shape;3682;p129"/>
          <p:cNvSpPr txBox="1">
            <a:spLocks noGrp="1"/>
          </p:cNvSpPr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endParaRPr/>
          </a:p>
        </p:txBody>
      </p:sp>
      <p:sp>
        <p:nvSpPr>
          <p:cNvPr id="3683" name="Google Shape;3683;p129"/>
          <p:cNvSpPr/>
          <p:nvPr/>
        </p:nvSpPr>
        <p:spPr>
          <a:xfrm>
            <a:off x="4270193" y="3335875"/>
            <a:ext cx="556142" cy="509345"/>
          </a:xfrm>
          <a:prstGeom prst="ellipse">
            <a:avLst/>
          </a:prstGeom>
          <a:solidFill>
            <a:schemeClr val="accent2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16</a:t>
            </a:r>
            <a:endParaRPr/>
          </a:p>
        </p:txBody>
      </p:sp>
      <p:sp>
        <p:nvSpPr>
          <p:cNvPr id="3684" name="Google Shape;3684;p129"/>
          <p:cNvSpPr/>
          <p:nvPr/>
        </p:nvSpPr>
        <p:spPr>
          <a:xfrm>
            <a:off x="2247415" y="4097144"/>
            <a:ext cx="556142" cy="509345"/>
          </a:xfrm>
          <a:prstGeom prst="ellipse">
            <a:avLst/>
          </a:prstGeom>
          <a:solidFill>
            <a:schemeClr val="accent2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14</a:t>
            </a:r>
            <a:endParaRPr/>
          </a:p>
        </p:txBody>
      </p:sp>
      <p:sp>
        <p:nvSpPr>
          <p:cNvPr id="3685" name="Google Shape;3685;p129"/>
          <p:cNvSpPr/>
          <p:nvPr/>
        </p:nvSpPr>
        <p:spPr>
          <a:xfrm>
            <a:off x="1625939" y="4653360"/>
            <a:ext cx="556142" cy="509345"/>
          </a:xfrm>
          <a:prstGeom prst="ellipse">
            <a:avLst/>
          </a:prstGeom>
          <a:solidFill>
            <a:schemeClr val="accent2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/>
          </a:p>
        </p:txBody>
      </p:sp>
      <p:sp>
        <p:nvSpPr>
          <p:cNvPr id="3686" name="Google Shape;3686;p129"/>
          <p:cNvSpPr/>
          <p:nvPr/>
        </p:nvSpPr>
        <p:spPr>
          <a:xfrm>
            <a:off x="1072894" y="5376794"/>
            <a:ext cx="556142" cy="509345"/>
          </a:xfrm>
          <a:prstGeom prst="ellipse">
            <a:avLst/>
          </a:prstGeom>
          <a:solidFill>
            <a:schemeClr val="accent2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  <p:sp>
        <p:nvSpPr>
          <p:cNvPr id="3687" name="Google Shape;3687;p129"/>
          <p:cNvSpPr/>
          <p:nvPr/>
        </p:nvSpPr>
        <p:spPr>
          <a:xfrm>
            <a:off x="1929716" y="5417685"/>
            <a:ext cx="556142" cy="509345"/>
          </a:xfrm>
          <a:prstGeom prst="ellipse">
            <a:avLst/>
          </a:prstGeom>
          <a:solidFill>
            <a:schemeClr val="accent2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/>
          </a:p>
        </p:txBody>
      </p:sp>
      <p:sp>
        <p:nvSpPr>
          <p:cNvPr id="3688" name="Google Shape;3688;p129"/>
          <p:cNvSpPr/>
          <p:nvPr/>
        </p:nvSpPr>
        <p:spPr>
          <a:xfrm>
            <a:off x="3210468" y="4743554"/>
            <a:ext cx="556142" cy="509345"/>
          </a:xfrm>
          <a:prstGeom prst="ellipse">
            <a:avLst/>
          </a:prstGeom>
          <a:solidFill>
            <a:schemeClr val="accent2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/>
          </a:p>
        </p:txBody>
      </p:sp>
      <p:sp>
        <p:nvSpPr>
          <p:cNvPr id="3689" name="Google Shape;3689;p129"/>
          <p:cNvSpPr/>
          <p:nvPr/>
        </p:nvSpPr>
        <p:spPr>
          <a:xfrm>
            <a:off x="5698070" y="4025144"/>
            <a:ext cx="556142" cy="509345"/>
          </a:xfrm>
          <a:prstGeom prst="ellipse">
            <a:avLst/>
          </a:prstGeom>
          <a:solidFill>
            <a:schemeClr val="accent2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/>
          </a:p>
        </p:txBody>
      </p:sp>
      <p:cxnSp>
        <p:nvCxnSpPr>
          <p:cNvPr id="3690" name="Google Shape;3690;p129"/>
          <p:cNvCxnSpPr>
            <a:stCxn id="3683" idx="3"/>
            <a:endCxn id="3684" idx="7"/>
          </p:cNvCxnSpPr>
          <p:nvPr/>
        </p:nvCxnSpPr>
        <p:spPr>
          <a:xfrm flipH="1">
            <a:off x="2722038" y="3770628"/>
            <a:ext cx="1629600" cy="401100"/>
          </a:xfrm>
          <a:prstGeom prst="straightConnector1">
            <a:avLst/>
          </a:prstGeom>
          <a:solidFill>
            <a:schemeClr val="accent2"/>
          </a:solidFill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3691" name="Google Shape;3691;p129"/>
          <p:cNvCxnSpPr>
            <a:stCxn id="3689" idx="1"/>
            <a:endCxn id="3683" idx="5"/>
          </p:cNvCxnSpPr>
          <p:nvPr/>
        </p:nvCxnSpPr>
        <p:spPr>
          <a:xfrm rot="10800000">
            <a:off x="4744815" y="3770636"/>
            <a:ext cx="1034700" cy="329100"/>
          </a:xfrm>
          <a:prstGeom prst="straightConnector1">
            <a:avLst/>
          </a:prstGeom>
          <a:solidFill>
            <a:schemeClr val="accent2"/>
          </a:solidFill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3692" name="Google Shape;3692;p129"/>
          <p:cNvCxnSpPr>
            <a:stCxn id="3693" idx="0"/>
            <a:endCxn id="3689" idx="5"/>
          </p:cNvCxnSpPr>
          <p:nvPr/>
        </p:nvCxnSpPr>
        <p:spPr>
          <a:xfrm rot="10800000">
            <a:off x="6172625" y="4459883"/>
            <a:ext cx="728100" cy="286500"/>
          </a:xfrm>
          <a:prstGeom prst="straightConnector1">
            <a:avLst/>
          </a:prstGeom>
          <a:solidFill>
            <a:schemeClr val="accent2"/>
          </a:solidFill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3694" name="Google Shape;3694;p129"/>
          <p:cNvCxnSpPr>
            <a:stCxn id="3695" idx="0"/>
            <a:endCxn id="3689" idx="3"/>
          </p:cNvCxnSpPr>
          <p:nvPr/>
        </p:nvCxnSpPr>
        <p:spPr>
          <a:xfrm rot="10800000" flipH="1">
            <a:off x="5447878" y="4459986"/>
            <a:ext cx="331500" cy="200400"/>
          </a:xfrm>
          <a:prstGeom prst="straightConnector1">
            <a:avLst/>
          </a:prstGeom>
          <a:solidFill>
            <a:schemeClr val="accent2"/>
          </a:solidFill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3696" name="Google Shape;3696;p129"/>
          <p:cNvCxnSpPr>
            <a:stCxn id="3684" idx="3"/>
            <a:endCxn id="3685" idx="7"/>
          </p:cNvCxnSpPr>
          <p:nvPr/>
        </p:nvCxnSpPr>
        <p:spPr>
          <a:xfrm flipH="1">
            <a:off x="2100560" y="4531897"/>
            <a:ext cx="228300" cy="196200"/>
          </a:xfrm>
          <a:prstGeom prst="straightConnector1">
            <a:avLst/>
          </a:prstGeom>
          <a:solidFill>
            <a:schemeClr val="accent2"/>
          </a:solidFill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3697" name="Google Shape;3697;p129"/>
          <p:cNvCxnSpPr>
            <a:stCxn id="3684" idx="5"/>
            <a:endCxn id="3688" idx="1"/>
          </p:cNvCxnSpPr>
          <p:nvPr/>
        </p:nvCxnSpPr>
        <p:spPr>
          <a:xfrm>
            <a:off x="2722112" y="4531897"/>
            <a:ext cx="569700" cy="286200"/>
          </a:xfrm>
          <a:prstGeom prst="straightConnector1">
            <a:avLst/>
          </a:prstGeom>
          <a:solidFill>
            <a:schemeClr val="accent2"/>
          </a:solidFill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3698" name="Google Shape;3698;p129"/>
          <p:cNvCxnSpPr>
            <a:stCxn id="3685" idx="3"/>
            <a:endCxn id="3686" idx="7"/>
          </p:cNvCxnSpPr>
          <p:nvPr/>
        </p:nvCxnSpPr>
        <p:spPr>
          <a:xfrm flipH="1">
            <a:off x="1547484" y="5088113"/>
            <a:ext cx="159900" cy="363300"/>
          </a:xfrm>
          <a:prstGeom prst="straightConnector1">
            <a:avLst/>
          </a:prstGeom>
          <a:solidFill>
            <a:schemeClr val="accent2"/>
          </a:solidFill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3699" name="Google Shape;3699;p129"/>
          <p:cNvCxnSpPr>
            <a:stCxn id="3685" idx="5"/>
            <a:endCxn id="3687" idx="0"/>
          </p:cNvCxnSpPr>
          <p:nvPr/>
        </p:nvCxnSpPr>
        <p:spPr>
          <a:xfrm>
            <a:off x="2100636" y="5088113"/>
            <a:ext cx="107100" cy="329700"/>
          </a:xfrm>
          <a:prstGeom prst="straightConnector1">
            <a:avLst/>
          </a:prstGeom>
          <a:solidFill>
            <a:schemeClr val="accent2"/>
          </a:solidFill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3700" name="Google Shape;3700;p129"/>
          <p:cNvSpPr/>
          <p:nvPr/>
        </p:nvSpPr>
        <p:spPr>
          <a:xfrm>
            <a:off x="2604089" y="5451386"/>
            <a:ext cx="556142" cy="509345"/>
          </a:xfrm>
          <a:prstGeom prst="ellipse">
            <a:avLst/>
          </a:prstGeom>
          <a:solidFill>
            <a:schemeClr val="accent2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90</a:t>
            </a:r>
            <a:endParaRPr/>
          </a:p>
        </p:txBody>
      </p:sp>
      <p:cxnSp>
        <p:nvCxnSpPr>
          <p:cNvPr id="3701" name="Google Shape;3701;p129"/>
          <p:cNvCxnSpPr>
            <a:stCxn id="3688" idx="3"/>
            <a:endCxn id="3700" idx="7"/>
          </p:cNvCxnSpPr>
          <p:nvPr/>
        </p:nvCxnSpPr>
        <p:spPr>
          <a:xfrm flipH="1">
            <a:off x="3078913" y="5178307"/>
            <a:ext cx="213000" cy="347700"/>
          </a:xfrm>
          <a:prstGeom prst="straightConnector1">
            <a:avLst/>
          </a:prstGeom>
          <a:solidFill>
            <a:schemeClr val="accent2"/>
          </a:solidFill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3695" name="Google Shape;3695;p129"/>
          <p:cNvSpPr/>
          <p:nvPr/>
        </p:nvSpPr>
        <p:spPr>
          <a:xfrm>
            <a:off x="5169807" y="4660386"/>
            <a:ext cx="556142" cy="509345"/>
          </a:xfrm>
          <a:prstGeom prst="ellipse">
            <a:avLst/>
          </a:prstGeom>
          <a:solidFill>
            <a:schemeClr val="accent2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endParaRPr/>
          </a:p>
        </p:txBody>
      </p:sp>
      <p:sp>
        <p:nvSpPr>
          <p:cNvPr id="3693" name="Google Shape;3693;p129"/>
          <p:cNvSpPr/>
          <p:nvPr/>
        </p:nvSpPr>
        <p:spPr>
          <a:xfrm>
            <a:off x="6622654" y="4746383"/>
            <a:ext cx="556142" cy="509345"/>
          </a:xfrm>
          <a:prstGeom prst="ellipse">
            <a:avLst/>
          </a:prstGeom>
          <a:solidFill>
            <a:schemeClr val="accent2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/>
          </a:p>
        </p:txBody>
      </p:sp>
      <p:graphicFrame>
        <p:nvGraphicFramePr>
          <p:cNvPr id="3702" name="Google Shape;3702;p129"/>
          <p:cNvGraphicFramePr/>
          <p:nvPr/>
        </p:nvGraphicFramePr>
        <p:xfrm>
          <a:off x="7178796" y="1889866"/>
          <a:ext cx="4562250" cy="731540"/>
        </p:xfrm>
        <a:graphic>
          <a:graphicData uri="http://schemas.openxmlformats.org/drawingml/2006/table">
            <a:tbl>
              <a:tblPr firstRow="1" bandRow="1">
                <a:noFill/>
                <a:tableStyleId>{66088737-8E24-4614-AAA7-3D08145F63E1}</a:tableStyleId>
              </a:tblPr>
              <a:tblGrid>
                <a:gridCol w="4562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62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562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008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115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562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5622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5622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45622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45622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2914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1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2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3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4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5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6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7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8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9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10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14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u="none" strike="noStrike" cap="none">
                          <a:solidFill>
                            <a:schemeClr val="dk1"/>
                          </a:solidFill>
                        </a:rPr>
                        <a:t>16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u="none" strike="noStrike" cap="none">
                          <a:solidFill>
                            <a:schemeClr val="dk1"/>
                          </a:solidFill>
                        </a:rPr>
                        <a:t>14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u="none" strike="noStrike" cap="none">
                          <a:solidFill>
                            <a:schemeClr val="dk1"/>
                          </a:solidFill>
                        </a:rPr>
                        <a:t>10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u="none" strike="noStrike" cap="none">
                          <a:solidFill>
                            <a:schemeClr val="dk1"/>
                          </a:solidFill>
                        </a:rPr>
                        <a:t>8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u="none" strike="noStrike" cap="none">
                          <a:solidFill>
                            <a:schemeClr val="dk1"/>
                          </a:solidFill>
                        </a:rPr>
                        <a:t>7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u="none" strike="noStrike" cap="none">
                          <a:solidFill>
                            <a:schemeClr val="dk1"/>
                          </a:solidFill>
                        </a:rPr>
                        <a:t>9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u="none" strike="noStrike" cap="none">
                          <a:solidFill>
                            <a:schemeClr val="dk1"/>
                          </a:solidFill>
                        </a:rPr>
                        <a:t>3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u="none" strike="noStrike" cap="none">
                          <a:solidFill>
                            <a:schemeClr val="dk1"/>
                          </a:solidFill>
                        </a:rPr>
                        <a:t>2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u="none" strike="noStrike" cap="none">
                          <a:solidFill>
                            <a:schemeClr val="dk1"/>
                          </a:solidFill>
                        </a:rPr>
                        <a:t>4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u="none" strike="noStrike" cap="none">
                          <a:solidFill>
                            <a:schemeClr val="dk1"/>
                          </a:solidFill>
                        </a:rPr>
                        <a:t>1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3703" name="Google Shape;3703;p129"/>
          <p:cNvSpPr/>
          <p:nvPr/>
        </p:nvSpPr>
        <p:spPr>
          <a:xfrm rot="1641377">
            <a:off x="8284333" y="839121"/>
            <a:ext cx="3475953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HeapIncreaseKey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(A,10,90)</a:t>
            </a:r>
            <a:endParaRPr sz="2400" b="0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04" name="Google Shape;3704;p129"/>
          <p:cNvSpPr/>
          <p:nvPr/>
        </p:nvSpPr>
        <p:spPr>
          <a:xfrm>
            <a:off x="2476082" y="5324581"/>
            <a:ext cx="806055" cy="762953"/>
          </a:xfrm>
          <a:prstGeom prst="donut">
            <a:avLst>
              <a:gd name="adj" fmla="val 17685"/>
            </a:avLst>
          </a:prstGeom>
          <a:solidFill>
            <a:srgbClr val="FF0000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05" name="Google Shape;3705;p129"/>
          <p:cNvSpPr txBox="1"/>
          <p:nvPr/>
        </p:nvSpPr>
        <p:spPr>
          <a:xfrm>
            <a:off x="5553222" y="3110829"/>
            <a:ext cx="6277168" cy="12003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Place the new value at the index</a:t>
            </a:r>
            <a:endParaRPr/>
          </a:p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While the selected index is not a root and is greater than parent</a:t>
            </a:r>
            <a:endParaRPr/>
          </a:p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Change the values with parent</a:t>
            </a:r>
            <a:endParaRPr/>
          </a:p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parent is now the selected index</a:t>
            </a:r>
            <a:endParaRPr/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0" name="Google Shape;3710;p130"/>
          <p:cNvSpPr txBox="1">
            <a:spLocks noGrp="1"/>
          </p:cNvSpPr>
          <p:nvPr>
            <p:ph type="body" idx="1"/>
          </p:nvPr>
        </p:nvSpPr>
        <p:spPr>
          <a:xfrm>
            <a:off x="838200" y="1227909"/>
            <a:ext cx="10515600" cy="49490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1500"/>
              <a:buFont typeface="Arial"/>
              <a:buChar char="●"/>
            </a:pPr>
            <a:r>
              <a:rPr lang="en-US" sz="2000" b="1"/>
              <a:t>Priority Queue functions</a:t>
            </a:r>
            <a:endParaRPr/>
          </a:p>
          <a:p>
            <a:pPr marL="742950" lvl="1" indent="-28575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040"/>
              <a:buChar char="●"/>
            </a:pPr>
            <a:r>
              <a:rPr lang="en-US" sz="1600"/>
              <a:t>HEAP-MAXIMUM </a:t>
            </a:r>
            <a:endParaRPr/>
          </a:p>
          <a:p>
            <a:pPr marL="742950" lvl="1" indent="-28575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040"/>
              <a:buChar char="●"/>
            </a:pPr>
            <a:r>
              <a:rPr lang="en-US" sz="1600"/>
              <a:t>MAX-HEAP-INSERT</a:t>
            </a:r>
            <a:endParaRPr/>
          </a:p>
          <a:p>
            <a:pPr marL="742950" lvl="1" indent="-28575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040"/>
              <a:buChar char="●"/>
            </a:pPr>
            <a:r>
              <a:rPr lang="en-US" sz="1600"/>
              <a:t>HEAP-EXTRACT-MAX </a:t>
            </a:r>
            <a:endParaRPr/>
          </a:p>
          <a:p>
            <a:pPr marL="742950" lvl="1" indent="-28575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040"/>
              <a:buChar char="●"/>
            </a:pPr>
            <a:r>
              <a:rPr lang="en-US" sz="1600" b="1"/>
              <a:t>HEAP-INCREASE-KEY – </a:t>
            </a:r>
            <a:r>
              <a:rPr lang="en-US" sz="1600">
                <a:solidFill>
                  <a:srgbClr val="FF0000"/>
                </a:solidFill>
              </a:rPr>
              <a:t>increase the value of  a particular index</a:t>
            </a:r>
            <a:endParaRPr/>
          </a:p>
          <a:p>
            <a:pPr marL="342900" marR="0" lvl="0" indent="-20955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0033CC"/>
              </a:buClr>
              <a:buSzPts val="2100"/>
              <a:buFont typeface="Arial"/>
              <a:buNone/>
            </a:pPr>
            <a:endParaRPr/>
          </a:p>
        </p:txBody>
      </p:sp>
      <p:sp>
        <p:nvSpPr>
          <p:cNvPr id="3711" name="Google Shape;3711;p130"/>
          <p:cNvSpPr txBox="1">
            <a:spLocks noGrp="1"/>
          </p:cNvSpPr>
          <p:nvPr>
            <p:ph type="dt" idx="10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BAA4774B-6057-42E7-B225-0A7429E84906}" type="datetime1">
              <a:rPr lang="en-US" smtClean="0"/>
              <a:t>1/12/2026</a:t>
            </a:fld>
            <a:endParaRPr/>
          </a:p>
        </p:txBody>
      </p:sp>
      <p:sp>
        <p:nvSpPr>
          <p:cNvPr id="3712" name="Google Shape;3712;p130"/>
          <p:cNvSpPr txBox="1">
            <a:spLocks noGrp="1"/>
          </p:cNvSpPr>
          <p:nvPr>
            <p:ph type="ftr" idx="11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Lec Asif Abrar, Dept of CSE, UIU</a:t>
            </a:r>
            <a:endParaRPr/>
          </a:p>
        </p:txBody>
      </p:sp>
      <p:sp>
        <p:nvSpPr>
          <p:cNvPr id="3713" name="Google Shape;3713;p130"/>
          <p:cNvSpPr txBox="1">
            <a:spLocks noGrp="1"/>
          </p:cNvSpPr>
          <p:nvPr>
            <p:ph type="sldNum" idx="12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97</a:t>
            </a:fld>
            <a:endParaRPr/>
          </a:p>
        </p:txBody>
      </p:sp>
      <p:sp>
        <p:nvSpPr>
          <p:cNvPr id="3714" name="Google Shape;3714;p130"/>
          <p:cNvSpPr txBox="1">
            <a:spLocks noGrp="1"/>
          </p:cNvSpPr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endParaRPr/>
          </a:p>
        </p:txBody>
      </p:sp>
      <p:sp>
        <p:nvSpPr>
          <p:cNvPr id="3715" name="Google Shape;3715;p130"/>
          <p:cNvSpPr/>
          <p:nvPr/>
        </p:nvSpPr>
        <p:spPr>
          <a:xfrm>
            <a:off x="4270193" y="3335875"/>
            <a:ext cx="556142" cy="509345"/>
          </a:xfrm>
          <a:prstGeom prst="ellipse">
            <a:avLst/>
          </a:prstGeom>
          <a:solidFill>
            <a:schemeClr val="accent2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16</a:t>
            </a:r>
            <a:endParaRPr/>
          </a:p>
        </p:txBody>
      </p:sp>
      <p:sp>
        <p:nvSpPr>
          <p:cNvPr id="3716" name="Google Shape;3716;p130"/>
          <p:cNvSpPr/>
          <p:nvPr/>
        </p:nvSpPr>
        <p:spPr>
          <a:xfrm>
            <a:off x="2247415" y="4097144"/>
            <a:ext cx="556142" cy="509345"/>
          </a:xfrm>
          <a:prstGeom prst="ellipse">
            <a:avLst/>
          </a:prstGeom>
          <a:solidFill>
            <a:schemeClr val="accent2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14</a:t>
            </a:r>
            <a:endParaRPr/>
          </a:p>
        </p:txBody>
      </p:sp>
      <p:sp>
        <p:nvSpPr>
          <p:cNvPr id="3717" name="Google Shape;3717;p130"/>
          <p:cNvSpPr/>
          <p:nvPr/>
        </p:nvSpPr>
        <p:spPr>
          <a:xfrm>
            <a:off x="1625939" y="4653360"/>
            <a:ext cx="556142" cy="509345"/>
          </a:xfrm>
          <a:prstGeom prst="ellipse">
            <a:avLst/>
          </a:prstGeom>
          <a:solidFill>
            <a:schemeClr val="accent2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/>
          </a:p>
        </p:txBody>
      </p:sp>
      <p:sp>
        <p:nvSpPr>
          <p:cNvPr id="3718" name="Google Shape;3718;p130"/>
          <p:cNvSpPr/>
          <p:nvPr/>
        </p:nvSpPr>
        <p:spPr>
          <a:xfrm>
            <a:off x="1072894" y="5376794"/>
            <a:ext cx="556142" cy="509345"/>
          </a:xfrm>
          <a:prstGeom prst="ellipse">
            <a:avLst/>
          </a:prstGeom>
          <a:solidFill>
            <a:schemeClr val="accent2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  <p:sp>
        <p:nvSpPr>
          <p:cNvPr id="3719" name="Google Shape;3719;p130"/>
          <p:cNvSpPr/>
          <p:nvPr/>
        </p:nvSpPr>
        <p:spPr>
          <a:xfrm>
            <a:off x="1929716" y="5417685"/>
            <a:ext cx="556142" cy="509345"/>
          </a:xfrm>
          <a:prstGeom prst="ellipse">
            <a:avLst/>
          </a:prstGeom>
          <a:solidFill>
            <a:schemeClr val="accent2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/>
          </a:p>
        </p:txBody>
      </p:sp>
      <p:sp>
        <p:nvSpPr>
          <p:cNvPr id="3720" name="Google Shape;3720;p130"/>
          <p:cNvSpPr/>
          <p:nvPr/>
        </p:nvSpPr>
        <p:spPr>
          <a:xfrm>
            <a:off x="3210468" y="4743554"/>
            <a:ext cx="556142" cy="509345"/>
          </a:xfrm>
          <a:prstGeom prst="ellipse">
            <a:avLst/>
          </a:prstGeom>
          <a:solidFill>
            <a:schemeClr val="accent2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90</a:t>
            </a:r>
            <a:endParaRPr/>
          </a:p>
        </p:txBody>
      </p:sp>
      <p:sp>
        <p:nvSpPr>
          <p:cNvPr id="3721" name="Google Shape;3721;p130"/>
          <p:cNvSpPr/>
          <p:nvPr/>
        </p:nvSpPr>
        <p:spPr>
          <a:xfrm>
            <a:off x="5698070" y="4025144"/>
            <a:ext cx="556142" cy="509345"/>
          </a:xfrm>
          <a:prstGeom prst="ellipse">
            <a:avLst/>
          </a:prstGeom>
          <a:solidFill>
            <a:schemeClr val="accent2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/>
          </a:p>
        </p:txBody>
      </p:sp>
      <p:cxnSp>
        <p:nvCxnSpPr>
          <p:cNvPr id="3722" name="Google Shape;3722;p130"/>
          <p:cNvCxnSpPr>
            <a:stCxn id="3715" idx="3"/>
            <a:endCxn id="3716" idx="7"/>
          </p:cNvCxnSpPr>
          <p:nvPr/>
        </p:nvCxnSpPr>
        <p:spPr>
          <a:xfrm flipH="1">
            <a:off x="2722038" y="3770628"/>
            <a:ext cx="1629600" cy="401100"/>
          </a:xfrm>
          <a:prstGeom prst="straightConnector1">
            <a:avLst/>
          </a:prstGeom>
          <a:solidFill>
            <a:schemeClr val="accent2"/>
          </a:solidFill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3723" name="Google Shape;3723;p130"/>
          <p:cNvCxnSpPr>
            <a:stCxn id="3721" idx="1"/>
            <a:endCxn id="3715" idx="5"/>
          </p:cNvCxnSpPr>
          <p:nvPr/>
        </p:nvCxnSpPr>
        <p:spPr>
          <a:xfrm rot="10800000">
            <a:off x="4744815" y="3770636"/>
            <a:ext cx="1034700" cy="329100"/>
          </a:xfrm>
          <a:prstGeom prst="straightConnector1">
            <a:avLst/>
          </a:prstGeom>
          <a:solidFill>
            <a:schemeClr val="accent2"/>
          </a:solidFill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3724" name="Google Shape;3724;p130"/>
          <p:cNvCxnSpPr>
            <a:stCxn id="3725" idx="0"/>
            <a:endCxn id="3721" idx="5"/>
          </p:cNvCxnSpPr>
          <p:nvPr/>
        </p:nvCxnSpPr>
        <p:spPr>
          <a:xfrm rot="10800000">
            <a:off x="6172625" y="4459883"/>
            <a:ext cx="728100" cy="286500"/>
          </a:xfrm>
          <a:prstGeom prst="straightConnector1">
            <a:avLst/>
          </a:prstGeom>
          <a:solidFill>
            <a:schemeClr val="accent2"/>
          </a:solidFill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3726" name="Google Shape;3726;p130"/>
          <p:cNvCxnSpPr>
            <a:stCxn id="3727" idx="0"/>
            <a:endCxn id="3721" idx="3"/>
          </p:cNvCxnSpPr>
          <p:nvPr/>
        </p:nvCxnSpPr>
        <p:spPr>
          <a:xfrm rot="10800000" flipH="1">
            <a:off x="5447878" y="4459986"/>
            <a:ext cx="331500" cy="200400"/>
          </a:xfrm>
          <a:prstGeom prst="straightConnector1">
            <a:avLst/>
          </a:prstGeom>
          <a:solidFill>
            <a:schemeClr val="accent2"/>
          </a:solidFill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3728" name="Google Shape;3728;p130"/>
          <p:cNvCxnSpPr>
            <a:stCxn id="3716" idx="3"/>
            <a:endCxn id="3717" idx="7"/>
          </p:cNvCxnSpPr>
          <p:nvPr/>
        </p:nvCxnSpPr>
        <p:spPr>
          <a:xfrm flipH="1">
            <a:off x="2100560" y="4531897"/>
            <a:ext cx="228300" cy="196200"/>
          </a:xfrm>
          <a:prstGeom prst="straightConnector1">
            <a:avLst/>
          </a:prstGeom>
          <a:solidFill>
            <a:schemeClr val="accent2"/>
          </a:solidFill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3729" name="Google Shape;3729;p130"/>
          <p:cNvCxnSpPr>
            <a:stCxn id="3716" idx="5"/>
            <a:endCxn id="3720" idx="1"/>
          </p:cNvCxnSpPr>
          <p:nvPr/>
        </p:nvCxnSpPr>
        <p:spPr>
          <a:xfrm>
            <a:off x="2722112" y="4531897"/>
            <a:ext cx="569700" cy="286200"/>
          </a:xfrm>
          <a:prstGeom prst="straightConnector1">
            <a:avLst/>
          </a:prstGeom>
          <a:solidFill>
            <a:schemeClr val="accent2"/>
          </a:solidFill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3730" name="Google Shape;3730;p130"/>
          <p:cNvCxnSpPr>
            <a:stCxn id="3717" idx="3"/>
            <a:endCxn id="3718" idx="7"/>
          </p:cNvCxnSpPr>
          <p:nvPr/>
        </p:nvCxnSpPr>
        <p:spPr>
          <a:xfrm flipH="1">
            <a:off x="1547484" y="5088113"/>
            <a:ext cx="159900" cy="363300"/>
          </a:xfrm>
          <a:prstGeom prst="straightConnector1">
            <a:avLst/>
          </a:prstGeom>
          <a:solidFill>
            <a:schemeClr val="accent2"/>
          </a:solidFill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3731" name="Google Shape;3731;p130"/>
          <p:cNvCxnSpPr>
            <a:stCxn id="3717" idx="5"/>
            <a:endCxn id="3719" idx="0"/>
          </p:cNvCxnSpPr>
          <p:nvPr/>
        </p:nvCxnSpPr>
        <p:spPr>
          <a:xfrm>
            <a:off x="2100636" y="5088113"/>
            <a:ext cx="107100" cy="329700"/>
          </a:xfrm>
          <a:prstGeom prst="straightConnector1">
            <a:avLst/>
          </a:prstGeom>
          <a:solidFill>
            <a:schemeClr val="accent2"/>
          </a:solidFill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3732" name="Google Shape;3732;p130"/>
          <p:cNvSpPr/>
          <p:nvPr/>
        </p:nvSpPr>
        <p:spPr>
          <a:xfrm>
            <a:off x="2604089" y="5451386"/>
            <a:ext cx="556142" cy="509345"/>
          </a:xfrm>
          <a:prstGeom prst="ellipse">
            <a:avLst/>
          </a:prstGeom>
          <a:solidFill>
            <a:schemeClr val="accent2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/>
          </a:p>
        </p:txBody>
      </p:sp>
      <p:cxnSp>
        <p:nvCxnSpPr>
          <p:cNvPr id="3733" name="Google Shape;3733;p130"/>
          <p:cNvCxnSpPr>
            <a:stCxn id="3720" idx="3"/>
            <a:endCxn id="3732" idx="7"/>
          </p:cNvCxnSpPr>
          <p:nvPr/>
        </p:nvCxnSpPr>
        <p:spPr>
          <a:xfrm flipH="1">
            <a:off x="3078913" y="5178307"/>
            <a:ext cx="213000" cy="347700"/>
          </a:xfrm>
          <a:prstGeom prst="straightConnector1">
            <a:avLst/>
          </a:prstGeom>
          <a:solidFill>
            <a:schemeClr val="accent2"/>
          </a:solidFill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3727" name="Google Shape;3727;p130"/>
          <p:cNvSpPr/>
          <p:nvPr/>
        </p:nvSpPr>
        <p:spPr>
          <a:xfrm>
            <a:off x="5169807" y="4660386"/>
            <a:ext cx="556142" cy="509345"/>
          </a:xfrm>
          <a:prstGeom prst="ellipse">
            <a:avLst/>
          </a:prstGeom>
          <a:solidFill>
            <a:schemeClr val="accent2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endParaRPr/>
          </a:p>
        </p:txBody>
      </p:sp>
      <p:sp>
        <p:nvSpPr>
          <p:cNvPr id="3725" name="Google Shape;3725;p130"/>
          <p:cNvSpPr/>
          <p:nvPr/>
        </p:nvSpPr>
        <p:spPr>
          <a:xfrm>
            <a:off x="6622654" y="4746383"/>
            <a:ext cx="556142" cy="509345"/>
          </a:xfrm>
          <a:prstGeom prst="ellipse">
            <a:avLst/>
          </a:prstGeom>
          <a:solidFill>
            <a:schemeClr val="accent2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/>
          </a:p>
        </p:txBody>
      </p:sp>
      <p:graphicFrame>
        <p:nvGraphicFramePr>
          <p:cNvPr id="3734" name="Google Shape;3734;p130"/>
          <p:cNvGraphicFramePr/>
          <p:nvPr/>
        </p:nvGraphicFramePr>
        <p:xfrm>
          <a:off x="7178796" y="1889866"/>
          <a:ext cx="4562250" cy="731540"/>
        </p:xfrm>
        <a:graphic>
          <a:graphicData uri="http://schemas.openxmlformats.org/drawingml/2006/table">
            <a:tbl>
              <a:tblPr firstRow="1" bandRow="1">
                <a:noFill/>
                <a:tableStyleId>{66088737-8E24-4614-AAA7-3D08145F63E1}</a:tableStyleId>
              </a:tblPr>
              <a:tblGrid>
                <a:gridCol w="4562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62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562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008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115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562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5622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5622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45622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45622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2914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1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2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3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4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5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6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7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8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9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10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14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u="none" strike="noStrike" cap="none">
                          <a:solidFill>
                            <a:schemeClr val="dk1"/>
                          </a:solidFill>
                        </a:rPr>
                        <a:t>16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u="none" strike="noStrike" cap="none">
                          <a:solidFill>
                            <a:schemeClr val="dk1"/>
                          </a:solidFill>
                        </a:rPr>
                        <a:t>14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u="none" strike="noStrike" cap="none">
                          <a:solidFill>
                            <a:schemeClr val="dk1"/>
                          </a:solidFill>
                        </a:rPr>
                        <a:t>10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u="none" strike="noStrike" cap="none">
                          <a:solidFill>
                            <a:schemeClr val="dk1"/>
                          </a:solidFill>
                        </a:rPr>
                        <a:t>8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u="none" strike="noStrike" cap="none">
                          <a:solidFill>
                            <a:schemeClr val="dk1"/>
                          </a:solidFill>
                        </a:rPr>
                        <a:t>7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u="none" strike="noStrike" cap="none">
                          <a:solidFill>
                            <a:schemeClr val="dk1"/>
                          </a:solidFill>
                        </a:rPr>
                        <a:t>9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u="none" strike="noStrike" cap="none">
                          <a:solidFill>
                            <a:schemeClr val="dk1"/>
                          </a:solidFill>
                        </a:rPr>
                        <a:t>3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u="none" strike="noStrike" cap="none">
                          <a:solidFill>
                            <a:schemeClr val="dk1"/>
                          </a:solidFill>
                        </a:rPr>
                        <a:t>2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u="none" strike="noStrike" cap="none">
                          <a:solidFill>
                            <a:schemeClr val="dk1"/>
                          </a:solidFill>
                        </a:rPr>
                        <a:t>4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u="none" strike="noStrike" cap="none">
                          <a:solidFill>
                            <a:schemeClr val="dk1"/>
                          </a:solidFill>
                        </a:rPr>
                        <a:t>1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3735" name="Google Shape;3735;p130"/>
          <p:cNvSpPr/>
          <p:nvPr/>
        </p:nvSpPr>
        <p:spPr>
          <a:xfrm rot="1641377">
            <a:off x="8284333" y="839121"/>
            <a:ext cx="3475953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HeapIncreaseKey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(A,10,90)</a:t>
            </a:r>
            <a:endParaRPr sz="2400" b="0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36" name="Google Shape;3736;p130"/>
          <p:cNvSpPr/>
          <p:nvPr/>
        </p:nvSpPr>
        <p:spPr>
          <a:xfrm>
            <a:off x="2476082" y="5324581"/>
            <a:ext cx="806055" cy="762953"/>
          </a:xfrm>
          <a:prstGeom prst="donut">
            <a:avLst>
              <a:gd name="adj" fmla="val 17685"/>
            </a:avLst>
          </a:prstGeom>
          <a:solidFill>
            <a:srgbClr val="FF0000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37" name="Google Shape;3737;p130"/>
          <p:cNvSpPr txBox="1"/>
          <p:nvPr/>
        </p:nvSpPr>
        <p:spPr>
          <a:xfrm>
            <a:off x="5553222" y="3110829"/>
            <a:ext cx="6336991" cy="12003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Place the new value at the index</a:t>
            </a:r>
            <a:endParaRPr/>
          </a:p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While the selected index is not a root and is greater than parent</a:t>
            </a:r>
            <a:endParaRPr/>
          </a:p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Change the values with parent</a:t>
            </a:r>
            <a:endParaRPr/>
          </a:p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parent is now the selected index</a:t>
            </a:r>
            <a:endParaRPr/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2" name="Google Shape;3742;p131"/>
          <p:cNvSpPr txBox="1">
            <a:spLocks noGrp="1"/>
          </p:cNvSpPr>
          <p:nvPr>
            <p:ph type="body" idx="1"/>
          </p:nvPr>
        </p:nvSpPr>
        <p:spPr>
          <a:xfrm>
            <a:off x="838200" y="1227909"/>
            <a:ext cx="10515600" cy="49490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1500"/>
              <a:buFont typeface="Arial"/>
              <a:buChar char="●"/>
            </a:pPr>
            <a:r>
              <a:rPr lang="en-US" sz="2000" b="1"/>
              <a:t>Priority Queue functions</a:t>
            </a:r>
            <a:endParaRPr/>
          </a:p>
          <a:p>
            <a:pPr marL="742950" lvl="1" indent="-28575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040"/>
              <a:buChar char="●"/>
            </a:pPr>
            <a:r>
              <a:rPr lang="en-US" sz="1600"/>
              <a:t>HEAP-MAXIMUM </a:t>
            </a:r>
            <a:endParaRPr/>
          </a:p>
          <a:p>
            <a:pPr marL="742950" lvl="1" indent="-28575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040"/>
              <a:buChar char="●"/>
            </a:pPr>
            <a:r>
              <a:rPr lang="en-US" sz="1600"/>
              <a:t>MAX-HEAP-INSERT</a:t>
            </a:r>
            <a:endParaRPr/>
          </a:p>
          <a:p>
            <a:pPr marL="742950" lvl="1" indent="-28575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040"/>
              <a:buChar char="●"/>
            </a:pPr>
            <a:r>
              <a:rPr lang="en-US" sz="1600"/>
              <a:t>HEAP-EXTRACT-MAX </a:t>
            </a:r>
            <a:endParaRPr/>
          </a:p>
          <a:p>
            <a:pPr marL="742950" lvl="1" indent="-28575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040"/>
              <a:buChar char="●"/>
            </a:pPr>
            <a:r>
              <a:rPr lang="en-US" sz="1600" b="1"/>
              <a:t>HEAP-INCREASE-KEY – </a:t>
            </a:r>
            <a:r>
              <a:rPr lang="en-US" sz="1600">
                <a:solidFill>
                  <a:srgbClr val="FF0000"/>
                </a:solidFill>
              </a:rPr>
              <a:t>increase the value of  a particular index</a:t>
            </a:r>
            <a:endParaRPr/>
          </a:p>
          <a:p>
            <a:pPr marL="342900" marR="0" lvl="0" indent="-20955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0033CC"/>
              </a:buClr>
              <a:buSzPts val="2100"/>
              <a:buFont typeface="Arial"/>
              <a:buNone/>
            </a:pPr>
            <a:endParaRPr/>
          </a:p>
        </p:txBody>
      </p:sp>
      <p:sp>
        <p:nvSpPr>
          <p:cNvPr id="3743" name="Google Shape;3743;p131"/>
          <p:cNvSpPr txBox="1">
            <a:spLocks noGrp="1"/>
          </p:cNvSpPr>
          <p:nvPr>
            <p:ph type="dt" idx="10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AD1E5785-6851-4468-8E9D-2D0F7DE7F976}" type="datetime1">
              <a:rPr lang="en-US" smtClean="0"/>
              <a:t>1/12/2026</a:t>
            </a:fld>
            <a:endParaRPr/>
          </a:p>
        </p:txBody>
      </p:sp>
      <p:sp>
        <p:nvSpPr>
          <p:cNvPr id="3744" name="Google Shape;3744;p131"/>
          <p:cNvSpPr txBox="1">
            <a:spLocks noGrp="1"/>
          </p:cNvSpPr>
          <p:nvPr>
            <p:ph type="ftr" idx="11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Lec Asif Abrar, Dept of CSE, UIU</a:t>
            </a:r>
            <a:endParaRPr/>
          </a:p>
        </p:txBody>
      </p:sp>
      <p:sp>
        <p:nvSpPr>
          <p:cNvPr id="3745" name="Google Shape;3745;p131"/>
          <p:cNvSpPr txBox="1">
            <a:spLocks noGrp="1"/>
          </p:cNvSpPr>
          <p:nvPr>
            <p:ph type="sldNum" idx="12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98</a:t>
            </a:fld>
            <a:endParaRPr/>
          </a:p>
        </p:txBody>
      </p:sp>
      <p:sp>
        <p:nvSpPr>
          <p:cNvPr id="3746" name="Google Shape;3746;p131"/>
          <p:cNvSpPr txBox="1">
            <a:spLocks noGrp="1"/>
          </p:cNvSpPr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endParaRPr/>
          </a:p>
        </p:txBody>
      </p:sp>
      <p:sp>
        <p:nvSpPr>
          <p:cNvPr id="3747" name="Google Shape;3747;p131"/>
          <p:cNvSpPr/>
          <p:nvPr/>
        </p:nvSpPr>
        <p:spPr>
          <a:xfrm>
            <a:off x="4270193" y="3335875"/>
            <a:ext cx="556142" cy="509345"/>
          </a:xfrm>
          <a:prstGeom prst="ellipse">
            <a:avLst/>
          </a:prstGeom>
          <a:solidFill>
            <a:schemeClr val="accent2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16</a:t>
            </a:r>
            <a:endParaRPr/>
          </a:p>
        </p:txBody>
      </p:sp>
      <p:sp>
        <p:nvSpPr>
          <p:cNvPr id="3748" name="Google Shape;3748;p131"/>
          <p:cNvSpPr/>
          <p:nvPr/>
        </p:nvSpPr>
        <p:spPr>
          <a:xfrm>
            <a:off x="2247415" y="4097144"/>
            <a:ext cx="556142" cy="509345"/>
          </a:xfrm>
          <a:prstGeom prst="ellipse">
            <a:avLst/>
          </a:prstGeom>
          <a:solidFill>
            <a:schemeClr val="accent2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14</a:t>
            </a:r>
            <a:endParaRPr/>
          </a:p>
        </p:txBody>
      </p:sp>
      <p:sp>
        <p:nvSpPr>
          <p:cNvPr id="3749" name="Google Shape;3749;p131"/>
          <p:cNvSpPr/>
          <p:nvPr/>
        </p:nvSpPr>
        <p:spPr>
          <a:xfrm>
            <a:off x="1625939" y="4653360"/>
            <a:ext cx="556142" cy="509345"/>
          </a:xfrm>
          <a:prstGeom prst="ellipse">
            <a:avLst/>
          </a:prstGeom>
          <a:solidFill>
            <a:schemeClr val="accent2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/>
          </a:p>
        </p:txBody>
      </p:sp>
      <p:sp>
        <p:nvSpPr>
          <p:cNvPr id="3750" name="Google Shape;3750;p131"/>
          <p:cNvSpPr/>
          <p:nvPr/>
        </p:nvSpPr>
        <p:spPr>
          <a:xfrm>
            <a:off x="1072894" y="5376794"/>
            <a:ext cx="556142" cy="509345"/>
          </a:xfrm>
          <a:prstGeom prst="ellipse">
            <a:avLst/>
          </a:prstGeom>
          <a:solidFill>
            <a:schemeClr val="accent2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  <p:sp>
        <p:nvSpPr>
          <p:cNvPr id="3751" name="Google Shape;3751;p131"/>
          <p:cNvSpPr/>
          <p:nvPr/>
        </p:nvSpPr>
        <p:spPr>
          <a:xfrm>
            <a:off x="1929716" y="5417685"/>
            <a:ext cx="556142" cy="509345"/>
          </a:xfrm>
          <a:prstGeom prst="ellipse">
            <a:avLst/>
          </a:prstGeom>
          <a:solidFill>
            <a:schemeClr val="accent2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/>
          </a:p>
        </p:txBody>
      </p:sp>
      <p:sp>
        <p:nvSpPr>
          <p:cNvPr id="3752" name="Google Shape;3752;p131"/>
          <p:cNvSpPr/>
          <p:nvPr/>
        </p:nvSpPr>
        <p:spPr>
          <a:xfrm>
            <a:off x="3210468" y="4743554"/>
            <a:ext cx="556142" cy="509345"/>
          </a:xfrm>
          <a:prstGeom prst="ellipse">
            <a:avLst/>
          </a:prstGeom>
          <a:solidFill>
            <a:schemeClr val="accent2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90</a:t>
            </a:r>
            <a:endParaRPr/>
          </a:p>
        </p:txBody>
      </p:sp>
      <p:sp>
        <p:nvSpPr>
          <p:cNvPr id="3753" name="Google Shape;3753;p131"/>
          <p:cNvSpPr/>
          <p:nvPr/>
        </p:nvSpPr>
        <p:spPr>
          <a:xfrm>
            <a:off x="5698070" y="4025144"/>
            <a:ext cx="556142" cy="509345"/>
          </a:xfrm>
          <a:prstGeom prst="ellipse">
            <a:avLst/>
          </a:prstGeom>
          <a:solidFill>
            <a:schemeClr val="accent2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/>
          </a:p>
        </p:txBody>
      </p:sp>
      <p:cxnSp>
        <p:nvCxnSpPr>
          <p:cNvPr id="3754" name="Google Shape;3754;p131"/>
          <p:cNvCxnSpPr>
            <a:stCxn id="3747" idx="3"/>
            <a:endCxn id="3748" idx="7"/>
          </p:cNvCxnSpPr>
          <p:nvPr/>
        </p:nvCxnSpPr>
        <p:spPr>
          <a:xfrm flipH="1">
            <a:off x="2722038" y="3770628"/>
            <a:ext cx="1629600" cy="401100"/>
          </a:xfrm>
          <a:prstGeom prst="straightConnector1">
            <a:avLst/>
          </a:prstGeom>
          <a:solidFill>
            <a:schemeClr val="accent2"/>
          </a:solidFill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3755" name="Google Shape;3755;p131"/>
          <p:cNvCxnSpPr>
            <a:stCxn id="3753" idx="1"/>
            <a:endCxn id="3747" idx="5"/>
          </p:cNvCxnSpPr>
          <p:nvPr/>
        </p:nvCxnSpPr>
        <p:spPr>
          <a:xfrm rot="10800000">
            <a:off x="4744815" y="3770636"/>
            <a:ext cx="1034700" cy="329100"/>
          </a:xfrm>
          <a:prstGeom prst="straightConnector1">
            <a:avLst/>
          </a:prstGeom>
          <a:solidFill>
            <a:schemeClr val="accent2"/>
          </a:solidFill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3756" name="Google Shape;3756;p131"/>
          <p:cNvCxnSpPr>
            <a:stCxn id="3757" idx="0"/>
            <a:endCxn id="3753" idx="5"/>
          </p:cNvCxnSpPr>
          <p:nvPr/>
        </p:nvCxnSpPr>
        <p:spPr>
          <a:xfrm rot="10800000">
            <a:off x="6172625" y="4459883"/>
            <a:ext cx="728100" cy="286500"/>
          </a:xfrm>
          <a:prstGeom prst="straightConnector1">
            <a:avLst/>
          </a:prstGeom>
          <a:solidFill>
            <a:schemeClr val="accent2"/>
          </a:solidFill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3758" name="Google Shape;3758;p131"/>
          <p:cNvCxnSpPr>
            <a:stCxn id="3759" idx="0"/>
            <a:endCxn id="3753" idx="3"/>
          </p:cNvCxnSpPr>
          <p:nvPr/>
        </p:nvCxnSpPr>
        <p:spPr>
          <a:xfrm rot="10800000" flipH="1">
            <a:off x="5447878" y="4459986"/>
            <a:ext cx="331500" cy="200400"/>
          </a:xfrm>
          <a:prstGeom prst="straightConnector1">
            <a:avLst/>
          </a:prstGeom>
          <a:solidFill>
            <a:schemeClr val="accent2"/>
          </a:solidFill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3760" name="Google Shape;3760;p131"/>
          <p:cNvCxnSpPr>
            <a:stCxn id="3748" idx="3"/>
            <a:endCxn id="3749" idx="7"/>
          </p:cNvCxnSpPr>
          <p:nvPr/>
        </p:nvCxnSpPr>
        <p:spPr>
          <a:xfrm flipH="1">
            <a:off x="2100560" y="4531897"/>
            <a:ext cx="228300" cy="196200"/>
          </a:xfrm>
          <a:prstGeom prst="straightConnector1">
            <a:avLst/>
          </a:prstGeom>
          <a:solidFill>
            <a:schemeClr val="accent2"/>
          </a:solidFill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3761" name="Google Shape;3761;p131"/>
          <p:cNvCxnSpPr>
            <a:stCxn id="3748" idx="5"/>
            <a:endCxn id="3752" idx="1"/>
          </p:cNvCxnSpPr>
          <p:nvPr/>
        </p:nvCxnSpPr>
        <p:spPr>
          <a:xfrm>
            <a:off x="2722112" y="4531897"/>
            <a:ext cx="569700" cy="286200"/>
          </a:xfrm>
          <a:prstGeom prst="straightConnector1">
            <a:avLst/>
          </a:prstGeom>
          <a:solidFill>
            <a:schemeClr val="accent2"/>
          </a:solidFill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3762" name="Google Shape;3762;p131"/>
          <p:cNvCxnSpPr>
            <a:stCxn id="3749" idx="3"/>
            <a:endCxn id="3750" idx="7"/>
          </p:cNvCxnSpPr>
          <p:nvPr/>
        </p:nvCxnSpPr>
        <p:spPr>
          <a:xfrm flipH="1">
            <a:off x="1547484" y="5088113"/>
            <a:ext cx="159900" cy="363300"/>
          </a:xfrm>
          <a:prstGeom prst="straightConnector1">
            <a:avLst/>
          </a:prstGeom>
          <a:solidFill>
            <a:schemeClr val="accent2"/>
          </a:solidFill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3763" name="Google Shape;3763;p131"/>
          <p:cNvCxnSpPr>
            <a:stCxn id="3749" idx="5"/>
            <a:endCxn id="3751" idx="0"/>
          </p:cNvCxnSpPr>
          <p:nvPr/>
        </p:nvCxnSpPr>
        <p:spPr>
          <a:xfrm>
            <a:off x="2100636" y="5088113"/>
            <a:ext cx="107100" cy="329700"/>
          </a:xfrm>
          <a:prstGeom prst="straightConnector1">
            <a:avLst/>
          </a:prstGeom>
          <a:solidFill>
            <a:schemeClr val="accent2"/>
          </a:solidFill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3764" name="Google Shape;3764;p131"/>
          <p:cNvSpPr/>
          <p:nvPr/>
        </p:nvSpPr>
        <p:spPr>
          <a:xfrm>
            <a:off x="2604089" y="5451386"/>
            <a:ext cx="556142" cy="509345"/>
          </a:xfrm>
          <a:prstGeom prst="ellipse">
            <a:avLst/>
          </a:prstGeom>
          <a:solidFill>
            <a:schemeClr val="accent2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/>
          </a:p>
        </p:txBody>
      </p:sp>
      <p:cxnSp>
        <p:nvCxnSpPr>
          <p:cNvPr id="3765" name="Google Shape;3765;p131"/>
          <p:cNvCxnSpPr>
            <a:stCxn id="3752" idx="3"/>
            <a:endCxn id="3764" idx="7"/>
          </p:cNvCxnSpPr>
          <p:nvPr/>
        </p:nvCxnSpPr>
        <p:spPr>
          <a:xfrm flipH="1">
            <a:off x="3078913" y="5178307"/>
            <a:ext cx="213000" cy="347700"/>
          </a:xfrm>
          <a:prstGeom prst="straightConnector1">
            <a:avLst/>
          </a:prstGeom>
          <a:solidFill>
            <a:schemeClr val="accent2"/>
          </a:solidFill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3759" name="Google Shape;3759;p131"/>
          <p:cNvSpPr/>
          <p:nvPr/>
        </p:nvSpPr>
        <p:spPr>
          <a:xfrm>
            <a:off x="5169807" y="4660386"/>
            <a:ext cx="556142" cy="509345"/>
          </a:xfrm>
          <a:prstGeom prst="ellipse">
            <a:avLst/>
          </a:prstGeom>
          <a:solidFill>
            <a:schemeClr val="accent2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endParaRPr/>
          </a:p>
        </p:txBody>
      </p:sp>
      <p:sp>
        <p:nvSpPr>
          <p:cNvPr id="3757" name="Google Shape;3757;p131"/>
          <p:cNvSpPr/>
          <p:nvPr/>
        </p:nvSpPr>
        <p:spPr>
          <a:xfrm>
            <a:off x="6622654" y="4746383"/>
            <a:ext cx="556142" cy="509345"/>
          </a:xfrm>
          <a:prstGeom prst="ellipse">
            <a:avLst/>
          </a:prstGeom>
          <a:solidFill>
            <a:schemeClr val="accent2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/>
          </a:p>
        </p:txBody>
      </p:sp>
      <p:graphicFrame>
        <p:nvGraphicFramePr>
          <p:cNvPr id="3766" name="Google Shape;3766;p131"/>
          <p:cNvGraphicFramePr/>
          <p:nvPr/>
        </p:nvGraphicFramePr>
        <p:xfrm>
          <a:off x="7178796" y="1889866"/>
          <a:ext cx="4562250" cy="731540"/>
        </p:xfrm>
        <a:graphic>
          <a:graphicData uri="http://schemas.openxmlformats.org/drawingml/2006/table">
            <a:tbl>
              <a:tblPr firstRow="1" bandRow="1">
                <a:noFill/>
                <a:tableStyleId>{66088737-8E24-4614-AAA7-3D08145F63E1}</a:tableStyleId>
              </a:tblPr>
              <a:tblGrid>
                <a:gridCol w="4562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62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562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008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115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562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5622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5622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45622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45622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2914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1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2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3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4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5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6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7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8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9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10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14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u="none" strike="noStrike" cap="none">
                          <a:solidFill>
                            <a:schemeClr val="dk1"/>
                          </a:solidFill>
                        </a:rPr>
                        <a:t>16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u="none" strike="noStrike" cap="none">
                          <a:solidFill>
                            <a:schemeClr val="dk1"/>
                          </a:solidFill>
                        </a:rPr>
                        <a:t>14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u="none" strike="noStrike" cap="none">
                          <a:solidFill>
                            <a:schemeClr val="dk1"/>
                          </a:solidFill>
                        </a:rPr>
                        <a:t>10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u="none" strike="noStrike" cap="none">
                          <a:solidFill>
                            <a:schemeClr val="dk1"/>
                          </a:solidFill>
                        </a:rPr>
                        <a:t>8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u="none" strike="noStrike" cap="none">
                          <a:solidFill>
                            <a:schemeClr val="dk1"/>
                          </a:solidFill>
                        </a:rPr>
                        <a:t>7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u="none" strike="noStrike" cap="none">
                          <a:solidFill>
                            <a:schemeClr val="dk1"/>
                          </a:solidFill>
                        </a:rPr>
                        <a:t>9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u="none" strike="noStrike" cap="none">
                          <a:solidFill>
                            <a:schemeClr val="dk1"/>
                          </a:solidFill>
                        </a:rPr>
                        <a:t>3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u="none" strike="noStrike" cap="none">
                          <a:solidFill>
                            <a:schemeClr val="dk1"/>
                          </a:solidFill>
                        </a:rPr>
                        <a:t>2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u="none" strike="noStrike" cap="none">
                          <a:solidFill>
                            <a:schemeClr val="dk1"/>
                          </a:solidFill>
                        </a:rPr>
                        <a:t>4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u="none" strike="noStrike" cap="none">
                          <a:solidFill>
                            <a:schemeClr val="dk1"/>
                          </a:solidFill>
                        </a:rPr>
                        <a:t>1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3767" name="Google Shape;3767;p131"/>
          <p:cNvSpPr/>
          <p:nvPr/>
        </p:nvSpPr>
        <p:spPr>
          <a:xfrm rot="1641377">
            <a:off x="8284333" y="839121"/>
            <a:ext cx="3475953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HeapIncreaseKey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(A,10,90)</a:t>
            </a:r>
            <a:endParaRPr sz="2400" b="0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68" name="Google Shape;3768;p131"/>
          <p:cNvSpPr/>
          <p:nvPr/>
        </p:nvSpPr>
        <p:spPr>
          <a:xfrm>
            <a:off x="3078786" y="4598925"/>
            <a:ext cx="806055" cy="762953"/>
          </a:xfrm>
          <a:prstGeom prst="donut">
            <a:avLst>
              <a:gd name="adj" fmla="val 17685"/>
            </a:avLst>
          </a:prstGeom>
          <a:solidFill>
            <a:srgbClr val="FF0000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69" name="Google Shape;3769;p131"/>
          <p:cNvSpPr txBox="1"/>
          <p:nvPr/>
        </p:nvSpPr>
        <p:spPr>
          <a:xfrm>
            <a:off x="5553222" y="3110829"/>
            <a:ext cx="6336991" cy="12003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Place the new value at the index</a:t>
            </a:r>
            <a:endParaRPr/>
          </a:p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While the selected index is not a root and is greater than parent</a:t>
            </a:r>
            <a:endParaRPr/>
          </a:p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Change the values with parent</a:t>
            </a:r>
            <a:endParaRPr/>
          </a:p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parent is now the selected index</a:t>
            </a:r>
            <a:endParaRPr/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4" name="Google Shape;3774;p132"/>
          <p:cNvSpPr txBox="1">
            <a:spLocks noGrp="1"/>
          </p:cNvSpPr>
          <p:nvPr>
            <p:ph type="body" idx="1"/>
          </p:nvPr>
        </p:nvSpPr>
        <p:spPr>
          <a:xfrm>
            <a:off x="838200" y="1227909"/>
            <a:ext cx="10515600" cy="49490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1500"/>
              <a:buFont typeface="Arial"/>
              <a:buChar char="●"/>
            </a:pPr>
            <a:r>
              <a:rPr lang="en-US" sz="2000" b="1"/>
              <a:t>Priority Queue functions</a:t>
            </a:r>
            <a:endParaRPr/>
          </a:p>
          <a:p>
            <a:pPr marL="742950" lvl="1" indent="-28575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040"/>
              <a:buChar char="●"/>
            </a:pPr>
            <a:r>
              <a:rPr lang="en-US" sz="1600"/>
              <a:t>HEAP-MAXIMUM </a:t>
            </a:r>
            <a:endParaRPr/>
          </a:p>
          <a:p>
            <a:pPr marL="742950" lvl="1" indent="-28575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040"/>
              <a:buChar char="●"/>
            </a:pPr>
            <a:r>
              <a:rPr lang="en-US" sz="1600"/>
              <a:t>MAX-HEAP-INSERT</a:t>
            </a:r>
            <a:endParaRPr/>
          </a:p>
          <a:p>
            <a:pPr marL="742950" lvl="1" indent="-28575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040"/>
              <a:buChar char="●"/>
            </a:pPr>
            <a:r>
              <a:rPr lang="en-US" sz="1600"/>
              <a:t>HEAP-EXTRACT-MAX </a:t>
            </a:r>
            <a:endParaRPr/>
          </a:p>
          <a:p>
            <a:pPr marL="742950" lvl="1" indent="-28575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040"/>
              <a:buChar char="●"/>
            </a:pPr>
            <a:r>
              <a:rPr lang="en-US" sz="1600" b="1"/>
              <a:t>HEAP-INCREASE-KEY – </a:t>
            </a:r>
            <a:r>
              <a:rPr lang="en-US" sz="1600">
                <a:solidFill>
                  <a:srgbClr val="FF0000"/>
                </a:solidFill>
              </a:rPr>
              <a:t>increase the value of  a particular index</a:t>
            </a:r>
            <a:endParaRPr/>
          </a:p>
          <a:p>
            <a:pPr marL="342900" marR="0" lvl="0" indent="-20955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0033CC"/>
              </a:buClr>
              <a:buSzPts val="2100"/>
              <a:buFont typeface="Arial"/>
              <a:buNone/>
            </a:pPr>
            <a:endParaRPr/>
          </a:p>
        </p:txBody>
      </p:sp>
      <p:sp>
        <p:nvSpPr>
          <p:cNvPr id="3775" name="Google Shape;3775;p132"/>
          <p:cNvSpPr txBox="1">
            <a:spLocks noGrp="1"/>
          </p:cNvSpPr>
          <p:nvPr>
            <p:ph type="dt" idx="10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F2BC5502-8ECE-411F-86E6-9D3A508E861C}" type="datetime1">
              <a:rPr lang="en-US" smtClean="0"/>
              <a:t>1/12/2026</a:t>
            </a:fld>
            <a:endParaRPr/>
          </a:p>
        </p:txBody>
      </p:sp>
      <p:sp>
        <p:nvSpPr>
          <p:cNvPr id="3776" name="Google Shape;3776;p132"/>
          <p:cNvSpPr txBox="1">
            <a:spLocks noGrp="1"/>
          </p:cNvSpPr>
          <p:nvPr>
            <p:ph type="ftr" idx="11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Lec Asif Abrar, Dept of CSE, UIU</a:t>
            </a:r>
            <a:endParaRPr/>
          </a:p>
        </p:txBody>
      </p:sp>
      <p:sp>
        <p:nvSpPr>
          <p:cNvPr id="3777" name="Google Shape;3777;p132"/>
          <p:cNvSpPr txBox="1">
            <a:spLocks noGrp="1"/>
          </p:cNvSpPr>
          <p:nvPr>
            <p:ph type="sldNum" idx="12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99</a:t>
            </a:fld>
            <a:endParaRPr/>
          </a:p>
        </p:txBody>
      </p:sp>
      <p:sp>
        <p:nvSpPr>
          <p:cNvPr id="3778" name="Google Shape;3778;p132"/>
          <p:cNvSpPr txBox="1">
            <a:spLocks noGrp="1"/>
          </p:cNvSpPr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endParaRPr/>
          </a:p>
        </p:txBody>
      </p:sp>
      <p:sp>
        <p:nvSpPr>
          <p:cNvPr id="3779" name="Google Shape;3779;p132"/>
          <p:cNvSpPr/>
          <p:nvPr/>
        </p:nvSpPr>
        <p:spPr>
          <a:xfrm>
            <a:off x="4270193" y="3335875"/>
            <a:ext cx="556142" cy="509345"/>
          </a:xfrm>
          <a:prstGeom prst="ellipse">
            <a:avLst/>
          </a:prstGeom>
          <a:solidFill>
            <a:schemeClr val="accent2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16</a:t>
            </a:r>
            <a:endParaRPr/>
          </a:p>
        </p:txBody>
      </p:sp>
      <p:sp>
        <p:nvSpPr>
          <p:cNvPr id="3780" name="Google Shape;3780;p132"/>
          <p:cNvSpPr/>
          <p:nvPr/>
        </p:nvSpPr>
        <p:spPr>
          <a:xfrm>
            <a:off x="2247415" y="4097144"/>
            <a:ext cx="556142" cy="509345"/>
          </a:xfrm>
          <a:prstGeom prst="ellipse">
            <a:avLst/>
          </a:prstGeom>
          <a:solidFill>
            <a:schemeClr val="accent2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90</a:t>
            </a:r>
            <a:endParaRPr/>
          </a:p>
        </p:txBody>
      </p:sp>
      <p:sp>
        <p:nvSpPr>
          <p:cNvPr id="3781" name="Google Shape;3781;p132"/>
          <p:cNvSpPr/>
          <p:nvPr/>
        </p:nvSpPr>
        <p:spPr>
          <a:xfrm>
            <a:off x="1625939" y="4653360"/>
            <a:ext cx="556142" cy="509345"/>
          </a:xfrm>
          <a:prstGeom prst="ellipse">
            <a:avLst/>
          </a:prstGeom>
          <a:solidFill>
            <a:schemeClr val="accent2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/>
          </a:p>
        </p:txBody>
      </p:sp>
      <p:sp>
        <p:nvSpPr>
          <p:cNvPr id="3782" name="Google Shape;3782;p132"/>
          <p:cNvSpPr/>
          <p:nvPr/>
        </p:nvSpPr>
        <p:spPr>
          <a:xfrm>
            <a:off x="1072894" y="5376794"/>
            <a:ext cx="556142" cy="509345"/>
          </a:xfrm>
          <a:prstGeom prst="ellipse">
            <a:avLst/>
          </a:prstGeom>
          <a:solidFill>
            <a:schemeClr val="accent2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  <p:sp>
        <p:nvSpPr>
          <p:cNvPr id="3783" name="Google Shape;3783;p132"/>
          <p:cNvSpPr/>
          <p:nvPr/>
        </p:nvSpPr>
        <p:spPr>
          <a:xfrm>
            <a:off x="1929716" y="5417685"/>
            <a:ext cx="556142" cy="509345"/>
          </a:xfrm>
          <a:prstGeom prst="ellipse">
            <a:avLst/>
          </a:prstGeom>
          <a:solidFill>
            <a:schemeClr val="accent2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/>
          </a:p>
        </p:txBody>
      </p:sp>
      <p:sp>
        <p:nvSpPr>
          <p:cNvPr id="3784" name="Google Shape;3784;p132"/>
          <p:cNvSpPr/>
          <p:nvPr/>
        </p:nvSpPr>
        <p:spPr>
          <a:xfrm>
            <a:off x="3210468" y="4743554"/>
            <a:ext cx="556142" cy="509345"/>
          </a:xfrm>
          <a:prstGeom prst="ellipse">
            <a:avLst/>
          </a:prstGeom>
          <a:solidFill>
            <a:schemeClr val="accent2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14</a:t>
            </a:r>
            <a:endParaRPr/>
          </a:p>
        </p:txBody>
      </p:sp>
      <p:sp>
        <p:nvSpPr>
          <p:cNvPr id="3785" name="Google Shape;3785;p132"/>
          <p:cNvSpPr/>
          <p:nvPr/>
        </p:nvSpPr>
        <p:spPr>
          <a:xfrm>
            <a:off x="5698070" y="4025144"/>
            <a:ext cx="556142" cy="509345"/>
          </a:xfrm>
          <a:prstGeom prst="ellipse">
            <a:avLst/>
          </a:prstGeom>
          <a:solidFill>
            <a:schemeClr val="accent2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/>
          </a:p>
        </p:txBody>
      </p:sp>
      <p:cxnSp>
        <p:nvCxnSpPr>
          <p:cNvPr id="3786" name="Google Shape;3786;p132"/>
          <p:cNvCxnSpPr>
            <a:stCxn id="3779" idx="3"/>
            <a:endCxn id="3780" idx="7"/>
          </p:cNvCxnSpPr>
          <p:nvPr/>
        </p:nvCxnSpPr>
        <p:spPr>
          <a:xfrm flipH="1">
            <a:off x="2722038" y="3770628"/>
            <a:ext cx="1629600" cy="401100"/>
          </a:xfrm>
          <a:prstGeom prst="straightConnector1">
            <a:avLst/>
          </a:prstGeom>
          <a:solidFill>
            <a:schemeClr val="accent2"/>
          </a:solidFill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3787" name="Google Shape;3787;p132"/>
          <p:cNvCxnSpPr>
            <a:stCxn id="3785" idx="1"/>
            <a:endCxn id="3779" idx="5"/>
          </p:cNvCxnSpPr>
          <p:nvPr/>
        </p:nvCxnSpPr>
        <p:spPr>
          <a:xfrm rot="10800000">
            <a:off x="4744815" y="3770636"/>
            <a:ext cx="1034700" cy="329100"/>
          </a:xfrm>
          <a:prstGeom prst="straightConnector1">
            <a:avLst/>
          </a:prstGeom>
          <a:solidFill>
            <a:schemeClr val="accent2"/>
          </a:solidFill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3788" name="Google Shape;3788;p132"/>
          <p:cNvCxnSpPr>
            <a:stCxn id="3789" idx="0"/>
            <a:endCxn id="3785" idx="5"/>
          </p:cNvCxnSpPr>
          <p:nvPr/>
        </p:nvCxnSpPr>
        <p:spPr>
          <a:xfrm rot="10800000">
            <a:off x="6172625" y="4459883"/>
            <a:ext cx="728100" cy="286500"/>
          </a:xfrm>
          <a:prstGeom prst="straightConnector1">
            <a:avLst/>
          </a:prstGeom>
          <a:solidFill>
            <a:schemeClr val="accent2"/>
          </a:solidFill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3790" name="Google Shape;3790;p132"/>
          <p:cNvCxnSpPr>
            <a:stCxn id="3791" idx="0"/>
            <a:endCxn id="3785" idx="3"/>
          </p:cNvCxnSpPr>
          <p:nvPr/>
        </p:nvCxnSpPr>
        <p:spPr>
          <a:xfrm rot="10800000" flipH="1">
            <a:off x="5447878" y="4459986"/>
            <a:ext cx="331500" cy="200400"/>
          </a:xfrm>
          <a:prstGeom prst="straightConnector1">
            <a:avLst/>
          </a:prstGeom>
          <a:solidFill>
            <a:schemeClr val="accent2"/>
          </a:solidFill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3792" name="Google Shape;3792;p132"/>
          <p:cNvCxnSpPr>
            <a:stCxn id="3780" idx="3"/>
            <a:endCxn id="3781" idx="7"/>
          </p:cNvCxnSpPr>
          <p:nvPr/>
        </p:nvCxnSpPr>
        <p:spPr>
          <a:xfrm flipH="1">
            <a:off x="2100560" y="4531897"/>
            <a:ext cx="228300" cy="196200"/>
          </a:xfrm>
          <a:prstGeom prst="straightConnector1">
            <a:avLst/>
          </a:prstGeom>
          <a:solidFill>
            <a:schemeClr val="accent2"/>
          </a:solidFill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3793" name="Google Shape;3793;p132"/>
          <p:cNvCxnSpPr>
            <a:stCxn id="3780" idx="5"/>
            <a:endCxn id="3784" idx="1"/>
          </p:cNvCxnSpPr>
          <p:nvPr/>
        </p:nvCxnSpPr>
        <p:spPr>
          <a:xfrm>
            <a:off x="2722112" y="4531897"/>
            <a:ext cx="569700" cy="286200"/>
          </a:xfrm>
          <a:prstGeom prst="straightConnector1">
            <a:avLst/>
          </a:prstGeom>
          <a:solidFill>
            <a:schemeClr val="accent2"/>
          </a:solidFill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3794" name="Google Shape;3794;p132"/>
          <p:cNvCxnSpPr>
            <a:stCxn id="3781" idx="3"/>
            <a:endCxn id="3782" idx="7"/>
          </p:cNvCxnSpPr>
          <p:nvPr/>
        </p:nvCxnSpPr>
        <p:spPr>
          <a:xfrm flipH="1">
            <a:off x="1547484" y="5088113"/>
            <a:ext cx="159900" cy="363300"/>
          </a:xfrm>
          <a:prstGeom prst="straightConnector1">
            <a:avLst/>
          </a:prstGeom>
          <a:solidFill>
            <a:schemeClr val="accent2"/>
          </a:solidFill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3795" name="Google Shape;3795;p132"/>
          <p:cNvCxnSpPr>
            <a:stCxn id="3781" idx="5"/>
            <a:endCxn id="3783" idx="0"/>
          </p:cNvCxnSpPr>
          <p:nvPr/>
        </p:nvCxnSpPr>
        <p:spPr>
          <a:xfrm>
            <a:off x="2100636" y="5088113"/>
            <a:ext cx="107100" cy="329700"/>
          </a:xfrm>
          <a:prstGeom prst="straightConnector1">
            <a:avLst/>
          </a:prstGeom>
          <a:solidFill>
            <a:schemeClr val="accent2"/>
          </a:solidFill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3796" name="Google Shape;3796;p132"/>
          <p:cNvSpPr/>
          <p:nvPr/>
        </p:nvSpPr>
        <p:spPr>
          <a:xfrm>
            <a:off x="2604089" y="5451386"/>
            <a:ext cx="556142" cy="509345"/>
          </a:xfrm>
          <a:prstGeom prst="ellipse">
            <a:avLst/>
          </a:prstGeom>
          <a:solidFill>
            <a:schemeClr val="accent2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/>
          </a:p>
        </p:txBody>
      </p:sp>
      <p:cxnSp>
        <p:nvCxnSpPr>
          <p:cNvPr id="3797" name="Google Shape;3797;p132"/>
          <p:cNvCxnSpPr>
            <a:stCxn id="3784" idx="3"/>
            <a:endCxn id="3796" idx="7"/>
          </p:cNvCxnSpPr>
          <p:nvPr/>
        </p:nvCxnSpPr>
        <p:spPr>
          <a:xfrm flipH="1">
            <a:off x="3078913" y="5178307"/>
            <a:ext cx="213000" cy="347700"/>
          </a:xfrm>
          <a:prstGeom prst="straightConnector1">
            <a:avLst/>
          </a:prstGeom>
          <a:solidFill>
            <a:schemeClr val="accent2"/>
          </a:solidFill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3791" name="Google Shape;3791;p132"/>
          <p:cNvSpPr/>
          <p:nvPr/>
        </p:nvSpPr>
        <p:spPr>
          <a:xfrm>
            <a:off x="5169807" y="4660386"/>
            <a:ext cx="556142" cy="509345"/>
          </a:xfrm>
          <a:prstGeom prst="ellipse">
            <a:avLst/>
          </a:prstGeom>
          <a:solidFill>
            <a:schemeClr val="accent2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endParaRPr/>
          </a:p>
        </p:txBody>
      </p:sp>
      <p:sp>
        <p:nvSpPr>
          <p:cNvPr id="3789" name="Google Shape;3789;p132"/>
          <p:cNvSpPr/>
          <p:nvPr/>
        </p:nvSpPr>
        <p:spPr>
          <a:xfrm>
            <a:off x="6622654" y="4746383"/>
            <a:ext cx="556142" cy="509345"/>
          </a:xfrm>
          <a:prstGeom prst="ellipse">
            <a:avLst/>
          </a:prstGeom>
          <a:solidFill>
            <a:schemeClr val="accent2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/>
          </a:p>
        </p:txBody>
      </p:sp>
      <p:graphicFrame>
        <p:nvGraphicFramePr>
          <p:cNvPr id="3798" name="Google Shape;3798;p132"/>
          <p:cNvGraphicFramePr/>
          <p:nvPr/>
        </p:nvGraphicFramePr>
        <p:xfrm>
          <a:off x="7178796" y="1889866"/>
          <a:ext cx="4562250" cy="731540"/>
        </p:xfrm>
        <a:graphic>
          <a:graphicData uri="http://schemas.openxmlformats.org/drawingml/2006/table">
            <a:tbl>
              <a:tblPr firstRow="1" bandRow="1">
                <a:noFill/>
                <a:tableStyleId>{66088737-8E24-4614-AAA7-3D08145F63E1}</a:tableStyleId>
              </a:tblPr>
              <a:tblGrid>
                <a:gridCol w="4562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62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562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008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115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562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5622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5622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45622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45622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2914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1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2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3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4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5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6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7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8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9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10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14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u="none" strike="noStrike" cap="none">
                          <a:solidFill>
                            <a:schemeClr val="dk1"/>
                          </a:solidFill>
                        </a:rPr>
                        <a:t>16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u="none" strike="noStrike" cap="none">
                          <a:solidFill>
                            <a:schemeClr val="dk1"/>
                          </a:solidFill>
                        </a:rPr>
                        <a:t>14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u="none" strike="noStrike" cap="none">
                          <a:solidFill>
                            <a:schemeClr val="dk1"/>
                          </a:solidFill>
                        </a:rPr>
                        <a:t>10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u="none" strike="noStrike" cap="none">
                          <a:solidFill>
                            <a:schemeClr val="dk1"/>
                          </a:solidFill>
                        </a:rPr>
                        <a:t>8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u="none" strike="noStrike" cap="none">
                          <a:solidFill>
                            <a:schemeClr val="dk1"/>
                          </a:solidFill>
                        </a:rPr>
                        <a:t>7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u="none" strike="noStrike" cap="none">
                          <a:solidFill>
                            <a:schemeClr val="dk1"/>
                          </a:solidFill>
                        </a:rPr>
                        <a:t>9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u="none" strike="noStrike" cap="none">
                          <a:solidFill>
                            <a:schemeClr val="dk1"/>
                          </a:solidFill>
                        </a:rPr>
                        <a:t>3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u="none" strike="noStrike" cap="none">
                          <a:solidFill>
                            <a:schemeClr val="dk1"/>
                          </a:solidFill>
                        </a:rPr>
                        <a:t>2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u="none" strike="noStrike" cap="none">
                          <a:solidFill>
                            <a:schemeClr val="dk1"/>
                          </a:solidFill>
                        </a:rPr>
                        <a:t>4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u="none" strike="noStrike" cap="none">
                          <a:solidFill>
                            <a:schemeClr val="dk1"/>
                          </a:solidFill>
                        </a:rPr>
                        <a:t>1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3799" name="Google Shape;3799;p132"/>
          <p:cNvSpPr/>
          <p:nvPr/>
        </p:nvSpPr>
        <p:spPr>
          <a:xfrm rot="1641377">
            <a:off x="8284333" y="839121"/>
            <a:ext cx="3475953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HeapIncreaseKey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(A,10,90)</a:t>
            </a:r>
            <a:endParaRPr sz="2400" b="0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00" name="Google Shape;3800;p132"/>
          <p:cNvSpPr/>
          <p:nvPr/>
        </p:nvSpPr>
        <p:spPr>
          <a:xfrm>
            <a:off x="3078786" y="4598925"/>
            <a:ext cx="806055" cy="762953"/>
          </a:xfrm>
          <a:prstGeom prst="donut">
            <a:avLst>
              <a:gd name="adj" fmla="val 17685"/>
            </a:avLst>
          </a:prstGeom>
          <a:solidFill>
            <a:srgbClr val="FF0000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01" name="Google Shape;3801;p132"/>
          <p:cNvSpPr txBox="1"/>
          <p:nvPr/>
        </p:nvSpPr>
        <p:spPr>
          <a:xfrm>
            <a:off x="5553222" y="3110829"/>
            <a:ext cx="6336991" cy="12003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Place the new value at the index</a:t>
            </a:r>
            <a:endParaRPr/>
          </a:p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While the selected index is not a root and is greater than parent</a:t>
            </a:r>
            <a:endParaRPr/>
          </a:p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Change the values with parent</a:t>
            </a:r>
            <a:endParaRPr/>
          </a:p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parent is now the selected index</a:t>
            </a:r>
            <a:endParaRPr/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6" name="Google Shape;3806;p133"/>
          <p:cNvSpPr txBox="1">
            <a:spLocks noGrp="1"/>
          </p:cNvSpPr>
          <p:nvPr>
            <p:ph type="body" idx="1"/>
          </p:nvPr>
        </p:nvSpPr>
        <p:spPr>
          <a:xfrm>
            <a:off x="838200" y="1227909"/>
            <a:ext cx="10515600" cy="49490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1500"/>
              <a:buFont typeface="Arial"/>
              <a:buChar char="●"/>
            </a:pPr>
            <a:r>
              <a:rPr lang="en-US" sz="2000" b="1"/>
              <a:t>Priority Queue functions</a:t>
            </a:r>
            <a:endParaRPr/>
          </a:p>
          <a:p>
            <a:pPr marL="742950" lvl="1" indent="-28575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040"/>
              <a:buChar char="●"/>
            </a:pPr>
            <a:r>
              <a:rPr lang="en-US" sz="1600"/>
              <a:t>HEAP-MAXIMUM </a:t>
            </a:r>
            <a:endParaRPr/>
          </a:p>
          <a:p>
            <a:pPr marL="742950" lvl="1" indent="-28575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040"/>
              <a:buChar char="●"/>
            </a:pPr>
            <a:r>
              <a:rPr lang="en-US" sz="1600"/>
              <a:t>MAX-HEAP-INSERT</a:t>
            </a:r>
            <a:endParaRPr/>
          </a:p>
          <a:p>
            <a:pPr marL="742950" lvl="1" indent="-28575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040"/>
              <a:buChar char="●"/>
            </a:pPr>
            <a:r>
              <a:rPr lang="en-US" sz="1600"/>
              <a:t>HEAP-EXTRACT-MAX </a:t>
            </a:r>
            <a:endParaRPr/>
          </a:p>
          <a:p>
            <a:pPr marL="742950" lvl="1" indent="-28575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040"/>
              <a:buChar char="●"/>
            </a:pPr>
            <a:r>
              <a:rPr lang="en-US" sz="1600" b="1"/>
              <a:t>HEAP-INCREASE-KEY – </a:t>
            </a:r>
            <a:r>
              <a:rPr lang="en-US" sz="1600">
                <a:solidFill>
                  <a:srgbClr val="FF0000"/>
                </a:solidFill>
              </a:rPr>
              <a:t>increase the value of  a particular index</a:t>
            </a:r>
            <a:endParaRPr/>
          </a:p>
          <a:p>
            <a:pPr marL="342900" marR="0" lvl="0" indent="-20955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0033CC"/>
              </a:buClr>
              <a:buSzPts val="2100"/>
              <a:buFont typeface="Arial"/>
              <a:buNone/>
            </a:pPr>
            <a:endParaRPr/>
          </a:p>
        </p:txBody>
      </p:sp>
      <p:sp>
        <p:nvSpPr>
          <p:cNvPr id="3807" name="Google Shape;3807;p133"/>
          <p:cNvSpPr txBox="1">
            <a:spLocks noGrp="1"/>
          </p:cNvSpPr>
          <p:nvPr>
            <p:ph type="dt" idx="10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429F4F63-8F57-4E1B-97CC-95168DC2EA17}" type="datetime1">
              <a:rPr lang="en-US" smtClean="0"/>
              <a:t>1/12/2026</a:t>
            </a:fld>
            <a:endParaRPr/>
          </a:p>
        </p:txBody>
      </p:sp>
      <p:sp>
        <p:nvSpPr>
          <p:cNvPr id="3808" name="Google Shape;3808;p133"/>
          <p:cNvSpPr txBox="1">
            <a:spLocks noGrp="1"/>
          </p:cNvSpPr>
          <p:nvPr>
            <p:ph type="ftr" idx="11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Lec Asif Abrar, Dept of CSE, UIU</a:t>
            </a:r>
            <a:endParaRPr/>
          </a:p>
        </p:txBody>
      </p:sp>
      <p:sp>
        <p:nvSpPr>
          <p:cNvPr id="3809" name="Google Shape;3809;p133"/>
          <p:cNvSpPr txBox="1">
            <a:spLocks noGrp="1"/>
          </p:cNvSpPr>
          <p:nvPr>
            <p:ph type="sldNum" idx="12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100</a:t>
            </a:fld>
            <a:endParaRPr/>
          </a:p>
        </p:txBody>
      </p:sp>
      <p:sp>
        <p:nvSpPr>
          <p:cNvPr id="3810" name="Google Shape;3810;p133"/>
          <p:cNvSpPr txBox="1">
            <a:spLocks noGrp="1"/>
          </p:cNvSpPr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endParaRPr/>
          </a:p>
        </p:txBody>
      </p:sp>
      <p:sp>
        <p:nvSpPr>
          <p:cNvPr id="3811" name="Google Shape;3811;p133"/>
          <p:cNvSpPr/>
          <p:nvPr/>
        </p:nvSpPr>
        <p:spPr>
          <a:xfrm>
            <a:off x="4270193" y="3335875"/>
            <a:ext cx="556142" cy="509345"/>
          </a:xfrm>
          <a:prstGeom prst="ellipse">
            <a:avLst/>
          </a:prstGeom>
          <a:solidFill>
            <a:schemeClr val="accent2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16</a:t>
            </a:r>
            <a:endParaRPr/>
          </a:p>
        </p:txBody>
      </p:sp>
      <p:sp>
        <p:nvSpPr>
          <p:cNvPr id="3812" name="Google Shape;3812;p133"/>
          <p:cNvSpPr/>
          <p:nvPr/>
        </p:nvSpPr>
        <p:spPr>
          <a:xfrm>
            <a:off x="2247415" y="4097144"/>
            <a:ext cx="556142" cy="509345"/>
          </a:xfrm>
          <a:prstGeom prst="ellipse">
            <a:avLst/>
          </a:prstGeom>
          <a:solidFill>
            <a:schemeClr val="accent2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90</a:t>
            </a:r>
            <a:endParaRPr/>
          </a:p>
        </p:txBody>
      </p:sp>
      <p:sp>
        <p:nvSpPr>
          <p:cNvPr id="3813" name="Google Shape;3813;p133"/>
          <p:cNvSpPr/>
          <p:nvPr/>
        </p:nvSpPr>
        <p:spPr>
          <a:xfrm>
            <a:off x="1625939" y="4653360"/>
            <a:ext cx="556142" cy="509345"/>
          </a:xfrm>
          <a:prstGeom prst="ellipse">
            <a:avLst/>
          </a:prstGeom>
          <a:solidFill>
            <a:schemeClr val="accent2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/>
          </a:p>
        </p:txBody>
      </p:sp>
      <p:sp>
        <p:nvSpPr>
          <p:cNvPr id="3814" name="Google Shape;3814;p133"/>
          <p:cNvSpPr/>
          <p:nvPr/>
        </p:nvSpPr>
        <p:spPr>
          <a:xfrm>
            <a:off x="1072894" y="5376794"/>
            <a:ext cx="556142" cy="509345"/>
          </a:xfrm>
          <a:prstGeom prst="ellipse">
            <a:avLst/>
          </a:prstGeom>
          <a:solidFill>
            <a:schemeClr val="accent2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  <p:sp>
        <p:nvSpPr>
          <p:cNvPr id="3815" name="Google Shape;3815;p133"/>
          <p:cNvSpPr/>
          <p:nvPr/>
        </p:nvSpPr>
        <p:spPr>
          <a:xfrm>
            <a:off x="1929716" y="5417685"/>
            <a:ext cx="556142" cy="509345"/>
          </a:xfrm>
          <a:prstGeom prst="ellipse">
            <a:avLst/>
          </a:prstGeom>
          <a:solidFill>
            <a:schemeClr val="accent2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/>
          </a:p>
        </p:txBody>
      </p:sp>
      <p:sp>
        <p:nvSpPr>
          <p:cNvPr id="3816" name="Google Shape;3816;p133"/>
          <p:cNvSpPr/>
          <p:nvPr/>
        </p:nvSpPr>
        <p:spPr>
          <a:xfrm>
            <a:off x="3210468" y="4743554"/>
            <a:ext cx="556142" cy="509345"/>
          </a:xfrm>
          <a:prstGeom prst="ellipse">
            <a:avLst/>
          </a:prstGeom>
          <a:solidFill>
            <a:schemeClr val="accent2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14</a:t>
            </a:r>
            <a:endParaRPr/>
          </a:p>
        </p:txBody>
      </p:sp>
      <p:sp>
        <p:nvSpPr>
          <p:cNvPr id="3817" name="Google Shape;3817;p133"/>
          <p:cNvSpPr/>
          <p:nvPr/>
        </p:nvSpPr>
        <p:spPr>
          <a:xfrm>
            <a:off x="5698070" y="4025144"/>
            <a:ext cx="556142" cy="509345"/>
          </a:xfrm>
          <a:prstGeom prst="ellipse">
            <a:avLst/>
          </a:prstGeom>
          <a:solidFill>
            <a:schemeClr val="accent2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/>
          </a:p>
        </p:txBody>
      </p:sp>
      <p:cxnSp>
        <p:nvCxnSpPr>
          <p:cNvPr id="3818" name="Google Shape;3818;p133"/>
          <p:cNvCxnSpPr>
            <a:stCxn id="3811" idx="3"/>
            <a:endCxn id="3812" idx="7"/>
          </p:cNvCxnSpPr>
          <p:nvPr/>
        </p:nvCxnSpPr>
        <p:spPr>
          <a:xfrm flipH="1">
            <a:off x="2722038" y="3770628"/>
            <a:ext cx="1629600" cy="401100"/>
          </a:xfrm>
          <a:prstGeom prst="straightConnector1">
            <a:avLst/>
          </a:prstGeom>
          <a:solidFill>
            <a:schemeClr val="accent2"/>
          </a:solidFill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3819" name="Google Shape;3819;p133"/>
          <p:cNvCxnSpPr>
            <a:stCxn id="3817" idx="1"/>
            <a:endCxn id="3811" idx="5"/>
          </p:cNvCxnSpPr>
          <p:nvPr/>
        </p:nvCxnSpPr>
        <p:spPr>
          <a:xfrm rot="10800000">
            <a:off x="4744815" y="3770636"/>
            <a:ext cx="1034700" cy="329100"/>
          </a:xfrm>
          <a:prstGeom prst="straightConnector1">
            <a:avLst/>
          </a:prstGeom>
          <a:solidFill>
            <a:schemeClr val="accent2"/>
          </a:solidFill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3820" name="Google Shape;3820;p133"/>
          <p:cNvCxnSpPr>
            <a:stCxn id="3821" idx="0"/>
            <a:endCxn id="3817" idx="5"/>
          </p:cNvCxnSpPr>
          <p:nvPr/>
        </p:nvCxnSpPr>
        <p:spPr>
          <a:xfrm rot="10800000">
            <a:off x="6172625" y="4459883"/>
            <a:ext cx="728100" cy="286500"/>
          </a:xfrm>
          <a:prstGeom prst="straightConnector1">
            <a:avLst/>
          </a:prstGeom>
          <a:solidFill>
            <a:schemeClr val="accent2"/>
          </a:solidFill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3822" name="Google Shape;3822;p133"/>
          <p:cNvCxnSpPr>
            <a:stCxn id="3823" idx="0"/>
            <a:endCxn id="3817" idx="3"/>
          </p:cNvCxnSpPr>
          <p:nvPr/>
        </p:nvCxnSpPr>
        <p:spPr>
          <a:xfrm rot="10800000" flipH="1">
            <a:off x="5447878" y="4459986"/>
            <a:ext cx="331500" cy="200400"/>
          </a:xfrm>
          <a:prstGeom prst="straightConnector1">
            <a:avLst/>
          </a:prstGeom>
          <a:solidFill>
            <a:schemeClr val="accent2"/>
          </a:solidFill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3824" name="Google Shape;3824;p133"/>
          <p:cNvCxnSpPr>
            <a:stCxn id="3812" idx="3"/>
            <a:endCxn id="3813" idx="7"/>
          </p:cNvCxnSpPr>
          <p:nvPr/>
        </p:nvCxnSpPr>
        <p:spPr>
          <a:xfrm flipH="1">
            <a:off x="2100560" y="4531897"/>
            <a:ext cx="228300" cy="196200"/>
          </a:xfrm>
          <a:prstGeom prst="straightConnector1">
            <a:avLst/>
          </a:prstGeom>
          <a:solidFill>
            <a:schemeClr val="accent2"/>
          </a:solidFill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3825" name="Google Shape;3825;p133"/>
          <p:cNvCxnSpPr>
            <a:stCxn id="3812" idx="5"/>
            <a:endCxn id="3816" idx="1"/>
          </p:cNvCxnSpPr>
          <p:nvPr/>
        </p:nvCxnSpPr>
        <p:spPr>
          <a:xfrm>
            <a:off x="2722112" y="4531897"/>
            <a:ext cx="569700" cy="286200"/>
          </a:xfrm>
          <a:prstGeom prst="straightConnector1">
            <a:avLst/>
          </a:prstGeom>
          <a:solidFill>
            <a:schemeClr val="accent2"/>
          </a:solidFill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3826" name="Google Shape;3826;p133"/>
          <p:cNvCxnSpPr>
            <a:stCxn id="3813" idx="3"/>
            <a:endCxn id="3814" idx="7"/>
          </p:cNvCxnSpPr>
          <p:nvPr/>
        </p:nvCxnSpPr>
        <p:spPr>
          <a:xfrm flipH="1">
            <a:off x="1547484" y="5088113"/>
            <a:ext cx="159900" cy="363300"/>
          </a:xfrm>
          <a:prstGeom prst="straightConnector1">
            <a:avLst/>
          </a:prstGeom>
          <a:solidFill>
            <a:schemeClr val="accent2"/>
          </a:solidFill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3827" name="Google Shape;3827;p133"/>
          <p:cNvCxnSpPr>
            <a:stCxn id="3813" idx="5"/>
            <a:endCxn id="3815" idx="0"/>
          </p:cNvCxnSpPr>
          <p:nvPr/>
        </p:nvCxnSpPr>
        <p:spPr>
          <a:xfrm>
            <a:off x="2100636" y="5088113"/>
            <a:ext cx="107100" cy="329700"/>
          </a:xfrm>
          <a:prstGeom prst="straightConnector1">
            <a:avLst/>
          </a:prstGeom>
          <a:solidFill>
            <a:schemeClr val="accent2"/>
          </a:solidFill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3828" name="Google Shape;3828;p133"/>
          <p:cNvSpPr/>
          <p:nvPr/>
        </p:nvSpPr>
        <p:spPr>
          <a:xfrm>
            <a:off x="2604089" y="5451386"/>
            <a:ext cx="556142" cy="509345"/>
          </a:xfrm>
          <a:prstGeom prst="ellipse">
            <a:avLst/>
          </a:prstGeom>
          <a:solidFill>
            <a:schemeClr val="accent2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/>
          </a:p>
        </p:txBody>
      </p:sp>
      <p:cxnSp>
        <p:nvCxnSpPr>
          <p:cNvPr id="3829" name="Google Shape;3829;p133"/>
          <p:cNvCxnSpPr>
            <a:stCxn id="3816" idx="3"/>
            <a:endCxn id="3828" idx="7"/>
          </p:cNvCxnSpPr>
          <p:nvPr/>
        </p:nvCxnSpPr>
        <p:spPr>
          <a:xfrm flipH="1">
            <a:off x="3078913" y="5178307"/>
            <a:ext cx="213000" cy="347700"/>
          </a:xfrm>
          <a:prstGeom prst="straightConnector1">
            <a:avLst/>
          </a:prstGeom>
          <a:solidFill>
            <a:schemeClr val="accent2"/>
          </a:solidFill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3823" name="Google Shape;3823;p133"/>
          <p:cNvSpPr/>
          <p:nvPr/>
        </p:nvSpPr>
        <p:spPr>
          <a:xfrm>
            <a:off x="5169807" y="4660386"/>
            <a:ext cx="556142" cy="509345"/>
          </a:xfrm>
          <a:prstGeom prst="ellipse">
            <a:avLst/>
          </a:prstGeom>
          <a:solidFill>
            <a:schemeClr val="accent2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endParaRPr/>
          </a:p>
        </p:txBody>
      </p:sp>
      <p:sp>
        <p:nvSpPr>
          <p:cNvPr id="3821" name="Google Shape;3821;p133"/>
          <p:cNvSpPr/>
          <p:nvPr/>
        </p:nvSpPr>
        <p:spPr>
          <a:xfrm>
            <a:off x="6622654" y="4746383"/>
            <a:ext cx="556142" cy="509345"/>
          </a:xfrm>
          <a:prstGeom prst="ellipse">
            <a:avLst/>
          </a:prstGeom>
          <a:solidFill>
            <a:schemeClr val="accent2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/>
          </a:p>
        </p:txBody>
      </p:sp>
      <p:graphicFrame>
        <p:nvGraphicFramePr>
          <p:cNvPr id="3830" name="Google Shape;3830;p133"/>
          <p:cNvGraphicFramePr/>
          <p:nvPr/>
        </p:nvGraphicFramePr>
        <p:xfrm>
          <a:off x="7178796" y="1889866"/>
          <a:ext cx="4562250" cy="731540"/>
        </p:xfrm>
        <a:graphic>
          <a:graphicData uri="http://schemas.openxmlformats.org/drawingml/2006/table">
            <a:tbl>
              <a:tblPr firstRow="1" bandRow="1">
                <a:noFill/>
                <a:tableStyleId>{66088737-8E24-4614-AAA7-3D08145F63E1}</a:tableStyleId>
              </a:tblPr>
              <a:tblGrid>
                <a:gridCol w="4562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62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562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008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115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562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5622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5622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45622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45622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2914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1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2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3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4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5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6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7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8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9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10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14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u="none" strike="noStrike" cap="none">
                          <a:solidFill>
                            <a:schemeClr val="dk1"/>
                          </a:solidFill>
                        </a:rPr>
                        <a:t>16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u="none" strike="noStrike" cap="none">
                          <a:solidFill>
                            <a:schemeClr val="dk1"/>
                          </a:solidFill>
                        </a:rPr>
                        <a:t>14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u="none" strike="noStrike" cap="none">
                          <a:solidFill>
                            <a:schemeClr val="dk1"/>
                          </a:solidFill>
                        </a:rPr>
                        <a:t>10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u="none" strike="noStrike" cap="none">
                          <a:solidFill>
                            <a:schemeClr val="dk1"/>
                          </a:solidFill>
                        </a:rPr>
                        <a:t>8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u="none" strike="noStrike" cap="none">
                          <a:solidFill>
                            <a:schemeClr val="dk1"/>
                          </a:solidFill>
                        </a:rPr>
                        <a:t>7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u="none" strike="noStrike" cap="none">
                          <a:solidFill>
                            <a:schemeClr val="dk1"/>
                          </a:solidFill>
                        </a:rPr>
                        <a:t>9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u="none" strike="noStrike" cap="none">
                          <a:solidFill>
                            <a:schemeClr val="dk1"/>
                          </a:solidFill>
                        </a:rPr>
                        <a:t>3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u="none" strike="noStrike" cap="none">
                          <a:solidFill>
                            <a:schemeClr val="dk1"/>
                          </a:solidFill>
                        </a:rPr>
                        <a:t>2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u="none" strike="noStrike" cap="none">
                          <a:solidFill>
                            <a:schemeClr val="dk1"/>
                          </a:solidFill>
                        </a:rPr>
                        <a:t>4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u="none" strike="noStrike" cap="none">
                          <a:solidFill>
                            <a:schemeClr val="dk1"/>
                          </a:solidFill>
                        </a:rPr>
                        <a:t>1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3831" name="Google Shape;3831;p133"/>
          <p:cNvSpPr/>
          <p:nvPr/>
        </p:nvSpPr>
        <p:spPr>
          <a:xfrm rot="1641377">
            <a:off x="8284333" y="839121"/>
            <a:ext cx="3475953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HeapIncreaseKey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(A,10,90)</a:t>
            </a:r>
            <a:endParaRPr sz="2400" b="0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32" name="Google Shape;3832;p133"/>
          <p:cNvSpPr/>
          <p:nvPr/>
        </p:nvSpPr>
        <p:spPr>
          <a:xfrm>
            <a:off x="2133555" y="3970339"/>
            <a:ext cx="806055" cy="762953"/>
          </a:xfrm>
          <a:prstGeom prst="donut">
            <a:avLst>
              <a:gd name="adj" fmla="val 17685"/>
            </a:avLst>
          </a:prstGeom>
          <a:solidFill>
            <a:srgbClr val="FF0000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33" name="Google Shape;3833;p133"/>
          <p:cNvSpPr txBox="1"/>
          <p:nvPr/>
        </p:nvSpPr>
        <p:spPr>
          <a:xfrm>
            <a:off x="5553222" y="3110829"/>
            <a:ext cx="6336991" cy="12003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Place the new value at the index</a:t>
            </a:r>
            <a:endParaRPr/>
          </a:p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While the selected index is not a root and is greater than parent</a:t>
            </a:r>
            <a:endParaRPr/>
          </a:p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Change the values with parent</a:t>
            </a:r>
            <a:endParaRPr/>
          </a:p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parent is now the selected index</a:t>
            </a:r>
            <a:endParaRPr/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8" name="Google Shape;3838;p134"/>
          <p:cNvSpPr txBox="1">
            <a:spLocks noGrp="1"/>
          </p:cNvSpPr>
          <p:nvPr>
            <p:ph type="body" idx="1"/>
          </p:nvPr>
        </p:nvSpPr>
        <p:spPr>
          <a:xfrm>
            <a:off x="838200" y="1227909"/>
            <a:ext cx="10515600" cy="49490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1500"/>
              <a:buFont typeface="Arial"/>
              <a:buChar char="●"/>
            </a:pPr>
            <a:r>
              <a:rPr lang="en-US" sz="2000" b="1"/>
              <a:t>Priority Queue functions</a:t>
            </a:r>
            <a:endParaRPr/>
          </a:p>
          <a:p>
            <a:pPr marL="742950" lvl="1" indent="-28575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040"/>
              <a:buChar char="●"/>
            </a:pPr>
            <a:r>
              <a:rPr lang="en-US" sz="1600"/>
              <a:t>HEAP-MAXIMUM </a:t>
            </a:r>
            <a:endParaRPr/>
          </a:p>
          <a:p>
            <a:pPr marL="742950" lvl="1" indent="-28575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040"/>
              <a:buChar char="●"/>
            </a:pPr>
            <a:r>
              <a:rPr lang="en-US" sz="1600"/>
              <a:t>MAX-HEAP-INSERT</a:t>
            </a:r>
            <a:endParaRPr/>
          </a:p>
          <a:p>
            <a:pPr marL="742950" lvl="1" indent="-28575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040"/>
              <a:buChar char="●"/>
            </a:pPr>
            <a:r>
              <a:rPr lang="en-US" sz="1600"/>
              <a:t>HEAP-EXTRACT-MAX </a:t>
            </a:r>
            <a:endParaRPr/>
          </a:p>
          <a:p>
            <a:pPr marL="742950" lvl="1" indent="-28575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040"/>
              <a:buChar char="●"/>
            </a:pPr>
            <a:r>
              <a:rPr lang="en-US" sz="1600" b="1"/>
              <a:t>HEAP-INCREASE-KEY – </a:t>
            </a:r>
            <a:r>
              <a:rPr lang="en-US" sz="1600">
                <a:solidFill>
                  <a:srgbClr val="FF0000"/>
                </a:solidFill>
              </a:rPr>
              <a:t>increase the value of  a particular index</a:t>
            </a:r>
            <a:endParaRPr/>
          </a:p>
          <a:p>
            <a:pPr marL="342900" marR="0" lvl="0" indent="-20955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0033CC"/>
              </a:buClr>
              <a:buSzPts val="2100"/>
              <a:buFont typeface="Arial"/>
              <a:buNone/>
            </a:pPr>
            <a:endParaRPr/>
          </a:p>
        </p:txBody>
      </p:sp>
      <p:sp>
        <p:nvSpPr>
          <p:cNvPr id="3839" name="Google Shape;3839;p134"/>
          <p:cNvSpPr txBox="1">
            <a:spLocks noGrp="1"/>
          </p:cNvSpPr>
          <p:nvPr>
            <p:ph type="dt" idx="10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260FCB01-B58A-46BB-BC37-17EECBF6A55A}" type="datetime1">
              <a:rPr lang="en-US" smtClean="0"/>
              <a:t>1/12/2026</a:t>
            </a:fld>
            <a:endParaRPr/>
          </a:p>
        </p:txBody>
      </p:sp>
      <p:sp>
        <p:nvSpPr>
          <p:cNvPr id="3840" name="Google Shape;3840;p134"/>
          <p:cNvSpPr txBox="1">
            <a:spLocks noGrp="1"/>
          </p:cNvSpPr>
          <p:nvPr>
            <p:ph type="ftr" idx="11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Lec Asif Abrar, Dept of CSE, UIU</a:t>
            </a:r>
            <a:endParaRPr/>
          </a:p>
        </p:txBody>
      </p:sp>
      <p:sp>
        <p:nvSpPr>
          <p:cNvPr id="3841" name="Google Shape;3841;p134"/>
          <p:cNvSpPr txBox="1">
            <a:spLocks noGrp="1"/>
          </p:cNvSpPr>
          <p:nvPr>
            <p:ph type="sldNum" idx="12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101</a:t>
            </a:fld>
            <a:endParaRPr/>
          </a:p>
        </p:txBody>
      </p:sp>
      <p:sp>
        <p:nvSpPr>
          <p:cNvPr id="3842" name="Google Shape;3842;p134"/>
          <p:cNvSpPr txBox="1">
            <a:spLocks noGrp="1"/>
          </p:cNvSpPr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endParaRPr/>
          </a:p>
        </p:txBody>
      </p:sp>
      <p:sp>
        <p:nvSpPr>
          <p:cNvPr id="3843" name="Google Shape;3843;p134"/>
          <p:cNvSpPr/>
          <p:nvPr/>
        </p:nvSpPr>
        <p:spPr>
          <a:xfrm>
            <a:off x="4270193" y="3335875"/>
            <a:ext cx="556142" cy="509345"/>
          </a:xfrm>
          <a:prstGeom prst="ellipse">
            <a:avLst/>
          </a:prstGeom>
          <a:solidFill>
            <a:schemeClr val="accent2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90</a:t>
            </a:r>
            <a:endParaRPr/>
          </a:p>
        </p:txBody>
      </p:sp>
      <p:sp>
        <p:nvSpPr>
          <p:cNvPr id="3844" name="Google Shape;3844;p134"/>
          <p:cNvSpPr/>
          <p:nvPr/>
        </p:nvSpPr>
        <p:spPr>
          <a:xfrm>
            <a:off x="2247415" y="4097144"/>
            <a:ext cx="556142" cy="509345"/>
          </a:xfrm>
          <a:prstGeom prst="ellipse">
            <a:avLst/>
          </a:prstGeom>
          <a:solidFill>
            <a:schemeClr val="accent2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16</a:t>
            </a:r>
            <a:endParaRPr/>
          </a:p>
        </p:txBody>
      </p:sp>
      <p:sp>
        <p:nvSpPr>
          <p:cNvPr id="3845" name="Google Shape;3845;p134"/>
          <p:cNvSpPr/>
          <p:nvPr/>
        </p:nvSpPr>
        <p:spPr>
          <a:xfrm>
            <a:off x="1625939" y="4653360"/>
            <a:ext cx="556142" cy="509345"/>
          </a:xfrm>
          <a:prstGeom prst="ellipse">
            <a:avLst/>
          </a:prstGeom>
          <a:solidFill>
            <a:schemeClr val="accent2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/>
          </a:p>
        </p:txBody>
      </p:sp>
      <p:sp>
        <p:nvSpPr>
          <p:cNvPr id="3846" name="Google Shape;3846;p134"/>
          <p:cNvSpPr/>
          <p:nvPr/>
        </p:nvSpPr>
        <p:spPr>
          <a:xfrm>
            <a:off x="1072894" y="5376794"/>
            <a:ext cx="556142" cy="509345"/>
          </a:xfrm>
          <a:prstGeom prst="ellipse">
            <a:avLst/>
          </a:prstGeom>
          <a:solidFill>
            <a:schemeClr val="accent2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  <p:sp>
        <p:nvSpPr>
          <p:cNvPr id="3847" name="Google Shape;3847;p134"/>
          <p:cNvSpPr/>
          <p:nvPr/>
        </p:nvSpPr>
        <p:spPr>
          <a:xfrm>
            <a:off x="1929716" y="5417685"/>
            <a:ext cx="556142" cy="509345"/>
          </a:xfrm>
          <a:prstGeom prst="ellipse">
            <a:avLst/>
          </a:prstGeom>
          <a:solidFill>
            <a:schemeClr val="accent2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/>
          </a:p>
        </p:txBody>
      </p:sp>
      <p:sp>
        <p:nvSpPr>
          <p:cNvPr id="3848" name="Google Shape;3848;p134"/>
          <p:cNvSpPr/>
          <p:nvPr/>
        </p:nvSpPr>
        <p:spPr>
          <a:xfrm>
            <a:off x="3210468" y="4743554"/>
            <a:ext cx="556142" cy="509345"/>
          </a:xfrm>
          <a:prstGeom prst="ellipse">
            <a:avLst/>
          </a:prstGeom>
          <a:solidFill>
            <a:schemeClr val="accent2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14</a:t>
            </a:r>
            <a:endParaRPr/>
          </a:p>
        </p:txBody>
      </p:sp>
      <p:sp>
        <p:nvSpPr>
          <p:cNvPr id="3849" name="Google Shape;3849;p134"/>
          <p:cNvSpPr/>
          <p:nvPr/>
        </p:nvSpPr>
        <p:spPr>
          <a:xfrm>
            <a:off x="5698070" y="4025144"/>
            <a:ext cx="556142" cy="509345"/>
          </a:xfrm>
          <a:prstGeom prst="ellipse">
            <a:avLst/>
          </a:prstGeom>
          <a:solidFill>
            <a:schemeClr val="accent2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/>
          </a:p>
        </p:txBody>
      </p:sp>
      <p:cxnSp>
        <p:nvCxnSpPr>
          <p:cNvPr id="3850" name="Google Shape;3850;p134"/>
          <p:cNvCxnSpPr>
            <a:stCxn id="3843" idx="3"/>
            <a:endCxn id="3844" idx="7"/>
          </p:cNvCxnSpPr>
          <p:nvPr/>
        </p:nvCxnSpPr>
        <p:spPr>
          <a:xfrm flipH="1">
            <a:off x="2722038" y="3770628"/>
            <a:ext cx="1629600" cy="401100"/>
          </a:xfrm>
          <a:prstGeom prst="straightConnector1">
            <a:avLst/>
          </a:prstGeom>
          <a:solidFill>
            <a:schemeClr val="accent2"/>
          </a:solidFill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3851" name="Google Shape;3851;p134"/>
          <p:cNvCxnSpPr>
            <a:stCxn id="3849" idx="1"/>
            <a:endCxn id="3843" idx="5"/>
          </p:cNvCxnSpPr>
          <p:nvPr/>
        </p:nvCxnSpPr>
        <p:spPr>
          <a:xfrm rot="10800000">
            <a:off x="4744815" y="3770636"/>
            <a:ext cx="1034700" cy="329100"/>
          </a:xfrm>
          <a:prstGeom prst="straightConnector1">
            <a:avLst/>
          </a:prstGeom>
          <a:solidFill>
            <a:schemeClr val="accent2"/>
          </a:solidFill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3852" name="Google Shape;3852;p134"/>
          <p:cNvCxnSpPr>
            <a:stCxn id="3853" idx="0"/>
            <a:endCxn id="3849" idx="5"/>
          </p:cNvCxnSpPr>
          <p:nvPr/>
        </p:nvCxnSpPr>
        <p:spPr>
          <a:xfrm rot="10800000">
            <a:off x="6172625" y="4459883"/>
            <a:ext cx="728100" cy="286500"/>
          </a:xfrm>
          <a:prstGeom prst="straightConnector1">
            <a:avLst/>
          </a:prstGeom>
          <a:solidFill>
            <a:schemeClr val="accent2"/>
          </a:solidFill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3854" name="Google Shape;3854;p134"/>
          <p:cNvCxnSpPr>
            <a:stCxn id="3855" idx="0"/>
            <a:endCxn id="3849" idx="3"/>
          </p:cNvCxnSpPr>
          <p:nvPr/>
        </p:nvCxnSpPr>
        <p:spPr>
          <a:xfrm rot="10800000" flipH="1">
            <a:off x="5447878" y="4459986"/>
            <a:ext cx="331500" cy="200400"/>
          </a:xfrm>
          <a:prstGeom prst="straightConnector1">
            <a:avLst/>
          </a:prstGeom>
          <a:solidFill>
            <a:schemeClr val="accent2"/>
          </a:solidFill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3856" name="Google Shape;3856;p134"/>
          <p:cNvCxnSpPr>
            <a:stCxn id="3844" idx="3"/>
            <a:endCxn id="3845" idx="7"/>
          </p:cNvCxnSpPr>
          <p:nvPr/>
        </p:nvCxnSpPr>
        <p:spPr>
          <a:xfrm flipH="1">
            <a:off x="2100560" y="4531897"/>
            <a:ext cx="228300" cy="196200"/>
          </a:xfrm>
          <a:prstGeom prst="straightConnector1">
            <a:avLst/>
          </a:prstGeom>
          <a:solidFill>
            <a:schemeClr val="accent2"/>
          </a:solidFill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3857" name="Google Shape;3857;p134"/>
          <p:cNvCxnSpPr>
            <a:stCxn id="3844" idx="5"/>
            <a:endCxn id="3848" idx="1"/>
          </p:cNvCxnSpPr>
          <p:nvPr/>
        </p:nvCxnSpPr>
        <p:spPr>
          <a:xfrm>
            <a:off x="2722112" y="4531897"/>
            <a:ext cx="569700" cy="286200"/>
          </a:xfrm>
          <a:prstGeom prst="straightConnector1">
            <a:avLst/>
          </a:prstGeom>
          <a:solidFill>
            <a:schemeClr val="accent2"/>
          </a:solidFill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3858" name="Google Shape;3858;p134"/>
          <p:cNvCxnSpPr>
            <a:stCxn id="3845" idx="3"/>
            <a:endCxn id="3846" idx="7"/>
          </p:cNvCxnSpPr>
          <p:nvPr/>
        </p:nvCxnSpPr>
        <p:spPr>
          <a:xfrm flipH="1">
            <a:off x="1547484" y="5088113"/>
            <a:ext cx="159900" cy="363300"/>
          </a:xfrm>
          <a:prstGeom prst="straightConnector1">
            <a:avLst/>
          </a:prstGeom>
          <a:solidFill>
            <a:schemeClr val="accent2"/>
          </a:solidFill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3859" name="Google Shape;3859;p134"/>
          <p:cNvCxnSpPr>
            <a:stCxn id="3845" idx="5"/>
            <a:endCxn id="3847" idx="0"/>
          </p:cNvCxnSpPr>
          <p:nvPr/>
        </p:nvCxnSpPr>
        <p:spPr>
          <a:xfrm>
            <a:off x="2100636" y="5088113"/>
            <a:ext cx="107100" cy="329700"/>
          </a:xfrm>
          <a:prstGeom prst="straightConnector1">
            <a:avLst/>
          </a:prstGeom>
          <a:solidFill>
            <a:schemeClr val="accent2"/>
          </a:solidFill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3860" name="Google Shape;3860;p134"/>
          <p:cNvSpPr/>
          <p:nvPr/>
        </p:nvSpPr>
        <p:spPr>
          <a:xfrm>
            <a:off x="2604089" y="5451386"/>
            <a:ext cx="556142" cy="509345"/>
          </a:xfrm>
          <a:prstGeom prst="ellipse">
            <a:avLst/>
          </a:prstGeom>
          <a:solidFill>
            <a:schemeClr val="accent2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/>
          </a:p>
        </p:txBody>
      </p:sp>
      <p:cxnSp>
        <p:nvCxnSpPr>
          <p:cNvPr id="3861" name="Google Shape;3861;p134"/>
          <p:cNvCxnSpPr>
            <a:stCxn id="3848" idx="3"/>
            <a:endCxn id="3860" idx="7"/>
          </p:cNvCxnSpPr>
          <p:nvPr/>
        </p:nvCxnSpPr>
        <p:spPr>
          <a:xfrm flipH="1">
            <a:off x="3078913" y="5178307"/>
            <a:ext cx="213000" cy="347700"/>
          </a:xfrm>
          <a:prstGeom prst="straightConnector1">
            <a:avLst/>
          </a:prstGeom>
          <a:solidFill>
            <a:schemeClr val="accent2"/>
          </a:solidFill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3855" name="Google Shape;3855;p134"/>
          <p:cNvSpPr/>
          <p:nvPr/>
        </p:nvSpPr>
        <p:spPr>
          <a:xfrm>
            <a:off x="5169807" y="4660386"/>
            <a:ext cx="556142" cy="509345"/>
          </a:xfrm>
          <a:prstGeom prst="ellipse">
            <a:avLst/>
          </a:prstGeom>
          <a:solidFill>
            <a:schemeClr val="accent2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endParaRPr/>
          </a:p>
        </p:txBody>
      </p:sp>
      <p:sp>
        <p:nvSpPr>
          <p:cNvPr id="3853" name="Google Shape;3853;p134"/>
          <p:cNvSpPr/>
          <p:nvPr/>
        </p:nvSpPr>
        <p:spPr>
          <a:xfrm>
            <a:off x="6622654" y="4746383"/>
            <a:ext cx="556142" cy="509345"/>
          </a:xfrm>
          <a:prstGeom prst="ellipse">
            <a:avLst/>
          </a:prstGeom>
          <a:solidFill>
            <a:schemeClr val="accent2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/>
          </a:p>
        </p:txBody>
      </p:sp>
      <p:graphicFrame>
        <p:nvGraphicFramePr>
          <p:cNvPr id="3862" name="Google Shape;3862;p134"/>
          <p:cNvGraphicFramePr/>
          <p:nvPr/>
        </p:nvGraphicFramePr>
        <p:xfrm>
          <a:off x="7178796" y="1889866"/>
          <a:ext cx="4562250" cy="731540"/>
        </p:xfrm>
        <a:graphic>
          <a:graphicData uri="http://schemas.openxmlformats.org/drawingml/2006/table">
            <a:tbl>
              <a:tblPr firstRow="1" bandRow="1">
                <a:noFill/>
                <a:tableStyleId>{66088737-8E24-4614-AAA7-3D08145F63E1}</a:tableStyleId>
              </a:tblPr>
              <a:tblGrid>
                <a:gridCol w="4562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62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562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008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115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562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5622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5622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45622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45622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2914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1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2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3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4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5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6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7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8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9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10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14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u="none" strike="noStrike" cap="none">
                          <a:solidFill>
                            <a:schemeClr val="dk1"/>
                          </a:solidFill>
                        </a:rPr>
                        <a:t>16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u="none" strike="noStrike" cap="none">
                          <a:solidFill>
                            <a:schemeClr val="dk1"/>
                          </a:solidFill>
                        </a:rPr>
                        <a:t>14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u="none" strike="noStrike" cap="none">
                          <a:solidFill>
                            <a:schemeClr val="dk1"/>
                          </a:solidFill>
                        </a:rPr>
                        <a:t>10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u="none" strike="noStrike" cap="none">
                          <a:solidFill>
                            <a:schemeClr val="dk1"/>
                          </a:solidFill>
                        </a:rPr>
                        <a:t>8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u="none" strike="noStrike" cap="none">
                          <a:solidFill>
                            <a:schemeClr val="dk1"/>
                          </a:solidFill>
                        </a:rPr>
                        <a:t>7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u="none" strike="noStrike" cap="none">
                          <a:solidFill>
                            <a:schemeClr val="dk1"/>
                          </a:solidFill>
                        </a:rPr>
                        <a:t>9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u="none" strike="noStrike" cap="none">
                          <a:solidFill>
                            <a:schemeClr val="dk1"/>
                          </a:solidFill>
                        </a:rPr>
                        <a:t>3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u="none" strike="noStrike" cap="none">
                          <a:solidFill>
                            <a:schemeClr val="dk1"/>
                          </a:solidFill>
                        </a:rPr>
                        <a:t>2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u="none" strike="noStrike" cap="none">
                          <a:solidFill>
                            <a:schemeClr val="dk1"/>
                          </a:solidFill>
                        </a:rPr>
                        <a:t>4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u="none" strike="noStrike" cap="none">
                          <a:solidFill>
                            <a:schemeClr val="dk1"/>
                          </a:solidFill>
                        </a:rPr>
                        <a:t>1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3863" name="Google Shape;3863;p134"/>
          <p:cNvSpPr/>
          <p:nvPr/>
        </p:nvSpPr>
        <p:spPr>
          <a:xfrm rot="1641377">
            <a:off x="8284333" y="839121"/>
            <a:ext cx="3475953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HeapIncreaseKey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(A,10,90)</a:t>
            </a:r>
            <a:endParaRPr sz="2400" b="0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64" name="Google Shape;3864;p134"/>
          <p:cNvSpPr/>
          <p:nvPr/>
        </p:nvSpPr>
        <p:spPr>
          <a:xfrm>
            <a:off x="2133555" y="3970339"/>
            <a:ext cx="806055" cy="762953"/>
          </a:xfrm>
          <a:prstGeom prst="donut">
            <a:avLst>
              <a:gd name="adj" fmla="val 17685"/>
            </a:avLst>
          </a:prstGeom>
          <a:solidFill>
            <a:srgbClr val="FF0000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65" name="Google Shape;3865;p134"/>
          <p:cNvSpPr txBox="1"/>
          <p:nvPr/>
        </p:nvSpPr>
        <p:spPr>
          <a:xfrm>
            <a:off x="5553222" y="3110829"/>
            <a:ext cx="6336991" cy="12003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Place the new value at the index</a:t>
            </a:r>
            <a:endParaRPr/>
          </a:p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While the selected index is not a root and is greater than parent</a:t>
            </a:r>
            <a:endParaRPr/>
          </a:p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Change the values with parent</a:t>
            </a:r>
            <a:endParaRPr/>
          </a:p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parent is now the selected index</a:t>
            </a:r>
            <a:endParaRPr/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0" name="Google Shape;3870;p135"/>
          <p:cNvSpPr txBox="1">
            <a:spLocks noGrp="1"/>
          </p:cNvSpPr>
          <p:nvPr>
            <p:ph type="body" idx="1"/>
          </p:nvPr>
        </p:nvSpPr>
        <p:spPr>
          <a:xfrm>
            <a:off x="838200" y="1227909"/>
            <a:ext cx="10515600" cy="49490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1500"/>
              <a:buFont typeface="Arial"/>
              <a:buChar char="●"/>
            </a:pPr>
            <a:r>
              <a:rPr lang="en-US" sz="2000" b="1"/>
              <a:t>Priority Queue functions</a:t>
            </a:r>
            <a:endParaRPr/>
          </a:p>
          <a:p>
            <a:pPr marL="742950" lvl="1" indent="-28575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040"/>
              <a:buChar char="●"/>
            </a:pPr>
            <a:r>
              <a:rPr lang="en-US" sz="1600"/>
              <a:t>HEAP-MAXIMUM </a:t>
            </a:r>
            <a:endParaRPr/>
          </a:p>
          <a:p>
            <a:pPr marL="742950" lvl="1" indent="-28575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040"/>
              <a:buChar char="●"/>
            </a:pPr>
            <a:r>
              <a:rPr lang="en-US" sz="1600"/>
              <a:t>MAX-HEAP-INSERT</a:t>
            </a:r>
            <a:endParaRPr/>
          </a:p>
          <a:p>
            <a:pPr marL="742950" lvl="1" indent="-28575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040"/>
              <a:buChar char="●"/>
            </a:pPr>
            <a:r>
              <a:rPr lang="en-US" sz="1600"/>
              <a:t>HEAP-EXTRACT-MAX </a:t>
            </a:r>
            <a:endParaRPr/>
          </a:p>
          <a:p>
            <a:pPr marL="742950" lvl="1" indent="-28575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040"/>
              <a:buChar char="●"/>
            </a:pPr>
            <a:r>
              <a:rPr lang="en-US" sz="1600" b="1"/>
              <a:t>HEAP-INCREASE-KEY – </a:t>
            </a:r>
            <a:r>
              <a:rPr lang="en-US" sz="1600">
                <a:solidFill>
                  <a:srgbClr val="FF0000"/>
                </a:solidFill>
              </a:rPr>
              <a:t>increase the value of  a particular index</a:t>
            </a:r>
            <a:endParaRPr/>
          </a:p>
          <a:p>
            <a:pPr marL="342900" marR="0" lvl="0" indent="-20955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0033CC"/>
              </a:buClr>
              <a:buSzPts val="2100"/>
              <a:buFont typeface="Arial"/>
              <a:buNone/>
            </a:pPr>
            <a:endParaRPr/>
          </a:p>
        </p:txBody>
      </p:sp>
      <p:sp>
        <p:nvSpPr>
          <p:cNvPr id="3871" name="Google Shape;3871;p135"/>
          <p:cNvSpPr txBox="1">
            <a:spLocks noGrp="1"/>
          </p:cNvSpPr>
          <p:nvPr>
            <p:ph type="dt" idx="10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9FFF83E2-981B-4E54-BCDF-1F254E2ED062}" type="datetime1">
              <a:rPr lang="en-US" smtClean="0"/>
              <a:t>1/12/2026</a:t>
            </a:fld>
            <a:endParaRPr/>
          </a:p>
        </p:txBody>
      </p:sp>
      <p:sp>
        <p:nvSpPr>
          <p:cNvPr id="3872" name="Google Shape;3872;p135"/>
          <p:cNvSpPr txBox="1">
            <a:spLocks noGrp="1"/>
          </p:cNvSpPr>
          <p:nvPr>
            <p:ph type="ftr" idx="11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Lec Asif Abrar, Dept of CSE, UIU</a:t>
            </a:r>
            <a:endParaRPr/>
          </a:p>
        </p:txBody>
      </p:sp>
      <p:sp>
        <p:nvSpPr>
          <p:cNvPr id="3873" name="Google Shape;3873;p135"/>
          <p:cNvSpPr txBox="1">
            <a:spLocks noGrp="1"/>
          </p:cNvSpPr>
          <p:nvPr>
            <p:ph type="sldNum" idx="12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102</a:t>
            </a:fld>
            <a:endParaRPr/>
          </a:p>
        </p:txBody>
      </p:sp>
      <p:sp>
        <p:nvSpPr>
          <p:cNvPr id="3874" name="Google Shape;3874;p135"/>
          <p:cNvSpPr txBox="1">
            <a:spLocks noGrp="1"/>
          </p:cNvSpPr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endParaRPr/>
          </a:p>
        </p:txBody>
      </p:sp>
      <p:sp>
        <p:nvSpPr>
          <p:cNvPr id="3875" name="Google Shape;3875;p135"/>
          <p:cNvSpPr/>
          <p:nvPr/>
        </p:nvSpPr>
        <p:spPr>
          <a:xfrm>
            <a:off x="4270193" y="3335875"/>
            <a:ext cx="556142" cy="509345"/>
          </a:xfrm>
          <a:prstGeom prst="ellipse">
            <a:avLst/>
          </a:prstGeom>
          <a:solidFill>
            <a:schemeClr val="accent2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90</a:t>
            </a:r>
            <a:endParaRPr/>
          </a:p>
        </p:txBody>
      </p:sp>
      <p:sp>
        <p:nvSpPr>
          <p:cNvPr id="3876" name="Google Shape;3876;p135"/>
          <p:cNvSpPr/>
          <p:nvPr/>
        </p:nvSpPr>
        <p:spPr>
          <a:xfrm>
            <a:off x="2247415" y="4097144"/>
            <a:ext cx="556142" cy="509345"/>
          </a:xfrm>
          <a:prstGeom prst="ellipse">
            <a:avLst/>
          </a:prstGeom>
          <a:solidFill>
            <a:schemeClr val="accent2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16</a:t>
            </a:r>
            <a:endParaRPr/>
          </a:p>
        </p:txBody>
      </p:sp>
      <p:sp>
        <p:nvSpPr>
          <p:cNvPr id="3877" name="Google Shape;3877;p135"/>
          <p:cNvSpPr/>
          <p:nvPr/>
        </p:nvSpPr>
        <p:spPr>
          <a:xfrm>
            <a:off x="1625939" y="4653360"/>
            <a:ext cx="556142" cy="509345"/>
          </a:xfrm>
          <a:prstGeom prst="ellipse">
            <a:avLst/>
          </a:prstGeom>
          <a:solidFill>
            <a:schemeClr val="accent2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/>
          </a:p>
        </p:txBody>
      </p:sp>
      <p:sp>
        <p:nvSpPr>
          <p:cNvPr id="3878" name="Google Shape;3878;p135"/>
          <p:cNvSpPr/>
          <p:nvPr/>
        </p:nvSpPr>
        <p:spPr>
          <a:xfrm>
            <a:off x="1072894" y="5376794"/>
            <a:ext cx="556142" cy="509345"/>
          </a:xfrm>
          <a:prstGeom prst="ellipse">
            <a:avLst/>
          </a:prstGeom>
          <a:solidFill>
            <a:schemeClr val="accent2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  <p:sp>
        <p:nvSpPr>
          <p:cNvPr id="3879" name="Google Shape;3879;p135"/>
          <p:cNvSpPr/>
          <p:nvPr/>
        </p:nvSpPr>
        <p:spPr>
          <a:xfrm>
            <a:off x="1929716" y="5417685"/>
            <a:ext cx="556142" cy="509345"/>
          </a:xfrm>
          <a:prstGeom prst="ellipse">
            <a:avLst/>
          </a:prstGeom>
          <a:solidFill>
            <a:schemeClr val="accent2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/>
          </a:p>
        </p:txBody>
      </p:sp>
      <p:sp>
        <p:nvSpPr>
          <p:cNvPr id="3880" name="Google Shape;3880;p135"/>
          <p:cNvSpPr/>
          <p:nvPr/>
        </p:nvSpPr>
        <p:spPr>
          <a:xfrm>
            <a:off x="3210468" y="4743554"/>
            <a:ext cx="556142" cy="509345"/>
          </a:xfrm>
          <a:prstGeom prst="ellipse">
            <a:avLst/>
          </a:prstGeom>
          <a:solidFill>
            <a:schemeClr val="accent2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14</a:t>
            </a:r>
            <a:endParaRPr/>
          </a:p>
        </p:txBody>
      </p:sp>
      <p:sp>
        <p:nvSpPr>
          <p:cNvPr id="3881" name="Google Shape;3881;p135"/>
          <p:cNvSpPr/>
          <p:nvPr/>
        </p:nvSpPr>
        <p:spPr>
          <a:xfrm>
            <a:off x="5698070" y="4025144"/>
            <a:ext cx="556142" cy="509345"/>
          </a:xfrm>
          <a:prstGeom prst="ellipse">
            <a:avLst/>
          </a:prstGeom>
          <a:solidFill>
            <a:schemeClr val="accent2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/>
          </a:p>
        </p:txBody>
      </p:sp>
      <p:cxnSp>
        <p:nvCxnSpPr>
          <p:cNvPr id="3882" name="Google Shape;3882;p135"/>
          <p:cNvCxnSpPr>
            <a:stCxn id="3875" idx="3"/>
            <a:endCxn id="3876" idx="7"/>
          </p:cNvCxnSpPr>
          <p:nvPr/>
        </p:nvCxnSpPr>
        <p:spPr>
          <a:xfrm flipH="1">
            <a:off x="2722038" y="3770628"/>
            <a:ext cx="1629600" cy="401100"/>
          </a:xfrm>
          <a:prstGeom prst="straightConnector1">
            <a:avLst/>
          </a:prstGeom>
          <a:solidFill>
            <a:schemeClr val="accent2"/>
          </a:solidFill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3883" name="Google Shape;3883;p135"/>
          <p:cNvCxnSpPr>
            <a:stCxn id="3881" idx="1"/>
            <a:endCxn id="3875" idx="5"/>
          </p:cNvCxnSpPr>
          <p:nvPr/>
        </p:nvCxnSpPr>
        <p:spPr>
          <a:xfrm rot="10800000">
            <a:off x="4744815" y="3770636"/>
            <a:ext cx="1034700" cy="329100"/>
          </a:xfrm>
          <a:prstGeom prst="straightConnector1">
            <a:avLst/>
          </a:prstGeom>
          <a:solidFill>
            <a:schemeClr val="accent2"/>
          </a:solidFill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3884" name="Google Shape;3884;p135"/>
          <p:cNvCxnSpPr>
            <a:stCxn id="3885" idx="0"/>
            <a:endCxn id="3881" idx="5"/>
          </p:cNvCxnSpPr>
          <p:nvPr/>
        </p:nvCxnSpPr>
        <p:spPr>
          <a:xfrm rot="10800000">
            <a:off x="6172625" y="4459883"/>
            <a:ext cx="728100" cy="286500"/>
          </a:xfrm>
          <a:prstGeom prst="straightConnector1">
            <a:avLst/>
          </a:prstGeom>
          <a:solidFill>
            <a:schemeClr val="accent2"/>
          </a:solidFill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3886" name="Google Shape;3886;p135"/>
          <p:cNvCxnSpPr>
            <a:stCxn id="3887" idx="0"/>
            <a:endCxn id="3881" idx="3"/>
          </p:cNvCxnSpPr>
          <p:nvPr/>
        </p:nvCxnSpPr>
        <p:spPr>
          <a:xfrm rot="10800000" flipH="1">
            <a:off x="5447878" y="4459986"/>
            <a:ext cx="331500" cy="200400"/>
          </a:xfrm>
          <a:prstGeom prst="straightConnector1">
            <a:avLst/>
          </a:prstGeom>
          <a:solidFill>
            <a:schemeClr val="accent2"/>
          </a:solidFill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3888" name="Google Shape;3888;p135"/>
          <p:cNvCxnSpPr>
            <a:stCxn id="3876" idx="3"/>
            <a:endCxn id="3877" idx="7"/>
          </p:cNvCxnSpPr>
          <p:nvPr/>
        </p:nvCxnSpPr>
        <p:spPr>
          <a:xfrm flipH="1">
            <a:off x="2100560" y="4531897"/>
            <a:ext cx="228300" cy="196200"/>
          </a:xfrm>
          <a:prstGeom prst="straightConnector1">
            <a:avLst/>
          </a:prstGeom>
          <a:solidFill>
            <a:schemeClr val="accent2"/>
          </a:solidFill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3889" name="Google Shape;3889;p135"/>
          <p:cNvCxnSpPr>
            <a:stCxn id="3876" idx="5"/>
            <a:endCxn id="3880" idx="1"/>
          </p:cNvCxnSpPr>
          <p:nvPr/>
        </p:nvCxnSpPr>
        <p:spPr>
          <a:xfrm>
            <a:off x="2722112" y="4531897"/>
            <a:ext cx="569700" cy="286200"/>
          </a:xfrm>
          <a:prstGeom prst="straightConnector1">
            <a:avLst/>
          </a:prstGeom>
          <a:solidFill>
            <a:schemeClr val="accent2"/>
          </a:solidFill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3890" name="Google Shape;3890;p135"/>
          <p:cNvCxnSpPr>
            <a:stCxn id="3877" idx="3"/>
            <a:endCxn id="3878" idx="7"/>
          </p:cNvCxnSpPr>
          <p:nvPr/>
        </p:nvCxnSpPr>
        <p:spPr>
          <a:xfrm flipH="1">
            <a:off x="1547484" y="5088113"/>
            <a:ext cx="159900" cy="363300"/>
          </a:xfrm>
          <a:prstGeom prst="straightConnector1">
            <a:avLst/>
          </a:prstGeom>
          <a:solidFill>
            <a:schemeClr val="accent2"/>
          </a:solidFill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3891" name="Google Shape;3891;p135"/>
          <p:cNvCxnSpPr>
            <a:stCxn id="3877" idx="5"/>
            <a:endCxn id="3879" idx="0"/>
          </p:cNvCxnSpPr>
          <p:nvPr/>
        </p:nvCxnSpPr>
        <p:spPr>
          <a:xfrm>
            <a:off x="2100636" y="5088113"/>
            <a:ext cx="107100" cy="329700"/>
          </a:xfrm>
          <a:prstGeom prst="straightConnector1">
            <a:avLst/>
          </a:prstGeom>
          <a:solidFill>
            <a:schemeClr val="accent2"/>
          </a:solidFill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3892" name="Google Shape;3892;p135"/>
          <p:cNvSpPr/>
          <p:nvPr/>
        </p:nvSpPr>
        <p:spPr>
          <a:xfrm>
            <a:off x="2604089" y="5451386"/>
            <a:ext cx="556142" cy="509345"/>
          </a:xfrm>
          <a:prstGeom prst="ellipse">
            <a:avLst/>
          </a:prstGeom>
          <a:solidFill>
            <a:schemeClr val="accent2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/>
          </a:p>
        </p:txBody>
      </p:sp>
      <p:cxnSp>
        <p:nvCxnSpPr>
          <p:cNvPr id="3893" name="Google Shape;3893;p135"/>
          <p:cNvCxnSpPr>
            <a:stCxn id="3880" idx="3"/>
            <a:endCxn id="3892" idx="7"/>
          </p:cNvCxnSpPr>
          <p:nvPr/>
        </p:nvCxnSpPr>
        <p:spPr>
          <a:xfrm flipH="1">
            <a:off x="3078913" y="5178307"/>
            <a:ext cx="213000" cy="347700"/>
          </a:xfrm>
          <a:prstGeom prst="straightConnector1">
            <a:avLst/>
          </a:prstGeom>
          <a:solidFill>
            <a:schemeClr val="accent2"/>
          </a:solidFill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3887" name="Google Shape;3887;p135"/>
          <p:cNvSpPr/>
          <p:nvPr/>
        </p:nvSpPr>
        <p:spPr>
          <a:xfrm>
            <a:off x="5169807" y="4660386"/>
            <a:ext cx="556142" cy="509345"/>
          </a:xfrm>
          <a:prstGeom prst="ellipse">
            <a:avLst/>
          </a:prstGeom>
          <a:solidFill>
            <a:schemeClr val="accent2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endParaRPr/>
          </a:p>
        </p:txBody>
      </p:sp>
      <p:sp>
        <p:nvSpPr>
          <p:cNvPr id="3885" name="Google Shape;3885;p135"/>
          <p:cNvSpPr/>
          <p:nvPr/>
        </p:nvSpPr>
        <p:spPr>
          <a:xfrm>
            <a:off x="6622654" y="4746383"/>
            <a:ext cx="556142" cy="509345"/>
          </a:xfrm>
          <a:prstGeom prst="ellipse">
            <a:avLst/>
          </a:prstGeom>
          <a:solidFill>
            <a:schemeClr val="accent2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/>
          </a:p>
        </p:txBody>
      </p:sp>
      <p:graphicFrame>
        <p:nvGraphicFramePr>
          <p:cNvPr id="3894" name="Google Shape;3894;p135"/>
          <p:cNvGraphicFramePr/>
          <p:nvPr/>
        </p:nvGraphicFramePr>
        <p:xfrm>
          <a:off x="7178796" y="1889866"/>
          <a:ext cx="4562250" cy="731540"/>
        </p:xfrm>
        <a:graphic>
          <a:graphicData uri="http://schemas.openxmlformats.org/drawingml/2006/table">
            <a:tbl>
              <a:tblPr firstRow="1" bandRow="1">
                <a:noFill/>
                <a:tableStyleId>{66088737-8E24-4614-AAA7-3D08145F63E1}</a:tableStyleId>
              </a:tblPr>
              <a:tblGrid>
                <a:gridCol w="4562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62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562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008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115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562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5622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5622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45622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45622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2914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1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2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3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4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5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6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7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8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9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10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14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u="none" strike="noStrike" cap="none">
                          <a:solidFill>
                            <a:schemeClr val="dk1"/>
                          </a:solidFill>
                        </a:rPr>
                        <a:t>16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u="none" strike="noStrike" cap="none">
                          <a:solidFill>
                            <a:schemeClr val="dk1"/>
                          </a:solidFill>
                        </a:rPr>
                        <a:t>14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u="none" strike="noStrike" cap="none">
                          <a:solidFill>
                            <a:schemeClr val="dk1"/>
                          </a:solidFill>
                        </a:rPr>
                        <a:t>10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u="none" strike="noStrike" cap="none">
                          <a:solidFill>
                            <a:schemeClr val="dk1"/>
                          </a:solidFill>
                        </a:rPr>
                        <a:t>8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u="none" strike="noStrike" cap="none">
                          <a:solidFill>
                            <a:schemeClr val="dk1"/>
                          </a:solidFill>
                        </a:rPr>
                        <a:t>7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u="none" strike="noStrike" cap="none">
                          <a:solidFill>
                            <a:schemeClr val="dk1"/>
                          </a:solidFill>
                        </a:rPr>
                        <a:t>9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u="none" strike="noStrike" cap="none">
                          <a:solidFill>
                            <a:schemeClr val="dk1"/>
                          </a:solidFill>
                        </a:rPr>
                        <a:t>3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u="none" strike="noStrike" cap="none">
                          <a:solidFill>
                            <a:schemeClr val="dk1"/>
                          </a:solidFill>
                        </a:rPr>
                        <a:t>2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u="none" strike="noStrike" cap="none">
                          <a:solidFill>
                            <a:schemeClr val="dk1"/>
                          </a:solidFill>
                        </a:rPr>
                        <a:t>4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u="none" strike="noStrike" cap="none">
                          <a:solidFill>
                            <a:schemeClr val="dk1"/>
                          </a:solidFill>
                        </a:rPr>
                        <a:t>1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3895" name="Google Shape;3895;p135"/>
          <p:cNvSpPr/>
          <p:nvPr/>
        </p:nvSpPr>
        <p:spPr>
          <a:xfrm rot="1641377">
            <a:off x="8284333" y="839121"/>
            <a:ext cx="3475953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HeapIncreaseKey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(A,10,90)</a:t>
            </a:r>
            <a:endParaRPr sz="2400" b="0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96" name="Google Shape;3896;p135"/>
          <p:cNvSpPr/>
          <p:nvPr/>
        </p:nvSpPr>
        <p:spPr>
          <a:xfrm>
            <a:off x="4145236" y="3194585"/>
            <a:ext cx="806055" cy="762953"/>
          </a:xfrm>
          <a:prstGeom prst="donut">
            <a:avLst>
              <a:gd name="adj" fmla="val 17685"/>
            </a:avLst>
          </a:prstGeom>
          <a:solidFill>
            <a:srgbClr val="FF0000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97" name="Google Shape;3897;p135"/>
          <p:cNvSpPr txBox="1"/>
          <p:nvPr/>
        </p:nvSpPr>
        <p:spPr>
          <a:xfrm>
            <a:off x="5553222" y="3110829"/>
            <a:ext cx="6336991" cy="12003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Place the new value at the index</a:t>
            </a:r>
            <a:endParaRPr/>
          </a:p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While the selected index is not a root and is greater than parent</a:t>
            </a:r>
            <a:endParaRPr/>
          </a:p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Change the values with parent</a:t>
            </a:r>
            <a:endParaRPr/>
          </a:p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parent is now the selected index</a:t>
            </a:r>
            <a:endParaRPr/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2" name="Google Shape;3902;p136"/>
          <p:cNvSpPr txBox="1">
            <a:spLocks noGrp="1"/>
          </p:cNvSpPr>
          <p:nvPr>
            <p:ph type="body" idx="1"/>
          </p:nvPr>
        </p:nvSpPr>
        <p:spPr>
          <a:xfrm>
            <a:off x="838200" y="1227909"/>
            <a:ext cx="10515600" cy="49490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1500"/>
              <a:buFont typeface="Arial"/>
              <a:buChar char="●"/>
            </a:pPr>
            <a:r>
              <a:rPr lang="en-US" sz="2000" b="1"/>
              <a:t>Priority Queue functions</a:t>
            </a:r>
            <a:endParaRPr/>
          </a:p>
          <a:p>
            <a:pPr marL="742950" lvl="1" indent="-28575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040"/>
              <a:buChar char="●"/>
            </a:pPr>
            <a:r>
              <a:rPr lang="en-US" sz="1600"/>
              <a:t>HEAP-MAXIMUM </a:t>
            </a:r>
            <a:endParaRPr/>
          </a:p>
          <a:p>
            <a:pPr marL="742950" lvl="1" indent="-28575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040"/>
              <a:buChar char="●"/>
            </a:pPr>
            <a:r>
              <a:rPr lang="en-US" sz="1600"/>
              <a:t>MAX-HEAP-INSERT</a:t>
            </a:r>
            <a:endParaRPr/>
          </a:p>
          <a:p>
            <a:pPr marL="742950" lvl="1" indent="-28575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040"/>
              <a:buChar char="●"/>
            </a:pPr>
            <a:r>
              <a:rPr lang="en-US" sz="1600"/>
              <a:t>HEAP-EXTRACT-MAX </a:t>
            </a:r>
            <a:endParaRPr/>
          </a:p>
          <a:p>
            <a:pPr marL="742950" lvl="1" indent="-28575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040"/>
              <a:buChar char="●"/>
            </a:pPr>
            <a:r>
              <a:rPr lang="en-US" sz="1600" b="1"/>
              <a:t>HEAP-INCREASE-KEY – </a:t>
            </a:r>
            <a:r>
              <a:rPr lang="en-US" sz="1600">
                <a:solidFill>
                  <a:srgbClr val="FF0000"/>
                </a:solidFill>
              </a:rPr>
              <a:t>increase the value of  a particular index</a:t>
            </a:r>
            <a:endParaRPr/>
          </a:p>
          <a:p>
            <a:pPr marL="342900" marR="0" lvl="0" indent="-20955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0033CC"/>
              </a:buClr>
              <a:buSzPts val="2100"/>
              <a:buFont typeface="Arial"/>
              <a:buNone/>
            </a:pPr>
            <a:endParaRPr/>
          </a:p>
        </p:txBody>
      </p:sp>
      <p:sp>
        <p:nvSpPr>
          <p:cNvPr id="3903" name="Google Shape;3903;p136"/>
          <p:cNvSpPr txBox="1">
            <a:spLocks noGrp="1"/>
          </p:cNvSpPr>
          <p:nvPr>
            <p:ph type="dt" idx="10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6A480832-02ED-496B-91A6-E75BDCED9879}" type="datetime1">
              <a:rPr lang="en-US" smtClean="0"/>
              <a:t>1/12/2026</a:t>
            </a:fld>
            <a:endParaRPr/>
          </a:p>
        </p:txBody>
      </p:sp>
      <p:sp>
        <p:nvSpPr>
          <p:cNvPr id="3904" name="Google Shape;3904;p136"/>
          <p:cNvSpPr txBox="1">
            <a:spLocks noGrp="1"/>
          </p:cNvSpPr>
          <p:nvPr>
            <p:ph type="ftr" idx="11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Lec Asif Abrar, Dept of CSE, UIU</a:t>
            </a:r>
            <a:endParaRPr/>
          </a:p>
        </p:txBody>
      </p:sp>
      <p:sp>
        <p:nvSpPr>
          <p:cNvPr id="3905" name="Google Shape;3905;p136"/>
          <p:cNvSpPr txBox="1">
            <a:spLocks noGrp="1"/>
          </p:cNvSpPr>
          <p:nvPr>
            <p:ph type="sldNum" idx="12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103</a:t>
            </a:fld>
            <a:endParaRPr/>
          </a:p>
        </p:txBody>
      </p:sp>
      <p:sp>
        <p:nvSpPr>
          <p:cNvPr id="3906" name="Google Shape;3906;p136"/>
          <p:cNvSpPr txBox="1">
            <a:spLocks noGrp="1"/>
          </p:cNvSpPr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endParaRPr/>
          </a:p>
        </p:txBody>
      </p:sp>
      <p:sp>
        <p:nvSpPr>
          <p:cNvPr id="3907" name="Google Shape;3907;p136"/>
          <p:cNvSpPr/>
          <p:nvPr/>
        </p:nvSpPr>
        <p:spPr>
          <a:xfrm>
            <a:off x="4270193" y="3335875"/>
            <a:ext cx="556142" cy="509345"/>
          </a:xfrm>
          <a:prstGeom prst="ellipse">
            <a:avLst/>
          </a:prstGeom>
          <a:solidFill>
            <a:schemeClr val="accent2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90</a:t>
            </a:r>
            <a:endParaRPr/>
          </a:p>
        </p:txBody>
      </p:sp>
      <p:sp>
        <p:nvSpPr>
          <p:cNvPr id="3908" name="Google Shape;3908;p136"/>
          <p:cNvSpPr/>
          <p:nvPr/>
        </p:nvSpPr>
        <p:spPr>
          <a:xfrm>
            <a:off x="2247415" y="4097144"/>
            <a:ext cx="556142" cy="509345"/>
          </a:xfrm>
          <a:prstGeom prst="ellipse">
            <a:avLst/>
          </a:prstGeom>
          <a:solidFill>
            <a:schemeClr val="accent2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16</a:t>
            </a:r>
            <a:endParaRPr/>
          </a:p>
        </p:txBody>
      </p:sp>
      <p:sp>
        <p:nvSpPr>
          <p:cNvPr id="3909" name="Google Shape;3909;p136"/>
          <p:cNvSpPr/>
          <p:nvPr/>
        </p:nvSpPr>
        <p:spPr>
          <a:xfrm>
            <a:off x="1625939" y="4653360"/>
            <a:ext cx="556142" cy="509345"/>
          </a:xfrm>
          <a:prstGeom prst="ellipse">
            <a:avLst/>
          </a:prstGeom>
          <a:solidFill>
            <a:schemeClr val="accent2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/>
          </a:p>
        </p:txBody>
      </p:sp>
      <p:sp>
        <p:nvSpPr>
          <p:cNvPr id="3910" name="Google Shape;3910;p136"/>
          <p:cNvSpPr/>
          <p:nvPr/>
        </p:nvSpPr>
        <p:spPr>
          <a:xfrm>
            <a:off x="1072894" y="5376794"/>
            <a:ext cx="556142" cy="509345"/>
          </a:xfrm>
          <a:prstGeom prst="ellipse">
            <a:avLst/>
          </a:prstGeom>
          <a:solidFill>
            <a:schemeClr val="accent2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  <p:sp>
        <p:nvSpPr>
          <p:cNvPr id="3911" name="Google Shape;3911;p136"/>
          <p:cNvSpPr/>
          <p:nvPr/>
        </p:nvSpPr>
        <p:spPr>
          <a:xfrm>
            <a:off x="1929716" y="5417685"/>
            <a:ext cx="556142" cy="509345"/>
          </a:xfrm>
          <a:prstGeom prst="ellipse">
            <a:avLst/>
          </a:prstGeom>
          <a:solidFill>
            <a:schemeClr val="accent2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/>
          </a:p>
        </p:txBody>
      </p:sp>
      <p:sp>
        <p:nvSpPr>
          <p:cNvPr id="3912" name="Google Shape;3912;p136"/>
          <p:cNvSpPr/>
          <p:nvPr/>
        </p:nvSpPr>
        <p:spPr>
          <a:xfrm>
            <a:off x="3210468" y="4743554"/>
            <a:ext cx="556142" cy="509345"/>
          </a:xfrm>
          <a:prstGeom prst="ellipse">
            <a:avLst/>
          </a:prstGeom>
          <a:solidFill>
            <a:schemeClr val="accent2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14</a:t>
            </a:r>
            <a:endParaRPr/>
          </a:p>
        </p:txBody>
      </p:sp>
      <p:sp>
        <p:nvSpPr>
          <p:cNvPr id="3913" name="Google Shape;3913;p136"/>
          <p:cNvSpPr/>
          <p:nvPr/>
        </p:nvSpPr>
        <p:spPr>
          <a:xfrm>
            <a:off x="5698070" y="4025144"/>
            <a:ext cx="556142" cy="509345"/>
          </a:xfrm>
          <a:prstGeom prst="ellipse">
            <a:avLst/>
          </a:prstGeom>
          <a:solidFill>
            <a:schemeClr val="accent2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/>
          </a:p>
        </p:txBody>
      </p:sp>
      <p:cxnSp>
        <p:nvCxnSpPr>
          <p:cNvPr id="3914" name="Google Shape;3914;p136"/>
          <p:cNvCxnSpPr>
            <a:stCxn id="3907" idx="3"/>
            <a:endCxn id="3908" idx="7"/>
          </p:cNvCxnSpPr>
          <p:nvPr/>
        </p:nvCxnSpPr>
        <p:spPr>
          <a:xfrm flipH="1">
            <a:off x="2722038" y="3770628"/>
            <a:ext cx="1629600" cy="401100"/>
          </a:xfrm>
          <a:prstGeom prst="straightConnector1">
            <a:avLst/>
          </a:prstGeom>
          <a:solidFill>
            <a:schemeClr val="accent2"/>
          </a:solidFill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3915" name="Google Shape;3915;p136"/>
          <p:cNvCxnSpPr>
            <a:stCxn id="3913" idx="1"/>
            <a:endCxn id="3907" idx="5"/>
          </p:cNvCxnSpPr>
          <p:nvPr/>
        </p:nvCxnSpPr>
        <p:spPr>
          <a:xfrm rot="10800000">
            <a:off x="4744815" y="3770636"/>
            <a:ext cx="1034700" cy="329100"/>
          </a:xfrm>
          <a:prstGeom prst="straightConnector1">
            <a:avLst/>
          </a:prstGeom>
          <a:solidFill>
            <a:schemeClr val="accent2"/>
          </a:solidFill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3916" name="Google Shape;3916;p136"/>
          <p:cNvCxnSpPr>
            <a:stCxn id="3917" idx="0"/>
            <a:endCxn id="3913" idx="5"/>
          </p:cNvCxnSpPr>
          <p:nvPr/>
        </p:nvCxnSpPr>
        <p:spPr>
          <a:xfrm rot="10800000">
            <a:off x="6172625" y="4459883"/>
            <a:ext cx="728100" cy="286500"/>
          </a:xfrm>
          <a:prstGeom prst="straightConnector1">
            <a:avLst/>
          </a:prstGeom>
          <a:solidFill>
            <a:schemeClr val="accent2"/>
          </a:solidFill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3918" name="Google Shape;3918;p136"/>
          <p:cNvCxnSpPr>
            <a:stCxn id="3919" idx="0"/>
            <a:endCxn id="3913" idx="3"/>
          </p:cNvCxnSpPr>
          <p:nvPr/>
        </p:nvCxnSpPr>
        <p:spPr>
          <a:xfrm rot="10800000" flipH="1">
            <a:off x="5447878" y="4459986"/>
            <a:ext cx="331500" cy="200400"/>
          </a:xfrm>
          <a:prstGeom prst="straightConnector1">
            <a:avLst/>
          </a:prstGeom>
          <a:solidFill>
            <a:schemeClr val="accent2"/>
          </a:solidFill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3920" name="Google Shape;3920;p136"/>
          <p:cNvCxnSpPr>
            <a:stCxn id="3908" idx="3"/>
            <a:endCxn id="3909" idx="7"/>
          </p:cNvCxnSpPr>
          <p:nvPr/>
        </p:nvCxnSpPr>
        <p:spPr>
          <a:xfrm flipH="1">
            <a:off x="2100560" y="4531897"/>
            <a:ext cx="228300" cy="196200"/>
          </a:xfrm>
          <a:prstGeom prst="straightConnector1">
            <a:avLst/>
          </a:prstGeom>
          <a:solidFill>
            <a:schemeClr val="accent2"/>
          </a:solidFill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3921" name="Google Shape;3921;p136"/>
          <p:cNvCxnSpPr>
            <a:stCxn id="3908" idx="5"/>
            <a:endCxn id="3912" idx="1"/>
          </p:cNvCxnSpPr>
          <p:nvPr/>
        </p:nvCxnSpPr>
        <p:spPr>
          <a:xfrm>
            <a:off x="2722112" y="4531897"/>
            <a:ext cx="569700" cy="286200"/>
          </a:xfrm>
          <a:prstGeom prst="straightConnector1">
            <a:avLst/>
          </a:prstGeom>
          <a:solidFill>
            <a:schemeClr val="accent2"/>
          </a:solidFill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3922" name="Google Shape;3922;p136"/>
          <p:cNvCxnSpPr>
            <a:stCxn id="3909" idx="3"/>
            <a:endCxn id="3910" idx="7"/>
          </p:cNvCxnSpPr>
          <p:nvPr/>
        </p:nvCxnSpPr>
        <p:spPr>
          <a:xfrm flipH="1">
            <a:off x="1547484" y="5088113"/>
            <a:ext cx="159900" cy="363300"/>
          </a:xfrm>
          <a:prstGeom prst="straightConnector1">
            <a:avLst/>
          </a:prstGeom>
          <a:solidFill>
            <a:schemeClr val="accent2"/>
          </a:solidFill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3923" name="Google Shape;3923;p136"/>
          <p:cNvCxnSpPr>
            <a:stCxn id="3909" idx="5"/>
            <a:endCxn id="3911" idx="0"/>
          </p:cNvCxnSpPr>
          <p:nvPr/>
        </p:nvCxnSpPr>
        <p:spPr>
          <a:xfrm>
            <a:off x="2100636" y="5088113"/>
            <a:ext cx="107100" cy="329700"/>
          </a:xfrm>
          <a:prstGeom prst="straightConnector1">
            <a:avLst/>
          </a:prstGeom>
          <a:solidFill>
            <a:schemeClr val="accent2"/>
          </a:solidFill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3924" name="Google Shape;3924;p136"/>
          <p:cNvSpPr/>
          <p:nvPr/>
        </p:nvSpPr>
        <p:spPr>
          <a:xfrm>
            <a:off x="2604089" y="5451386"/>
            <a:ext cx="556142" cy="509345"/>
          </a:xfrm>
          <a:prstGeom prst="ellipse">
            <a:avLst/>
          </a:prstGeom>
          <a:solidFill>
            <a:schemeClr val="accent2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/>
          </a:p>
        </p:txBody>
      </p:sp>
      <p:cxnSp>
        <p:nvCxnSpPr>
          <p:cNvPr id="3925" name="Google Shape;3925;p136"/>
          <p:cNvCxnSpPr>
            <a:stCxn id="3912" idx="3"/>
            <a:endCxn id="3924" idx="7"/>
          </p:cNvCxnSpPr>
          <p:nvPr/>
        </p:nvCxnSpPr>
        <p:spPr>
          <a:xfrm flipH="1">
            <a:off x="3078913" y="5178307"/>
            <a:ext cx="213000" cy="347700"/>
          </a:xfrm>
          <a:prstGeom prst="straightConnector1">
            <a:avLst/>
          </a:prstGeom>
          <a:solidFill>
            <a:schemeClr val="accent2"/>
          </a:solidFill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3919" name="Google Shape;3919;p136"/>
          <p:cNvSpPr/>
          <p:nvPr/>
        </p:nvSpPr>
        <p:spPr>
          <a:xfrm>
            <a:off x="5169807" y="4660386"/>
            <a:ext cx="556142" cy="509345"/>
          </a:xfrm>
          <a:prstGeom prst="ellipse">
            <a:avLst/>
          </a:prstGeom>
          <a:solidFill>
            <a:schemeClr val="accent2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endParaRPr/>
          </a:p>
        </p:txBody>
      </p:sp>
      <p:sp>
        <p:nvSpPr>
          <p:cNvPr id="3917" name="Google Shape;3917;p136"/>
          <p:cNvSpPr/>
          <p:nvPr/>
        </p:nvSpPr>
        <p:spPr>
          <a:xfrm>
            <a:off x="6622654" y="4746383"/>
            <a:ext cx="556142" cy="509345"/>
          </a:xfrm>
          <a:prstGeom prst="ellipse">
            <a:avLst/>
          </a:prstGeom>
          <a:solidFill>
            <a:schemeClr val="accent2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/>
          </a:p>
        </p:txBody>
      </p:sp>
      <p:graphicFrame>
        <p:nvGraphicFramePr>
          <p:cNvPr id="3926" name="Google Shape;3926;p136"/>
          <p:cNvGraphicFramePr/>
          <p:nvPr/>
        </p:nvGraphicFramePr>
        <p:xfrm>
          <a:off x="7178796" y="1889866"/>
          <a:ext cx="4562250" cy="731540"/>
        </p:xfrm>
        <a:graphic>
          <a:graphicData uri="http://schemas.openxmlformats.org/drawingml/2006/table">
            <a:tbl>
              <a:tblPr firstRow="1" bandRow="1">
                <a:noFill/>
                <a:tableStyleId>{66088737-8E24-4614-AAA7-3D08145F63E1}</a:tableStyleId>
              </a:tblPr>
              <a:tblGrid>
                <a:gridCol w="4562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62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562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008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115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562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5622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5622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45622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45622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2914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1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2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3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4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5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6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7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8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9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10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14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u="none" strike="noStrike" cap="none">
                          <a:solidFill>
                            <a:schemeClr val="dk1"/>
                          </a:solidFill>
                        </a:rPr>
                        <a:t>16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u="none" strike="noStrike" cap="none">
                          <a:solidFill>
                            <a:schemeClr val="dk1"/>
                          </a:solidFill>
                        </a:rPr>
                        <a:t>14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u="none" strike="noStrike" cap="none">
                          <a:solidFill>
                            <a:schemeClr val="dk1"/>
                          </a:solidFill>
                        </a:rPr>
                        <a:t>10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u="none" strike="noStrike" cap="none">
                          <a:solidFill>
                            <a:schemeClr val="dk1"/>
                          </a:solidFill>
                        </a:rPr>
                        <a:t>8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u="none" strike="noStrike" cap="none">
                          <a:solidFill>
                            <a:schemeClr val="dk1"/>
                          </a:solidFill>
                        </a:rPr>
                        <a:t>7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u="none" strike="noStrike" cap="none">
                          <a:solidFill>
                            <a:schemeClr val="dk1"/>
                          </a:solidFill>
                        </a:rPr>
                        <a:t>9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u="none" strike="noStrike" cap="none">
                          <a:solidFill>
                            <a:schemeClr val="dk1"/>
                          </a:solidFill>
                        </a:rPr>
                        <a:t>3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u="none" strike="noStrike" cap="none">
                          <a:solidFill>
                            <a:schemeClr val="dk1"/>
                          </a:solidFill>
                        </a:rPr>
                        <a:t>2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u="none" strike="noStrike" cap="none">
                          <a:solidFill>
                            <a:schemeClr val="dk1"/>
                          </a:solidFill>
                        </a:rPr>
                        <a:t>4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u="none" strike="noStrike" cap="none">
                          <a:solidFill>
                            <a:schemeClr val="dk1"/>
                          </a:solidFill>
                        </a:rPr>
                        <a:t>1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3927" name="Google Shape;3927;p136"/>
          <p:cNvSpPr/>
          <p:nvPr/>
        </p:nvSpPr>
        <p:spPr>
          <a:xfrm rot="1641377">
            <a:off x="8284333" y="839121"/>
            <a:ext cx="3475953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HeapIncreaseKey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(A,10,90)</a:t>
            </a:r>
            <a:endParaRPr sz="2400" b="0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928" name="Google Shape;3928;p13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493149" y="3288553"/>
            <a:ext cx="4562250" cy="2543175"/>
          </a:xfrm>
          <a:prstGeom prst="rect">
            <a:avLst/>
          </a:prstGeom>
          <a:noFill/>
          <a:ln>
            <a:noFill/>
          </a:ln>
        </p:spPr>
      </p:pic>
      <p:sp>
        <p:nvSpPr>
          <p:cNvPr id="3929" name="Google Shape;3929;p136"/>
          <p:cNvSpPr/>
          <p:nvPr/>
        </p:nvSpPr>
        <p:spPr>
          <a:xfrm>
            <a:off x="4145236" y="3194585"/>
            <a:ext cx="806055" cy="762953"/>
          </a:xfrm>
          <a:prstGeom prst="donut">
            <a:avLst>
              <a:gd name="adj" fmla="val 17685"/>
            </a:avLst>
          </a:prstGeom>
          <a:solidFill>
            <a:srgbClr val="FF0000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4" name="Google Shape;3934;p137"/>
          <p:cNvSpPr txBox="1">
            <a:spLocks noGrp="1"/>
          </p:cNvSpPr>
          <p:nvPr>
            <p:ph type="body" idx="1"/>
          </p:nvPr>
        </p:nvSpPr>
        <p:spPr>
          <a:xfrm>
            <a:off x="838200" y="1227909"/>
            <a:ext cx="10515600" cy="49490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1500"/>
              <a:buFont typeface="Arial"/>
              <a:buChar char="●"/>
            </a:pPr>
            <a:r>
              <a:rPr lang="en-US" sz="2000" b="1"/>
              <a:t>Priority Queue functions</a:t>
            </a:r>
            <a:endParaRPr/>
          </a:p>
          <a:p>
            <a:pPr marL="742950" lvl="1" indent="-28575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040"/>
              <a:buChar char="●"/>
            </a:pPr>
            <a:r>
              <a:rPr lang="en-US" sz="1600"/>
              <a:t>HEAP-MAXIMUM </a:t>
            </a:r>
            <a:endParaRPr/>
          </a:p>
          <a:p>
            <a:pPr marL="742950" lvl="1" indent="-28575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040"/>
              <a:buChar char="●"/>
            </a:pPr>
            <a:r>
              <a:rPr lang="en-US" sz="1600"/>
              <a:t>MAX-HEAP-INSERT</a:t>
            </a:r>
            <a:endParaRPr/>
          </a:p>
          <a:p>
            <a:pPr marL="742950" lvl="1" indent="-28575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040"/>
              <a:buChar char="●"/>
            </a:pPr>
            <a:r>
              <a:rPr lang="en-US" sz="1600"/>
              <a:t>HEAP-EXTRACT-MAX </a:t>
            </a:r>
            <a:endParaRPr/>
          </a:p>
          <a:p>
            <a:pPr marL="742950" lvl="1" indent="-28575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040"/>
              <a:buChar char="●"/>
            </a:pPr>
            <a:r>
              <a:rPr lang="en-US" sz="1600" b="1"/>
              <a:t>HEAP-INCREASE-KEY – </a:t>
            </a:r>
            <a:r>
              <a:rPr lang="en-US" sz="1600">
                <a:solidFill>
                  <a:srgbClr val="FF0000"/>
                </a:solidFill>
              </a:rPr>
              <a:t>increase the value of  a particular index</a:t>
            </a:r>
            <a:endParaRPr/>
          </a:p>
          <a:p>
            <a:pPr marL="342900" marR="0" lvl="0" indent="-20955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0033CC"/>
              </a:buClr>
              <a:buSzPts val="2100"/>
              <a:buFont typeface="Arial"/>
              <a:buNone/>
            </a:pPr>
            <a:endParaRPr/>
          </a:p>
        </p:txBody>
      </p:sp>
      <p:sp>
        <p:nvSpPr>
          <p:cNvPr id="3935" name="Google Shape;3935;p137"/>
          <p:cNvSpPr txBox="1">
            <a:spLocks noGrp="1"/>
          </p:cNvSpPr>
          <p:nvPr>
            <p:ph type="dt" idx="10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A84C3D63-4C56-40D3-878E-4D4EA1B83237}" type="datetime1">
              <a:rPr lang="en-US" smtClean="0"/>
              <a:t>1/12/2026</a:t>
            </a:fld>
            <a:endParaRPr/>
          </a:p>
        </p:txBody>
      </p:sp>
      <p:sp>
        <p:nvSpPr>
          <p:cNvPr id="3936" name="Google Shape;3936;p137"/>
          <p:cNvSpPr txBox="1">
            <a:spLocks noGrp="1"/>
          </p:cNvSpPr>
          <p:nvPr>
            <p:ph type="ftr" idx="11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Lec Asif Abrar, Dept of CSE, UIU</a:t>
            </a:r>
            <a:endParaRPr/>
          </a:p>
        </p:txBody>
      </p:sp>
      <p:sp>
        <p:nvSpPr>
          <p:cNvPr id="3937" name="Google Shape;3937;p137"/>
          <p:cNvSpPr txBox="1">
            <a:spLocks noGrp="1"/>
          </p:cNvSpPr>
          <p:nvPr>
            <p:ph type="sldNum" idx="12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104</a:t>
            </a:fld>
            <a:endParaRPr/>
          </a:p>
        </p:txBody>
      </p:sp>
      <p:sp>
        <p:nvSpPr>
          <p:cNvPr id="3938" name="Google Shape;3938;p137"/>
          <p:cNvSpPr txBox="1">
            <a:spLocks noGrp="1"/>
          </p:cNvSpPr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endParaRPr/>
          </a:p>
        </p:txBody>
      </p:sp>
      <p:sp>
        <p:nvSpPr>
          <p:cNvPr id="3939" name="Google Shape;3939;p137"/>
          <p:cNvSpPr/>
          <p:nvPr/>
        </p:nvSpPr>
        <p:spPr>
          <a:xfrm>
            <a:off x="4270193" y="3335875"/>
            <a:ext cx="556142" cy="509345"/>
          </a:xfrm>
          <a:prstGeom prst="ellipse">
            <a:avLst/>
          </a:prstGeom>
          <a:solidFill>
            <a:schemeClr val="accent2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90</a:t>
            </a:r>
            <a:endParaRPr/>
          </a:p>
        </p:txBody>
      </p:sp>
      <p:sp>
        <p:nvSpPr>
          <p:cNvPr id="3940" name="Google Shape;3940;p137"/>
          <p:cNvSpPr/>
          <p:nvPr/>
        </p:nvSpPr>
        <p:spPr>
          <a:xfrm>
            <a:off x="2247415" y="4097144"/>
            <a:ext cx="556142" cy="509345"/>
          </a:xfrm>
          <a:prstGeom prst="ellipse">
            <a:avLst/>
          </a:prstGeom>
          <a:solidFill>
            <a:schemeClr val="accent2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16</a:t>
            </a:r>
            <a:endParaRPr/>
          </a:p>
        </p:txBody>
      </p:sp>
      <p:sp>
        <p:nvSpPr>
          <p:cNvPr id="3941" name="Google Shape;3941;p137"/>
          <p:cNvSpPr/>
          <p:nvPr/>
        </p:nvSpPr>
        <p:spPr>
          <a:xfrm>
            <a:off x="1625939" y="4653360"/>
            <a:ext cx="556142" cy="509345"/>
          </a:xfrm>
          <a:prstGeom prst="ellipse">
            <a:avLst/>
          </a:prstGeom>
          <a:solidFill>
            <a:schemeClr val="accent2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/>
          </a:p>
        </p:txBody>
      </p:sp>
      <p:sp>
        <p:nvSpPr>
          <p:cNvPr id="3942" name="Google Shape;3942;p137"/>
          <p:cNvSpPr/>
          <p:nvPr/>
        </p:nvSpPr>
        <p:spPr>
          <a:xfrm>
            <a:off x="1072894" y="5376794"/>
            <a:ext cx="556142" cy="509345"/>
          </a:xfrm>
          <a:prstGeom prst="ellipse">
            <a:avLst/>
          </a:prstGeom>
          <a:solidFill>
            <a:schemeClr val="accent2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  <p:sp>
        <p:nvSpPr>
          <p:cNvPr id="3943" name="Google Shape;3943;p137"/>
          <p:cNvSpPr/>
          <p:nvPr/>
        </p:nvSpPr>
        <p:spPr>
          <a:xfrm>
            <a:off x="1929716" y="5417685"/>
            <a:ext cx="556142" cy="509345"/>
          </a:xfrm>
          <a:prstGeom prst="ellipse">
            <a:avLst/>
          </a:prstGeom>
          <a:solidFill>
            <a:schemeClr val="accent2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/>
          </a:p>
        </p:txBody>
      </p:sp>
      <p:sp>
        <p:nvSpPr>
          <p:cNvPr id="3944" name="Google Shape;3944;p137"/>
          <p:cNvSpPr/>
          <p:nvPr/>
        </p:nvSpPr>
        <p:spPr>
          <a:xfrm>
            <a:off x="3210468" y="4743554"/>
            <a:ext cx="556142" cy="509345"/>
          </a:xfrm>
          <a:prstGeom prst="ellipse">
            <a:avLst/>
          </a:prstGeom>
          <a:solidFill>
            <a:schemeClr val="accent2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14</a:t>
            </a:r>
            <a:endParaRPr/>
          </a:p>
        </p:txBody>
      </p:sp>
      <p:sp>
        <p:nvSpPr>
          <p:cNvPr id="3945" name="Google Shape;3945;p137"/>
          <p:cNvSpPr/>
          <p:nvPr/>
        </p:nvSpPr>
        <p:spPr>
          <a:xfrm>
            <a:off x="5698070" y="4025144"/>
            <a:ext cx="556142" cy="509345"/>
          </a:xfrm>
          <a:prstGeom prst="ellipse">
            <a:avLst/>
          </a:prstGeom>
          <a:solidFill>
            <a:schemeClr val="accent2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/>
          </a:p>
        </p:txBody>
      </p:sp>
      <p:cxnSp>
        <p:nvCxnSpPr>
          <p:cNvPr id="3946" name="Google Shape;3946;p137"/>
          <p:cNvCxnSpPr>
            <a:stCxn id="3939" idx="3"/>
            <a:endCxn id="3940" idx="7"/>
          </p:cNvCxnSpPr>
          <p:nvPr/>
        </p:nvCxnSpPr>
        <p:spPr>
          <a:xfrm flipH="1">
            <a:off x="2722038" y="3770628"/>
            <a:ext cx="1629600" cy="401100"/>
          </a:xfrm>
          <a:prstGeom prst="straightConnector1">
            <a:avLst/>
          </a:prstGeom>
          <a:solidFill>
            <a:schemeClr val="accent2"/>
          </a:solidFill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3947" name="Google Shape;3947;p137"/>
          <p:cNvCxnSpPr>
            <a:stCxn id="3945" idx="1"/>
            <a:endCxn id="3939" idx="5"/>
          </p:cNvCxnSpPr>
          <p:nvPr/>
        </p:nvCxnSpPr>
        <p:spPr>
          <a:xfrm rot="10800000">
            <a:off x="4744815" y="3770636"/>
            <a:ext cx="1034700" cy="329100"/>
          </a:xfrm>
          <a:prstGeom prst="straightConnector1">
            <a:avLst/>
          </a:prstGeom>
          <a:solidFill>
            <a:schemeClr val="accent2"/>
          </a:solidFill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3948" name="Google Shape;3948;p137"/>
          <p:cNvCxnSpPr>
            <a:stCxn id="3949" idx="0"/>
            <a:endCxn id="3945" idx="5"/>
          </p:cNvCxnSpPr>
          <p:nvPr/>
        </p:nvCxnSpPr>
        <p:spPr>
          <a:xfrm rot="10800000">
            <a:off x="6172625" y="4459883"/>
            <a:ext cx="728100" cy="286500"/>
          </a:xfrm>
          <a:prstGeom prst="straightConnector1">
            <a:avLst/>
          </a:prstGeom>
          <a:solidFill>
            <a:schemeClr val="accent2"/>
          </a:solidFill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3950" name="Google Shape;3950;p137"/>
          <p:cNvCxnSpPr>
            <a:stCxn id="3951" idx="0"/>
            <a:endCxn id="3945" idx="3"/>
          </p:cNvCxnSpPr>
          <p:nvPr/>
        </p:nvCxnSpPr>
        <p:spPr>
          <a:xfrm rot="10800000" flipH="1">
            <a:off x="5447878" y="4459986"/>
            <a:ext cx="331500" cy="200400"/>
          </a:xfrm>
          <a:prstGeom prst="straightConnector1">
            <a:avLst/>
          </a:prstGeom>
          <a:solidFill>
            <a:schemeClr val="accent2"/>
          </a:solidFill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3952" name="Google Shape;3952;p137"/>
          <p:cNvCxnSpPr>
            <a:stCxn id="3940" idx="3"/>
            <a:endCxn id="3941" idx="7"/>
          </p:cNvCxnSpPr>
          <p:nvPr/>
        </p:nvCxnSpPr>
        <p:spPr>
          <a:xfrm flipH="1">
            <a:off x="2100560" y="4531897"/>
            <a:ext cx="228300" cy="196200"/>
          </a:xfrm>
          <a:prstGeom prst="straightConnector1">
            <a:avLst/>
          </a:prstGeom>
          <a:solidFill>
            <a:schemeClr val="accent2"/>
          </a:solidFill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3953" name="Google Shape;3953;p137"/>
          <p:cNvCxnSpPr>
            <a:stCxn id="3940" idx="5"/>
            <a:endCxn id="3944" idx="1"/>
          </p:cNvCxnSpPr>
          <p:nvPr/>
        </p:nvCxnSpPr>
        <p:spPr>
          <a:xfrm>
            <a:off x="2722112" y="4531897"/>
            <a:ext cx="569700" cy="286200"/>
          </a:xfrm>
          <a:prstGeom prst="straightConnector1">
            <a:avLst/>
          </a:prstGeom>
          <a:solidFill>
            <a:schemeClr val="accent2"/>
          </a:solidFill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3954" name="Google Shape;3954;p137"/>
          <p:cNvCxnSpPr>
            <a:stCxn id="3941" idx="3"/>
            <a:endCxn id="3942" idx="7"/>
          </p:cNvCxnSpPr>
          <p:nvPr/>
        </p:nvCxnSpPr>
        <p:spPr>
          <a:xfrm flipH="1">
            <a:off x="1547484" y="5088113"/>
            <a:ext cx="159900" cy="363300"/>
          </a:xfrm>
          <a:prstGeom prst="straightConnector1">
            <a:avLst/>
          </a:prstGeom>
          <a:solidFill>
            <a:schemeClr val="accent2"/>
          </a:solidFill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3955" name="Google Shape;3955;p137"/>
          <p:cNvCxnSpPr>
            <a:stCxn id="3941" idx="5"/>
            <a:endCxn id="3943" idx="0"/>
          </p:cNvCxnSpPr>
          <p:nvPr/>
        </p:nvCxnSpPr>
        <p:spPr>
          <a:xfrm>
            <a:off x="2100636" y="5088113"/>
            <a:ext cx="107100" cy="329700"/>
          </a:xfrm>
          <a:prstGeom prst="straightConnector1">
            <a:avLst/>
          </a:prstGeom>
          <a:solidFill>
            <a:schemeClr val="accent2"/>
          </a:solidFill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3956" name="Google Shape;3956;p137"/>
          <p:cNvSpPr/>
          <p:nvPr/>
        </p:nvSpPr>
        <p:spPr>
          <a:xfrm>
            <a:off x="2604089" y="5451386"/>
            <a:ext cx="556142" cy="509345"/>
          </a:xfrm>
          <a:prstGeom prst="ellipse">
            <a:avLst/>
          </a:prstGeom>
          <a:solidFill>
            <a:schemeClr val="accent2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/>
          </a:p>
        </p:txBody>
      </p:sp>
      <p:cxnSp>
        <p:nvCxnSpPr>
          <p:cNvPr id="3957" name="Google Shape;3957;p137"/>
          <p:cNvCxnSpPr>
            <a:stCxn id="3944" idx="3"/>
            <a:endCxn id="3956" idx="7"/>
          </p:cNvCxnSpPr>
          <p:nvPr/>
        </p:nvCxnSpPr>
        <p:spPr>
          <a:xfrm flipH="1">
            <a:off x="3078913" y="5178307"/>
            <a:ext cx="213000" cy="347700"/>
          </a:xfrm>
          <a:prstGeom prst="straightConnector1">
            <a:avLst/>
          </a:prstGeom>
          <a:solidFill>
            <a:schemeClr val="accent2"/>
          </a:solidFill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3951" name="Google Shape;3951;p137"/>
          <p:cNvSpPr/>
          <p:nvPr/>
        </p:nvSpPr>
        <p:spPr>
          <a:xfrm>
            <a:off x="5169807" y="4660386"/>
            <a:ext cx="556142" cy="509345"/>
          </a:xfrm>
          <a:prstGeom prst="ellipse">
            <a:avLst/>
          </a:prstGeom>
          <a:solidFill>
            <a:schemeClr val="accent2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endParaRPr/>
          </a:p>
        </p:txBody>
      </p:sp>
      <p:sp>
        <p:nvSpPr>
          <p:cNvPr id="3949" name="Google Shape;3949;p137"/>
          <p:cNvSpPr/>
          <p:nvPr/>
        </p:nvSpPr>
        <p:spPr>
          <a:xfrm>
            <a:off x="6622654" y="4746383"/>
            <a:ext cx="556142" cy="509345"/>
          </a:xfrm>
          <a:prstGeom prst="ellipse">
            <a:avLst/>
          </a:prstGeom>
          <a:solidFill>
            <a:schemeClr val="accent2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/>
          </a:p>
        </p:txBody>
      </p:sp>
      <p:graphicFrame>
        <p:nvGraphicFramePr>
          <p:cNvPr id="3958" name="Google Shape;3958;p137"/>
          <p:cNvGraphicFramePr/>
          <p:nvPr/>
        </p:nvGraphicFramePr>
        <p:xfrm>
          <a:off x="7178796" y="1889866"/>
          <a:ext cx="4562250" cy="731540"/>
        </p:xfrm>
        <a:graphic>
          <a:graphicData uri="http://schemas.openxmlformats.org/drawingml/2006/table">
            <a:tbl>
              <a:tblPr firstRow="1" bandRow="1">
                <a:noFill/>
                <a:tableStyleId>{66088737-8E24-4614-AAA7-3D08145F63E1}</a:tableStyleId>
              </a:tblPr>
              <a:tblGrid>
                <a:gridCol w="4562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62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562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008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115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562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5622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5622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45622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45622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2914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1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2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3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4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5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6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7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8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9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10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14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u="none" strike="noStrike" cap="none">
                          <a:solidFill>
                            <a:schemeClr val="dk1"/>
                          </a:solidFill>
                        </a:rPr>
                        <a:t>16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u="none" strike="noStrike" cap="none">
                          <a:solidFill>
                            <a:schemeClr val="dk1"/>
                          </a:solidFill>
                        </a:rPr>
                        <a:t>14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u="none" strike="noStrike" cap="none">
                          <a:solidFill>
                            <a:schemeClr val="dk1"/>
                          </a:solidFill>
                        </a:rPr>
                        <a:t>10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u="none" strike="noStrike" cap="none">
                          <a:solidFill>
                            <a:schemeClr val="dk1"/>
                          </a:solidFill>
                        </a:rPr>
                        <a:t>8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u="none" strike="noStrike" cap="none">
                          <a:solidFill>
                            <a:schemeClr val="dk1"/>
                          </a:solidFill>
                        </a:rPr>
                        <a:t>7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u="none" strike="noStrike" cap="none">
                          <a:solidFill>
                            <a:schemeClr val="dk1"/>
                          </a:solidFill>
                        </a:rPr>
                        <a:t>9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u="none" strike="noStrike" cap="none">
                          <a:solidFill>
                            <a:schemeClr val="dk1"/>
                          </a:solidFill>
                        </a:rPr>
                        <a:t>3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u="none" strike="noStrike" cap="none">
                          <a:solidFill>
                            <a:schemeClr val="dk1"/>
                          </a:solidFill>
                        </a:rPr>
                        <a:t>2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u="none" strike="noStrike" cap="none">
                          <a:solidFill>
                            <a:schemeClr val="dk1"/>
                          </a:solidFill>
                        </a:rPr>
                        <a:t>4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u="none" strike="noStrike" cap="none">
                          <a:solidFill>
                            <a:schemeClr val="dk1"/>
                          </a:solidFill>
                        </a:rPr>
                        <a:t>1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3959" name="Google Shape;3959;p137"/>
          <p:cNvSpPr/>
          <p:nvPr/>
        </p:nvSpPr>
        <p:spPr>
          <a:xfrm rot="1641377">
            <a:off x="8284333" y="839121"/>
            <a:ext cx="3475953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HeapIncreaseKey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(A,10,90)</a:t>
            </a:r>
            <a:endParaRPr sz="2400" b="0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60" name="Google Shape;3960;p137"/>
          <p:cNvSpPr/>
          <p:nvPr/>
        </p:nvSpPr>
        <p:spPr>
          <a:xfrm>
            <a:off x="4145236" y="3208329"/>
            <a:ext cx="806055" cy="762953"/>
          </a:xfrm>
          <a:prstGeom prst="donut">
            <a:avLst>
              <a:gd name="adj" fmla="val 17685"/>
            </a:avLst>
          </a:prstGeom>
          <a:solidFill>
            <a:srgbClr val="FF0000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961" name="Google Shape;3961;p13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493149" y="3288553"/>
            <a:ext cx="4562250" cy="2543175"/>
          </a:xfrm>
          <a:prstGeom prst="rect">
            <a:avLst/>
          </a:prstGeom>
          <a:noFill/>
          <a:ln>
            <a:noFill/>
          </a:ln>
        </p:spPr>
      </p:pic>
      <p:sp>
        <p:nvSpPr>
          <p:cNvPr id="3962" name="Google Shape;3962;p137"/>
          <p:cNvSpPr/>
          <p:nvPr/>
        </p:nvSpPr>
        <p:spPr>
          <a:xfrm>
            <a:off x="3444181" y="5865446"/>
            <a:ext cx="5620065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cap="non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Climbs the height of the tree – O(logn) time</a:t>
            </a:r>
            <a:endParaRPr/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7" name="Google Shape;3967;p138"/>
          <p:cNvSpPr txBox="1">
            <a:spLocks noGrp="1"/>
          </p:cNvSpPr>
          <p:nvPr>
            <p:ph type="body" idx="1"/>
          </p:nvPr>
        </p:nvSpPr>
        <p:spPr>
          <a:xfrm>
            <a:off x="838200" y="1227909"/>
            <a:ext cx="10515600" cy="49490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1500"/>
              <a:buFont typeface="Arial"/>
              <a:buChar char="●"/>
            </a:pPr>
            <a:r>
              <a:rPr lang="en-US" sz="2000" b="1"/>
              <a:t>Priority Queue functions</a:t>
            </a:r>
            <a:endParaRPr/>
          </a:p>
          <a:p>
            <a:pPr marL="742950" lvl="1" indent="-28575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040"/>
              <a:buChar char="●"/>
            </a:pPr>
            <a:r>
              <a:rPr lang="en-US" sz="1600"/>
              <a:t>HEAP-MAXIMUM </a:t>
            </a:r>
            <a:endParaRPr/>
          </a:p>
          <a:p>
            <a:pPr marL="742950" lvl="1" indent="-28575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040"/>
              <a:buChar char="●"/>
            </a:pPr>
            <a:r>
              <a:rPr lang="en-US" sz="1600" b="1"/>
              <a:t>MAX-HEAP-INSERT</a:t>
            </a:r>
            <a:endParaRPr/>
          </a:p>
          <a:p>
            <a:pPr marL="742950" lvl="1" indent="-28575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040"/>
              <a:buChar char="●"/>
            </a:pPr>
            <a:r>
              <a:rPr lang="en-US" sz="1600"/>
              <a:t>HEAP-EXTRACT-MAX</a:t>
            </a:r>
            <a:endParaRPr/>
          </a:p>
          <a:p>
            <a:pPr marL="742950" lvl="1" indent="-28575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040"/>
              <a:buChar char="●"/>
            </a:pPr>
            <a:r>
              <a:rPr lang="en-US" sz="1600"/>
              <a:t>HEAP-INCREASE-KEY</a:t>
            </a:r>
            <a:endParaRPr/>
          </a:p>
        </p:txBody>
      </p:sp>
      <p:sp>
        <p:nvSpPr>
          <p:cNvPr id="3968" name="Google Shape;3968;p138"/>
          <p:cNvSpPr txBox="1">
            <a:spLocks noGrp="1"/>
          </p:cNvSpPr>
          <p:nvPr>
            <p:ph type="dt" idx="10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451BD32E-5BC7-44F9-B4F0-7FFE07F2B010}" type="datetime1">
              <a:rPr lang="en-US" smtClean="0"/>
              <a:t>1/12/2026</a:t>
            </a:fld>
            <a:endParaRPr/>
          </a:p>
        </p:txBody>
      </p:sp>
      <p:sp>
        <p:nvSpPr>
          <p:cNvPr id="3969" name="Google Shape;3969;p138"/>
          <p:cNvSpPr txBox="1">
            <a:spLocks noGrp="1"/>
          </p:cNvSpPr>
          <p:nvPr>
            <p:ph type="ftr" idx="11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Lec Asif Abrar, Dept of CSE, UIU</a:t>
            </a:r>
            <a:endParaRPr/>
          </a:p>
        </p:txBody>
      </p:sp>
      <p:sp>
        <p:nvSpPr>
          <p:cNvPr id="3970" name="Google Shape;3970;p138"/>
          <p:cNvSpPr txBox="1">
            <a:spLocks noGrp="1"/>
          </p:cNvSpPr>
          <p:nvPr>
            <p:ph type="sldNum" idx="12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105</a:t>
            </a:fld>
            <a:endParaRPr/>
          </a:p>
        </p:txBody>
      </p:sp>
      <p:sp>
        <p:nvSpPr>
          <p:cNvPr id="3971" name="Google Shape;3971;p138"/>
          <p:cNvSpPr txBox="1">
            <a:spLocks noGrp="1"/>
          </p:cNvSpPr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/>
              <a:t>Max heap as a priority queue</a:t>
            </a:r>
            <a:endParaRPr/>
          </a:p>
        </p:txBody>
      </p:sp>
      <p:sp>
        <p:nvSpPr>
          <p:cNvPr id="3972" name="Google Shape;3972;p138"/>
          <p:cNvSpPr/>
          <p:nvPr/>
        </p:nvSpPr>
        <p:spPr>
          <a:xfrm>
            <a:off x="4270193" y="3335875"/>
            <a:ext cx="556142" cy="509345"/>
          </a:xfrm>
          <a:prstGeom prst="ellipse">
            <a:avLst/>
          </a:prstGeom>
          <a:solidFill>
            <a:schemeClr val="accent2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16</a:t>
            </a:r>
            <a:endParaRPr/>
          </a:p>
        </p:txBody>
      </p:sp>
      <p:sp>
        <p:nvSpPr>
          <p:cNvPr id="3973" name="Google Shape;3973;p138"/>
          <p:cNvSpPr/>
          <p:nvPr/>
        </p:nvSpPr>
        <p:spPr>
          <a:xfrm>
            <a:off x="2247415" y="4097144"/>
            <a:ext cx="556142" cy="509345"/>
          </a:xfrm>
          <a:prstGeom prst="ellipse">
            <a:avLst/>
          </a:prstGeom>
          <a:solidFill>
            <a:schemeClr val="accent2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14</a:t>
            </a:r>
            <a:endParaRPr/>
          </a:p>
        </p:txBody>
      </p:sp>
      <p:sp>
        <p:nvSpPr>
          <p:cNvPr id="3974" name="Google Shape;3974;p138"/>
          <p:cNvSpPr/>
          <p:nvPr/>
        </p:nvSpPr>
        <p:spPr>
          <a:xfrm>
            <a:off x="1625939" y="4653360"/>
            <a:ext cx="556142" cy="509345"/>
          </a:xfrm>
          <a:prstGeom prst="ellipse">
            <a:avLst/>
          </a:prstGeom>
          <a:solidFill>
            <a:schemeClr val="accent2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/>
          </a:p>
        </p:txBody>
      </p:sp>
      <p:sp>
        <p:nvSpPr>
          <p:cNvPr id="3975" name="Google Shape;3975;p138"/>
          <p:cNvSpPr/>
          <p:nvPr/>
        </p:nvSpPr>
        <p:spPr>
          <a:xfrm>
            <a:off x="1072894" y="5376794"/>
            <a:ext cx="556142" cy="509345"/>
          </a:xfrm>
          <a:prstGeom prst="ellipse">
            <a:avLst/>
          </a:prstGeom>
          <a:solidFill>
            <a:schemeClr val="accent2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  <p:sp>
        <p:nvSpPr>
          <p:cNvPr id="3976" name="Google Shape;3976;p138"/>
          <p:cNvSpPr/>
          <p:nvPr/>
        </p:nvSpPr>
        <p:spPr>
          <a:xfrm>
            <a:off x="1929716" y="5417685"/>
            <a:ext cx="556142" cy="509345"/>
          </a:xfrm>
          <a:prstGeom prst="ellipse">
            <a:avLst/>
          </a:prstGeom>
          <a:solidFill>
            <a:schemeClr val="accent2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/>
          </a:p>
        </p:txBody>
      </p:sp>
      <p:sp>
        <p:nvSpPr>
          <p:cNvPr id="3977" name="Google Shape;3977;p138"/>
          <p:cNvSpPr/>
          <p:nvPr/>
        </p:nvSpPr>
        <p:spPr>
          <a:xfrm>
            <a:off x="3210468" y="4743554"/>
            <a:ext cx="556142" cy="509345"/>
          </a:xfrm>
          <a:prstGeom prst="ellipse">
            <a:avLst/>
          </a:prstGeom>
          <a:solidFill>
            <a:schemeClr val="accent2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/>
          </a:p>
        </p:txBody>
      </p:sp>
      <p:sp>
        <p:nvSpPr>
          <p:cNvPr id="3978" name="Google Shape;3978;p138"/>
          <p:cNvSpPr/>
          <p:nvPr/>
        </p:nvSpPr>
        <p:spPr>
          <a:xfrm>
            <a:off x="5698070" y="4025144"/>
            <a:ext cx="556142" cy="509345"/>
          </a:xfrm>
          <a:prstGeom prst="ellipse">
            <a:avLst/>
          </a:prstGeom>
          <a:solidFill>
            <a:schemeClr val="accent2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/>
          </a:p>
        </p:txBody>
      </p:sp>
      <p:cxnSp>
        <p:nvCxnSpPr>
          <p:cNvPr id="3979" name="Google Shape;3979;p138"/>
          <p:cNvCxnSpPr>
            <a:stCxn id="3972" idx="3"/>
            <a:endCxn id="3973" idx="7"/>
          </p:cNvCxnSpPr>
          <p:nvPr/>
        </p:nvCxnSpPr>
        <p:spPr>
          <a:xfrm flipH="1">
            <a:off x="2722038" y="3770628"/>
            <a:ext cx="1629600" cy="401100"/>
          </a:xfrm>
          <a:prstGeom prst="straightConnector1">
            <a:avLst/>
          </a:prstGeom>
          <a:solidFill>
            <a:schemeClr val="accent2"/>
          </a:solidFill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3980" name="Google Shape;3980;p138"/>
          <p:cNvCxnSpPr>
            <a:stCxn id="3978" idx="1"/>
            <a:endCxn id="3972" idx="5"/>
          </p:cNvCxnSpPr>
          <p:nvPr/>
        </p:nvCxnSpPr>
        <p:spPr>
          <a:xfrm rot="10800000">
            <a:off x="4744815" y="3770636"/>
            <a:ext cx="1034700" cy="329100"/>
          </a:xfrm>
          <a:prstGeom prst="straightConnector1">
            <a:avLst/>
          </a:prstGeom>
          <a:solidFill>
            <a:schemeClr val="accent2"/>
          </a:solidFill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3981" name="Google Shape;3981;p138"/>
          <p:cNvCxnSpPr>
            <a:stCxn id="3982" idx="0"/>
            <a:endCxn id="3978" idx="5"/>
          </p:cNvCxnSpPr>
          <p:nvPr/>
        </p:nvCxnSpPr>
        <p:spPr>
          <a:xfrm rot="10800000">
            <a:off x="6172625" y="4459883"/>
            <a:ext cx="728100" cy="286500"/>
          </a:xfrm>
          <a:prstGeom prst="straightConnector1">
            <a:avLst/>
          </a:prstGeom>
          <a:solidFill>
            <a:schemeClr val="accent2"/>
          </a:solidFill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3983" name="Google Shape;3983;p138"/>
          <p:cNvCxnSpPr>
            <a:stCxn id="3984" idx="0"/>
            <a:endCxn id="3978" idx="3"/>
          </p:cNvCxnSpPr>
          <p:nvPr/>
        </p:nvCxnSpPr>
        <p:spPr>
          <a:xfrm rot="10800000" flipH="1">
            <a:off x="5447878" y="4459986"/>
            <a:ext cx="331500" cy="200400"/>
          </a:xfrm>
          <a:prstGeom prst="straightConnector1">
            <a:avLst/>
          </a:prstGeom>
          <a:solidFill>
            <a:schemeClr val="accent2"/>
          </a:solidFill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3985" name="Google Shape;3985;p138"/>
          <p:cNvCxnSpPr>
            <a:stCxn id="3973" idx="3"/>
            <a:endCxn id="3974" idx="7"/>
          </p:cNvCxnSpPr>
          <p:nvPr/>
        </p:nvCxnSpPr>
        <p:spPr>
          <a:xfrm flipH="1">
            <a:off x="2100560" y="4531897"/>
            <a:ext cx="228300" cy="196200"/>
          </a:xfrm>
          <a:prstGeom prst="straightConnector1">
            <a:avLst/>
          </a:prstGeom>
          <a:solidFill>
            <a:schemeClr val="accent2"/>
          </a:solidFill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3986" name="Google Shape;3986;p138"/>
          <p:cNvCxnSpPr>
            <a:stCxn id="3973" idx="5"/>
            <a:endCxn id="3977" idx="1"/>
          </p:cNvCxnSpPr>
          <p:nvPr/>
        </p:nvCxnSpPr>
        <p:spPr>
          <a:xfrm>
            <a:off x="2722112" y="4531897"/>
            <a:ext cx="569700" cy="286200"/>
          </a:xfrm>
          <a:prstGeom prst="straightConnector1">
            <a:avLst/>
          </a:prstGeom>
          <a:solidFill>
            <a:schemeClr val="accent2"/>
          </a:solidFill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3987" name="Google Shape;3987;p138"/>
          <p:cNvCxnSpPr>
            <a:stCxn id="3974" idx="3"/>
            <a:endCxn id="3975" idx="7"/>
          </p:cNvCxnSpPr>
          <p:nvPr/>
        </p:nvCxnSpPr>
        <p:spPr>
          <a:xfrm flipH="1">
            <a:off x="1547484" y="5088113"/>
            <a:ext cx="159900" cy="363300"/>
          </a:xfrm>
          <a:prstGeom prst="straightConnector1">
            <a:avLst/>
          </a:prstGeom>
          <a:solidFill>
            <a:schemeClr val="accent2"/>
          </a:solidFill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3988" name="Google Shape;3988;p138"/>
          <p:cNvCxnSpPr>
            <a:stCxn id="3974" idx="5"/>
            <a:endCxn id="3976" idx="0"/>
          </p:cNvCxnSpPr>
          <p:nvPr/>
        </p:nvCxnSpPr>
        <p:spPr>
          <a:xfrm>
            <a:off x="2100636" y="5088113"/>
            <a:ext cx="107100" cy="329700"/>
          </a:xfrm>
          <a:prstGeom prst="straightConnector1">
            <a:avLst/>
          </a:prstGeom>
          <a:solidFill>
            <a:schemeClr val="accent2"/>
          </a:solidFill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3989" name="Google Shape;3989;p138"/>
          <p:cNvSpPr/>
          <p:nvPr/>
        </p:nvSpPr>
        <p:spPr>
          <a:xfrm>
            <a:off x="2604089" y="5451386"/>
            <a:ext cx="556142" cy="509345"/>
          </a:xfrm>
          <a:prstGeom prst="ellipse">
            <a:avLst/>
          </a:prstGeom>
          <a:solidFill>
            <a:schemeClr val="accent2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cxnSp>
        <p:nvCxnSpPr>
          <p:cNvPr id="3990" name="Google Shape;3990;p138"/>
          <p:cNvCxnSpPr>
            <a:stCxn id="3977" idx="3"/>
            <a:endCxn id="3989" idx="7"/>
          </p:cNvCxnSpPr>
          <p:nvPr/>
        </p:nvCxnSpPr>
        <p:spPr>
          <a:xfrm flipH="1">
            <a:off x="3078913" y="5178307"/>
            <a:ext cx="213000" cy="347700"/>
          </a:xfrm>
          <a:prstGeom prst="straightConnector1">
            <a:avLst/>
          </a:prstGeom>
          <a:solidFill>
            <a:schemeClr val="accent2"/>
          </a:solidFill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3984" name="Google Shape;3984;p138"/>
          <p:cNvSpPr/>
          <p:nvPr/>
        </p:nvSpPr>
        <p:spPr>
          <a:xfrm>
            <a:off x="5169807" y="4660386"/>
            <a:ext cx="556142" cy="509345"/>
          </a:xfrm>
          <a:prstGeom prst="ellipse">
            <a:avLst/>
          </a:prstGeom>
          <a:solidFill>
            <a:schemeClr val="accent2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endParaRPr/>
          </a:p>
        </p:txBody>
      </p:sp>
      <p:sp>
        <p:nvSpPr>
          <p:cNvPr id="3982" name="Google Shape;3982;p138"/>
          <p:cNvSpPr/>
          <p:nvPr/>
        </p:nvSpPr>
        <p:spPr>
          <a:xfrm>
            <a:off x="6622654" y="4746383"/>
            <a:ext cx="556142" cy="509345"/>
          </a:xfrm>
          <a:prstGeom prst="ellipse">
            <a:avLst/>
          </a:prstGeom>
          <a:solidFill>
            <a:schemeClr val="accent2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/>
          </a:p>
        </p:txBody>
      </p:sp>
      <p:sp>
        <p:nvSpPr>
          <p:cNvPr id="3991" name="Google Shape;3991;p138"/>
          <p:cNvSpPr/>
          <p:nvPr/>
        </p:nvSpPr>
        <p:spPr>
          <a:xfrm>
            <a:off x="6884435" y="1093648"/>
            <a:ext cx="4497258" cy="8309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Initially the array must 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be a max heap (run a max heapify)</a:t>
            </a:r>
            <a:endParaRPr/>
          </a:p>
        </p:txBody>
      </p:sp>
      <p:graphicFrame>
        <p:nvGraphicFramePr>
          <p:cNvPr id="3992" name="Google Shape;3992;p138"/>
          <p:cNvGraphicFramePr/>
          <p:nvPr/>
        </p:nvGraphicFramePr>
        <p:xfrm>
          <a:off x="6851939" y="2264136"/>
          <a:ext cx="4562250" cy="731540"/>
        </p:xfrm>
        <a:graphic>
          <a:graphicData uri="http://schemas.openxmlformats.org/drawingml/2006/table">
            <a:tbl>
              <a:tblPr firstRow="1" bandRow="1">
                <a:noFill/>
                <a:tableStyleId>{66088737-8E24-4614-AAA7-3D08145F63E1}</a:tableStyleId>
              </a:tblPr>
              <a:tblGrid>
                <a:gridCol w="4562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62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562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008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115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562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5622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5622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45622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45622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2914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1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2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3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4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5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6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7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8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9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10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14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u="none" strike="noStrike" cap="none">
                          <a:solidFill>
                            <a:schemeClr val="dk1"/>
                          </a:solidFill>
                        </a:rPr>
                        <a:t>16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u="none" strike="noStrike" cap="none">
                          <a:solidFill>
                            <a:schemeClr val="dk1"/>
                          </a:solidFill>
                        </a:rPr>
                        <a:t>14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u="none" strike="noStrike" cap="none">
                          <a:solidFill>
                            <a:schemeClr val="dk1"/>
                          </a:solidFill>
                        </a:rPr>
                        <a:t>10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u="none" strike="noStrike" cap="none">
                          <a:solidFill>
                            <a:schemeClr val="dk1"/>
                          </a:solidFill>
                        </a:rPr>
                        <a:t>8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u="none" strike="noStrike" cap="none">
                          <a:solidFill>
                            <a:schemeClr val="dk1"/>
                          </a:solidFill>
                        </a:rPr>
                        <a:t>7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u="none" strike="noStrike" cap="none">
                          <a:solidFill>
                            <a:schemeClr val="dk1"/>
                          </a:solidFill>
                        </a:rPr>
                        <a:t>9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u="none" strike="noStrike" cap="none">
                          <a:solidFill>
                            <a:schemeClr val="dk1"/>
                          </a:solidFill>
                        </a:rPr>
                        <a:t>3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u="none" strike="noStrike" cap="none">
                          <a:solidFill>
                            <a:schemeClr val="dk1"/>
                          </a:solidFill>
                        </a:rPr>
                        <a:t>2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u="none" strike="noStrike" cap="none">
                          <a:solidFill>
                            <a:schemeClr val="dk1"/>
                          </a:solidFill>
                        </a:rPr>
                        <a:t>4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u="none" strike="noStrike" cap="none">
                          <a:solidFill>
                            <a:schemeClr val="dk1"/>
                          </a:solidFill>
                        </a:rPr>
                        <a:t>1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7" name="Google Shape;3997;p139"/>
          <p:cNvSpPr txBox="1">
            <a:spLocks noGrp="1"/>
          </p:cNvSpPr>
          <p:nvPr>
            <p:ph type="body" idx="1"/>
          </p:nvPr>
        </p:nvSpPr>
        <p:spPr>
          <a:xfrm>
            <a:off x="838200" y="1227909"/>
            <a:ext cx="10515600" cy="49490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1500"/>
              <a:buFont typeface="Arial"/>
              <a:buChar char="●"/>
            </a:pPr>
            <a:r>
              <a:rPr lang="en-US" sz="2000" b="1"/>
              <a:t>Priority Queue functions</a:t>
            </a:r>
            <a:endParaRPr/>
          </a:p>
          <a:p>
            <a:pPr marL="742950" lvl="1" indent="-28575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040"/>
              <a:buChar char="●"/>
            </a:pPr>
            <a:r>
              <a:rPr lang="en-US" sz="1600"/>
              <a:t>HEAP-MAXIMUM </a:t>
            </a:r>
            <a:endParaRPr/>
          </a:p>
          <a:p>
            <a:pPr marL="742950" lvl="1" indent="-28575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040"/>
              <a:buChar char="●"/>
            </a:pPr>
            <a:r>
              <a:rPr lang="en-US" sz="1600" b="1"/>
              <a:t>MAX-HEAP-INSERT</a:t>
            </a:r>
            <a:endParaRPr/>
          </a:p>
          <a:p>
            <a:pPr marL="742950" lvl="1" indent="-28575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040"/>
              <a:buChar char="●"/>
            </a:pPr>
            <a:r>
              <a:rPr lang="en-US" sz="1600"/>
              <a:t>HEAP-EXTRACT-MAX</a:t>
            </a:r>
            <a:endParaRPr/>
          </a:p>
          <a:p>
            <a:pPr marL="742950" lvl="1" indent="-28575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040"/>
              <a:buChar char="●"/>
            </a:pPr>
            <a:r>
              <a:rPr lang="en-US" sz="1600"/>
              <a:t>HEAP-INCREASE-KEY</a:t>
            </a:r>
            <a:endParaRPr/>
          </a:p>
        </p:txBody>
      </p:sp>
      <p:sp>
        <p:nvSpPr>
          <p:cNvPr id="3998" name="Google Shape;3998;p139"/>
          <p:cNvSpPr txBox="1">
            <a:spLocks noGrp="1"/>
          </p:cNvSpPr>
          <p:nvPr>
            <p:ph type="dt" idx="10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42FB19B5-9C43-400A-B765-F6951F3CB6FA}" type="datetime1">
              <a:rPr lang="en-US" smtClean="0"/>
              <a:t>1/12/2026</a:t>
            </a:fld>
            <a:endParaRPr/>
          </a:p>
        </p:txBody>
      </p:sp>
      <p:sp>
        <p:nvSpPr>
          <p:cNvPr id="3999" name="Google Shape;3999;p139"/>
          <p:cNvSpPr txBox="1">
            <a:spLocks noGrp="1"/>
          </p:cNvSpPr>
          <p:nvPr>
            <p:ph type="ftr" idx="11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Lec Asif Abrar, Dept of CSE, UIU</a:t>
            </a:r>
            <a:endParaRPr/>
          </a:p>
        </p:txBody>
      </p:sp>
      <p:sp>
        <p:nvSpPr>
          <p:cNvPr id="4000" name="Google Shape;4000;p139"/>
          <p:cNvSpPr txBox="1">
            <a:spLocks noGrp="1"/>
          </p:cNvSpPr>
          <p:nvPr>
            <p:ph type="sldNum" idx="12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106</a:t>
            </a:fld>
            <a:endParaRPr/>
          </a:p>
        </p:txBody>
      </p:sp>
      <p:sp>
        <p:nvSpPr>
          <p:cNvPr id="4001" name="Google Shape;4001;p139"/>
          <p:cNvSpPr txBox="1">
            <a:spLocks noGrp="1"/>
          </p:cNvSpPr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/>
              <a:t>Max heap as a priority queue</a:t>
            </a:r>
            <a:endParaRPr/>
          </a:p>
        </p:txBody>
      </p:sp>
      <p:sp>
        <p:nvSpPr>
          <p:cNvPr id="4002" name="Google Shape;4002;p139"/>
          <p:cNvSpPr/>
          <p:nvPr/>
        </p:nvSpPr>
        <p:spPr>
          <a:xfrm>
            <a:off x="4270193" y="3335875"/>
            <a:ext cx="556142" cy="509345"/>
          </a:xfrm>
          <a:prstGeom prst="ellipse">
            <a:avLst/>
          </a:prstGeom>
          <a:solidFill>
            <a:schemeClr val="accent2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16</a:t>
            </a:r>
            <a:endParaRPr/>
          </a:p>
        </p:txBody>
      </p:sp>
      <p:sp>
        <p:nvSpPr>
          <p:cNvPr id="4003" name="Google Shape;4003;p139"/>
          <p:cNvSpPr/>
          <p:nvPr/>
        </p:nvSpPr>
        <p:spPr>
          <a:xfrm>
            <a:off x="2247415" y="4097144"/>
            <a:ext cx="556142" cy="509345"/>
          </a:xfrm>
          <a:prstGeom prst="ellipse">
            <a:avLst/>
          </a:prstGeom>
          <a:solidFill>
            <a:schemeClr val="accent2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14</a:t>
            </a:r>
            <a:endParaRPr/>
          </a:p>
        </p:txBody>
      </p:sp>
      <p:sp>
        <p:nvSpPr>
          <p:cNvPr id="4004" name="Google Shape;4004;p139"/>
          <p:cNvSpPr/>
          <p:nvPr/>
        </p:nvSpPr>
        <p:spPr>
          <a:xfrm>
            <a:off x="1625939" y="4653360"/>
            <a:ext cx="556142" cy="509345"/>
          </a:xfrm>
          <a:prstGeom prst="ellipse">
            <a:avLst/>
          </a:prstGeom>
          <a:solidFill>
            <a:schemeClr val="accent2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/>
          </a:p>
        </p:txBody>
      </p:sp>
      <p:sp>
        <p:nvSpPr>
          <p:cNvPr id="4005" name="Google Shape;4005;p139"/>
          <p:cNvSpPr/>
          <p:nvPr/>
        </p:nvSpPr>
        <p:spPr>
          <a:xfrm>
            <a:off x="1072894" y="5376794"/>
            <a:ext cx="556142" cy="509345"/>
          </a:xfrm>
          <a:prstGeom prst="ellipse">
            <a:avLst/>
          </a:prstGeom>
          <a:solidFill>
            <a:schemeClr val="accent2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  <p:sp>
        <p:nvSpPr>
          <p:cNvPr id="4006" name="Google Shape;4006;p139"/>
          <p:cNvSpPr/>
          <p:nvPr/>
        </p:nvSpPr>
        <p:spPr>
          <a:xfrm>
            <a:off x="1929716" y="5417685"/>
            <a:ext cx="556142" cy="509345"/>
          </a:xfrm>
          <a:prstGeom prst="ellipse">
            <a:avLst/>
          </a:prstGeom>
          <a:solidFill>
            <a:schemeClr val="accent2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/>
          </a:p>
        </p:txBody>
      </p:sp>
      <p:sp>
        <p:nvSpPr>
          <p:cNvPr id="4007" name="Google Shape;4007;p139"/>
          <p:cNvSpPr/>
          <p:nvPr/>
        </p:nvSpPr>
        <p:spPr>
          <a:xfrm>
            <a:off x="3210468" y="4743554"/>
            <a:ext cx="556142" cy="509345"/>
          </a:xfrm>
          <a:prstGeom prst="ellipse">
            <a:avLst/>
          </a:prstGeom>
          <a:solidFill>
            <a:schemeClr val="accent2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/>
          </a:p>
        </p:txBody>
      </p:sp>
      <p:sp>
        <p:nvSpPr>
          <p:cNvPr id="4008" name="Google Shape;4008;p139"/>
          <p:cNvSpPr/>
          <p:nvPr/>
        </p:nvSpPr>
        <p:spPr>
          <a:xfrm>
            <a:off x="5698070" y="4025144"/>
            <a:ext cx="556142" cy="509345"/>
          </a:xfrm>
          <a:prstGeom prst="ellipse">
            <a:avLst/>
          </a:prstGeom>
          <a:solidFill>
            <a:schemeClr val="accent2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/>
          </a:p>
        </p:txBody>
      </p:sp>
      <p:cxnSp>
        <p:nvCxnSpPr>
          <p:cNvPr id="4009" name="Google Shape;4009;p139"/>
          <p:cNvCxnSpPr>
            <a:stCxn id="4002" idx="3"/>
            <a:endCxn id="4003" idx="7"/>
          </p:cNvCxnSpPr>
          <p:nvPr/>
        </p:nvCxnSpPr>
        <p:spPr>
          <a:xfrm flipH="1">
            <a:off x="2722038" y="3770628"/>
            <a:ext cx="1629600" cy="401100"/>
          </a:xfrm>
          <a:prstGeom prst="straightConnector1">
            <a:avLst/>
          </a:prstGeom>
          <a:solidFill>
            <a:schemeClr val="accent2"/>
          </a:solidFill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4010" name="Google Shape;4010;p139"/>
          <p:cNvCxnSpPr>
            <a:stCxn id="4008" idx="1"/>
            <a:endCxn id="4002" idx="5"/>
          </p:cNvCxnSpPr>
          <p:nvPr/>
        </p:nvCxnSpPr>
        <p:spPr>
          <a:xfrm rot="10800000">
            <a:off x="4744815" y="3770636"/>
            <a:ext cx="1034700" cy="329100"/>
          </a:xfrm>
          <a:prstGeom prst="straightConnector1">
            <a:avLst/>
          </a:prstGeom>
          <a:solidFill>
            <a:schemeClr val="accent2"/>
          </a:solidFill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4011" name="Google Shape;4011;p139"/>
          <p:cNvCxnSpPr>
            <a:stCxn id="4012" idx="0"/>
            <a:endCxn id="4008" idx="5"/>
          </p:cNvCxnSpPr>
          <p:nvPr/>
        </p:nvCxnSpPr>
        <p:spPr>
          <a:xfrm rot="10800000">
            <a:off x="6172625" y="4459883"/>
            <a:ext cx="728100" cy="286500"/>
          </a:xfrm>
          <a:prstGeom prst="straightConnector1">
            <a:avLst/>
          </a:prstGeom>
          <a:solidFill>
            <a:schemeClr val="accent2"/>
          </a:solidFill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4013" name="Google Shape;4013;p139"/>
          <p:cNvCxnSpPr>
            <a:stCxn id="4014" idx="0"/>
            <a:endCxn id="4008" idx="3"/>
          </p:cNvCxnSpPr>
          <p:nvPr/>
        </p:nvCxnSpPr>
        <p:spPr>
          <a:xfrm rot="10800000" flipH="1">
            <a:off x="5447878" y="4459986"/>
            <a:ext cx="331500" cy="200400"/>
          </a:xfrm>
          <a:prstGeom prst="straightConnector1">
            <a:avLst/>
          </a:prstGeom>
          <a:solidFill>
            <a:schemeClr val="accent2"/>
          </a:solidFill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4015" name="Google Shape;4015;p139"/>
          <p:cNvCxnSpPr>
            <a:stCxn id="4003" idx="3"/>
            <a:endCxn id="4004" idx="7"/>
          </p:cNvCxnSpPr>
          <p:nvPr/>
        </p:nvCxnSpPr>
        <p:spPr>
          <a:xfrm flipH="1">
            <a:off x="2100560" y="4531897"/>
            <a:ext cx="228300" cy="196200"/>
          </a:xfrm>
          <a:prstGeom prst="straightConnector1">
            <a:avLst/>
          </a:prstGeom>
          <a:solidFill>
            <a:schemeClr val="accent2"/>
          </a:solidFill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4016" name="Google Shape;4016;p139"/>
          <p:cNvCxnSpPr>
            <a:stCxn id="4003" idx="5"/>
            <a:endCxn id="4007" idx="1"/>
          </p:cNvCxnSpPr>
          <p:nvPr/>
        </p:nvCxnSpPr>
        <p:spPr>
          <a:xfrm>
            <a:off x="2722112" y="4531897"/>
            <a:ext cx="569700" cy="286200"/>
          </a:xfrm>
          <a:prstGeom prst="straightConnector1">
            <a:avLst/>
          </a:prstGeom>
          <a:solidFill>
            <a:schemeClr val="accent2"/>
          </a:solidFill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4017" name="Google Shape;4017;p139"/>
          <p:cNvCxnSpPr>
            <a:stCxn id="4004" idx="3"/>
            <a:endCxn id="4005" idx="7"/>
          </p:cNvCxnSpPr>
          <p:nvPr/>
        </p:nvCxnSpPr>
        <p:spPr>
          <a:xfrm flipH="1">
            <a:off x="1547484" y="5088113"/>
            <a:ext cx="159900" cy="363300"/>
          </a:xfrm>
          <a:prstGeom prst="straightConnector1">
            <a:avLst/>
          </a:prstGeom>
          <a:solidFill>
            <a:schemeClr val="accent2"/>
          </a:solidFill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4018" name="Google Shape;4018;p139"/>
          <p:cNvCxnSpPr>
            <a:stCxn id="4004" idx="5"/>
            <a:endCxn id="4006" idx="0"/>
          </p:cNvCxnSpPr>
          <p:nvPr/>
        </p:nvCxnSpPr>
        <p:spPr>
          <a:xfrm>
            <a:off x="2100636" y="5088113"/>
            <a:ext cx="107100" cy="329700"/>
          </a:xfrm>
          <a:prstGeom prst="straightConnector1">
            <a:avLst/>
          </a:prstGeom>
          <a:solidFill>
            <a:schemeClr val="accent2"/>
          </a:solidFill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4019" name="Google Shape;4019;p139"/>
          <p:cNvSpPr/>
          <p:nvPr/>
        </p:nvSpPr>
        <p:spPr>
          <a:xfrm>
            <a:off x="2604089" y="5451386"/>
            <a:ext cx="556142" cy="509345"/>
          </a:xfrm>
          <a:prstGeom prst="ellipse">
            <a:avLst/>
          </a:prstGeom>
          <a:solidFill>
            <a:schemeClr val="accent2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cxnSp>
        <p:nvCxnSpPr>
          <p:cNvPr id="4020" name="Google Shape;4020;p139"/>
          <p:cNvCxnSpPr>
            <a:stCxn id="4007" idx="3"/>
            <a:endCxn id="4019" idx="7"/>
          </p:cNvCxnSpPr>
          <p:nvPr/>
        </p:nvCxnSpPr>
        <p:spPr>
          <a:xfrm flipH="1">
            <a:off x="3078913" y="5178307"/>
            <a:ext cx="213000" cy="347700"/>
          </a:xfrm>
          <a:prstGeom prst="straightConnector1">
            <a:avLst/>
          </a:prstGeom>
          <a:solidFill>
            <a:schemeClr val="accent2"/>
          </a:solidFill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4014" name="Google Shape;4014;p139"/>
          <p:cNvSpPr/>
          <p:nvPr/>
        </p:nvSpPr>
        <p:spPr>
          <a:xfrm>
            <a:off x="5169807" y="4660386"/>
            <a:ext cx="556142" cy="509345"/>
          </a:xfrm>
          <a:prstGeom prst="ellipse">
            <a:avLst/>
          </a:prstGeom>
          <a:solidFill>
            <a:schemeClr val="accent2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endParaRPr/>
          </a:p>
        </p:txBody>
      </p:sp>
      <p:sp>
        <p:nvSpPr>
          <p:cNvPr id="4012" name="Google Shape;4012;p139"/>
          <p:cNvSpPr/>
          <p:nvPr/>
        </p:nvSpPr>
        <p:spPr>
          <a:xfrm>
            <a:off x="6622654" y="4746383"/>
            <a:ext cx="556142" cy="509345"/>
          </a:xfrm>
          <a:prstGeom prst="ellipse">
            <a:avLst/>
          </a:prstGeom>
          <a:solidFill>
            <a:schemeClr val="accent2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/>
          </a:p>
        </p:txBody>
      </p:sp>
      <p:sp>
        <p:nvSpPr>
          <p:cNvPr id="4021" name="Google Shape;4021;p139"/>
          <p:cNvSpPr/>
          <p:nvPr/>
        </p:nvSpPr>
        <p:spPr>
          <a:xfrm rot="1132606">
            <a:off x="7377045" y="1346966"/>
            <a:ext cx="3764300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Heap Increase Key (A, heapsize, new value)</a:t>
            </a:r>
            <a:endParaRPr/>
          </a:p>
        </p:txBody>
      </p:sp>
      <p:graphicFrame>
        <p:nvGraphicFramePr>
          <p:cNvPr id="4022" name="Google Shape;4022;p139"/>
          <p:cNvGraphicFramePr/>
          <p:nvPr/>
        </p:nvGraphicFramePr>
        <p:xfrm>
          <a:off x="6096000" y="2285354"/>
          <a:ext cx="5177150" cy="731540"/>
        </p:xfrm>
        <a:graphic>
          <a:graphicData uri="http://schemas.openxmlformats.org/drawingml/2006/table">
            <a:tbl>
              <a:tblPr firstRow="1" bandRow="1">
                <a:noFill/>
                <a:tableStyleId>{66088737-8E24-4614-AAA7-3D08145F63E1}</a:tableStyleId>
              </a:tblPr>
              <a:tblGrid>
                <a:gridCol w="4706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06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706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135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77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706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706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7065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47065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47065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47065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</a:tblGrid>
              <a:tr h="2914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1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2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3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4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5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6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7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8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9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10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11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14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u="none" strike="noStrike" cap="none">
                          <a:solidFill>
                            <a:schemeClr val="dk1"/>
                          </a:solidFill>
                        </a:rPr>
                        <a:t>16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u="none" strike="noStrike" cap="none">
                          <a:solidFill>
                            <a:schemeClr val="dk1"/>
                          </a:solidFill>
                        </a:rPr>
                        <a:t>14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u="none" strike="noStrike" cap="none">
                          <a:solidFill>
                            <a:schemeClr val="dk1"/>
                          </a:solidFill>
                        </a:rPr>
                        <a:t>10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u="none" strike="noStrike" cap="none">
                          <a:solidFill>
                            <a:schemeClr val="dk1"/>
                          </a:solidFill>
                        </a:rPr>
                        <a:t>8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u="none" strike="noStrike" cap="none">
                          <a:solidFill>
                            <a:schemeClr val="dk1"/>
                          </a:solidFill>
                        </a:rPr>
                        <a:t>7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u="none" strike="noStrike" cap="none">
                          <a:solidFill>
                            <a:schemeClr val="dk1"/>
                          </a:solidFill>
                        </a:rPr>
                        <a:t>9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u="none" strike="noStrike" cap="none">
                          <a:solidFill>
                            <a:schemeClr val="dk1"/>
                          </a:solidFill>
                        </a:rPr>
                        <a:t>3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u="none" strike="noStrike" cap="none">
                          <a:solidFill>
                            <a:schemeClr val="dk1"/>
                          </a:solidFill>
                        </a:rPr>
                        <a:t>2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u="none" strike="noStrike" cap="none">
                          <a:solidFill>
                            <a:schemeClr val="dk1"/>
                          </a:solidFill>
                        </a:rPr>
                        <a:t>4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u="none" strike="noStrike" cap="none">
                          <a:solidFill>
                            <a:schemeClr val="dk1"/>
                          </a:solidFill>
                        </a:rPr>
                        <a:t>1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 u="none" strike="noStrike" cap="none">
                          <a:solidFill>
                            <a:schemeClr val="dk1"/>
                          </a:solidFill>
                        </a:rPr>
                        <a:t>-inf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4023" name="Google Shape;4023;p139"/>
          <p:cNvSpPr/>
          <p:nvPr/>
        </p:nvSpPr>
        <p:spPr>
          <a:xfrm>
            <a:off x="3787115" y="5581420"/>
            <a:ext cx="748848" cy="509345"/>
          </a:xfrm>
          <a:prstGeom prst="ellipse">
            <a:avLst/>
          </a:prstGeom>
          <a:solidFill>
            <a:schemeClr val="dk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-INF</a:t>
            </a:r>
            <a:endParaRPr/>
          </a:p>
        </p:txBody>
      </p:sp>
      <p:cxnSp>
        <p:nvCxnSpPr>
          <p:cNvPr id="4024" name="Google Shape;4024;p139"/>
          <p:cNvCxnSpPr>
            <a:stCxn id="4007" idx="5"/>
            <a:endCxn id="4023" idx="0"/>
          </p:cNvCxnSpPr>
          <p:nvPr/>
        </p:nvCxnSpPr>
        <p:spPr>
          <a:xfrm>
            <a:off x="3685165" y="5178307"/>
            <a:ext cx="476400" cy="403200"/>
          </a:xfrm>
          <a:prstGeom prst="straightConnector1">
            <a:avLst/>
          </a:prstGeom>
          <a:solidFill>
            <a:schemeClr val="accent2"/>
          </a:solidFill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</p:spTree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9" name="Google Shape;4029;p140"/>
          <p:cNvSpPr txBox="1">
            <a:spLocks noGrp="1"/>
          </p:cNvSpPr>
          <p:nvPr>
            <p:ph type="body" idx="1"/>
          </p:nvPr>
        </p:nvSpPr>
        <p:spPr>
          <a:xfrm>
            <a:off x="838200" y="1227909"/>
            <a:ext cx="10515600" cy="49490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1500"/>
              <a:buFont typeface="Arial"/>
              <a:buChar char="●"/>
            </a:pPr>
            <a:r>
              <a:rPr lang="en-US" sz="2000" b="1"/>
              <a:t>Priority Queue functions</a:t>
            </a:r>
            <a:endParaRPr/>
          </a:p>
          <a:p>
            <a:pPr marL="742950" lvl="1" indent="-28575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040"/>
              <a:buChar char="●"/>
            </a:pPr>
            <a:r>
              <a:rPr lang="en-US" sz="1600"/>
              <a:t>HEAP-MAXIMUM </a:t>
            </a:r>
            <a:endParaRPr/>
          </a:p>
          <a:p>
            <a:pPr marL="742950" lvl="1" indent="-28575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040"/>
              <a:buChar char="●"/>
            </a:pPr>
            <a:r>
              <a:rPr lang="en-US" sz="1600" b="1"/>
              <a:t>MAX-HEAP-INSERT</a:t>
            </a:r>
            <a:endParaRPr/>
          </a:p>
          <a:p>
            <a:pPr marL="742950" lvl="1" indent="-28575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040"/>
              <a:buChar char="●"/>
            </a:pPr>
            <a:r>
              <a:rPr lang="en-US" sz="1600"/>
              <a:t>HEAP-EXTRACT-MAX</a:t>
            </a:r>
            <a:endParaRPr/>
          </a:p>
          <a:p>
            <a:pPr marL="742950" lvl="1" indent="-28575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040"/>
              <a:buChar char="●"/>
            </a:pPr>
            <a:r>
              <a:rPr lang="en-US" sz="1600"/>
              <a:t>HEAP-INCREASE-KEY</a:t>
            </a:r>
            <a:endParaRPr/>
          </a:p>
        </p:txBody>
      </p:sp>
      <p:sp>
        <p:nvSpPr>
          <p:cNvPr id="4030" name="Google Shape;4030;p140"/>
          <p:cNvSpPr txBox="1">
            <a:spLocks noGrp="1"/>
          </p:cNvSpPr>
          <p:nvPr>
            <p:ph type="dt" idx="10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C15E82EC-8155-4C85-94CD-CD02B4583585}" type="datetime1">
              <a:rPr lang="en-US" smtClean="0"/>
              <a:t>1/12/2026</a:t>
            </a:fld>
            <a:endParaRPr/>
          </a:p>
        </p:txBody>
      </p:sp>
      <p:sp>
        <p:nvSpPr>
          <p:cNvPr id="4031" name="Google Shape;4031;p140"/>
          <p:cNvSpPr txBox="1">
            <a:spLocks noGrp="1"/>
          </p:cNvSpPr>
          <p:nvPr>
            <p:ph type="ftr" idx="11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Lec Asif Abrar, Dept of CSE, UIU</a:t>
            </a:r>
            <a:endParaRPr/>
          </a:p>
        </p:txBody>
      </p:sp>
      <p:sp>
        <p:nvSpPr>
          <p:cNvPr id="4032" name="Google Shape;4032;p140"/>
          <p:cNvSpPr txBox="1">
            <a:spLocks noGrp="1"/>
          </p:cNvSpPr>
          <p:nvPr>
            <p:ph type="sldNum" idx="12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107</a:t>
            </a:fld>
            <a:endParaRPr/>
          </a:p>
        </p:txBody>
      </p:sp>
      <p:sp>
        <p:nvSpPr>
          <p:cNvPr id="4033" name="Google Shape;4033;p140"/>
          <p:cNvSpPr txBox="1">
            <a:spLocks noGrp="1"/>
          </p:cNvSpPr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/>
              <a:t>Max heap as a priority queue</a:t>
            </a:r>
            <a:endParaRPr/>
          </a:p>
        </p:txBody>
      </p:sp>
      <p:sp>
        <p:nvSpPr>
          <p:cNvPr id="4034" name="Google Shape;4034;p140"/>
          <p:cNvSpPr/>
          <p:nvPr/>
        </p:nvSpPr>
        <p:spPr>
          <a:xfrm>
            <a:off x="4270193" y="3335875"/>
            <a:ext cx="556142" cy="509345"/>
          </a:xfrm>
          <a:prstGeom prst="ellipse">
            <a:avLst/>
          </a:prstGeom>
          <a:solidFill>
            <a:schemeClr val="accent2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16</a:t>
            </a:r>
            <a:endParaRPr/>
          </a:p>
        </p:txBody>
      </p:sp>
      <p:sp>
        <p:nvSpPr>
          <p:cNvPr id="4035" name="Google Shape;4035;p140"/>
          <p:cNvSpPr/>
          <p:nvPr/>
        </p:nvSpPr>
        <p:spPr>
          <a:xfrm>
            <a:off x="2247415" y="4097144"/>
            <a:ext cx="556142" cy="509345"/>
          </a:xfrm>
          <a:prstGeom prst="ellipse">
            <a:avLst/>
          </a:prstGeom>
          <a:solidFill>
            <a:schemeClr val="accent2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14</a:t>
            </a:r>
            <a:endParaRPr/>
          </a:p>
        </p:txBody>
      </p:sp>
      <p:sp>
        <p:nvSpPr>
          <p:cNvPr id="4036" name="Google Shape;4036;p140"/>
          <p:cNvSpPr/>
          <p:nvPr/>
        </p:nvSpPr>
        <p:spPr>
          <a:xfrm>
            <a:off x="1625939" y="4653360"/>
            <a:ext cx="556142" cy="509345"/>
          </a:xfrm>
          <a:prstGeom prst="ellipse">
            <a:avLst/>
          </a:prstGeom>
          <a:solidFill>
            <a:schemeClr val="accent2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/>
          </a:p>
        </p:txBody>
      </p:sp>
      <p:sp>
        <p:nvSpPr>
          <p:cNvPr id="4037" name="Google Shape;4037;p140"/>
          <p:cNvSpPr/>
          <p:nvPr/>
        </p:nvSpPr>
        <p:spPr>
          <a:xfrm>
            <a:off x="1072894" y="5376794"/>
            <a:ext cx="556142" cy="509345"/>
          </a:xfrm>
          <a:prstGeom prst="ellipse">
            <a:avLst/>
          </a:prstGeom>
          <a:solidFill>
            <a:schemeClr val="accent2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  <p:sp>
        <p:nvSpPr>
          <p:cNvPr id="4038" name="Google Shape;4038;p140"/>
          <p:cNvSpPr/>
          <p:nvPr/>
        </p:nvSpPr>
        <p:spPr>
          <a:xfrm>
            <a:off x="1929716" y="5417685"/>
            <a:ext cx="556142" cy="509345"/>
          </a:xfrm>
          <a:prstGeom prst="ellipse">
            <a:avLst/>
          </a:prstGeom>
          <a:solidFill>
            <a:schemeClr val="accent2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/>
          </a:p>
        </p:txBody>
      </p:sp>
      <p:sp>
        <p:nvSpPr>
          <p:cNvPr id="4039" name="Google Shape;4039;p140"/>
          <p:cNvSpPr/>
          <p:nvPr/>
        </p:nvSpPr>
        <p:spPr>
          <a:xfrm>
            <a:off x="3210468" y="4743554"/>
            <a:ext cx="556142" cy="509345"/>
          </a:xfrm>
          <a:prstGeom prst="ellipse">
            <a:avLst/>
          </a:prstGeom>
          <a:solidFill>
            <a:schemeClr val="accent2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/>
          </a:p>
        </p:txBody>
      </p:sp>
      <p:sp>
        <p:nvSpPr>
          <p:cNvPr id="4040" name="Google Shape;4040;p140"/>
          <p:cNvSpPr/>
          <p:nvPr/>
        </p:nvSpPr>
        <p:spPr>
          <a:xfrm>
            <a:off x="5698070" y="4025144"/>
            <a:ext cx="556142" cy="509345"/>
          </a:xfrm>
          <a:prstGeom prst="ellipse">
            <a:avLst/>
          </a:prstGeom>
          <a:solidFill>
            <a:schemeClr val="accent2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/>
          </a:p>
        </p:txBody>
      </p:sp>
      <p:cxnSp>
        <p:nvCxnSpPr>
          <p:cNvPr id="4041" name="Google Shape;4041;p140"/>
          <p:cNvCxnSpPr>
            <a:stCxn id="4034" idx="3"/>
            <a:endCxn id="4035" idx="7"/>
          </p:cNvCxnSpPr>
          <p:nvPr/>
        </p:nvCxnSpPr>
        <p:spPr>
          <a:xfrm flipH="1">
            <a:off x="2722038" y="3770628"/>
            <a:ext cx="1629600" cy="401100"/>
          </a:xfrm>
          <a:prstGeom prst="straightConnector1">
            <a:avLst/>
          </a:prstGeom>
          <a:solidFill>
            <a:schemeClr val="accent2"/>
          </a:solidFill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4042" name="Google Shape;4042;p140"/>
          <p:cNvCxnSpPr>
            <a:stCxn id="4040" idx="1"/>
            <a:endCxn id="4034" idx="5"/>
          </p:cNvCxnSpPr>
          <p:nvPr/>
        </p:nvCxnSpPr>
        <p:spPr>
          <a:xfrm rot="10800000">
            <a:off x="4744815" y="3770636"/>
            <a:ext cx="1034700" cy="329100"/>
          </a:xfrm>
          <a:prstGeom prst="straightConnector1">
            <a:avLst/>
          </a:prstGeom>
          <a:solidFill>
            <a:schemeClr val="accent2"/>
          </a:solidFill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4043" name="Google Shape;4043;p140"/>
          <p:cNvCxnSpPr>
            <a:stCxn id="4044" idx="0"/>
            <a:endCxn id="4040" idx="5"/>
          </p:cNvCxnSpPr>
          <p:nvPr/>
        </p:nvCxnSpPr>
        <p:spPr>
          <a:xfrm rot="10800000">
            <a:off x="6172625" y="4459883"/>
            <a:ext cx="728100" cy="286500"/>
          </a:xfrm>
          <a:prstGeom prst="straightConnector1">
            <a:avLst/>
          </a:prstGeom>
          <a:solidFill>
            <a:schemeClr val="accent2"/>
          </a:solidFill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4045" name="Google Shape;4045;p140"/>
          <p:cNvCxnSpPr>
            <a:stCxn id="4046" idx="0"/>
            <a:endCxn id="4040" idx="3"/>
          </p:cNvCxnSpPr>
          <p:nvPr/>
        </p:nvCxnSpPr>
        <p:spPr>
          <a:xfrm rot="10800000" flipH="1">
            <a:off x="5447878" y="4459986"/>
            <a:ext cx="331500" cy="200400"/>
          </a:xfrm>
          <a:prstGeom prst="straightConnector1">
            <a:avLst/>
          </a:prstGeom>
          <a:solidFill>
            <a:schemeClr val="accent2"/>
          </a:solidFill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4047" name="Google Shape;4047;p140"/>
          <p:cNvCxnSpPr>
            <a:stCxn id="4035" idx="3"/>
            <a:endCxn id="4036" idx="7"/>
          </p:cNvCxnSpPr>
          <p:nvPr/>
        </p:nvCxnSpPr>
        <p:spPr>
          <a:xfrm flipH="1">
            <a:off x="2100560" y="4531897"/>
            <a:ext cx="228300" cy="196200"/>
          </a:xfrm>
          <a:prstGeom prst="straightConnector1">
            <a:avLst/>
          </a:prstGeom>
          <a:solidFill>
            <a:schemeClr val="accent2"/>
          </a:solidFill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4048" name="Google Shape;4048;p140"/>
          <p:cNvCxnSpPr>
            <a:stCxn id="4035" idx="5"/>
            <a:endCxn id="4039" idx="1"/>
          </p:cNvCxnSpPr>
          <p:nvPr/>
        </p:nvCxnSpPr>
        <p:spPr>
          <a:xfrm>
            <a:off x="2722112" y="4531897"/>
            <a:ext cx="569700" cy="286200"/>
          </a:xfrm>
          <a:prstGeom prst="straightConnector1">
            <a:avLst/>
          </a:prstGeom>
          <a:solidFill>
            <a:schemeClr val="accent2"/>
          </a:solidFill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4049" name="Google Shape;4049;p140"/>
          <p:cNvCxnSpPr>
            <a:stCxn id="4036" idx="3"/>
            <a:endCxn id="4037" idx="7"/>
          </p:cNvCxnSpPr>
          <p:nvPr/>
        </p:nvCxnSpPr>
        <p:spPr>
          <a:xfrm flipH="1">
            <a:off x="1547484" y="5088113"/>
            <a:ext cx="159900" cy="363300"/>
          </a:xfrm>
          <a:prstGeom prst="straightConnector1">
            <a:avLst/>
          </a:prstGeom>
          <a:solidFill>
            <a:schemeClr val="accent2"/>
          </a:solidFill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4050" name="Google Shape;4050;p140"/>
          <p:cNvCxnSpPr>
            <a:stCxn id="4036" idx="5"/>
            <a:endCxn id="4038" idx="0"/>
          </p:cNvCxnSpPr>
          <p:nvPr/>
        </p:nvCxnSpPr>
        <p:spPr>
          <a:xfrm>
            <a:off x="2100636" y="5088113"/>
            <a:ext cx="107100" cy="329700"/>
          </a:xfrm>
          <a:prstGeom prst="straightConnector1">
            <a:avLst/>
          </a:prstGeom>
          <a:solidFill>
            <a:schemeClr val="accent2"/>
          </a:solidFill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4051" name="Google Shape;4051;p140"/>
          <p:cNvSpPr/>
          <p:nvPr/>
        </p:nvSpPr>
        <p:spPr>
          <a:xfrm>
            <a:off x="2604089" y="5451386"/>
            <a:ext cx="556142" cy="509345"/>
          </a:xfrm>
          <a:prstGeom prst="ellipse">
            <a:avLst/>
          </a:prstGeom>
          <a:solidFill>
            <a:schemeClr val="accent2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cxnSp>
        <p:nvCxnSpPr>
          <p:cNvPr id="4052" name="Google Shape;4052;p140"/>
          <p:cNvCxnSpPr>
            <a:stCxn id="4039" idx="3"/>
            <a:endCxn id="4051" idx="7"/>
          </p:cNvCxnSpPr>
          <p:nvPr/>
        </p:nvCxnSpPr>
        <p:spPr>
          <a:xfrm flipH="1">
            <a:off x="3078913" y="5178307"/>
            <a:ext cx="213000" cy="347700"/>
          </a:xfrm>
          <a:prstGeom prst="straightConnector1">
            <a:avLst/>
          </a:prstGeom>
          <a:solidFill>
            <a:schemeClr val="accent2"/>
          </a:solidFill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4046" name="Google Shape;4046;p140"/>
          <p:cNvSpPr/>
          <p:nvPr/>
        </p:nvSpPr>
        <p:spPr>
          <a:xfrm>
            <a:off x="5169807" y="4660386"/>
            <a:ext cx="556142" cy="509345"/>
          </a:xfrm>
          <a:prstGeom prst="ellipse">
            <a:avLst/>
          </a:prstGeom>
          <a:solidFill>
            <a:schemeClr val="accent2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endParaRPr/>
          </a:p>
        </p:txBody>
      </p:sp>
      <p:sp>
        <p:nvSpPr>
          <p:cNvPr id="4044" name="Google Shape;4044;p140"/>
          <p:cNvSpPr/>
          <p:nvPr/>
        </p:nvSpPr>
        <p:spPr>
          <a:xfrm>
            <a:off x="6622654" y="4746383"/>
            <a:ext cx="556142" cy="509345"/>
          </a:xfrm>
          <a:prstGeom prst="ellipse">
            <a:avLst/>
          </a:prstGeom>
          <a:solidFill>
            <a:schemeClr val="accent2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/>
          </a:p>
        </p:txBody>
      </p:sp>
      <p:sp>
        <p:nvSpPr>
          <p:cNvPr id="4053" name="Google Shape;4053;p140"/>
          <p:cNvSpPr/>
          <p:nvPr/>
        </p:nvSpPr>
        <p:spPr>
          <a:xfrm rot="1132606">
            <a:off x="7377045" y="1346966"/>
            <a:ext cx="3764300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Heap Increase Key (A, heapsize, new value)</a:t>
            </a:r>
            <a:endParaRPr/>
          </a:p>
        </p:txBody>
      </p:sp>
      <p:graphicFrame>
        <p:nvGraphicFramePr>
          <p:cNvPr id="4054" name="Google Shape;4054;p140"/>
          <p:cNvGraphicFramePr/>
          <p:nvPr/>
        </p:nvGraphicFramePr>
        <p:xfrm>
          <a:off x="6096000" y="2285354"/>
          <a:ext cx="5177150" cy="731540"/>
        </p:xfrm>
        <a:graphic>
          <a:graphicData uri="http://schemas.openxmlformats.org/drawingml/2006/table">
            <a:tbl>
              <a:tblPr firstRow="1" bandRow="1">
                <a:noFill/>
                <a:tableStyleId>{66088737-8E24-4614-AAA7-3D08145F63E1}</a:tableStyleId>
              </a:tblPr>
              <a:tblGrid>
                <a:gridCol w="4706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06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706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135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77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706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706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7065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47065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47065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47065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</a:tblGrid>
              <a:tr h="2914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1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2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3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4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5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6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7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8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9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10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11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14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u="none" strike="noStrike" cap="none">
                          <a:solidFill>
                            <a:schemeClr val="dk1"/>
                          </a:solidFill>
                        </a:rPr>
                        <a:t>16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u="none" strike="noStrike" cap="none">
                          <a:solidFill>
                            <a:schemeClr val="dk1"/>
                          </a:solidFill>
                        </a:rPr>
                        <a:t>14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u="none" strike="noStrike" cap="none">
                          <a:solidFill>
                            <a:schemeClr val="dk1"/>
                          </a:solidFill>
                        </a:rPr>
                        <a:t>10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u="none" strike="noStrike" cap="none">
                          <a:solidFill>
                            <a:schemeClr val="dk1"/>
                          </a:solidFill>
                        </a:rPr>
                        <a:t>8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u="none" strike="noStrike" cap="none">
                          <a:solidFill>
                            <a:schemeClr val="dk1"/>
                          </a:solidFill>
                        </a:rPr>
                        <a:t>7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u="none" strike="noStrike" cap="none">
                          <a:solidFill>
                            <a:schemeClr val="dk1"/>
                          </a:solidFill>
                        </a:rPr>
                        <a:t>9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u="none" strike="noStrike" cap="none">
                          <a:solidFill>
                            <a:schemeClr val="dk1"/>
                          </a:solidFill>
                        </a:rPr>
                        <a:t>3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u="none" strike="noStrike" cap="none">
                          <a:solidFill>
                            <a:schemeClr val="dk1"/>
                          </a:solidFill>
                        </a:rPr>
                        <a:t>2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u="none" strike="noStrike" cap="none">
                          <a:solidFill>
                            <a:schemeClr val="dk1"/>
                          </a:solidFill>
                        </a:rPr>
                        <a:t>4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u="none" strike="noStrike" cap="none">
                          <a:solidFill>
                            <a:schemeClr val="dk1"/>
                          </a:solidFill>
                        </a:rPr>
                        <a:t>1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 u="none" strike="noStrike" cap="none">
                          <a:solidFill>
                            <a:schemeClr val="dk1"/>
                          </a:solidFill>
                        </a:rPr>
                        <a:t>-inf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4055" name="Google Shape;4055;p140"/>
          <p:cNvSpPr/>
          <p:nvPr/>
        </p:nvSpPr>
        <p:spPr>
          <a:xfrm>
            <a:off x="3787115" y="5581420"/>
            <a:ext cx="748848" cy="509345"/>
          </a:xfrm>
          <a:prstGeom prst="ellipse">
            <a:avLst/>
          </a:prstGeom>
          <a:solidFill>
            <a:schemeClr val="dk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15</a:t>
            </a:r>
            <a:endParaRPr/>
          </a:p>
        </p:txBody>
      </p:sp>
      <p:cxnSp>
        <p:nvCxnSpPr>
          <p:cNvPr id="4056" name="Google Shape;4056;p140"/>
          <p:cNvCxnSpPr>
            <a:stCxn id="4039" idx="5"/>
            <a:endCxn id="4055" idx="0"/>
          </p:cNvCxnSpPr>
          <p:nvPr/>
        </p:nvCxnSpPr>
        <p:spPr>
          <a:xfrm>
            <a:off x="3685165" y="5178307"/>
            <a:ext cx="476400" cy="403200"/>
          </a:xfrm>
          <a:prstGeom prst="straightConnector1">
            <a:avLst/>
          </a:prstGeom>
          <a:solidFill>
            <a:schemeClr val="accent2"/>
          </a:solidFill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4057" name="Google Shape;4057;p140"/>
          <p:cNvSpPr/>
          <p:nvPr/>
        </p:nvSpPr>
        <p:spPr>
          <a:xfrm>
            <a:off x="3762935" y="5494565"/>
            <a:ext cx="806055" cy="762953"/>
          </a:xfrm>
          <a:prstGeom prst="donut">
            <a:avLst>
              <a:gd name="adj" fmla="val 17685"/>
            </a:avLst>
          </a:prstGeom>
          <a:solidFill>
            <a:srgbClr val="FF0000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2" name="Google Shape;4062;p141"/>
          <p:cNvSpPr txBox="1">
            <a:spLocks noGrp="1"/>
          </p:cNvSpPr>
          <p:nvPr>
            <p:ph type="body" idx="1"/>
          </p:nvPr>
        </p:nvSpPr>
        <p:spPr>
          <a:xfrm>
            <a:off x="838200" y="1227909"/>
            <a:ext cx="10515600" cy="49490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1500"/>
              <a:buFont typeface="Arial"/>
              <a:buChar char="●"/>
            </a:pPr>
            <a:r>
              <a:rPr lang="en-US" sz="2000" b="1"/>
              <a:t>Priority Queue functions</a:t>
            </a:r>
            <a:endParaRPr/>
          </a:p>
          <a:p>
            <a:pPr marL="742950" lvl="1" indent="-28575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040"/>
              <a:buChar char="●"/>
            </a:pPr>
            <a:r>
              <a:rPr lang="en-US" sz="1600"/>
              <a:t>HEAP-MAXIMUM </a:t>
            </a:r>
            <a:endParaRPr/>
          </a:p>
          <a:p>
            <a:pPr marL="742950" lvl="1" indent="-28575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040"/>
              <a:buChar char="●"/>
            </a:pPr>
            <a:r>
              <a:rPr lang="en-US" sz="1600" b="1"/>
              <a:t>MAX-HEAP-INSERT</a:t>
            </a:r>
            <a:endParaRPr/>
          </a:p>
          <a:p>
            <a:pPr marL="742950" lvl="1" indent="-28575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040"/>
              <a:buChar char="●"/>
            </a:pPr>
            <a:r>
              <a:rPr lang="en-US" sz="1600"/>
              <a:t>HEAP-EXTRACT-MAX</a:t>
            </a:r>
            <a:endParaRPr/>
          </a:p>
          <a:p>
            <a:pPr marL="742950" lvl="1" indent="-28575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040"/>
              <a:buChar char="●"/>
            </a:pPr>
            <a:r>
              <a:rPr lang="en-US" sz="1600"/>
              <a:t>HEAP-INCREASE-KEY</a:t>
            </a:r>
            <a:endParaRPr/>
          </a:p>
        </p:txBody>
      </p:sp>
      <p:sp>
        <p:nvSpPr>
          <p:cNvPr id="4063" name="Google Shape;4063;p141"/>
          <p:cNvSpPr txBox="1">
            <a:spLocks noGrp="1"/>
          </p:cNvSpPr>
          <p:nvPr>
            <p:ph type="dt" idx="10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1EC5B586-A3BB-448A-986E-A6685899C15C}" type="datetime1">
              <a:rPr lang="en-US" smtClean="0"/>
              <a:t>1/12/2026</a:t>
            </a:fld>
            <a:endParaRPr/>
          </a:p>
        </p:txBody>
      </p:sp>
      <p:sp>
        <p:nvSpPr>
          <p:cNvPr id="4064" name="Google Shape;4064;p141"/>
          <p:cNvSpPr txBox="1">
            <a:spLocks noGrp="1"/>
          </p:cNvSpPr>
          <p:nvPr>
            <p:ph type="ftr" idx="11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Lec Asif Abrar, Dept of CSE, UIU</a:t>
            </a:r>
            <a:endParaRPr/>
          </a:p>
        </p:txBody>
      </p:sp>
      <p:sp>
        <p:nvSpPr>
          <p:cNvPr id="4065" name="Google Shape;4065;p141"/>
          <p:cNvSpPr txBox="1">
            <a:spLocks noGrp="1"/>
          </p:cNvSpPr>
          <p:nvPr>
            <p:ph type="sldNum" idx="12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108</a:t>
            </a:fld>
            <a:endParaRPr/>
          </a:p>
        </p:txBody>
      </p:sp>
      <p:sp>
        <p:nvSpPr>
          <p:cNvPr id="4066" name="Google Shape;4066;p141"/>
          <p:cNvSpPr txBox="1">
            <a:spLocks noGrp="1"/>
          </p:cNvSpPr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/>
              <a:t>Max heap as a priority queue</a:t>
            </a:r>
            <a:endParaRPr/>
          </a:p>
        </p:txBody>
      </p:sp>
      <p:sp>
        <p:nvSpPr>
          <p:cNvPr id="4067" name="Google Shape;4067;p141"/>
          <p:cNvSpPr/>
          <p:nvPr/>
        </p:nvSpPr>
        <p:spPr>
          <a:xfrm>
            <a:off x="4270193" y="3335875"/>
            <a:ext cx="556142" cy="509345"/>
          </a:xfrm>
          <a:prstGeom prst="ellipse">
            <a:avLst/>
          </a:prstGeom>
          <a:solidFill>
            <a:schemeClr val="accent2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16</a:t>
            </a:r>
            <a:endParaRPr/>
          </a:p>
        </p:txBody>
      </p:sp>
      <p:sp>
        <p:nvSpPr>
          <p:cNvPr id="4068" name="Google Shape;4068;p141"/>
          <p:cNvSpPr/>
          <p:nvPr/>
        </p:nvSpPr>
        <p:spPr>
          <a:xfrm>
            <a:off x="2247415" y="4097144"/>
            <a:ext cx="556142" cy="509345"/>
          </a:xfrm>
          <a:prstGeom prst="ellipse">
            <a:avLst/>
          </a:prstGeom>
          <a:solidFill>
            <a:schemeClr val="accent2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14</a:t>
            </a:r>
            <a:endParaRPr/>
          </a:p>
        </p:txBody>
      </p:sp>
      <p:sp>
        <p:nvSpPr>
          <p:cNvPr id="4069" name="Google Shape;4069;p141"/>
          <p:cNvSpPr/>
          <p:nvPr/>
        </p:nvSpPr>
        <p:spPr>
          <a:xfrm>
            <a:off x="1625939" y="4653360"/>
            <a:ext cx="556142" cy="509345"/>
          </a:xfrm>
          <a:prstGeom prst="ellipse">
            <a:avLst/>
          </a:prstGeom>
          <a:solidFill>
            <a:schemeClr val="accent2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/>
          </a:p>
        </p:txBody>
      </p:sp>
      <p:sp>
        <p:nvSpPr>
          <p:cNvPr id="4070" name="Google Shape;4070;p141"/>
          <p:cNvSpPr/>
          <p:nvPr/>
        </p:nvSpPr>
        <p:spPr>
          <a:xfrm>
            <a:off x="1072894" y="5376794"/>
            <a:ext cx="556142" cy="509345"/>
          </a:xfrm>
          <a:prstGeom prst="ellipse">
            <a:avLst/>
          </a:prstGeom>
          <a:solidFill>
            <a:schemeClr val="accent2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  <p:sp>
        <p:nvSpPr>
          <p:cNvPr id="4071" name="Google Shape;4071;p141"/>
          <p:cNvSpPr/>
          <p:nvPr/>
        </p:nvSpPr>
        <p:spPr>
          <a:xfrm>
            <a:off x="1929716" y="5417685"/>
            <a:ext cx="556142" cy="509345"/>
          </a:xfrm>
          <a:prstGeom prst="ellipse">
            <a:avLst/>
          </a:prstGeom>
          <a:solidFill>
            <a:schemeClr val="accent2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/>
          </a:p>
        </p:txBody>
      </p:sp>
      <p:sp>
        <p:nvSpPr>
          <p:cNvPr id="4072" name="Google Shape;4072;p141"/>
          <p:cNvSpPr/>
          <p:nvPr/>
        </p:nvSpPr>
        <p:spPr>
          <a:xfrm>
            <a:off x="3210468" y="4743554"/>
            <a:ext cx="556142" cy="509345"/>
          </a:xfrm>
          <a:prstGeom prst="ellipse">
            <a:avLst/>
          </a:prstGeom>
          <a:solidFill>
            <a:schemeClr val="accent2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15</a:t>
            </a:r>
            <a:endParaRPr/>
          </a:p>
        </p:txBody>
      </p:sp>
      <p:sp>
        <p:nvSpPr>
          <p:cNvPr id="4073" name="Google Shape;4073;p141"/>
          <p:cNvSpPr/>
          <p:nvPr/>
        </p:nvSpPr>
        <p:spPr>
          <a:xfrm>
            <a:off x="5698070" y="4025144"/>
            <a:ext cx="556142" cy="509345"/>
          </a:xfrm>
          <a:prstGeom prst="ellipse">
            <a:avLst/>
          </a:prstGeom>
          <a:solidFill>
            <a:schemeClr val="accent2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/>
          </a:p>
        </p:txBody>
      </p:sp>
      <p:cxnSp>
        <p:nvCxnSpPr>
          <p:cNvPr id="4074" name="Google Shape;4074;p141"/>
          <p:cNvCxnSpPr>
            <a:stCxn id="4067" idx="3"/>
            <a:endCxn id="4068" idx="7"/>
          </p:cNvCxnSpPr>
          <p:nvPr/>
        </p:nvCxnSpPr>
        <p:spPr>
          <a:xfrm flipH="1">
            <a:off x="2722038" y="3770628"/>
            <a:ext cx="1629600" cy="401100"/>
          </a:xfrm>
          <a:prstGeom prst="straightConnector1">
            <a:avLst/>
          </a:prstGeom>
          <a:solidFill>
            <a:schemeClr val="accent2"/>
          </a:solidFill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4075" name="Google Shape;4075;p141"/>
          <p:cNvCxnSpPr>
            <a:stCxn id="4073" idx="1"/>
            <a:endCxn id="4067" idx="5"/>
          </p:cNvCxnSpPr>
          <p:nvPr/>
        </p:nvCxnSpPr>
        <p:spPr>
          <a:xfrm rot="10800000">
            <a:off x="4744815" y="3770636"/>
            <a:ext cx="1034700" cy="329100"/>
          </a:xfrm>
          <a:prstGeom prst="straightConnector1">
            <a:avLst/>
          </a:prstGeom>
          <a:solidFill>
            <a:schemeClr val="accent2"/>
          </a:solidFill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4076" name="Google Shape;4076;p141"/>
          <p:cNvCxnSpPr>
            <a:stCxn id="4077" idx="0"/>
            <a:endCxn id="4073" idx="5"/>
          </p:cNvCxnSpPr>
          <p:nvPr/>
        </p:nvCxnSpPr>
        <p:spPr>
          <a:xfrm rot="10800000">
            <a:off x="6172625" y="4459883"/>
            <a:ext cx="728100" cy="286500"/>
          </a:xfrm>
          <a:prstGeom prst="straightConnector1">
            <a:avLst/>
          </a:prstGeom>
          <a:solidFill>
            <a:schemeClr val="accent2"/>
          </a:solidFill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4078" name="Google Shape;4078;p141"/>
          <p:cNvCxnSpPr>
            <a:stCxn id="4079" idx="0"/>
            <a:endCxn id="4073" idx="3"/>
          </p:cNvCxnSpPr>
          <p:nvPr/>
        </p:nvCxnSpPr>
        <p:spPr>
          <a:xfrm rot="10800000" flipH="1">
            <a:off x="5447878" y="4459986"/>
            <a:ext cx="331500" cy="200400"/>
          </a:xfrm>
          <a:prstGeom prst="straightConnector1">
            <a:avLst/>
          </a:prstGeom>
          <a:solidFill>
            <a:schemeClr val="accent2"/>
          </a:solidFill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4080" name="Google Shape;4080;p141"/>
          <p:cNvCxnSpPr>
            <a:stCxn id="4068" idx="3"/>
            <a:endCxn id="4069" idx="7"/>
          </p:cNvCxnSpPr>
          <p:nvPr/>
        </p:nvCxnSpPr>
        <p:spPr>
          <a:xfrm flipH="1">
            <a:off x="2100560" y="4531897"/>
            <a:ext cx="228300" cy="196200"/>
          </a:xfrm>
          <a:prstGeom prst="straightConnector1">
            <a:avLst/>
          </a:prstGeom>
          <a:solidFill>
            <a:schemeClr val="accent2"/>
          </a:solidFill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4081" name="Google Shape;4081;p141"/>
          <p:cNvCxnSpPr>
            <a:stCxn id="4068" idx="5"/>
            <a:endCxn id="4072" idx="1"/>
          </p:cNvCxnSpPr>
          <p:nvPr/>
        </p:nvCxnSpPr>
        <p:spPr>
          <a:xfrm>
            <a:off x="2722112" y="4531897"/>
            <a:ext cx="569700" cy="286200"/>
          </a:xfrm>
          <a:prstGeom prst="straightConnector1">
            <a:avLst/>
          </a:prstGeom>
          <a:solidFill>
            <a:schemeClr val="accent2"/>
          </a:solidFill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4082" name="Google Shape;4082;p141"/>
          <p:cNvCxnSpPr>
            <a:stCxn id="4069" idx="3"/>
            <a:endCxn id="4070" idx="7"/>
          </p:cNvCxnSpPr>
          <p:nvPr/>
        </p:nvCxnSpPr>
        <p:spPr>
          <a:xfrm flipH="1">
            <a:off x="1547484" y="5088113"/>
            <a:ext cx="159900" cy="363300"/>
          </a:xfrm>
          <a:prstGeom prst="straightConnector1">
            <a:avLst/>
          </a:prstGeom>
          <a:solidFill>
            <a:schemeClr val="accent2"/>
          </a:solidFill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4083" name="Google Shape;4083;p141"/>
          <p:cNvCxnSpPr>
            <a:stCxn id="4069" idx="5"/>
            <a:endCxn id="4071" idx="0"/>
          </p:cNvCxnSpPr>
          <p:nvPr/>
        </p:nvCxnSpPr>
        <p:spPr>
          <a:xfrm>
            <a:off x="2100636" y="5088113"/>
            <a:ext cx="107100" cy="329700"/>
          </a:xfrm>
          <a:prstGeom prst="straightConnector1">
            <a:avLst/>
          </a:prstGeom>
          <a:solidFill>
            <a:schemeClr val="accent2"/>
          </a:solidFill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4084" name="Google Shape;4084;p141"/>
          <p:cNvSpPr/>
          <p:nvPr/>
        </p:nvSpPr>
        <p:spPr>
          <a:xfrm>
            <a:off x="2604089" y="5451386"/>
            <a:ext cx="556142" cy="509345"/>
          </a:xfrm>
          <a:prstGeom prst="ellipse">
            <a:avLst/>
          </a:prstGeom>
          <a:solidFill>
            <a:schemeClr val="accent2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cxnSp>
        <p:nvCxnSpPr>
          <p:cNvPr id="4085" name="Google Shape;4085;p141"/>
          <p:cNvCxnSpPr>
            <a:stCxn id="4072" idx="3"/>
            <a:endCxn id="4084" idx="7"/>
          </p:cNvCxnSpPr>
          <p:nvPr/>
        </p:nvCxnSpPr>
        <p:spPr>
          <a:xfrm flipH="1">
            <a:off x="3078913" y="5178307"/>
            <a:ext cx="213000" cy="347700"/>
          </a:xfrm>
          <a:prstGeom prst="straightConnector1">
            <a:avLst/>
          </a:prstGeom>
          <a:solidFill>
            <a:schemeClr val="accent2"/>
          </a:solidFill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4079" name="Google Shape;4079;p141"/>
          <p:cNvSpPr/>
          <p:nvPr/>
        </p:nvSpPr>
        <p:spPr>
          <a:xfrm>
            <a:off x="5169807" y="4660386"/>
            <a:ext cx="556142" cy="509345"/>
          </a:xfrm>
          <a:prstGeom prst="ellipse">
            <a:avLst/>
          </a:prstGeom>
          <a:solidFill>
            <a:schemeClr val="accent2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endParaRPr/>
          </a:p>
        </p:txBody>
      </p:sp>
      <p:sp>
        <p:nvSpPr>
          <p:cNvPr id="4077" name="Google Shape;4077;p141"/>
          <p:cNvSpPr/>
          <p:nvPr/>
        </p:nvSpPr>
        <p:spPr>
          <a:xfrm>
            <a:off x="6622654" y="4746383"/>
            <a:ext cx="556142" cy="509345"/>
          </a:xfrm>
          <a:prstGeom prst="ellipse">
            <a:avLst/>
          </a:prstGeom>
          <a:solidFill>
            <a:schemeClr val="accent2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/>
          </a:p>
        </p:txBody>
      </p:sp>
      <p:sp>
        <p:nvSpPr>
          <p:cNvPr id="4086" name="Google Shape;4086;p141"/>
          <p:cNvSpPr/>
          <p:nvPr/>
        </p:nvSpPr>
        <p:spPr>
          <a:xfrm rot="1132606">
            <a:off x="7377045" y="1346966"/>
            <a:ext cx="3764300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Heap Increase Key (A, heapsize, new value)</a:t>
            </a:r>
            <a:endParaRPr/>
          </a:p>
        </p:txBody>
      </p:sp>
      <p:graphicFrame>
        <p:nvGraphicFramePr>
          <p:cNvPr id="4087" name="Google Shape;4087;p141"/>
          <p:cNvGraphicFramePr/>
          <p:nvPr/>
        </p:nvGraphicFramePr>
        <p:xfrm>
          <a:off x="6096000" y="2285354"/>
          <a:ext cx="5177150" cy="731540"/>
        </p:xfrm>
        <a:graphic>
          <a:graphicData uri="http://schemas.openxmlformats.org/drawingml/2006/table">
            <a:tbl>
              <a:tblPr firstRow="1" bandRow="1">
                <a:noFill/>
                <a:tableStyleId>{66088737-8E24-4614-AAA7-3D08145F63E1}</a:tableStyleId>
              </a:tblPr>
              <a:tblGrid>
                <a:gridCol w="4706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06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706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135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77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706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706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7065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47065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47065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47065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</a:tblGrid>
              <a:tr h="2914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1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2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3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4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5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6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7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8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9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10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11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14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u="none" strike="noStrike" cap="none">
                          <a:solidFill>
                            <a:schemeClr val="dk1"/>
                          </a:solidFill>
                        </a:rPr>
                        <a:t>16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u="none" strike="noStrike" cap="none">
                          <a:solidFill>
                            <a:schemeClr val="dk1"/>
                          </a:solidFill>
                        </a:rPr>
                        <a:t>14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u="none" strike="noStrike" cap="none">
                          <a:solidFill>
                            <a:schemeClr val="dk1"/>
                          </a:solidFill>
                        </a:rPr>
                        <a:t>10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u="none" strike="noStrike" cap="none">
                          <a:solidFill>
                            <a:schemeClr val="dk1"/>
                          </a:solidFill>
                        </a:rPr>
                        <a:t>8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u="none" strike="noStrike" cap="none">
                          <a:solidFill>
                            <a:schemeClr val="dk1"/>
                          </a:solidFill>
                        </a:rPr>
                        <a:t>7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u="none" strike="noStrike" cap="none">
                          <a:solidFill>
                            <a:schemeClr val="dk1"/>
                          </a:solidFill>
                        </a:rPr>
                        <a:t>9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u="none" strike="noStrike" cap="none">
                          <a:solidFill>
                            <a:schemeClr val="dk1"/>
                          </a:solidFill>
                        </a:rPr>
                        <a:t>3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u="none" strike="noStrike" cap="none">
                          <a:solidFill>
                            <a:schemeClr val="dk1"/>
                          </a:solidFill>
                        </a:rPr>
                        <a:t>2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u="none" strike="noStrike" cap="none">
                          <a:solidFill>
                            <a:schemeClr val="dk1"/>
                          </a:solidFill>
                        </a:rPr>
                        <a:t>4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u="none" strike="noStrike" cap="none">
                          <a:solidFill>
                            <a:schemeClr val="dk1"/>
                          </a:solidFill>
                        </a:rPr>
                        <a:t>1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 u="none" strike="noStrike" cap="none">
                          <a:solidFill>
                            <a:schemeClr val="dk1"/>
                          </a:solidFill>
                        </a:rPr>
                        <a:t>-inf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4088" name="Google Shape;4088;p141"/>
          <p:cNvSpPr/>
          <p:nvPr/>
        </p:nvSpPr>
        <p:spPr>
          <a:xfrm>
            <a:off x="3787115" y="5581420"/>
            <a:ext cx="748848" cy="509345"/>
          </a:xfrm>
          <a:prstGeom prst="ellipse">
            <a:avLst/>
          </a:prstGeom>
          <a:solidFill>
            <a:schemeClr val="dk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/>
          </a:p>
        </p:txBody>
      </p:sp>
      <p:cxnSp>
        <p:nvCxnSpPr>
          <p:cNvPr id="4089" name="Google Shape;4089;p141"/>
          <p:cNvCxnSpPr>
            <a:stCxn id="4072" idx="5"/>
            <a:endCxn id="4088" idx="0"/>
          </p:cNvCxnSpPr>
          <p:nvPr/>
        </p:nvCxnSpPr>
        <p:spPr>
          <a:xfrm>
            <a:off x="3685165" y="5178307"/>
            <a:ext cx="476400" cy="403200"/>
          </a:xfrm>
          <a:prstGeom prst="straightConnector1">
            <a:avLst/>
          </a:prstGeom>
          <a:solidFill>
            <a:schemeClr val="accent2"/>
          </a:solidFill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4090" name="Google Shape;4090;p141"/>
          <p:cNvSpPr/>
          <p:nvPr/>
        </p:nvSpPr>
        <p:spPr>
          <a:xfrm>
            <a:off x="3762935" y="5494565"/>
            <a:ext cx="806055" cy="762953"/>
          </a:xfrm>
          <a:prstGeom prst="donut">
            <a:avLst>
              <a:gd name="adj" fmla="val 17685"/>
            </a:avLst>
          </a:prstGeom>
          <a:solidFill>
            <a:srgbClr val="FF0000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5" name="Google Shape;4095;p142"/>
          <p:cNvSpPr txBox="1">
            <a:spLocks noGrp="1"/>
          </p:cNvSpPr>
          <p:nvPr>
            <p:ph type="body" idx="1"/>
          </p:nvPr>
        </p:nvSpPr>
        <p:spPr>
          <a:xfrm>
            <a:off x="838200" y="1227909"/>
            <a:ext cx="10515600" cy="49490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1500"/>
              <a:buFont typeface="Arial"/>
              <a:buChar char="●"/>
            </a:pPr>
            <a:r>
              <a:rPr lang="en-US" sz="2000" b="1"/>
              <a:t>Priority Queue functions</a:t>
            </a:r>
            <a:endParaRPr/>
          </a:p>
          <a:p>
            <a:pPr marL="742950" lvl="1" indent="-28575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040"/>
              <a:buChar char="●"/>
            </a:pPr>
            <a:r>
              <a:rPr lang="en-US" sz="1600"/>
              <a:t>HEAP-MAXIMUM </a:t>
            </a:r>
            <a:endParaRPr/>
          </a:p>
          <a:p>
            <a:pPr marL="742950" lvl="1" indent="-28575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040"/>
              <a:buChar char="●"/>
            </a:pPr>
            <a:r>
              <a:rPr lang="en-US" sz="1600" b="1"/>
              <a:t>MAX-HEAP-INSERT</a:t>
            </a:r>
            <a:endParaRPr/>
          </a:p>
          <a:p>
            <a:pPr marL="742950" lvl="1" indent="-28575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040"/>
              <a:buChar char="●"/>
            </a:pPr>
            <a:r>
              <a:rPr lang="en-US" sz="1600"/>
              <a:t>HEAP-EXTRACT-MAX</a:t>
            </a:r>
            <a:endParaRPr/>
          </a:p>
          <a:p>
            <a:pPr marL="742950" lvl="1" indent="-28575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040"/>
              <a:buChar char="●"/>
            </a:pPr>
            <a:r>
              <a:rPr lang="en-US" sz="1600"/>
              <a:t>HEAP-INCREASE-KEY</a:t>
            </a:r>
            <a:endParaRPr/>
          </a:p>
        </p:txBody>
      </p:sp>
      <p:sp>
        <p:nvSpPr>
          <p:cNvPr id="4096" name="Google Shape;4096;p142"/>
          <p:cNvSpPr txBox="1">
            <a:spLocks noGrp="1"/>
          </p:cNvSpPr>
          <p:nvPr>
            <p:ph type="dt" idx="10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1C3049DE-27F2-4CCD-B2D0-03E948E985F2}" type="datetime1">
              <a:rPr lang="en-US" smtClean="0"/>
              <a:t>1/12/2026</a:t>
            </a:fld>
            <a:endParaRPr/>
          </a:p>
        </p:txBody>
      </p:sp>
      <p:sp>
        <p:nvSpPr>
          <p:cNvPr id="4097" name="Google Shape;4097;p142"/>
          <p:cNvSpPr txBox="1">
            <a:spLocks noGrp="1"/>
          </p:cNvSpPr>
          <p:nvPr>
            <p:ph type="ftr" idx="11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Lec Asif Abrar, Dept of CSE, UIU</a:t>
            </a:r>
            <a:endParaRPr/>
          </a:p>
        </p:txBody>
      </p:sp>
      <p:sp>
        <p:nvSpPr>
          <p:cNvPr id="4098" name="Google Shape;4098;p142"/>
          <p:cNvSpPr txBox="1">
            <a:spLocks noGrp="1"/>
          </p:cNvSpPr>
          <p:nvPr>
            <p:ph type="sldNum" idx="12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109</a:t>
            </a:fld>
            <a:endParaRPr/>
          </a:p>
        </p:txBody>
      </p:sp>
      <p:sp>
        <p:nvSpPr>
          <p:cNvPr id="4099" name="Google Shape;4099;p142"/>
          <p:cNvSpPr txBox="1">
            <a:spLocks noGrp="1"/>
          </p:cNvSpPr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/>
              <a:t>Max heap as a priority queue</a:t>
            </a:r>
            <a:endParaRPr/>
          </a:p>
        </p:txBody>
      </p:sp>
      <p:sp>
        <p:nvSpPr>
          <p:cNvPr id="4100" name="Google Shape;4100;p142"/>
          <p:cNvSpPr/>
          <p:nvPr/>
        </p:nvSpPr>
        <p:spPr>
          <a:xfrm>
            <a:off x="4270193" y="3335875"/>
            <a:ext cx="556142" cy="509345"/>
          </a:xfrm>
          <a:prstGeom prst="ellipse">
            <a:avLst/>
          </a:prstGeom>
          <a:solidFill>
            <a:schemeClr val="accent2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16</a:t>
            </a:r>
            <a:endParaRPr/>
          </a:p>
        </p:txBody>
      </p:sp>
      <p:sp>
        <p:nvSpPr>
          <p:cNvPr id="4101" name="Google Shape;4101;p142"/>
          <p:cNvSpPr/>
          <p:nvPr/>
        </p:nvSpPr>
        <p:spPr>
          <a:xfrm>
            <a:off x="2247415" y="4097144"/>
            <a:ext cx="556142" cy="509345"/>
          </a:xfrm>
          <a:prstGeom prst="ellipse">
            <a:avLst/>
          </a:prstGeom>
          <a:solidFill>
            <a:schemeClr val="accent2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14</a:t>
            </a:r>
            <a:endParaRPr/>
          </a:p>
        </p:txBody>
      </p:sp>
      <p:sp>
        <p:nvSpPr>
          <p:cNvPr id="4102" name="Google Shape;4102;p142"/>
          <p:cNvSpPr/>
          <p:nvPr/>
        </p:nvSpPr>
        <p:spPr>
          <a:xfrm>
            <a:off x="1625939" y="4653360"/>
            <a:ext cx="556142" cy="509345"/>
          </a:xfrm>
          <a:prstGeom prst="ellipse">
            <a:avLst/>
          </a:prstGeom>
          <a:solidFill>
            <a:schemeClr val="accent2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/>
          </a:p>
        </p:txBody>
      </p:sp>
      <p:sp>
        <p:nvSpPr>
          <p:cNvPr id="4103" name="Google Shape;4103;p142"/>
          <p:cNvSpPr/>
          <p:nvPr/>
        </p:nvSpPr>
        <p:spPr>
          <a:xfrm>
            <a:off x="1072894" y="5376794"/>
            <a:ext cx="556142" cy="509345"/>
          </a:xfrm>
          <a:prstGeom prst="ellipse">
            <a:avLst/>
          </a:prstGeom>
          <a:solidFill>
            <a:schemeClr val="accent2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  <p:sp>
        <p:nvSpPr>
          <p:cNvPr id="4104" name="Google Shape;4104;p142"/>
          <p:cNvSpPr/>
          <p:nvPr/>
        </p:nvSpPr>
        <p:spPr>
          <a:xfrm>
            <a:off x="1929716" y="5417685"/>
            <a:ext cx="556142" cy="509345"/>
          </a:xfrm>
          <a:prstGeom prst="ellipse">
            <a:avLst/>
          </a:prstGeom>
          <a:solidFill>
            <a:schemeClr val="accent2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/>
          </a:p>
        </p:txBody>
      </p:sp>
      <p:sp>
        <p:nvSpPr>
          <p:cNvPr id="4105" name="Google Shape;4105;p142"/>
          <p:cNvSpPr/>
          <p:nvPr/>
        </p:nvSpPr>
        <p:spPr>
          <a:xfrm>
            <a:off x="3210468" y="4743554"/>
            <a:ext cx="556142" cy="509345"/>
          </a:xfrm>
          <a:prstGeom prst="ellipse">
            <a:avLst/>
          </a:prstGeom>
          <a:solidFill>
            <a:schemeClr val="accent2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15</a:t>
            </a:r>
            <a:endParaRPr/>
          </a:p>
        </p:txBody>
      </p:sp>
      <p:sp>
        <p:nvSpPr>
          <p:cNvPr id="4106" name="Google Shape;4106;p142"/>
          <p:cNvSpPr/>
          <p:nvPr/>
        </p:nvSpPr>
        <p:spPr>
          <a:xfrm>
            <a:off x="5698070" y="4025144"/>
            <a:ext cx="556142" cy="509345"/>
          </a:xfrm>
          <a:prstGeom prst="ellipse">
            <a:avLst/>
          </a:prstGeom>
          <a:solidFill>
            <a:schemeClr val="accent2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/>
          </a:p>
        </p:txBody>
      </p:sp>
      <p:cxnSp>
        <p:nvCxnSpPr>
          <p:cNvPr id="4107" name="Google Shape;4107;p142"/>
          <p:cNvCxnSpPr>
            <a:stCxn id="4100" idx="3"/>
            <a:endCxn id="4101" idx="7"/>
          </p:cNvCxnSpPr>
          <p:nvPr/>
        </p:nvCxnSpPr>
        <p:spPr>
          <a:xfrm flipH="1">
            <a:off x="2722038" y="3770628"/>
            <a:ext cx="1629600" cy="401100"/>
          </a:xfrm>
          <a:prstGeom prst="straightConnector1">
            <a:avLst/>
          </a:prstGeom>
          <a:solidFill>
            <a:schemeClr val="accent2"/>
          </a:solidFill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4108" name="Google Shape;4108;p142"/>
          <p:cNvCxnSpPr>
            <a:stCxn id="4106" idx="1"/>
            <a:endCxn id="4100" idx="5"/>
          </p:cNvCxnSpPr>
          <p:nvPr/>
        </p:nvCxnSpPr>
        <p:spPr>
          <a:xfrm rot="10800000">
            <a:off x="4744815" y="3770636"/>
            <a:ext cx="1034700" cy="329100"/>
          </a:xfrm>
          <a:prstGeom prst="straightConnector1">
            <a:avLst/>
          </a:prstGeom>
          <a:solidFill>
            <a:schemeClr val="accent2"/>
          </a:solidFill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4109" name="Google Shape;4109;p142"/>
          <p:cNvCxnSpPr>
            <a:stCxn id="4110" idx="0"/>
            <a:endCxn id="4106" idx="5"/>
          </p:cNvCxnSpPr>
          <p:nvPr/>
        </p:nvCxnSpPr>
        <p:spPr>
          <a:xfrm rot="10800000">
            <a:off x="6172625" y="4459883"/>
            <a:ext cx="728100" cy="286500"/>
          </a:xfrm>
          <a:prstGeom prst="straightConnector1">
            <a:avLst/>
          </a:prstGeom>
          <a:solidFill>
            <a:schemeClr val="accent2"/>
          </a:solidFill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4111" name="Google Shape;4111;p142"/>
          <p:cNvCxnSpPr>
            <a:stCxn id="4112" idx="0"/>
            <a:endCxn id="4106" idx="3"/>
          </p:cNvCxnSpPr>
          <p:nvPr/>
        </p:nvCxnSpPr>
        <p:spPr>
          <a:xfrm rot="10800000" flipH="1">
            <a:off x="5447878" y="4459986"/>
            <a:ext cx="331500" cy="200400"/>
          </a:xfrm>
          <a:prstGeom prst="straightConnector1">
            <a:avLst/>
          </a:prstGeom>
          <a:solidFill>
            <a:schemeClr val="accent2"/>
          </a:solidFill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4113" name="Google Shape;4113;p142"/>
          <p:cNvCxnSpPr>
            <a:stCxn id="4101" idx="3"/>
            <a:endCxn id="4102" idx="7"/>
          </p:cNvCxnSpPr>
          <p:nvPr/>
        </p:nvCxnSpPr>
        <p:spPr>
          <a:xfrm flipH="1">
            <a:off x="2100560" y="4531897"/>
            <a:ext cx="228300" cy="196200"/>
          </a:xfrm>
          <a:prstGeom prst="straightConnector1">
            <a:avLst/>
          </a:prstGeom>
          <a:solidFill>
            <a:schemeClr val="accent2"/>
          </a:solidFill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4114" name="Google Shape;4114;p142"/>
          <p:cNvCxnSpPr>
            <a:stCxn id="4101" idx="5"/>
            <a:endCxn id="4105" idx="1"/>
          </p:cNvCxnSpPr>
          <p:nvPr/>
        </p:nvCxnSpPr>
        <p:spPr>
          <a:xfrm>
            <a:off x="2722112" y="4531897"/>
            <a:ext cx="569700" cy="286200"/>
          </a:xfrm>
          <a:prstGeom prst="straightConnector1">
            <a:avLst/>
          </a:prstGeom>
          <a:solidFill>
            <a:schemeClr val="accent2"/>
          </a:solidFill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4115" name="Google Shape;4115;p142"/>
          <p:cNvCxnSpPr>
            <a:stCxn id="4102" idx="3"/>
            <a:endCxn id="4103" idx="7"/>
          </p:cNvCxnSpPr>
          <p:nvPr/>
        </p:nvCxnSpPr>
        <p:spPr>
          <a:xfrm flipH="1">
            <a:off x="1547484" y="5088113"/>
            <a:ext cx="159900" cy="363300"/>
          </a:xfrm>
          <a:prstGeom prst="straightConnector1">
            <a:avLst/>
          </a:prstGeom>
          <a:solidFill>
            <a:schemeClr val="accent2"/>
          </a:solidFill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4116" name="Google Shape;4116;p142"/>
          <p:cNvCxnSpPr>
            <a:stCxn id="4102" idx="5"/>
            <a:endCxn id="4104" idx="0"/>
          </p:cNvCxnSpPr>
          <p:nvPr/>
        </p:nvCxnSpPr>
        <p:spPr>
          <a:xfrm>
            <a:off x="2100636" y="5088113"/>
            <a:ext cx="107100" cy="329700"/>
          </a:xfrm>
          <a:prstGeom prst="straightConnector1">
            <a:avLst/>
          </a:prstGeom>
          <a:solidFill>
            <a:schemeClr val="accent2"/>
          </a:solidFill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4117" name="Google Shape;4117;p142"/>
          <p:cNvSpPr/>
          <p:nvPr/>
        </p:nvSpPr>
        <p:spPr>
          <a:xfrm>
            <a:off x="2604089" y="5451386"/>
            <a:ext cx="556142" cy="509345"/>
          </a:xfrm>
          <a:prstGeom prst="ellipse">
            <a:avLst/>
          </a:prstGeom>
          <a:solidFill>
            <a:schemeClr val="accent2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cxnSp>
        <p:nvCxnSpPr>
          <p:cNvPr id="4118" name="Google Shape;4118;p142"/>
          <p:cNvCxnSpPr>
            <a:stCxn id="4105" idx="3"/>
            <a:endCxn id="4117" idx="7"/>
          </p:cNvCxnSpPr>
          <p:nvPr/>
        </p:nvCxnSpPr>
        <p:spPr>
          <a:xfrm flipH="1">
            <a:off x="3078913" y="5178307"/>
            <a:ext cx="213000" cy="347700"/>
          </a:xfrm>
          <a:prstGeom prst="straightConnector1">
            <a:avLst/>
          </a:prstGeom>
          <a:solidFill>
            <a:schemeClr val="accent2"/>
          </a:solidFill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4112" name="Google Shape;4112;p142"/>
          <p:cNvSpPr/>
          <p:nvPr/>
        </p:nvSpPr>
        <p:spPr>
          <a:xfrm>
            <a:off x="5169807" y="4660386"/>
            <a:ext cx="556142" cy="509345"/>
          </a:xfrm>
          <a:prstGeom prst="ellipse">
            <a:avLst/>
          </a:prstGeom>
          <a:solidFill>
            <a:schemeClr val="accent2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endParaRPr/>
          </a:p>
        </p:txBody>
      </p:sp>
      <p:sp>
        <p:nvSpPr>
          <p:cNvPr id="4110" name="Google Shape;4110;p142"/>
          <p:cNvSpPr/>
          <p:nvPr/>
        </p:nvSpPr>
        <p:spPr>
          <a:xfrm>
            <a:off x="6622654" y="4746383"/>
            <a:ext cx="556142" cy="509345"/>
          </a:xfrm>
          <a:prstGeom prst="ellipse">
            <a:avLst/>
          </a:prstGeom>
          <a:solidFill>
            <a:schemeClr val="accent2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/>
          </a:p>
        </p:txBody>
      </p:sp>
      <p:sp>
        <p:nvSpPr>
          <p:cNvPr id="4119" name="Google Shape;4119;p142"/>
          <p:cNvSpPr/>
          <p:nvPr/>
        </p:nvSpPr>
        <p:spPr>
          <a:xfrm rot="1132606">
            <a:off x="7377045" y="1346966"/>
            <a:ext cx="3764300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Heap Increase Key (A, heapsize, new value)</a:t>
            </a:r>
            <a:endParaRPr/>
          </a:p>
        </p:txBody>
      </p:sp>
      <p:graphicFrame>
        <p:nvGraphicFramePr>
          <p:cNvPr id="4120" name="Google Shape;4120;p142"/>
          <p:cNvGraphicFramePr/>
          <p:nvPr/>
        </p:nvGraphicFramePr>
        <p:xfrm>
          <a:off x="6096000" y="2285354"/>
          <a:ext cx="5177150" cy="731540"/>
        </p:xfrm>
        <a:graphic>
          <a:graphicData uri="http://schemas.openxmlformats.org/drawingml/2006/table">
            <a:tbl>
              <a:tblPr firstRow="1" bandRow="1">
                <a:noFill/>
                <a:tableStyleId>{66088737-8E24-4614-AAA7-3D08145F63E1}</a:tableStyleId>
              </a:tblPr>
              <a:tblGrid>
                <a:gridCol w="4706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06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706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135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77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706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706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7065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47065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47065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47065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</a:tblGrid>
              <a:tr h="2914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1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2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3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4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5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6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7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8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9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10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11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14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u="none" strike="noStrike" cap="none">
                          <a:solidFill>
                            <a:schemeClr val="dk1"/>
                          </a:solidFill>
                        </a:rPr>
                        <a:t>16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u="none" strike="noStrike" cap="none">
                          <a:solidFill>
                            <a:schemeClr val="dk1"/>
                          </a:solidFill>
                        </a:rPr>
                        <a:t>14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u="none" strike="noStrike" cap="none">
                          <a:solidFill>
                            <a:schemeClr val="dk1"/>
                          </a:solidFill>
                        </a:rPr>
                        <a:t>10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u="none" strike="noStrike" cap="none">
                          <a:solidFill>
                            <a:schemeClr val="dk1"/>
                          </a:solidFill>
                        </a:rPr>
                        <a:t>8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u="none" strike="noStrike" cap="none">
                          <a:solidFill>
                            <a:schemeClr val="dk1"/>
                          </a:solidFill>
                        </a:rPr>
                        <a:t>7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u="none" strike="noStrike" cap="none">
                          <a:solidFill>
                            <a:schemeClr val="dk1"/>
                          </a:solidFill>
                        </a:rPr>
                        <a:t>9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u="none" strike="noStrike" cap="none">
                          <a:solidFill>
                            <a:schemeClr val="dk1"/>
                          </a:solidFill>
                        </a:rPr>
                        <a:t>3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u="none" strike="noStrike" cap="none">
                          <a:solidFill>
                            <a:schemeClr val="dk1"/>
                          </a:solidFill>
                        </a:rPr>
                        <a:t>2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u="none" strike="noStrike" cap="none">
                          <a:solidFill>
                            <a:schemeClr val="dk1"/>
                          </a:solidFill>
                        </a:rPr>
                        <a:t>4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u="none" strike="noStrike" cap="none">
                          <a:solidFill>
                            <a:schemeClr val="dk1"/>
                          </a:solidFill>
                        </a:rPr>
                        <a:t>1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 u="none" strike="noStrike" cap="none">
                          <a:solidFill>
                            <a:schemeClr val="dk1"/>
                          </a:solidFill>
                        </a:rPr>
                        <a:t>-inf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4121" name="Google Shape;4121;p142"/>
          <p:cNvSpPr/>
          <p:nvPr/>
        </p:nvSpPr>
        <p:spPr>
          <a:xfrm>
            <a:off x="3787115" y="5581420"/>
            <a:ext cx="748848" cy="509345"/>
          </a:xfrm>
          <a:prstGeom prst="ellipse">
            <a:avLst/>
          </a:prstGeom>
          <a:solidFill>
            <a:schemeClr val="dk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/>
          </a:p>
        </p:txBody>
      </p:sp>
      <p:cxnSp>
        <p:nvCxnSpPr>
          <p:cNvPr id="4122" name="Google Shape;4122;p142"/>
          <p:cNvCxnSpPr>
            <a:stCxn id="4105" idx="5"/>
            <a:endCxn id="4121" idx="0"/>
          </p:cNvCxnSpPr>
          <p:nvPr/>
        </p:nvCxnSpPr>
        <p:spPr>
          <a:xfrm>
            <a:off x="3685165" y="5178307"/>
            <a:ext cx="476400" cy="403200"/>
          </a:xfrm>
          <a:prstGeom prst="straightConnector1">
            <a:avLst/>
          </a:prstGeom>
          <a:solidFill>
            <a:schemeClr val="accent2"/>
          </a:solidFill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4123" name="Google Shape;4123;p142"/>
          <p:cNvSpPr/>
          <p:nvPr/>
        </p:nvSpPr>
        <p:spPr>
          <a:xfrm>
            <a:off x="3073801" y="4613841"/>
            <a:ext cx="806055" cy="762953"/>
          </a:xfrm>
          <a:prstGeom prst="donut">
            <a:avLst>
              <a:gd name="adj" fmla="val 17685"/>
            </a:avLst>
          </a:prstGeom>
          <a:solidFill>
            <a:srgbClr val="FF0000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8" name="Google Shape;4128;p143"/>
          <p:cNvSpPr txBox="1">
            <a:spLocks noGrp="1"/>
          </p:cNvSpPr>
          <p:nvPr>
            <p:ph type="body" idx="1"/>
          </p:nvPr>
        </p:nvSpPr>
        <p:spPr>
          <a:xfrm>
            <a:off x="838200" y="1227909"/>
            <a:ext cx="10515600" cy="49490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1500"/>
              <a:buFont typeface="Arial"/>
              <a:buChar char="●"/>
            </a:pPr>
            <a:r>
              <a:rPr lang="en-US" sz="2000" b="1"/>
              <a:t>Priority Queue functions</a:t>
            </a:r>
            <a:endParaRPr/>
          </a:p>
          <a:p>
            <a:pPr marL="742950" lvl="1" indent="-28575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040"/>
              <a:buChar char="●"/>
            </a:pPr>
            <a:r>
              <a:rPr lang="en-US" sz="1600"/>
              <a:t>HEAP-MAXIMUM </a:t>
            </a:r>
            <a:endParaRPr/>
          </a:p>
          <a:p>
            <a:pPr marL="742950" lvl="1" indent="-28575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040"/>
              <a:buChar char="●"/>
            </a:pPr>
            <a:r>
              <a:rPr lang="en-US" sz="1600" b="1"/>
              <a:t>MAX-HEAP-INSERT</a:t>
            </a:r>
            <a:endParaRPr/>
          </a:p>
          <a:p>
            <a:pPr marL="742950" lvl="1" indent="-28575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040"/>
              <a:buChar char="●"/>
            </a:pPr>
            <a:r>
              <a:rPr lang="en-US" sz="1600"/>
              <a:t>HEAP-EXTRACT-MAX</a:t>
            </a:r>
            <a:endParaRPr/>
          </a:p>
          <a:p>
            <a:pPr marL="742950" lvl="1" indent="-28575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040"/>
              <a:buChar char="●"/>
            </a:pPr>
            <a:r>
              <a:rPr lang="en-US" sz="1600"/>
              <a:t>HEAP-INCREASE-KEY</a:t>
            </a:r>
            <a:endParaRPr/>
          </a:p>
        </p:txBody>
      </p:sp>
      <p:sp>
        <p:nvSpPr>
          <p:cNvPr id="4129" name="Google Shape;4129;p143"/>
          <p:cNvSpPr txBox="1">
            <a:spLocks noGrp="1"/>
          </p:cNvSpPr>
          <p:nvPr>
            <p:ph type="dt" idx="10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18B09E5D-47C3-487A-8306-3E2D1BF8B59C}" type="datetime1">
              <a:rPr lang="en-US" smtClean="0"/>
              <a:t>1/12/2026</a:t>
            </a:fld>
            <a:endParaRPr/>
          </a:p>
        </p:txBody>
      </p:sp>
      <p:sp>
        <p:nvSpPr>
          <p:cNvPr id="4130" name="Google Shape;4130;p143"/>
          <p:cNvSpPr txBox="1">
            <a:spLocks noGrp="1"/>
          </p:cNvSpPr>
          <p:nvPr>
            <p:ph type="ftr" idx="11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Lec Asif Abrar, Dept of CSE, UIU</a:t>
            </a:r>
            <a:endParaRPr/>
          </a:p>
        </p:txBody>
      </p:sp>
      <p:sp>
        <p:nvSpPr>
          <p:cNvPr id="4131" name="Google Shape;4131;p143"/>
          <p:cNvSpPr txBox="1">
            <a:spLocks noGrp="1"/>
          </p:cNvSpPr>
          <p:nvPr>
            <p:ph type="sldNum" idx="12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110</a:t>
            </a:fld>
            <a:endParaRPr/>
          </a:p>
        </p:txBody>
      </p:sp>
      <p:sp>
        <p:nvSpPr>
          <p:cNvPr id="4132" name="Google Shape;4132;p143"/>
          <p:cNvSpPr txBox="1">
            <a:spLocks noGrp="1"/>
          </p:cNvSpPr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/>
              <a:t>Max heap as a priority queue</a:t>
            </a:r>
            <a:endParaRPr/>
          </a:p>
        </p:txBody>
      </p:sp>
      <p:sp>
        <p:nvSpPr>
          <p:cNvPr id="4133" name="Google Shape;4133;p143"/>
          <p:cNvSpPr/>
          <p:nvPr/>
        </p:nvSpPr>
        <p:spPr>
          <a:xfrm>
            <a:off x="4270193" y="3335875"/>
            <a:ext cx="556142" cy="509345"/>
          </a:xfrm>
          <a:prstGeom prst="ellipse">
            <a:avLst/>
          </a:prstGeom>
          <a:solidFill>
            <a:schemeClr val="accent2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16</a:t>
            </a:r>
            <a:endParaRPr/>
          </a:p>
        </p:txBody>
      </p:sp>
      <p:sp>
        <p:nvSpPr>
          <p:cNvPr id="4134" name="Google Shape;4134;p143"/>
          <p:cNvSpPr/>
          <p:nvPr/>
        </p:nvSpPr>
        <p:spPr>
          <a:xfrm>
            <a:off x="2247415" y="4097144"/>
            <a:ext cx="556142" cy="509345"/>
          </a:xfrm>
          <a:prstGeom prst="ellipse">
            <a:avLst/>
          </a:prstGeom>
          <a:solidFill>
            <a:schemeClr val="accent2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15</a:t>
            </a:r>
            <a:endParaRPr/>
          </a:p>
        </p:txBody>
      </p:sp>
      <p:sp>
        <p:nvSpPr>
          <p:cNvPr id="4135" name="Google Shape;4135;p143"/>
          <p:cNvSpPr/>
          <p:nvPr/>
        </p:nvSpPr>
        <p:spPr>
          <a:xfrm>
            <a:off x="1625939" y="4653360"/>
            <a:ext cx="556142" cy="509345"/>
          </a:xfrm>
          <a:prstGeom prst="ellipse">
            <a:avLst/>
          </a:prstGeom>
          <a:solidFill>
            <a:schemeClr val="accent2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/>
          </a:p>
        </p:txBody>
      </p:sp>
      <p:sp>
        <p:nvSpPr>
          <p:cNvPr id="4136" name="Google Shape;4136;p143"/>
          <p:cNvSpPr/>
          <p:nvPr/>
        </p:nvSpPr>
        <p:spPr>
          <a:xfrm>
            <a:off x="1072894" y="5376794"/>
            <a:ext cx="556142" cy="509345"/>
          </a:xfrm>
          <a:prstGeom prst="ellipse">
            <a:avLst/>
          </a:prstGeom>
          <a:solidFill>
            <a:schemeClr val="accent2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  <p:sp>
        <p:nvSpPr>
          <p:cNvPr id="4137" name="Google Shape;4137;p143"/>
          <p:cNvSpPr/>
          <p:nvPr/>
        </p:nvSpPr>
        <p:spPr>
          <a:xfrm>
            <a:off x="1929716" y="5417685"/>
            <a:ext cx="556142" cy="509345"/>
          </a:xfrm>
          <a:prstGeom prst="ellipse">
            <a:avLst/>
          </a:prstGeom>
          <a:solidFill>
            <a:schemeClr val="accent2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/>
          </a:p>
        </p:txBody>
      </p:sp>
      <p:sp>
        <p:nvSpPr>
          <p:cNvPr id="4138" name="Google Shape;4138;p143"/>
          <p:cNvSpPr/>
          <p:nvPr/>
        </p:nvSpPr>
        <p:spPr>
          <a:xfrm>
            <a:off x="3210468" y="4743554"/>
            <a:ext cx="556142" cy="509345"/>
          </a:xfrm>
          <a:prstGeom prst="ellipse">
            <a:avLst/>
          </a:prstGeom>
          <a:solidFill>
            <a:schemeClr val="accent2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14</a:t>
            </a:r>
            <a:endParaRPr/>
          </a:p>
        </p:txBody>
      </p:sp>
      <p:sp>
        <p:nvSpPr>
          <p:cNvPr id="4139" name="Google Shape;4139;p143"/>
          <p:cNvSpPr/>
          <p:nvPr/>
        </p:nvSpPr>
        <p:spPr>
          <a:xfrm>
            <a:off x="5698070" y="4025144"/>
            <a:ext cx="556142" cy="509345"/>
          </a:xfrm>
          <a:prstGeom prst="ellipse">
            <a:avLst/>
          </a:prstGeom>
          <a:solidFill>
            <a:schemeClr val="accent2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/>
          </a:p>
        </p:txBody>
      </p:sp>
      <p:cxnSp>
        <p:nvCxnSpPr>
          <p:cNvPr id="4140" name="Google Shape;4140;p143"/>
          <p:cNvCxnSpPr>
            <a:stCxn id="4133" idx="3"/>
            <a:endCxn id="4134" idx="7"/>
          </p:cNvCxnSpPr>
          <p:nvPr/>
        </p:nvCxnSpPr>
        <p:spPr>
          <a:xfrm flipH="1">
            <a:off x="2722038" y="3770628"/>
            <a:ext cx="1629600" cy="401100"/>
          </a:xfrm>
          <a:prstGeom prst="straightConnector1">
            <a:avLst/>
          </a:prstGeom>
          <a:solidFill>
            <a:schemeClr val="accent2"/>
          </a:solidFill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4141" name="Google Shape;4141;p143"/>
          <p:cNvCxnSpPr>
            <a:stCxn id="4139" idx="1"/>
            <a:endCxn id="4133" idx="5"/>
          </p:cNvCxnSpPr>
          <p:nvPr/>
        </p:nvCxnSpPr>
        <p:spPr>
          <a:xfrm rot="10800000">
            <a:off x="4744815" y="3770636"/>
            <a:ext cx="1034700" cy="329100"/>
          </a:xfrm>
          <a:prstGeom prst="straightConnector1">
            <a:avLst/>
          </a:prstGeom>
          <a:solidFill>
            <a:schemeClr val="accent2"/>
          </a:solidFill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4142" name="Google Shape;4142;p143"/>
          <p:cNvCxnSpPr>
            <a:stCxn id="4143" idx="0"/>
            <a:endCxn id="4139" idx="5"/>
          </p:cNvCxnSpPr>
          <p:nvPr/>
        </p:nvCxnSpPr>
        <p:spPr>
          <a:xfrm rot="10800000">
            <a:off x="6172625" y="4459883"/>
            <a:ext cx="728100" cy="286500"/>
          </a:xfrm>
          <a:prstGeom prst="straightConnector1">
            <a:avLst/>
          </a:prstGeom>
          <a:solidFill>
            <a:schemeClr val="accent2"/>
          </a:solidFill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4144" name="Google Shape;4144;p143"/>
          <p:cNvCxnSpPr>
            <a:stCxn id="4145" idx="0"/>
            <a:endCxn id="4139" idx="3"/>
          </p:cNvCxnSpPr>
          <p:nvPr/>
        </p:nvCxnSpPr>
        <p:spPr>
          <a:xfrm rot="10800000" flipH="1">
            <a:off x="5447878" y="4459986"/>
            <a:ext cx="331500" cy="200400"/>
          </a:xfrm>
          <a:prstGeom prst="straightConnector1">
            <a:avLst/>
          </a:prstGeom>
          <a:solidFill>
            <a:schemeClr val="accent2"/>
          </a:solidFill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4146" name="Google Shape;4146;p143"/>
          <p:cNvCxnSpPr>
            <a:stCxn id="4134" idx="3"/>
            <a:endCxn id="4135" idx="7"/>
          </p:cNvCxnSpPr>
          <p:nvPr/>
        </p:nvCxnSpPr>
        <p:spPr>
          <a:xfrm flipH="1">
            <a:off x="2100560" y="4531897"/>
            <a:ext cx="228300" cy="196200"/>
          </a:xfrm>
          <a:prstGeom prst="straightConnector1">
            <a:avLst/>
          </a:prstGeom>
          <a:solidFill>
            <a:schemeClr val="accent2"/>
          </a:solidFill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4147" name="Google Shape;4147;p143"/>
          <p:cNvCxnSpPr>
            <a:stCxn id="4134" idx="5"/>
            <a:endCxn id="4138" idx="1"/>
          </p:cNvCxnSpPr>
          <p:nvPr/>
        </p:nvCxnSpPr>
        <p:spPr>
          <a:xfrm>
            <a:off x="2722112" y="4531897"/>
            <a:ext cx="569700" cy="286200"/>
          </a:xfrm>
          <a:prstGeom prst="straightConnector1">
            <a:avLst/>
          </a:prstGeom>
          <a:solidFill>
            <a:schemeClr val="accent2"/>
          </a:solidFill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4148" name="Google Shape;4148;p143"/>
          <p:cNvCxnSpPr>
            <a:stCxn id="4135" idx="3"/>
            <a:endCxn id="4136" idx="7"/>
          </p:cNvCxnSpPr>
          <p:nvPr/>
        </p:nvCxnSpPr>
        <p:spPr>
          <a:xfrm flipH="1">
            <a:off x="1547484" y="5088113"/>
            <a:ext cx="159900" cy="363300"/>
          </a:xfrm>
          <a:prstGeom prst="straightConnector1">
            <a:avLst/>
          </a:prstGeom>
          <a:solidFill>
            <a:schemeClr val="accent2"/>
          </a:solidFill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4149" name="Google Shape;4149;p143"/>
          <p:cNvCxnSpPr>
            <a:stCxn id="4135" idx="5"/>
            <a:endCxn id="4137" idx="0"/>
          </p:cNvCxnSpPr>
          <p:nvPr/>
        </p:nvCxnSpPr>
        <p:spPr>
          <a:xfrm>
            <a:off x="2100636" y="5088113"/>
            <a:ext cx="107100" cy="329700"/>
          </a:xfrm>
          <a:prstGeom prst="straightConnector1">
            <a:avLst/>
          </a:prstGeom>
          <a:solidFill>
            <a:schemeClr val="accent2"/>
          </a:solidFill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4150" name="Google Shape;4150;p143"/>
          <p:cNvSpPr/>
          <p:nvPr/>
        </p:nvSpPr>
        <p:spPr>
          <a:xfrm>
            <a:off x="2604089" y="5451386"/>
            <a:ext cx="556142" cy="509345"/>
          </a:xfrm>
          <a:prstGeom prst="ellipse">
            <a:avLst/>
          </a:prstGeom>
          <a:solidFill>
            <a:schemeClr val="accent2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cxnSp>
        <p:nvCxnSpPr>
          <p:cNvPr id="4151" name="Google Shape;4151;p143"/>
          <p:cNvCxnSpPr>
            <a:stCxn id="4138" idx="3"/>
            <a:endCxn id="4150" idx="7"/>
          </p:cNvCxnSpPr>
          <p:nvPr/>
        </p:nvCxnSpPr>
        <p:spPr>
          <a:xfrm flipH="1">
            <a:off x="3078913" y="5178307"/>
            <a:ext cx="213000" cy="347700"/>
          </a:xfrm>
          <a:prstGeom prst="straightConnector1">
            <a:avLst/>
          </a:prstGeom>
          <a:solidFill>
            <a:schemeClr val="accent2"/>
          </a:solidFill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4145" name="Google Shape;4145;p143"/>
          <p:cNvSpPr/>
          <p:nvPr/>
        </p:nvSpPr>
        <p:spPr>
          <a:xfrm>
            <a:off x="5169807" y="4660386"/>
            <a:ext cx="556142" cy="509345"/>
          </a:xfrm>
          <a:prstGeom prst="ellipse">
            <a:avLst/>
          </a:prstGeom>
          <a:solidFill>
            <a:schemeClr val="accent2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endParaRPr/>
          </a:p>
        </p:txBody>
      </p:sp>
      <p:sp>
        <p:nvSpPr>
          <p:cNvPr id="4143" name="Google Shape;4143;p143"/>
          <p:cNvSpPr/>
          <p:nvPr/>
        </p:nvSpPr>
        <p:spPr>
          <a:xfrm>
            <a:off x="6622654" y="4746383"/>
            <a:ext cx="556142" cy="509345"/>
          </a:xfrm>
          <a:prstGeom prst="ellipse">
            <a:avLst/>
          </a:prstGeom>
          <a:solidFill>
            <a:schemeClr val="accent2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/>
          </a:p>
        </p:txBody>
      </p:sp>
      <p:sp>
        <p:nvSpPr>
          <p:cNvPr id="4152" name="Google Shape;4152;p143"/>
          <p:cNvSpPr/>
          <p:nvPr/>
        </p:nvSpPr>
        <p:spPr>
          <a:xfrm rot="1132606">
            <a:off x="7377045" y="1346966"/>
            <a:ext cx="3764300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Heap Increase Key (A, heapsize, new value)</a:t>
            </a:r>
            <a:endParaRPr/>
          </a:p>
        </p:txBody>
      </p:sp>
      <p:graphicFrame>
        <p:nvGraphicFramePr>
          <p:cNvPr id="4153" name="Google Shape;4153;p143"/>
          <p:cNvGraphicFramePr/>
          <p:nvPr/>
        </p:nvGraphicFramePr>
        <p:xfrm>
          <a:off x="6096000" y="2285354"/>
          <a:ext cx="5177150" cy="731540"/>
        </p:xfrm>
        <a:graphic>
          <a:graphicData uri="http://schemas.openxmlformats.org/drawingml/2006/table">
            <a:tbl>
              <a:tblPr firstRow="1" bandRow="1">
                <a:noFill/>
                <a:tableStyleId>{66088737-8E24-4614-AAA7-3D08145F63E1}</a:tableStyleId>
              </a:tblPr>
              <a:tblGrid>
                <a:gridCol w="4706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06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706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135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77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706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706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7065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47065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47065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47065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</a:tblGrid>
              <a:tr h="2914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1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2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3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4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5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6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7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8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9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10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11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14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u="none" strike="noStrike" cap="none">
                          <a:solidFill>
                            <a:schemeClr val="dk1"/>
                          </a:solidFill>
                        </a:rPr>
                        <a:t>16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u="none" strike="noStrike" cap="none">
                          <a:solidFill>
                            <a:schemeClr val="dk1"/>
                          </a:solidFill>
                        </a:rPr>
                        <a:t>14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u="none" strike="noStrike" cap="none">
                          <a:solidFill>
                            <a:schemeClr val="dk1"/>
                          </a:solidFill>
                        </a:rPr>
                        <a:t>10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u="none" strike="noStrike" cap="none">
                          <a:solidFill>
                            <a:schemeClr val="dk1"/>
                          </a:solidFill>
                        </a:rPr>
                        <a:t>8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u="none" strike="noStrike" cap="none">
                          <a:solidFill>
                            <a:schemeClr val="dk1"/>
                          </a:solidFill>
                        </a:rPr>
                        <a:t>7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u="none" strike="noStrike" cap="none">
                          <a:solidFill>
                            <a:schemeClr val="dk1"/>
                          </a:solidFill>
                        </a:rPr>
                        <a:t>9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u="none" strike="noStrike" cap="none">
                          <a:solidFill>
                            <a:schemeClr val="dk1"/>
                          </a:solidFill>
                        </a:rPr>
                        <a:t>3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u="none" strike="noStrike" cap="none">
                          <a:solidFill>
                            <a:schemeClr val="dk1"/>
                          </a:solidFill>
                        </a:rPr>
                        <a:t>2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u="none" strike="noStrike" cap="none">
                          <a:solidFill>
                            <a:schemeClr val="dk1"/>
                          </a:solidFill>
                        </a:rPr>
                        <a:t>4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u="none" strike="noStrike" cap="none">
                          <a:solidFill>
                            <a:schemeClr val="dk1"/>
                          </a:solidFill>
                        </a:rPr>
                        <a:t>1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 u="none" strike="noStrike" cap="none">
                          <a:solidFill>
                            <a:schemeClr val="dk1"/>
                          </a:solidFill>
                        </a:rPr>
                        <a:t>-inf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4154" name="Google Shape;4154;p143"/>
          <p:cNvSpPr/>
          <p:nvPr/>
        </p:nvSpPr>
        <p:spPr>
          <a:xfrm>
            <a:off x="3787115" y="5581420"/>
            <a:ext cx="748848" cy="509345"/>
          </a:xfrm>
          <a:prstGeom prst="ellipse">
            <a:avLst/>
          </a:prstGeom>
          <a:solidFill>
            <a:schemeClr val="dk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/>
          </a:p>
        </p:txBody>
      </p:sp>
      <p:cxnSp>
        <p:nvCxnSpPr>
          <p:cNvPr id="4155" name="Google Shape;4155;p143"/>
          <p:cNvCxnSpPr>
            <a:stCxn id="4138" idx="5"/>
            <a:endCxn id="4154" idx="0"/>
          </p:cNvCxnSpPr>
          <p:nvPr/>
        </p:nvCxnSpPr>
        <p:spPr>
          <a:xfrm>
            <a:off x="3685165" y="5178307"/>
            <a:ext cx="476400" cy="403200"/>
          </a:xfrm>
          <a:prstGeom prst="straightConnector1">
            <a:avLst/>
          </a:prstGeom>
          <a:solidFill>
            <a:schemeClr val="accent2"/>
          </a:solidFill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4156" name="Google Shape;4156;p143"/>
          <p:cNvSpPr/>
          <p:nvPr/>
        </p:nvSpPr>
        <p:spPr>
          <a:xfrm>
            <a:off x="3073801" y="4613841"/>
            <a:ext cx="806055" cy="762953"/>
          </a:xfrm>
          <a:prstGeom prst="donut">
            <a:avLst>
              <a:gd name="adj" fmla="val 17685"/>
            </a:avLst>
          </a:prstGeom>
          <a:solidFill>
            <a:srgbClr val="FF0000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1" name="Google Shape;4161;p144"/>
          <p:cNvSpPr txBox="1">
            <a:spLocks noGrp="1"/>
          </p:cNvSpPr>
          <p:nvPr>
            <p:ph type="body" idx="1"/>
          </p:nvPr>
        </p:nvSpPr>
        <p:spPr>
          <a:xfrm>
            <a:off x="838200" y="1227909"/>
            <a:ext cx="10515600" cy="49490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1500"/>
              <a:buFont typeface="Arial"/>
              <a:buChar char="●"/>
            </a:pPr>
            <a:r>
              <a:rPr lang="en-US" sz="2000" b="1"/>
              <a:t>Priority Queue functions</a:t>
            </a:r>
            <a:endParaRPr/>
          </a:p>
          <a:p>
            <a:pPr marL="742950" lvl="1" indent="-28575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040"/>
              <a:buChar char="●"/>
            </a:pPr>
            <a:r>
              <a:rPr lang="en-US" sz="1600"/>
              <a:t>HEAP-MAXIMUM </a:t>
            </a:r>
            <a:endParaRPr/>
          </a:p>
          <a:p>
            <a:pPr marL="742950" lvl="1" indent="-28575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040"/>
              <a:buChar char="●"/>
            </a:pPr>
            <a:r>
              <a:rPr lang="en-US" sz="1600" b="1"/>
              <a:t>MAX-HEAP-INSERT</a:t>
            </a:r>
            <a:endParaRPr/>
          </a:p>
          <a:p>
            <a:pPr marL="742950" lvl="1" indent="-28575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040"/>
              <a:buChar char="●"/>
            </a:pPr>
            <a:r>
              <a:rPr lang="en-US" sz="1600"/>
              <a:t>HEAP-EXTRACT-MAX</a:t>
            </a:r>
            <a:endParaRPr/>
          </a:p>
          <a:p>
            <a:pPr marL="742950" lvl="1" indent="-28575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040"/>
              <a:buChar char="●"/>
            </a:pPr>
            <a:r>
              <a:rPr lang="en-US" sz="1600"/>
              <a:t>HEAP-INCREASE-KEY</a:t>
            </a:r>
            <a:endParaRPr/>
          </a:p>
        </p:txBody>
      </p:sp>
      <p:sp>
        <p:nvSpPr>
          <p:cNvPr id="4162" name="Google Shape;4162;p144"/>
          <p:cNvSpPr txBox="1">
            <a:spLocks noGrp="1"/>
          </p:cNvSpPr>
          <p:nvPr>
            <p:ph type="dt" idx="10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40006B5F-032A-4201-B486-5764C3B5FB4E}" type="datetime1">
              <a:rPr lang="en-US" smtClean="0"/>
              <a:t>1/12/2026</a:t>
            </a:fld>
            <a:endParaRPr/>
          </a:p>
        </p:txBody>
      </p:sp>
      <p:sp>
        <p:nvSpPr>
          <p:cNvPr id="4163" name="Google Shape;4163;p144"/>
          <p:cNvSpPr txBox="1">
            <a:spLocks noGrp="1"/>
          </p:cNvSpPr>
          <p:nvPr>
            <p:ph type="ftr" idx="11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Lec Asif Abrar, Dept of CSE, UIU</a:t>
            </a:r>
            <a:endParaRPr/>
          </a:p>
        </p:txBody>
      </p:sp>
      <p:sp>
        <p:nvSpPr>
          <p:cNvPr id="4164" name="Google Shape;4164;p144"/>
          <p:cNvSpPr txBox="1">
            <a:spLocks noGrp="1"/>
          </p:cNvSpPr>
          <p:nvPr>
            <p:ph type="sldNum" idx="12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111</a:t>
            </a:fld>
            <a:endParaRPr/>
          </a:p>
        </p:txBody>
      </p:sp>
      <p:sp>
        <p:nvSpPr>
          <p:cNvPr id="4165" name="Google Shape;4165;p144"/>
          <p:cNvSpPr txBox="1">
            <a:spLocks noGrp="1"/>
          </p:cNvSpPr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/>
              <a:t>Max heap as a priority queue</a:t>
            </a:r>
            <a:endParaRPr/>
          </a:p>
        </p:txBody>
      </p:sp>
      <p:sp>
        <p:nvSpPr>
          <p:cNvPr id="4166" name="Google Shape;4166;p144"/>
          <p:cNvSpPr/>
          <p:nvPr/>
        </p:nvSpPr>
        <p:spPr>
          <a:xfrm>
            <a:off x="4270193" y="3335875"/>
            <a:ext cx="556142" cy="509345"/>
          </a:xfrm>
          <a:prstGeom prst="ellipse">
            <a:avLst/>
          </a:prstGeom>
          <a:solidFill>
            <a:schemeClr val="accent2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16</a:t>
            </a:r>
            <a:endParaRPr/>
          </a:p>
        </p:txBody>
      </p:sp>
      <p:sp>
        <p:nvSpPr>
          <p:cNvPr id="4167" name="Google Shape;4167;p144"/>
          <p:cNvSpPr/>
          <p:nvPr/>
        </p:nvSpPr>
        <p:spPr>
          <a:xfrm>
            <a:off x="2247415" y="4097144"/>
            <a:ext cx="556142" cy="509345"/>
          </a:xfrm>
          <a:prstGeom prst="ellipse">
            <a:avLst/>
          </a:prstGeom>
          <a:solidFill>
            <a:schemeClr val="accent2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15</a:t>
            </a:r>
            <a:endParaRPr/>
          </a:p>
        </p:txBody>
      </p:sp>
      <p:sp>
        <p:nvSpPr>
          <p:cNvPr id="4168" name="Google Shape;4168;p144"/>
          <p:cNvSpPr/>
          <p:nvPr/>
        </p:nvSpPr>
        <p:spPr>
          <a:xfrm>
            <a:off x="1625939" y="4653360"/>
            <a:ext cx="556142" cy="509345"/>
          </a:xfrm>
          <a:prstGeom prst="ellipse">
            <a:avLst/>
          </a:prstGeom>
          <a:solidFill>
            <a:schemeClr val="accent2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/>
          </a:p>
        </p:txBody>
      </p:sp>
      <p:sp>
        <p:nvSpPr>
          <p:cNvPr id="4169" name="Google Shape;4169;p144"/>
          <p:cNvSpPr/>
          <p:nvPr/>
        </p:nvSpPr>
        <p:spPr>
          <a:xfrm>
            <a:off x="1072894" y="5376794"/>
            <a:ext cx="556142" cy="509345"/>
          </a:xfrm>
          <a:prstGeom prst="ellipse">
            <a:avLst/>
          </a:prstGeom>
          <a:solidFill>
            <a:schemeClr val="accent2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  <p:sp>
        <p:nvSpPr>
          <p:cNvPr id="4170" name="Google Shape;4170;p144"/>
          <p:cNvSpPr/>
          <p:nvPr/>
        </p:nvSpPr>
        <p:spPr>
          <a:xfrm>
            <a:off x="1929716" y="5417685"/>
            <a:ext cx="556142" cy="509345"/>
          </a:xfrm>
          <a:prstGeom prst="ellipse">
            <a:avLst/>
          </a:prstGeom>
          <a:solidFill>
            <a:schemeClr val="accent2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/>
          </a:p>
        </p:txBody>
      </p:sp>
      <p:sp>
        <p:nvSpPr>
          <p:cNvPr id="4171" name="Google Shape;4171;p144"/>
          <p:cNvSpPr/>
          <p:nvPr/>
        </p:nvSpPr>
        <p:spPr>
          <a:xfrm>
            <a:off x="3210468" y="4743554"/>
            <a:ext cx="556142" cy="509345"/>
          </a:xfrm>
          <a:prstGeom prst="ellipse">
            <a:avLst/>
          </a:prstGeom>
          <a:solidFill>
            <a:schemeClr val="accent2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14</a:t>
            </a:r>
            <a:endParaRPr/>
          </a:p>
        </p:txBody>
      </p:sp>
      <p:sp>
        <p:nvSpPr>
          <p:cNvPr id="4172" name="Google Shape;4172;p144"/>
          <p:cNvSpPr/>
          <p:nvPr/>
        </p:nvSpPr>
        <p:spPr>
          <a:xfrm>
            <a:off x="5698070" y="4025144"/>
            <a:ext cx="556142" cy="509345"/>
          </a:xfrm>
          <a:prstGeom prst="ellipse">
            <a:avLst/>
          </a:prstGeom>
          <a:solidFill>
            <a:schemeClr val="accent2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/>
          </a:p>
        </p:txBody>
      </p:sp>
      <p:cxnSp>
        <p:nvCxnSpPr>
          <p:cNvPr id="4173" name="Google Shape;4173;p144"/>
          <p:cNvCxnSpPr>
            <a:stCxn id="4166" idx="3"/>
            <a:endCxn id="4167" idx="7"/>
          </p:cNvCxnSpPr>
          <p:nvPr/>
        </p:nvCxnSpPr>
        <p:spPr>
          <a:xfrm flipH="1">
            <a:off x="2722038" y="3770628"/>
            <a:ext cx="1629600" cy="401100"/>
          </a:xfrm>
          <a:prstGeom prst="straightConnector1">
            <a:avLst/>
          </a:prstGeom>
          <a:solidFill>
            <a:schemeClr val="accent2"/>
          </a:solidFill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4174" name="Google Shape;4174;p144"/>
          <p:cNvCxnSpPr>
            <a:stCxn id="4172" idx="1"/>
            <a:endCxn id="4166" idx="5"/>
          </p:cNvCxnSpPr>
          <p:nvPr/>
        </p:nvCxnSpPr>
        <p:spPr>
          <a:xfrm rot="10800000">
            <a:off x="4744815" y="3770636"/>
            <a:ext cx="1034700" cy="329100"/>
          </a:xfrm>
          <a:prstGeom prst="straightConnector1">
            <a:avLst/>
          </a:prstGeom>
          <a:solidFill>
            <a:schemeClr val="accent2"/>
          </a:solidFill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4175" name="Google Shape;4175;p144"/>
          <p:cNvCxnSpPr>
            <a:stCxn id="4176" idx="0"/>
            <a:endCxn id="4172" idx="5"/>
          </p:cNvCxnSpPr>
          <p:nvPr/>
        </p:nvCxnSpPr>
        <p:spPr>
          <a:xfrm rot="10800000">
            <a:off x="6172625" y="4459883"/>
            <a:ext cx="728100" cy="286500"/>
          </a:xfrm>
          <a:prstGeom prst="straightConnector1">
            <a:avLst/>
          </a:prstGeom>
          <a:solidFill>
            <a:schemeClr val="accent2"/>
          </a:solidFill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4177" name="Google Shape;4177;p144"/>
          <p:cNvCxnSpPr>
            <a:stCxn id="4178" idx="0"/>
            <a:endCxn id="4172" idx="3"/>
          </p:cNvCxnSpPr>
          <p:nvPr/>
        </p:nvCxnSpPr>
        <p:spPr>
          <a:xfrm rot="10800000" flipH="1">
            <a:off x="5447878" y="4459986"/>
            <a:ext cx="331500" cy="200400"/>
          </a:xfrm>
          <a:prstGeom prst="straightConnector1">
            <a:avLst/>
          </a:prstGeom>
          <a:solidFill>
            <a:schemeClr val="accent2"/>
          </a:solidFill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4179" name="Google Shape;4179;p144"/>
          <p:cNvCxnSpPr>
            <a:stCxn id="4167" idx="3"/>
            <a:endCxn id="4168" idx="7"/>
          </p:cNvCxnSpPr>
          <p:nvPr/>
        </p:nvCxnSpPr>
        <p:spPr>
          <a:xfrm flipH="1">
            <a:off x="2100560" y="4531897"/>
            <a:ext cx="228300" cy="196200"/>
          </a:xfrm>
          <a:prstGeom prst="straightConnector1">
            <a:avLst/>
          </a:prstGeom>
          <a:solidFill>
            <a:schemeClr val="accent2"/>
          </a:solidFill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4180" name="Google Shape;4180;p144"/>
          <p:cNvCxnSpPr>
            <a:stCxn id="4167" idx="5"/>
            <a:endCxn id="4171" idx="1"/>
          </p:cNvCxnSpPr>
          <p:nvPr/>
        </p:nvCxnSpPr>
        <p:spPr>
          <a:xfrm>
            <a:off x="2722112" y="4531897"/>
            <a:ext cx="569700" cy="286200"/>
          </a:xfrm>
          <a:prstGeom prst="straightConnector1">
            <a:avLst/>
          </a:prstGeom>
          <a:solidFill>
            <a:schemeClr val="accent2"/>
          </a:solidFill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4181" name="Google Shape;4181;p144"/>
          <p:cNvCxnSpPr>
            <a:stCxn id="4168" idx="3"/>
            <a:endCxn id="4169" idx="7"/>
          </p:cNvCxnSpPr>
          <p:nvPr/>
        </p:nvCxnSpPr>
        <p:spPr>
          <a:xfrm flipH="1">
            <a:off x="1547484" y="5088113"/>
            <a:ext cx="159900" cy="363300"/>
          </a:xfrm>
          <a:prstGeom prst="straightConnector1">
            <a:avLst/>
          </a:prstGeom>
          <a:solidFill>
            <a:schemeClr val="accent2"/>
          </a:solidFill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4182" name="Google Shape;4182;p144"/>
          <p:cNvCxnSpPr>
            <a:stCxn id="4168" idx="5"/>
            <a:endCxn id="4170" idx="0"/>
          </p:cNvCxnSpPr>
          <p:nvPr/>
        </p:nvCxnSpPr>
        <p:spPr>
          <a:xfrm>
            <a:off x="2100636" y="5088113"/>
            <a:ext cx="107100" cy="329700"/>
          </a:xfrm>
          <a:prstGeom prst="straightConnector1">
            <a:avLst/>
          </a:prstGeom>
          <a:solidFill>
            <a:schemeClr val="accent2"/>
          </a:solidFill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4183" name="Google Shape;4183;p144"/>
          <p:cNvSpPr/>
          <p:nvPr/>
        </p:nvSpPr>
        <p:spPr>
          <a:xfrm>
            <a:off x="2604089" y="5451386"/>
            <a:ext cx="556142" cy="509345"/>
          </a:xfrm>
          <a:prstGeom prst="ellipse">
            <a:avLst/>
          </a:prstGeom>
          <a:solidFill>
            <a:schemeClr val="accent2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cxnSp>
        <p:nvCxnSpPr>
          <p:cNvPr id="4184" name="Google Shape;4184;p144"/>
          <p:cNvCxnSpPr>
            <a:stCxn id="4171" idx="3"/>
            <a:endCxn id="4183" idx="7"/>
          </p:cNvCxnSpPr>
          <p:nvPr/>
        </p:nvCxnSpPr>
        <p:spPr>
          <a:xfrm flipH="1">
            <a:off x="3078913" y="5178307"/>
            <a:ext cx="213000" cy="347700"/>
          </a:xfrm>
          <a:prstGeom prst="straightConnector1">
            <a:avLst/>
          </a:prstGeom>
          <a:solidFill>
            <a:schemeClr val="accent2"/>
          </a:solidFill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4178" name="Google Shape;4178;p144"/>
          <p:cNvSpPr/>
          <p:nvPr/>
        </p:nvSpPr>
        <p:spPr>
          <a:xfrm>
            <a:off x="5169807" y="4660386"/>
            <a:ext cx="556142" cy="509345"/>
          </a:xfrm>
          <a:prstGeom prst="ellipse">
            <a:avLst/>
          </a:prstGeom>
          <a:solidFill>
            <a:schemeClr val="accent2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endParaRPr/>
          </a:p>
        </p:txBody>
      </p:sp>
      <p:sp>
        <p:nvSpPr>
          <p:cNvPr id="4176" name="Google Shape;4176;p144"/>
          <p:cNvSpPr/>
          <p:nvPr/>
        </p:nvSpPr>
        <p:spPr>
          <a:xfrm>
            <a:off x="6622654" y="4746383"/>
            <a:ext cx="556142" cy="509345"/>
          </a:xfrm>
          <a:prstGeom prst="ellipse">
            <a:avLst/>
          </a:prstGeom>
          <a:solidFill>
            <a:schemeClr val="accent2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/>
          </a:p>
        </p:txBody>
      </p:sp>
      <p:sp>
        <p:nvSpPr>
          <p:cNvPr id="4185" name="Google Shape;4185;p144"/>
          <p:cNvSpPr/>
          <p:nvPr/>
        </p:nvSpPr>
        <p:spPr>
          <a:xfrm rot="1132606">
            <a:off x="7377045" y="1346966"/>
            <a:ext cx="3764300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Heap Increase Key (A, heapsize, new value)</a:t>
            </a:r>
            <a:endParaRPr/>
          </a:p>
        </p:txBody>
      </p:sp>
      <p:graphicFrame>
        <p:nvGraphicFramePr>
          <p:cNvPr id="4186" name="Google Shape;4186;p144"/>
          <p:cNvGraphicFramePr/>
          <p:nvPr/>
        </p:nvGraphicFramePr>
        <p:xfrm>
          <a:off x="6096000" y="2285354"/>
          <a:ext cx="5177150" cy="731540"/>
        </p:xfrm>
        <a:graphic>
          <a:graphicData uri="http://schemas.openxmlformats.org/drawingml/2006/table">
            <a:tbl>
              <a:tblPr firstRow="1" bandRow="1">
                <a:noFill/>
                <a:tableStyleId>{66088737-8E24-4614-AAA7-3D08145F63E1}</a:tableStyleId>
              </a:tblPr>
              <a:tblGrid>
                <a:gridCol w="4706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06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706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135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77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706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706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7065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47065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47065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47065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</a:tblGrid>
              <a:tr h="2914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1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2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3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4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5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6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7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8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9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10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11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14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u="none" strike="noStrike" cap="none">
                          <a:solidFill>
                            <a:schemeClr val="dk1"/>
                          </a:solidFill>
                        </a:rPr>
                        <a:t>16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u="none" strike="noStrike" cap="none">
                          <a:solidFill>
                            <a:schemeClr val="dk1"/>
                          </a:solidFill>
                        </a:rPr>
                        <a:t>14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u="none" strike="noStrike" cap="none">
                          <a:solidFill>
                            <a:schemeClr val="dk1"/>
                          </a:solidFill>
                        </a:rPr>
                        <a:t>10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u="none" strike="noStrike" cap="none">
                          <a:solidFill>
                            <a:schemeClr val="dk1"/>
                          </a:solidFill>
                        </a:rPr>
                        <a:t>8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u="none" strike="noStrike" cap="none">
                          <a:solidFill>
                            <a:schemeClr val="dk1"/>
                          </a:solidFill>
                        </a:rPr>
                        <a:t>7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u="none" strike="noStrike" cap="none">
                          <a:solidFill>
                            <a:schemeClr val="dk1"/>
                          </a:solidFill>
                        </a:rPr>
                        <a:t>9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u="none" strike="noStrike" cap="none">
                          <a:solidFill>
                            <a:schemeClr val="dk1"/>
                          </a:solidFill>
                        </a:rPr>
                        <a:t>3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u="none" strike="noStrike" cap="none">
                          <a:solidFill>
                            <a:schemeClr val="dk1"/>
                          </a:solidFill>
                        </a:rPr>
                        <a:t>2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u="none" strike="noStrike" cap="none">
                          <a:solidFill>
                            <a:schemeClr val="dk1"/>
                          </a:solidFill>
                        </a:rPr>
                        <a:t>4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u="none" strike="noStrike" cap="none">
                          <a:solidFill>
                            <a:schemeClr val="dk1"/>
                          </a:solidFill>
                        </a:rPr>
                        <a:t>1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 u="none" strike="noStrike" cap="none">
                          <a:solidFill>
                            <a:schemeClr val="dk1"/>
                          </a:solidFill>
                        </a:rPr>
                        <a:t>-inf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4187" name="Google Shape;4187;p144"/>
          <p:cNvSpPr/>
          <p:nvPr/>
        </p:nvSpPr>
        <p:spPr>
          <a:xfrm>
            <a:off x="3787115" y="5581420"/>
            <a:ext cx="748848" cy="509345"/>
          </a:xfrm>
          <a:prstGeom prst="ellipse">
            <a:avLst/>
          </a:prstGeom>
          <a:solidFill>
            <a:schemeClr val="dk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/>
          </a:p>
        </p:txBody>
      </p:sp>
      <p:cxnSp>
        <p:nvCxnSpPr>
          <p:cNvPr id="4188" name="Google Shape;4188;p144"/>
          <p:cNvCxnSpPr>
            <a:stCxn id="4171" idx="5"/>
            <a:endCxn id="4187" idx="0"/>
          </p:cNvCxnSpPr>
          <p:nvPr/>
        </p:nvCxnSpPr>
        <p:spPr>
          <a:xfrm>
            <a:off x="3685165" y="5178307"/>
            <a:ext cx="476400" cy="403200"/>
          </a:xfrm>
          <a:prstGeom prst="straightConnector1">
            <a:avLst/>
          </a:prstGeom>
          <a:solidFill>
            <a:schemeClr val="accent2"/>
          </a:solidFill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</p:spTree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3" name="Google Shape;4193;p145"/>
          <p:cNvSpPr txBox="1">
            <a:spLocks noGrp="1"/>
          </p:cNvSpPr>
          <p:nvPr>
            <p:ph type="body" idx="1"/>
          </p:nvPr>
        </p:nvSpPr>
        <p:spPr>
          <a:xfrm>
            <a:off x="838200" y="1227909"/>
            <a:ext cx="10515600" cy="49490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1500"/>
              <a:buFont typeface="Arial"/>
              <a:buChar char="●"/>
            </a:pPr>
            <a:r>
              <a:rPr lang="en-US" sz="2000" b="1"/>
              <a:t>Priority Queue functions</a:t>
            </a:r>
            <a:endParaRPr/>
          </a:p>
          <a:p>
            <a:pPr marL="742950" lvl="1" indent="-28575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040"/>
              <a:buChar char="●"/>
            </a:pPr>
            <a:r>
              <a:rPr lang="en-US" sz="1600"/>
              <a:t>HEAP-MAXIMUM </a:t>
            </a:r>
            <a:endParaRPr/>
          </a:p>
          <a:p>
            <a:pPr marL="742950" lvl="1" indent="-28575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040"/>
              <a:buChar char="●"/>
            </a:pPr>
            <a:r>
              <a:rPr lang="en-US" sz="1600" b="1"/>
              <a:t>MAX-HEAP-INSERT</a:t>
            </a:r>
            <a:endParaRPr/>
          </a:p>
          <a:p>
            <a:pPr marL="742950" lvl="1" indent="-28575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040"/>
              <a:buChar char="●"/>
            </a:pPr>
            <a:r>
              <a:rPr lang="en-US" sz="1600"/>
              <a:t>HEAP-EXTRACT-MAX</a:t>
            </a:r>
            <a:endParaRPr/>
          </a:p>
          <a:p>
            <a:pPr marL="742950" lvl="1" indent="-28575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040"/>
              <a:buChar char="●"/>
            </a:pPr>
            <a:r>
              <a:rPr lang="en-US" sz="1600"/>
              <a:t>HEAP-INCREASE-KEY</a:t>
            </a:r>
            <a:endParaRPr/>
          </a:p>
        </p:txBody>
      </p:sp>
      <p:sp>
        <p:nvSpPr>
          <p:cNvPr id="4194" name="Google Shape;4194;p145"/>
          <p:cNvSpPr txBox="1">
            <a:spLocks noGrp="1"/>
          </p:cNvSpPr>
          <p:nvPr>
            <p:ph type="dt" idx="10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BE32433E-1916-470B-98AD-7C25723B1AA5}" type="datetime1">
              <a:rPr lang="en-US" smtClean="0"/>
              <a:t>1/12/2026</a:t>
            </a:fld>
            <a:endParaRPr/>
          </a:p>
        </p:txBody>
      </p:sp>
      <p:sp>
        <p:nvSpPr>
          <p:cNvPr id="4195" name="Google Shape;4195;p145"/>
          <p:cNvSpPr txBox="1">
            <a:spLocks noGrp="1"/>
          </p:cNvSpPr>
          <p:nvPr>
            <p:ph type="ftr" idx="11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Lec Asif Abrar, Dept of CSE, UIU</a:t>
            </a:r>
            <a:endParaRPr/>
          </a:p>
        </p:txBody>
      </p:sp>
      <p:sp>
        <p:nvSpPr>
          <p:cNvPr id="4196" name="Google Shape;4196;p145"/>
          <p:cNvSpPr txBox="1">
            <a:spLocks noGrp="1"/>
          </p:cNvSpPr>
          <p:nvPr>
            <p:ph type="sldNum" idx="12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112</a:t>
            </a:fld>
            <a:endParaRPr/>
          </a:p>
        </p:txBody>
      </p:sp>
      <p:sp>
        <p:nvSpPr>
          <p:cNvPr id="4197" name="Google Shape;4197;p145"/>
          <p:cNvSpPr txBox="1">
            <a:spLocks noGrp="1"/>
          </p:cNvSpPr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/>
              <a:t>Max heap as a priority queue</a:t>
            </a:r>
            <a:endParaRPr/>
          </a:p>
        </p:txBody>
      </p:sp>
      <p:sp>
        <p:nvSpPr>
          <p:cNvPr id="4198" name="Google Shape;4198;p145"/>
          <p:cNvSpPr/>
          <p:nvPr/>
        </p:nvSpPr>
        <p:spPr>
          <a:xfrm>
            <a:off x="4270193" y="3335875"/>
            <a:ext cx="556142" cy="509345"/>
          </a:xfrm>
          <a:prstGeom prst="ellipse">
            <a:avLst/>
          </a:prstGeom>
          <a:solidFill>
            <a:schemeClr val="accent2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16</a:t>
            </a:r>
            <a:endParaRPr/>
          </a:p>
        </p:txBody>
      </p:sp>
      <p:sp>
        <p:nvSpPr>
          <p:cNvPr id="4199" name="Google Shape;4199;p145"/>
          <p:cNvSpPr/>
          <p:nvPr/>
        </p:nvSpPr>
        <p:spPr>
          <a:xfrm>
            <a:off x="2247415" y="4097144"/>
            <a:ext cx="556142" cy="509345"/>
          </a:xfrm>
          <a:prstGeom prst="ellipse">
            <a:avLst/>
          </a:prstGeom>
          <a:solidFill>
            <a:schemeClr val="accent2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15</a:t>
            </a:r>
            <a:endParaRPr/>
          </a:p>
        </p:txBody>
      </p:sp>
      <p:sp>
        <p:nvSpPr>
          <p:cNvPr id="4200" name="Google Shape;4200;p145"/>
          <p:cNvSpPr/>
          <p:nvPr/>
        </p:nvSpPr>
        <p:spPr>
          <a:xfrm>
            <a:off x="1625939" y="4653360"/>
            <a:ext cx="556142" cy="509345"/>
          </a:xfrm>
          <a:prstGeom prst="ellipse">
            <a:avLst/>
          </a:prstGeom>
          <a:solidFill>
            <a:schemeClr val="accent2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/>
          </a:p>
        </p:txBody>
      </p:sp>
      <p:sp>
        <p:nvSpPr>
          <p:cNvPr id="4201" name="Google Shape;4201;p145"/>
          <p:cNvSpPr/>
          <p:nvPr/>
        </p:nvSpPr>
        <p:spPr>
          <a:xfrm>
            <a:off x="1072894" y="5376794"/>
            <a:ext cx="556142" cy="509345"/>
          </a:xfrm>
          <a:prstGeom prst="ellipse">
            <a:avLst/>
          </a:prstGeom>
          <a:solidFill>
            <a:schemeClr val="accent2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  <p:sp>
        <p:nvSpPr>
          <p:cNvPr id="4202" name="Google Shape;4202;p145"/>
          <p:cNvSpPr/>
          <p:nvPr/>
        </p:nvSpPr>
        <p:spPr>
          <a:xfrm>
            <a:off x="1929716" y="5417685"/>
            <a:ext cx="556142" cy="509345"/>
          </a:xfrm>
          <a:prstGeom prst="ellipse">
            <a:avLst/>
          </a:prstGeom>
          <a:solidFill>
            <a:schemeClr val="accent2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/>
          </a:p>
        </p:txBody>
      </p:sp>
      <p:sp>
        <p:nvSpPr>
          <p:cNvPr id="4203" name="Google Shape;4203;p145"/>
          <p:cNvSpPr/>
          <p:nvPr/>
        </p:nvSpPr>
        <p:spPr>
          <a:xfrm>
            <a:off x="3210468" y="4743554"/>
            <a:ext cx="556142" cy="509345"/>
          </a:xfrm>
          <a:prstGeom prst="ellipse">
            <a:avLst/>
          </a:prstGeom>
          <a:solidFill>
            <a:schemeClr val="accent2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14</a:t>
            </a:r>
            <a:endParaRPr/>
          </a:p>
        </p:txBody>
      </p:sp>
      <p:sp>
        <p:nvSpPr>
          <p:cNvPr id="4204" name="Google Shape;4204;p145"/>
          <p:cNvSpPr/>
          <p:nvPr/>
        </p:nvSpPr>
        <p:spPr>
          <a:xfrm>
            <a:off x="5698070" y="4025144"/>
            <a:ext cx="556142" cy="509345"/>
          </a:xfrm>
          <a:prstGeom prst="ellipse">
            <a:avLst/>
          </a:prstGeom>
          <a:solidFill>
            <a:schemeClr val="accent2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/>
          </a:p>
        </p:txBody>
      </p:sp>
      <p:cxnSp>
        <p:nvCxnSpPr>
          <p:cNvPr id="4205" name="Google Shape;4205;p145"/>
          <p:cNvCxnSpPr>
            <a:stCxn id="4198" idx="3"/>
            <a:endCxn id="4199" idx="7"/>
          </p:cNvCxnSpPr>
          <p:nvPr/>
        </p:nvCxnSpPr>
        <p:spPr>
          <a:xfrm flipH="1">
            <a:off x="2722038" y="3770628"/>
            <a:ext cx="1629600" cy="401100"/>
          </a:xfrm>
          <a:prstGeom prst="straightConnector1">
            <a:avLst/>
          </a:prstGeom>
          <a:solidFill>
            <a:schemeClr val="accent2"/>
          </a:solidFill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4206" name="Google Shape;4206;p145"/>
          <p:cNvCxnSpPr>
            <a:stCxn id="4204" idx="1"/>
            <a:endCxn id="4198" idx="5"/>
          </p:cNvCxnSpPr>
          <p:nvPr/>
        </p:nvCxnSpPr>
        <p:spPr>
          <a:xfrm rot="10800000">
            <a:off x="4744815" y="3770636"/>
            <a:ext cx="1034700" cy="329100"/>
          </a:xfrm>
          <a:prstGeom prst="straightConnector1">
            <a:avLst/>
          </a:prstGeom>
          <a:solidFill>
            <a:schemeClr val="accent2"/>
          </a:solidFill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4207" name="Google Shape;4207;p145"/>
          <p:cNvCxnSpPr>
            <a:stCxn id="4208" idx="0"/>
            <a:endCxn id="4204" idx="5"/>
          </p:cNvCxnSpPr>
          <p:nvPr/>
        </p:nvCxnSpPr>
        <p:spPr>
          <a:xfrm rot="10800000">
            <a:off x="6172625" y="4459883"/>
            <a:ext cx="728100" cy="286500"/>
          </a:xfrm>
          <a:prstGeom prst="straightConnector1">
            <a:avLst/>
          </a:prstGeom>
          <a:solidFill>
            <a:schemeClr val="accent2"/>
          </a:solidFill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4209" name="Google Shape;4209;p145"/>
          <p:cNvCxnSpPr>
            <a:stCxn id="4210" idx="0"/>
            <a:endCxn id="4204" idx="3"/>
          </p:cNvCxnSpPr>
          <p:nvPr/>
        </p:nvCxnSpPr>
        <p:spPr>
          <a:xfrm rot="10800000" flipH="1">
            <a:off x="5447878" y="4459986"/>
            <a:ext cx="331500" cy="200400"/>
          </a:xfrm>
          <a:prstGeom prst="straightConnector1">
            <a:avLst/>
          </a:prstGeom>
          <a:solidFill>
            <a:schemeClr val="accent2"/>
          </a:solidFill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4211" name="Google Shape;4211;p145"/>
          <p:cNvCxnSpPr>
            <a:stCxn id="4199" idx="3"/>
            <a:endCxn id="4200" idx="7"/>
          </p:cNvCxnSpPr>
          <p:nvPr/>
        </p:nvCxnSpPr>
        <p:spPr>
          <a:xfrm flipH="1">
            <a:off x="2100560" y="4531897"/>
            <a:ext cx="228300" cy="196200"/>
          </a:xfrm>
          <a:prstGeom prst="straightConnector1">
            <a:avLst/>
          </a:prstGeom>
          <a:solidFill>
            <a:schemeClr val="accent2"/>
          </a:solidFill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4212" name="Google Shape;4212;p145"/>
          <p:cNvCxnSpPr>
            <a:stCxn id="4199" idx="5"/>
            <a:endCxn id="4203" idx="1"/>
          </p:cNvCxnSpPr>
          <p:nvPr/>
        </p:nvCxnSpPr>
        <p:spPr>
          <a:xfrm>
            <a:off x="2722112" y="4531897"/>
            <a:ext cx="569700" cy="286200"/>
          </a:xfrm>
          <a:prstGeom prst="straightConnector1">
            <a:avLst/>
          </a:prstGeom>
          <a:solidFill>
            <a:schemeClr val="accent2"/>
          </a:solidFill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4213" name="Google Shape;4213;p145"/>
          <p:cNvCxnSpPr>
            <a:stCxn id="4200" idx="3"/>
            <a:endCxn id="4201" idx="7"/>
          </p:cNvCxnSpPr>
          <p:nvPr/>
        </p:nvCxnSpPr>
        <p:spPr>
          <a:xfrm flipH="1">
            <a:off x="1547484" y="5088113"/>
            <a:ext cx="159900" cy="363300"/>
          </a:xfrm>
          <a:prstGeom prst="straightConnector1">
            <a:avLst/>
          </a:prstGeom>
          <a:solidFill>
            <a:schemeClr val="accent2"/>
          </a:solidFill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4214" name="Google Shape;4214;p145"/>
          <p:cNvCxnSpPr>
            <a:stCxn id="4200" idx="5"/>
            <a:endCxn id="4202" idx="0"/>
          </p:cNvCxnSpPr>
          <p:nvPr/>
        </p:nvCxnSpPr>
        <p:spPr>
          <a:xfrm>
            <a:off x="2100636" y="5088113"/>
            <a:ext cx="107100" cy="329700"/>
          </a:xfrm>
          <a:prstGeom prst="straightConnector1">
            <a:avLst/>
          </a:prstGeom>
          <a:solidFill>
            <a:schemeClr val="accent2"/>
          </a:solidFill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4215" name="Google Shape;4215;p145"/>
          <p:cNvSpPr/>
          <p:nvPr/>
        </p:nvSpPr>
        <p:spPr>
          <a:xfrm>
            <a:off x="2604089" y="5451386"/>
            <a:ext cx="556142" cy="509345"/>
          </a:xfrm>
          <a:prstGeom prst="ellipse">
            <a:avLst/>
          </a:prstGeom>
          <a:solidFill>
            <a:schemeClr val="accent2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cxnSp>
        <p:nvCxnSpPr>
          <p:cNvPr id="4216" name="Google Shape;4216;p145"/>
          <p:cNvCxnSpPr>
            <a:stCxn id="4203" idx="3"/>
            <a:endCxn id="4215" idx="7"/>
          </p:cNvCxnSpPr>
          <p:nvPr/>
        </p:nvCxnSpPr>
        <p:spPr>
          <a:xfrm flipH="1">
            <a:off x="3078913" y="5178307"/>
            <a:ext cx="213000" cy="347700"/>
          </a:xfrm>
          <a:prstGeom prst="straightConnector1">
            <a:avLst/>
          </a:prstGeom>
          <a:solidFill>
            <a:schemeClr val="accent2"/>
          </a:solidFill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4210" name="Google Shape;4210;p145"/>
          <p:cNvSpPr/>
          <p:nvPr/>
        </p:nvSpPr>
        <p:spPr>
          <a:xfrm>
            <a:off x="5169807" y="4660386"/>
            <a:ext cx="556142" cy="509345"/>
          </a:xfrm>
          <a:prstGeom prst="ellipse">
            <a:avLst/>
          </a:prstGeom>
          <a:solidFill>
            <a:schemeClr val="accent2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endParaRPr/>
          </a:p>
        </p:txBody>
      </p:sp>
      <p:sp>
        <p:nvSpPr>
          <p:cNvPr id="4208" name="Google Shape;4208;p145"/>
          <p:cNvSpPr/>
          <p:nvPr/>
        </p:nvSpPr>
        <p:spPr>
          <a:xfrm>
            <a:off x="6622654" y="4746383"/>
            <a:ext cx="556142" cy="509345"/>
          </a:xfrm>
          <a:prstGeom prst="ellipse">
            <a:avLst/>
          </a:prstGeom>
          <a:solidFill>
            <a:schemeClr val="accent2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/>
          </a:p>
        </p:txBody>
      </p:sp>
      <p:sp>
        <p:nvSpPr>
          <p:cNvPr id="4217" name="Google Shape;4217;p145"/>
          <p:cNvSpPr/>
          <p:nvPr/>
        </p:nvSpPr>
        <p:spPr>
          <a:xfrm rot="1132606">
            <a:off x="7377045" y="1346966"/>
            <a:ext cx="3764300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Heap Increase Key (A, heapsize, new value)</a:t>
            </a:r>
            <a:endParaRPr/>
          </a:p>
        </p:txBody>
      </p:sp>
      <p:graphicFrame>
        <p:nvGraphicFramePr>
          <p:cNvPr id="4218" name="Google Shape;4218;p145"/>
          <p:cNvGraphicFramePr/>
          <p:nvPr/>
        </p:nvGraphicFramePr>
        <p:xfrm>
          <a:off x="6096000" y="2285354"/>
          <a:ext cx="5177150" cy="731540"/>
        </p:xfrm>
        <a:graphic>
          <a:graphicData uri="http://schemas.openxmlformats.org/drawingml/2006/table">
            <a:tbl>
              <a:tblPr firstRow="1" bandRow="1">
                <a:noFill/>
                <a:tableStyleId>{66088737-8E24-4614-AAA7-3D08145F63E1}</a:tableStyleId>
              </a:tblPr>
              <a:tblGrid>
                <a:gridCol w="4706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06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706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135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77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706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706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7065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47065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47065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47065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</a:tblGrid>
              <a:tr h="2914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1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2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3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4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5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6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7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8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9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10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11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14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u="none" strike="noStrike" cap="none">
                          <a:solidFill>
                            <a:schemeClr val="dk1"/>
                          </a:solidFill>
                        </a:rPr>
                        <a:t>16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u="none" strike="noStrike" cap="none">
                          <a:solidFill>
                            <a:schemeClr val="dk1"/>
                          </a:solidFill>
                        </a:rPr>
                        <a:t>14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u="none" strike="noStrike" cap="none">
                          <a:solidFill>
                            <a:schemeClr val="dk1"/>
                          </a:solidFill>
                        </a:rPr>
                        <a:t>10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u="none" strike="noStrike" cap="none">
                          <a:solidFill>
                            <a:schemeClr val="dk1"/>
                          </a:solidFill>
                        </a:rPr>
                        <a:t>8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u="none" strike="noStrike" cap="none">
                          <a:solidFill>
                            <a:schemeClr val="dk1"/>
                          </a:solidFill>
                        </a:rPr>
                        <a:t>7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u="none" strike="noStrike" cap="none">
                          <a:solidFill>
                            <a:schemeClr val="dk1"/>
                          </a:solidFill>
                        </a:rPr>
                        <a:t>9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u="none" strike="noStrike" cap="none">
                          <a:solidFill>
                            <a:schemeClr val="dk1"/>
                          </a:solidFill>
                        </a:rPr>
                        <a:t>3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u="none" strike="noStrike" cap="none">
                          <a:solidFill>
                            <a:schemeClr val="dk1"/>
                          </a:solidFill>
                        </a:rPr>
                        <a:t>2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u="none" strike="noStrike" cap="none">
                          <a:solidFill>
                            <a:schemeClr val="dk1"/>
                          </a:solidFill>
                        </a:rPr>
                        <a:t>4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u="none" strike="noStrike" cap="none">
                          <a:solidFill>
                            <a:schemeClr val="dk1"/>
                          </a:solidFill>
                        </a:rPr>
                        <a:t>1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 u="none" strike="noStrike" cap="none">
                          <a:solidFill>
                            <a:schemeClr val="dk1"/>
                          </a:solidFill>
                        </a:rPr>
                        <a:t>-inf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4219" name="Google Shape;4219;p145"/>
          <p:cNvSpPr/>
          <p:nvPr/>
        </p:nvSpPr>
        <p:spPr>
          <a:xfrm>
            <a:off x="3787115" y="5581420"/>
            <a:ext cx="748848" cy="509345"/>
          </a:xfrm>
          <a:prstGeom prst="ellipse">
            <a:avLst/>
          </a:prstGeom>
          <a:solidFill>
            <a:schemeClr val="dk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/>
          </a:p>
        </p:txBody>
      </p:sp>
      <p:cxnSp>
        <p:nvCxnSpPr>
          <p:cNvPr id="4220" name="Google Shape;4220;p145"/>
          <p:cNvCxnSpPr>
            <a:stCxn id="4203" idx="5"/>
            <a:endCxn id="4219" idx="0"/>
          </p:cNvCxnSpPr>
          <p:nvPr/>
        </p:nvCxnSpPr>
        <p:spPr>
          <a:xfrm>
            <a:off x="3685165" y="5178307"/>
            <a:ext cx="476400" cy="403200"/>
          </a:xfrm>
          <a:prstGeom prst="straightConnector1">
            <a:avLst/>
          </a:prstGeom>
          <a:solidFill>
            <a:schemeClr val="accent2"/>
          </a:solidFill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4221" name="Google Shape;4221;p145"/>
          <p:cNvSpPr txBox="1"/>
          <p:nvPr/>
        </p:nvSpPr>
        <p:spPr>
          <a:xfrm>
            <a:off x="8610600" y="4171736"/>
            <a:ext cx="1925720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Time?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Takes O(logn) time</a:t>
            </a:r>
            <a:endParaRPr/>
          </a:p>
        </p:txBody>
      </p:sp>
    </p:spTree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7" name="Google Shape;4227;g300046f447b_0_0"/>
          <p:cNvSpPr txBox="1">
            <a:spLocks noGrp="1"/>
          </p:cNvSpPr>
          <p:nvPr>
            <p:ph type="body" idx="1"/>
          </p:nvPr>
        </p:nvSpPr>
        <p:spPr>
          <a:xfrm>
            <a:off x="838200" y="1227909"/>
            <a:ext cx="10515600" cy="49491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57200" lvl="0" indent="-361950" algn="l" rtl="0">
              <a:spcBef>
                <a:spcPts val="560"/>
              </a:spcBef>
              <a:spcAft>
                <a:spcPts val="0"/>
              </a:spcAft>
              <a:buSzPts val="2100"/>
              <a:buChar char="●"/>
            </a:pPr>
            <a:r>
              <a:rPr lang="en-US"/>
              <a:t>Perform all the simulations by hand.</a:t>
            </a:r>
            <a:endParaRPr/>
          </a:p>
          <a:p>
            <a:pPr marL="457200" lvl="0" indent="-361950" algn="l" rtl="0">
              <a:spcBef>
                <a:spcPts val="0"/>
              </a:spcBef>
              <a:spcAft>
                <a:spcPts val="0"/>
              </a:spcAft>
              <a:buSzPts val="2100"/>
              <a:buChar char="●"/>
            </a:pPr>
            <a:r>
              <a:rPr lang="en-US"/>
              <a:t>Implement all the functions of the heap yourselves.</a:t>
            </a:r>
            <a:endParaRPr/>
          </a:p>
          <a:p>
            <a:pPr marL="457200" lvl="0" indent="-361950" algn="l" rtl="0">
              <a:spcBef>
                <a:spcPts val="0"/>
              </a:spcBef>
              <a:spcAft>
                <a:spcPts val="0"/>
              </a:spcAft>
              <a:buSzPts val="2100"/>
              <a:buChar char="●"/>
            </a:pPr>
            <a:r>
              <a:rPr lang="en-US"/>
              <a:t>The pseudo codes are given in the slides - use them if needed, but try to code based on your understanding first.</a:t>
            </a:r>
            <a:endParaRPr/>
          </a:p>
          <a:p>
            <a:pPr marL="457200" lvl="0" indent="0" algn="l" rtl="0">
              <a:spcBef>
                <a:spcPts val="5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28" name="Google Shape;4228;g300046f447b_0_0"/>
          <p:cNvSpPr txBox="1">
            <a:spLocks noGrp="1"/>
          </p:cNvSpPr>
          <p:nvPr>
            <p:ph type="sldNum" idx="12"/>
          </p:nvPr>
        </p:nvSpPr>
        <p:spPr>
          <a:xfrm>
            <a:off x="8610600" y="6492875"/>
            <a:ext cx="2743200" cy="3651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113</a:t>
            </a:fld>
            <a:endParaRPr/>
          </a:p>
        </p:txBody>
      </p:sp>
      <p:sp>
        <p:nvSpPr>
          <p:cNvPr id="4229" name="Google Shape;4229;g300046f447b_0_0"/>
          <p:cNvSpPr txBox="1">
            <a:spLocks noGrp="1"/>
          </p:cNvSpPr>
          <p:nvPr>
            <p:ph type="title"/>
          </p:nvPr>
        </p:nvSpPr>
        <p:spPr>
          <a:xfrm>
            <a:off x="838200" y="148046"/>
            <a:ext cx="10515600" cy="6048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Task (Ungraded)</a:t>
            </a:r>
            <a:endParaRPr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2D64604-E154-ACA8-B754-CE557B262B24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7CD21CC2-9323-4116-9A8A-AE8F8164DAC5}" type="datetime1">
              <a:rPr lang="en-US" smtClean="0"/>
              <a:t>1/12/2026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E80A2FF-339A-A0A3-F485-549968A50687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lang="en-US"/>
              <a:t>Lec Asif Abrar, Dept of CSE, UIU</a:t>
            </a:r>
          </a:p>
        </p:txBody>
      </p:sp>
    </p:spTree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4" name="Google Shape;4234;p146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5400"/>
              <a:buFont typeface="Times New Roman"/>
              <a:buNone/>
            </a:pPr>
            <a:r>
              <a:rPr lang="en-US"/>
              <a:t>Thank You</a:t>
            </a:r>
            <a:endParaRPr/>
          </a:p>
        </p:txBody>
      </p:sp>
      <p:sp>
        <p:nvSpPr>
          <p:cNvPr id="4235" name="Google Shape;4235;p146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950"/>
              <a:buFont typeface="Arial"/>
              <a:buNone/>
            </a:pPr>
            <a:endParaRPr/>
          </a:p>
        </p:txBody>
      </p:sp>
      <p:sp>
        <p:nvSpPr>
          <p:cNvPr id="4236" name="Google Shape;4236;p146"/>
          <p:cNvSpPr txBox="1">
            <a:spLocks noGrp="1"/>
          </p:cNvSpPr>
          <p:nvPr>
            <p:ph type="dt" idx="10"/>
          </p:nvPr>
        </p:nvSpPr>
        <p:spPr>
          <a:xfrm>
            <a:off x="855617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B3756BBD-DF1F-47E3-9607-8AB6E0ED8DDE}" type="datetime1">
              <a:rPr lang="en-US" smtClean="0"/>
              <a:t>1/12/2026</a:t>
            </a:fld>
            <a:endParaRPr/>
          </a:p>
        </p:txBody>
      </p:sp>
      <p:sp>
        <p:nvSpPr>
          <p:cNvPr id="4237" name="Google Shape;4237;p146"/>
          <p:cNvSpPr txBox="1">
            <a:spLocks noGrp="1"/>
          </p:cNvSpPr>
          <p:nvPr>
            <p:ph type="ftr" idx="11"/>
          </p:nvPr>
        </p:nvSpPr>
        <p:spPr>
          <a:xfrm>
            <a:off x="4056017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Lec Asif Abrar, Dept of CSE, UIU</a:t>
            </a:r>
            <a:endParaRPr/>
          </a:p>
        </p:txBody>
      </p:sp>
      <p:sp>
        <p:nvSpPr>
          <p:cNvPr id="4238" name="Google Shape;4238;p146"/>
          <p:cNvSpPr txBox="1">
            <a:spLocks noGrp="1"/>
          </p:cNvSpPr>
          <p:nvPr>
            <p:ph type="sldNum" idx="12"/>
          </p:nvPr>
        </p:nvSpPr>
        <p:spPr>
          <a:xfrm>
            <a:off x="8628017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114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7453</Words>
  <Application>Microsoft Office PowerPoint</Application>
  <PresentationFormat>Widescreen</PresentationFormat>
  <Paragraphs>3680</Paragraphs>
  <Slides>114</Slides>
  <Notes>114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114</vt:i4>
      </vt:variant>
    </vt:vector>
  </HeadingPairs>
  <TitlesOfParts>
    <vt:vector size="119" baseType="lpstr">
      <vt:lpstr>Times New Roman</vt:lpstr>
      <vt:lpstr>Tahoma</vt:lpstr>
      <vt:lpstr>Calibri</vt:lpstr>
      <vt:lpstr>Arial</vt:lpstr>
      <vt:lpstr>Office Theme</vt:lpstr>
      <vt:lpstr>Priority Queue and Heap</vt:lpstr>
      <vt:lpstr>BINARY HEAP</vt:lpstr>
      <vt:lpstr>Binary Heaps</vt:lpstr>
      <vt:lpstr>Binary Heaps</vt:lpstr>
      <vt:lpstr>Binary Heaps</vt:lpstr>
      <vt:lpstr>Binary Heaps</vt:lpstr>
      <vt:lpstr>Max Heap and Min Heap</vt:lpstr>
      <vt:lpstr>Max Heap and Min Heap</vt:lpstr>
      <vt:lpstr>Important Functions of Max Heap</vt:lpstr>
      <vt:lpstr>MAX HEAPIFY</vt:lpstr>
      <vt:lpstr>MAX HEAPIFY</vt:lpstr>
      <vt:lpstr>MAX HEAPIFY</vt:lpstr>
      <vt:lpstr>MAX HEAPIFY</vt:lpstr>
      <vt:lpstr>MAX HEAPIFY</vt:lpstr>
      <vt:lpstr>MAX HEAPIFY</vt:lpstr>
      <vt:lpstr>MAX HEAPIFY</vt:lpstr>
      <vt:lpstr>MAX HEAPIFY</vt:lpstr>
      <vt:lpstr>MAX HEAPIFY</vt:lpstr>
      <vt:lpstr>MAX HEAPIFY</vt:lpstr>
      <vt:lpstr>MAX HEAPIFY</vt:lpstr>
      <vt:lpstr>MAX HEAPIFY</vt:lpstr>
      <vt:lpstr>Let us write the function for Max Heapify</vt:lpstr>
      <vt:lpstr>Let us write the function for Max Heapify</vt:lpstr>
      <vt:lpstr>Max Heapify</vt:lpstr>
      <vt:lpstr>Max Heapify</vt:lpstr>
      <vt:lpstr>Max Heapify</vt:lpstr>
      <vt:lpstr>Max Heapify</vt:lpstr>
      <vt:lpstr>Max Heapify</vt:lpstr>
      <vt:lpstr>Max Heapify</vt:lpstr>
      <vt:lpstr>Max Heapify</vt:lpstr>
      <vt:lpstr>Max Heapify</vt:lpstr>
      <vt:lpstr>Max Heapify</vt:lpstr>
      <vt:lpstr>Max Heapify</vt:lpstr>
      <vt:lpstr>Max Heapify</vt:lpstr>
      <vt:lpstr>Max Heapify</vt:lpstr>
      <vt:lpstr>Max Heapify</vt:lpstr>
      <vt:lpstr>Max Heapify</vt:lpstr>
      <vt:lpstr>Max Heapify</vt:lpstr>
      <vt:lpstr>Build Max Heap</vt:lpstr>
      <vt:lpstr>Build Max Heap</vt:lpstr>
      <vt:lpstr>Build Max Heap</vt:lpstr>
      <vt:lpstr>Heap Sort</vt:lpstr>
      <vt:lpstr>Heap Sort</vt:lpstr>
      <vt:lpstr>Heap Sort</vt:lpstr>
      <vt:lpstr>Heap Sort</vt:lpstr>
      <vt:lpstr>Heap Sort</vt:lpstr>
      <vt:lpstr>Heap Sort</vt:lpstr>
      <vt:lpstr>Heap Sort</vt:lpstr>
      <vt:lpstr>Heap Sort</vt:lpstr>
      <vt:lpstr>Heap Sort</vt:lpstr>
      <vt:lpstr>Heap Sort</vt:lpstr>
      <vt:lpstr>Heap Sort</vt:lpstr>
      <vt:lpstr>Heap Sort</vt:lpstr>
      <vt:lpstr>Heap Sort</vt:lpstr>
      <vt:lpstr>Heap Sort</vt:lpstr>
      <vt:lpstr>Heap Sort</vt:lpstr>
      <vt:lpstr>Heap Sort</vt:lpstr>
      <vt:lpstr>Heap Sort</vt:lpstr>
      <vt:lpstr>Heap Sort</vt:lpstr>
      <vt:lpstr>Heap Sort</vt:lpstr>
      <vt:lpstr>Heap Sort</vt:lpstr>
      <vt:lpstr>Heap Sort</vt:lpstr>
      <vt:lpstr>Heap Sort</vt:lpstr>
      <vt:lpstr>Heap Sort</vt:lpstr>
      <vt:lpstr>Heap Sort</vt:lpstr>
      <vt:lpstr>Heap Sort</vt:lpstr>
      <vt:lpstr>Heap Sort</vt:lpstr>
      <vt:lpstr>Heap Sort</vt:lpstr>
      <vt:lpstr>Heap Sort</vt:lpstr>
      <vt:lpstr>Heap Sort</vt:lpstr>
      <vt:lpstr>Heap Sort</vt:lpstr>
      <vt:lpstr>Heap Sort</vt:lpstr>
      <vt:lpstr>Let us Run Heap Sort At First</vt:lpstr>
      <vt:lpstr>Heap Sort</vt:lpstr>
      <vt:lpstr>Let us Run Heap Sort At First</vt:lpstr>
      <vt:lpstr>MAX HEAP AS A PRIORITY QUEUE</vt:lpstr>
      <vt:lpstr>Max heap as a priority queue</vt:lpstr>
      <vt:lpstr>Max heap as a priority queue</vt:lpstr>
      <vt:lpstr>Max heap as a priority queue</vt:lpstr>
      <vt:lpstr>Max heap as a priority queue</vt:lpstr>
      <vt:lpstr>Max heap as a priority queue</vt:lpstr>
      <vt:lpstr>Max heap as a priority queue</vt:lpstr>
      <vt:lpstr>Max heap as a priority queue</vt:lpstr>
      <vt:lpstr>Max heap as a priority queue</vt:lpstr>
      <vt:lpstr>Max heap as a priority queue</vt:lpstr>
      <vt:lpstr>Max heap as a priority queue</vt:lpstr>
      <vt:lpstr>Max heap as a priority queue</vt:lpstr>
      <vt:lpstr>Max heap as a priority queue</vt:lpstr>
      <vt:lpstr>Max heap as a priority queue</vt:lpstr>
      <vt:lpstr>Max heap as a priority queue</vt:lpstr>
      <vt:lpstr>Max heap as a priority queue</vt:lpstr>
      <vt:lpstr>Max heap as a priority queue</vt:lpstr>
      <vt:lpstr>Max heap as a priority queue</vt:lpstr>
      <vt:lpstr>Max heap as a priority queue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Max heap as a priority queue</vt:lpstr>
      <vt:lpstr>Max heap as a priority queue</vt:lpstr>
      <vt:lpstr>Max heap as a priority queue</vt:lpstr>
      <vt:lpstr>Max heap as a priority queue</vt:lpstr>
      <vt:lpstr>Max heap as a priority queue</vt:lpstr>
      <vt:lpstr>Max heap as a priority queue</vt:lpstr>
      <vt:lpstr>Max heap as a priority queue</vt:lpstr>
      <vt:lpstr>Max heap as a priority queue</vt:lpstr>
      <vt:lpstr>Task (Ungraded)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lenovo</dc:creator>
  <cp:lastModifiedBy>Asif Abrar</cp:lastModifiedBy>
  <cp:revision>1</cp:revision>
  <dcterms:created xsi:type="dcterms:W3CDTF">2023-03-19T03:25:32Z</dcterms:created>
  <dcterms:modified xsi:type="dcterms:W3CDTF">2026-01-12T14:31:16Z</dcterms:modified>
</cp:coreProperties>
</file>