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</p:sldIdLst>
  <p:sldSz cx="12192000" cy="6858000"/>
  <p:notesSz cx="6858000" cy="9144000"/>
  <p:embeddedFontLst>
    <p:embeddedFont>
      <p:font typeface="Tahoma" panose="020B0604030504040204" pitchFamily="34" charset="0"/>
      <p:regular r:id="rId138"/>
      <p:bold r:id="rId1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2" roundtripDataSignature="AMtx7mggZcbKqX3xpQtIcmW28BBqFWVP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font" Target="fonts/font2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customschemas.google.com/relationships/presentationmetadata" Target="meta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1" name="Google Shape;10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" name="Google Shape;11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5" name="Google Shape;17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5" name="Google Shape;18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6" name="Google Shape;19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0" name="Google Shape;22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9" name="Google Shape;22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8" name="Google Shape;23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7" name="Google Shape;24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6" name="Google Shape;2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6" name="Google Shape;27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8" name="Google Shape;29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0" name="Google Shape;3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4" name="Google Shape;34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8" name="Google Shape;36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2" name="Google Shape;392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15" name="Google Shape;41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7" name="Google Shape;437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61" name="Google Shape;46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5" name="Google Shape;48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09" name="Google Shape;509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32" name="Google Shape;532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54" name="Google Shape;55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78" name="Google Shape;57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00" name="Google Shape;60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4" name="Google Shape;624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48" name="Google Shape;64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72" name="Google Shape;67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96" name="Google Shape;696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20" name="Google Shape;720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44" name="Google Shape;744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68" name="Google Shape;768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2" name="Google Shape;792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16" name="Google Shape;816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39" name="Google Shape;839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1" name="Google Shape;86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4" name="Google Shape;884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08" name="Google Shape;90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32" name="Google Shape;932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6" name="Google Shape;956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80" name="Google Shape;980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04" name="Google Shape;1004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8" name="Google Shape;1028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Google Shape;1051;p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2" name="Google Shape;1052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74" name="Google Shape;1074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p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3" name="Google Shape;1083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93" name="Google Shape;1093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17" name="Google Shape;1117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41" name="Google Shape;114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7" name="Google Shape;1167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93" name="Google Shape;1193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21" name="Google Shape;1221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Google Shape;1246;p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7" name="Google Shape;1247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Google Shape;1272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73" name="Google Shape;1273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99" name="Google Shape;1299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24" name="Google Shape;1324;p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48" name="Google Shape;1348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74" name="Google Shape;1374;p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p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0" name="Google Shape;1400;p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p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26" name="Google Shape;1426;p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Google Shape;1451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52" name="Google Shape;1452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p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78" name="Google Shape;1478;p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p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4" name="Google Shape;1504;p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p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29" name="Google Shape;1529;p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p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53" name="Google Shape;1553;p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Google Shape;1578;p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9" name="Google Shape;1579;p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Google Shape;1604;p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05" name="Google Shape;1605;p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p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31" name="Google Shape;1631;p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7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55" name="Google Shape;1655;p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84" name="Google Shape;1684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9" name="Google Shape;1709;p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0" name="Google Shape;1710;p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Google Shape;1735;p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36" name="Google Shape;1736;p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" name="Google Shape;1761;p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62" name="Google Shape;1762;p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7" name="Google Shape;1787;p8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88" name="Google Shape;1788;p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Google Shape;1813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14" name="Google Shape;1814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9" name="Google Shape;1839;p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0" name="Google Shape;1840;p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5" name="Google Shape;1865;p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66" name="Google Shape;1866;p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1" name="Google Shape;1891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92" name="Google Shape;1892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7" name="Google Shape;1917;p8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18" name="Google Shape;1918;p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p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4" name="Google Shape;1944;p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Google Shape;1969;p8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70" name="Google Shape;1970;p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5" name="Google Shape;1995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96" name="Google Shape;1996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21" name="Google Shape;2021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Google Shape;2044;p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45" name="Google Shape;2045;p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p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71" name="Google Shape;2071;p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98" name="Google Shape;2098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4" name="Google Shape;2124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25" name="Google Shape;212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p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52" name="Google Shape;2152;p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8" name="Google Shape;2178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79" name="Google Shape;2179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5" name="Google Shape;2205;p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06" name="Google Shape;2206;p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2" name="Google Shape;2232;p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33" name="Google Shape;2233;p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Google Shape;2259;p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60" name="Google Shape;2260;p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6" name="Google Shape;2286;p1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7" name="Google Shape;2287;p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Google Shape;2313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14" name="Google Shape;2314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0" name="Google Shape;2340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41" name="Google Shape;2341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7" name="Google Shape;2367;p1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68" name="Google Shape;2368;p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2" name="Google Shape;2392;p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93" name="Google Shape;2393;p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7" name="Google Shape;2417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18" name="Google Shape;2418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4" name="Google Shape;2444;p10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5" name="Google Shape;2445;p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1" name="Google Shape;2471;p1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72" name="Google Shape;2472;p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" name="Google Shape;2498;p10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99" name="Google Shape;2499;p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Google Shape;2507;p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08" name="Google Shape;2508;p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6" name="Google Shape;2516;p1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17" name="Google Shape;2517;p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5" name="Google Shape;2525;p1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26" name="Google Shape;2526;p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4" name="Google Shape;2534;p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35" name="Google Shape;2535;p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3" name="Google Shape;2543;p1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44" name="Google Shape;2544;p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2" name="Google Shape;2552;p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53" name="Google Shape;2553;p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1" name="Google Shape;2561;g3a7bc7ed652_117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2" name="Google Shape;2562;g3a7bc7ed652_117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Google Shape;2572;g3a7bc7ed652_117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73" name="Google Shape;2573;g3a7bc7ed652_117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Google Shape;2581;p1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82" name="Google Shape;2582;p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Google Shape;2590;p1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91" name="Google Shape;2591;p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Google Shape;2599;p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00" name="Google Shape;2600;p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Google Shape;2608;p1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09" name="Google Shape;2609;p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7" name="Google Shape;2627;p1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28" name="Google Shape;2628;p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6" name="Google Shape;2636;p1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37" name="Google Shape;2637;p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Google Shape;2653;p1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54" name="Google Shape;2654;p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" name="Google Shape;2662;p1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63" name="Google Shape;2663;p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3" name="Google Shape;2683;g3a23eea49e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84" name="Google Shape;2684;g3a23eea49e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a23eea49eb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3" name="Google Shape;2693;g3a23eea49eb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1" name="Google Shape;2701;g3a23eea49eb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02" name="Google Shape;2702;g3a23eea49eb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0" name="Google Shape;2710;g3a23eea49eb_0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11" name="Google Shape;2711;g3a23eea49e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Google Shape;2719;g3a23eea49eb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20" name="Google Shape;2720;g3a23eea49eb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8" name="Google Shape;2728;g3a23eea49eb_0_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29" name="Google Shape;2729;g3a23eea49e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7" name="Google Shape;2737;g3a23eea49eb_0_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8" name="Google Shape;2738;g3a23eea49eb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6" name="Google Shape;2746;g3a23eea49eb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47" name="Google Shape;2747;g3a23eea49eb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Google Shape;2755;g2665f4aafa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56" name="Google Shape;2756;g2665f4aafa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1" name="Google Shape;2771;p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72" name="Google Shape;2772;p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0" name="Google Shape;2780;p1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81" name="Google Shape;2781;p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  <a:defRPr sz="5400" b="1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520"/>
              </a:spcBef>
              <a:spcAft>
                <a:spcPts val="0"/>
              </a:spcAft>
              <a:buClr>
                <a:schemeClr val="accent1"/>
              </a:buClr>
              <a:buSzPts val="1950"/>
              <a:buFont typeface="Arial"/>
              <a:buNone/>
              <a:defRPr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8"/>
          <p:cNvSpPr txBox="1">
            <a:spLocks noGrp="1"/>
          </p:cNvSpPr>
          <p:nvPr>
            <p:ph type="dt" idx="10"/>
          </p:nvPr>
        </p:nvSpPr>
        <p:spPr>
          <a:xfrm>
            <a:off x="8556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E75B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8"/>
          <p:cNvSpPr txBox="1">
            <a:spLocks noGrp="1"/>
          </p:cNvSpPr>
          <p:nvPr>
            <p:ph type="ftr" idx="11"/>
          </p:nvPr>
        </p:nvSpPr>
        <p:spPr>
          <a:xfrm>
            <a:off x="4056017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8"/>
          <p:cNvSpPr txBox="1">
            <a:spLocks noGrp="1"/>
          </p:cNvSpPr>
          <p:nvPr>
            <p:ph type="sldNum" idx="12"/>
          </p:nvPr>
        </p:nvSpPr>
        <p:spPr>
          <a:xfrm>
            <a:off x="86280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21" name="Google Shape;21;p128"/>
          <p:cNvGrpSpPr/>
          <p:nvPr/>
        </p:nvGrpSpPr>
        <p:grpSpPr>
          <a:xfrm>
            <a:off x="0" y="837288"/>
            <a:ext cx="12192000" cy="70982"/>
            <a:chOff x="838200" y="1349257"/>
            <a:chExt cx="9144000" cy="76200"/>
          </a:xfrm>
        </p:grpSpPr>
        <p:sp>
          <p:nvSpPr>
            <p:cNvPr id="22" name="Google Shape;22;p128"/>
            <p:cNvSpPr/>
            <p:nvPr/>
          </p:nvSpPr>
          <p:spPr>
            <a:xfrm>
              <a:off x="838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FF8200"/>
                </a:gs>
                <a:gs pos="10001">
                  <a:srgbClr val="FF0000"/>
                </a:gs>
                <a:gs pos="35001">
                  <a:srgbClr val="BA0066"/>
                </a:gs>
                <a:gs pos="70000">
                  <a:srgbClr val="66008F"/>
                </a:gs>
                <a:gs pos="100000">
                  <a:srgbClr val="00008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23" name="Google Shape;23;p128"/>
            <p:cNvSpPr/>
            <p:nvPr/>
          </p:nvSpPr>
          <p:spPr>
            <a:xfrm>
              <a:off x="5410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000082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  <a:defRPr/>
            </a:lvl1pPr>
            <a:lvl2pPr marL="914400" marR="0" lvl="1" indent="-344169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1820"/>
              <a:buFont typeface="Arial"/>
              <a:buChar char="●"/>
              <a:defRPr/>
            </a:lvl2pPr>
            <a:lvl3pPr marL="1371600" marR="0" lvl="2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3pPr>
            <a:lvl4pPr marL="1828800" marR="0" lvl="3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4pPr>
            <a:lvl5pPr marL="2286000" marR="0" lvl="4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–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2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E75B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2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2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12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  <a:defRPr sz="4000" b="1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0" name="Google Shape;30;p129"/>
          <p:cNvGrpSpPr/>
          <p:nvPr/>
        </p:nvGrpSpPr>
        <p:grpSpPr>
          <a:xfrm>
            <a:off x="0" y="837288"/>
            <a:ext cx="12192000" cy="70982"/>
            <a:chOff x="838200" y="1349257"/>
            <a:chExt cx="9144000" cy="76200"/>
          </a:xfrm>
        </p:grpSpPr>
        <p:sp>
          <p:nvSpPr>
            <p:cNvPr id="31" name="Google Shape;31;p129"/>
            <p:cNvSpPr/>
            <p:nvPr/>
          </p:nvSpPr>
          <p:spPr>
            <a:xfrm>
              <a:off x="838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FF8200"/>
                </a:gs>
                <a:gs pos="10001">
                  <a:srgbClr val="FF0000"/>
                </a:gs>
                <a:gs pos="35001">
                  <a:srgbClr val="BA0066"/>
                </a:gs>
                <a:gs pos="70000">
                  <a:srgbClr val="66008F"/>
                </a:gs>
                <a:gs pos="100000">
                  <a:srgbClr val="00008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32" name="Google Shape;32;p129"/>
            <p:cNvSpPr/>
            <p:nvPr/>
          </p:nvSpPr>
          <p:spPr>
            <a:xfrm>
              <a:off x="5410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000082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  <a:defRPr sz="5400" b="1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13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E75B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3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" name="Google Shape;39;p130"/>
          <p:cNvGrpSpPr/>
          <p:nvPr/>
        </p:nvGrpSpPr>
        <p:grpSpPr>
          <a:xfrm>
            <a:off x="0" y="837288"/>
            <a:ext cx="12192000" cy="70982"/>
            <a:chOff x="838200" y="1349257"/>
            <a:chExt cx="9144000" cy="76200"/>
          </a:xfrm>
        </p:grpSpPr>
        <p:sp>
          <p:nvSpPr>
            <p:cNvPr id="40" name="Google Shape;40;p130"/>
            <p:cNvSpPr/>
            <p:nvPr/>
          </p:nvSpPr>
          <p:spPr>
            <a:xfrm>
              <a:off x="838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FF8200"/>
                </a:gs>
                <a:gs pos="10001">
                  <a:srgbClr val="FF0000"/>
                </a:gs>
                <a:gs pos="35001">
                  <a:srgbClr val="BA0066"/>
                </a:gs>
                <a:gs pos="70000">
                  <a:srgbClr val="66008F"/>
                </a:gs>
                <a:gs pos="100000">
                  <a:srgbClr val="00008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41" name="Google Shape;41;p130"/>
            <p:cNvSpPr/>
            <p:nvPr/>
          </p:nvSpPr>
          <p:spPr>
            <a:xfrm>
              <a:off x="5410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000082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1"/>
          <p:cNvSpPr txBox="1">
            <a:spLocks noGrp="1"/>
          </p:cNvSpPr>
          <p:nvPr>
            <p:ph type="body" idx="1"/>
          </p:nvPr>
        </p:nvSpPr>
        <p:spPr>
          <a:xfrm>
            <a:off x="838200" y="1347537"/>
            <a:ext cx="5181600" cy="4829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Arial"/>
              <a:buChar char="●"/>
              <a:defRPr/>
            </a:lvl1pPr>
            <a:lvl2pPr marL="914400" marR="0" lvl="1" indent="-344169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1820"/>
              <a:buFont typeface="Arial"/>
              <a:buChar char="●"/>
              <a:defRPr/>
            </a:lvl2pPr>
            <a:lvl3pPr marL="1371600" marR="0" lvl="2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3pPr>
            <a:lvl4pPr marL="1828800" marR="0" lvl="3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4pPr>
            <a:lvl5pPr marL="2286000" marR="0" lvl="4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–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1"/>
          <p:cNvSpPr txBox="1">
            <a:spLocks noGrp="1"/>
          </p:cNvSpPr>
          <p:nvPr>
            <p:ph type="body" idx="2"/>
          </p:nvPr>
        </p:nvSpPr>
        <p:spPr>
          <a:xfrm>
            <a:off x="6172200" y="1347537"/>
            <a:ext cx="5181600" cy="4829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Arial"/>
              <a:buChar char="●"/>
              <a:defRPr/>
            </a:lvl1pPr>
            <a:lvl2pPr marL="914400" marR="0" lvl="1" indent="-344169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1820"/>
              <a:buFont typeface="Arial"/>
              <a:buChar char="●"/>
              <a:defRPr/>
            </a:lvl2pPr>
            <a:lvl3pPr marL="1371600" marR="0" lvl="2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3pPr>
            <a:lvl4pPr marL="1828800" marR="0" lvl="3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4pPr>
            <a:lvl5pPr marL="2286000" marR="0" lvl="4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–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3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E75B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131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38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  <a:defRPr sz="4000" b="1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9" name="Google Shape;49;p131"/>
          <p:cNvGrpSpPr/>
          <p:nvPr/>
        </p:nvGrpSpPr>
        <p:grpSpPr>
          <a:xfrm>
            <a:off x="0" y="837288"/>
            <a:ext cx="12192000" cy="70982"/>
            <a:chOff x="838200" y="1349257"/>
            <a:chExt cx="9144000" cy="76200"/>
          </a:xfrm>
        </p:grpSpPr>
        <p:sp>
          <p:nvSpPr>
            <p:cNvPr id="50" name="Google Shape;50;p131"/>
            <p:cNvSpPr/>
            <p:nvPr/>
          </p:nvSpPr>
          <p:spPr>
            <a:xfrm>
              <a:off x="838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FF8200"/>
                </a:gs>
                <a:gs pos="10001">
                  <a:srgbClr val="FF0000"/>
                </a:gs>
                <a:gs pos="35001">
                  <a:srgbClr val="BA0066"/>
                </a:gs>
                <a:gs pos="70000">
                  <a:srgbClr val="66008F"/>
                </a:gs>
                <a:gs pos="100000">
                  <a:srgbClr val="00008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51" name="Google Shape;51;p131"/>
            <p:cNvSpPr/>
            <p:nvPr/>
          </p:nvSpPr>
          <p:spPr>
            <a:xfrm>
              <a:off x="5410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000082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3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Arial"/>
              <a:buChar char="●"/>
              <a:defRPr/>
            </a:lvl1pPr>
            <a:lvl2pPr marL="914400" marR="0" lvl="1" indent="-344169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1820"/>
              <a:buFont typeface="Arial"/>
              <a:buChar char="●"/>
              <a:defRPr/>
            </a:lvl2pPr>
            <a:lvl3pPr marL="1371600" marR="0" lvl="2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3pPr>
            <a:lvl4pPr marL="1828800" marR="0" lvl="3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4pPr>
            <a:lvl5pPr marL="2286000" marR="0" lvl="4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–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3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13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Arial"/>
              <a:buChar char="●"/>
              <a:defRPr/>
            </a:lvl1pPr>
            <a:lvl2pPr marL="914400" marR="0" lvl="1" indent="-344169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1820"/>
              <a:buFont typeface="Arial"/>
              <a:buChar char="●"/>
              <a:defRPr/>
            </a:lvl2pPr>
            <a:lvl3pPr marL="1371600" marR="0" lvl="2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3pPr>
            <a:lvl4pPr marL="1828800" marR="0" lvl="3" indent="-32766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1560"/>
              <a:buFont typeface="Arial"/>
              <a:buChar char="●"/>
              <a:defRPr/>
            </a:lvl4pPr>
            <a:lvl5pPr marL="2286000" marR="0" lvl="4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–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3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E75B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3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3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E75B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3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38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  <a:defRPr sz="4000" b="1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132"/>
          <p:cNvGrpSpPr/>
          <p:nvPr/>
        </p:nvGrpSpPr>
        <p:grpSpPr>
          <a:xfrm>
            <a:off x="0" y="837288"/>
            <a:ext cx="12192000" cy="70982"/>
            <a:chOff x="838200" y="1349257"/>
            <a:chExt cx="9144000" cy="76200"/>
          </a:xfrm>
        </p:grpSpPr>
        <p:sp>
          <p:nvSpPr>
            <p:cNvPr id="62" name="Google Shape;62;p132"/>
            <p:cNvSpPr/>
            <p:nvPr/>
          </p:nvSpPr>
          <p:spPr>
            <a:xfrm>
              <a:off x="838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FF8200"/>
                </a:gs>
                <a:gs pos="10001">
                  <a:srgbClr val="FF0000"/>
                </a:gs>
                <a:gs pos="35001">
                  <a:srgbClr val="BA0066"/>
                </a:gs>
                <a:gs pos="70000">
                  <a:srgbClr val="66008F"/>
                </a:gs>
                <a:gs pos="100000">
                  <a:srgbClr val="00008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63" name="Google Shape;63;p132"/>
            <p:cNvSpPr/>
            <p:nvPr/>
          </p:nvSpPr>
          <p:spPr>
            <a:xfrm>
              <a:off x="5410200" y="1349257"/>
              <a:ext cx="4572000" cy="76200"/>
            </a:xfrm>
            <a:prstGeom prst="rect">
              <a:avLst/>
            </a:prstGeom>
            <a:gradFill>
              <a:gsLst>
                <a:gs pos="0">
                  <a:srgbClr val="000082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3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13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1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6"/>
          <p:cNvSpPr txBox="1">
            <a:spLocks noGrp="1"/>
          </p:cNvSpPr>
          <p:nvPr>
            <p:ph type="title"/>
          </p:nvPr>
        </p:nvSpPr>
        <p:spPr>
          <a:xfrm>
            <a:off x="839788" y="987425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13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1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3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1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CSE 2215: Data Structure and Algorithms-I</a:t>
            </a:r>
            <a:endParaRPr/>
          </a:p>
        </p:txBody>
      </p:sp>
      <p:sp>
        <p:nvSpPr>
          <p:cNvPr id="104" name="Google Shape;104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50"/>
              <a:buFont typeface="Arial"/>
              <a:buNone/>
            </a:pPr>
            <a:r>
              <a:rPr lang="en-US"/>
              <a:t>Complexity Analysis &amp; Asymptotic Notation</a:t>
            </a:r>
            <a:endParaRPr/>
          </a:p>
        </p:txBody>
      </p:sp>
      <p:sp>
        <p:nvSpPr>
          <p:cNvPr id="105" name="Google Shape;105;p1"/>
          <p:cNvSpPr txBox="1">
            <a:spLocks noGrp="1"/>
          </p:cNvSpPr>
          <p:nvPr>
            <p:ph type="dt" idx="10"/>
          </p:nvPr>
        </p:nvSpPr>
        <p:spPr>
          <a:xfrm>
            <a:off x="8556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6" name="Google Shape;106;p1"/>
          <p:cNvSpPr txBox="1">
            <a:spLocks noGrp="1"/>
          </p:cNvSpPr>
          <p:nvPr>
            <p:ph type="ftr" idx="11"/>
          </p:nvPr>
        </p:nvSpPr>
        <p:spPr>
          <a:xfrm>
            <a:off x="4056017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7" name="Google Shape;107;p1"/>
          <p:cNvSpPr txBox="1">
            <a:spLocks noGrp="1"/>
          </p:cNvSpPr>
          <p:nvPr>
            <p:ph type="sldNum" idx="12"/>
          </p:nvPr>
        </p:nvSpPr>
        <p:spPr>
          <a:xfrm>
            <a:off x="86280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Text Books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Noto Sans Symbols"/>
              <a:buChar char="▪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Introduction to Algorithms (Third edition)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Font typeface="Noto Sans Symbols"/>
              <a:buChar char="▪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Cormen, Leiserson, Rivest, and Stein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Font typeface="Noto Sans Symbols"/>
              <a:buChar char="▪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An excellent reference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you should own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Noto Sans Symbols"/>
              <a:buChar char="▪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Data Structures and Algorithms in C++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Font typeface="Noto Sans Symbols"/>
              <a:buChar char="▪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Goodrich, Tamassia, and Mount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None/>
            </a:pPr>
            <a:endParaRPr/>
          </a:p>
        </p:txBody>
      </p:sp>
      <p:sp>
        <p:nvSpPr>
          <p:cNvPr id="113" name="Google Shape;113;p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14" name="Google Shape;114;p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15" name="Google Shape;115;p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116" name="Google Shape;116;p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The Course</a:t>
            </a:r>
            <a:endParaRPr/>
          </a:p>
        </p:txBody>
      </p:sp>
      <p:pic>
        <p:nvPicPr>
          <p:cNvPr id="117" name="Google Shape;11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01136" y="1463590"/>
            <a:ext cx="1762125" cy="2079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" descr="Data Structures and Algorithms in C++, 2nd Edition | Wiley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01136" y="4018348"/>
            <a:ext cx="1762125" cy="207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Introduction to Data Structures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Introduction to Algorithms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Analysis of Algorithms</a:t>
            </a:r>
            <a:endParaRPr/>
          </a:p>
        </p:txBody>
      </p:sp>
      <p:sp>
        <p:nvSpPr>
          <p:cNvPr id="124" name="Google Shape;124;p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25" name="Google Shape;125;p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26" name="Google Shape;126;p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27" name="Google Shape;127;p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Contents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INTRODUCTION TO DATA STRUCTURES</a:t>
            </a:r>
            <a:endParaRPr/>
          </a:p>
        </p:txBody>
      </p:sp>
      <p:sp>
        <p:nvSpPr>
          <p:cNvPr id="133" name="Google Shape;133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  <p:sp>
        <p:nvSpPr>
          <p:cNvPr id="134" name="Google Shape;134;p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35" name="Google Shape;135;p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36" name="Google Shape;136;p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Data is a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collection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of facts, such as values, numbers, words, measurements, or observations. 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592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Structure means a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set of rules 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that holds the data together. 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592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A data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structure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is a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particular way of storing and organizing data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in a computer so that it can be used efficiently. </a:t>
            </a:r>
            <a:endParaRPr/>
          </a:p>
          <a:p>
            <a:pPr marL="1200150" lvl="1" indent="-457200" algn="l" rtl="0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SzPts val="1820"/>
              <a:buFont typeface="Arial"/>
              <a:buChar char="•"/>
            </a:pP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Different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kinds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of data structures are suited to different kinds of applications, and some are highly specialized to specific tasks. </a:t>
            </a:r>
            <a:endParaRPr/>
          </a:p>
          <a:p>
            <a:pPr marL="1200150" lvl="1" indent="-457200" algn="l" rtl="0">
              <a:lnSpc>
                <a:spcPct val="100000"/>
              </a:lnSpc>
              <a:spcBef>
                <a:spcPts val="518"/>
              </a:spcBef>
              <a:spcAft>
                <a:spcPts val="0"/>
              </a:spcAft>
              <a:buSzPts val="1820"/>
              <a:buFont typeface="Arial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Data structures provide a means to manage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huge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b="1">
                <a:latin typeface="Times New Roman"/>
                <a:ea typeface="Times New Roman"/>
                <a:cs typeface="Times New Roman"/>
                <a:sym typeface="Times New Roman"/>
              </a:rPr>
              <a:t>amount</a:t>
            </a: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 of data efficiently. </a:t>
            </a:r>
            <a:endParaRPr/>
          </a:p>
        </p:txBody>
      </p:sp>
      <p:sp>
        <p:nvSpPr>
          <p:cNvPr id="142" name="Google Shape;142;p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43" name="Google Shape;143;p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44" name="Google Shape;144;p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145" name="Google Shape;145;p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What is a Data Structure?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structures are classified as either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Linear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(e.g, arrays, linked lists), or 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Nonlinear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(e.g, trees, graphs, etc.) </a:t>
            </a:r>
            <a:endParaRPr/>
          </a:p>
          <a:p>
            <a:pPr marL="457200" lvl="0" indent="-351409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None/>
            </a:pPr>
            <a:endParaRPr sz="2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data structure is said to be linear if it satisfies the following four conditions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is a unique element called the 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first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is a unique element called the 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last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Every element, except the last, has a unique 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successor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Every element, except the first, has a unique 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predecessor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/>
          </a:p>
          <a:p>
            <a:pPr marL="457200" lvl="0" indent="-351409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None/>
            </a:pPr>
            <a:endParaRPr sz="2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 sz="2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are two ways of representing a linear data structure in memory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means of sequential memory locations (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arrays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endParaRPr/>
          </a:p>
          <a:p>
            <a:pPr marL="1200150" lvl="1" indent="-457200" algn="l" rtl="0">
              <a:lnSpc>
                <a:spcPct val="120000"/>
              </a:lnSpc>
              <a:spcBef>
                <a:spcPts val="392"/>
              </a:spcBef>
              <a:spcAft>
                <a:spcPts val="0"/>
              </a:spcAft>
              <a:buSzPct val="85000"/>
              <a:buFont typeface="Times New Roman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means of pointers or links (</a:t>
            </a:r>
            <a:r>
              <a:rPr lang="en-US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linked lists</a:t>
            </a:r>
            <a:r>
              <a:rPr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</a:t>
            </a:r>
            <a:endParaRPr/>
          </a:p>
        </p:txBody>
      </p:sp>
      <p:sp>
        <p:nvSpPr>
          <p:cNvPr id="151" name="Google Shape;151;p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52" name="Google Shape;152;p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53" name="Google Shape;153;p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154" name="Google Shape;154;p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Types of Data Structures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INTRODUCTION TO ALGORITHMS</a:t>
            </a:r>
            <a:endParaRPr/>
          </a:p>
        </p:txBody>
      </p:sp>
      <p:sp>
        <p:nvSpPr>
          <p:cNvPr id="160" name="Google Shape;160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  <p:sp>
        <p:nvSpPr>
          <p:cNvPr id="161" name="Google Shape;161;p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62" name="Google Shape;162;p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63" name="Google Shape;163;p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algorithm is a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sequence of computational steps 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that transform the input into the output.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algorithm is a tool for solving a well-specified computational problem.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algorithm is said to be </a:t>
            </a:r>
            <a:r>
              <a:rPr lang="en-US" sz="2400" b="0" i="0" u="none" strike="noStrike" cap="none">
                <a:solidFill>
                  <a:srgbClr val="CC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correct</a:t>
            </a: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if, for every input instance, it </a:t>
            </a:r>
            <a:r>
              <a:rPr lang="en-US"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halts</a:t>
            </a: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with the correct output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</a:t>
            </a:r>
            <a:r>
              <a:rPr lang="en-US" sz="2400" b="0" i="0" u="none" strike="noStrike" cap="none">
                <a:latin typeface="Times New Roman"/>
                <a:ea typeface="Times New Roman"/>
                <a:cs typeface="Times New Roman"/>
                <a:sym typeface="Times New Roman"/>
              </a:rPr>
              <a:t>incorrect</a:t>
            </a: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algorithm might not halt at all on some input instances, or it might halt with other than the desired output.</a:t>
            </a:r>
            <a:endParaRPr/>
          </a:p>
          <a:p>
            <a:pPr marL="342900" marR="0" lvl="0" indent="-19177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None/>
            </a:pPr>
            <a:endParaRPr sz="28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Note that algorithms existed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way before the invention of computers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380"/>
              <a:buNone/>
            </a:pPr>
            <a:endParaRPr sz="28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CC0000"/>
              </a:buClr>
              <a:buSzPts val="2380"/>
              <a:buNone/>
            </a:pPr>
            <a:endParaRPr sz="28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69" name="Google Shape;169;p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0" name="Google Shape;170;p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71" name="Google Shape;171;p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72" name="Google Shape;172;p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What is an Algorithm?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program is the expression of an algorithm in a programming language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set of instructions which the computer will follow to solve a problem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78" name="Google Shape;178;p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9" name="Google Shape;179;p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80" name="Google Shape;180;p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81" name="Google Shape;181;p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What is a Program?</a:t>
            </a:r>
            <a:endParaRPr/>
          </a:p>
        </p:txBody>
      </p:sp>
      <p:graphicFrame>
        <p:nvGraphicFramePr>
          <p:cNvPr id="182" name="Google Shape;182;p9"/>
          <p:cNvGraphicFramePr/>
          <p:nvPr/>
        </p:nvGraphicFramePr>
        <p:xfrm>
          <a:off x="4783931" y="3169171"/>
          <a:ext cx="2624138" cy="281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2624138" imgH="2819400" progId="MS_ClipArt_Gallery.2">
                  <p:embed/>
                </p:oleObj>
              </mc:Choice>
              <mc:Fallback>
                <p:oleObj r:id="rId3" imgW="2624138" imgH="2819400" progId="MS_ClipArt_Gallery.2">
                  <p:embed/>
                  <p:pic>
                    <p:nvPicPr>
                      <p:cNvPr id="182" name="Google Shape;182;p9"/>
                      <p:cNvPicPr preferRelativeResize="0"/>
                      <p:nvPr/>
                    </p:nvPicPr>
                    <p:blipFill rotWithShape="1">
                      <a:blip r:embed="rId4">
                        <a:alphaModFix/>
                      </a:blip>
                      <a:srcRect/>
                      <a:stretch/>
                    </p:blipFill>
                    <p:spPr>
                      <a:xfrm>
                        <a:off x="4783931" y="3169171"/>
                        <a:ext cx="2624138" cy="281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88" name="Google Shape;188;p1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89" name="Google Shape;189;p1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90" name="Google Shape;190;p1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91" name="Google Shape;191;p1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Algorithm vs Program</a:t>
            </a:r>
            <a:endParaRPr/>
          </a:p>
        </p:txBody>
      </p:sp>
      <p:pic>
        <p:nvPicPr>
          <p:cNvPr id="192" name="Google Shape;192;p10" descr="Insertion Sort in C++"/>
          <p:cNvPicPr preferRelativeResize="0"/>
          <p:nvPr/>
        </p:nvPicPr>
        <p:blipFill rotWithShape="1">
          <a:blip r:embed="rId3">
            <a:alphaModFix/>
          </a:blip>
          <a:srcRect t="4884"/>
          <a:stretch/>
        </p:blipFill>
        <p:spPr>
          <a:xfrm>
            <a:off x="6169702" y="1458156"/>
            <a:ext cx="4888317" cy="4551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82" y="2588557"/>
            <a:ext cx="5374517" cy="2448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1260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lang="en-US" sz="3200" b="1" i="0"/>
              <a:t>Problem:</a:t>
            </a:r>
            <a:r>
              <a:rPr lang="en-US" sz="3200" i="0"/>
              <a:t> 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544"/>
              </a:spcBef>
              <a:spcAft>
                <a:spcPts val="0"/>
              </a:spcAft>
              <a:buSzPct val="75000"/>
              <a:buNone/>
            </a:pPr>
            <a:r>
              <a:rPr lang="en-US" sz="3200" i="1">
                <a:solidFill>
                  <a:schemeClr val="accent1"/>
                </a:solidFill>
              </a:rPr>
              <a:t>Input</a:t>
            </a:r>
            <a:r>
              <a:rPr lang="en-US" sz="3200" i="0"/>
              <a:t> is a sequence of integers stored in an array.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544"/>
              </a:spcBef>
              <a:spcAft>
                <a:spcPts val="0"/>
              </a:spcAft>
              <a:buSzPct val="75000"/>
              <a:buNone/>
            </a:pPr>
            <a:r>
              <a:rPr lang="en-US" sz="3200" i="1">
                <a:solidFill>
                  <a:schemeClr val="accent1"/>
                </a:solidFill>
              </a:rPr>
              <a:t>Output</a:t>
            </a:r>
            <a:r>
              <a:rPr lang="en-US" sz="3200" i="0"/>
              <a:t> the minimum.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44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endParaRPr/>
          </a:p>
        </p:txBody>
      </p:sp>
      <p:sp>
        <p:nvSpPr>
          <p:cNvPr id="199" name="Google Shape;199;p1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00" name="Google Shape;200;p1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01" name="Google Shape;201;p1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The Big Picture</a:t>
            </a:r>
            <a:endParaRPr/>
          </a:p>
        </p:txBody>
      </p:sp>
      <p:cxnSp>
        <p:nvCxnSpPr>
          <p:cNvPr id="203" name="Google Shape;203;p11"/>
          <p:cNvCxnSpPr/>
          <p:nvPr/>
        </p:nvCxnSpPr>
        <p:spPr>
          <a:xfrm>
            <a:off x="4556125" y="3970769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171616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04" name="Google Shape;204;p11"/>
          <p:cNvCxnSpPr/>
          <p:nvPr/>
        </p:nvCxnSpPr>
        <p:spPr>
          <a:xfrm>
            <a:off x="7283450" y="3970769"/>
            <a:ext cx="7620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05" name="Google Shape;205;p11"/>
          <p:cNvSpPr txBox="1"/>
          <p:nvPr/>
        </p:nvSpPr>
        <p:spPr>
          <a:xfrm>
            <a:off x="1949450" y="3770744"/>
            <a:ext cx="23431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25, 90, 53, 23, 11, 34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1"/>
          <p:cNvSpPr txBox="1"/>
          <p:nvPr/>
        </p:nvSpPr>
        <p:spPr>
          <a:xfrm>
            <a:off x="2711450" y="2780144"/>
            <a:ext cx="8699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7893050" y="3161144"/>
            <a:ext cx="11239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8156575" y="3754869"/>
            <a:ext cx="4381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5530850" y="2678544"/>
            <a:ext cx="127470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1"/>
          <p:cNvSpPr txBox="1"/>
          <p:nvPr/>
        </p:nvSpPr>
        <p:spPr>
          <a:xfrm>
            <a:off x="5205413" y="4269219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1"/>
          <p:cNvSpPr txBox="1"/>
          <p:nvPr/>
        </p:nvSpPr>
        <p:spPr>
          <a:xfrm>
            <a:off x="5276850" y="3394506"/>
            <a:ext cx="1981200" cy="116522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m:= a[1];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I:=2 to size of input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if  m &gt; a[i]  then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      m:=a[I];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return 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1"/>
          <p:cNvSpPr txBox="1"/>
          <p:nvPr/>
        </p:nvSpPr>
        <p:spPr>
          <a:xfrm>
            <a:off x="5510213" y="5107419"/>
            <a:ext cx="184150" cy="3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1"/>
          <p:cNvSpPr txBox="1"/>
          <p:nvPr/>
        </p:nvSpPr>
        <p:spPr>
          <a:xfrm>
            <a:off x="7077075" y="5482069"/>
            <a:ext cx="178766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Data-Structure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5988050" y="4551794"/>
            <a:ext cx="635000" cy="685800"/>
          </a:xfrm>
          <a:custGeom>
            <a:avLst/>
            <a:gdLst/>
            <a:ahLst/>
            <a:cxnLst/>
            <a:rect l="l" t="t" r="r" b="b"/>
            <a:pathLst>
              <a:path w="400" h="432" extrusionOk="0">
                <a:moveTo>
                  <a:pt x="176" y="0"/>
                </a:moveTo>
                <a:cubicBezTo>
                  <a:pt x="88" y="72"/>
                  <a:pt x="0" y="144"/>
                  <a:pt x="32" y="192"/>
                </a:cubicBezTo>
                <a:cubicBezTo>
                  <a:pt x="64" y="240"/>
                  <a:pt x="336" y="248"/>
                  <a:pt x="368" y="288"/>
                </a:cubicBezTo>
                <a:cubicBezTo>
                  <a:pt x="400" y="328"/>
                  <a:pt x="248" y="408"/>
                  <a:pt x="224" y="432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 txBox="1"/>
          <p:nvPr/>
        </p:nvSpPr>
        <p:spPr>
          <a:xfrm>
            <a:off x="5607050" y="5451906"/>
            <a:ext cx="873125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m, a[i]</a:t>
            </a:r>
            <a:endParaRPr sz="20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5302250" y="5223306"/>
            <a:ext cx="1600200" cy="838200"/>
          </a:xfrm>
          <a:prstGeom prst="ellipse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1"/>
          <p:cNvSpPr txBox="1"/>
          <p:nvPr/>
        </p:nvSpPr>
        <p:spPr>
          <a:xfrm>
            <a:off x="1350963" y="3676615"/>
            <a:ext cx="675801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a[]: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ANALYSIS OF ALGORITHM</a:t>
            </a:r>
            <a:endParaRPr/>
          </a:p>
        </p:txBody>
      </p:sp>
      <p:sp>
        <p:nvSpPr>
          <p:cNvPr id="223" name="Google Shape;223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  <p:sp>
        <p:nvSpPr>
          <p:cNvPr id="224" name="Google Shape;224;p1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25" name="Google Shape;225;p1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26" name="Google Shape;226;p1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Need to recognize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limitations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of various algorithms for solving a problem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Need to understand relationship between problem size and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running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Need to learn how to analyze an algorithm's running time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without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coding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Need to recognize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bottlenecks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code as well as which parts of code are easiest to optimize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112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Need to learn techniques for writing more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efficient</a:t>
            </a:r>
            <a:r>
              <a:rPr lang="en-US" sz="28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</a:t>
            </a:r>
            <a:endParaRPr/>
          </a:p>
        </p:txBody>
      </p:sp>
      <p:sp>
        <p:nvSpPr>
          <p:cNvPr id="232" name="Google Shape;232;p1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33" name="Google Shape;233;p1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34" name="Google Shape;234;p1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35" name="Google Shape;235;p1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Necessity of Analysis of Algorithms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040"/>
              <a:buFont typeface="Times New Roman"/>
              <a:buChar char="●"/>
            </a:pPr>
            <a:r>
              <a:rPr lang="en-US" sz="24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Correctness</a:t>
            </a:r>
            <a:endParaRPr/>
          </a:p>
          <a:p>
            <a:pPr marL="742950" marR="0" lvl="1" indent="-28575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Does the input/output relation match algorithm requirement?</a:t>
            </a:r>
            <a:endParaRPr/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2040"/>
              <a:buFont typeface="Times New Roman"/>
              <a:buChar char="●"/>
            </a:pPr>
            <a:r>
              <a:rPr lang="en-US" sz="24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Amount of work done (complexity) </a:t>
            </a:r>
            <a:endParaRPr/>
          </a:p>
          <a:p>
            <a:pPr marL="742950" marR="0" lvl="1" indent="-28575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Basic operations to do task </a:t>
            </a:r>
            <a:endParaRPr/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2040"/>
              <a:buFont typeface="Times New Roman"/>
              <a:buChar char="●"/>
            </a:pPr>
            <a:r>
              <a:rPr lang="en-US" sz="24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Amount of space used</a:t>
            </a:r>
            <a:endParaRPr/>
          </a:p>
          <a:p>
            <a:pPr marL="742950" marR="0" lvl="1" indent="-28575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Memory used </a:t>
            </a:r>
            <a:endParaRPr sz="24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2040"/>
              <a:buFont typeface="Times New Roman"/>
              <a:buChar char="●"/>
            </a:pPr>
            <a:r>
              <a:rPr lang="en-US" sz="24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Simplicity, clarity</a:t>
            </a:r>
            <a:endParaRPr/>
          </a:p>
          <a:p>
            <a:pPr marL="742950" marR="0" lvl="1" indent="-28575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Verification and implementation. </a:t>
            </a:r>
            <a:endParaRPr/>
          </a:p>
          <a:p>
            <a:pPr marL="342900" marR="0" lvl="0" indent="-34290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ts val="2040"/>
              <a:buFont typeface="Times New Roman"/>
              <a:buChar char="●"/>
            </a:pPr>
            <a:r>
              <a:rPr lang="en-US" sz="24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Optimality</a:t>
            </a:r>
            <a:endParaRPr/>
          </a:p>
          <a:p>
            <a:pPr marL="742950" marR="0" lvl="1" indent="-285750" algn="just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 it impossible to do better?</a:t>
            </a:r>
            <a:endParaRPr/>
          </a:p>
        </p:txBody>
      </p:sp>
      <p:sp>
        <p:nvSpPr>
          <p:cNvPr id="241" name="Google Shape;241;p1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42" name="Google Shape;242;p1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43" name="Google Shape;243;p1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244" name="Google Shape;244;p1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What do we Analyze in an algorithm?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380"/>
              <a:buFont typeface="Times New Roman"/>
              <a:buChar char="●"/>
            </a:pPr>
            <a:r>
              <a:rPr lang="en-US" sz="28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 and space complexity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is generally a function of the </a:t>
            </a:r>
            <a:r>
              <a:rPr lang="en-US" sz="24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input size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0033CC"/>
              </a:buClr>
              <a:buSzPts val="1870"/>
              <a:buFont typeface="Times New Roman"/>
              <a:buChar char="○"/>
            </a:pPr>
            <a:r>
              <a:rPr lang="en-US" sz="2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e.g., sorting, multiplication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CC0000"/>
              </a:buClr>
              <a:buSzPts val="2040"/>
              <a:buFont typeface="Times New Roman"/>
              <a:buChar char="■"/>
            </a:pPr>
            <a:r>
              <a:rPr lang="en-US" sz="24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How we characterize input size depends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0033CC"/>
              </a:buClr>
              <a:buSzPts val="1870"/>
              <a:buFont typeface="Times New Roman"/>
              <a:buChar char="○"/>
            </a:pPr>
            <a:r>
              <a:rPr lang="en-US" sz="2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Sorting: number of </a:t>
            </a:r>
            <a:r>
              <a:rPr lang="en-US" sz="22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input elements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0033CC"/>
              </a:buClr>
              <a:buSzPts val="1870"/>
              <a:buFont typeface="Times New Roman"/>
              <a:buChar char="○"/>
            </a:pPr>
            <a:r>
              <a:rPr lang="en-US" sz="2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Graph algorithms: </a:t>
            </a:r>
            <a:r>
              <a:rPr lang="en-US" sz="2200" b="1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number of nodes &amp; edges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rgbClr val="0033CC"/>
              </a:buClr>
              <a:buSzPts val="1870"/>
              <a:buFont typeface="Times New Roman"/>
              <a:buChar char="○"/>
            </a:pPr>
            <a:r>
              <a:rPr lang="en-US" sz="2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Etc.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50" name="Google Shape;250;p1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1" name="Google Shape;251;p1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2" name="Google Shape;252;p1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253" name="Google Shape;253;p1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Analysis Based on Input Size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6"/>
          <p:cNvSpPr txBox="1">
            <a:spLocks noGrp="1"/>
          </p:cNvSpPr>
          <p:nvPr>
            <p:ph type="body" idx="1"/>
          </p:nvPr>
        </p:nvSpPr>
        <p:spPr>
          <a:xfrm>
            <a:off x="838200" y="4175759"/>
            <a:ext cx="10515600" cy="2001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r>
              <a:rPr lang="en-US" sz="7200"/>
              <a:t>WHERE IS THE ALGORITHM?</a:t>
            </a:r>
            <a:endParaRPr/>
          </a:p>
        </p:txBody>
      </p:sp>
      <p:sp>
        <p:nvSpPr>
          <p:cNvPr id="259" name="Google Shape;259;p1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0" name="Google Shape;260;p1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1" name="Google Shape;261;p1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262" name="Google Shape;262;p1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Insertion Sort</a:t>
            </a:r>
            <a:endParaRPr/>
          </a:p>
        </p:txBody>
      </p:sp>
      <p:pic>
        <p:nvPicPr>
          <p:cNvPr id="263" name="Google Shape;263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8579" y="2037142"/>
            <a:ext cx="11494841" cy="17967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9" name="Google Shape;269;p1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0" name="Google Shape;270;p1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271" name="Google Shape;271;p1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 Example: Insertion Sort</a:t>
            </a:r>
            <a:endParaRPr/>
          </a:p>
        </p:txBody>
      </p:sp>
      <p:sp>
        <p:nvSpPr>
          <p:cNvPr id="272" name="Google Shape;272;p17"/>
          <p:cNvSpPr txBox="1"/>
          <p:nvPr/>
        </p:nvSpPr>
        <p:spPr>
          <a:xfrm>
            <a:off x="838200" y="1192435"/>
            <a:ext cx="60935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CC"/>
              </a:buClr>
              <a:buSzPts val="2800"/>
              <a:buFont typeface="Times New Roman"/>
              <a:buNone/>
            </a:pPr>
            <a:r>
              <a:rPr lang="en-US" sz="2800" b="0" i="0" u="none" strike="noStrike" cap="none">
                <a:solidFill>
                  <a:srgbClr val="0000C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= {5, 2, 4, 6, 1, 3}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31156" y="2468713"/>
            <a:ext cx="8929688" cy="230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79" name="Google Shape;279;p1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80" name="Google Shape;280;p1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81" name="Google Shape;281;p1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282" name="Google Shape;282;p1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83" name="Google Shape;283;p18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8"/>
          <p:cNvSpPr/>
          <p:nvPr/>
        </p:nvSpPr>
        <p:spPr>
          <a:xfrm>
            <a:off x="3360295" y="215858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8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8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8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301" name="Google Shape;301;p1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302" name="Google Shape;302;p1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303" name="Google Shape;303;p1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304" name="Google Shape;304;p1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305" name="Google Shape;305;p19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9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9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9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9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323" name="Google Shape;323;p2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324" name="Google Shape;324;p2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325" name="Google Shape;325;p2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326" name="Google Shape;326;p2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327" name="Google Shape;327;p20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0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20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20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0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2648932" y="174395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 txBox="1"/>
          <p:nvPr/>
        </p:nvSpPr>
        <p:spPr>
          <a:xfrm>
            <a:off x="3321970" y="3928638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347" name="Google Shape;347;p2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348" name="Google Shape;348;p2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349" name="Google Shape;349;p2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351" name="Google Shape;351;p21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21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2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1"/>
          <p:cNvSpPr/>
          <p:nvPr/>
        </p:nvSpPr>
        <p:spPr>
          <a:xfrm>
            <a:off x="2648932" y="174395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 txBox="1"/>
          <p:nvPr/>
        </p:nvSpPr>
        <p:spPr>
          <a:xfrm>
            <a:off x="3430649" y="3947491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371" name="Google Shape;371;p2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372" name="Google Shape;372;p2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373" name="Google Shape;373;p2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374" name="Google Shape;374;p2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375" name="Google Shape;375;p22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2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22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22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2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2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2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22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2"/>
          <p:cNvSpPr txBox="1"/>
          <p:nvPr/>
        </p:nvSpPr>
        <p:spPr>
          <a:xfrm>
            <a:off x="3430648" y="3947491"/>
            <a:ext cx="6595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395" name="Google Shape;395;p2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396" name="Google Shape;396;p2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397" name="Google Shape;397;p2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398" name="Google Shape;398;p2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399" name="Google Shape;399;p23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3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3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3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3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3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3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418" name="Google Shape;418;p2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419" name="Google Shape;419;p2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420" name="Google Shape;420;p2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421" name="Google Shape;421;p2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422" name="Google Shape;422;p24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4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4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4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4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5"/>
          <p:cNvSpPr txBox="1">
            <a:spLocks noGrp="1"/>
          </p:cNvSpPr>
          <p:nvPr>
            <p:ph type="body" idx="1"/>
          </p:nvPr>
        </p:nvSpPr>
        <p:spPr>
          <a:xfrm>
            <a:off x="857054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440" name="Google Shape;440;p2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441" name="Google Shape;441;p2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442" name="Google Shape;442;p2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443" name="Google Shape;443;p2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444" name="Google Shape;444;p25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5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5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25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25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25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5"/>
          <p:cNvSpPr txBox="1"/>
          <p:nvPr/>
        </p:nvSpPr>
        <p:spPr>
          <a:xfrm>
            <a:off x="4172263" y="3950418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464" name="Google Shape;464;p2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465" name="Google Shape;465;p2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466" name="Google Shape;466;p2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467" name="Google Shape;467;p2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468" name="Google Shape;468;p26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6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6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26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6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2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26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6"/>
          <p:cNvSpPr txBox="1"/>
          <p:nvPr/>
        </p:nvSpPr>
        <p:spPr>
          <a:xfrm>
            <a:off x="4242617" y="3890650"/>
            <a:ext cx="7416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2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488" name="Google Shape;488;p2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489" name="Google Shape;489;p2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490" name="Google Shape;490;p2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491" name="Google Shape;491;p2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492" name="Google Shape;492;p27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27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7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7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27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2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27"/>
          <p:cNvSpPr/>
          <p:nvPr/>
        </p:nvSpPr>
        <p:spPr>
          <a:xfrm>
            <a:off x="2670721" y="1661627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7"/>
          <p:cNvSpPr txBox="1"/>
          <p:nvPr/>
        </p:nvSpPr>
        <p:spPr>
          <a:xfrm>
            <a:off x="4242617" y="3938309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2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512" name="Google Shape;512;p2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513" name="Google Shape;513;p2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514" name="Google Shape;514;p2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515" name="Google Shape;515;p2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516" name="Google Shape;516;p28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8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28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28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28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2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28"/>
          <p:cNvSpPr/>
          <p:nvPr/>
        </p:nvSpPr>
        <p:spPr>
          <a:xfrm>
            <a:off x="2670721" y="1661627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535" name="Google Shape;535;p2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536" name="Google Shape;536;p2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537" name="Google Shape;537;p2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538" name="Google Shape;538;p2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539" name="Google Shape;539;p29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9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9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29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29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2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2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3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557" name="Google Shape;557;p3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558" name="Google Shape;558;p3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559" name="Google Shape;559;p3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560" name="Google Shape;560;p3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561" name="Google Shape;561;p30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30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30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30"/>
          <p:cNvSpPr/>
          <p:nvPr/>
        </p:nvSpPr>
        <p:spPr>
          <a:xfrm>
            <a:off x="4984231" y="316491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30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3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3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3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3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3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30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30"/>
          <p:cNvSpPr txBox="1"/>
          <p:nvPr/>
        </p:nvSpPr>
        <p:spPr>
          <a:xfrm>
            <a:off x="5054585" y="3854463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3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581" name="Google Shape;581;p3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582" name="Google Shape;582;p3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583" name="Google Shape;583;p3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584" name="Google Shape;584;p3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585" name="Google Shape;585;p31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31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31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1"/>
          <p:cNvSpPr/>
          <p:nvPr/>
        </p:nvSpPr>
        <p:spPr>
          <a:xfrm>
            <a:off x="498423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31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3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3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3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3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3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3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3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603" name="Google Shape;603;p3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604" name="Google Shape;604;p3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605" name="Google Shape;605;p3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sp>
        <p:nvSpPr>
          <p:cNvPr id="606" name="Google Shape;606;p3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2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2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32"/>
          <p:cNvSpPr/>
          <p:nvPr/>
        </p:nvSpPr>
        <p:spPr>
          <a:xfrm>
            <a:off x="498423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2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3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3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3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3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3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3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32"/>
          <p:cNvSpPr/>
          <p:nvPr/>
        </p:nvSpPr>
        <p:spPr>
          <a:xfrm>
            <a:off x="5106625" y="16385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2"/>
          <p:cNvSpPr txBox="1"/>
          <p:nvPr/>
        </p:nvSpPr>
        <p:spPr>
          <a:xfrm>
            <a:off x="5836569" y="3755171"/>
            <a:ext cx="61919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3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627" name="Google Shape;627;p3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628" name="Google Shape;628;p3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629" name="Google Shape;629;p3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630" name="Google Shape;630;p3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631" name="Google Shape;631;p33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33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33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33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3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3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3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3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3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3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33"/>
          <p:cNvSpPr/>
          <p:nvPr/>
        </p:nvSpPr>
        <p:spPr>
          <a:xfrm>
            <a:off x="5106625" y="16385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33"/>
          <p:cNvSpPr txBox="1"/>
          <p:nvPr/>
        </p:nvSpPr>
        <p:spPr>
          <a:xfrm>
            <a:off x="5809311" y="3789525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3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651" name="Google Shape;651;p3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652" name="Google Shape;652;p3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653" name="Google Shape;653;p3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654" name="Google Shape;654;p3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655" name="Google Shape;655;p34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34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34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34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34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3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3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3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3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3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34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34"/>
          <p:cNvSpPr txBox="1"/>
          <p:nvPr/>
        </p:nvSpPr>
        <p:spPr>
          <a:xfrm>
            <a:off x="5879665" y="3778790"/>
            <a:ext cx="72850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3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675" name="Google Shape;675;p3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676" name="Google Shape;676;p3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677" name="Google Shape;677;p3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678" name="Google Shape;678;p3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679" name="Google Shape;679;p35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35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35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35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35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3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3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3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3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3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35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35"/>
          <p:cNvSpPr txBox="1"/>
          <p:nvPr/>
        </p:nvSpPr>
        <p:spPr>
          <a:xfrm>
            <a:off x="5879665" y="3778790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3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699" name="Google Shape;699;p3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700" name="Google Shape;700;p3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701" name="Google Shape;701;p3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702" name="Google Shape;702;p3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703" name="Google Shape;703;p36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36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36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36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36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3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3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3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36"/>
          <p:cNvSpPr/>
          <p:nvPr/>
        </p:nvSpPr>
        <p:spPr>
          <a:xfrm>
            <a:off x="3482689" y="167831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6"/>
          <p:cNvSpPr txBox="1"/>
          <p:nvPr/>
        </p:nvSpPr>
        <p:spPr>
          <a:xfrm>
            <a:off x="5836569" y="3755171"/>
            <a:ext cx="6595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3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723" name="Google Shape;723;p3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724" name="Google Shape;724;p3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725" name="Google Shape;725;p3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726" name="Google Shape;726;p3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727" name="Google Shape;727;p37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37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37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37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37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3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3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3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37"/>
          <p:cNvSpPr/>
          <p:nvPr/>
        </p:nvSpPr>
        <p:spPr>
          <a:xfrm>
            <a:off x="3482689" y="167831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7"/>
          <p:cNvSpPr txBox="1"/>
          <p:nvPr/>
        </p:nvSpPr>
        <p:spPr>
          <a:xfrm>
            <a:off x="5836569" y="3850625"/>
            <a:ext cx="61919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3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747" name="Google Shape;747;p3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748" name="Google Shape;748;p3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749" name="Google Shape;749;p3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750" name="Google Shape;750;p3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751" name="Google Shape;751;p38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38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38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38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38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3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3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3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3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3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38"/>
          <p:cNvSpPr/>
          <p:nvPr/>
        </p:nvSpPr>
        <p:spPr>
          <a:xfrm>
            <a:off x="2670721" y="16834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8"/>
          <p:cNvSpPr txBox="1"/>
          <p:nvPr/>
        </p:nvSpPr>
        <p:spPr>
          <a:xfrm>
            <a:off x="5879665" y="3809478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3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771" name="Google Shape;771;p3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772" name="Google Shape;772;p3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773" name="Google Shape;773;p3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774" name="Google Shape;774;p3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775" name="Google Shape;775;p39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39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39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39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39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3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3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3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3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39"/>
          <p:cNvSpPr/>
          <p:nvPr/>
        </p:nvSpPr>
        <p:spPr>
          <a:xfrm>
            <a:off x="2670721" y="16834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9"/>
          <p:cNvSpPr txBox="1"/>
          <p:nvPr/>
        </p:nvSpPr>
        <p:spPr>
          <a:xfrm>
            <a:off x="5879665" y="3803982"/>
            <a:ext cx="57610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795" name="Google Shape;795;p4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796" name="Google Shape;796;p4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797" name="Google Shape;797;p4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798" name="Google Shape;798;p4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799" name="Google Shape;799;p40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40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40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40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40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4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4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4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4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4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4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4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4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40"/>
          <p:cNvSpPr/>
          <p:nvPr/>
        </p:nvSpPr>
        <p:spPr>
          <a:xfrm>
            <a:off x="2002410" y="1692870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40"/>
          <p:cNvSpPr txBox="1"/>
          <p:nvPr/>
        </p:nvSpPr>
        <p:spPr>
          <a:xfrm>
            <a:off x="5879665" y="3755171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4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819" name="Google Shape;819;p4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820" name="Google Shape;820;p4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821" name="Google Shape;821;p4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sp>
        <p:nvSpPr>
          <p:cNvPr id="822" name="Google Shape;822;p4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823" name="Google Shape;823;p41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41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41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41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41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4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4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4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4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4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4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4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4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41"/>
          <p:cNvSpPr/>
          <p:nvPr/>
        </p:nvSpPr>
        <p:spPr>
          <a:xfrm>
            <a:off x="2002410" y="1692870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4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842" name="Google Shape;842;p4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843" name="Google Shape;843;p4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844" name="Google Shape;844;p4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845" name="Google Shape;845;p4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846" name="Google Shape;846;p42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42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42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42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42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4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4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4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4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4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4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4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4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4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864" name="Google Shape;864;p4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865" name="Google Shape;865;p4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866" name="Google Shape;866;p4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867" name="Google Shape;867;p4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868" name="Google Shape;868;p43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43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43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43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43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43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4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4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4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4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4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4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4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1" name="Google Shape;881;p43"/>
          <p:cNvSpPr txBox="1"/>
          <p:nvPr/>
        </p:nvSpPr>
        <p:spPr>
          <a:xfrm>
            <a:off x="6608167" y="3886862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4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887" name="Google Shape;887;p4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888" name="Google Shape;888;p4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889" name="Google Shape;889;p4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890" name="Google Shape;890;p4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891" name="Google Shape;891;p44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44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44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44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44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44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4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4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4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4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901;p4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4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4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44"/>
          <p:cNvSpPr/>
          <p:nvPr/>
        </p:nvSpPr>
        <p:spPr>
          <a:xfrm>
            <a:off x="5931705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44"/>
          <p:cNvSpPr txBox="1"/>
          <p:nvPr/>
        </p:nvSpPr>
        <p:spPr>
          <a:xfrm>
            <a:off x="6608167" y="3860152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4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911" name="Google Shape;911;p4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912" name="Google Shape;912;p4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913" name="Google Shape;913;p4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914" name="Google Shape;914;p4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915" name="Google Shape;915;p45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45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45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45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45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45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4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4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4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4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4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p4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4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45"/>
          <p:cNvSpPr/>
          <p:nvPr/>
        </p:nvSpPr>
        <p:spPr>
          <a:xfrm>
            <a:off x="5931705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45"/>
          <p:cNvSpPr txBox="1"/>
          <p:nvPr/>
        </p:nvSpPr>
        <p:spPr>
          <a:xfrm>
            <a:off x="6678521" y="3860152"/>
            <a:ext cx="65956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4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935" name="Google Shape;935;p4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936" name="Google Shape;936;p4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937" name="Google Shape;937;p4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938" name="Google Shape;938;p4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939" name="Google Shape;939;p46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46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46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46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46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46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4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4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4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4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4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4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4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46"/>
          <p:cNvSpPr/>
          <p:nvPr/>
        </p:nvSpPr>
        <p:spPr>
          <a:xfrm>
            <a:off x="5113181" y="175236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46"/>
          <p:cNvSpPr txBox="1"/>
          <p:nvPr/>
        </p:nvSpPr>
        <p:spPr>
          <a:xfrm>
            <a:off x="6678521" y="3886862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4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959" name="Google Shape;959;p4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960" name="Google Shape;960;p4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961" name="Google Shape;961;p4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962" name="Google Shape;962;p4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963" name="Google Shape;963;p47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47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47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47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47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47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4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4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4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4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4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4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4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47"/>
          <p:cNvSpPr/>
          <p:nvPr/>
        </p:nvSpPr>
        <p:spPr>
          <a:xfrm>
            <a:off x="5113181" y="175236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47"/>
          <p:cNvSpPr txBox="1"/>
          <p:nvPr/>
        </p:nvSpPr>
        <p:spPr>
          <a:xfrm>
            <a:off x="6628545" y="3913572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4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983" name="Google Shape;983;p4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984" name="Google Shape;984;p4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985" name="Google Shape;985;p4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986" name="Google Shape;986;p4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987" name="Google Shape;987;p48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48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48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48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48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48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4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4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4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4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4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4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4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48"/>
          <p:cNvSpPr/>
          <p:nvPr/>
        </p:nvSpPr>
        <p:spPr>
          <a:xfrm>
            <a:off x="4301213" y="174348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1" name="Google Shape;1001;p48"/>
          <p:cNvSpPr txBox="1"/>
          <p:nvPr/>
        </p:nvSpPr>
        <p:spPr>
          <a:xfrm>
            <a:off x="6628545" y="3895189"/>
            <a:ext cx="6391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49"/>
          <p:cNvSpPr txBox="1">
            <a:spLocks noGrp="1"/>
          </p:cNvSpPr>
          <p:nvPr>
            <p:ph type="body" idx="1"/>
          </p:nvPr>
        </p:nvSpPr>
        <p:spPr>
          <a:xfrm>
            <a:off x="847627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007" name="Google Shape;1007;p4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08" name="Google Shape;1008;p4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09" name="Google Shape;1009;p4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1010" name="Google Shape;1010;p4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011" name="Google Shape;1011;p49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49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49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49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49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49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4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4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4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4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4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4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4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4" name="Google Shape;1024;p49"/>
          <p:cNvSpPr/>
          <p:nvPr/>
        </p:nvSpPr>
        <p:spPr>
          <a:xfrm>
            <a:off x="4301213" y="174348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49"/>
          <p:cNvSpPr txBox="1"/>
          <p:nvPr/>
        </p:nvSpPr>
        <p:spPr>
          <a:xfrm>
            <a:off x="6628545" y="3857011"/>
            <a:ext cx="58921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p5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031" name="Google Shape;1031;p5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32" name="Google Shape;1032;p5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33" name="Google Shape;1033;p5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1034" name="Google Shape;1034;p5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035" name="Google Shape;1035;p50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50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50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50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50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50"/>
          <p:cNvSpPr/>
          <p:nvPr/>
        </p:nvSpPr>
        <p:spPr>
          <a:xfrm>
            <a:off x="6558191" y="330364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5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5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5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5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5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5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5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50"/>
          <p:cNvSpPr/>
          <p:nvPr/>
        </p:nvSpPr>
        <p:spPr>
          <a:xfrm>
            <a:off x="3482689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50"/>
          <p:cNvSpPr txBox="1"/>
          <p:nvPr/>
        </p:nvSpPr>
        <p:spPr>
          <a:xfrm>
            <a:off x="6558191" y="390820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p5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055" name="Google Shape;1055;p5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56" name="Google Shape;1056;p5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57" name="Google Shape;1057;p5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1058" name="Google Shape;1058;p5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059" name="Google Shape;1059;p51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51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51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51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51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51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5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5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5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5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5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5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5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5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Now let us try to write the Algorithm (in pseudocode format)</a:t>
            </a:r>
            <a:endParaRPr/>
          </a:p>
        </p:txBody>
      </p:sp>
      <p:sp>
        <p:nvSpPr>
          <p:cNvPr id="1077" name="Google Shape;1077;p5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78" name="Google Shape;1078;p5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79" name="Google Shape;1079;p5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1080" name="Google Shape;1080;p5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5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Now let us try to write the Algorithm (in pseudocode format)</a:t>
            </a:r>
            <a:endParaRPr/>
          </a:p>
        </p:txBody>
      </p:sp>
      <p:sp>
        <p:nvSpPr>
          <p:cNvPr id="1086" name="Google Shape;1086;p5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87" name="Google Shape;1087;p5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88" name="Google Shape;1088;p5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1089" name="Google Shape;1089;p5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pic>
        <p:nvPicPr>
          <p:cNvPr id="1090" name="Google Shape;1090;p5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3581400" y="1960775"/>
            <a:ext cx="5030771" cy="4053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5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096" name="Google Shape;1096;p5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097" name="Google Shape;1097;p5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098" name="Google Shape;1098;p5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1099" name="Google Shape;1099;p5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100" name="Google Shape;1100;p54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54"/>
          <p:cNvSpPr/>
          <p:nvPr/>
        </p:nvSpPr>
        <p:spPr>
          <a:xfrm>
            <a:off x="3360295" y="215858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54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54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54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5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5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" name="Google Shape;1107;p5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5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" name="Google Shape;1109;p5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5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5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" name="Google Shape;1112;p5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3" name="Google Shape;1113;p5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13613" y="1926551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114" name="Google Shape;1114;p54"/>
          <p:cNvSpPr/>
          <p:nvPr/>
        </p:nvSpPr>
        <p:spPr>
          <a:xfrm>
            <a:off x="7903870" y="236172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5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120" name="Google Shape;1120;p5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121" name="Google Shape;1121;p5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122" name="Google Shape;1122;p5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1123" name="Google Shape;1123;p5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124" name="Google Shape;1124;p55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5" name="Google Shape;1125;p55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p55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55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55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9" name="Google Shape;1129;p5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0" name="Google Shape;1130;p5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5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5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5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5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5" name="Google Shape;1135;p5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5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7" name="Google Shape;1137;p5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13613" y="1926551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138" name="Google Shape;1138;p55"/>
          <p:cNvSpPr/>
          <p:nvPr/>
        </p:nvSpPr>
        <p:spPr>
          <a:xfrm>
            <a:off x="8232103" y="278668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Google Shape;1143;p5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144" name="Google Shape;1144;p5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145" name="Google Shape;1145;p5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146" name="Google Shape;1146;p5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1147" name="Google Shape;1147;p5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148" name="Google Shape;1148;p56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56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56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56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56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5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5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5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5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5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5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5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5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1" name="Google Shape;1161;p56"/>
          <p:cNvSpPr/>
          <p:nvPr/>
        </p:nvSpPr>
        <p:spPr>
          <a:xfrm>
            <a:off x="2648932" y="174395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56"/>
          <p:cNvSpPr txBox="1"/>
          <p:nvPr/>
        </p:nvSpPr>
        <p:spPr>
          <a:xfrm>
            <a:off x="3430649" y="3882395"/>
            <a:ext cx="74161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63" name="Google Shape;1163;p5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4" name="Google Shape;1164;p56"/>
          <p:cNvSpPr/>
          <p:nvPr/>
        </p:nvSpPr>
        <p:spPr>
          <a:xfrm>
            <a:off x="8167735" y="316997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5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170" name="Google Shape;1170;p5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171" name="Google Shape;1171;p5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172" name="Google Shape;1172;p5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1173" name="Google Shape;1173;p5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174" name="Google Shape;1174;p57"/>
          <p:cNvSpPr/>
          <p:nvPr/>
        </p:nvSpPr>
        <p:spPr>
          <a:xfrm>
            <a:off x="2548327" y="215858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57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57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57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57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5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5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1" name="Google Shape;1181;p5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2" name="Google Shape;1182;p5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5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5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5" name="Google Shape;1185;p5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5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57"/>
          <p:cNvSpPr/>
          <p:nvPr/>
        </p:nvSpPr>
        <p:spPr>
          <a:xfrm>
            <a:off x="2648932" y="174395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57"/>
          <p:cNvSpPr txBox="1"/>
          <p:nvPr/>
        </p:nvSpPr>
        <p:spPr>
          <a:xfrm>
            <a:off x="3321970" y="392863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9" name="Google Shape;1189;p5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190" name="Google Shape;1190;p57"/>
          <p:cNvSpPr/>
          <p:nvPr/>
        </p:nvSpPr>
        <p:spPr>
          <a:xfrm>
            <a:off x="8167735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Google Shape;1195;p5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196" name="Google Shape;1196;p5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197" name="Google Shape;1197;p5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198" name="Google Shape;1198;p5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1199" name="Google Shape;1199;p5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200" name="Google Shape;1200;p58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58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58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58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8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5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5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5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8" name="Google Shape;1208;p5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9" name="Google Shape;1209;p5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5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5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5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58"/>
          <p:cNvSpPr/>
          <p:nvPr/>
        </p:nvSpPr>
        <p:spPr>
          <a:xfrm>
            <a:off x="2648932" y="174395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4" name="Google Shape;1214;p58"/>
          <p:cNvSpPr txBox="1"/>
          <p:nvPr/>
        </p:nvSpPr>
        <p:spPr>
          <a:xfrm>
            <a:off x="3430649" y="394749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5" name="Google Shape;1215;p5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13613" y="1926551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16" name="Google Shape;1216;p58"/>
          <p:cNvSpPr/>
          <p:nvPr/>
        </p:nvSpPr>
        <p:spPr>
          <a:xfrm>
            <a:off x="8232103" y="278668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7" name="Google Shape;1217;p5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18" name="Google Shape;1218;p58"/>
          <p:cNvSpPr/>
          <p:nvPr/>
        </p:nvSpPr>
        <p:spPr>
          <a:xfrm>
            <a:off x="9035001" y="394917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5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224" name="Google Shape;1224;p5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225" name="Google Shape;1225;p5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226" name="Google Shape;1226;p5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59</a:t>
            </a:fld>
            <a:endParaRPr/>
          </a:p>
        </p:txBody>
      </p:sp>
      <p:sp>
        <p:nvSpPr>
          <p:cNvPr id="1227" name="Google Shape;1227;p5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228" name="Google Shape;1228;p59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59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0" name="Google Shape;1230;p59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1" name="Google Shape;1231;p59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2" name="Google Shape;1232;p59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5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5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5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5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5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8" name="Google Shape;1238;p5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5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0" name="Google Shape;1240;p5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1" name="Google Shape;1241;p59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59"/>
          <p:cNvSpPr txBox="1"/>
          <p:nvPr/>
        </p:nvSpPr>
        <p:spPr>
          <a:xfrm>
            <a:off x="3430649" y="394749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3" name="Google Shape;1243;p59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44" name="Google Shape;1244;p59"/>
          <p:cNvSpPr/>
          <p:nvPr/>
        </p:nvSpPr>
        <p:spPr>
          <a:xfrm>
            <a:off x="8978440" y="431682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Google Shape;1249;p6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250" name="Google Shape;1250;p6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251" name="Google Shape;1251;p6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252" name="Google Shape;1252;p6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60</a:t>
            </a:fld>
            <a:endParaRPr/>
          </a:p>
        </p:txBody>
      </p:sp>
      <p:sp>
        <p:nvSpPr>
          <p:cNvPr id="1253" name="Google Shape;1253;p6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254" name="Google Shape;1254;p60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5" name="Google Shape;1255;p60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6" name="Google Shape;1256;p60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60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Google Shape;1258;p60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6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6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6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2" name="Google Shape;1262;p6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3" name="Google Shape;1263;p6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4" name="Google Shape;1264;p6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5" name="Google Shape;1265;p6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6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7" name="Google Shape;1267;p60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8" name="Google Shape;1268;p60"/>
          <p:cNvSpPr txBox="1"/>
          <p:nvPr/>
        </p:nvSpPr>
        <p:spPr>
          <a:xfrm>
            <a:off x="3430649" y="394749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9" name="Google Shape;1269;p60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70" name="Google Shape;1270;p60"/>
          <p:cNvSpPr/>
          <p:nvPr/>
        </p:nvSpPr>
        <p:spPr>
          <a:xfrm>
            <a:off x="8262003" y="357984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Google Shape;1275;p6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276" name="Google Shape;1276;p6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277" name="Google Shape;1277;p6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278" name="Google Shape;1278;p6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61</a:t>
            </a:fld>
            <a:endParaRPr/>
          </a:p>
        </p:txBody>
      </p:sp>
      <p:sp>
        <p:nvSpPr>
          <p:cNvPr id="1279" name="Google Shape;1279;p6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280" name="Google Shape;1280;p61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61"/>
          <p:cNvSpPr/>
          <p:nvPr/>
        </p:nvSpPr>
        <p:spPr>
          <a:xfrm>
            <a:off x="3360295" y="319284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61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61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61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6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6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7" name="Google Shape;1287;p6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8" name="Google Shape;1288;p6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6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0" name="Google Shape;1290;p6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1" name="Google Shape;1291;p6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2" name="Google Shape;1292;p6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61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4" name="Google Shape;1294;p61"/>
          <p:cNvSpPr txBox="1"/>
          <p:nvPr/>
        </p:nvSpPr>
        <p:spPr>
          <a:xfrm>
            <a:off x="3430649" y="394749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5" name="Google Shape;1295;p61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96" name="Google Shape;1296;p61"/>
          <p:cNvSpPr/>
          <p:nvPr/>
        </p:nvSpPr>
        <p:spPr>
          <a:xfrm>
            <a:off x="8262003" y="357984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6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302" name="Google Shape;1302;p6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303" name="Google Shape;1303;p6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304" name="Google Shape;1304;p6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62</a:t>
            </a:fld>
            <a:endParaRPr/>
          </a:p>
        </p:txBody>
      </p:sp>
      <p:sp>
        <p:nvSpPr>
          <p:cNvPr id="1305" name="Google Shape;1305;p6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306" name="Google Shape;1306;p62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62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62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62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62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6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6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3" name="Google Shape;1313;p6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4" name="Google Shape;1314;p6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5" name="Google Shape;1315;p6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6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6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8" name="Google Shape;1318;p6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62"/>
          <p:cNvSpPr/>
          <p:nvPr/>
        </p:nvSpPr>
        <p:spPr>
          <a:xfrm>
            <a:off x="2002410" y="1706251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0" name="Google Shape;1320;p62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321" name="Google Shape;1321;p62"/>
          <p:cNvSpPr/>
          <p:nvPr/>
        </p:nvSpPr>
        <p:spPr>
          <a:xfrm>
            <a:off x="8252576" y="4748770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6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327" name="Google Shape;1327;p6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328" name="Google Shape;1328;p6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329" name="Google Shape;1329;p6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63</a:t>
            </a:fld>
            <a:endParaRPr/>
          </a:p>
        </p:txBody>
      </p:sp>
      <p:sp>
        <p:nvSpPr>
          <p:cNvPr id="1330" name="Google Shape;1330;p6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331" name="Google Shape;1331;p63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63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3" name="Google Shape;1333;p63"/>
          <p:cNvSpPr/>
          <p:nvPr/>
        </p:nvSpPr>
        <p:spPr>
          <a:xfrm>
            <a:off x="4172263" y="215858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p63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63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63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6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8" name="Google Shape;1338;p6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9" name="Google Shape;1339;p6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6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1" name="Google Shape;1341;p6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6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3" name="Google Shape;1343;p6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4" name="Google Shape;1344;p6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345" name="Google Shape;1345;p63"/>
          <p:cNvSpPr/>
          <p:nvPr/>
        </p:nvSpPr>
        <p:spPr>
          <a:xfrm>
            <a:off x="7916364" y="2300140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6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351" name="Google Shape;1351;p6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352" name="Google Shape;1352;p6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353" name="Google Shape;1353;p6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64</a:t>
            </a:fld>
            <a:endParaRPr/>
          </a:p>
        </p:txBody>
      </p:sp>
      <p:sp>
        <p:nvSpPr>
          <p:cNvPr id="1354" name="Google Shape;1354;p6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355" name="Google Shape;1355;p64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64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64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64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64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6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6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2" name="Google Shape;1362;p6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6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6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5" name="Google Shape;1365;p6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6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7" name="Google Shape;1367;p6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64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9" name="Google Shape;1369;p64"/>
          <p:cNvSpPr txBox="1"/>
          <p:nvPr/>
        </p:nvSpPr>
        <p:spPr>
          <a:xfrm>
            <a:off x="4172263" y="395041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0" name="Google Shape;1370;p6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371" name="Google Shape;1371;p64"/>
          <p:cNvSpPr/>
          <p:nvPr/>
        </p:nvSpPr>
        <p:spPr>
          <a:xfrm>
            <a:off x="8233994" y="271685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Google Shape;1376;p6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377" name="Google Shape;1377;p6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378" name="Google Shape;1378;p6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379" name="Google Shape;1379;p6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  <p:sp>
        <p:nvSpPr>
          <p:cNvPr id="1380" name="Google Shape;1380;p6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381" name="Google Shape;1381;p65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65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65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65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65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6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p6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8" name="Google Shape;1388;p6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9" name="Google Shape;1389;p6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0" name="Google Shape;1390;p6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6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2" name="Google Shape;1392;p6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6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65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5" name="Google Shape;1395;p65"/>
          <p:cNvSpPr txBox="1"/>
          <p:nvPr/>
        </p:nvSpPr>
        <p:spPr>
          <a:xfrm>
            <a:off x="4172263" y="395041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6" name="Google Shape;1396;p6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397" name="Google Shape;1397;p65"/>
          <p:cNvSpPr/>
          <p:nvPr/>
        </p:nvSpPr>
        <p:spPr>
          <a:xfrm>
            <a:off x="8167735" y="320826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6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403" name="Google Shape;1403;p6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404" name="Google Shape;1404;p6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405" name="Google Shape;1405;p6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66</a:t>
            </a:fld>
            <a:endParaRPr/>
          </a:p>
        </p:txBody>
      </p:sp>
      <p:sp>
        <p:nvSpPr>
          <p:cNvPr id="1406" name="Google Shape;1406;p6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407" name="Google Shape;1407;p66"/>
          <p:cNvSpPr/>
          <p:nvPr/>
        </p:nvSpPr>
        <p:spPr>
          <a:xfrm>
            <a:off x="3360295" y="2158578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p66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9" name="Google Shape;1409;p66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66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66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p6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6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4" name="Google Shape;1414;p6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5" name="Google Shape;1415;p6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6" name="Google Shape;1416;p6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7" name="Google Shape;1417;p6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8" name="Google Shape;1418;p6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9" name="Google Shape;1419;p6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66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1" name="Google Shape;1421;p66"/>
          <p:cNvSpPr txBox="1"/>
          <p:nvPr/>
        </p:nvSpPr>
        <p:spPr>
          <a:xfrm>
            <a:off x="4172263" y="395041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2" name="Google Shape;1422;p6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423" name="Google Shape;1423;p66"/>
          <p:cNvSpPr/>
          <p:nvPr/>
        </p:nvSpPr>
        <p:spPr>
          <a:xfrm>
            <a:off x="829013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p6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429" name="Google Shape;1429;p6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430" name="Google Shape;1430;p6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431" name="Google Shape;1431;p6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67</a:t>
            </a:fld>
            <a:endParaRPr/>
          </a:p>
        </p:txBody>
      </p:sp>
      <p:sp>
        <p:nvSpPr>
          <p:cNvPr id="1432" name="Google Shape;1432;p6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433" name="Google Shape;1433;p67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67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67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67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67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6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9" name="Google Shape;1439;p6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0" name="Google Shape;1440;p6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1" name="Google Shape;1441;p6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2" name="Google Shape;1442;p6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3" name="Google Shape;1443;p6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4" name="Google Shape;1444;p6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5" name="Google Shape;1445;p6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6" name="Google Shape;1446;p67"/>
          <p:cNvSpPr/>
          <p:nvPr/>
        </p:nvSpPr>
        <p:spPr>
          <a:xfrm>
            <a:off x="3482689" y="1661628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7" name="Google Shape;1447;p67"/>
          <p:cNvSpPr txBox="1"/>
          <p:nvPr/>
        </p:nvSpPr>
        <p:spPr>
          <a:xfrm>
            <a:off x="4242617" y="3890650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48" name="Google Shape;1448;p6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449" name="Google Shape;1449;p67"/>
          <p:cNvSpPr/>
          <p:nvPr/>
        </p:nvSpPr>
        <p:spPr>
          <a:xfrm>
            <a:off x="829013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6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455" name="Google Shape;1455;p6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456" name="Google Shape;1456;p6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457" name="Google Shape;1457;p6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68</a:t>
            </a:fld>
            <a:endParaRPr/>
          </a:p>
        </p:txBody>
      </p:sp>
      <p:sp>
        <p:nvSpPr>
          <p:cNvPr id="1458" name="Google Shape;1458;p6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459" name="Google Shape;1459;p68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0" name="Google Shape;1460;p68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68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68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3" name="Google Shape;1463;p68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6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6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6" name="Google Shape;1466;p6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7" name="Google Shape;1467;p6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6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9" name="Google Shape;1469;p6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0" name="Google Shape;1470;p6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1" name="Google Shape;1471;p6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68"/>
          <p:cNvSpPr/>
          <p:nvPr/>
        </p:nvSpPr>
        <p:spPr>
          <a:xfrm>
            <a:off x="2670721" y="1661627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3" name="Google Shape;1473;p68"/>
          <p:cNvSpPr txBox="1"/>
          <p:nvPr/>
        </p:nvSpPr>
        <p:spPr>
          <a:xfrm>
            <a:off x="4242617" y="393830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4" name="Google Shape;1474;p6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475" name="Google Shape;1475;p68"/>
          <p:cNvSpPr/>
          <p:nvPr/>
        </p:nvSpPr>
        <p:spPr>
          <a:xfrm>
            <a:off x="9031744" y="4307641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Google Shape;1480;p6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481" name="Google Shape;1481;p6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482" name="Google Shape;1482;p6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483" name="Google Shape;1483;p6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69</a:t>
            </a:fld>
            <a:endParaRPr/>
          </a:p>
        </p:txBody>
      </p:sp>
      <p:sp>
        <p:nvSpPr>
          <p:cNvPr id="1484" name="Google Shape;1484;p6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485" name="Google Shape;1485;p69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69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7" name="Google Shape;1487;p69"/>
          <p:cNvSpPr/>
          <p:nvPr/>
        </p:nvSpPr>
        <p:spPr>
          <a:xfrm>
            <a:off x="4172263" y="324876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8" name="Google Shape;1488;p69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69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0" name="Google Shape;1490;p6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6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2" name="Google Shape;1492;p6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3" name="Google Shape;1493;p6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4" name="Google Shape;1494;p6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5" name="Google Shape;1495;p6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6" name="Google Shape;1496;p6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7" name="Google Shape;1497;p6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8" name="Google Shape;1498;p69"/>
          <p:cNvSpPr/>
          <p:nvPr/>
        </p:nvSpPr>
        <p:spPr>
          <a:xfrm>
            <a:off x="2670721" y="1661627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69"/>
          <p:cNvSpPr txBox="1"/>
          <p:nvPr/>
        </p:nvSpPr>
        <p:spPr>
          <a:xfrm>
            <a:off x="4242617" y="393830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00" name="Google Shape;1500;p69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501" name="Google Shape;1501;p69"/>
          <p:cNvSpPr/>
          <p:nvPr/>
        </p:nvSpPr>
        <p:spPr>
          <a:xfrm>
            <a:off x="8236248" y="359353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p7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507" name="Google Shape;1507;p7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508" name="Google Shape;1508;p7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509" name="Google Shape;1509;p7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70</a:t>
            </a:fld>
            <a:endParaRPr/>
          </a:p>
        </p:txBody>
      </p:sp>
      <p:sp>
        <p:nvSpPr>
          <p:cNvPr id="1510" name="Google Shape;1510;p7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511" name="Google Shape;1511;p70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2" name="Google Shape;1512;p70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3" name="Google Shape;1513;p70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70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5" name="Google Shape;1515;p70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6" name="Google Shape;1516;p7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7" name="Google Shape;1517;p7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8" name="Google Shape;1518;p7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9" name="Google Shape;1519;p7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0" name="Google Shape;1520;p7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7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2" name="Google Shape;1522;p7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3" name="Google Shape;1523;p7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4" name="Google Shape;1524;p70"/>
          <p:cNvSpPr/>
          <p:nvPr/>
        </p:nvSpPr>
        <p:spPr>
          <a:xfrm>
            <a:off x="2670721" y="1661627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5" name="Google Shape;1525;p70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526" name="Google Shape;1526;p70"/>
          <p:cNvSpPr/>
          <p:nvPr/>
        </p:nvSpPr>
        <p:spPr>
          <a:xfrm>
            <a:off x="8236248" y="470589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7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532" name="Google Shape;1532;p7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533" name="Google Shape;1533;p7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534" name="Google Shape;1534;p7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71</a:t>
            </a:fld>
            <a:endParaRPr/>
          </a:p>
        </p:txBody>
      </p:sp>
      <p:sp>
        <p:nvSpPr>
          <p:cNvPr id="1535" name="Google Shape;1535;p7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536" name="Google Shape;1536;p71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7" name="Google Shape;1537;p71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8" name="Google Shape;1538;p71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9" name="Google Shape;1539;p71"/>
          <p:cNvSpPr/>
          <p:nvPr/>
        </p:nvSpPr>
        <p:spPr>
          <a:xfrm>
            <a:off x="4984231" y="215858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0" name="Google Shape;1540;p71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1" name="Google Shape;1541;p7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2" name="Google Shape;1542;p7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7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4" name="Google Shape;1544;p7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5" name="Google Shape;1545;p7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6" name="Google Shape;1546;p7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7" name="Google Shape;1547;p7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8" name="Google Shape;1548;p7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9" name="Google Shape;1549;p71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550" name="Google Shape;1550;p71"/>
          <p:cNvSpPr/>
          <p:nvPr/>
        </p:nvSpPr>
        <p:spPr>
          <a:xfrm>
            <a:off x="7793533" y="231952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Google Shape;1555;p7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556" name="Google Shape;1556;p7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557" name="Google Shape;1557;p7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558" name="Google Shape;1558;p7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72</a:t>
            </a:fld>
            <a:endParaRPr/>
          </a:p>
        </p:txBody>
      </p:sp>
      <p:sp>
        <p:nvSpPr>
          <p:cNvPr id="1559" name="Google Shape;1559;p7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560" name="Google Shape;1560;p72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1" name="Google Shape;1561;p72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2" name="Google Shape;1562;p72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3" name="Google Shape;1563;p72"/>
          <p:cNvSpPr/>
          <p:nvPr/>
        </p:nvSpPr>
        <p:spPr>
          <a:xfrm>
            <a:off x="4984231" y="316491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4" name="Google Shape;1564;p72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5" name="Google Shape;1565;p7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6" name="Google Shape;1566;p7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7" name="Google Shape;1567;p7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8" name="Google Shape;1568;p7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9" name="Google Shape;1569;p7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0" name="Google Shape;1570;p7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1" name="Google Shape;1571;p7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2" name="Google Shape;1572;p7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3" name="Google Shape;1573;p72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4" name="Google Shape;1574;p72"/>
          <p:cNvSpPr txBox="1"/>
          <p:nvPr/>
        </p:nvSpPr>
        <p:spPr>
          <a:xfrm>
            <a:off x="5054585" y="3854463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5" name="Google Shape;1575;p72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576" name="Google Shape;1576;p72"/>
          <p:cNvSpPr/>
          <p:nvPr/>
        </p:nvSpPr>
        <p:spPr>
          <a:xfrm>
            <a:off x="8238089" y="273082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Google Shape;1581;p7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582" name="Google Shape;1582;p7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583" name="Google Shape;1583;p7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584" name="Google Shape;1584;p7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73</a:t>
            </a:fld>
            <a:endParaRPr/>
          </a:p>
        </p:txBody>
      </p:sp>
      <p:sp>
        <p:nvSpPr>
          <p:cNvPr id="1585" name="Google Shape;1585;p7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586" name="Google Shape;1586;p73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7" name="Google Shape;1587;p73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8" name="Google Shape;1588;p73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9" name="Google Shape;1589;p73"/>
          <p:cNvSpPr/>
          <p:nvPr/>
        </p:nvSpPr>
        <p:spPr>
          <a:xfrm>
            <a:off x="4984231" y="316491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0" name="Google Shape;1590;p73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1" name="Google Shape;1591;p73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7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3" name="Google Shape;1593;p7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4" name="Google Shape;1594;p7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5" name="Google Shape;1595;p7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6" name="Google Shape;1596;p7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7" name="Google Shape;1597;p7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8" name="Google Shape;1598;p7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73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0" name="Google Shape;1600;p73"/>
          <p:cNvSpPr txBox="1"/>
          <p:nvPr/>
        </p:nvSpPr>
        <p:spPr>
          <a:xfrm>
            <a:off x="5054585" y="3854463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1" name="Google Shape;1601;p7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602" name="Google Shape;1602;p73"/>
          <p:cNvSpPr/>
          <p:nvPr/>
        </p:nvSpPr>
        <p:spPr>
          <a:xfrm>
            <a:off x="8167735" y="316491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Google Shape;1607;p7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608" name="Google Shape;1608;p7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609" name="Google Shape;1609;p7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610" name="Google Shape;1610;p7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74</a:t>
            </a:fld>
            <a:endParaRPr/>
          </a:p>
        </p:txBody>
      </p:sp>
      <p:sp>
        <p:nvSpPr>
          <p:cNvPr id="1611" name="Google Shape;1611;p7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612" name="Google Shape;1612;p74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3" name="Google Shape;1613;p74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4" name="Google Shape;1614;p74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5" name="Google Shape;1615;p74"/>
          <p:cNvSpPr/>
          <p:nvPr/>
        </p:nvSpPr>
        <p:spPr>
          <a:xfrm>
            <a:off x="4984231" y="316491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6" name="Google Shape;1616;p74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7" name="Google Shape;1617;p7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8" name="Google Shape;1618;p7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9" name="Google Shape;1619;p7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0" name="Google Shape;1620;p7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1" name="Google Shape;1621;p7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2" name="Google Shape;1622;p7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3" name="Google Shape;1623;p7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7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5" name="Google Shape;1625;p74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6" name="Google Shape;1626;p74"/>
          <p:cNvSpPr txBox="1"/>
          <p:nvPr/>
        </p:nvSpPr>
        <p:spPr>
          <a:xfrm>
            <a:off x="5054585" y="3854463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27" name="Google Shape;1627;p7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628" name="Google Shape;1628;p74"/>
          <p:cNvSpPr/>
          <p:nvPr/>
        </p:nvSpPr>
        <p:spPr>
          <a:xfrm>
            <a:off x="8219776" y="351861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Google Shape;1633;p7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634" name="Google Shape;1634;p7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635" name="Google Shape;1635;p7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636" name="Google Shape;1636;p7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75</a:t>
            </a:fld>
            <a:endParaRPr/>
          </a:p>
        </p:txBody>
      </p:sp>
      <p:sp>
        <p:nvSpPr>
          <p:cNvPr id="1637" name="Google Shape;1637;p7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638" name="Google Shape;1638;p75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9" name="Google Shape;1639;p75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0" name="Google Shape;1640;p75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1" name="Google Shape;1641;p75"/>
          <p:cNvSpPr/>
          <p:nvPr/>
        </p:nvSpPr>
        <p:spPr>
          <a:xfrm>
            <a:off x="498423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2" name="Google Shape;1642;p75"/>
          <p:cNvSpPr/>
          <p:nvPr/>
        </p:nvSpPr>
        <p:spPr>
          <a:xfrm>
            <a:off x="5796199" y="2158580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3" name="Google Shape;1643;p7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4" name="Google Shape;1644;p7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5" name="Google Shape;1645;p7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6" name="Google Shape;1646;p7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7" name="Google Shape;1647;p7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8" name="Google Shape;1648;p7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7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0" name="Google Shape;1650;p7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1" name="Google Shape;1651;p7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652" name="Google Shape;1652;p75"/>
          <p:cNvSpPr/>
          <p:nvPr/>
        </p:nvSpPr>
        <p:spPr>
          <a:xfrm>
            <a:off x="8153400" y="471581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Google Shape;1657;p7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658" name="Google Shape;1658;p7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659" name="Google Shape;1659;p7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660" name="Google Shape;1660;p7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76</a:t>
            </a:fld>
            <a:endParaRPr/>
          </a:p>
        </p:txBody>
      </p:sp>
      <p:sp>
        <p:nvSpPr>
          <p:cNvPr id="1661" name="Google Shape;1661;p7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662" name="Google Shape;1662;p76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3" name="Google Shape;1663;p76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4" name="Google Shape;1664;p76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5" name="Google Shape;1665;p76"/>
          <p:cNvSpPr/>
          <p:nvPr/>
        </p:nvSpPr>
        <p:spPr>
          <a:xfrm>
            <a:off x="498423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76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7" name="Google Shape;1667;p7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8" name="Google Shape;1668;p7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7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0" name="Google Shape;1670;p7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1" name="Google Shape;1671;p7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2" name="Google Shape;1672;p7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3" name="Google Shape;1673;p7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7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5" name="Google Shape;1675;p76"/>
          <p:cNvSpPr/>
          <p:nvPr/>
        </p:nvSpPr>
        <p:spPr>
          <a:xfrm>
            <a:off x="5106625" y="16385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6" name="Google Shape;1676;p76"/>
          <p:cNvSpPr txBox="1"/>
          <p:nvPr/>
        </p:nvSpPr>
        <p:spPr>
          <a:xfrm>
            <a:off x="5836570" y="375517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7" name="Google Shape;1677;p7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678" name="Google Shape;1678;p76"/>
          <p:cNvSpPr/>
          <p:nvPr/>
        </p:nvSpPr>
        <p:spPr>
          <a:xfrm>
            <a:off x="7727691" y="237792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76"/>
          <p:cNvSpPr/>
          <p:nvPr/>
        </p:nvSpPr>
        <p:spPr>
          <a:xfrm>
            <a:off x="8268072" y="273082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0" name="Google Shape;1680;p76"/>
          <p:cNvSpPr/>
          <p:nvPr/>
        </p:nvSpPr>
        <p:spPr>
          <a:xfrm>
            <a:off x="8268072" y="3183382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1" name="Google Shape;1681;p76"/>
          <p:cNvSpPr/>
          <p:nvPr/>
        </p:nvSpPr>
        <p:spPr>
          <a:xfrm>
            <a:off x="8256351" y="358957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Google Shape;1686;p7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687" name="Google Shape;1687;p7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688" name="Google Shape;1688;p7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689" name="Google Shape;1689;p7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77</a:t>
            </a:fld>
            <a:endParaRPr/>
          </a:p>
        </p:txBody>
      </p:sp>
      <p:sp>
        <p:nvSpPr>
          <p:cNvPr id="1690" name="Google Shape;1690;p7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691" name="Google Shape;1691;p77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2" name="Google Shape;1692;p77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3" name="Google Shape;1693;p77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4" name="Google Shape;1694;p77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5" name="Google Shape;1695;p77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6" name="Google Shape;1696;p7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7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8" name="Google Shape;1698;p7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9" name="Google Shape;1699;p7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0" name="Google Shape;1700;p7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7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2" name="Google Shape;1702;p7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3" name="Google Shape;1703;p7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4" name="Google Shape;1704;p77"/>
          <p:cNvSpPr/>
          <p:nvPr/>
        </p:nvSpPr>
        <p:spPr>
          <a:xfrm>
            <a:off x="5106625" y="16385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5" name="Google Shape;1705;p77"/>
          <p:cNvSpPr txBox="1"/>
          <p:nvPr/>
        </p:nvSpPr>
        <p:spPr>
          <a:xfrm>
            <a:off x="5809311" y="3789525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6" name="Google Shape;1706;p7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707" name="Google Shape;1707;p77"/>
          <p:cNvSpPr/>
          <p:nvPr/>
        </p:nvSpPr>
        <p:spPr>
          <a:xfrm>
            <a:off x="9030481" y="3975034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2" name="Google Shape;1712;p7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713" name="Google Shape;1713;p7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14" name="Google Shape;1714;p7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715" name="Google Shape;1715;p7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78</a:t>
            </a:fld>
            <a:endParaRPr/>
          </a:p>
        </p:txBody>
      </p:sp>
      <p:sp>
        <p:nvSpPr>
          <p:cNvPr id="1716" name="Google Shape;1716;p7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717" name="Google Shape;1717;p78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8" name="Google Shape;1718;p78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9" name="Google Shape;1719;p78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78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1" name="Google Shape;1721;p78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2" name="Google Shape;1722;p7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p7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4" name="Google Shape;1724;p7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5" name="Google Shape;1725;p7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6" name="Google Shape;1726;p7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7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7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7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p78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78"/>
          <p:cNvSpPr txBox="1"/>
          <p:nvPr/>
        </p:nvSpPr>
        <p:spPr>
          <a:xfrm>
            <a:off x="5879665" y="3778790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2" name="Google Shape;1732;p7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733" name="Google Shape;1733;p78"/>
          <p:cNvSpPr/>
          <p:nvPr/>
        </p:nvSpPr>
        <p:spPr>
          <a:xfrm>
            <a:off x="8936213" y="438038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8" name="Google Shape;1738;p7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739" name="Google Shape;1739;p7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40" name="Google Shape;1740;p7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741" name="Google Shape;1741;p7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79</a:t>
            </a:fld>
            <a:endParaRPr/>
          </a:p>
        </p:txBody>
      </p:sp>
      <p:sp>
        <p:nvSpPr>
          <p:cNvPr id="1742" name="Google Shape;1742;p7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743" name="Google Shape;1743;p79"/>
          <p:cNvSpPr/>
          <p:nvPr/>
        </p:nvSpPr>
        <p:spPr>
          <a:xfrm>
            <a:off x="4172263" y="2150834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4" name="Google Shape;1744;p79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5" name="Google Shape;1745;p79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6" name="Google Shape;1746;p79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7" name="Google Shape;1747;p79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8" name="Google Shape;1748;p7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9" name="Google Shape;1749;p7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7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7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7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7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4" name="Google Shape;1754;p7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5" name="Google Shape;1755;p7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6" name="Google Shape;1756;p79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79"/>
          <p:cNvSpPr txBox="1"/>
          <p:nvPr/>
        </p:nvSpPr>
        <p:spPr>
          <a:xfrm>
            <a:off x="5879665" y="3778790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8" name="Google Shape;1758;p79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759" name="Google Shape;1759;p79"/>
          <p:cNvSpPr/>
          <p:nvPr/>
        </p:nvSpPr>
        <p:spPr>
          <a:xfrm>
            <a:off x="823863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4" name="Google Shape;1764;p8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765" name="Google Shape;1765;p8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66" name="Google Shape;1766;p8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767" name="Google Shape;1767;p8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80</a:t>
            </a:fld>
            <a:endParaRPr/>
          </a:p>
        </p:txBody>
      </p:sp>
      <p:sp>
        <p:nvSpPr>
          <p:cNvPr id="1768" name="Google Shape;1768;p8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769" name="Google Shape;1769;p80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0" name="Google Shape;1770;p80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1" name="Google Shape;1771;p80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2" name="Google Shape;1772;p80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3" name="Google Shape;1773;p80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4" name="Google Shape;1774;p8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5" name="Google Shape;1775;p8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6" name="Google Shape;1776;p8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7" name="Google Shape;1777;p8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8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8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0" name="Google Shape;1780;p8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1" name="Google Shape;1781;p8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2" name="Google Shape;1782;p80"/>
          <p:cNvSpPr/>
          <p:nvPr/>
        </p:nvSpPr>
        <p:spPr>
          <a:xfrm>
            <a:off x="4294657" y="165388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3" name="Google Shape;1783;p80"/>
          <p:cNvSpPr txBox="1"/>
          <p:nvPr/>
        </p:nvSpPr>
        <p:spPr>
          <a:xfrm>
            <a:off x="5879665" y="3778790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84" name="Google Shape;1784;p80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785" name="Google Shape;1785;p80"/>
          <p:cNvSpPr/>
          <p:nvPr/>
        </p:nvSpPr>
        <p:spPr>
          <a:xfrm>
            <a:off x="9044856" y="3963456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p8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791" name="Google Shape;1791;p8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792" name="Google Shape;1792;p8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793" name="Google Shape;1793;p8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81</a:t>
            </a:fld>
            <a:endParaRPr/>
          </a:p>
        </p:txBody>
      </p:sp>
      <p:sp>
        <p:nvSpPr>
          <p:cNvPr id="1794" name="Google Shape;1794;p8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795" name="Google Shape;1795;p81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6" name="Google Shape;1796;p81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7" name="Google Shape;1797;p81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8" name="Google Shape;1798;p81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9" name="Google Shape;1799;p81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0" name="Google Shape;1800;p81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1" name="Google Shape;1801;p8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2" name="Google Shape;1802;p8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3" name="Google Shape;1803;p8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4" name="Google Shape;1804;p8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5" name="Google Shape;1805;p8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6" name="Google Shape;1806;p8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8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8" name="Google Shape;1808;p81"/>
          <p:cNvSpPr/>
          <p:nvPr/>
        </p:nvSpPr>
        <p:spPr>
          <a:xfrm>
            <a:off x="3482689" y="167831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9" name="Google Shape;1809;p81"/>
          <p:cNvSpPr txBox="1"/>
          <p:nvPr/>
        </p:nvSpPr>
        <p:spPr>
          <a:xfrm>
            <a:off x="5836570" y="375517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0" name="Google Shape;1810;p81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811" name="Google Shape;1811;p81"/>
          <p:cNvSpPr/>
          <p:nvPr/>
        </p:nvSpPr>
        <p:spPr>
          <a:xfrm>
            <a:off x="8898507" y="438112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Google Shape;1816;p8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817" name="Google Shape;1817;p8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818" name="Google Shape;1818;p8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819" name="Google Shape;1819;p8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82</a:t>
            </a:fld>
            <a:endParaRPr/>
          </a:p>
        </p:txBody>
      </p:sp>
      <p:sp>
        <p:nvSpPr>
          <p:cNvPr id="1820" name="Google Shape;1820;p8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821" name="Google Shape;1821;p82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2" name="Google Shape;1822;p82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3" name="Google Shape;1823;p82"/>
          <p:cNvSpPr/>
          <p:nvPr/>
        </p:nvSpPr>
        <p:spPr>
          <a:xfrm>
            <a:off x="3360295" y="215344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4" name="Google Shape;1824;p82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5" name="Google Shape;1825;p82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6" name="Google Shape;1826;p82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7" name="Google Shape;1827;p8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8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9" name="Google Shape;1829;p8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0" name="Google Shape;1830;p8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1" name="Google Shape;1831;p8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2" name="Google Shape;1832;p8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3" name="Google Shape;1833;p8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4" name="Google Shape;1834;p82"/>
          <p:cNvSpPr/>
          <p:nvPr/>
        </p:nvSpPr>
        <p:spPr>
          <a:xfrm>
            <a:off x="3482689" y="167831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82"/>
          <p:cNvSpPr txBox="1"/>
          <p:nvPr/>
        </p:nvSpPr>
        <p:spPr>
          <a:xfrm>
            <a:off x="5836570" y="375517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36" name="Google Shape;1836;p82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837" name="Google Shape;1837;p82"/>
          <p:cNvSpPr/>
          <p:nvPr/>
        </p:nvSpPr>
        <p:spPr>
          <a:xfrm>
            <a:off x="8167735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Google Shape;1842;p8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843" name="Google Shape;1843;p8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844" name="Google Shape;1844;p8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845" name="Google Shape;1845;p8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83</a:t>
            </a:fld>
            <a:endParaRPr/>
          </a:p>
        </p:txBody>
      </p:sp>
      <p:sp>
        <p:nvSpPr>
          <p:cNvPr id="1846" name="Google Shape;1846;p8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847" name="Google Shape;1847;p83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8" name="Google Shape;1848;p83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9" name="Google Shape;1849;p83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0" name="Google Shape;1850;p83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1" name="Google Shape;1851;p83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2" name="Google Shape;1852;p83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3" name="Google Shape;1853;p8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4" name="Google Shape;1854;p8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8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6" name="Google Shape;1856;p8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7" name="Google Shape;1857;p8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8" name="Google Shape;1858;p8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9" name="Google Shape;1859;p8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0" name="Google Shape;1860;p83"/>
          <p:cNvSpPr/>
          <p:nvPr/>
        </p:nvSpPr>
        <p:spPr>
          <a:xfrm>
            <a:off x="3482689" y="167831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1" name="Google Shape;1861;p83"/>
          <p:cNvSpPr txBox="1"/>
          <p:nvPr/>
        </p:nvSpPr>
        <p:spPr>
          <a:xfrm>
            <a:off x="5836570" y="3850625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2" name="Google Shape;1862;p8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863" name="Google Shape;1863;p83"/>
          <p:cNvSpPr/>
          <p:nvPr/>
        </p:nvSpPr>
        <p:spPr>
          <a:xfrm>
            <a:off x="9025574" y="392863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8" name="Google Shape;1868;p8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869" name="Google Shape;1869;p8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870" name="Google Shape;1870;p8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871" name="Google Shape;1871;p8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84</a:t>
            </a:fld>
            <a:endParaRPr/>
          </a:p>
        </p:txBody>
      </p:sp>
      <p:sp>
        <p:nvSpPr>
          <p:cNvPr id="1872" name="Google Shape;1872;p8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873" name="Google Shape;1873;p84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4" name="Google Shape;1874;p84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5" name="Google Shape;1875;p84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6" name="Google Shape;1876;p84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7" name="Google Shape;1877;p84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8" name="Google Shape;1878;p84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9" name="Google Shape;1879;p8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0" name="Google Shape;1880;p8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1" name="Google Shape;1881;p8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8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3" name="Google Shape;1883;p8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4" name="Google Shape;1884;p8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5" name="Google Shape;1885;p8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6" name="Google Shape;1886;p84"/>
          <p:cNvSpPr/>
          <p:nvPr/>
        </p:nvSpPr>
        <p:spPr>
          <a:xfrm>
            <a:off x="2670721" y="16834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7" name="Google Shape;1887;p84"/>
          <p:cNvSpPr txBox="1"/>
          <p:nvPr/>
        </p:nvSpPr>
        <p:spPr>
          <a:xfrm>
            <a:off x="5879665" y="380947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8" name="Google Shape;1888;p8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889" name="Google Shape;1889;p84"/>
          <p:cNvSpPr/>
          <p:nvPr/>
        </p:nvSpPr>
        <p:spPr>
          <a:xfrm>
            <a:off x="8997294" y="435284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" name="Google Shape;1894;p8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895" name="Google Shape;1895;p8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896" name="Google Shape;1896;p8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897" name="Google Shape;1897;p8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85</a:t>
            </a:fld>
            <a:endParaRPr/>
          </a:p>
        </p:txBody>
      </p:sp>
      <p:sp>
        <p:nvSpPr>
          <p:cNvPr id="1898" name="Google Shape;1898;p8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899" name="Google Shape;1899;p85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0" name="Google Shape;1900;p85"/>
          <p:cNvSpPr/>
          <p:nvPr/>
        </p:nvSpPr>
        <p:spPr>
          <a:xfrm>
            <a:off x="2548327" y="2158577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1" name="Google Shape;1901;p85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2" name="Google Shape;1902;p85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3" name="Google Shape;1903;p85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4" name="Google Shape;1904;p85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5" name="Google Shape;1905;p8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6" name="Google Shape;1906;p8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8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8" name="Google Shape;1908;p8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9" name="Google Shape;1909;p8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0" name="Google Shape;1910;p8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8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2" name="Google Shape;1912;p85"/>
          <p:cNvSpPr/>
          <p:nvPr/>
        </p:nvSpPr>
        <p:spPr>
          <a:xfrm>
            <a:off x="2670721" y="16834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3" name="Google Shape;1913;p85"/>
          <p:cNvSpPr txBox="1"/>
          <p:nvPr/>
        </p:nvSpPr>
        <p:spPr>
          <a:xfrm>
            <a:off x="5879665" y="3809478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4" name="Google Shape;1914;p8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915" name="Google Shape;1915;p85"/>
          <p:cNvSpPr/>
          <p:nvPr/>
        </p:nvSpPr>
        <p:spPr>
          <a:xfrm>
            <a:off x="827143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0" name="Google Shape;1920;p8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921" name="Google Shape;1921;p8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922" name="Google Shape;1922;p8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923" name="Google Shape;1923;p8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86</a:t>
            </a:fld>
            <a:endParaRPr/>
          </a:p>
        </p:txBody>
      </p:sp>
      <p:sp>
        <p:nvSpPr>
          <p:cNvPr id="1924" name="Google Shape;1924;p8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925" name="Google Shape;1925;p86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6" name="Google Shape;1926;p86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7" name="Google Shape;1927;p86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8" name="Google Shape;1928;p86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9" name="Google Shape;1929;p86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0" name="Google Shape;1930;p86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1" name="Google Shape;1931;p8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2" name="Google Shape;1932;p8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3" name="Google Shape;1933;p8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4" name="Google Shape;1934;p8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5" name="Google Shape;1935;p8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6" name="Google Shape;1936;p8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7" name="Google Shape;1937;p8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8" name="Google Shape;1938;p86"/>
          <p:cNvSpPr/>
          <p:nvPr/>
        </p:nvSpPr>
        <p:spPr>
          <a:xfrm>
            <a:off x="2670721" y="1683444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9" name="Google Shape;1939;p86"/>
          <p:cNvSpPr txBox="1"/>
          <p:nvPr/>
        </p:nvSpPr>
        <p:spPr>
          <a:xfrm>
            <a:off x="5879665" y="380398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0" name="Google Shape;1940;p8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941" name="Google Shape;1941;p86"/>
          <p:cNvSpPr/>
          <p:nvPr/>
        </p:nvSpPr>
        <p:spPr>
          <a:xfrm>
            <a:off x="8922461" y="3989491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8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947" name="Google Shape;1947;p8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948" name="Google Shape;1948;p8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949" name="Google Shape;1949;p8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87</a:t>
            </a:fld>
            <a:endParaRPr/>
          </a:p>
        </p:txBody>
      </p:sp>
      <p:sp>
        <p:nvSpPr>
          <p:cNvPr id="1950" name="Google Shape;1950;p8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951" name="Google Shape;1951;p87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2" name="Google Shape;1952;p87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3" name="Google Shape;1953;p87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4" name="Google Shape;1954;p87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5" name="Google Shape;1955;p87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6" name="Google Shape;1956;p87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7" name="Google Shape;1957;p8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8" name="Google Shape;1958;p8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9" name="Google Shape;1959;p8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8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1" name="Google Shape;1961;p8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2" name="Google Shape;1962;p8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8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4" name="Google Shape;1964;p87"/>
          <p:cNvSpPr/>
          <p:nvPr/>
        </p:nvSpPr>
        <p:spPr>
          <a:xfrm>
            <a:off x="2002410" y="1692870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5" name="Google Shape;1965;p87"/>
          <p:cNvSpPr txBox="1"/>
          <p:nvPr/>
        </p:nvSpPr>
        <p:spPr>
          <a:xfrm>
            <a:off x="5879665" y="375517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6" name="Google Shape;1966;p8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967" name="Google Shape;1967;p87"/>
          <p:cNvSpPr/>
          <p:nvPr/>
        </p:nvSpPr>
        <p:spPr>
          <a:xfrm>
            <a:off x="9006720" y="435284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2" name="Google Shape;1972;p8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973" name="Google Shape;1973;p8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1974" name="Google Shape;1974;p8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1975" name="Google Shape;1975;p8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88</a:t>
            </a:fld>
            <a:endParaRPr/>
          </a:p>
        </p:txBody>
      </p:sp>
      <p:sp>
        <p:nvSpPr>
          <p:cNvPr id="1976" name="Google Shape;1976;p8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1977" name="Google Shape;1977;p88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8" name="Google Shape;1978;p88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9" name="Google Shape;1979;p88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0" name="Google Shape;1980;p88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1" name="Google Shape;1981;p88"/>
          <p:cNvSpPr/>
          <p:nvPr/>
        </p:nvSpPr>
        <p:spPr>
          <a:xfrm>
            <a:off x="5796199" y="3119931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2" name="Google Shape;1982;p88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3" name="Google Shape;1983;p8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4" name="Google Shape;1984;p8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5" name="Google Shape;1985;p8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6" name="Google Shape;1986;p8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7" name="Google Shape;1987;p8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8" name="Google Shape;1988;p8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9" name="Google Shape;1989;p8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0" name="Google Shape;1990;p88"/>
          <p:cNvSpPr/>
          <p:nvPr/>
        </p:nvSpPr>
        <p:spPr>
          <a:xfrm>
            <a:off x="2002410" y="1692870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1" name="Google Shape;1991;p88"/>
          <p:cNvSpPr txBox="1"/>
          <p:nvPr/>
        </p:nvSpPr>
        <p:spPr>
          <a:xfrm>
            <a:off x="5879665" y="375517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2" name="Google Shape;1992;p8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1993" name="Google Shape;1993;p88"/>
          <p:cNvSpPr/>
          <p:nvPr/>
        </p:nvSpPr>
        <p:spPr>
          <a:xfrm>
            <a:off x="8271429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" name="Google Shape;1998;p8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1999" name="Google Shape;1999;p8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000" name="Google Shape;2000;p8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001" name="Google Shape;2001;p8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89</a:t>
            </a:fld>
            <a:endParaRPr/>
          </a:p>
        </p:txBody>
      </p:sp>
      <p:sp>
        <p:nvSpPr>
          <p:cNvPr id="2002" name="Google Shape;2002;p8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003" name="Google Shape;2003;p89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4" name="Google Shape;2004;p89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5" name="Google Shape;2005;p89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6" name="Google Shape;2006;p89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7" name="Google Shape;2007;p89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8" name="Google Shape;2008;p89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9" name="Google Shape;2009;p8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Google Shape;2010;p8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8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p8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8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4" name="Google Shape;2014;p8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8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89"/>
          <p:cNvSpPr/>
          <p:nvPr/>
        </p:nvSpPr>
        <p:spPr>
          <a:xfrm>
            <a:off x="2002410" y="1692870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7" name="Google Shape;2017;p89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018" name="Google Shape;2018;p89"/>
          <p:cNvSpPr/>
          <p:nvPr/>
        </p:nvSpPr>
        <p:spPr>
          <a:xfrm>
            <a:off x="8233723" y="4767624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p9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024" name="Google Shape;2024;p9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025" name="Google Shape;2025;p9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026" name="Google Shape;2026;p9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90</a:t>
            </a:fld>
            <a:endParaRPr/>
          </a:p>
        </p:txBody>
      </p:sp>
      <p:sp>
        <p:nvSpPr>
          <p:cNvPr id="2027" name="Google Shape;2027;p9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028" name="Google Shape;2028;p90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90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90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90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90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90"/>
          <p:cNvSpPr/>
          <p:nvPr/>
        </p:nvSpPr>
        <p:spPr>
          <a:xfrm>
            <a:off x="6608167" y="2158579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9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5" name="Google Shape;2035;p9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6" name="Google Shape;2036;p9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7" name="Google Shape;2037;p9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8" name="Google Shape;2038;p9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9" name="Google Shape;2039;p9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0" name="Google Shape;2040;p9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41" name="Google Shape;2041;p90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042" name="Google Shape;2042;p90"/>
          <p:cNvSpPr/>
          <p:nvPr/>
        </p:nvSpPr>
        <p:spPr>
          <a:xfrm>
            <a:off x="7759268" y="234468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7" name="Google Shape;2047;p9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048" name="Google Shape;2048;p9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049" name="Google Shape;2049;p9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050" name="Google Shape;2050;p9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91</a:t>
            </a:fld>
            <a:endParaRPr/>
          </a:p>
        </p:txBody>
      </p:sp>
      <p:sp>
        <p:nvSpPr>
          <p:cNvPr id="2051" name="Google Shape;2051;p9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052" name="Google Shape;2052;p91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3" name="Google Shape;2053;p91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4" name="Google Shape;2054;p91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5" name="Google Shape;2055;p91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6" name="Google Shape;2056;p91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7" name="Google Shape;2057;p91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8" name="Google Shape;2058;p9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9" name="Google Shape;2059;p9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0" name="Google Shape;2060;p9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9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2" name="Google Shape;2062;p9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3" name="Google Shape;2063;p9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4" name="Google Shape;2064;p9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5" name="Google Shape;2065;p91"/>
          <p:cNvSpPr txBox="1"/>
          <p:nvPr/>
        </p:nvSpPr>
        <p:spPr>
          <a:xfrm>
            <a:off x="6608167" y="388686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66" name="Google Shape;2066;p91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067" name="Google Shape;2067;p91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8" name="Google Shape;2068;p91"/>
          <p:cNvSpPr/>
          <p:nvPr/>
        </p:nvSpPr>
        <p:spPr>
          <a:xfrm>
            <a:off x="8111541" y="2744789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p9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074" name="Google Shape;2074;p9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075" name="Google Shape;2075;p9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076" name="Google Shape;2076;p9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92</a:t>
            </a:fld>
            <a:endParaRPr/>
          </a:p>
        </p:txBody>
      </p:sp>
      <p:sp>
        <p:nvSpPr>
          <p:cNvPr id="2077" name="Google Shape;2077;p9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078" name="Google Shape;2078;p92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9" name="Google Shape;2079;p92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0" name="Google Shape;2080;p92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1" name="Google Shape;2081;p92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2" name="Google Shape;2082;p92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3" name="Google Shape;2083;p92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4" name="Google Shape;2084;p9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5" name="Google Shape;2085;p9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6" name="Google Shape;2086;p9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7" name="Google Shape;2087;p9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8" name="Google Shape;2088;p9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9" name="Google Shape;2089;p9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9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1" name="Google Shape;2091;p92"/>
          <p:cNvSpPr/>
          <p:nvPr/>
        </p:nvSpPr>
        <p:spPr>
          <a:xfrm>
            <a:off x="5931705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2" name="Google Shape;2092;p92"/>
          <p:cNvSpPr txBox="1"/>
          <p:nvPr/>
        </p:nvSpPr>
        <p:spPr>
          <a:xfrm>
            <a:off x="6608167" y="386015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3" name="Google Shape;2093;p92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094" name="Google Shape;2094;p92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5" name="Google Shape;2095;p92"/>
          <p:cNvSpPr/>
          <p:nvPr/>
        </p:nvSpPr>
        <p:spPr>
          <a:xfrm>
            <a:off x="8153400" y="320115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0" name="Google Shape;2100;p9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101" name="Google Shape;2101;p9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102" name="Google Shape;2102;p9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103" name="Google Shape;2103;p9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93</a:t>
            </a:fld>
            <a:endParaRPr/>
          </a:p>
        </p:txBody>
      </p:sp>
      <p:sp>
        <p:nvSpPr>
          <p:cNvPr id="2104" name="Google Shape;2104;p9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105" name="Google Shape;2105;p93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6" name="Google Shape;2106;p93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7" name="Google Shape;2107;p93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8" name="Google Shape;2108;p93"/>
          <p:cNvSpPr/>
          <p:nvPr/>
        </p:nvSpPr>
        <p:spPr>
          <a:xfrm>
            <a:off x="5809311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9" name="Google Shape;2109;p93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0" name="Google Shape;2110;p93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1" name="Google Shape;2111;p9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2" name="Google Shape;2112;p9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3" name="Google Shape;2113;p9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4" name="Google Shape;2114;p9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5" name="Google Shape;2115;p9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6" name="Google Shape;2116;p9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7" name="Google Shape;2117;p9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8" name="Google Shape;2118;p93"/>
          <p:cNvSpPr/>
          <p:nvPr/>
        </p:nvSpPr>
        <p:spPr>
          <a:xfrm>
            <a:off x="5931705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9" name="Google Shape;2119;p93"/>
          <p:cNvSpPr txBox="1"/>
          <p:nvPr/>
        </p:nvSpPr>
        <p:spPr>
          <a:xfrm>
            <a:off x="6608167" y="386015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0" name="Google Shape;2120;p9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121" name="Google Shape;2121;p93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2" name="Google Shape;2122;p93"/>
          <p:cNvSpPr/>
          <p:nvPr/>
        </p:nvSpPr>
        <p:spPr>
          <a:xfrm>
            <a:off x="8277018" y="354592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7" name="Google Shape;2127;p9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128" name="Google Shape;2128;p9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129" name="Google Shape;2129;p9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130" name="Google Shape;2130;p9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94</a:t>
            </a:fld>
            <a:endParaRPr/>
          </a:p>
        </p:txBody>
      </p:sp>
      <p:sp>
        <p:nvSpPr>
          <p:cNvPr id="2131" name="Google Shape;2131;p9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132" name="Google Shape;2132;p94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3" name="Google Shape;2133;p94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4" name="Google Shape;2134;p94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5" name="Google Shape;2135;p94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6" name="Google Shape;2136;p94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7" name="Google Shape;2137;p94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8" name="Google Shape;2138;p9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9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0" name="Google Shape;2140;p9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1" name="Google Shape;2141;p9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2" name="Google Shape;2142;p9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3" name="Google Shape;2143;p9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4" name="Google Shape;2144;p9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5" name="Google Shape;2145;p94"/>
          <p:cNvSpPr/>
          <p:nvPr/>
        </p:nvSpPr>
        <p:spPr>
          <a:xfrm>
            <a:off x="5931705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94"/>
          <p:cNvSpPr txBox="1"/>
          <p:nvPr/>
        </p:nvSpPr>
        <p:spPr>
          <a:xfrm>
            <a:off x="6678521" y="386015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7" name="Google Shape;2147;p9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148" name="Google Shape;2148;p94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9" name="Google Shape;2149;p94"/>
          <p:cNvSpPr/>
          <p:nvPr/>
        </p:nvSpPr>
        <p:spPr>
          <a:xfrm>
            <a:off x="8909349" y="392863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Google Shape;2154;p9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155" name="Google Shape;2155;p9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156" name="Google Shape;2156;p9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157" name="Google Shape;2157;p9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95</a:t>
            </a:fld>
            <a:endParaRPr/>
          </a:p>
        </p:txBody>
      </p:sp>
      <p:sp>
        <p:nvSpPr>
          <p:cNvPr id="2158" name="Google Shape;2158;p9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159" name="Google Shape;2159;p95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0" name="Google Shape;2160;p95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1" name="Google Shape;2161;p95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2" name="Google Shape;2162;p95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3" name="Google Shape;2163;p95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4" name="Google Shape;2164;p95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5" name="Google Shape;2165;p9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6" name="Google Shape;2166;p9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9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8" name="Google Shape;2168;p9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9" name="Google Shape;2169;p9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0" name="Google Shape;2170;p9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1" name="Google Shape;2171;p9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2" name="Google Shape;2172;p95"/>
          <p:cNvSpPr/>
          <p:nvPr/>
        </p:nvSpPr>
        <p:spPr>
          <a:xfrm>
            <a:off x="5113181" y="175236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3" name="Google Shape;2173;p95"/>
          <p:cNvSpPr txBox="1"/>
          <p:nvPr/>
        </p:nvSpPr>
        <p:spPr>
          <a:xfrm>
            <a:off x="6678521" y="388686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74" name="Google Shape;2174;p9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175" name="Google Shape;2175;p95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6" name="Google Shape;2176;p95"/>
          <p:cNvSpPr/>
          <p:nvPr/>
        </p:nvSpPr>
        <p:spPr>
          <a:xfrm>
            <a:off x="8918542" y="440940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1" name="Google Shape;2181;p9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182" name="Google Shape;2182;p9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183" name="Google Shape;2183;p9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184" name="Google Shape;2184;p9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96</a:t>
            </a:fld>
            <a:endParaRPr/>
          </a:p>
        </p:txBody>
      </p:sp>
      <p:sp>
        <p:nvSpPr>
          <p:cNvPr id="2185" name="Google Shape;2185;p9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186" name="Google Shape;2186;p96"/>
          <p:cNvSpPr/>
          <p:nvPr/>
        </p:nvSpPr>
        <p:spPr>
          <a:xfrm>
            <a:off x="4990787" y="218373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7" name="Google Shape;2187;p96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8" name="Google Shape;2188;p96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9" name="Google Shape;2189;p96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0" name="Google Shape;2190;p96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1" name="Google Shape;2191;p96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2" name="Google Shape;2192;p9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3" name="Google Shape;2193;p9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4" name="Google Shape;2194;p9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5" name="Google Shape;2195;p9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9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9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8" name="Google Shape;2198;p9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9" name="Google Shape;2199;p96"/>
          <p:cNvSpPr/>
          <p:nvPr/>
        </p:nvSpPr>
        <p:spPr>
          <a:xfrm>
            <a:off x="5113181" y="175236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0" name="Google Shape;2200;p96"/>
          <p:cNvSpPr txBox="1"/>
          <p:nvPr/>
        </p:nvSpPr>
        <p:spPr>
          <a:xfrm>
            <a:off x="6678521" y="388686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1" name="Google Shape;2201;p9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202" name="Google Shape;2202;p96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3" name="Google Shape;2203;p96"/>
          <p:cNvSpPr/>
          <p:nvPr/>
        </p:nvSpPr>
        <p:spPr>
          <a:xfrm>
            <a:off x="8167735" y="356879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Google Shape;2208;p9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209" name="Google Shape;2209;p9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210" name="Google Shape;2210;p9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211" name="Google Shape;2211;p9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97</a:t>
            </a:fld>
            <a:endParaRPr/>
          </a:p>
        </p:txBody>
      </p:sp>
      <p:sp>
        <p:nvSpPr>
          <p:cNvPr id="2212" name="Google Shape;2212;p9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213" name="Google Shape;2213;p97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4" name="Google Shape;2214;p97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5" name="Google Shape;2215;p97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6" name="Google Shape;2216;p97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7" name="Google Shape;2217;p97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8" name="Google Shape;2218;p97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9" name="Google Shape;2219;p9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0" name="Google Shape;2220;p9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1" name="Google Shape;2221;p9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2" name="Google Shape;2222;p9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3" name="Google Shape;2223;p9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9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9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6" name="Google Shape;2226;p97"/>
          <p:cNvSpPr/>
          <p:nvPr/>
        </p:nvSpPr>
        <p:spPr>
          <a:xfrm>
            <a:off x="5113181" y="175236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7" name="Google Shape;2227;p97"/>
          <p:cNvSpPr txBox="1"/>
          <p:nvPr/>
        </p:nvSpPr>
        <p:spPr>
          <a:xfrm>
            <a:off x="6628545" y="3913572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8" name="Google Shape;2228;p9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229" name="Google Shape;2229;p97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0" name="Google Shape;2230;p97"/>
          <p:cNvSpPr/>
          <p:nvPr/>
        </p:nvSpPr>
        <p:spPr>
          <a:xfrm>
            <a:off x="8939803" y="392863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5" name="Google Shape;2235;p9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236" name="Google Shape;2236;p9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237" name="Google Shape;2237;p9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238" name="Google Shape;2238;p9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98</a:t>
            </a:fld>
            <a:endParaRPr/>
          </a:p>
        </p:txBody>
      </p:sp>
      <p:sp>
        <p:nvSpPr>
          <p:cNvPr id="2239" name="Google Shape;2239;p9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240" name="Google Shape;2240;p98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1" name="Google Shape;2241;p98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2" name="Google Shape;2242;p98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3" name="Google Shape;2243;p98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4" name="Google Shape;2244;p98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5" name="Google Shape;2245;p98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6" name="Google Shape;2246;p98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7" name="Google Shape;2247;p98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98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9" name="Google Shape;2249;p98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0" name="Google Shape;2250;p98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1" name="Google Shape;2251;p98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2" name="Google Shape;2252;p98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3" name="Google Shape;2253;p98"/>
          <p:cNvSpPr/>
          <p:nvPr/>
        </p:nvSpPr>
        <p:spPr>
          <a:xfrm>
            <a:off x="4301213" y="174348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4" name="Google Shape;2254;p98"/>
          <p:cNvSpPr txBox="1"/>
          <p:nvPr/>
        </p:nvSpPr>
        <p:spPr>
          <a:xfrm>
            <a:off x="6628545" y="389518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55" name="Google Shape;2255;p98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256" name="Google Shape;2256;p98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7" name="Google Shape;2257;p98"/>
          <p:cNvSpPr/>
          <p:nvPr/>
        </p:nvSpPr>
        <p:spPr>
          <a:xfrm>
            <a:off x="8899911" y="4371448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2" name="Google Shape;2262;p9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263" name="Google Shape;2263;p9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264" name="Google Shape;2264;p9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265" name="Google Shape;2265;p9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99</a:t>
            </a:fld>
            <a:endParaRPr/>
          </a:p>
        </p:txBody>
      </p:sp>
      <p:sp>
        <p:nvSpPr>
          <p:cNvPr id="2266" name="Google Shape;2266;p9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267" name="Google Shape;2267;p99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8" name="Google Shape;2268;p99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9" name="Google Shape;2269;p99"/>
          <p:cNvSpPr/>
          <p:nvPr/>
        </p:nvSpPr>
        <p:spPr>
          <a:xfrm>
            <a:off x="4178819" y="2162093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0" name="Google Shape;2270;p99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1" name="Google Shape;2271;p99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2" name="Google Shape;2272;p99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3" name="Google Shape;2273;p99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99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99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6" name="Google Shape;2276;p99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7" name="Google Shape;2277;p99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8" name="Google Shape;2278;p99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9" name="Google Shape;2279;p99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0" name="Google Shape;2280;p99"/>
          <p:cNvSpPr/>
          <p:nvPr/>
        </p:nvSpPr>
        <p:spPr>
          <a:xfrm>
            <a:off x="4301213" y="174348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1" name="Google Shape;2281;p99"/>
          <p:cNvSpPr txBox="1"/>
          <p:nvPr/>
        </p:nvSpPr>
        <p:spPr>
          <a:xfrm>
            <a:off x="6628545" y="389518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82" name="Google Shape;2282;p99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283" name="Google Shape;2283;p99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4" name="Google Shape;2284;p99"/>
          <p:cNvSpPr/>
          <p:nvPr/>
        </p:nvSpPr>
        <p:spPr>
          <a:xfrm>
            <a:off x="815340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9" name="Google Shape;2289;p100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290" name="Google Shape;2290;p10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291" name="Google Shape;2291;p10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292" name="Google Shape;2292;p10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100</a:t>
            </a:fld>
            <a:endParaRPr/>
          </a:p>
        </p:txBody>
      </p:sp>
      <p:sp>
        <p:nvSpPr>
          <p:cNvPr id="2293" name="Google Shape;2293;p10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294" name="Google Shape;2294;p100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5" name="Google Shape;2295;p100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6" name="Google Shape;2296;p100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7" name="Google Shape;2297;p100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8" name="Google Shape;2298;p100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9" name="Google Shape;2299;p100"/>
          <p:cNvSpPr/>
          <p:nvPr/>
        </p:nvSpPr>
        <p:spPr>
          <a:xfrm>
            <a:off x="6608167" y="322402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0" name="Google Shape;2300;p100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1" name="Google Shape;2301;p100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2" name="Google Shape;2302;p100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3" name="Google Shape;2303;p100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4" name="Google Shape;2304;p100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5" name="Google Shape;2305;p100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6" name="Google Shape;2306;p100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7" name="Google Shape;2307;p100"/>
          <p:cNvSpPr/>
          <p:nvPr/>
        </p:nvSpPr>
        <p:spPr>
          <a:xfrm>
            <a:off x="4301213" y="1743489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8" name="Google Shape;2308;p100"/>
          <p:cNvSpPr txBox="1"/>
          <p:nvPr/>
        </p:nvSpPr>
        <p:spPr>
          <a:xfrm>
            <a:off x="6628545" y="3857011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09" name="Google Shape;2309;p100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10" name="Google Shape;2310;p100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1" name="Google Shape;2311;p100"/>
          <p:cNvSpPr/>
          <p:nvPr/>
        </p:nvSpPr>
        <p:spPr>
          <a:xfrm>
            <a:off x="8979703" y="3913572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Google Shape;2316;p10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317" name="Google Shape;2317;p10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318" name="Google Shape;2318;p10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319" name="Google Shape;2319;p10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101</a:t>
            </a:fld>
            <a:endParaRPr/>
          </a:p>
        </p:txBody>
      </p:sp>
      <p:sp>
        <p:nvSpPr>
          <p:cNvPr id="2320" name="Google Shape;2320;p10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321" name="Google Shape;2321;p101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2" name="Google Shape;2322;p101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3" name="Google Shape;2323;p101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4" name="Google Shape;2324;p101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5" name="Google Shape;2325;p101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6" name="Google Shape;2326;p101"/>
          <p:cNvSpPr/>
          <p:nvPr/>
        </p:nvSpPr>
        <p:spPr>
          <a:xfrm>
            <a:off x="6558191" y="330364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7" name="Google Shape;2327;p101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8" name="Google Shape;2328;p101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9" name="Google Shape;2329;p101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0" name="Google Shape;2330;p101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1" name="Google Shape;2331;p101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2" name="Google Shape;2332;p101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3" name="Google Shape;2333;p101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4" name="Google Shape;2334;p101"/>
          <p:cNvSpPr/>
          <p:nvPr/>
        </p:nvSpPr>
        <p:spPr>
          <a:xfrm>
            <a:off x="3482689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5" name="Google Shape;2335;p101"/>
          <p:cNvSpPr txBox="1"/>
          <p:nvPr/>
        </p:nvSpPr>
        <p:spPr>
          <a:xfrm>
            <a:off x="6558191" y="390820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6" name="Google Shape;2336;p101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37" name="Google Shape;2337;p101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8" name="Google Shape;2338;p101"/>
          <p:cNvSpPr/>
          <p:nvPr/>
        </p:nvSpPr>
        <p:spPr>
          <a:xfrm>
            <a:off x="8975326" y="4390301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3" name="Google Shape;2343;p10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344" name="Google Shape;2344;p10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345" name="Google Shape;2345;p10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346" name="Google Shape;2346;p10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102</a:t>
            </a:fld>
            <a:endParaRPr/>
          </a:p>
        </p:txBody>
      </p:sp>
      <p:sp>
        <p:nvSpPr>
          <p:cNvPr id="2347" name="Google Shape;2347;p10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348" name="Google Shape;2348;p102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9" name="Google Shape;2349;p102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0" name="Google Shape;2350;p102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1" name="Google Shape;2351;p102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2" name="Google Shape;2352;p102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3" name="Google Shape;2353;p102"/>
          <p:cNvSpPr/>
          <p:nvPr/>
        </p:nvSpPr>
        <p:spPr>
          <a:xfrm>
            <a:off x="6558191" y="330364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4" name="Google Shape;2354;p102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5" name="Google Shape;2355;p102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6" name="Google Shape;2356;p102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7" name="Google Shape;2357;p102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8" name="Google Shape;2358;p102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9" name="Google Shape;2359;p102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0" name="Google Shape;2360;p102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1" name="Google Shape;2361;p102"/>
          <p:cNvSpPr/>
          <p:nvPr/>
        </p:nvSpPr>
        <p:spPr>
          <a:xfrm>
            <a:off x="3482689" y="1683443"/>
            <a:ext cx="414779" cy="36207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2" name="Google Shape;2362;p102"/>
          <p:cNvSpPr txBox="1"/>
          <p:nvPr/>
        </p:nvSpPr>
        <p:spPr>
          <a:xfrm>
            <a:off x="6558191" y="3908209"/>
            <a:ext cx="51886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3" name="Google Shape;2363;p102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64" name="Google Shape;2364;p102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5" name="Google Shape;2365;p102"/>
          <p:cNvSpPr/>
          <p:nvPr/>
        </p:nvSpPr>
        <p:spPr>
          <a:xfrm>
            <a:off x="8153400" y="3560993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Google Shape;2370;p10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371" name="Google Shape;2371;p10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372" name="Google Shape;2372;p10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373" name="Google Shape;2373;p10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103</a:t>
            </a:fld>
            <a:endParaRPr/>
          </a:p>
        </p:txBody>
      </p:sp>
      <p:sp>
        <p:nvSpPr>
          <p:cNvPr id="2374" name="Google Shape;2374;p10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375" name="Google Shape;2375;p103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6" name="Google Shape;2376;p103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7" name="Google Shape;2377;p103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8" name="Google Shape;2378;p103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9" name="Google Shape;2379;p103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0" name="Google Shape;2380;p103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1" name="Google Shape;2381;p103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2" name="Google Shape;2382;p103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3" name="Google Shape;2383;p103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4" name="Google Shape;2384;p103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5" name="Google Shape;2385;p103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6" name="Google Shape;2386;p103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7" name="Google Shape;2387;p103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88" name="Google Shape;2388;p103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89" name="Google Shape;2389;p103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0" name="Google Shape;2390;p103"/>
          <p:cNvSpPr/>
          <p:nvPr/>
        </p:nvSpPr>
        <p:spPr>
          <a:xfrm>
            <a:off x="8199748" y="4757947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Google Shape;2395;p10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396" name="Google Shape;2396;p10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397" name="Google Shape;2397;p10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398" name="Google Shape;2398;p10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104</a:t>
            </a:fld>
            <a:endParaRPr/>
          </a:p>
        </p:txBody>
      </p:sp>
      <p:sp>
        <p:nvSpPr>
          <p:cNvPr id="2399" name="Google Shape;2399;p10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400" name="Google Shape;2400;p104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1" name="Google Shape;2401;p104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2" name="Google Shape;2402;p104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3" name="Google Shape;2403;p104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4" name="Google Shape;2404;p104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5" name="Google Shape;2405;p104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6" name="Google Shape;2406;p104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7" name="Google Shape;2407;p104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8" name="Google Shape;2408;p104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104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0" name="Google Shape;2410;p104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1" name="Google Shape;2411;p104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2" name="Google Shape;2412;p104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3" name="Google Shape;2413;p104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414" name="Google Shape;2414;p104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5" name="Google Shape;2415;p104"/>
          <p:cNvSpPr/>
          <p:nvPr/>
        </p:nvSpPr>
        <p:spPr>
          <a:xfrm>
            <a:off x="7759268" y="234468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0" name="Google Shape;2420;p105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421" name="Google Shape;2421;p10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422" name="Google Shape;2422;p10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423" name="Google Shape;2423;p10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105</a:t>
            </a:fld>
            <a:endParaRPr/>
          </a:p>
        </p:txBody>
      </p:sp>
      <p:sp>
        <p:nvSpPr>
          <p:cNvPr id="2424" name="Google Shape;2424;p10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425" name="Google Shape;2425;p105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6" name="Google Shape;2426;p105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7" name="Google Shape;2427;p105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8" name="Google Shape;2428;p105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9" name="Google Shape;2429;p105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0" name="Google Shape;2430;p105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1" name="Google Shape;2431;p105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2" name="Google Shape;2432;p105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3" name="Google Shape;2433;p105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4" name="Google Shape;2434;p105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5" name="Google Shape;2435;p105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6" name="Google Shape;2436;p105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7" name="Google Shape;2437;p105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8" name="Google Shape;2438;p105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439" name="Google Shape;2439;p105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0" name="Google Shape;2440;p105"/>
          <p:cNvSpPr txBox="1"/>
          <p:nvPr/>
        </p:nvSpPr>
        <p:spPr>
          <a:xfrm>
            <a:off x="1988659" y="4280678"/>
            <a:ext cx="35427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This loop will run n (6)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41" name="Google Shape;2441;p105"/>
          <p:cNvCxnSpPr/>
          <p:nvPr/>
        </p:nvCxnSpPr>
        <p:spPr>
          <a:xfrm rot="10800000" flipH="1">
            <a:off x="5552388" y="2626666"/>
            <a:ext cx="2696066" cy="1894228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442" name="Google Shape;2442;p105"/>
          <p:cNvSpPr/>
          <p:nvPr/>
        </p:nvSpPr>
        <p:spPr>
          <a:xfrm>
            <a:off x="7759268" y="234468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" name="Google Shape;2447;p106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448" name="Google Shape;2448;p10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449" name="Google Shape;2449;p10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450" name="Google Shape;2450;p10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106</a:t>
            </a:fld>
            <a:endParaRPr/>
          </a:p>
        </p:txBody>
      </p:sp>
      <p:sp>
        <p:nvSpPr>
          <p:cNvPr id="2451" name="Google Shape;2451;p10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452" name="Google Shape;2452;p106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3" name="Google Shape;2453;p106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4" name="Google Shape;2454;p106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5" name="Google Shape;2455;p106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6" name="Google Shape;2456;p106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7" name="Google Shape;2457;p106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8" name="Google Shape;2458;p106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9" name="Google Shape;2459;p106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0" name="Google Shape;2460;p106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1" name="Google Shape;2461;p106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2" name="Google Shape;2462;p106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3" name="Google Shape;2463;p106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4" name="Google Shape;2464;p106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65" name="Google Shape;2465;p106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466" name="Google Shape;2466;p106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7" name="Google Shape;2467;p106"/>
          <p:cNvSpPr txBox="1"/>
          <p:nvPr/>
        </p:nvSpPr>
        <p:spPr>
          <a:xfrm>
            <a:off x="1988659" y="4280678"/>
            <a:ext cx="354270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This loop will run n (6)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68" name="Google Shape;2468;p106"/>
          <p:cNvCxnSpPr/>
          <p:nvPr/>
        </p:nvCxnSpPr>
        <p:spPr>
          <a:xfrm rot="10800000" flipH="1">
            <a:off x="5552388" y="2626666"/>
            <a:ext cx="2696066" cy="1894228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469" name="Google Shape;2469;p106"/>
          <p:cNvSpPr/>
          <p:nvPr/>
        </p:nvSpPr>
        <p:spPr>
          <a:xfrm>
            <a:off x="7713939" y="2338915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4" name="Google Shape;2474;p107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475" name="Google Shape;2475;p10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476" name="Google Shape;2476;p10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477" name="Google Shape;2477;p10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107</a:t>
            </a:fld>
            <a:endParaRPr/>
          </a:p>
        </p:txBody>
      </p:sp>
      <p:sp>
        <p:nvSpPr>
          <p:cNvPr id="2478" name="Google Shape;2478;p10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479" name="Google Shape;2479;p107"/>
          <p:cNvSpPr/>
          <p:nvPr/>
        </p:nvSpPr>
        <p:spPr>
          <a:xfrm>
            <a:off x="5796199" y="2177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0" name="Google Shape;2480;p107"/>
          <p:cNvSpPr/>
          <p:nvPr/>
        </p:nvSpPr>
        <p:spPr>
          <a:xfrm>
            <a:off x="3360295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1" name="Google Shape;2481;p107"/>
          <p:cNvSpPr/>
          <p:nvPr/>
        </p:nvSpPr>
        <p:spPr>
          <a:xfrm>
            <a:off x="5015102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2" name="Google Shape;2482;p107"/>
          <p:cNvSpPr/>
          <p:nvPr/>
        </p:nvSpPr>
        <p:spPr>
          <a:xfrm>
            <a:off x="6558191" y="2138965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3" name="Google Shape;2483;p107"/>
          <p:cNvSpPr/>
          <p:nvPr/>
        </p:nvSpPr>
        <p:spPr>
          <a:xfrm>
            <a:off x="2561439" y="2158576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4" name="Google Shape;2484;p107"/>
          <p:cNvSpPr/>
          <p:nvPr/>
        </p:nvSpPr>
        <p:spPr>
          <a:xfrm>
            <a:off x="4159151" y="2183742"/>
            <a:ext cx="659568" cy="689547"/>
          </a:xfrm>
          <a:prstGeom prst="rect">
            <a:avLst/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5" name="Google Shape;2485;p107"/>
          <p:cNvSpPr/>
          <p:nvPr/>
        </p:nvSpPr>
        <p:spPr>
          <a:xfrm>
            <a:off x="2548327" y="290068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6" name="Google Shape;2486;p107"/>
          <p:cNvSpPr/>
          <p:nvPr/>
        </p:nvSpPr>
        <p:spPr>
          <a:xfrm>
            <a:off x="3360295" y="2914646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7" name="Google Shape;2487;p107"/>
          <p:cNvSpPr/>
          <p:nvPr/>
        </p:nvSpPr>
        <p:spPr>
          <a:xfrm>
            <a:off x="4172263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8" name="Google Shape;2488;p107"/>
          <p:cNvSpPr/>
          <p:nvPr/>
        </p:nvSpPr>
        <p:spPr>
          <a:xfrm>
            <a:off x="4984231" y="2942578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9" name="Google Shape;2489;p107"/>
          <p:cNvSpPr/>
          <p:nvPr/>
        </p:nvSpPr>
        <p:spPr>
          <a:xfrm>
            <a:off x="5796199" y="2928612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0" name="Google Shape;2490;p107"/>
          <p:cNvSpPr/>
          <p:nvPr/>
        </p:nvSpPr>
        <p:spPr>
          <a:xfrm>
            <a:off x="6608167" y="2940030"/>
            <a:ext cx="659568" cy="60960"/>
          </a:xfrm>
          <a:prstGeom prst="rect">
            <a:avLst/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1" name="Google Shape;2491;p107"/>
          <p:cNvSpPr txBox="1"/>
          <p:nvPr/>
        </p:nvSpPr>
        <p:spPr>
          <a:xfrm>
            <a:off x="838200" y="2300140"/>
            <a:ext cx="628698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i=6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2" name="Google Shape;2492;p107"/>
          <p:cNvPicPr preferRelativeResize="0"/>
          <p:nvPr/>
        </p:nvPicPr>
        <p:blipFill rotWithShape="1">
          <a:blip r:embed="rId3">
            <a:alphaModFix/>
          </a:blip>
          <a:srcRect l="15750" t="18275" r="42987" b="22618"/>
          <a:stretch/>
        </p:blipFill>
        <p:spPr>
          <a:xfrm>
            <a:off x="7854826" y="1901875"/>
            <a:ext cx="4337174" cy="4053526"/>
          </a:xfrm>
          <a:prstGeom prst="rect">
            <a:avLst/>
          </a:prstGeom>
          <a:noFill/>
          <a:ln>
            <a:noFill/>
          </a:ln>
        </p:spPr>
      </p:pic>
      <p:sp>
        <p:nvSpPr>
          <p:cNvPr id="2493" name="Google Shape;2493;p107"/>
          <p:cNvSpPr txBox="1"/>
          <p:nvPr/>
        </p:nvSpPr>
        <p:spPr>
          <a:xfrm>
            <a:off x="8361576" y="1380226"/>
            <a:ext cx="188737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385623"/>
                </a:solidFill>
                <a:latin typeface="Calibri"/>
                <a:ea typeface="Calibri"/>
                <a:cs typeface="Calibri"/>
                <a:sym typeface="Calibri"/>
              </a:rPr>
              <a:t>DO IT YOURSELF!!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4" name="Google Shape;2494;p107"/>
          <p:cNvSpPr txBox="1"/>
          <p:nvPr/>
        </p:nvSpPr>
        <p:spPr>
          <a:xfrm>
            <a:off x="1988659" y="4280678"/>
            <a:ext cx="383714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This loop will run n (6) times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5 times - the condition will be true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1 time -  the condition will be false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95" name="Google Shape;2495;p107"/>
          <p:cNvCxnSpPr/>
          <p:nvPr/>
        </p:nvCxnSpPr>
        <p:spPr>
          <a:xfrm rot="10800000" flipH="1">
            <a:off x="5552388" y="2626666"/>
            <a:ext cx="2696066" cy="1894228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496" name="Google Shape;2496;p107"/>
          <p:cNvSpPr/>
          <p:nvPr/>
        </p:nvSpPr>
        <p:spPr>
          <a:xfrm>
            <a:off x="7600078" y="5955401"/>
            <a:ext cx="499059" cy="36764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2"/>
          </a:solidFill>
          <a:ln w="12700" cap="flat" cmpd="sng">
            <a:solidFill>
              <a:srgbClr val="AC5B2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1" name="Google Shape;2501;p10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 b="1"/>
              <a:t>Keep in mind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/>
              <a:t>Each line (statement) in a code takes some time to run.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/>
              <a:t>It will be different for different PCs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/>
              <a:t>Let us call this time required to execute a statement : </a:t>
            </a:r>
            <a:r>
              <a:rPr lang="en-US" b="1"/>
              <a:t>cost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/>
              <a:t>Let us analyze the </a:t>
            </a:r>
            <a:r>
              <a:rPr lang="en-US" b="1"/>
              <a:t>total time required </a:t>
            </a:r>
            <a:r>
              <a:rPr lang="en-US"/>
              <a:t>for insertion sort</a:t>
            </a:r>
            <a:endParaRPr/>
          </a:p>
        </p:txBody>
      </p:sp>
      <p:sp>
        <p:nvSpPr>
          <p:cNvPr id="2502" name="Google Shape;2502;p10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03" name="Google Shape;2503;p10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04" name="Google Shape;2504;p10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108</a:t>
            </a:fld>
            <a:endParaRPr/>
          </a:p>
        </p:txBody>
      </p:sp>
      <p:sp>
        <p:nvSpPr>
          <p:cNvPr id="2505" name="Google Shape;2505;p10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0" name="Google Shape;2510;p10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Let us try to write the </a:t>
            </a:r>
            <a:r>
              <a:rPr lang="en-US" b="1"/>
              <a:t>pseudocode </a:t>
            </a:r>
            <a:r>
              <a:rPr lang="en-US"/>
              <a:t>by ourselves and determine the </a:t>
            </a:r>
            <a:r>
              <a:rPr lang="en-US" b="1"/>
              <a:t>total time</a:t>
            </a:r>
            <a:endParaRPr b="1"/>
          </a:p>
        </p:txBody>
      </p:sp>
      <p:sp>
        <p:nvSpPr>
          <p:cNvPr id="2511" name="Google Shape;2511;p10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12" name="Google Shape;2512;p10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13" name="Google Shape;2513;p10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109</a:t>
            </a:fld>
            <a:endParaRPr/>
          </a:p>
        </p:txBody>
      </p:sp>
      <p:sp>
        <p:nvSpPr>
          <p:cNvPr id="2514" name="Google Shape;2514;p10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" name="Google Shape;2519;p11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20" name="Google Shape;2520;p11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21" name="Google Shape;2521;p11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110</a:t>
            </a:fld>
            <a:endParaRPr/>
          </a:p>
        </p:txBody>
      </p:sp>
      <p:sp>
        <p:nvSpPr>
          <p:cNvPr id="2522" name="Google Shape;2522;p11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  <p:sp>
        <p:nvSpPr>
          <p:cNvPr id="2523" name="Google Shape;2523;p110"/>
          <p:cNvSpPr txBox="1"/>
          <p:nvPr/>
        </p:nvSpPr>
        <p:spPr>
          <a:xfrm>
            <a:off x="331076" y="1235075"/>
            <a:ext cx="11860924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000" b="0" i="0" u="sng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Statement 								</a:t>
            </a:r>
            <a:r>
              <a:rPr lang="en-US" sz="2000" b="0" i="0" u="sng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Cost	Times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InsertionSort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(A, n) {			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for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2 to n { 		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1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key = A[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]	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2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(n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1)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j =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1;	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3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(n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1)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while (j &gt; 0) and (A[j] &gt; key) {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4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	A[j+1] = A[j]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5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(T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(n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1))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	j = j – 1 }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6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(T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(n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1))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	A[j+1] = key						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7  	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(n 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1)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}					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}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33CC"/>
              </a:buClr>
              <a:buSzPct val="88235"/>
              <a:buFont typeface="Times New Roman"/>
              <a:buNone/>
            </a:pPr>
            <a:r>
              <a:rPr lang="en-US" sz="2400" b="0" i="0" u="none" strike="noStrike" cap="none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T 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= t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+ t</a:t>
            </a:r>
            <a:r>
              <a:rPr lang="en-US" sz="2400" b="0" i="0" u="none" strike="noStrike" cap="none" baseline="-25000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+ … + </a:t>
            </a:r>
            <a:r>
              <a:rPr lang="en-US" sz="2400" b="0" i="0" u="none" strike="noStrike" cap="none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400" b="0" i="0" u="none" strike="noStrike" cap="none" baseline="-25000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, where </a:t>
            </a:r>
            <a:r>
              <a:rPr lang="en-US" sz="2400" b="0" i="0" u="none" strike="noStrike" cap="none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400" b="0" i="0" u="none" strike="noStrike" cap="none" baseline="-25000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is the number of while expression evaluations for the  </a:t>
            </a:r>
            <a:r>
              <a:rPr lang="en-US" sz="2400" b="0" i="0" u="none" strike="noStrike" cap="none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2400" b="0" i="0" u="none" strike="noStrike" cap="none" baseline="30000" dirty="0" err="1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th</a:t>
            </a:r>
            <a:r>
              <a:rPr lang="en-US" sz="2400" b="0" i="0" u="none" strike="noStrike" cap="none" dirty="0">
                <a:solidFill>
                  <a:srgbClr val="0000CC"/>
                </a:solidFill>
                <a:latin typeface="Calibri"/>
                <a:ea typeface="Calibri"/>
                <a:cs typeface="Calibri"/>
                <a:sym typeface="Calibri"/>
              </a:rPr>
              <a:t> for loop iteration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8" name="Google Shape;2528;p11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700"/>
              <a:buFont typeface="Noto Sans Symbols"/>
              <a:buNone/>
            </a:pPr>
            <a:r>
              <a:rPr lang="en-US" sz="3600"/>
              <a:t>T(n) = </a:t>
            </a:r>
            <a:r>
              <a:rPr lang="en-US" sz="3200"/>
              <a:t>c</a:t>
            </a:r>
            <a:r>
              <a:rPr lang="en-US" sz="3200" baseline="-25000"/>
              <a:t>1</a:t>
            </a:r>
            <a:r>
              <a:rPr lang="en-US" sz="3200"/>
              <a:t>n + c</a:t>
            </a:r>
            <a:r>
              <a:rPr lang="en-US" sz="3200" baseline="-25000"/>
              <a:t>2</a:t>
            </a:r>
            <a:r>
              <a:rPr lang="en-US" sz="3200"/>
              <a:t>(n-1) + c</a:t>
            </a:r>
            <a:r>
              <a:rPr lang="en-US" sz="3200" baseline="-25000"/>
              <a:t>3</a:t>
            </a:r>
            <a:r>
              <a:rPr lang="en-US" sz="3200"/>
              <a:t>(n-1) + c</a:t>
            </a:r>
            <a:r>
              <a:rPr lang="en-US" sz="3200" baseline="-25000"/>
              <a:t>4</a:t>
            </a:r>
            <a:r>
              <a:rPr lang="en-US" sz="3200"/>
              <a:t>T + c</a:t>
            </a:r>
            <a:r>
              <a:rPr lang="en-US" sz="3200" baseline="-25000"/>
              <a:t>5</a:t>
            </a:r>
            <a:r>
              <a:rPr lang="en-US" sz="3200"/>
              <a:t>(T - (n-1)) + c</a:t>
            </a:r>
            <a:r>
              <a:rPr lang="en-US" sz="3200" baseline="-25000"/>
              <a:t>6</a:t>
            </a:r>
            <a:r>
              <a:rPr lang="en-US" sz="3200"/>
              <a:t>(T - (n-1)) 		+ c</a:t>
            </a:r>
            <a:r>
              <a:rPr lang="en-US" sz="3200" baseline="-25000"/>
              <a:t>7</a:t>
            </a:r>
            <a:r>
              <a:rPr lang="en-US" sz="3200"/>
              <a:t>(n-1)</a:t>
            </a:r>
            <a:r>
              <a:rPr lang="en-US" sz="3600"/>
              <a:t> </a:t>
            </a:r>
            <a:br>
              <a:rPr lang="en-US" sz="3600"/>
            </a:br>
            <a:r>
              <a:rPr lang="en-US" sz="3600"/>
              <a:t>        = c</a:t>
            </a:r>
            <a:r>
              <a:rPr lang="en-US" sz="3600" baseline="-25000"/>
              <a:t>8</a:t>
            </a:r>
            <a:r>
              <a:rPr lang="en-US" sz="3600"/>
              <a:t>T + c</a:t>
            </a:r>
            <a:r>
              <a:rPr lang="en-US" sz="3600" baseline="-25000"/>
              <a:t>9</a:t>
            </a:r>
            <a:r>
              <a:rPr lang="en-US" sz="3600"/>
              <a:t>n + c</a:t>
            </a:r>
            <a:r>
              <a:rPr lang="en-US" sz="3600" baseline="-25000"/>
              <a:t>10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rgbClr val="0033CC"/>
              </a:buClr>
              <a:buSzPts val="2700"/>
              <a:buFont typeface="Noto Sans Symbols"/>
              <a:buNone/>
            </a:pPr>
            <a:endParaRPr sz="3600" baseline="-25000"/>
          </a:p>
          <a:p>
            <a:pPr marL="0" marR="0" lvl="0" indent="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rgbClr val="0033CC"/>
              </a:buClr>
              <a:buSzPts val="2700"/>
              <a:buFont typeface="Noto Sans Symbols"/>
              <a:buNone/>
            </a:pPr>
            <a:endParaRPr sz="3600"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529" name="Google Shape;2529;p11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30" name="Google Shape;2530;p11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31" name="Google Shape;2531;p11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111</a:t>
            </a:fld>
            <a:endParaRPr/>
          </a:p>
        </p:txBody>
      </p:sp>
      <p:sp>
        <p:nvSpPr>
          <p:cNvPr id="2532" name="Google Shape;2532;p11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7" name="Google Shape;2537;p112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700"/>
              <a:buFont typeface="Noto Sans Symbols"/>
              <a:buNone/>
            </a:pPr>
            <a:r>
              <a:rPr lang="en-US" sz="3600"/>
              <a:t>T(n) = </a:t>
            </a:r>
            <a:r>
              <a:rPr lang="en-US" sz="3200"/>
              <a:t>c</a:t>
            </a:r>
            <a:r>
              <a:rPr lang="en-US" sz="3200" baseline="-25000"/>
              <a:t>1</a:t>
            </a:r>
            <a:r>
              <a:rPr lang="en-US" sz="3200"/>
              <a:t>n + c</a:t>
            </a:r>
            <a:r>
              <a:rPr lang="en-US" sz="3200" baseline="-25000"/>
              <a:t>2</a:t>
            </a:r>
            <a:r>
              <a:rPr lang="en-US" sz="3200"/>
              <a:t>(n-1) + c</a:t>
            </a:r>
            <a:r>
              <a:rPr lang="en-US" sz="3200" baseline="-25000"/>
              <a:t>3</a:t>
            </a:r>
            <a:r>
              <a:rPr lang="en-US" sz="3200"/>
              <a:t>(n-1) + c</a:t>
            </a:r>
            <a:r>
              <a:rPr lang="en-US" sz="3200" baseline="-25000"/>
              <a:t>4</a:t>
            </a:r>
            <a:r>
              <a:rPr lang="en-US" sz="3200"/>
              <a:t>T + c</a:t>
            </a:r>
            <a:r>
              <a:rPr lang="en-US" sz="3200" baseline="-25000"/>
              <a:t>5</a:t>
            </a:r>
            <a:r>
              <a:rPr lang="en-US" sz="3200"/>
              <a:t>(T - (n-1)) + c</a:t>
            </a:r>
            <a:r>
              <a:rPr lang="en-US" sz="3200" baseline="-25000"/>
              <a:t>6</a:t>
            </a:r>
            <a:r>
              <a:rPr lang="en-US" sz="3200"/>
              <a:t>(T - (n-1)) 		+ c</a:t>
            </a:r>
            <a:r>
              <a:rPr lang="en-US" sz="3200" baseline="-25000"/>
              <a:t>7</a:t>
            </a:r>
            <a:r>
              <a:rPr lang="en-US" sz="3200"/>
              <a:t>(n-1)</a:t>
            </a:r>
            <a:r>
              <a:rPr lang="en-US" sz="3600"/>
              <a:t> </a:t>
            </a:r>
            <a:br>
              <a:rPr lang="en-US" sz="3600"/>
            </a:br>
            <a:r>
              <a:rPr lang="en-US" sz="3600"/>
              <a:t>        = c</a:t>
            </a:r>
            <a:r>
              <a:rPr lang="en-US" sz="3600" baseline="-25000"/>
              <a:t>8</a:t>
            </a:r>
            <a:r>
              <a:rPr lang="en-US" sz="3600">
                <a:solidFill>
                  <a:schemeClr val="accent1"/>
                </a:solidFill>
              </a:rPr>
              <a:t>T</a:t>
            </a:r>
            <a:r>
              <a:rPr lang="en-US" sz="3600"/>
              <a:t> + c</a:t>
            </a:r>
            <a:r>
              <a:rPr lang="en-US" sz="3600" baseline="-25000"/>
              <a:t>9</a:t>
            </a:r>
            <a:r>
              <a:rPr lang="en-US" sz="3600">
                <a:solidFill>
                  <a:schemeClr val="accent2"/>
                </a:solidFill>
              </a:rPr>
              <a:t>n</a:t>
            </a:r>
            <a:r>
              <a:rPr lang="en-US" sz="3600"/>
              <a:t> + c</a:t>
            </a:r>
            <a:r>
              <a:rPr lang="en-US" sz="3600" baseline="-25000"/>
              <a:t>10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>
                <a:srgbClr val="0033CC"/>
              </a:buClr>
              <a:buSzPts val="2700"/>
              <a:buFont typeface="Noto Sans Symbols"/>
              <a:buNone/>
            </a:pPr>
            <a:endParaRPr sz="3600"/>
          </a:p>
          <a:p>
            <a:pPr marL="457200" lvl="0" indent="-4572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lang="en-US"/>
              <a:t>We can understand that</a:t>
            </a:r>
            <a:endParaRPr/>
          </a:p>
          <a:p>
            <a:pPr marL="1200150" lvl="1" indent="-4572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Font typeface="Arial"/>
              <a:buChar char="•"/>
            </a:pPr>
            <a:r>
              <a:rPr lang="en-US">
                <a:solidFill>
                  <a:schemeClr val="accent2"/>
                </a:solidFill>
              </a:rPr>
              <a:t>The time will be more if  the number of input elements is more</a:t>
            </a:r>
            <a:endParaRPr/>
          </a:p>
          <a:p>
            <a:pPr marL="1200150" lvl="1" indent="-4572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Font typeface="Arial"/>
              <a:buChar char="•"/>
            </a:pPr>
            <a:r>
              <a:rPr lang="en-US">
                <a:solidFill>
                  <a:schemeClr val="accent1"/>
                </a:solidFill>
              </a:rPr>
              <a:t>We can also understand that the time will be more if the while loop runs more</a:t>
            </a:r>
            <a:endParaRPr/>
          </a:p>
        </p:txBody>
      </p:sp>
      <p:sp>
        <p:nvSpPr>
          <p:cNvPr id="2538" name="Google Shape;2538;p11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39" name="Google Shape;2539;p11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40" name="Google Shape;2540;p11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112</a:t>
            </a:fld>
            <a:endParaRPr/>
          </a:p>
        </p:txBody>
      </p:sp>
      <p:sp>
        <p:nvSpPr>
          <p:cNvPr id="2541" name="Google Shape;2541;p11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6" name="Google Shape;2546;p11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r>
              <a:rPr lang="en-US" sz="3600"/>
              <a:t>T(n) = c</a:t>
            </a:r>
            <a:r>
              <a:rPr lang="en-US" sz="3600" baseline="-25000"/>
              <a:t>8</a:t>
            </a:r>
            <a:r>
              <a:rPr lang="en-US" sz="3600">
                <a:solidFill>
                  <a:schemeClr val="accent1"/>
                </a:solidFill>
              </a:rPr>
              <a:t>T</a:t>
            </a:r>
            <a:r>
              <a:rPr lang="en-US" sz="3600"/>
              <a:t> + c</a:t>
            </a:r>
            <a:r>
              <a:rPr lang="en-US" sz="3600" baseline="-25000"/>
              <a:t>9</a:t>
            </a:r>
            <a:r>
              <a:rPr lang="en-US" sz="3600">
                <a:solidFill>
                  <a:schemeClr val="accent2"/>
                </a:solidFill>
              </a:rPr>
              <a:t>n</a:t>
            </a:r>
            <a:r>
              <a:rPr lang="en-US" sz="3600"/>
              <a:t> + c</a:t>
            </a:r>
            <a:r>
              <a:rPr lang="en-US" sz="3600" baseline="-25000"/>
              <a:t>10</a:t>
            </a:r>
            <a:endParaRPr sz="3600" baseline="-250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endParaRPr sz="3600" baseline="-25000"/>
          </a:p>
          <a:p>
            <a:pPr marL="0" marR="0" lvl="0" indent="0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r>
              <a:rPr lang="en-US" sz="2200">
                <a:solidFill>
                  <a:schemeClr val="accent1"/>
                </a:solidFill>
              </a:rPr>
              <a:t>We can also understand that the time will be more if the while loop runs more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endParaRPr sz="2200">
              <a:solidFill>
                <a:srgbClr val="00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r>
              <a:rPr lang="en-US" sz="2200">
                <a:solidFill>
                  <a:srgbClr val="0000FF"/>
                </a:solidFill>
              </a:rPr>
              <a:t>What can T be?</a:t>
            </a:r>
            <a:endParaRPr/>
          </a:p>
          <a:p>
            <a:pPr marL="742950" lvl="1" indent="-272129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SzPct val="65000"/>
              <a:buChar char="●"/>
            </a:pPr>
            <a:r>
              <a:rPr lang="en-US" sz="2200" b="1">
                <a:solidFill>
                  <a:schemeClr val="dk2"/>
                </a:solidFill>
              </a:rPr>
              <a:t>Best case:</a:t>
            </a:r>
            <a:r>
              <a:rPr lang="en-US" sz="2200"/>
              <a:t>  the array is sorted (inner loop body never executed)</a:t>
            </a:r>
            <a:endParaRPr/>
          </a:p>
          <a:p>
            <a:pPr marL="1143000" lvl="2" indent="-21374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SzPct val="65000"/>
              <a:buChar char="●"/>
            </a:pPr>
            <a:r>
              <a:rPr lang="en-US" i="1"/>
              <a:t>t</a:t>
            </a:r>
            <a:r>
              <a:rPr lang="en-US" i="1" baseline="-25000"/>
              <a:t>i</a:t>
            </a:r>
            <a:r>
              <a:rPr lang="en-US"/>
              <a:t> = 1 🡺 </a:t>
            </a:r>
            <a:r>
              <a:rPr lang="en-US" i="1"/>
              <a:t>T</a:t>
            </a:r>
            <a:r>
              <a:rPr lang="en-US"/>
              <a:t> = </a:t>
            </a:r>
            <a:r>
              <a:rPr lang="en-US" i="1"/>
              <a:t>n-1</a:t>
            </a:r>
            <a:r>
              <a:rPr lang="en-US"/>
              <a:t> </a:t>
            </a:r>
            <a:endParaRPr/>
          </a:p>
          <a:p>
            <a:pPr marL="1143000" lvl="2" indent="-21374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SzPct val="65000"/>
              <a:buChar char="●"/>
            </a:pPr>
            <a:r>
              <a:rPr lang="en-US" i="1"/>
              <a:t>T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= </a:t>
            </a:r>
            <a:r>
              <a:rPr lang="en-US" i="1"/>
              <a:t>an</a:t>
            </a:r>
            <a:r>
              <a:rPr lang="en-US"/>
              <a:t> + </a:t>
            </a:r>
            <a:r>
              <a:rPr lang="en-US" i="1"/>
              <a:t>b</a:t>
            </a:r>
            <a:r>
              <a:rPr lang="en-US"/>
              <a:t>, a linear function of </a:t>
            </a:r>
            <a:r>
              <a:rPr lang="en-US" i="1"/>
              <a:t>n</a:t>
            </a:r>
            <a:endParaRPr/>
          </a:p>
          <a:p>
            <a:pPr marL="742950" lvl="1" indent="-272129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SzPct val="65000"/>
              <a:buChar char="●"/>
            </a:pPr>
            <a:r>
              <a:rPr lang="en-US" sz="2200" b="1">
                <a:solidFill>
                  <a:schemeClr val="dk2"/>
                </a:solidFill>
              </a:rPr>
              <a:t>Worst case:</a:t>
            </a:r>
            <a:r>
              <a:rPr lang="en-US" sz="2200"/>
              <a:t> the array is reverse sorted (inner loop body executed for all previous elements)</a:t>
            </a:r>
            <a:endParaRPr/>
          </a:p>
          <a:p>
            <a:pPr marL="1143000" lvl="2" indent="-21374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SzPct val="65000"/>
              <a:buChar char="●"/>
            </a:pPr>
            <a:r>
              <a:rPr lang="en-US" i="1"/>
              <a:t>t</a:t>
            </a:r>
            <a:r>
              <a:rPr lang="en-US" i="1" baseline="-25000"/>
              <a:t>i</a:t>
            </a:r>
            <a:r>
              <a:rPr lang="en-US"/>
              <a:t> = </a:t>
            </a:r>
            <a:r>
              <a:rPr lang="en-US" i="1"/>
              <a:t>i</a:t>
            </a:r>
            <a:r>
              <a:rPr lang="en-US"/>
              <a:t> 🡺 </a:t>
            </a:r>
            <a:r>
              <a:rPr lang="en-US" i="1"/>
              <a:t>T</a:t>
            </a:r>
            <a:r>
              <a:rPr lang="en-US"/>
              <a:t> = </a:t>
            </a:r>
            <a:r>
              <a:rPr lang="en-US" i="1"/>
              <a:t>n</a:t>
            </a:r>
            <a:r>
              <a:rPr lang="en-US"/>
              <a:t>(</a:t>
            </a:r>
            <a:r>
              <a:rPr lang="en-US" i="1"/>
              <a:t>n + </a:t>
            </a:r>
            <a:r>
              <a:rPr lang="en-US"/>
              <a:t>1)/2 - 1</a:t>
            </a:r>
            <a:endParaRPr/>
          </a:p>
          <a:p>
            <a:pPr marL="1143000" lvl="2" indent="-21374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SzPct val="65000"/>
              <a:buChar char="●"/>
            </a:pPr>
            <a:r>
              <a:rPr lang="en-US" i="1"/>
              <a:t>T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= </a:t>
            </a:r>
            <a:r>
              <a:rPr lang="en-US" i="1"/>
              <a:t>an</a:t>
            </a:r>
            <a:r>
              <a:rPr lang="en-US" baseline="30000"/>
              <a:t>2</a:t>
            </a:r>
            <a:r>
              <a:rPr lang="en-US"/>
              <a:t> + </a:t>
            </a:r>
            <a:r>
              <a:rPr lang="en-US" i="1"/>
              <a:t>bn </a:t>
            </a:r>
            <a:r>
              <a:rPr lang="en-US"/>
              <a:t>+ </a:t>
            </a:r>
            <a:r>
              <a:rPr lang="en-US" i="1"/>
              <a:t>c</a:t>
            </a:r>
            <a:r>
              <a:rPr lang="en-US"/>
              <a:t>, a quadratic function of </a:t>
            </a:r>
            <a:r>
              <a:rPr lang="en-US" i="1"/>
              <a:t>n</a:t>
            </a:r>
            <a:endParaRPr/>
          </a:p>
          <a:p>
            <a:pPr marL="742950" lvl="1" indent="-272129" algn="l" rtl="0">
              <a:lnSpc>
                <a:spcPct val="100000"/>
              </a:lnSpc>
              <a:spcBef>
                <a:spcPts val="407"/>
              </a:spcBef>
              <a:spcAft>
                <a:spcPts val="0"/>
              </a:spcAft>
              <a:buSzPct val="65000"/>
              <a:buChar char="●"/>
            </a:pPr>
            <a:r>
              <a:rPr lang="en-US" sz="2200" b="1">
                <a:solidFill>
                  <a:schemeClr val="dk2"/>
                </a:solidFill>
              </a:rPr>
              <a:t>Average case:</a:t>
            </a:r>
            <a:endParaRPr/>
          </a:p>
          <a:p>
            <a:pPr marL="1143000" lvl="2" indent="-213740" algn="l" rtl="0">
              <a:lnSpc>
                <a:spcPct val="100000"/>
              </a:lnSpc>
              <a:spcBef>
                <a:spcPts val="444"/>
              </a:spcBef>
              <a:spcAft>
                <a:spcPts val="0"/>
              </a:spcAft>
              <a:buSzPct val="65000"/>
              <a:buChar char="●"/>
            </a:pPr>
            <a:r>
              <a:rPr lang="en-US"/>
              <a:t>Will still be </a:t>
            </a:r>
            <a:r>
              <a:rPr lang="en-US" i="1"/>
              <a:t>n</a:t>
            </a:r>
            <a:r>
              <a:rPr lang="en-US" baseline="30000"/>
              <a:t>2  </a:t>
            </a:r>
            <a:r>
              <a:rPr lang="en-US"/>
              <a:t>as there is no guarantee how much checking we have to do on a random array. We might have to check 1 or (n-1) for each case</a:t>
            </a:r>
            <a:endParaRPr baseline="30000"/>
          </a:p>
          <a:p>
            <a:pPr marL="0" marR="0" lvl="0" indent="0" algn="l" rtl="0">
              <a:lnSpc>
                <a:spcPct val="100000"/>
              </a:lnSpc>
              <a:spcBef>
                <a:spcPts val="592"/>
              </a:spcBef>
              <a:spcAft>
                <a:spcPts val="0"/>
              </a:spcAft>
              <a:buClr>
                <a:srgbClr val="0033CC"/>
              </a:buClr>
              <a:buSzPct val="75000"/>
              <a:buFont typeface="Noto Sans Symbols"/>
              <a:buNone/>
            </a:pPr>
            <a:endParaRPr/>
          </a:p>
        </p:txBody>
      </p:sp>
      <p:sp>
        <p:nvSpPr>
          <p:cNvPr id="2547" name="Google Shape;2547;p11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48" name="Google Shape;2548;p11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49" name="Google Shape;2549;p11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113</a:t>
            </a:fld>
            <a:endParaRPr/>
          </a:p>
        </p:txBody>
      </p:sp>
      <p:sp>
        <p:nvSpPr>
          <p:cNvPr id="2550" name="Google Shape;2550;p11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Analyzing Insertion Sort</a:t>
            </a:r>
            <a:endParaRPr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5" name="Google Shape;2555;p11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56" name="Google Shape;2556;p11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57" name="Google Shape;2557;p11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114</a:t>
            </a:fld>
            <a:endParaRPr/>
          </a:p>
        </p:txBody>
      </p:sp>
      <p:sp>
        <p:nvSpPr>
          <p:cNvPr id="2558" name="Google Shape;2558;p11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Best Case</a:t>
            </a:r>
            <a:endParaRPr/>
          </a:p>
        </p:txBody>
      </p:sp>
      <p:sp>
        <p:nvSpPr>
          <p:cNvPr id="2559" name="Google Shape;2559;p114"/>
          <p:cNvSpPr txBox="1"/>
          <p:nvPr/>
        </p:nvSpPr>
        <p:spPr>
          <a:xfrm>
            <a:off x="718975" y="1238875"/>
            <a:ext cx="10198500" cy="45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</a:rPr>
              <a:t>Best Case — Ω(n)</a:t>
            </a:r>
            <a:endParaRPr sz="2000" b="1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When does it happen?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The array is already sorted.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What happens?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For each element, we only check once and see it is already in the right place.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No shifting.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Why Ω(n)?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We do 1 comparison for each of the n elements → </a:t>
            </a:r>
            <a:r>
              <a:rPr lang="en-US" sz="1800" b="1">
                <a:solidFill>
                  <a:schemeClr val="dk1"/>
                </a:solidFill>
              </a:rPr>
              <a:t>n steps</a:t>
            </a:r>
            <a:r>
              <a:rPr lang="en-US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4" name="Google Shape;2564;g3a7bc7ed652_117_1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65" name="Google Shape;2565;g3a7bc7ed652_117_1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66" name="Google Shape;2566;g3a7bc7ed652_117_1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115</a:t>
            </a:fld>
            <a:endParaRPr/>
          </a:p>
        </p:txBody>
      </p:sp>
      <p:sp>
        <p:nvSpPr>
          <p:cNvPr id="2567" name="Google Shape;2567;g3a7bc7ed652_117_1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Worst Case</a:t>
            </a:r>
            <a:endParaRPr/>
          </a:p>
        </p:txBody>
      </p:sp>
      <p:sp>
        <p:nvSpPr>
          <p:cNvPr id="2568" name="Google Shape;2568;g3a7bc7ed652_117_14"/>
          <p:cNvSpPr txBox="1"/>
          <p:nvPr/>
        </p:nvSpPr>
        <p:spPr>
          <a:xfrm>
            <a:off x="718975" y="1238875"/>
            <a:ext cx="10198500" cy="46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</a:rPr>
              <a:t>Worst Case — O(n²)</a:t>
            </a:r>
            <a:endParaRPr sz="2000" b="1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When does it happen?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The array is reverse sorted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What happens?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Every new element has to move all the way to the front.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Lots of comparisons + lots of shifting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Why O(n²)?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1st element → 1 comparison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2nd element → 2 comparisons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3rd element → 3 comparisons</a:t>
            </a:r>
            <a:endParaRPr sz="1800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(n−1)th element → (n−1) comparisons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569" name="Google Shape;2569;g3a7bc7ed652_117_14"/>
          <p:cNvSpPr txBox="1"/>
          <p:nvPr/>
        </p:nvSpPr>
        <p:spPr>
          <a:xfrm>
            <a:off x="7090275" y="4313900"/>
            <a:ext cx="400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0" name="Google Shape;2570;g3a7bc7ed652_117_14"/>
          <p:cNvSpPr txBox="1"/>
          <p:nvPr/>
        </p:nvSpPr>
        <p:spPr>
          <a:xfrm>
            <a:off x="6205375" y="4712125"/>
            <a:ext cx="46458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chemeClr val="accent2"/>
                </a:solidFill>
              </a:rPr>
              <a:t>1+2+⋯+(n−1)= {n(n-1)/2​} ∼ O(</a:t>
            </a:r>
            <a:r>
              <a:rPr lang="en-US" sz="1800" b="1">
                <a:solidFill>
                  <a:schemeClr val="accent2"/>
                </a:solidFill>
              </a:rPr>
              <a:t>n²</a:t>
            </a:r>
            <a:r>
              <a:rPr lang="en-US" sz="2100" b="1">
                <a:solidFill>
                  <a:schemeClr val="accent2"/>
                </a:solidFill>
              </a:rPr>
              <a:t>)</a:t>
            </a:r>
            <a:endParaRPr sz="17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Google Shape;2575;g3a7bc7ed652_117_3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76" name="Google Shape;2576;g3a7bc7ed652_117_3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77" name="Google Shape;2577;g3a7bc7ed652_117_3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116</a:t>
            </a:fld>
            <a:endParaRPr/>
          </a:p>
        </p:txBody>
      </p:sp>
      <p:sp>
        <p:nvSpPr>
          <p:cNvPr id="2578" name="Google Shape;2578;g3a7bc7ed652_117_3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Average Case</a:t>
            </a:r>
            <a:endParaRPr/>
          </a:p>
        </p:txBody>
      </p:sp>
      <p:sp>
        <p:nvSpPr>
          <p:cNvPr id="2579" name="Google Shape;2579;g3a7bc7ed652_117_33"/>
          <p:cNvSpPr txBox="1"/>
          <p:nvPr/>
        </p:nvSpPr>
        <p:spPr>
          <a:xfrm>
            <a:off x="838200" y="1650363"/>
            <a:ext cx="10198500" cy="39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accent2"/>
                </a:solidFill>
              </a:rPr>
              <a:t>Average Case — Θ(n²)</a:t>
            </a:r>
            <a:endParaRPr sz="2000" b="1">
              <a:solidFill>
                <a:schemeClr val="accent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When does it happen?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The array is in a random order.</a:t>
            </a:r>
            <a:endParaRPr sz="18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What happens?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873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500"/>
              <a:buChar char="●"/>
            </a:pPr>
            <a:r>
              <a:rPr lang="en-US" sz="1800">
                <a:solidFill>
                  <a:schemeClr val="dk1"/>
                </a:solidFill>
              </a:rPr>
              <a:t>On average, each element moves halfway back in the sorted portion.</a:t>
            </a:r>
            <a:endParaRPr sz="1800">
              <a:solidFill>
                <a:schemeClr val="dk1"/>
              </a:solidFill>
            </a:endParaRPr>
          </a:p>
          <a:p>
            <a:pPr marL="457200" lvl="0" indent="-3873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Char char="●"/>
            </a:pPr>
            <a:r>
              <a:rPr lang="en-US" sz="1800">
                <a:solidFill>
                  <a:schemeClr val="dk1"/>
                </a:solidFill>
              </a:rPr>
              <a:t>So each step takes about </a:t>
            </a:r>
            <a:r>
              <a:rPr lang="en-US" sz="1800" b="1">
                <a:solidFill>
                  <a:schemeClr val="dk1"/>
                </a:solidFill>
              </a:rPr>
              <a:t>i/2</a:t>
            </a:r>
            <a:r>
              <a:rPr lang="en-US" sz="1800">
                <a:solidFill>
                  <a:schemeClr val="dk1"/>
                </a:solidFill>
              </a:rPr>
              <a:t> comparisons.</a:t>
            </a:r>
            <a:endParaRPr sz="25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</a:rPr>
              <a:t>Why Θ(n²)?</a:t>
            </a:r>
            <a:endParaRPr sz="1800" b="1">
              <a:solidFill>
                <a:schemeClr val="dk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Total work </a:t>
            </a:r>
            <a:r>
              <a:rPr lang="en-US" sz="2100" b="1">
                <a:solidFill>
                  <a:schemeClr val="dk1"/>
                </a:solidFill>
              </a:rPr>
              <a:t>∼</a:t>
            </a:r>
            <a:r>
              <a:rPr lang="en-US" sz="2100" b="1">
                <a:solidFill>
                  <a:schemeClr val="accent2"/>
                </a:solidFill>
              </a:rPr>
              <a:t> ½(1+2+3+.....+(n-1)) </a:t>
            </a:r>
            <a:r>
              <a:rPr lang="en-US" sz="1800">
                <a:solidFill>
                  <a:schemeClr val="dk1"/>
                </a:solidFill>
              </a:rPr>
              <a:t>which is proportional to </a:t>
            </a:r>
            <a:r>
              <a:rPr lang="en-US" sz="1800" b="1">
                <a:solidFill>
                  <a:schemeClr val="accent2"/>
                </a:solidFill>
              </a:rPr>
              <a:t>Θ(n²)</a:t>
            </a:r>
            <a:endParaRPr sz="18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Google Shape;2584;p1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ASYMPTOTIC ANALYSIS</a:t>
            </a:r>
            <a:endParaRPr/>
          </a:p>
        </p:txBody>
      </p:sp>
      <p:sp>
        <p:nvSpPr>
          <p:cNvPr id="2585" name="Google Shape;2585;p1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endParaRPr/>
          </a:p>
        </p:txBody>
      </p:sp>
      <p:sp>
        <p:nvSpPr>
          <p:cNvPr id="2586" name="Google Shape;2586;p11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87" name="Google Shape;2587;p11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88" name="Google Shape;2588;p11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117</a:t>
            </a:fld>
            <a:endParaRPr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Google Shape;2593;p118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>
                <a:solidFill>
                  <a:schemeClr val="accent1"/>
                </a:solidFill>
              </a:rPr>
              <a:t>Upper Bound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Provides an upper bound on running time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An absolute guarantee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>
                <a:solidFill>
                  <a:schemeClr val="accent1"/>
                </a:solidFill>
              </a:rPr>
              <a:t>Asymptotically Tight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Provides the expected running time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Very useful, but treat with care: what is “</a:t>
            </a:r>
            <a:r>
              <a:rPr lang="en-US">
                <a:solidFill>
                  <a:srgbClr val="FF0000"/>
                </a:solidFill>
              </a:rPr>
              <a:t>average</a:t>
            </a:r>
            <a:r>
              <a:rPr lang="en-US"/>
              <a:t>”?</a:t>
            </a:r>
            <a:endParaRPr/>
          </a:p>
          <a:p>
            <a:pPr marL="114300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560"/>
              <a:buChar char="●"/>
            </a:pPr>
            <a:r>
              <a:rPr lang="en-US"/>
              <a:t>Random (equally likely) inputs</a:t>
            </a:r>
            <a:endParaRPr/>
          </a:p>
          <a:p>
            <a:pPr marL="114300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560"/>
              <a:buChar char="●"/>
            </a:pPr>
            <a:r>
              <a:rPr lang="en-US"/>
              <a:t>Real-life inputs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>
                <a:solidFill>
                  <a:schemeClr val="accent1"/>
                </a:solidFill>
              </a:rPr>
              <a:t>Lower Bound</a:t>
            </a:r>
            <a:endParaRPr>
              <a:solidFill>
                <a:schemeClr val="accen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594" name="Google Shape;2594;p11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595" name="Google Shape;2595;p11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596" name="Google Shape;2596;p11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118</a:t>
            </a:fld>
            <a:endParaRPr/>
          </a:p>
        </p:txBody>
      </p:sp>
      <p:sp>
        <p:nvSpPr>
          <p:cNvPr id="2597" name="Google Shape;2597;p11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Asymptotic Analysis</a:t>
            </a:r>
            <a:endParaRPr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Google Shape;2602;p119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We say InsertionSort’s run time is </a:t>
            </a:r>
            <a:r>
              <a:rPr lang="en-US" i="1">
                <a:solidFill>
                  <a:schemeClr val="dk2"/>
                </a:solidFill>
              </a:rPr>
              <a:t>O</a:t>
            </a:r>
            <a:r>
              <a:rPr lang="en-US">
                <a:solidFill>
                  <a:schemeClr val="dk2"/>
                </a:solidFill>
              </a:rPr>
              <a:t>(</a:t>
            </a:r>
            <a:r>
              <a:rPr lang="en-US" i="1">
                <a:solidFill>
                  <a:schemeClr val="dk2"/>
                </a:solidFill>
              </a:rPr>
              <a:t>n</a:t>
            </a:r>
            <a:r>
              <a:rPr lang="en-US" baseline="30000">
                <a:solidFill>
                  <a:schemeClr val="dk2"/>
                </a:solidFill>
              </a:rPr>
              <a:t>2</a:t>
            </a:r>
            <a:r>
              <a:rPr lang="en-US">
                <a:solidFill>
                  <a:schemeClr val="dk2"/>
                </a:solidFill>
              </a:rPr>
              <a:t>)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Properly we should say run time is </a:t>
            </a:r>
            <a:r>
              <a:rPr lang="en-US" i="1"/>
              <a:t>in</a:t>
            </a:r>
            <a:r>
              <a:rPr lang="en-US"/>
              <a:t> </a:t>
            </a:r>
            <a:r>
              <a:rPr lang="en-US" i="1"/>
              <a:t>O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 baseline="30000"/>
              <a:t>2</a:t>
            </a:r>
            <a:r>
              <a:rPr lang="en-US"/>
              <a:t>)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Read </a:t>
            </a:r>
            <a:r>
              <a:rPr lang="en-US" i="1"/>
              <a:t>O</a:t>
            </a:r>
            <a:r>
              <a:rPr lang="en-US"/>
              <a:t> as “Big-</a:t>
            </a:r>
            <a:r>
              <a:rPr lang="en-US" i="1"/>
              <a:t>O</a:t>
            </a:r>
            <a:r>
              <a:rPr lang="en-US"/>
              <a:t>” (you’ll also hear it as “order”)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In general a function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is </a:t>
            </a:r>
            <a:r>
              <a:rPr lang="en-US" i="1"/>
              <a:t>O</a:t>
            </a:r>
            <a:r>
              <a:rPr lang="en-US"/>
              <a:t>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 if there exist positive constants </a:t>
            </a:r>
            <a:r>
              <a:rPr lang="en-US" i="1"/>
              <a:t>c</a:t>
            </a:r>
            <a:r>
              <a:rPr lang="en-US"/>
              <a:t> and </a:t>
            </a:r>
            <a:r>
              <a:rPr lang="en-US" i="1"/>
              <a:t>n</a:t>
            </a:r>
            <a:r>
              <a:rPr lang="en-US" i="1" baseline="-25000"/>
              <a:t>0</a:t>
            </a:r>
            <a:r>
              <a:rPr lang="en-US" i="1"/>
              <a:t> </a:t>
            </a:r>
            <a:r>
              <a:rPr lang="en-US"/>
              <a:t>such that 0 ≤ </a:t>
            </a: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≤ </a:t>
            </a:r>
            <a:r>
              <a:rPr lang="en-US" i="1"/>
              <a:t>c</a:t>
            </a:r>
            <a:r>
              <a:rPr lang="en-US"/>
              <a:t> ⋅ 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for all </a:t>
            </a:r>
            <a:r>
              <a:rPr lang="en-US" i="1"/>
              <a:t>n</a:t>
            </a:r>
            <a:r>
              <a:rPr lang="en-US"/>
              <a:t> ≥ </a:t>
            </a:r>
            <a:r>
              <a:rPr lang="en-US" i="1"/>
              <a:t>n</a:t>
            </a:r>
            <a:r>
              <a:rPr lang="en-US" i="1" baseline="-25000"/>
              <a:t>0</a:t>
            </a:r>
            <a:endParaRPr i="1"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Formally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 i="1"/>
              <a:t>O</a:t>
            </a:r>
            <a:r>
              <a:rPr lang="en-US"/>
              <a:t>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 = { </a:t>
            </a: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): ∃ positive constants </a:t>
            </a:r>
            <a:r>
              <a:rPr lang="en-US" i="1"/>
              <a:t>c</a:t>
            </a:r>
            <a:r>
              <a:rPr lang="en-US"/>
              <a:t> and </a:t>
            </a:r>
            <a:r>
              <a:rPr lang="en-US" i="1"/>
              <a:t>n</a:t>
            </a:r>
            <a:r>
              <a:rPr lang="en-US" i="1" baseline="-25000"/>
              <a:t>0</a:t>
            </a:r>
            <a:r>
              <a:rPr lang="en-US" i="1"/>
              <a:t> </a:t>
            </a:r>
            <a:r>
              <a:rPr lang="en-US"/>
              <a:t>such that 0 ≤ </a:t>
            </a: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≤ </a:t>
            </a:r>
            <a:r>
              <a:rPr lang="en-US" i="1"/>
              <a:t>c</a:t>
            </a:r>
            <a:r>
              <a:rPr lang="en-US"/>
              <a:t> ⋅ 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∀ </a:t>
            </a:r>
            <a:r>
              <a:rPr lang="en-US" i="1"/>
              <a:t>n</a:t>
            </a:r>
            <a:r>
              <a:rPr lang="en-US"/>
              <a:t> ≥ </a:t>
            </a:r>
            <a:r>
              <a:rPr lang="en-US" i="1"/>
              <a:t>n</a:t>
            </a:r>
            <a:r>
              <a:rPr lang="en-US" i="1" baseline="-25000"/>
              <a:t>0 </a:t>
            </a:r>
            <a:r>
              <a:rPr lang="en-US"/>
              <a:t>}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603" name="Google Shape;2603;p11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04" name="Google Shape;2604;p11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05" name="Google Shape;2605;p11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119</a:t>
            </a:fld>
            <a:endParaRPr/>
          </a:p>
        </p:txBody>
      </p:sp>
      <p:sp>
        <p:nvSpPr>
          <p:cNvPr id="2606" name="Google Shape;2606;p11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Upper Bound Notation</a:t>
            </a:r>
            <a:endParaRPr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Google Shape;2611;p12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12" name="Google Shape;2612;p12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13" name="Google Shape;2613;p12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120</a:t>
            </a:fld>
            <a:endParaRPr/>
          </a:p>
        </p:txBody>
      </p:sp>
      <p:sp>
        <p:nvSpPr>
          <p:cNvPr id="2614" name="Google Shape;2614;p12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Upper Bound Notation</a:t>
            </a:r>
            <a:endParaRPr/>
          </a:p>
        </p:txBody>
      </p:sp>
      <p:cxnSp>
        <p:nvCxnSpPr>
          <p:cNvPr id="2615" name="Google Shape;2615;p120"/>
          <p:cNvCxnSpPr/>
          <p:nvPr/>
        </p:nvCxnSpPr>
        <p:spPr>
          <a:xfrm>
            <a:off x="3124200" y="1511450"/>
            <a:ext cx="0" cy="358140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16" name="Google Shape;2616;p120"/>
          <p:cNvCxnSpPr/>
          <p:nvPr/>
        </p:nvCxnSpPr>
        <p:spPr>
          <a:xfrm>
            <a:off x="3124200" y="5092850"/>
            <a:ext cx="54102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17" name="Google Shape;2617;p120"/>
          <p:cNvSpPr txBox="1"/>
          <p:nvPr/>
        </p:nvSpPr>
        <p:spPr>
          <a:xfrm>
            <a:off x="2209800" y="1435250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8" name="Google Shape;2618;p120"/>
          <p:cNvSpPr txBox="1"/>
          <p:nvPr/>
        </p:nvSpPr>
        <p:spPr>
          <a:xfrm>
            <a:off x="8001000" y="5092850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19" name="Google Shape;2619;p120"/>
          <p:cNvCxnSpPr/>
          <p:nvPr/>
        </p:nvCxnSpPr>
        <p:spPr>
          <a:xfrm rot="10800000">
            <a:off x="4572000" y="3264050"/>
            <a:ext cx="0" cy="182880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dot"/>
            <a:round/>
            <a:headEnd type="none" w="sm" len="sm"/>
            <a:tailEnd type="none" w="sm" len="sm"/>
          </a:ln>
        </p:spPr>
      </p:cxnSp>
      <p:sp>
        <p:nvSpPr>
          <p:cNvPr id="2620" name="Google Shape;2620;p120"/>
          <p:cNvSpPr txBox="1"/>
          <p:nvPr/>
        </p:nvSpPr>
        <p:spPr>
          <a:xfrm>
            <a:off x="4191000" y="5076975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 b="0" i="1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1" name="Google Shape;2621;p120"/>
          <p:cNvSpPr/>
          <p:nvPr/>
        </p:nvSpPr>
        <p:spPr>
          <a:xfrm>
            <a:off x="3124200" y="2425850"/>
            <a:ext cx="5486400" cy="1841500"/>
          </a:xfrm>
          <a:custGeom>
            <a:avLst/>
            <a:gdLst/>
            <a:ahLst/>
            <a:cxnLst/>
            <a:rect l="l" t="t" r="r" b="b"/>
            <a:pathLst>
              <a:path w="3456" h="1160" extrusionOk="0">
                <a:moveTo>
                  <a:pt x="0" y="816"/>
                </a:moveTo>
                <a:cubicBezTo>
                  <a:pt x="56" y="696"/>
                  <a:pt x="112" y="576"/>
                  <a:pt x="192" y="624"/>
                </a:cubicBezTo>
                <a:cubicBezTo>
                  <a:pt x="272" y="672"/>
                  <a:pt x="400" y="1160"/>
                  <a:pt x="480" y="1104"/>
                </a:cubicBezTo>
                <a:cubicBezTo>
                  <a:pt x="560" y="1048"/>
                  <a:pt x="584" y="360"/>
                  <a:pt x="672" y="288"/>
                </a:cubicBezTo>
                <a:cubicBezTo>
                  <a:pt x="760" y="216"/>
                  <a:pt x="864" y="560"/>
                  <a:pt x="1008" y="672"/>
                </a:cubicBezTo>
                <a:cubicBezTo>
                  <a:pt x="1152" y="784"/>
                  <a:pt x="1128" y="1072"/>
                  <a:pt x="1536" y="960"/>
                </a:cubicBezTo>
                <a:cubicBezTo>
                  <a:pt x="1944" y="848"/>
                  <a:pt x="3136" y="160"/>
                  <a:pt x="345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2" name="Google Shape;2622;p120"/>
          <p:cNvSpPr/>
          <p:nvPr/>
        </p:nvSpPr>
        <p:spPr>
          <a:xfrm>
            <a:off x="3124200" y="1511450"/>
            <a:ext cx="5486400" cy="2438400"/>
          </a:xfrm>
          <a:custGeom>
            <a:avLst/>
            <a:gdLst/>
            <a:ahLst/>
            <a:cxnLst/>
            <a:rect l="l" t="t" r="r" b="b"/>
            <a:pathLst>
              <a:path w="3456" h="1536" extrusionOk="0">
                <a:moveTo>
                  <a:pt x="0" y="1536"/>
                </a:moveTo>
                <a:cubicBezTo>
                  <a:pt x="140" y="1492"/>
                  <a:pt x="280" y="1448"/>
                  <a:pt x="384" y="1392"/>
                </a:cubicBezTo>
                <a:cubicBezTo>
                  <a:pt x="488" y="1336"/>
                  <a:pt x="488" y="1256"/>
                  <a:pt x="624" y="1200"/>
                </a:cubicBezTo>
                <a:cubicBezTo>
                  <a:pt x="760" y="1144"/>
                  <a:pt x="1016" y="1112"/>
                  <a:pt x="1200" y="1056"/>
                </a:cubicBezTo>
                <a:cubicBezTo>
                  <a:pt x="1384" y="1000"/>
                  <a:pt x="1488" y="960"/>
                  <a:pt x="1728" y="864"/>
                </a:cubicBezTo>
                <a:cubicBezTo>
                  <a:pt x="1968" y="768"/>
                  <a:pt x="2352" y="624"/>
                  <a:pt x="2640" y="480"/>
                </a:cubicBezTo>
                <a:cubicBezTo>
                  <a:pt x="2928" y="336"/>
                  <a:pt x="3192" y="168"/>
                  <a:pt x="345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3" name="Google Shape;2623;p120"/>
          <p:cNvSpPr txBox="1"/>
          <p:nvPr/>
        </p:nvSpPr>
        <p:spPr>
          <a:xfrm>
            <a:off x="8305800" y="2486175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4" name="Google Shape;2624;p120"/>
          <p:cNvSpPr txBox="1"/>
          <p:nvPr/>
        </p:nvSpPr>
        <p:spPr>
          <a:xfrm>
            <a:off x="8229600" y="1130450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5" name="Google Shape;2625;p120"/>
          <p:cNvSpPr/>
          <p:nvPr/>
        </p:nvSpPr>
        <p:spPr>
          <a:xfrm>
            <a:off x="1822450" y="5626250"/>
            <a:ext cx="7913688" cy="48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00"/>
              </a:buClr>
              <a:buSzPts val="2080"/>
              <a:buFont typeface="Noto Sans Symbols"/>
              <a:buNone/>
            </a:pPr>
            <a:r>
              <a:rPr lang="en-US" sz="2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say </a:t>
            </a:r>
            <a:r>
              <a:rPr lang="en-US" sz="2600" b="1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r>
              <a:rPr lang="en-US" sz="2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2600" b="1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-US" sz="2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sz="2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an </a:t>
            </a:r>
            <a:r>
              <a:rPr lang="en-US" sz="2600" b="1" i="1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asymptotic upper bound</a:t>
            </a:r>
            <a:r>
              <a:rPr lang="en-US" sz="2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</a:t>
            </a:r>
            <a:r>
              <a:rPr lang="en-US" sz="2600" b="1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</a:t>
            </a:r>
            <a:r>
              <a:rPr lang="en-US" sz="2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2600" b="1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-US" sz="26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0" name="Google Shape;2630;p121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We say InsertionSort’s run time is Ω(n)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In general a function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is Ω(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 if ∃ positive constants </a:t>
            </a:r>
            <a:r>
              <a:rPr lang="en-US" i="1"/>
              <a:t>c</a:t>
            </a:r>
            <a:r>
              <a:rPr lang="en-US"/>
              <a:t> and </a:t>
            </a:r>
            <a:r>
              <a:rPr lang="en-US" i="1"/>
              <a:t>n</a:t>
            </a:r>
            <a:r>
              <a:rPr lang="en-US" i="1" baseline="-25000"/>
              <a:t>0</a:t>
            </a:r>
            <a:r>
              <a:rPr lang="en-US" i="1"/>
              <a:t> </a:t>
            </a:r>
            <a:r>
              <a:rPr lang="en-US"/>
              <a:t>such that 0 ≤ </a:t>
            </a:r>
            <a:r>
              <a:rPr lang="en-US" i="1"/>
              <a:t>c⋅g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≤ </a:t>
            </a: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 ∀ </a:t>
            </a:r>
            <a:r>
              <a:rPr lang="en-US" i="1"/>
              <a:t>n</a:t>
            </a:r>
            <a:r>
              <a:rPr lang="en-US"/>
              <a:t> ≥ </a:t>
            </a:r>
            <a:r>
              <a:rPr lang="en-US" i="1"/>
              <a:t>n</a:t>
            </a:r>
            <a:r>
              <a:rPr lang="en-US" i="1" baseline="-25000"/>
              <a:t>0</a:t>
            </a:r>
            <a:endParaRPr i="1"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Proof: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Suppose run time is an + b</a:t>
            </a:r>
            <a:endParaRPr/>
          </a:p>
          <a:p>
            <a:pPr marL="114300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1560"/>
              <a:buChar char="●"/>
            </a:pPr>
            <a:r>
              <a:rPr lang="en-US"/>
              <a:t>Assume a and b are positive</a:t>
            </a:r>
            <a:endParaRPr>
              <a:solidFill>
                <a:schemeClr val="accent1"/>
              </a:solidFill>
            </a:endParaRPr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an ≤ an + b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631" name="Google Shape;2631;p12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32" name="Google Shape;2632;p12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33" name="Google Shape;2633;p12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121</a:t>
            </a:fld>
            <a:endParaRPr/>
          </a:p>
        </p:txBody>
      </p:sp>
      <p:sp>
        <p:nvSpPr>
          <p:cNvPr id="2634" name="Google Shape;2634;p12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Lower Bound Notation</a:t>
            </a:r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9" name="Google Shape;2639;p122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40" name="Google Shape;2640;p122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41" name="Google Shape;2641;p122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122</a:t>
            </a:fld>
            <a:endParaRPr/>
          </a:p>
        </p:txBody>
      </p:sp>
      <p:sp>
        <p:nvSpPr>
          <p:cNvPr id="2642" name="Google Shape;2642;p122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Lower Bound Notation</a:t>
            </a:r>
            <a:endParaRPr/>
          </a:p>
        </p:txBody>
      </p:sp>
      <p:cxnSp>
        <p:nvCxnSpPr>
          <p:cNvPr id="2643" name="Google Shape;2643;p122"/>
          <p:cNvCxnSpPr/>
          <p:nvPr/>
        </p:nvCxnSpPr>
        <p:spPr>
          <a:xfrm>
            <a:off x="3082159" y="1832125"/>
            <a:ext cx="0" cy="358140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44" name="Google Shape;2644;p122"/>
          <p:cNvCxnSpPr/>
          <p:nvPr/>
        </p:nvCxnSpPr>
        <p:spPr>
          <a:xfrm>
            <a:off x="3082159" y="5413525"/>
            <a:ext cx="54102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45" name="Google Shape;2645;p122"/>
          <p:cNvSpPr txBox="1"/>
          <p:nvPr/>
        </p:nvSpPr>
        <p:spPr>
          <a:xfrm>
            <a:off x="2167759" y="1755925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6" name="Google Shape;2646;p122"/>
          <p:cNvCxnSpPr/>
          <p:nvPr/>
        </p:nvCxnSpPr>
        <p:spPr>
          <a:xfrm rot="10800000">
            <a:off x="4529959" y="4575325"/>
            <a:ext cx="0" cy="83820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dot"/>
            <a:round/>
            <a:headEnd type="none" w="sm" len="sm"/>
            <a:tailEnd type="none" w="sm" len="sm"/>
          </a:ln>
        </p:spPr>
      </p:cxnSp>
      <p:sp>
        <p:nvSpPr>
          <p:cNvPr id="2647" name="Google Shape;2647;p122"/>
          <p:cNvSpPr txBox="1"/>
          <p:nvPr/>
        </p:nvSpPr>
        <p:spPr>
          <a:xfrm>
            <a:off x="4148959" y="5397650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 b="0" i="1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8" name="Google Shape;2648;p122"/>
          <p:cNvSpPr/>
          <p:nvPr/>
        </p:nvSpPr>
        <p:spPr>
          <a:xfrm>
            <a:off x="3082159" y="2746525"/>
            <a:ext cx="5486400" cy="2438400"/>
          </a:xfrm>
          <a:custGeom>
            <a:avLst/>
            <a:gdLst/>
            <a:ahLst/>
            <a:cxnLst/>
            <a:rect l="l" t="t" r="r" b="b"/>
            <a:pathLst>
              <a:path w="3456" h="1536" extrusionOk="0">
                <a:moveTo>
                  <a:pt x="0" y="1536"/>
                </a:moveTo>
                <a:cubicBezTo>
                  <a:pt x="140" y="1492"/>
                  <a:pt x="280" y="1448"/>
                  <a:pt x="384" y="1392"/>
                </a:cubicBezTo>
                <a:cubicBezTo>
                  <a:pt x="488" y="1336"/>
                  <a:pt x="488" y="1256"/>
                  <a:pt x="624" y="1200"/>
                </a:cubicBezTo>
                <a:cubicBezTo>
                  <a:pt x="760" y="1144"/>
                  <a:pt x="1016" y="1112"/>
                  <a:pt x="1200" y="1056"/>
                </a:cubicBezTo>
                <a:cubicBezTo>
                  <a:pt x="1384" y="1000"/>
                  <a:pt x="1488" y="960"/>
                  <a:pt x="1728" y="864"/>
                </a:cubicBezTo>
                <a:cubicBezTo>
                  <a:pt x="1968" y="768"/>
                  <a:pt x="2352" y="624"/>
                  <a:pt x="2640" y="480"/>
                </a:cubicBezTo>
                <a:cubicBezTo>
                  <a:pt x="2928" y="336"/>
                  <a:pt x="3192" y="168"/>
                  <a:pt x="345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9" name="Google Shape;2649;p122"/>
          <p:cNvSpPr txBox="1"/>
          <p:nvPr/>
        </p:nvSpPr>
        <p:spPr>
          <a:xfrm>
            <a:off x="8263759" y="2806850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0" name="Google Shape;2650;p122"/>
          <p:cNvSpPr txBox="1"/>
          <p:nvPr/>
        </p:nvSpPr>
        <p:spPr>
          <a:xfrm>
            <a:off x="8187559" y="1451125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1" name="Google Shape;2651;p122"/>
          <p:cNvSpPr/>
          <p:nvPr/>
        </p:nvSpPr>
        <p:spPr>
          <a:xfrm>
            <a:off x="3310759" y="1755925"/>
            <a:ext cx="5105400" cy="3657600"/>
          </a:xfrm>
          <a:custGeom>
            <a:avLst/>
            <a:gdLst/>
            <a:ahLst/>
            <a:cxnLst/>
            <a:rect l="l" t="t" r="r" b="b"/>
            <a:pathLst>
              <a:path w="3216" h="2304" extrusionOk="0">
                <a:moveTo>
                  <a:pt x="0" y="2304"/>
                </a:moveTo>
                <a:cubicBezTo>
                  <a:pt x="8" y="2032"/>
                  <a:pt x="16" y="1760"/>
                  <a:pt x="96" y="1728"/>
                </a:cubicBezTo>
                <a:cubicBezTo>
                  <a:pt x="176" y="1696"/>
                  <a:pt x="360" y="2128"/>
                  <a:pt x="480" y="2112"/>
                </a:cubicBezTo>
                <a:cubicBezTo>
                  <a:pt x="600" y="2096"/>
                  <a:pt x="704" y="1792"/>
                  <a:pt x="816" y="1632"/>
                </a:cubicBezTo>
                <a:cubicBezTo>
                  <a:pt x="928" y="1472"/>
                  <a:pt x="752" y="1424"/>
                  <a:pt x="1152" y="1152"/>
                </a:cubicBezTo>
                <a:cubicBezTo>
                  <a:pt x="1552" y="880"/>
                  <a:pt x="2384" y="440"/>
                  <a:pt x="321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6" name="Google Shape;2656;p123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1950"/>
              <a:buFont typeface="Noto Sans Symbols"/>
              <a:buNone/>
            </a:pPr>
            <a:r>
              <a:rPr lang="en-US" sz="2600"/>
              <a:t>A function </a:t>
            </a:r>
            <a:r>
              <a:rPr lang="en-US" sz="2600" i="1"/>
              <a:t>f</a:t>
            </a:r>
            <a:r>
              <a:rPr lang="en-US" sz="2600"/>
              <a:t>(</a:t>
            </a:r>
            <a:r>
              <a:rPr lang="en-US" sz="2600" i="1"/>
              <a:t>n</a:t>
            </a:r>
            <a:r>
              <a:rPr lang="en-US" sz="2600"/>
              <a:t>) is Θ(</a:t>
            </a:r>
            <a:r>
              <a:rPr lang="en-US" sz="2600" i="1"/>
              <a:t>g</a:t>
            </a:r>
            <a:r>
              <a:rPr lang="en-US" sz="2600"/>
              <a:t>(</a:t>
            </a:r>
            <a:r>
              <a:rPr lang="en-US" sz="2600" i="1"/>
              <a:t>n</a:t>
            </a:r>
            <a:r>
              <a:rPr lang="en-US" sz="2600"/>
              <a:t>)) if ∃ positive constants </a:t>
            </a:r>
            <a:r>
              <a:rPr lang="en-US" sz="2600" i="1"/>
              <a:t>c</a:t>
            </a:r>
            <a:r>
              <a:rPr lang="en-US" sz="2600" baseline="-25000"/>
              <a:t>1</a:t>
            </a:r>
            <a:r>
              <a:rPr lang="en-US" sz="2600"/>
              <a:t>, </a:t>
            </a:r>
            <a:r>
              <a:rPr lang="en-US" sz="2600" i="1"/>
              <a:t>c</a:t>
            </a:r>
            <a:r>
              <a:rPr lang="en-US" sz="2600" baseline="-25000"/>
              <a:t>2</a:t>
            </a:r>
            <a:r>
              <a:rPr lang="en-US" sz="2600"/>
              <a:t>, and </a:t>
            </a:r>
            <a:r>
              <a:rPr lang="en-US" sz="2600" i="1"/>
              <a:t>n</a:t>
            </a:r>
            <a:r>
              <a:rPr lang="en-US" sz="2600" baseline="-25000"/>
              <a:t>0</a:t>
            </a:r>
            <a:r>
              <a:rPr lang="en-US" sz="2600"/>
              <a:t> such that </a:t>
            </a:r>
            <a:br>
              <a:rPr lang="en-US" sz="2600"/>
            </a:br>
            <a:r>
              <a:rPr lang="en-US" sz="2600"/>
              <a:t>	</a:t>
            </a:r>
            <a:br>
              <a:rPr lang="en-US" sz="2600"/>
            </a:br>
            <a:r>
              <a:rPr lang="en-US" sz="2600"/>
              <a:t>	 0 ≤</a:t>
            </a:r>
            <a:r>
              <a:rPr lang="en-US"/>
              <a:t> </a:t>
            </a:r>
            <a:r>
              <a:rPr lang="en-US" sz="2600" i="1"/>
              <a:t>c</a:t>
            </a:r>
            <a:r>
              <a:rPr lang="en-US" sz="2600" baseline="-25000"/>
              <a:t>1</a:t>
            </a:r>
            <a:r>
              <a:rPr lang="en-US" sz="2600"/>
              <a:t> </a:t>
            </a:r>
            <a:r>
              <a:rPr lang="en-US" sz="2600" i="1"/>
              <a:t>g</a:t>
            </a:r>
            <a:r>
              <a:rPr lang="en-US" sz="2600"/>
              <a:t>(</a:t>
            </a:r>
            <a:r>
              <a:rPr lang="en-US" sz="2600" i="1"/>
              <a:t>n</a:t>
            </a:r>
            <a:r>
              <a:rPr lang="en-US" sz="2600"/>
              <a:t>) ≤ </a:t>
            </a:r>
            <a:r>
              <a:rPr lang="en-US" sz="2600" i="1"/>
              <a:t>f</a:t>
            </a:r>
            <a:r>
              <a:rPr lang="en-US" sz="2600"/>
              <a:t>(</a:t>
            </a:r>
            <a:r>
              <a:rPr lang="en-US" sz="2600" i="1"/>
              <a:t>n</a:t>
            </a:r>
            <a:r>
              <a:rPr lang="en-US" sz="2600"/>
              <a:t>) ≤ </a:t>
            </a:r>
            <a:r>
              <a:rPr lang="en-US" sz="2600" i="1"/>
              <a:t>c</a:t>
            </a:r>
            <a:r>
              <a:rPr lang="en-US" sz="2600" baseline="-25000"/>
              <a:t>2</a:t>
            </a:r>
            <a:r>
              <a:rPr lang="en-US" sz="2600"/>
              <a:t> </a:t>
            </a:r>
            <a:r>
              <a:rPr lang="en-US" sz="2600" i="1"/>
              <a:t>g</a:t>
            </a:r>
            <a:r>
              <a:rPr lang="en-US" sz="2600"/>
              <a:t>(</a:t>
            </a:r>
            <a:r>
              <a:rPr lang="en-US" sz="2600" i="1"/>
              <a:t>n</a:t>
            </a:r>
            <a:r>
              <a:rPr lang="en-US" sz="2600"/>
              <a:t>) ∀ </a:t>
            </a:r>
            <a:r>
              <a:rPr lang="en-US" sz="2600" i="1"/>
              <a:t>n</a:t>
            </a:r>
            <a:r>
              <a:rPr lang="en-US" sz="2600"/>
              <a:t> ≥ </a:t>
            </a:r>
            <a:r>
              <a:rPr lang="en-US" sz="2600" i="1"/>
              <a:t>n</a:t>
            </a:r>
            <a:r>
              <a:rPr lang="en-US" sz="2600" baseline="-25000"/>
              <a:t>0</a:t>
            </a:r>
            <a:endParaRPr sz="2600"/>
          </a:p>
          <a:p>
            <a:pPr marL="0" marR="0" lvl="0" indent="0" algn="l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33CC"/>
              </a:buClr>
              <a:buSzPts val="1950"/>
              <a:buFont typeface="Noto Sans Symbols"/>
              <a:buNone/>
            </a:pPr>
            <a:endParaRPr sz="2600"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r>
              <a:rPr lang="en-US"/>
              <a:t>Theorem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is Θ(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 iff </a:t>
            </a:r>
            <a:r>
              <a:rPr lang="en-US" i="1"/>
              <a:t>f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 is both </a:t>
            </a:r>
            <a:r>
              <a:rPr lang="en-US" i="1"/>
              <a:t>O</a:t>
            </a:r>
            <a:r>
              <a:rPr lang="en-US"/>
              <a:t>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 and Ω(</a:t>
            </a:r>
            <a:r>
              <a:rPr lang="en-US" i="1"/>
              <a:t>g</a:t>
            </a:r>
            <a:r>
              <a:rPr lang="en-US"/>
              <a:t>(</a:t>
            </a:r>
            <a:r>
              <a:rPr lang="en-US" i="1"/>
              <a:t>n</a:t>
            </a:r>
            <a:r>
              <a:rPr lang="en-US"/>
              <a:t>))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1820"/>
              <a:buChar char="●"/>
            </a:pPr>
            <a:r>
              <a:rPr lang="en-US"/>
              <a:t>Proof: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657" name="Google Shape;2657;p123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58" name="Google Shape;2658;p123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59" name="Google Shape;2659;p123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123</a:t>
            </a:fld>
            <a:endParaRPr/>
          </a:p>
        </p:txBody>
      </p:sp>
      <p:sp>
        <p:nvSpPr>
          <p:cNvPr id="2660" name="Google Shape;2660;p123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Asymptotic Tight Bound Notation</a:t>
            </a:r>
            <a:endParaRPr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5" name="Google Shape;2665;p124"/>
          <p:cNvSpPr txBox="1">
            <a:spLocks noGrp="1"/>
          </p:cNvSpPr>
          <p:nvPr>
            <p:ph type="body" idx="1"/>
          </p:nvPr>
        </p:nvSpPr>
        <p:spPr>
          <a:xfrm>
            <a:off x="838200" y="1227909"/>
            <a:ext cx="10515600" cy="494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400"/>
              <a:buFont typeface="Noto Sans Symbols"/>
              <a:buNone/>
            </a:pPr>
            <a:endParaRPr/>
          </a:p>
        </p:txBody>
      </p:sp>
      <p:sp>
        <p:nvSpPr>
          <p:cNvPr id="2666" name="Google Shape;2666;p124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67" name="Google Shape;2667;p124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68" name="Google Shape;2668;p124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124</a:t>
            </a:fld>
            <a:endParaRPr/>
          </a:p>
        </p:txBody>
      </p:sp>
      <p:sp>
        <p:nvSpPr>
          <p:cNvPr id="2669" name="Google Shape;2669;p124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Asymptotic Tight Bound Notation</a:t>
            </a:r>
            <a:endParaRPr/>
          </a:p>
        </p:txBody>
      </p:sp>
      <p:cxnSp>
        <p:nvCxnSpPr>
          <p:cNvPr id="2670" name="Google Shape;2670;p124"/>
          <p:cNvCxnSpPr/>
          <p:nvPr/>
        </p:nvCxnSpPr>
        <p:spPr>
          <a:xfrm>
            <a:off x="3276600" y="1906888"/>
            <a:ext cx="0" cy="358140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671" name="Google Shape;2671;p124"/>
          <p:cNvCxnSpPr/>
          <p:nvPr/>
        </p:nvCxnSpPr>
        <p:spPr>
          <a:xfrm>
            <a:off x="3276600" y="5488288"/>
            <a:ext cx="54102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72" name="Google Shape;2672;p124"/>
          <p:cNvSpPr txBox="1"/>
          <p:nvPr/>
        </p:nvSpPr>
        <p:spPr>
          <a:xfrm>
            <a:off x="2362200" y="1830688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3" name="Google Shape;2673;p124"/>
          <p:cNvSpPr txBox="1"/>
          <p:nvPr/>
        </p:nvSpPr>
        <p:spPr>
          <a:xfrm>
            <a:off x="8153400" y="5488288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74" name="Google Shape;2674;p124"/>
          <p:cNvCxnSpPr/>
          <p:nvPr/>
        </p:nvCxnSpPr>
        <p:spPr>
          <a:xfrm rot="10800000">
            <a:off x="4724400" y="3278488"/>
            <a:ext cx="0" cy="2209800"/>
          </a:xfrm>
          <a:prstGeom prst="straightConnector1">
            <a:avLst/>
          </a:prstGeom>
          <a:noFill/>
          <a:ln w="12700" cap="rnd" cmpd="sng">
            <a:solidFill>
              <a:schemeClr val="dk1"/>
            </a:solidFill>
            <a:prstDash val="dot"/>
            <a:round/>
            <a:headEnd type="none" w="sm" len="sm"/>
            <a:tailEnd type="none" w="sm" len="sm"/>
          </a:ln>
        </p:spPr>
      </p:cxnSp>
      <p:sp>
        <p:nvSpPr>
          <p:cNvPr id="2675" name="Google Shape;2675;p124"/>
          <p:cNvSpPr txBox="1"/>
          <p:nvPr/>
        </p:nvSpPr>
        <p:spPr>
          <a:xfrm>
            <a:off x="4343400" y="5472413"/>
            <a:ext cx="7620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000" b="0" i="1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6" name="Google Shape;2676;p124"/>
          <p:cNvSpPr/>
          <p:nvPr/>
        </p:nvSpPr>
        <p:spPr>
          <a:xfrm>
            <a:off x="3276600" y="2821288"/>
            <a:ext cx="5486400" cy="2438400"/>
          </a:xfrm>
          <a:custGeom>
            <a:avLst/>
            <a:gdLst/>
            <a:ahLst/>
            <a:cxnLst/>
            <a:rect l="l" t="t" r="r" b="b"/>
            <a:pathLst>
              <a:path w="3456" h="1536" extrusionOk="0">
                <a:moveTo>
                  <a:pt x="0" y="1536"/>
                </a:moveTo>
                <a:cubicBezTo>
                  <a:pt x="140" y="1492"/>
                  <a:pt x="280" y="1448"/>
                  <a:pt x="384" y="1392"/>
                </a:cubicBezTo>
                <a:cubicBezTo>
                  <a:pt x="488" y="1336"/>
                  <a:pt x="488" y="1256"/>
                  <a:pt x="624" y="1200"/>
                </a:cubicBezTo>
                <a:cubicBezTo>
                  <a:pt x="760" y="1144"/>
                  <a:pt x="1016" y="1112"/>
                  <a:pt x="1200" y="1056"/>
                </a:cubicBezTo>
                <a:cubicBezTo>
                  <a:pt x="1384" y="1000"/>
                  <a:pt x="1488" y="960"/>
                  <a:pt x="1728" y="864"/>
                </a:cubicBezTo>
                <a:cubicBezTo>
                  <a:pt x="1968" y="768"/>
                  <a:pt x="2352" y="624"/>
                  <a:pt x="2640" y="480"/>
                </a:cubicBezTo>
                <a:cubicBezTo>
                  <a:pt x="2928" y="336"/>
                  <a:pt x="3192" y="168"/>
                  <a:pt x="345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7" name="Google Shape;2677;p124"/>
          <p:cNvSpPr txBox="1"/>
          <p:nvPr/>
        </p:nvSpPr>
        <p:spPr>
          <a:xfrm>
            <a:off x="8458200" y="2881613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 b="1" i="1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8" name="Google Shape;2678;p124"/>
          <p:cNvSpPr txBox="1"/>
          <p:nvPr/>
        </p:nvSpPr>
        <p:spPr>
          <a:xfrm>
            <a:off x="8382000" y="1525888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9" name="Google Shape;2679;p124"/>
          <p:cNvSpPr/>
          <p:nvPr/>
        </p:nvSpPr>
        <p:spPr>
          <a:xfrm>
            <a:off x="3505200" y="1830688"/>
            <a:ext cx="5105400" cy="3657600"/>
          </a:xfrm>
          <a:custGeom>
            <a:avLst/>
            <a:gdLst/>
            <a:ahLst/>
            <a:cxnLst/>
            <a:rect l="l" t="t" r="r" b="b"/>
            <a:pathLst>
              <a:path w="3216" h="2304" extrusionOk="0">
                <a:moveTo>
                  <a:pt x="0" y="2304"/>
                </a:moveTo>
                <a:cubicBezTo>
                  <a:pt x="8" y="2032"/>
                  <a:pt x="16" y="1760"/>
                  <a:pt x="96" y="1728"/>
                </a:cubicBezTo>
                <a:cubicBezTo>
                  <a:pt x="176" y="1696"/>
                  <a:pt x="360" y="2128"/>
                  <a:pt x="480" y="2112"/>
                </a:cubicBezTo>
                <a:cubicBezTo>
                  <a:pt x="600" y="2096"/>
                  <a:pt x="704" y="1792"/>
                  <a:pt x="816" y="1632"/>
                </a:cubicBezTo>
                <a:cubicBezTo>
                  <a:pt x="928" y="1472"/>
                  <a:pt x="752" y="1424"/>
                  <a:pt x="1152" y="1152"/>
                </a:cubicBezTo>
                <a:cubicBezTo>
                  <a:pt x="1552" y="880"/>
                  <a:pt x="2384" y="440"/>
                  <a:pt x="3216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0" name="Google Shape;2680;p124"/>
          <p:cNvSpPr/>
          <p:nvPr/>
        </p:nvSpPr>
        <p:spPr>
          <a:xfrm>
            <a:off x="3276600" y="1221088"/>
            <a:ext cx="4876800" cy="4267200"/>
          </a:xfrm>
          <a:custGeom>
            <a:avLst/>
            <a:gdLst/>
            <a:ahLst/>
            <a:cxnLst/>
            <a:rect l="l" t="t" r="r" b="b"/>
            <a:pathLst>
              <a:path w="3072" h="2688" extrusionOk="0">
                <a:moveTo>
                  <a:pt x="0" y="2688"/>
                </a:moveTo>
                <a:cubicBezTo>
                  <a:pt x="168" y="2488"/>
                  <a:pt x="336" y="2288"/>
                  <a:pt x="480" y="2064"/>
                </a:cubicBezTo>
                <a:cubicBezTo>
                  <a:pt x="624" y="1840"/>
                  <a:pt x="728" y="1552"/>
                  <a:pt x="864" y="1344"/>
                </a:cubicBezTo>
                <a:cubicBezTo>
                  <a:pt x="1000" y="1136"/>
                  <a:pt x="928" y="1040"/>
                  <a:pt x="1296" y="816"/>
                </a:cubicBezTo>
                <a:cubicBezTo>
                  <a:pt x="1664" y="592"/>
                  <a:pt x="2368" y="296"/>
                  <a:pt x="3072" y="0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124"/>
          <p:cNvSpPr txBox="1"/>
          <p:nvPr/>
        </p:nvSpPr>
        <p:spPr>
          <a:xfrm>
            <a:off x="8001000" y="1068688"/>
            <a:ext cx="990600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2000" b="1" i="1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2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g(n)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6" name="Google Shape;2686;g3a23eea49eb_0_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87" name="Google Shape;2687;g3a23eea49eb_0_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88" name="Google Shape;2688;g3a23eea49eb_0_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125</a:t>
            </a:fld>
            <a:endParaRPr/>
          </a:p>
        </p:txBody>
      </p:sp>
      <p:sp>
        <p:nvSpPr>
          <p:cNvPr id="2689" name="Google Shape;2689;g3a23eea49eb_0_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690" name="Google Shape;2690;g3a23eea49eb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3513" y="1146525"/>
            <a:ext cx="10904974" cy="5346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g3a23eea49eb_0_21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696" name="Google Shape;2696;g3a23eea49eb_0_21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697" name="Google Shape;2697;g3a23eea49eb_0_21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126</a:t>
            </a:fld>
            <a:endParaRPr/>
          </a:p>
        </p:txBody>
      </p:sp>
      <p:sp>
        <p:nvSpPr>
          <p:cNvPr id="2698" name="Google Shape;2698;g3a23eea49eb_0_21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699" name="Google Shape;2699;g3a23eea49eb_0_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1150" y="1113075"/>
            <a:ext cx="10429700" cy="527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4" name="Google Shape;2704;g3a23eea49eb_0_3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05" name="Google Shape;2705;g3a23eea49eb_0_3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06" name="Google Shape;2706;g3a23eea49eb_0_3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127</a:t>
            </a:fld>
            <a:endParaRPr/>
          </a:p>
        </p:txBody>
      </p:sp>
      <p:sp>
        <p:nvSpPr>
          <p:cNvPr id="2707" name="Google Shape;2707;g3a23eea49eb_0_3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708" name="Google Shape;2708;g3a23eea49eb_0_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041275"/>
            <a:ext cx="10186350" cy="515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Google Shape;2713;g3a23eea49eb_0_39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14" name="Google Shape;2714;g3a23eea49eb_0_39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15" name="Google Shape;2715;g3a23eea49eb_0_39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128</a:t>
            </a:fld>
            <a:endParaRPr/>
          </a:p>
        </p:txBody>
      </p:sp>
      <p:sp>
        <p:nvSpPr>
          <p:cNvPr id="2716" name="Google Shape;2716;g3a23eea49eb_0_39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717" name="Google Shape;2717;g3a23eea49eb_0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113075"/>
            <a:ext cx="10214075" cy="537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2" name="Google Shape;2722;g3a23eea49eb_0_48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23" name="Google Shape;2723;g3a23eea49eb_0_48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24" name="Google Shape;2724;g3a23eea49eb_0_48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129</a:t>
            </a:fld>
            <a:endParaRPr/>
          </a:p>
        </p:txBody>
      </p:sp>
      <p:sp>
        <p:nvSpPr>
          <p:cNvPr id="2725" name="Google Shape;2725;g3a23eea49eb_0_48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726" name="Google Shape;2726;g3a23eea49eb_0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005350"/>
            <a:ext cx="10515600" cy="520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1" name="Google Shape;2731;g3a23eea49eb_0_57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32" name="Google Shape;2732;g3a23eea49eb_0_57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33" name="Google Shape;2733;g3a23eea49eb_0_57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130</a:t>
            </a:fld>
            <a:endParaRPr/>
          </a:p>
        </p:txBody>
      </p:sp>
      <p:sp>
        <p:nvSpPr>
          <p:cNvPr id="2734" name="Google Shape;2734;g3a23eea49eb_0_57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735" name="Google Shape;2735;g3a23eea49eb_0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005350"/>
            <a:ext cx="10515600" cy="554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0" name="Google Shape;2740;g3a23eea49eb_0_66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41" name="Google Shape;2741;g3a23eea49eb_0_66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42" name="Google Shape;2742;g3a23eea49eb_0_66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131</a:t>
            </a:fld>
            <a:endParaRPr/>
          </a:p>
        </p:txBody>
      </p:sp>
      <p:sp>
        <p:nvSpPr>
          <p:cNvPr id="2743" name="Google Shape;2743;g3a23eea49eb_0_66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Practical Complexity</a:t>
            </a:r>
            <a:endParaRPr/>
          </a:p>
        </p:txBody>
      </p:sp>
      <p:pic>
        <p:nvPicPr>
          <p:cNvPr id="2744" name="Google Shape;2744;g3a23eea49eb_0_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4988" y="1031575"/>
            <a:ext cx="8562025" cy="546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9" name="Google Shape;2749;g3a23eea49eb_0_7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50" name="Google Shape;2750;g3a23eea49eb_0_7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51" name="Google Shape;2751;g3a23eea49eb_0_7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132</a:t>
            </a:fld>
            <a:endParaRPr/>
          </a:p>
        </p:txBody>
      </p:sp>
      <p:sp>
        <p:nvSpPr>
          <p:cNvPr id="2752" name="Google Shape;2752;g3a23eea49eb_0_75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Times New Roman"/>
              <a:buNone/>
            </a:pPr>
            <a:r>
              <a:rPr lang="en-US"/>
              <a:t>Other Asymptotic Notations and Intuitions</a:t>
            </a:r>
            <a:endParaRPr/>
          </a:p>
        </p:txBody>
      </p:sp>
      <p:pic>
        <p:nvPicPr>
          <p:cNvPr id="2753" name="Google Shape;2753;g3a23eea49eb_0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43950" y="1162875"/>
            <a:ext cx="9504725" cy="4919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8" name="Google Shape;2758;g2665f4aafad_0_0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59" name="Google Shape;2759;g2665f4aafad_0_0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60" name="Google Shape;2760;g2665f4aafad_0_0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133</a:t>
            </a:fld>
            <a:endParaRPr/>
          </a:p>
        </p:txBody>
      </p:sp>
      <p:sp>
        <p:nvSpPr>
          <p:cNvPr id="2761" name="Google Shape;2761;g2665f4aafad_0_0"/>
          <p:cNvSpPr txBox="1">
            <a:spLocks noGrp="1"/>
          </p:cNvSpPr>
          <p:nvPr>
            <p:ph type="title"/>
          </p:nvPr>
        </p:nvSpPr>
        <p:spPr>
          <a:xfrm>
            <a:off x="838200" y="148046"/>
            <a:ext cx="1051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Times New Roman"/>
              <a:buNone/>
            </a:pPr>
            <a:r>
              <a:rPr lang="en-US" sz="3600"/>
              <a:t>What does the best case and the worst case imply?</a:t>
            </a:r>
            <a:endParaRPr/>
          </a:p>
        </p:txBody>
      </p:sp>
      <p:sp>
        <p:nvSpPr>
          <p:cNvPr id="2762" name="Google Shape;2762;g2665f4aafad_0_0"/>
          <p:cNvSpPr/>
          <p:nvPr/>
        </p:nvSpPr>
        <p:spPr>
          <a:xfrm>
            <a:off x="1809946" y="4830317"/>
            <a:ext cx="8672700" cy="56700"/>
          </a:xfrm>
          <a:prstGeom prst="rect">
            <a:avLst/>
          </a:prstGeom>
          <a:solidFill>
            <a:schemeClr val="dk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3" name="Google Shape;2763;g2665f4aafad_0_0"/>
          <p:cNvSpPr/>
          <p:nvPr/>
        </p:nvSpPr>
        <p:spPr>
          <a:xfrm rot="10800000">
            <a:off x="1810051" y="1875317"/>
            <a:ext cx="48600" cy="2955000"/>
          </a:xfrm>
          <a:prstGeom prst="rect">
            <a:avLst/>
          </a:prstGeom>
          <a:solidFill>
            <a:schemeClr val="dk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4" name="Google Shape;2764;g2665f4aafad_0_0"/>
          <p:cNvSpPr txBox="1"/>
          <p:nvPr/>
        </p:nvSpPr>
        <p:spPr>
          <a:xfrm>
            <a:off x="838200" y="3253493"/>
            <a:ext cx="649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5" name="Google Shape;2765;g2665f4aafad_0_0"/>
          <p:cNvSpPr txBox="1"/>
          <p:nvPr/>
        </p:nvSpPr>
        <p:spPr>
          <a:xfrm>
            <a:off x="5176101" y="4999023"/>
            <a:ext cx="2300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Number of elements 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66" name="Google Shape;2766;g2665f4aafad_0_0"/>
          <p:cNvCxnSpPr>
            <a:stCxn id="2763" idx="0"/>
          </p:cNvCxnSpPr>
          <p:nvPr/>
        </p:nvCxnSpPr>
        <p:spPr>
          <a:xfrm rot="10800000" flipH="1">
            <a:off x="1834351" y="4091117"/>
            <a:ext cx="3755700" cy="73920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67" name="Google Shape;2767;g2665f4aafad_0_0"/>
          <p:cNvSpPr txBox="1"/>
          <p:nvPr/>
        </p:nvSpPr>
        <p:spPr>
          <a:xfrm>
            <a:off x="7071281" y="3335402"/>
            <a:ext cx="1468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T(n) = an + 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8" name="Google Shape;2768;g2665f4aafad_0_0"/>
          <p:cNvSpPr/>
          <p:nvPr/>
        </p:nvSpPr>
        <p:spPr>
          <a:xfrm rot="-1778817">
            <a:off x="-1557726" y="1334496"/>
            <a:ext cx="8120219" cy="3011109"/>
          </a:xfrm>
          <a:prstGeom prst="arc">
            <a:avLst>
              <a:gd name="adj1" fmla="val 1171830"/>
              <a:gd name="adj2" fmla="val 8345592"/>
            </a:avLst>
          </a:prstGeom>
          <a:noFill/>
          <a:ln w="762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9" name="Google Shape;2769;g2665f4aafad_0_0"/>
          <p:cNvSpPr txBox="1"/>
          <p:nvPr/>
        </p:nvSpPr>
        <p:spPr>
          <a:xfrm>
            <a:off x="5125854" y="1822879"/>
            <a:ext cx="2343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T(n) = an</a:t>
            </a:r>
            <a:r>
              <a:rPr lang="en-US" sz="2000" b="1" i="0" u="none" strike="noStrike" cap="none" baseline="3000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800" b="1" i="0" u="none" strike="noStrike" cap="non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 + bn + 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4" name="Google Shape;2774;p12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NEXT CLASS</a:t>
            </a:r>
            <a:endParaRPr/>
          </a:p>
        </p:txBody>
      </p:sp>
      <p:sp>
        <p:nvSpPr>
          <p:cNvPr id="2775" name="Google Shape;2775;p12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/>
              <a:t>A bit more about asymptotic notations and more on other algorithms</a:t>
            </a:r>
            <a:endParaRPr/>
          </a:p>
        </p:txBody>
      </p:sp>
      <p:sp>
        <p:nvSpPr>
          <p:cNvPr id="2776" name="Google Shape;2776;p125"/>
          <p:cNvSpPr txBox="1">
            <a:spLocks noGrp="1"/>
          </p:cNvSpPr>
          <p:nvPr>
            <p:ph type="dt" idx="10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77" name="Google Shape;2777;p125"/>
          <p:cNvSpPr txBox="1">
            <a:spLocks noGrp="1"/>
          </p:cNvSpPr>
          <p:nvPr>
            <p:ph type="ftr" idx="11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78" name="Google Shape;2778;p125"/>
          <p:cNvSpPr txBox="1">
            <a:spLocks noGrp="1"/>
          </p:cNvSpPr>
          <p:nvPr>
            <p:ph type="sldNum" idx="12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134</a:t>
            </a:fld>
            <a:endParaRPr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3" name="Google Shape;2783;p1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400"/>
              <a:buFont typeface="Times New Roman"/>
              <a:buNone/>
            </a:pPr>
            <a:r>
              <a:rPr lang="en-US"/>
              <a:t>Thank You</a:t>
            </a:r>
            <a:endParaRPr/>
          </a:p>
        </p:txBody>
      </p:sp>
      <p:sp>
        <p:nvSpPr>
          <p:cNvPr id="2784" name="Google Shape;2784;p1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50"/>
              <a:buFont typeface="Arial"/>
              <a:buNone/>
            </a:pPr>
            <a:endParaRPr/>
          </a:p>
        </p:txBody>
      </p:sp>
      <p:sp>
        <p:nvSpPr>
          <p:cNvPr id="2785" name="Google Shape;2785;p126"/>
          <p:cNvSpPr txBox="1">
            <a:spLocks noGrp="1"/>
          </p:cNvSpPr>
          <p:nvPr>
            <p:ph type="dt" idx="10"/>
          </p:nvPr>
        </p:nvSpPr>
        <p:spPr>
          <a:xfrm>
            <a:off x="8556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Fall 2025</a:t>
            </a:r>
            <a:endParaRPr/>
          </a:p>
        </p:txBody>
      </p:sp>
      <p:sp>
        <p:nvSpPr>
          <p:cNvPr id="2786" name="Google Shape;2786;p126"/>
          <p:cNvSpPr txBox="1">
            <a:spLocks noGrp="1"/>
          </p:cNvSpPr>
          <p:nvPr>
            <p:ph type="ftr" idx="11"/>
          </p:nvPr>
        </p:nvSpPr>
        <p:spPr>
          <a:xfrm>
            <a:off x="4056017" y="649287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Asif Abrar, Dept of CSE, UIU</a:t>
            </a:r>
            <a:endParaRPr/>
          </a:p>
        </p:txBody>
      </p:sp>
      <p:sp>
        <p:nvSpPr>
          <p:cNvPr id="2787" name="Google Shape;2787;p126"/>
          <p:cNvSpPr txBox="1">
            <a:spLocks noGrp="1"/>
          </p:cNvSpPr>
          <p:nvPr>
            <p:ph type="sldNum" idx="12"/>
          </p:nvPr>
        </p:nvSpPr>
        <p:spPr>
          <a:xfrm>
            <a:off x="8628017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135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4716</Words>
  <Application>Microsoft Office PowerPoint</Application>
  <PresentationFormat>Widescreen</PresentationFormat>
  <Paragraphs>1439</Paragraphs>
  <Slides>135</Slides>
  <Notes>135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42" baseType="lpstr">
      <vt:lpstr>Noto Sans Symbols</vt:lpstr>
      <vt:lpstr>Times New Roman</vt:lpstr>
      <vt:lpstr>Tahoma</vt:lpstr>
      <vt:lpstr>Calibri</vt:lpstr>
      <vt:lpstr>Arial</vt:lpstr>
      <vt:lpstr>Office Theme</vt:lpstr>
      <vt:lpstr>MS_ClipArt_Gallery.2</vt:lpstr>
      <vt:lpstr>CSE 2215: Data Structure and Algorithms-I</vt:lpstr>
      <vt:lpstr>The Course</vt:lpstr>
      <vt:lpstr>Contents</vt:lpstr>
      <vt:lpstr>INTRODUCTION TO DATA STRUCTURES</vt:lpstr>
      <vt:lpstr>What is a Data Structure?</vt:lpstr>
      <vt:lpstr>Types of Data Structures</vt:lpstr>
      <vt:lpstr>INTRODUCTION TO ALGORITHMS</vt:lpstr>
      <vt:lpstr>What is an Algorithm?</vt:lpstr>
      <vt:lpstr>What is a Program?</vt:lpstr>
      <vt:lpstr>Algorithm vs Program</vt:lpstr>
      <vt:lpstr>The Big Picture</vt:lpstr>
      <vt:lpstr>ANALYSIS OF ALGORITHM</vt:lpstr>
      <vt:lpstr>Necessity of Analysis of Algorithms</vt:lpstr>
      <vt:lpstr>What do we Analyze in an algorithm? </vt:lpstr>
      <vt:lpstr>Analysis Based on Input Size</vt:lpstr>
      <vt:lpstr>Insertion Sort</vt:lpstr>
      <vt:lpstr>An Example: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Analyzing Insertion Sort</vt:lpstr>
      <vt:lpstr>Best Case</vt:lpstr>
      <vt:lpstr>Worst Case</vt:lpstr>
      <vt:lpstr>Average Case</vt:lpstr>
      <vt:lpstr>ASYMPTOTIC ANALYSIS</vt:lpstr>
      <vt:lpstr>Asymptotic Analysis</vt:lpstr>
      <vt:lpstr>Upper Bound Notation</vt:lpstr>
      <vt:lpstr>Upper Bound Notation</vt:lpstr>
      <vt:lpstr>Lower Bound Notation</vt:lpstr>
      <vt:lpstr>Lower Bound Notation</vt:lpstr>
      <vt:lpstr>Asymptotic Tight Bound Notation</vt:lpstr>
      <vt:lpstr>Asymptotic Tight Bound Notation</vt:lpstr>
      <vt:lpstr>Practical Complexity</vt:lpstr>
      <vt:lpstr>Practical Complexity</vt:lpstr>
      <vt:lpstr>Practical Complexity</vt:lpstr>
      <vt:lpstr>Practical Complexity</vt:lpstr>
      <vt:lpstr>Practical Complexity</vt:lpstr>
      <vt:lpstr>Practical Complexity</vt:lpstr>
      <vt:lpstr>Practical Complexity</vt:lpstr>
      <vt:lpstr>Other Asymptotic Notations and Intuitions</vt:lpstr>
      <vt:lpstr>What does the best case and the worst case imply?</vt:lpstr>
      <vt:lpstr>NEXT CLASS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lenovo</dc:creator>
  <cp:lastModifiedBy>Ashraful Islam Paran</cp:lastModifiedBy>
  <cp:revision>1</cp:revision>
  <dcterms:created xsi:type="dcterms:W3CDTF">2023-03-19T03:25:32Z</dcterms:created>
  <dcterms:modified xsi:type="dcterms:W3CDTF">2026-03-03T15:32:00Z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2026-03-03T15:31:57Z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9f4caf59-bc01-47b1-a2ce-1a7b609b2619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