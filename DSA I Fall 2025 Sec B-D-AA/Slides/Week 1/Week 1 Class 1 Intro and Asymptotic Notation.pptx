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</p:sldIdLst>
  <p:sldSz cy="6858000" cx="12192000"/>
  <p:notesSz cx="6858000" cy="9144000"/>
  <p:embeddedFontLst>
    <p:embeddedFont>
      <p:font typeface="Tahoma"/>
      <p:regular r:id="rId140"/>
      <p:bold r:id="rId1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2" roundtripDataSignature="AMtx7mggZcbKqX3xpQtIcmW28BBqFWVP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2" Type="http://customschemas.google.com/relationships/presentationmetadata" Target="metadata"/><Relationship Id="rId141" Type="http://schemas.openxmlformats.org/officeDocument/2006/relationships/font" Target="fonts/Tahoma-bold.fntdata"/><Relationship Id="rId140" Type="http://schemas.openxmlformats.org/officeDocument/2006/relationships/font" Target="fonts/Tahom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2" name="Google Shape;67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8" name="Google Shape;76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2" name="Google Shape;79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6" name="Google Shape;81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4" name="Google Shape;88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8" name="Google Shape;90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2" name="Google Shape;93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4" name="Google Shape;100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8" name="Google Shape;102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2" name="Google Shape;105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4" name="Google Shape;107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3" name="Google Shape;108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3" name="Google Shape;109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7" name="Google Shape;111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1" name="Google Shape;114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7" name="Google Shape;116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3" name="Google Shape;119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1" name="Google Shape;1221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7" name="Google Shape;124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3" name="Google Shape;1273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9" name="Google Shape;129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4" name="Google Shape;1324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8" name="Google Shape;134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4" name="Google Shape;1374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0" name="Google Shape;140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6" name="Google Shape;142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2" name="Google Shape;145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8" name="Google Shape;1478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4" name="Google Shape;150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9" name="Google Shape;1529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3" name="Google Shape;155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9" name="Google Shape;157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5" name="Google Shape;160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1" name="Google Shape;163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5" name="Google Shape;1655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4" name="Google Shape;168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0" name="Google Shape;1710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6" name="Google Shape;173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2" name="Google Shape;176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8" name="Google Shape;1788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4" name="Google Shape;181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0" name="Google Shape;1840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6" name="Google Shape;1866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2" name="Google Shape;189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8" name="Google Shape;1918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4" name="Google Shape;194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0" name="Google Shape;1970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6" name="Google Shape;199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1" name="Google Shape;2021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5" name="Google Shape;2045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1" name="Google Shape;2071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8" name="Google Shape;2098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5" name="Google Shape;2125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2" name="Google Shape;2152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9" name="Google Shape;2179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6" name="Google Shape;2206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3" name="Google Shape;2233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0" name="Google Shape;226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7" name="Google Shape;2287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4" name="Google Shape;2314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1" name="Google Shape;2341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8" name="Google Shape;2368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3" name="Google Shape;2393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8" name="Google Shape;2418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5" name="Google Shape;244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2" name="Google Shape;2472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9" name="Google Shape;2499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8" name="Google Shape;2508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7" name="Google Shape;2517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6" name="Google Shape;2526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5" name="Google Shape;2535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4" name="Google Shape;2544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3" name="Google Shape;2553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3a7bc7ed652_117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2" name="Google Shape;2562;g3a7bc7ed652_117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3a7bc7ed652_117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3" name="Google Shape;2573;g3a7bc7ed652_117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2" name="Google Shape;2582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1" name="Google Shape;2591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8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0" name="Google Shape;2600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9" name="Google Shape;2609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8" name="Google Shape;2628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7" name="Google Shape;2637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4" name="Google Shape;2654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3" name="Google Shape;2663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3a23eea49e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4" name="Google Shape;2684;g3a23eea49e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3a23eea49eb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3" name="Google Shape;2693;g3a23eea49eb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g3a23eea49eb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2" name="Google Shape;2702;g3a23eea49eb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g3a23eea49eb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1" name="Google Shape;2711;g3a23eea49eb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g3a23eea49eb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0" name="Google Shape;2720;g3a23eea49eb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g3a23eea49eb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9" name="Google Shape;2729;g3a23eea49eb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6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g3a23eea49eb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8" name="Google Shape;2738;g3a23eea49eb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g3a23eea49eb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7" name="Google Shape;2747;g3a23eea49eb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4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g2665f4aafa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6" name="Google Shape;2756;g2665f4aafa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0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2" name="Google Shape;2772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1" name="Google Shape;2781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8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8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8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1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13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3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3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1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1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31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1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32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6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8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8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8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8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8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0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2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3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4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1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6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7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5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Complexity Analysis &amp; Asymptotic Notation</a:t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Text Books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Introduction to Algorithms (Third edition)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Cormen, Leiserson, Rivest, and Stein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 excellent reference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you should own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in C++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Goodrich, Tamassia, and Mount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Course</a:t>
            </a:r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136" y="1463590"/>
            <a:ext cx="1762125" cy="207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Structures and Algorithms in C++, 2nd Edition | Wiley"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1136" y="4018348"/>
            <a:ext cx="1762125" cy="20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 to Data Structures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 to Algorithms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Analysis of Algorithms</a:t>
            </a:r>
            <a:endParaRPr/>
          </a:p>
        </p:txBody>
      </p:sp>
      <p:sp>
        <p:nvSpPr>
          <p:cNvPr id="124" name="Google Shape;124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5" name="Google Shape;125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Contents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INTRODUCTION TO DATA STRUCTURES</a:t>
            </a:r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5" name="Google Shape;135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is 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collection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facts, such as values, numbers, words, measurements, or observations.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Structure means 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set of rules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that holds the data together.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data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structure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particular way of storing and organizing data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 a computer so that it can be used efficiently. 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Different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kinds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data structures are suited to different kinds of applications, and some are highly specialized to specific tasks. 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Data structures provide a means to manage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huge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amount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data efficiently. </a:t>
            </a:r>
            <a:endParaRPr/>
          </a:p>
        </p:txBody>
      </p:sp>
      <p:sp>
        <p:nvSpPr>
          <p:cNvPr id="142" name="Google Shape;142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3" name="Google Shape;143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Data Structure?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are classified as either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(e.g, arrays, linked lists), or 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(e.g, trees, graphs, etc.) </a:t>
            </a:r>
            <a:endParaRPr/>
          </a:p>
          <a:p>
            <a:pPr indent="-351409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 structure is said to be linear if it satisfies the following four conditions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unique element called the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unique element called the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element, except the last, has a unique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element, except the first, has a unique 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predecessor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51409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None/>
            </a:pPr>
            <a:r>
              <a:t/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ways of representing a linear data structure in memory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means of sequential memory locations (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  <a:p>
            <a:pPr indent="-457200" lvl="1" marL="1200150" rtl="0" algn="l">
              <a:lnSpc>
                <a:spcPct val="120000"/>
              </a:lnSpc>
              <a:spcBef>
                <a:spcPts val="392"/>
              </a:spcBef>
              <a:spcAft>
                <a:spcPts val="0"/>
              </a:spcAft>
              <a:buSzPct val="85000"/>
              <a:buFont typeface="Times New Roman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means of pointers or links (</a:t>
            </a:r>
            <a:r>
              <a:rPr b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lists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</p:txBody>
      </p:sp>
      <p:sp>
        <p:nvSpPr>
          <p:cNvPr id="151" name="Google Shape;151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2" name="Google Shape;152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3" name="Google Shape;153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Types of Data Structures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INTRODUCTION TO ALGORITHMS</a:t>
            </a:r>
            <a:endParaRPr/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2" name="Google Shape;162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3" name="Google Shape;163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is a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of computational steps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transform the input into the output.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is a tool for solving a well-specified computational problem.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is said to be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if, for every input instance, it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halts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correct output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incorrect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 might not halt at all on some input instances, or it might halt with other than the desired output.</a:t>
            </a:r>
            <a:endParaRPr/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that algorithms existed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before the invention of computers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380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0" name="Google Shape;170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1" name="Google Shape;171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an Algorithm?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program is the expression of an algorithm in a programming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set of instructions which the computer will follow to solve a problem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9" name="Google Shape;179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0" name="Google Shape;180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Program?</a:t>
            </a:r>
            <a:endParaRPr/>
          </a:p>
        </p:txBody>
      </p:sp>
      <p:graphicFrame>
        <p:nvGraphicFramePr>
          <p:cNvPr id="182" name="Google Shape;182;p9"/>
          <p:cNvGraphicFramePr/>
          <p:nvPr/>
        </p:nvGraphicFramePr>
        <p:xfrm>
          <a:off x="4783931" y="3169171"/>
          <a:ext cx="2624138" cy="2819400"/>
        </p:xfrm>
        <a:graphic>
          <a:graphicData uri="http://schemas.openxmlformats.org/presentationml/2006/ole">
            <mc:AlternateContent>
              <mc:Choice Requires="v">
                <p:oleObj r:id="rId4" imgH="2819400" imgW="2624138" progId="MS_ClipArt_Gallery.2" spid="_x0000_s1">
                  <p:embed/>
                </p:oleObj>
              </mc:Choice>
              <mc:Fallback>
                <p:oleObj r:id="rId5" imgH="2819400" imgW="2624138" progId="MS_ClipArt_Gallery.2">
                  <p:embed/>
                  <p:pic>
                    <p:nvPicPr>
                      <p:cNvPr id="182" name="Google Shape;182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783931" y="3169171"/>
                        <a:ext cx="2624138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9" name="Google Shape;189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Algorithm vs Program</a:t>
            </a:r>
            <a:endParaRPr/>
          </a:p>
        </p:txBody>
      </p:sp>
      <p:pic>
        <p:nvPicPr>
          <p:cNvPr descr="Insertion Sort in C++"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4884"/>
          <a:stretch/>
        </p:blipFill>
        <p:spPr>
          <a:xfrm>
            <a:off x="6169702" y="1458156"/>
            <a:ext cx="4888317" cy="455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82" y="2588557"/>
            <a:ext cx="5374517" cy="244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idx="1" type="body"/>
          </p:nvPr>
        </p:nvSpPr>
        <p:spPr>
          <a:xfrm>
            <a:off x="838200" y="1227909"/>
            <a:ext cx="10515600" cy="12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i="0" lang="en-US" sz="3200"/>
              <a:t>Problem:</a:t>
            </a:r>
            <a:r>
              <a:rPr i="0" lang="en-US" sz="3200"/>
              <a:t>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None/>
            </a:pPr>
            <a:r>
              <a:rPr i="1" lang="en-US" sz="3200">
                <a:solidFill>
                  <a:schemeClr val="accent1"/>
                </a:solidFill>
              </a:rPr>
              <a:t>Input</a:t>
            </a:r>
            <a:r>
              <a:rPr i="0" lang="en-US" sz="3200"/>
              <a:t> is a sequence of integers stored in an array.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None/>
            </a:pPr>
            <a:r>
              <a:rPr i="1" lang="en-US" sz="3200">
                <a:solidFill>
                  <a:schemeClr val="accent1"/>
                </a:solidFill>
              </a:rPr>
              <a:t>Output</a:t>
            </a:r>
            <a:r>
              <a:rPr i="0" lang="en-US" sz="3200"/>
              <a:t> the minimum.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0" name="Google Shape;200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1" name="Google Shape;201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Big Picture</a:t>
            </a:r>
            <a:endParaRPr/>
          </a:p>
        </p:txBody>
      </p:sp>
      <p:cxnSp>
        <p:nvCxnSpPr>
          <p:cNvPr id="203" name="Google Shape;203;p11"/>
          <p:cNvCxnSpPr/>
          <p:nvPr/>
        </p:nvCxnSpPr>
        <p:spPr>
          <a:xfrm>
            <a:off x="4556125" y="3970769"/>
            <a:ext cx="685800" cy="0"/>
          </a:xfrm>
          <a:prstGeom prst="straightConnector1">
            <a:avLst/>
          </a:prstGeom>
          <a:noFill/>
          <a:ln cap="flat" cmpd="sng" w="28575">
            <a:solidFill>
              <a:srgbClr val="1716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11"/>
          <p:cNvCxnSpPr/>
          <p:nvPr/>
        </p:nvCxnSpPr>
        <p:spPr>
          <a:xfrm>
            <a:off x="7283450" y="3970769"/>
            <a:ext cx="762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11"/>
          <p:cNvSpPr txBox="1"/>
          <p:nvPr/>
        </p:nvSpPr>
        <p:spPr>
          <a:xfrm>
            <a:off x="1949450" y="3770744"/>
            <a:ext cx="234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25, 90, 53, 23, 11, 34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2711450" y="2780144"/>
            <a:ext cx="869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7893050" y="3161144"/>
            <a:ext cx="1123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8156575" y="3754869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5530850" y="2678544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5205413" y="4269219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5276850" y="3394506"/>
            <a:ext cx="1981200" cy="1165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m:= a[1];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I:=2 to size of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if  m &gt; a[i] 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m:=a[I];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5510213" y="5107419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7077075" y="5482069"/>
            <a:ext cx="178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988050" y="4551794"/>
            <a:ext cx="635000" cy="685800"/>
          </a:xfrm>
          <a:custGeom>
            <a:rect b="b" l="l" r="r" t="t"/>
            <a:pathLst>
              <a:path extrusionOk="0" h="432" w="400">
                <a:moveTo>
                  <a:pt x="176" y="0"/>
                </a:moveTo>
                <a:cubicBezTo>
                  <a:pt x="88" y="72"/>
                  <a:pt x="0" y="144"/>
                  <a:pt x="32" y="192"/>
                </a:cubicBezTo>
                <a:cubicBezTo>
                  <a:pt x="64" y="240"/>
                  <a:pt x="336" y="248"/>
                  <a:pt x="368" y="288"/>
                </a:cubicBezTo>
                <a:cubicBezTo>
                  <a:pt x="400" y="328"/>
                  <a:pt x="248" y="408"/>
                  <a:pt x="224" y="432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5607050" y="5451906"/>
            <a:ext cx="873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m, a[i]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302250" y="5223306"/>
            <a:ext cx="1600200" cy="8382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1350963" y="3676615"/>
            <a:ext cx="6758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a[]: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ANALYSIS OF ALGORITHM</a:t>
            </a:r>
            <a:endParaRPr/>
          </a:p>
        </p:txBody>
      </p:sp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25" name="Google Shape;225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26" name="Google Shape;226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recognize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various algorithms for solving a problem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understand relationship between problem size and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learn how to analyze an algorithm's running time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recognize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bottlenecks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code as well as which parts of code are easiest to optimize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learn techniques for writing more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/>
          </a:p>
        </p:txBody>
      </p:sp>
      <p:sp>
        <p:nvSpPr>
          <p:cNvPr id="232" name="Google Shape;232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3" name="Google Shape;233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4" name="Google Shape;234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Necessity of Analysis of Algorithms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4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the input/output relation match algorithm requirement?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04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 of work done (complexity)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operations to do task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04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 of space used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used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04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Simplicity, clarity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and implementation.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04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Optimality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it impossible to do better?</a:t>
            </a:r>
            <a:endParaRPr/>
          </a:p>
        </p:txBody>
      </p:sp>
      <p:sp>
        <p:nvSpPr>
          <p:cNvPr id="241" name="Google Shape;241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42" name="Google Shape;242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43" name="Google Shape;243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do we Analyze in an algorithm?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380"/>
              <a:buFont typeface="Times New Roman"/>
              <a:buChar char="●"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and space complexity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generally a function of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size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33CC"/>
              </a:buClr>
              <a:buSzPts val="1870"/>
              <a:buFont typeface="Times New Roman"/>
              <a:buChar char="○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sorting, multiplication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040"/>
              <a:buFont typeface="Times New Roman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characterize input size depends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33CC"/>
              </a:buClr>
              <a:buSzPts val="1870"/>
              <a:buFont typeface="Times New Roman"/>
              <a:buChar char="○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Sorting: number of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elements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33CC"/>
              </a:buClr>
              <a:buSzPts val="1870"/>
              <a:buFont typeface="Times New Roman"/>
              <a:buChar char="○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algorithms: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nodes &amp; edges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33CC"/>
              </a:buClr>
              <a:buSzPts val="1870"/>
              <a:buFont typeface="Times New Roman"/>
              <a:buChar char="○"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0" name="Google Shape;250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1" name="Google Shape;251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2" name="Google Shape;252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Analysis Based on Input Size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>
            <p:ph idx="1" type="body"/>
          </p:nvPr>
        </p:nvSpPr>
        <p:spPr>
          <a:xfrm>
            <a:off x="838200" y="4175759"/>
            <a:ext cx="10515600" cy="200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rPr lang="en-US" sz="7200"/>
              <a:t>WHERE IS THE ALGORITHM?</a:t>
            </a:r>
            <a:endParaRPr/>
          </a:p>
        </p:txBody>
      </p:sp>
      <p:sp>
        <p:nvSpPr>
          <p:cNvPr id="259" name="Google Shape;259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0" name="Google Shape;260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1" name="Google Shape;261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Insertion Sort</a:t>
            </a:r>
            <a:endParaRPr/>
          </a:p>
        </p:txBody>
      </p:sp>
      <p:pic>
        <p:nvPicPr>
          <p:cNvPr id="263" name="Google Shape;2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579" y="2037142"/>
            <a:ext cx="11494841" cy="179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9" name="Google Shape;269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0" name="Google Shape;270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 Example: Insertion Sort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838200" y="1192435"/>
            <a:ext cx="6093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{5, 2, 4, 6, 1, 3}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156" y="2468713"/>
            <a:ext cx="8929688" cy="23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80" name="Google Shape;280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81" name="Google Shape;281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2548327" y="215858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3360295" y="215858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02" name="Google Shape;302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03" name="Google Shape;303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2548327" y="215858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24" name="Google Shape;324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25" name="Google Shape;325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2548327" y="215858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2648932" y="174395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3321970" y="3928638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48" name="Google Shape;348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49" name="Google Shape;349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2648932" y="174395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3430649" y="3947491"/>
            <a:ext cx="5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72" name="Google Shape;372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73" name="Google Shape;373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2002410" y="1706251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3430648" y="3947491"/>
            <a:ext cx="6595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396" name="Google Shape;396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397" name="Google Shape;397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2002410" y="1706251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19" name="Google Shape;419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20" name="Google Shape;420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>
            <p:ph idx="1" type="body"/>
          </p:nvPr>
        </p:nvSpPr>
        <p:spPr>
          <a:xfrm>
            <a:off x="857054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40" name="Google Shape;440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41" name="Google Shape;441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42" name="Google Shape;442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444" name="Google Shape;444;p25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3482689" y="1661628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4172263" y="3950418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65" name="Google Shape;465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66" name="Google Shape;466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3482689" y="1661628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 txBox="1"/>
          <p:nvPr/>
        </p:nvSpPr>
        <p:spPr>
          <a:xfrm>
            <a:off x="4242617" y="3890650"/>
            <a:ext cx="741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489" name="Google Shape;489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490" name="Google Shape;490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1" name="Google Shape;491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2670721" y="1661627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 txBox="1"/>
          <p:nvPr/>
        </p:nvSpPr>
        <p:spPr>
          <a:xfrm>
            <a:off x="4242617" y="3938309"/>
            <a:ext cx="5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12" name="Google Shape;512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13" name="Google Shape;513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14" name="Google Shape;514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2670721" y="1661627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35" name="Google Shape;535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36" name="Google Shape;536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37" name="Google Shape;537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" name="Google Shape;538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539" name="Google Shape;539;p29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57" name="Google Shape;557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58" name="Google Shape;558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59" name="Google Shape;559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0" name="Google Shape;560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561" name="Google Shape;561;p30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0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0"/>
          <p:cNvSpPr/>
          <p:nvPr/>
        </p:nvSpPr>
        <p:spPr>
          <a:xfrm>
            <a:off x="4984231" y="316491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0"/>
          <p:cNvSpPr txBox="1"/>
          <p:nvPr/>
        </p:nvSpPr>
        <p:spPr>
          <a:xfrm>
            <a:off x="5054585" y="3854463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81" name="Google Shape;581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582" name="Google Shape;582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583" name="Google Shape;583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" name="Google Shape;584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585" name="Google Shape;585;p31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498423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03" name="Google Shape;603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04" name="Google Shape;604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05" name="Google Shape;605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6" name="Google Shape;606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607" name="Google Shape;607;p32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2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2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2"/>
          <p:cNvSpPr/>
          <p:nvPr/>
        </p:nvSpPr>
        <p:spPr>
          <a:xfrm>
            <a:off x="498423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2"/>
          <p:cNvSpPr/>
          <p:nvPr/>
        </p:nvSpPr>
        <p:spPr>
          <a:xfrm>
            <a:off x="5106625" y="16385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2"/>
          <p:cNvSpPr txBox="1"/>
          <p:nvPr/>
        </p:nvSpPr>
        <p:spPr>
          <a:xfrm>
            <a:off x="5836569" y="3755171"/>
            <a:ext cx="6191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27" name="Google Shape;627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28" name="Google Shape;628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29" name="Google Shape;629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631" name="Google Shape;631;p33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3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3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3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3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3"/>
          <p:cNvSpPr/>
          <p:nvPr/>
        </p:nvSpPr>
        <p:spPr>
          <a:xfrm>
            <a:off x="5106625" y="16385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3"/>
          <p:cNvSpPr txBox="1"/>
          <p:nvPr/>
        </p:nvSpPr>
        <p:spPr>
          <a:xfrm>
            <a:off x="5809311" y="3789525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51" name="Google Shape;651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52" name="Google Shape;652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53" name="Google Shape;653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4" name="Google Shape;654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655" name="Google Shape;655;p34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4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4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4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4"/>
          <p:cNvSpPr txBox="1"/>
          <p:nvPr/>
        </p:nvSpPr>
        <p:spPr>
          <a:xfrm>
            <a:off x="5879665" y="3778790"/>
            <a:ext cx="7285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75" name="Google Shape;675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676" name="Google Shape;676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677" name="Google Shape;677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8" name="Google Shape;678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679" name="Google Shape;679;p35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5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5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5"/>
          <p:cNvSpPr txBox="1"/>
          <p:nvPr/>
        </p:nvSpPr>
        <p:spPr>
          <a:xfrm>
            <a:off x="5879665" y="3778790"/>
            <a:ext cx="5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99" name="Google Shape;699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00" name="Google Shape;700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01" name="Google Shape;701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2" name="Google Shape;702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703" name="Google Shape;703;p36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6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6"/>
          <p:cNvSpPr/>
          <p:nvPr/>
        </p:nvSpPr>
        <p:spPr>
          <a:xfrm>
            <a:off x="3482689" y="167831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6"/>
          <p:cNvSpPr txBox="1"/>
          <p:nvPr/>
        </p:nvSpPr>
        <p:spPr>
          <a:xfrm>
            <a:off x="5836569" y="3755171"/>
            <a:ext cx="6595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23" name="Google Shape;723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24" name="Google Shape;724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25" name="Google Shape;725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6" name="Google Shape;726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727" name="Google Shape;727;p37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7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7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7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7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7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7"/>
          <p:cNvSpPr/>
          <p:nvPr/>
        </p:nvSpPr>
        <p:spPr>
          <a:xfrm>
            <a:off x="3482689" y="167831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7"/>
          <p:cNvSpPr txBox="1"/>
          <p:nvPr/>
        </p:nvSpPr>
        <p:spPr>
          <a:xfrm>
            <a:off x="5836569" y="3850625"/>
            <a:ext cx="61919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47" name="Google Shape;747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48" name="Google Shape;748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49" name="Google Shape;749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751" name="Google Shape;751;p38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8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8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8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8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8"/>
          <p:cNvSpPr/>
          <p:nvPr/>
        </p:nvSpPr>
        <p:spPr>
          <a:xfrm>
            <a:off x="2670721" y="16834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8"/>
          <p:cNvSpPr txBox="1"/>
          <p:nvPr/>
        </p:nvSpPr>
        <p:spPr>
          <a:xfrm>
            <a:off x="5879665" y="3809478"/>
            <a:ext cx="5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71" name="Google Shape;771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72" name="Google Shape;772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73" name="Google Shape;773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4" name="Google Shape;774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775" name="Google Shape;775;p39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9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9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9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2670721" y="16834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9"/>
          <p:cNvSpPr txBox="1"/>
          <p:nvPr/>
        </p:nvSpPr>
        <p:spPr>
          <a:xfrm>
            <a:off x="5879665" y="3803982"/>
            <a:ext cx="5761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95" name="Google Shape;795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796" name="Google Shape;796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797" name="Google Shape;797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8" name="Google Shape;798;p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799" name="Google Shape;799;p40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0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0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0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0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0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0"/>
          <p:cNvSpPr/>
          <p:nvPr/>
        </p:nvSpPr>
        <p:spPr>
          <a:xfrm>
            <a:off x="2002410" y="1692870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0"/>
          <p:cNvSpPr txBox="1"/>
          <p:nvPr/>
        </p:nvSpPr>
        <p:spPr>
          <a:xfrm>
            <a:off x="5879665" y="3755171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19" name="Google Shape;819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20" name="Google Shape;820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21" name="Google Shape;821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2" name="Google Shape;822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823" name="Google Shape;823;p41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1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1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1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1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1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1"/>
          <p:cNvSpPr/>
          <p:nvPr/>
        </p:nvSpPr>
        <p:spPr>
          <a:xfrm>
            <a:off x="2002410" y="1692870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42" name="Google Shape;842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43" name="Google Shape;843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44" name="Google Shape;844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5" name="Google Shape;845;p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846" name="Google Shape;846;p42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2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2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64" name="Google Shape;864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65" name="Google Shape;865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66" name="Google Shape;866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7" name="Google Shape;867;p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868" name="Google Shape;868;p43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3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43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3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3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3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3"/>
          <p:cNvSpPr txBox="1"/>
          <p:nvPr/>
        </p:nvSpPr>
        <p:spPr>
          <a:xfrm>
            <a:off x="6608167" y="3886862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87" name="Google Shape;887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88" name="Google Shape;888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889" name="Google Shape;889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0" name="Google Shape;890;p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891" name="Google Shape;891;p44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4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4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4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4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4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4"/>
          <p:cNvSpPr/>
          <p:nvPr/>
        </p:nvSpPr>
        <p:spPr>
          <a:xfrm>
            <a:off x="5931705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4"/>
          <p:cNvSpPr txBox="1"/>
          <p:nvPr/>
        </p:nvSpPr>
        <p:spPr>
          <a:xfrm>
            <a:off x="6608167" y="3860152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911" name="Google Shape;911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912" name="Google Shape;912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913" name="Google Shape;913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4" name="Google Shape;914;p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915" name="Google Shape;915;p45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5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5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45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45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45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4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5"/>
          <p:cNvSpPr/>
          <p:nvPr/>
        </p:nvSpPr>
        <p:spPr>
          <a:xfrm>
            <a:off x="5931705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5"/>
          <p:cNvSpPr txBox="1"/>
          <p:nvPr/>
        </p:nvSpPr>
        <p:spPr>
          <a:xfrm>
            <a:off x="6678521" y="3860152"/>
            <a:ext cx="659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935" name="Google Shape;935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936" name="Google Shape;936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937" name="Google Shape;937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8" name="Google Shape;938;p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939" name="Google Shape;939;p46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46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46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46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46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6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46"/>
          <p:cNvSpPr/>
          <p:nvPr/>
        </p:nvSpPr>
        <p:spPr>
          <a:xfrm>
            <a:off x="5113181" y="175236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6"/>
          <p:cNvSpPr txBox="1"/>
          <p:nvPr/>
        </p:nvSpPr>
        <p:spPr>
          <a:xfrm>
            <a:off x="6678521" y="3886862"/>
            <a:ext cx="5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959" name="Google Shape;959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960" name="Google Shape;960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961" name="Google Shape;961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2" name="Google Shape;962;p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963" name="Google Shape;963;p47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7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7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7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47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7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7"/>
          <p:cNvSpPr/>
          <p:nvPr/>
        </p:nvSpPr>
        <p:spPr>
          <a:xfrm>
            <a:off x="5113181" y="175236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7"/>
          <p:cNvSpPr txBox="1"/>
          <p:nvPr/>
        </p:nvSpPr>
        <p:spPr>
          <a:xfrm>
            <a:off x="6628545" y="3913572"/>
            <a:ext cx="5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983" name="Google Shape;983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984" name="Google Shape;984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985" name="Google Shape;985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6" name="Google Shape;986;p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987" name="Google Shape;987;p48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48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48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48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48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48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4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48"/>
          <p:cNvSpPr/>
          <p:nvPr/>
        </p:nvSpPr>
        <p:spPr>
          <a:xfrm>
            <a:off x="4301213" y="174348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8"/>
          <p:cNvSpPr txBox="1"/>
          <p:nvPr/>
        </p:nvSpPr>
        <p:spPr>
          <a:xfrm>
            <a:off x="6628545" y="3895189"/>
            <a:ext cx="6391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9"/>
          <p:cNvSpPr txBox="1"/>
          <p:nvPr>
            <p:ph idx="1" type="body"/>
          </p:nvPr>
        </p:nvSpPr>
        <p:spPr>
          <a:xfrm>
            <a:off x="847627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007" name="Google Shape;1007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08" name="Google Shape;1008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09" name="Google Shape;1009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0" name="Google Shape;1010;p4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011" name="Google Shape;1011;p49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9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49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9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49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49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4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4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4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9"/>
          <p:cNvSpPr/>
          <p:nvPr/>
        </p:nvSpPr>
        <p:spPr>
          <a:xfrm>
            <a:off x="4301213" y="174348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9"/>
          <p:cNvSpPr txBox="1"/>
          <p:nvPr/>
        </p:nvSpPr>
        <p:spPr>
          <a:xfrm>
            <a:off x="6628545" y="3857011"/>
            <a:ext cx="589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031" name="Google Shape;1031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32" name="Google Shape;1032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33" name="Google Shape;1033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4" name="Google Shape;1034;p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035" name="Google Shape;1035;p50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0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0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50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50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50"/>
          <p:cNvSpPr/>
          <p:nvPr/>
        </p:nvSpPr>
        <p:spPr>
          <a:xfrm>
            <a:off x="6558191" y="330364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5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5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0"/>
          <p:cNvSpPr/>
          <p:nvPr/>
        </p:nvSpPr>
        <p:spPr>
          <a:xfrm>
            <a:off x="3482689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0"/>
          <p:cNvSpPr txBox="1"/>
          <p:nvPr/>
        </p:nvSpPr>
        <p:spPr>
          <a:xfrm>
            <a:off x="6558191" y="3908209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5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055" name="Google Shape;1055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56" name="Google Shape;1056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57" name="Google Shape;1057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8" name="Google Shape;1058;p5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059" name="Google Shape;1059;p51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51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1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51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51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51"/>
          <p:cNvSpPr/>
          <p:nvPr/>
        </p:nvSpPr>
        <p:spPr>
          <a:xfrm>
            <a:off x="4159151" y="218374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5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5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5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5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5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Now let us try to write the Algorithm (in pseudocode format)</a:t>
            </a:r>
            <a:endParaRPr/>
          </a:p>
        </p:txBody>
      </p:sp>
      <p:sp>
        <p:nvSpPr>
          <p:cNvPr id="1077" name="Google Shape;1077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78" name="Google Shape;1078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79" name="Google Shape;1079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0" name="Google Shape;1080;p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Now let us try to write the Algorithm (in pseudocode format)</a:t>
            </a:r>
            <a:endParaRPr/>
          </a:p>
        </p:txBody>
      </p:sp>
      <p:sp>
        <p:nvSpPr>
          <p:cNvPr id="1086" name="Google Shape;1086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87" name="Google Shape;1087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88" name="Google Shape;1088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9" name="Google Shape;1089;p5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pic>
        <p:nvPicPr>
          <p:cNvPr id="1090" name="Google Shape;1090;p53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3581400" y="1960775"/>
            <a:ext cx="5030771" cy="405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096" name="Google Shape;1096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097" name="Google Shape;1097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098" name="Google Shape;1098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9" name="Google Shape;1099;p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100" name="Google Shape;1100;p54"/>
          <p:cNvSpPr/>
          <p:nvPr/>
        </p:nvSpPr>
        <p:spPr>
          <a:xfrm>
            <a:off x="2548327" y="215858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4"/>
          <p:cNvSpPr/>
          <p:nvPr/>
        </p:nvSpPr>
        <p:spPr>
          <a:xfrm>
            <a:off x="3360295" y="215858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54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54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54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54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5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5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5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5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5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5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5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54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13613" y="1926551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54"/>
          <p:cNvSpPr/>
          <p:nvPr/>
        </p:nvSpPr>
        <p:spPr>
          <a:xfrm>
            <a:off x="7903870" y="236172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20" name="Google Shape;1120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21" name="Google Shape;1121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22" name="Google Shape;1122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3" name="Google Shape;1123;p5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124" name="Google Shape;1124;p55"/>
          <p:cNvSpPr/>
          <p:nvPr/>
        </p:nvSpPr>
        <p:spPr>
          <a:xfrm>
            <a:off x="2548327" y="215858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55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55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55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55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55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5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7" name="Google Shape;1137;p55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13613" y="1926551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55"/>
          <p:cNvSpPr/>
          <p:nvPr/>
        </p:nvSpPr>
        <p:spPr>
          <a:xfrm>
            <a:off x="8232103" y="278668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5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44" name="Google Shape;1144;p5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45" name="Google Shape;1145;p5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46" name="Google Shape;1146;p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7" name="Google Shape;1147;p5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148" name="Google Shape;1148;p56"/>
          <p:cNvSpPr/>
          <p:nvPr/>
        </p:nvSpPr>
        <p:spPr>
          <a:xfrm>
            <a:off x="2548327" y="215858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56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56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56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56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56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5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5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5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5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5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56"/>
          <p:cNvSpPr/>
          <p:nvPr/>
        </p:nvSpPr>
        <p:spPr>
          <a:xfrm>
            <a:off x="2648932" y="174395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56"/>
          <p:cNvSpPr txBox="1"/>
          <p:nvPr/>
        </p:nvSpPr>
        <p:spPr>
          <a:xfrm>
            <a:off x="3430649" y="3882395"/>
            <a:ext cx="741614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3" name="Google Shape;1163;p56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56"/>
          <p:cNvSpPr/>
          <p:nvPr/>
        </p:nvSpPr>
        <p:spPr>
          <a:xfrm>
            <a:off x="8167735" y="3169976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70" name="Google Shape;1170;p5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71" name="Google Shape;1171;p5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72" name="Google Shape;1172;p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3" name="Google Shape;1173;p5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174" name="Google Shape;1174;p57"/>
          <p:cNvSpPr/>
          <p:nvPr/>
        </p:nvSpPr>
        <p:spPr>
          <a:xfrm>
            <a:off x="2548327" y="215858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7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57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57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57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57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5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5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5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5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57"/>
          <p:cNvSpPr/>
          <p:nvPr/>
        </p:nvSpPr>
        <p:spPr>
          <a:xfrm>
            <a:off x="2648932" y="174395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57"/>
          <p:cNvSpPr txBox="1"/>
          <p:nvPr/>
        </p:nvSpPr>
        <p:spPr>
          <a:xfrm>
            <a:off x="3321970" y="3928638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9" name="Google Shape;1189;p57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57"/>
          <p:cNvSpPr/>
          <p:nvPr/>
        </p:nvSpPr>
        <p:spPr>
          <a:xfrm>
            <a:off x="8167735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96" name="Google Shape;1196;p5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197" name="Google Shape;1197;p5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198" name="Google Shape;1198;p5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9" name="Google Shape;1199;p5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200" name="Google Shape;1200;p58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58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58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58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8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58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5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58"/>
          <p:cNvSpPr/>
          <p:nvPr/>
        </p:nvSpPr>
        <p:spPr>
          <a:xfrm>
            <a:off x="2648932" y="174395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58"/>
          <p:cNvSpPr txBox="1"/>
          <p:nvPr/>
        </p:nvSpPr>
        <p:spPr>
          <a:xfrm>
            <a:off x="3430649" y="394749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5" name="Google Shape;1215;p58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13613" y="1926551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58"/>
          <p:cNvSpPr/>
          <p:nvPr/>
        </p:nvSpPr>
        <p:spPr>
          <a:xfrm>
            <a:off x="8232103" y="278668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7" name="Google Shape;1217;p58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58"/>
          <p:cNvSpPr/>
          <p:nvPr/>
        </p:nvSpPr>
        <p:spPr>
          <a:xfrm>
            <a:off x="9035001" y="394917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24" name="Google Shape;1224;p5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25" name="Google Shape;1225;p5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26" name="Google Shape;1226;p5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7" name="Google Shape;1227;p5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228" name="Google Shape;1228;p59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59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59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59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59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59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5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5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5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5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5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59"/>
          <p:cNvSpPr/>
          <p:nvPr/>
        </p:nvSpPr>
        <p:spPr>
          <a:xfrm>
            <a:off x="2002410" y="1706251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9"/>
          <p:cNvSpPr txBox="1"/>
          <p:nvPr/>
        </p:nvSpPr>
        <p:spPr>
          <a:xfrm>
            <a:off x="3430649" y="394749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3" name="Google Shape;1243;p59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59"/>
          <p:cNvSpPr/>
          <p:nvPr/>
        </p:nvSpPr>
        <p:spPr>
          <a:xfrm>
            <a:off x="8978440" y="431682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6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50" name="Google Shape;1250;p6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51" name="Google Shape;1251;p6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52" name="Google Shape;1252;p6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3" name="Google Shape;1253;p6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254" name="Google Shape;1254;p60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60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60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60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0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60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6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6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6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6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6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6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6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60"/>
          <p:cNvSpPr/>
          <p:nvPr/>
        </p:nvSpPr>
        <p:spPr>
          <a:xfrm>
            <a:off x="2002410" y="1706251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60"/>
          <p:cNvSpPr txBox="1"/>
          <p:nvPr/>
        </p:nvSpPr>
        <p:spPr>
          <a:xfrm>
            <a:off x="3430649" y="394749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9" name="Google Shape;1269;p60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60"/>
          <p:cNvSpPr/>
          <p:nvPr/>
        </p:nvSpPr>
        <p:spPr>
          <a:xfrm>
            <a:off x="8262003" y="3579846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76" name="Google Shape;1276;p6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277" name="Google Shape;1277;p6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278" name="Google Shape;1278;p6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9" name="Google Shape;1279;p6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280" name="Google Shape;1280;p61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61"/>
          <p:cNvSpPr/>
          <p:nvPr/>
        </p:nvSpPr>
        <p:spPr>
          <a:xfrm>
            <a:off x="3360295" y="319284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61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61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61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61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6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6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6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6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6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6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6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1"/>
          <p:cNvSpPr/>
          <p:nvPr/>
        </p:nvSpPr>
        <p:spPr>
          <a:xfrm>
            <a:off x="2002410" y="1706251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61"/>
          <p:cNvSpPr txBox="1"/>
          <p:nvPr/>
        </p:nvSpPr>
        <p:spPr>
          <a:xfrm>
            <a:off x="3430649" y="394749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5" name="Google Shape;1295;p61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61"/>
          <p:cNvSpPr/>
          <p:nvPr/>
        </p:nvSpPr>
        <p:spPr>
          <a:xfrm>
            <a:off x="8262003" y="3579846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6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02" name="Google Shape;1302;p6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03" name="Google Shape;1303;p6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04" name="Google Shape;1304;p6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5" name="Google Shape;1305;p6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306" name="Google Shape;1306;p62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62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62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62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62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62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6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6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6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6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6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6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62"/>
          <p:cNvSpPr/>
          <p:nvPr/>
        </p:nvSpPr>
        <p:spPr>
          <a:xfrm>
            <a:off x="2002410" y="1706251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0" name="Google Shape;1320;p62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62"/>
          <p:cNvSpPr/>
          <p:nvPr/>
        </p:nvSpPr>
        <p:spPr>
          <a:xfrm>
            <a:off x="8252576" y="4748770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6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27" name="Google Shape;1327;p6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28" name="Google Shape;1328;p6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29" name="Google Shape;1329;p6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0" name="Google Shape;1330;p6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331" name="Google Shape;1331;p63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63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63"/>
          <p:cNvSpPr/>
          <p:nvPr/>
        </p:nvSpPr>
        <p:spPr>
          <a:xfrm>
            <a:off x="4172263" y="215858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63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63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63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6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6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6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6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6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6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4" name="Google Shape;1344;p63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63"/>
          <p:cNvSpPr/>
          <p:nvPr/>
        </p:nvSpPr>
        <p:spPr>
          <a:xfrm>
            <a:off x="7916364" y="2300140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51" name="Google Shape;1351;p6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52" name="Google Shape;1352;p6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53" name="Google Shape;1353;p6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4" name="Google Shape;1354;p6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355" name="Google Shape;1355;p64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4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4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4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4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4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6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6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6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6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6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6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4"/>
          <p:cNvSpPr/>
          <p:nvPr/>
        </p:nvSpPr>
        <p:spPr>
          <a:xfrm>
            <a:off x="3482689" y="1661628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64"/>
          <p:cNvSpPr txBox="1"/>
          <p:nvPr/>
        </p:nvSpPr>
        <p:spPr>
          <a:xfrm>
            <a:off x="4172263" y="3950418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0" name="Google Shape;1370;p64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64"/>
          <p:cNvSpPr/>
          <p:nvPr/>
        </p:nvSpPr>
        <p:spPr>
          <a:xfrm>
            <a:off x="8233994" y="271685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77" name="Google Shape;1377;p6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378" name="Google Shape;1378;p6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379" name="Google Shape;1379;p6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0" name="Google Shape;1380;p6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381" name="Google Shape;1381;p65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5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5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5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5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65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6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6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6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6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6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6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5"/>
          <p:cNvSpPr/>
          <p:nvPr/>
        </p:nvSpPr>
        <p:spPr>
          <a:xfrm>
            <a:off x="3482689" y="1661628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65"/>
          <p:cNvSpPr txBox="1"/>
          <p:nvPr/>
        </p:nvSpPr>
        <p:spPr>
          <a:xfrm>
            <a:off x="4172263" y="3950418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6" name="Google Shape;1396;p65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65"/>
          <p:cNvSpPr/>
          <p:nvPr/>
        </p:nvSpPr>
        <p:spPr>
          <a:xfrm>
            <a:off x="8167735" y="3208266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6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03" name="Google Shape;1403;p6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04" name="Google Shape;1404;p6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05" name="Google Shape;1405;p6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6" name="Google Shape;1406;p6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407" name="Google Shape;1407;p66"/>
          <p:cNvSpPr/>
          <p:nvPr/>
        </p:nvSpPr>
        <p:spPr>
          <a:xfrm>
            <a:off x="3360295" y="2158578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6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6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6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6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66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6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6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6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6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6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6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66"/>
          <p:cNvSpPr/>
          <p:nvPr/>
        </p:nvSpPr>
        <p:spPr>
          <a:xfrm>
            <a:off x="3482689" y="1661628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66"/>
          <p:cNvSpPr txBox="1"/>
          <p:nvPr/>
        </p:nvSpPr>
        <p:spPr>
          <a:xfrm>
            <a:off x="4172263" y="3950418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2" name="Google Shape;1422;p66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66"/>
          <p:cNvSpPr/>
          <p:nvPr/>
        </p:nvSpPr>
        <p:spPr>
          <a:xfrm>
            <a:off x="8290130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6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29" name="Google Shape;1429;p6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30" name="Google Shape;1430;p6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31" name="Google Shape;1431;p6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2" name="Google Shape;1432;p6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433" name="Google Shape;1433;p67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7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7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7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7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67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6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6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6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6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6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6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67"/>
          <p:cNvSpPr/>
          <p:nvPr/>
        </p:nvSpPr>
        <p:spPr>
          <a:xfrm>
            <a:off x="3482689" y="1661628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67"/>
          <p:cNvSpPr txBox="1"/>
          <p:nvPr/>
        </p:nvSpPr>
        <p:spPr>
          <a:xfrm>
            <a:off x="4242617" y="3890650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8" name="Google Shape;1448;p67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67"/>
          <p:cNvSpPr/>
          <p:nvPr/>
        </p:nvSpPr>
        <p:spPr>
          <a:xfrm>
            <a:off x="8290130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6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55" name="Google Shape;1455;p6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56" name="Google Shape;1456;p6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57" name="Google Shape;1457;p6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8" name="Google Shape;1458;p6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459" name="Google Shape;1459;p68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68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8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68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8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68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6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6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6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6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6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6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68"/>
          <p:cNvSpPr/>
          <p:nvPr/>
        </p:nvSpPr>
        <p:spPr>
          <a:xfrm>
            <a:off x="2670721" y="1661627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68"/>
          <p:cNvSpPr txBox="1"/>
          <p:nvPr/>
        </p:nvSpPr>
        <p:spPr>
          <a:xfrm>
            <a:off x="4242617" y="3938309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4" name="Google Shape;1474;p68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68"/>
          <p:cNvSpPr/>
          <p:nvPr/>
        </p:nvSpPr>
        <p:spPr>
          <a:xfrm>
            <a:off x="9031744" y="4307641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6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81" name="Google Shape;1481;p6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482" name="Google Shape;1482;p6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483" name="Google Shape;1483;p6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4" name="Google Shape;1484;p6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485" name="Google Shape;1485;p69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69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69"/>
          <p:cNvSpPr/>
          <p:nvPr/>
        </p:nvSpPr>
        <p:spPr>
          <a:xfrm>
            <a:off x="4172263" y="324876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69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69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69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6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6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6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6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6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6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6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69"/>
          <p:cNvSpPr/>
          <p:nvPr/>
        </p:nvSpPr>
        <p:spPr>
          <a:xfrm>
            <a:off x="2670721" y="1661627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69"/>
          <p:cNvSpPr txBox="1"/>
          <p:nvPr/>
        </p:nvSpPr>
        <p:spPr>
          <a:xfrm>
            <a:off x="4242617" y="3938309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0" name="Google Shape;1500;p69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69"/>
          <p:cNvSpPr/>
          <p:nvPr/>
        </p:nvSpPr>
        <p:spPr>
          <a:xfrm>
            <a:off x="8236248" y="359353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7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07" name="Google Shape;1507;p7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08" name="Google Shape;1508;p7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09" name="Google Shape;1509;p7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0" name="Google Shape;1510;p7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511" name="Google Shape;1511;p70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70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70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70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70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70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7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7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7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7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7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7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7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70"/>
          <p:cNvSpPr/>
          <p:nvPr/>
        </p:nvSpPr>
        <p:spPr>
          <a:xfrm>
            <a:off x="2670721" y="1661627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5" name="Google Shape;1525;p70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70"/>
          <p:cNvSpPr/>
          <p:nvPr/>
        </p:nvSpPr>
        <p:spPr>
          <a:xfrm>
            <a:off x="8236248" y="470589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7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32" name="Google Shape;1532;p7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33" name="Google Shape;1533;p7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34" name="Google Shape;1534;p7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5" name="Google Shape;1535;p7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536" name="Google Shape;1536;p71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71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71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71"/>
          <p:cNvSpPr/>
          <p:nvPr/>
        </p:nvSpPr>
        <p:spPr>
          <a:xfrm>
            <a:off x="4984231" y="215858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71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71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7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7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7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7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7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7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9" name="Google Shape;1549;p71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71"/>
          <p:cNvSpPr/>
          <p:nvPr/>
        </p:nvSpPr>
        <p:spPr>
          <a:xfrm>
            <a:off x="7793533" y="231952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7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56" name="Google Shape;1556;p7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57" name="Google Shape;1557;p7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58" name="Google Shape;1558;p7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9" name="Google Shape;1559;p7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560" name="Google Shape;1560;p72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72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72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72"/>
          <p:cNvSpPr/>
          <p:nvPr/>
        </p:nvSpPr>
        <p:spPr>
          <a:xfrm>
            <a:off x="4984231" y="316491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72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72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7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7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7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7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7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7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7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72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72"/>
          <p:cNvSpPr txBox="1"/>
          <p:nvPr/>
        </p:nvSpPr>
        <p:spPr>
          <a:xfrm>
            <a:off x="5054585" y="3854463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5" name="Google Shape;1575;p72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72"/>
          <p:cNvSpPr/>
          <p:nvPr/>
        </p:nvSpPr>
        <p:spPr>
          <a:xfrm>
            <a:off x="8238089" y="273082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82" name="Google Shape;1582;p7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583" name="Google Shape;1583;p7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584" name="Google Shape;1584;p7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5" name="Google Shape;1585;p7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586" name="Google Shape;1586;p73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73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73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73"/>
          <p:cNvSpPr/>
          <p:nvPr/>
        </p:nvSpPr>
        <p:spPr>
          <a:xfrm>
            <a:off x="4984231" y="316491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73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73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7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7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7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7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7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7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7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73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73"/>
          <p:cNvSpPr txBox="1"/>
          <p:nvPr/>
        </p:nvSpPr>
        <p:spPr>
          <a:xfrm>
            <a:off x="5054585" y="3854463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1" name="Google Shape;1601;p73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73"/>
          <p:cNvSpPr/>
          <p:nvPr/>
        </p:nvSpPr>
        <p:spPr>
          <a:xfrm>
            <a:off x="8167735" y="3164916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7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08" name="Google Shape;1608;p7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09" name="Google Shape;1609;p7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10" name="Google Shape;1610;p7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1" name="Google Shape;1611;p7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612" name="Google Shape;1612;p74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74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74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74"/>
          <p:cNvSpPr/>
          <p:nvPr/>
        </p:nvSpPr>
        <p:spPr>
          <a:xfrm>
            <a:off x="4984231" y="316491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74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74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7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7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7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7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7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7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7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74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74"/>
          <p:cNvSpPr txBox="1"/>
          <p:nvPr/>
        </p:nvSpPr>
        <p:spPr>
          <a:xfrm>
            <a:off x="5054585" y="3854463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7" name="Google Shape;1627;p74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74"/>
          <p:cNvSpPr/>
          <p:nvPr/>
        </p:nvSpPr>
        <p:spPr>
          <a:xfrm>
            <a:off x="8219776" y="351861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34" name="Google Shape;1634;p7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35" name="Google Shape;1635;p7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36" name="Google Shape;1636;p7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7" name="Google Shape;1637;p7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638" name="Google Shape;1638;p75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75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75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75"/>
          <p:cNvSpPr/>
          <p:nvPr/>
        </p:nvSpPr>
        <p:spPr>
          <a:xfrm>
            <a:off x="498423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75"/>
          <p:cNvSpPr/>
          <p:nvPr/>
        </p:nvSpPr>
        <p:spPr>
          <a:xfrm>
            <a:off x="5796199" y="2158580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75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7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7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7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7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7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7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7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1" name="Google Shape;1651;p75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75"/>
          <p:cNvSpPr/>
          <p:nvPr/>
        </p:nvSpPr>
        <p:spPr>
          <a:xfrm>
            <a:off x="8153400" y="471581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7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58" name="Google Shape;1658;p7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59" name="Google Shape;1659;p7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60" name="Google Shape;1660;p7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1" name="Google Shape;1661;p7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662" name="Google Shape;1662;p76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76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76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76"/>
          <p:cNvSpPr/>
          <p:nvPr/>
        </p:nvSpPr>
        <p:spPr>
          <a:xfrm>
            <a:off x="498423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76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76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7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7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7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7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7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7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7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76"/>
          <p:cNvSpPr/>
          <p:nvPr/>
        </p:nvSpPr>
        <p:spPr>
          <a:xfrm>
            <a:off x="5106625" y="16385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76"/>
          <p:cNvSpPr txBox="1"/>
          <p:nvPr/>
        </p:nvSpPr>
        <p:spPr>
          <a:xfrm>
            <a:off x="5836570" y="375517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7" name="Google Shape;1677;p76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p76"/>
          <p:cNvSpPr/>
          <p:nvPr/>
        </p:nvSpPr>
        <p:spPr>
          <a:xfrm>
            <a:off x="7727691" y="237792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76"/>
          <p:cNvSpPr/>
          <p:nvPr/>
        </p:nvSpPr>
        <p:spPr>
          <a:xfrm>
            <a:off x="8268072" y="273082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76"/>
          <p:cNvSpPr/>
          <p:nvPr/>
        </p:nvSpPr>
        <p:spPr>
          <a:xfrm>
            <a:off x="8268072" y="3183382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76"/>
          <p:cNvSpPr/>
          <p:nvPr/>
        </p:nvSpPr>
        <p:spPr>
          <a:xfrm>
            <a:off x="8256351" y="3589576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7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87" name="Google Shape;1687;p7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688" name="Google Shape;1688;p7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689" name="Google Shape;1689;p7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0" name="Google Shape;1690;p7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691" name="Google Shape;1691;p77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77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77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77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77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77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7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7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7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7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7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7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7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77"/>
          <p:cNvSpPr/>
          <p:nvPr/>
        </p:nvSpPr>
        <p:spPr>
          <a:xfrm>
            <a:off x="5106625" y="16385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77"/>
          <p:cNvSpPr txBox="1"/>
          <p:nvPr/>
        </p:nvSpPr>
        <p:spPr>
          <a:xfrm>
            <a:off x="5809311" y="3789525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6" name="Google Shape;1706;p77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77"/>
          <p:cNvSpPr/>
          <p:nvPr/>
        </p:nvSpPr>
        <p:spPr>
          <a:xfrm>
            <a:off x="9030481" y="3975034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7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13" name="Google Shape;1713;p7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14" name="Google Shape;1714;p7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15" name="Google Shape;1715;p7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6" name="Google Shape;1716;p7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717" name="Google Shape;1717;p78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78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78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78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78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78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7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7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7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7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7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7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7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78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78"/>
          <p:cNvSpPr txBox="1"/>
          <p:nvPr/>
        </p:nvSpPr>
        <p:spPr>
          <a:xfrm>
            <a:off x="5879665" y="3778790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2" name="Google Shape;1732;p78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78"/>
          <p:cNvSpPr/>
          <p:nvPr/>
        </p:nvSpPr>
        <p:spPr>
          <a:xfrm>
            <a:off x="8936213" y="438038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7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39" name="Google Shape;1739;p7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40" name="Google Shape;1740;p7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41" name="Google Shape;1741;p7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2" name="Google Shape;1742;p7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743" name="Google Shape;1743;p79"/>
          <p:cNvSpPr/>
          <p:nvPr/>
        </p:nvSpPr>
        <p:spPr>
          <a:xfrm>
            <a:off x="4172263" y="2150834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79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79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79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79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79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7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7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7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7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7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7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7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79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79"/>
          <p:cNvSpPr txBox="1"/>
          <p:nvPr/>
        </p:nvSpPr>
        <p:spPr>
          <a:xfrm>
            <a:off x="5879665" y="3778790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8" name="Google Shape;1758;p79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79"/>
          <p:cNvSpPr/>
          <p:nvPr/>
        </p:nvSpPr>
        <p:spPr>
          <a:xfrm>
            <a:off x="8238630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8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65" name="Google Shape;1765;p8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66" name="Google Shape;1766;p8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67" name="Google Shape;1767;p8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8" name="Google Shape;1768;p8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769" name="Google Shape;1769;p80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80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80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80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80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80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8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8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8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8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8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8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8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80"/>
          <p:cNvSpPr/>
          <p:nvPr/>
        </p:nvSpPr>
        <p:spPr>
          <a:xfrm>
            <a:off x="4294657" y="165388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80"/>
          <p:cNvSpPr txBox="1"/>
          <p:nvPr/>
        </p:nvSpPr>
        <p:spPr>
          <a:xfrm>
            <a:off x="5879665" y="3778790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4" name="Google Shape;1784;p80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80"/>
          <p:cNvSpPr/>
          <p:nvPr/>
        </p:nvSpPr>
        <p:spPr>
          <a:xfrm>
            <a:off x="9044856" y="3963456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8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91" name="Google Shape;1791;p8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792" name="Google Shape;1792;p8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793" name="Google Shape;1793;p8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4" name="Google Shape;1794;p8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795" name="Google Shape;1795;p81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81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81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81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81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81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8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8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8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8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8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8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8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81"/>
          <p:cNvSpPr/>
          <p:nvPr/>
        </p:nvSpPr>
        <p:spPr>
          <a:xfrm>
            <a:off x="3482689" y="167831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81"/>
          <p:cNvSpPr txBox="1"/>
          <p:nvPr/>
        </p:nvSpPr>
        <p:spPr>
          <a:xfrm>
            <a:off x="5836570" y="375517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0" name="Google Shape;1810;p81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81"/>
          <p:cNvSpPr/>
          <p:nvPr/>
        </p:nvSpPr>
        <p:spPr>
          <a:xfrm>
            <a:off x="8898507" y="438112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8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17" name="Google Shape;1817;p8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18" name="Google Shape;1818;p8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19" name="Google Shape;1819;p8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0" name="Google Shape;1820;p8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821" name="Google Shape;1821;p82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82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82"/>
          <p:cNvSpPr/>
          <p:nvPr/>
        </p:nvSpPr>
        <p:spPr>
          <a:xfrm>
            <a:off x="3360295" y="215344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82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82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82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8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8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8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8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8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8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8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82"/>
          <p:cNvSpPr/>
          <p:nvPr/>
        </p:nvSpPr>
        <p:spPr>
          <a:xfrm>
            <a:off x="3482689" y="167831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82"/>
          <p:cNvSpPr txBox="1"/>
          <p:nvPr/>
        </p:nvSpPr>
        <p:spPr>
          <a:xfrm>
            <a:off x="5836570" y="375517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6" name="Google Shape;1836;p82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82"/>
          <p:cNvSpPr/>
          <p:nvPr/>
        </p:nvSpPr>
        <p:spPr>
          <a:xfrm>
            <a:off x="8167735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8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43" name="Google Shape;1843;p8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44" name="Google Shape;1844;p8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45" name="Google Shape;1845;p8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6" name="Google Shape;1846;p8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847" name="Google Shape;1847;p83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83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83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83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83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83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8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8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8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8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8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8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8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83"/>
          <p:cNvSpPr/>
          <p:nvPr/>
        </p:nvSpPr>
        <p:spPr>
          <a:xfrm>
            <a:off x="3482689" y="167831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83"/>
          <p:cNvSpPr txBox="1"/>
          <p:nvPr/>
        </p:nvSpPr>
        <p:spPr>
          <a:xfrm>
            <a:off x="5836570" y="3850625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2" name="Google Shape;1862;p83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3" name="Google Shape;1863;p83"/>
          <p:cNvSpPr/>
          <p:nvPr/>
        </p:nvSpPr>
        <p:spPr>
          <a:xfrm>
            <a:off x="9025574" y="392863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8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69" name="Google Shape;1869;p8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70" name="Google Shape;1870;p8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71" name="Google Shape;1871;p8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2" name="Google Shape;1872;p8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873" name="Google Shape;1873;p84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84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84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84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84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84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8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8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8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8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8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8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8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84"/>
          <p:cNvSpPr/>
          <p:nvPr/>
        </p:nvSpPr>
        <p:spPr>
          <a:xfrm>
            <a:off x="2670721" y="16834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84"/>
          <p:cNvSpPr txBox="1"/>
          <p:nvPr/>
        </p:nvSpPr>
        <p:spPr>
          <a:xfrm>
            <a:off x="5879665" y="3809478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8" name="Google Shape;1888;p84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84"/>
          <p:cNvSpPr/>
          <p:nvPr/>
        </p:nvSpPr>
        <p:spPr>
          <a:xfrm>
            <a:off x="8997294" y="435284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8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895" name="Google Shape;1895;p8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896" name="Google Shape;1896;p8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897" name="Google Shape;1897;p8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8" name="Google Shape;1898;p8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899" name="Google Shape;1899;p85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85"/>
          <p:cNvSpPr/>
          <p:nvPr/>
        </p:nvSpPr>
        <p:spPr>
          <a:xfrm>
            <a:off x="2548327" y="2158577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85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85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85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85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8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8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8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8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8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8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8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85"/>
          <p:cNvSpPr/>
          <p:nvPr/>
        </p:nvSpPr>
        <p:spPr>
          <a:xfrm>
            <a:off x="2670721" y="16834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85"/>
          <p:cNvSpPr txBox="1"/>
          <p:nvPr/>
        </p:nvSpPr>
        <p:spPr>
          <a:xfrm>
            <a:off x="5879665" y="3809478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4" name="Google Shape;1914;p85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85"/>
          <p:cNvSpPr/>
          <p:nvPr/>
        </p:nvSpPr>
        <p:spPr>
          <a:xfrm>
            <a:off x="8271430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8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21" name="Google Shape;1921;p8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22" name="Google Shape;1922;p8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23" name="Google Shape;1923;p8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4" name="Google Shape;1924;p8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925" name="Google Shape;1925;p86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86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86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86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86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86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8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8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8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8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8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8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8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86"/>
          <p:cNvSpPr/>
          <p:nvPr/>
        </p:nvSpPr>
        <p:spPr>
          <a:xfrm>
            <a:off x="2670721" y="1683444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86"/>
          <p:cNvSpPr txBox="1"/>
          <p:nvPr/>
        </p:nvSpPr>
        <p:spPr>
          <a:xfrm>
            <a:off x="5879665" y="380398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0" name="Google Shape;1940;p86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1" name="Google Shape;1941;p86"/>
          <p:cNvSpPr/>
          <p:nvPr/>
        </p:nvSpPr>
        <p:spPr>
          <a:xfrm>
            <a:off x="8922461" y="3989491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8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47" name="Google Shape;1947;p8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48" name="Google Shape;1948;p8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49" name="Google Shape;1949;p8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0" name="Google Shape;1950;p8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951" name="Google Shape;1951;p87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87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87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87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87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87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8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8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8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8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8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8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8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87"/>
          <p:cNvSpPr/>
          <p:nvPr/>
        </p:nvSpPr>
        <p:spPr>
          <a:xfrm>
            <a:off x="2002410" y="1692870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87"/>
          <p:cNvSpPr txBox="1"/>
          <p:nvPr/>
        </p:nvSpPr>
        <p:spPr>
          <a:xfrm>
            <a:off x="5879665" y="375517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6" name="Google Shape;1966;p87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87"/>
          <p:cNvSpPr/>
          <p:nvPr/>
        </p:nvSpPr>
        <p:spPr>
          <a:xfrm>
            <a:off x="9006720" y="435284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8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73" name="Google Shape;1973;p8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1974" name="Google Shape;1974;p8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1975" name="Google Shape;1975;p8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6" name="Google Shape;1976;p8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1977" name="Google Shape;1977;p88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88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88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88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88"/>
          <p:cNvSpPr/>
          <p:nvPr/>
        </p:nvSpPr>
        <p:spPr>
          <a:xfrm>
            <a:off x="5796199" y="3119931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88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8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8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8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8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8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8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8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88"/>
          <p:cNvSpPr/>
          <p:nvPr/>
        </p:nvSpPr>
        <p:spPr>
          <a:xfrm>
            <a:off x="2002410" y="1692870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88"/>
          <p:cNvSpPr txBox="1"/>
          <p:nvPr/>
        </p:nvSpPr>
        <p:spPr>
          <a:xfrm>
            <a:off x="5879665" y="375517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2" name="Google Shape;1992;p88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88"/>
          <p:cNvSpPr/>
          <p:nvPr/>
        </p:nvSpPr>
        <p:spPr>
          <a:xfrm>
            <a:off x="8271429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8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99" name="Google Shape;1999;p8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00" name="Google Shape;2000;p8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01" name="Google Shape;2001;p8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2" name="Google Shape;2002;p8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003" name="Google Shape;2003;p89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89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89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89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89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89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8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8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8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8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8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8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8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89"/>
          <p:cNvSpPr/>
          <p:nvPr/>
        </p:nvSpPr>
        <p:spPr>
          <a:xfrm>
            <a:off x="2002410" y="1692870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7" name="Google Shape;2017;p89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89"/>
          <p:cNvSpPr/>
          <p:nvPr/>
        </p:nvSpPr>
        <p:spPr>
          <a:xfrm>
            <a:off x="8233723" y="4767624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9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024" name="Google Shape;2024;p9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25" name="Google Shape;2025;p9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26" name="Google Shape;2026;p9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7" name="Google Shape;2027;p9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028" name="Google Shape;2028;p90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90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90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90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90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90"/>
          <p:cNvSpPr/>
          <p:nvPr/>
        </p:nvSpPr>
        <p:spPr>
          <a:xfrm>
            <a:off x="6608167" y="2158579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9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9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9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9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9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9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9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1" name="Google Shape;2041;p90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90"/>
          <p:cNvSpPr/>
          <p:nvPr/>
        </p:nvSpPr>
        <p:spPr>
          <a:xfrm>
            <a:off x="7759268" y="234468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9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048" name="Google Shape;2048;p9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49" name="Google Shape;2049;p9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50" name="Google Shape;2050;p9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1" name="Google Shape;2051;p9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052" name="Google Shape;2052;p91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91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91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91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91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p91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9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9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9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9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9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9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9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91"/>
          <p:cNvSpPr txBox="1"/>
          <p:nvPr/>
        </p:nvSpPr>
        <p:spPr>
          <a:xfrm>
            <a:off x="6608167" y="388686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6" name="Google Shape;2066;p91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7" name="Google Shape;2067;p91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91"/>
          <p:cNvSpPr/>
          <p:nvPr/>
        </p:nvSpPr>
        <p:spPr>
          <a:xfrm>
            <a:off x="8111541" y="2744789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9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074" name="Google Shape;2074;p9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075" name="Google Shape;2075;p9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076" name="Google Shape;2076;p9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7" name="Google Shape;2077;p9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078" name="Google Shape;2078;p92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92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92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92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92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92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9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9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9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9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9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9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9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92"/>
          <p:cNvSpPr/>
          <p:nvPr/>
        </p:nvSpPr>
        <p:spPr>
          <a:xfrm>
            <a:off x="5931705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92"/>
          <p:cNvSpPr txBox="1"/>
          <p:nvPr/>
        </p:nvSpPr>
        <p:spPr>
          <a:xfrm>
            <a:off x="6608167" y="386015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3" name="Google Shape;2093;p92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4" name="Google Shape;2094;p92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92"/>
          <p:cNvSpPr/>
          <p:nvPr/>
        </p:nvSpPr>
        <p:spPr>
          <a:xfrm>
            <a:off x="8153400" y="320115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9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01" name="Google Shape;2101;p9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02" name="Google Shape;2102;p9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03" name="Google Shape;2103;p9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4" name="Google Shape;2104;p9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105" name="Google Shape;2105;p93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93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93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93"/>
          <p:cNvSpPr/>
          <p:nvPr/>
        </p:nvSpPr>
        <p:spPr>
          <a:xfrm>
            <a:off x="5809311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93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93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9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9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9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9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9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9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9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93"/>
          <p:cNvSpPr/>
          <p:nvPr/>
        </p:nvSpPr>
        <p:spPr>
          <a:xfrm>
            <a:off x="5931705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93"/>
          <p:cNvSpPr txBox="1"/>
          <p:nvPr/>
        </p:nvSpPr>
        <p:spPr>
          <a:xfrm>
            <a:off x="6608167" y="386015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0" name="Google Shape;2120;p93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93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93"/>
          <p:cNvSpPr/>
          <p:nvPr/>
        </p:nvSpPr>
        <p:spPr>
          <a:xfrm>
            <a:off x="8277018" y="354592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9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28" name="Google Shape;2128;p9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29" name="Google Shape;2129;p9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30" name="Google Shape;2130;p9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1" name="Google Shape;2131;p9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132" name="Google Shape;2132;p94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94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94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94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94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94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9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9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9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9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9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9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9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94"/>
          <p:cNvSpPr/>
          <p:nvPr/>
        </p:nvSpPr>
        <p:spPr>
          <a:xfrm>
            <a:off x="5931705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94"/>
          <p:cNvSpPr txBox="1"/>
          <p:nvPr/>
        </p:nvSpPr>
        <p:spPr>
          <a:xfrm>
            <a:off x="6678521" y="386015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7" name="Google Shape;2147;p94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94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94"/>
          <p:cNvSpPr/>
          <p:nvPr/>
        </p:nvSpPr>
        <p:spPr>
          <a:xfrm>
            <a:off x="8909349" y="392863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9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55" name="Google Shape;2155;p9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56" name="Google Shape;2156;p9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57" name="Google Shape;2157;p9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8" name="Google Shape;2158;p9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159" name="Google Shape;2159;p95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95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95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95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95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95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9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9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9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9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9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9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9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95"/>
          <p:cNvSpPr/>
          <p:nvPr/>
        </p:nvSpPr>
        <p:spPr>
          <a:xfrm>
            <a:off x="5113181" y="175236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95"/>
          <p:cNvSpPr txBox="1"/>
          <p:nvPr/>
        </p:nvSpPr>
        <p:spPr>
          <a:xfrm>
            <a:off x="6678521" y="388686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4" name="Google Shape;2174;p95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5" name="Google Shape;2175;p95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95"/>
          <p:cNvSpPr/>
          <p:nvPr/>
        </p:nvSpPr>
        <p:spPr>
          <a:xfrm>
            <a:off x="8918542" y="440940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9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82" name="Google Shape;2182;p9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183" name="Google Shape;2183;p9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184" name="Google Shape;2184;p9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5" name="Google Shape;2185;p9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186" name="Google Shape;2186;p96"/>
          <p:cNvSpPr/>
          <p:nvPr/>
        </p:nvSpPr>
        <p:spPr>
          <a:xfrm>
            <a:off x="4990787" y="218373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96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96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96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96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96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9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9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9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9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9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9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9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96"/>
          <p:cNvSpPr/>
          <p:nvPr/>
        </p:nvSpPr>
        <p:spPr>
          <a:xfrm>
            <a:off x="5113181" y="175236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96"/>
          <p:cNvSpPr txBox="1"/>
          <p:nvPr/>
        </p:nvSpPr>
        <p:spPr>
          <a:xfrm>
            <a:off x="6678521" y="388686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1" name="Google Shape;2201;p96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2" name="Google Shape;2202;p96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96"/>
          <p:cNvSpPr/>
          <p:nvPr/>
        </p:nvSpPr>
        <p:spPr>
          <a:xfrm>
            <a:off x="8167735" y="356879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9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09" name="Google Shape;2209;p9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210" name="Google Shape;2210;p9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211" name="Google Shape;2211;p9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2" name="Google Shape;2212;p9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213" name="Google Shape;2213;p97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97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97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97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97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97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9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9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9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9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9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9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9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97"/>
          <p:cNvSpPr/>
          <p:nvPr/>
        </p:nvSpPr>
        <p:spPr>
          <a:xfrm>
            <a:off x="5113181" y="175236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97"/>
          <p:cNvSpPr txBox="1"/>
          <p:nvPr/>
        </p:nvSpPr>
        <p:spPr>
          <a:xfrm>
            <a:off x="6628545" y="3913572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8" name="Google Shape;2228;p97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9" name="Google Shape;2229;p97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0" name="Google Shape;2230;p97"/>
          <p:cNvSpPr/>
          <p:nvPr/>
        </p:nvSpPr>
        <p:spPr>
          <a:xfrm>
            <a:off x="8939803" y="392863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9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36" name="Google Shape;2236;p9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237" name="Google Shape;2237;p9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238" name="Google Shape;2238;p9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9" name="Google Shape;2239;p9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240" name="Google Shape;2240;p98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1" name="Google Shape;2241;p98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p98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3" name="Google Shape;2243;p98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98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5" name="Google Shape;2245;p98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98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98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98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98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98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98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98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98"/>
          <p:cNvSpPr/>
          <p:nvPr/>
        </p:nvSpPr>
        <p:spPr>
          <a:xfrm>
            <a:off x="4301213" y="174348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98"/>
          <p:cNvSpPr txBox="1"/>
          <p:nvPr/>
        </p:nvSpPr>
        <p:spPr>
          <a:xfrm>
            <a:off x="6628545" y="3895189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5" name="Google Shape;2255;p98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98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98"/>
          <p:cNvSpPr/>
          <p:nvPr/>
        </p:nvSpPr>
        <p:spPr>
          <a:xfrm>
            <a:off x="8899911" y="4371448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9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63" name="Google Shape;2263;p9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264" name="Google Shape;2264;p9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265" name="Google Shape;2265;p9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6" name="Google Shape;2266;p9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267" name="Google Shape;2267;p99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99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99"/>
          <p:cNvSpPr/>
          <p:nvPr/>
        </p:nvSpPr>
        <p:spPr>
          <a:xfrm>
            <a:off x="4178819" y="2162093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99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99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99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99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99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99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99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99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99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99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99"/>
          <p:cNvSpPr/>
          <p:nvPr/>
        </p:nvSpPr>
        <p:spPr>
          <a:xfrm>
            <a:off x="4301213" y="174348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99"/>
          <p:cNvSpPr txBox="1"/>
          <p:nvPr/>
        </p:nvSpPr>
        <p:spPr>
          <a:xfrm>
            <a:off x="6628545" y="3895189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2" name="Google Shape;2282;p99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283" name="Google Shape;2283;p99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99"/>
          <p:cNvSpPr/>
          <p:nvPr/>
        </p:nvSpPr>
        <p:spPr>
          <a:xfrm>
            <a:off x="8153400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10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90" name="Google Shape;2290;p10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291" name="Google Shape;2291;p10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292" name="Google Shape;2292;p10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3" name="Google Shape;2293;p10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294" name="Google Shape;2294;p100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100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100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100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100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100"/>
          <p:cNvSpPr/>
          <p:nvPr/>
        </p:nvSpPr>
        <p:spPr>
          <a:xfrm>
            <a:off x="6608167" y="322402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100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100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100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100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100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100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100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100"/>
          <p:cNvSpPr/>
          <p:nvPr/>
        </p:nvSpPr>
        <p:spPr>
          <a:xfrm>
            <a:off x="4301213" y="1743489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100"/>
          <p:cNvSpPr txBox="1"/>
          <p:nvPr/>
        </p:nvSpPr>
        <p:spPr>
          <a:xfrm>
            <a:off x="6628545" y="3857011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9" name="Google Shape;2309;p100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0" name="Google Shape;2310;p100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100"/>
          <p:cNvSpPr/>
          <p:nvPr/>
        </p:nvSpPr>
        <p:spPr>
          <a:xfrm>
            <a:off x="8979703" y="3913572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0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317" name="Google Shape;2317;p10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18" name="Google Shape;2318;p10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19" name="Google Shape;2319;p10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0" name="Google Shape;2320;p10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321" name="Google Shape;2321;p101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101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101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101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101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101"/>
          <p:cNvSpPr/>
          <p:nvPr/>
        </p:nvSpPr>
        <p:spPr>
          <a:xfrm>
            <a:off x="6558191" y="330364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101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101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101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101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101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101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101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101"/>
          <p:cNvSpPr/>
          <p:nvPr/>
        </p:nvSpPr>
        <p:spPr>
          <a:xfrm>
            <a:off x="3482689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5" name="Google Shape;2335;p101"/>
          <p:cNvSpPr txBox="1"/>
          <p:nvPr/>
        </p:nvSpPr>
        <p:spPr>
          <a:xfrm>
            <a:off x="6558191" y="3908209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6" name="Google Shape;2336;p101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7" name="Google Shape;2337;p101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101"/>
          <p:cNvSpPr/>
          <p:nvPr/>
        </p:nvSpPr>
        <p:spPr>
          <a:xfrm>
            <a:off x="8975326" y="4390301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10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344" name="Google Shape;2344;p10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45" name="Google Shape;2345;p10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46" name="Google Shape;2346;p10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7" name="Google Shape;2347;p10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348" name="Google Shape;2348;p102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102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102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102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102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102"/>
          <p:cNvSpPr/>
          <p:nvPr/>
        </p:nvSpPr>
        <p:spPr>
          <a:xfrm>
            <a:off x="6558191" y="330364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102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102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102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102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102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102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102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102"/>
          <p:cNvSpPr/>
          <p:nvPr/>
        </p:nvSpPr>
        <p:spPr>
          <a:xfrm>
            <a:off x="3482689" y="1683443"/>
            <a:ext cx="414779" cy="3620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102"/>
          <p:cNvSpPr txBox="1"/>
          <p:nvPr/>
        </p:nvSpPr>
        <p:spPr>
          <a:xfrm>
            <a:off x="6558191" y="3908209"/>
            <a:ext cx="51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3" name="Google Shape;2363;p102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102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102"/>
          <p:cNvSpPr/>
          <p:nvPr/>
        </p:nvSpPr>
        <p:spPr>
          <a:xfrm>
            <a:off x="8153400" y="3560993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10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371" name="Google Shape;2371;p10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72" name="Google Shape;2372;p10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73" name="Google Shape;2373;p10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4" name="Google Shape;2374;p10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375" name="Google Shape;2375;p103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6" name="Google Shape;2376;p103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p103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p103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103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103"/>
          <p:cNvSpPr/>
          <p:nvPr/>
        </p:nvSpPr>
        <p:spPr>
          <a:xfrm>
            <a:off x="4159151" y="218374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103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103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103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103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103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103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103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8" name="Google Shape;2388;p103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9" name="Google Shape;2389;p103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103"/>
          <p:cNvSpPr/>
          <p:nvPr/>
        </p:nvSpPr>
        <p:spPr>
          <a:xfrm>
            <a:off x="8199748" y="4757947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10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396" name="Google Shape;2396;p10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397" name="Google Shape;2397;p10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398" name="Google Shape;2398;p10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9" name="Google Shape;2399;p10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400" name="Google Shape;2400;p104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104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104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104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104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104"/>
          <p:cNvSpPr/>
          <p:nvPr/>
        </p:nvSpPr>
        <p:spPr>
          <a:xfrm>
            <a:off x="4159151" y="218374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104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104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104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104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104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p104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104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3" name="Google Shape;2413;p104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14" name="Google Shape;2414;p104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104"/>
          <p:cNvSpPr/>
          <p:nvPr/>
        </p:nvSpPr>
        <p:spPr>
          <a:xfrm>
            <a:off x="7759268" y="234468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10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421" name="Google Shape;2421;p10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422" name="Google Shape;2422;p10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423" name="Google Shape;2423;p10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4" name="Google Shape;2424;p10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425" name="Google Shape;2425;p105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105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105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8" name="Google Shape;2428;p105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p105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105"/>
          <p:cNvSpPr/>
          <p:nvPr/>
        </p:nvSpPr>
        <p:spPr>
          <a:xfrm>
            <a:off x="4159151" y="218374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105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105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105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105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105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105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105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8" name="Google Shape;2438;p105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9" name="Google Shape;2439;p105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105"/>
          <p:cNvSpPr txBox="1"/>
          <p:nvPr/>
        </p:nvSpPr>
        <p:spPr>
          <a:xfrm>
            <a:off x="1988659" y="4280678"/>
            <a:ext cx="35427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This loop will run n (6)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1" name="Google Shape;2441;p105"/>
          <p:cNvCxnSpPr/>
          <p:nvPr/>
        </p:nvCxnSpPr>
        <p:spPr>
          <a:xfrm flipH="1" rot="10800000">
            <a:off x="5552388" y="2626666"/>
            <a:ext cx="2696066" cy="18942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42" name="Google Shape;2442;p105"/>
          <p:cNvSpPr/>
          <p:nvPr/>
        </p:nvSpPr>
        <p:spPr>
          <a:xfrm>
            <a:off x="7759268" y="234468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10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448" name="Google Shape;2448;p10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449" name="Google Shape;2449;p10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450" name="Google Shape;2450;p10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1" name="Google Shape;2451;p10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452" name="Google Shape;2452;p106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106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106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5" name="Google Shape;2455;p106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106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106"/>
          <p:cNvSpPr/>
          <p:nvPr/>
        </p:nvSpPr>
        <p:spPr>
          <a:xfrm>
            <a:off x="4159151" y="218374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8" name="Google Shape;2458;p106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106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106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106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106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106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106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5" name="Google Shape;2465;p106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6" name="Google Shape;2466;p106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106"/>
          <p:cNvSpPr txBox="1"/>
          <p:nvPr/>
        </p:nvSpPr>
        <p:spPr>
          <a:xfrm>
            <a:off x="1988659" y="4280678"/>
            <a:ext cx="35427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This loop will run n (6)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8" name="Google Shape;2468;p106"/>
          <p:cNvCxnSpPr/>
          <p:nvPr/>
        </p:nvCxnSpPr>
        <p:spPr>
          <a:xfrm flipH="1" rot="10800000">
            <a:off x="5552388" y="2626666"/>
            <a:ext cx="2696066" cy="18942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69" name="Google Shape;2469;p106"/>
          <p:cNvSpPr/>
          <p:nvPr/>
        </p:nvSpPr>
        <p:spPr>
          <a:xfrm>
            <a:off x="7713939" y="2338915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10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475" name="Google Shape;2475;p10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476" name="Google Shape;2476;p10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477" name="Google Shape;2477;p10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8" name="Google Shape;2478;p10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479" name="Google Shape;2479;p107"/>
          <p:cNvSpPr/>
          <p:nvPr/>
        </p:nvSpPr>
        <p:spPr>
          <a:xfrm>
            <a:off x="5796199" y="2177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p107"/>
          <p:cNvSpPr/>
          <p:nvPr/>
        </p:nvSpPr>
        <p:spPr>
          <a:xfrm>
            <a:off x="3360295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1" name="Google Shape;2481;p107"/>
          <p:cNvSpPr/>
          <p:nvPr/>
        </p:nvSpPr>
        <p:spPr>
          <a:xfrm>
            <a:off x="5015102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2" name="Google Shape;2482;p107"/>
          <p:cNvSpPr/>
          <p:nvPr/>
        </p:nvSpPr>
        <p:spPr>
          <a:xfrm>
            <a:off x="6558191" y="2138965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107"/>
          <p:cNvSpPr/>
          <p:nvPr/>
        </p:nvSpPr>
        <p:spPr>
          <a:xfrm>
            <a:off x="2561439" y="2158576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107"/>
          <p:cNvSpPr/>
          <p:nvPr/>
        </p:nvSpPr>
        <p:spPr>
          <a:xfrm>
            <a:off x="4159151" y="2183742"/>
            <a:ext cx="659568" cy="6895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107"/>
          <p:cNvSpPr/>
          <p:nvPr/>
        </p:nvSpPr>
        <p:spPr>
          <a:xfrm>
            <a:off x="2548327" y="290068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107"/>
          <p:cNvSpPr/>
          <p:nvPr/>
        </p:nvSpPr>
        <p:spPr>
          <a:xfrm>
            <a:off x="3360295" y="2914646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107"/>
          <p:cNvSpPr/>
          <p:nvPr/>
        </p:nvSpPr>
        <p:spPr>
          <a:xfrm>
            <a:off x="4172263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107"/>
          <p:cNvSpPr/>
          <p:nvPr/>
        </p:nvSpPr>
        <p:spPr>
          <a:xfrm>
            <a:off x="4984231" y="2942578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107"/>
          <p:cNvSpPr/>
          <p:nvPr/>
        </p:nvSpPr>
        <p:spPr>
          <a:xfrm>
            <a:off x="5796199" y="2928612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107"/>
          <p:cNvSpPr/>
          <p:nvPr/>
        </p:nvSpPr>
        <p:spPr>
          <a:xfrm>
            <a:off x="6608167" y="2940030"/>
            <a:ext cx="659568" cy="6096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107"/>
          <p:cNvSpPr txBox="1"/>
          <p:nvPr/>
        </p:nvSpPr>
        <p:spPr>
          <a:xfrm>
            <a:off x="838200" y="2300140"/>
            <a:ext cx="6286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2" name="Google Shape;2492;p107"/>
          <p:cNvPicPr preferRelativeResize="0"/>
          <p:nvPr/>
        </p:nvPicPr>
        <p:blipFill rotWithShape="1">
          <a:blip r:embed="rId3">
            <a:alphaModFix/>
          </a:blip>
          <a:srcRect b="22618" l="15750" r="42987" t="18275"/>
          <a:stretch/>
        </p:blipFill>
        <p:spPr>
          <a:xfrm>
            <a:off x="7854826" y="1901875"/>
            <a:ext cx="4337174" cy="4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3" name="Google Shape;2493;p107"/>
          <p:cNvSpPr txBox="1"/>
          <p:nvPr/>
        </p:nvSpPr>
        <p:spPr>
          <a:xfrm>
            <a:off x="8361576" y="1380226"/>
            <a:ext cx="1887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DO IT YOURSELF!!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4" name="Google Shape;2494;p107"/>
          <p:cNvSpPr txBox="1"/>
          <p:nvPr/>
        </p:nvSpPr>
        <p:spPr>
          <a:xfrm>
            <a:off x="1988659" y="4280678"/>
            <a:ext cx="383714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This loop will run n (6)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5 times - the condition will be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1 time -  the condition will be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5" name="Google Shape;2495;p107"/>
          <p:cNvCxnSpPr/>
          <p:nvPr/>
        </p:nvCxnSpPr>
        <p:spPr>
          <a:xfrm flipH="1" rot="10800000">
            <a:off x="5552388" y="2626666"/>
            <a:ext cx="2696066" cy="18942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96" name="Google Shape;2496;p107"/>
          <p:cNvSpPr/>
          <p:nvPr/>
        </p:nvSpPr>
        <p:spPr>
          <a:xfrm>
            <a:off x="7600078" y="5955401"/>
            <a:ext cx="499059" cy="3676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10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b="1" lang="en-US"/>
              <a:t>Keep in mind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Each line (statement) in a code takes some time to run.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It will be different for different PCs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Let us call this time required to execute a statement : </a:t>
            </a:r>
            <a:r>
              <a:rPr b="1" lang="en-US"/>
              <a:t>cost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Let us analyze the </a:t>
            </a:r>
            <a:r>
              <a:rPr b="1" lang="en-US"/>
              <a:t>total time required </a:t>
            </a:r>
            <a:r>
              <a:rPr lang="en-US"/>
              <a:t>for insertion sort</a:t>
            </a:r>
            <a:endParaRPr/>
          </a:p>
        </p:txBody>
      </p:sp>
      <p:sp>
        <p:nvSpPr>
          <p:cNvPr id="2502" name="Google Shape;2502;p10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03" name="Google Shape;2503;p10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04" name="Google Shape;2504;p10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5" name="Google Shape;2505;p10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p10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Let us try to write the </a:t>
            </a:r>
            <a:r>
              <a:rPr b="1" lang="en-US"/>
              <a:t>pseudocode </a:t>
            </a:r>
            <a:r>
              <a:rPr lang="en-US"/>
              <a:t>by ourselves and determine the </a:t>
            </a:r>
            <a:r>
              <a:rPr b="1" lang="en-US"/>
              <a:t>total time</a:t>
            </a:r>
            <a:endParaRPr b="1"/>
          </a:p>
        </p:txBody>
      </p:sp>
      <p:sp>
        <p:nvSpPr>
          <p:cNvPr id="2511" name="Google Shape;2511;p10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12" name="Google Shape;2512;p10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13" name="Google Shape;2513;p10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4" name="Google Shape;2514;p10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1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20" name="Google Shape;2520;p1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21" name="Google Shape;2521;p1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2" name="Google Shape;2522;p1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  <p:sp>
        <p:nvSpPr>
          <p:cNvPr id="2523" name="Google Shape;2523;p110"/>
          <p:cNvSpPr txBox="1"/>
          <p:nvPr/>
        </p:nvSpPr>
        <p:spPr>
          <a:xfrm>
            <a:off x="1524000" y="1235075"/>
            <a:ext cx="932267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Statement 								</a:t>
            </a:r>
            <a:r>
              <a:rPr b="0" i="0" lang="en-US" sz="2000" u="sng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Cost	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InsertionSort(A, n) {	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for i = 2 to n { 						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1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key = A[i]						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2  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j = i – 1;						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3  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while (j &gt; 0) and (A[j] &gt; key) {	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4  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A[j+1] = A[j]				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5  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1))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j = j – 1 }					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6  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1))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A[j+1] = key					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7  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			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ct val="88235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 = t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+ t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+ … + t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, where t</a:t>
            </a:r>
            <a:r>
              <a:rPr b="0" baseline="-25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is the number of while expression evaluations for the  i</a:t>
            </a:r>
            <a:r>
              <a:rPr b="0" baseline="3000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2400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for loop iteration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11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700"/>
              <a:buFont typeface="Noto Sans Symbols"/>
              <a:buNone/>
            </a:pPr>
            <a:r>
              <a:rPr lang="en-US" sz="3600"/>
              <a:t>T(n) = </a:t>
            </a:r>
            <a:r>
              <a:rPr lang="en-US" sz="3200"/>
              <a:t>c</a:t>
            </a:r>
            <a:r>
              <a:rPr baseline="-25000" lang="en-US" sz="3200"/>
              <a:t>1</a:t>
            </a:r>
            <a:r>
              <a:rPr lang="en-US" sz="3200"/>
              <a:t>n + c</a:t>
            </a:r>
            <a:r>
              <a:rPr baseline="-25000" lang="en-US" sz="3200"/>
              <a:t>2</a:t>
            </a:r>
            <a:r>
              <a:rPr lang="en-US" sz="3200"/>
              <a:t>(n-1) + c</a:t>
            </a:r>
            <a:r>
              <a:rPr baseline="-25000" lang="en-US" sz="3200"/>
              <a:t>3</a:t>
            </a:r>
            <a:r>
              <a:rPr lang="en-US" sz="3200"/>
              <a:t>(n-1) + c</a:t>
            </a:r>
            <a:r>
              <a:rPr baseline="-25000" lang="en-US" sz="3200"/>
              <a:t>4</a:t>
            </a:r>
            <a:r>
              <a:rPr lang="en-US" sz="3200"/>
              <a:t>T + c</a:t>
            </a:r>
            <a:r>
              <a:rPr baseline="-25000" lang="en-US" sz="3200"/>
              <a:t>5</a:t>
            </a:r>
            <a:r>
              <a:rPr lang="en-US" sz="3200"/>
              <a:t>(T - (n-1)) + c</a:t>
            </a:r>
            <a:r>
              <a:rPr baseline="-25000" lang="en-US" sz="3200"/>
              <a:t>6</a:t>
            </a:r>
            <a:r>
              <a:rPr lang="en-US" sz="3200"/>
              <a:t>(T - (n-1)) 		+ c</a:t>
            </a:r>
            <a:r>
              <a:rPr baseline="-25000" lang="en-US" sz="3200"/>
              <a:t>7</a:t>
            </a:r>
            <a:r>
              <a:rPr lang="en-US" sz="3200"/>
              <a:t>(n-1)</a:t>
            </a:r>
            <a:r>
              <a:rPr lang="en-US" sz="3600"/>
              <a:t> </a:t>
            </a:r>
            <a:br>
              <a:rPr lang="en-US" sz="3600"/>
            </a:br>
            <a:r>
              <a:rPr lang="en-US" sz="3600"/>
              <a:t>        = c</a:t>
            </a:r>
            <a:r>
              <a:rPr baseline="-25000" lang="en-US" sz="3600"/>
              <a:t>8</a:t>
            </a:r>
            <a:r>
              <a:rPr lang="en-US" sz="3600"/>
              <a:t>T + c</a:t>
            </a:r>
            <a:r>
              <a:rPr baseline="-25000" lang="en-US" sz="3600"/>
              <a:t>9</a:t>
            </a:r>
            <a:r>
              <a:rPr lang="en-US" sz="3600"/>
              <a:t>n + c</a:t>
            </a:r>
            <a:r>
              <a:rPr baseline="-25000" lang="en-US" sz="3600"/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33CC"/>
              </a:buClr>
              <a:buSzPts val="2700"/>
              <a:buFont typeface="Noto Sans Symbols"/>
              <a:buNone/>
            </a:pPr>
            <a:r>
              <a:t/>
            </a:r>
            <a:endParaRPr baseline="-25000" sz="3600"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33CC"/>
              </a:buClr>
              <a:buSzPts val="2700"/>
              <a:buFont typeface="Noto Sans Symbols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29" name="Google Shape;2529;p1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30" name="Google Shape;2530;p1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31" name="Google Shape;2531;p1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2" name="Google Shape;2532;p1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11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700"/>
              <a:buFont typeface="Noto Sans Symbols"/>
              <a:buNone/>
            </a:pPr>
            <a:r>
              <a:rPr lang="en-US" sz="3600"/>
              <a:t>T(n) = </a:t>
            </a:r>
            <a:r>
              <a:rPr lang="en-US" sz="3200"/>
              <a:t>c</a:t>
            </a:r>
            <a:r>
              <a:rPr baseline="-25000" lang="en-US" sz="3200"/>
              <a:t>1</a:t>
            </a:r>
            <a:r>
              <a:rPr lang="en-US" sz="3200"/>
              <a:t>n + c</a:t>
            </a:r>
            <a:r>
              <a:rPr baseline="-25000" lang="en-US" sz="3200"/>
              <a:t>2</a:t>
            </a:r>
            <a:r>
              <a:rPr lang="en-US" sz="3200"/>
              <a:t>(n-1) + c</a:t>
            </a:r>
            <a:r>
              <a:rPr baseline="-25000" lang="en-US" sz="3200"/>
              <a:t>3</a:t>
            </a:r>
            <a:r>
              <a:rPr lang="en-US" sz="3200"/>
              <a:t>(n-1) + c</a:t>
            </a:r>
            <a:r>
              <a:rPr baseline="-25000" lang="en-US" sz="3200"/>
              <a:t>4</a:t>
            </a:r>
            <a:r>
              <a:rPr lang="en-US" sz="3200"/>
              <a:t>T + c</a:t>
            </a:r>
            <a:r>
              <a:rPr baseline="-25000" lang="en-US" sz="3200"/>
              <a:t>5</a:t>
            </a:r>
            <a:r>
              <a:rPr lang="en-US" sz="3200"/>
              <a:t>(T - (n-1)) + c</a:t>
            </a:r>
            <a:r>
              <a:rPr baseline="-25000" lang="en-US" sz="3200"/>
              <a:t>6</a:t>
            </a:r>
            <a:r>
              <a:rPr lang="en-US" sz="3200"/>
              <a:t>(T - (n-1)) 		+ c</a:t>
            </a:r>
            <a:r>
              <a:rPr baseline="-25000" lang="en-US" sz="3200"/>
              <a:t>7</a:t>
            </a:r>
            <a:r>
              <a:rPr lang="en-US" sz="3200"/>
              <a:t>(n-1)</a:t>
            </a:r>
            <a:r>
              <a:rPr lang="en-US" sz="3600"/>
              <a:t> </a:t>
            </a:r>
            <a:br>
              <a:rPr lang="en-US" sz="3600"/>
            </a:br>
            <a:r>
              <a:rPr lang="en-US" sz="3600"/>
              <a:t>        = c</a:t>
            </a:r>
            <a:r>
              <a:rPr baseline="-25000" lang="en-US" sz="3600"/>
              <a:t>8</a:t>
            </a:r>
            <a:r>
              <a:rPr lang="en-US" sz="3600">
                <a:solidFill>
                  <a:schemeClr val="accent1"/>
                </a:solidFill>
              </a:rPr>
              <a:t>T</a:t>
            </a:r>
            <a:r>
              <a:rPr lang="en-US" sz="3600"/>
              <a:t> + c</a:t>
            </a:r>
            <a:r>
              <a:rPr baseline="-25000" lang="en-US" sz="3600"/>
              <a:t>9</a:t>
            </a:r>
            <a:r>
              <a:rPr lang="en-US" sz="3600">
                <a:solidFill>
                  <a:schemeClr val="accent2"/>
                </a:solidFill>
              </a:rPr>
              <a:t>n</a:t>
            </a:r>
            <a:r>
              <a:rPr lang="en-US" sz="3600"/>
              <a:t> + c</a:t>
            </a:r>
            <a:r>
              <a:rPr baseline="-25000" lang="en-US" sz="3600"/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33CC"/>
              </a:buClr>
              <a:buSzPts val="2700"/>
              <a:buFont typeface="Noto Sans Symbols"/>
              <a:buNone/>
            </a:pPr>
            <a:r>
              <a:t/>
            </a:r>
            <a:endParaRPr sz="3600"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can understand that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solidFill>
                  <a:schemeClr val="accent2"/>
                </a:solidFill>
              </a:rPr>
              <a:t>The time will be more if  the number of input elements is more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solidFill>
                  <a:schemeClr val="accent1"/>
                </a:solidFill>
              </a:rPr>
              <a:t>We can also understand that the time will be more if the while loop runs more</a:t>
            </a:r>
            <a:endParaRPr/>
          </a:p>
        </p:txBody>
      </p:sp>
      <p:sp>
        <p:nvSpPr>
          <p:cNvPr id="2538" name="Google Shape;2538;p1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39" name="Google Shape;2539;p1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40" name="Google Shape;2540;p1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1" name="Google Shape;2541;p1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11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rPr lang="en-US" sz="3600"/>
              <a:t>T(n) = c</a:t>
            </a:r>
            <a:r>
              <a:rPr baseline="-25000" lang="en-US" sz="3600"/>
              <a:t>8</a:t>
            </a:r>
            <a:r>
              <a:rPr lang="en-US" sz="3600">
                <a:solidFill>
                  <a:schemeClr val="accent1"/>
                </a:solidFill>
              </a:rPr>
              <a:t>T</a:t>
            </a:r>
            <a:r>
              <a:rPr lang="en-US" sz="3600"/>
              <a:t> + c</a:t>
            </a:r>
            <a:r>
              <a:rPr baseline="-25000" lang="en-US" sz="3600"/>
              <a:t>9</a:t>
            </a:r>
            <a:r>
              <a:rPr lang="en-US" sz="3600">
                <a:solidFill>
                  <a:schemeClr val="accent2"/>
                </a:solidFill>
              </a:rPr>
              <a:t>n</a:t>
            </a:r>
            <a:r>
              <a:rPr lang="en-US" sz="3600"/>
              <a:t> + c</a:t>
            </a:r>
            <a:r>
              <a:rPr baseline="-25000" lang="en-US" sz="3600"/>
              <a:t>10</a:t>
            </a:r>
            <a:endParaRPr baseline="-25000"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 baseline="-25000" sz="3600"/>
          </a:p>
          <a:p>
            <a:pPr indent="0" lvl="0" marL="0" marR="0" rtl="0" algn="l">
              <a:lnSpc>
                <a:spcPct val="100000"/>
              </a:lnSpc>
              <a:spcBef>
                <a:spcPts val="407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rPr lang="en-US" sz="2200">
                <a:solidFill>
                  <a:schemeClr val="accent1"/>
                </a:solidFill>
              </a:rPr>
              <a:t>We can also understand that the time will be more if the while loop runs more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7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 sz="22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7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rPr lang="en-US" sz="2200">
                <a:solidFill>
                  <a:srgbClr val="0000FF"/>
                </a:solidFill>
              </a:rPr>
              <a:t>What can T be?</a:t>
            </a:r>
            <a:endParaRPr/>
          </a:p>
          <a:p>
            <a:pPr indent="-272129" lvl="1" marL="742950" rtl="0" algn="l">
              <a:lnSpc>
                <a:spcPct val="100000"/>
              </a:lnSpc>
              <a:spcBef>
                <a:spcPts val="407"/>
              </a:spcBef>
              <a:spcAft>
                <a:spcPts val="0"/>
              </a:spcAft>
              <a:buSzPct val="65000"/>
              <a:buChar char="●"/>
            </a:pPr>
            <a:r>
              <a:rPr b="1" lang="en-US" sz="2200">
                <a:solidFill>
                  <a:schemeClr val="dk2"/>
                </a:solidFill>
              </a:rPr>
              <a:t>Best case:</a:t>
            </a:r>
            <a:r>
              <a:rPr lang="en-US" sz="2200"/>
              <a:t>  the array is sorted (inner loop body never executed)</a:t>
            </a:r>
            <a:endParaRPr/>
          </a:p>
          <a:p>
            <a:pPr indent="-21374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= 1 🡺 </a:t>
            </a:r>
            <a:r>
              <a:rPr i="1" lang="en-US"/>
              <a:t>T</a:t>
            </a:r>
            <a:r>
              <a:rPr lang="en-US"/>
              <a:t> = </a:t>
            </a:r>
            <a:r>
              <a:rPr i="1" lang="en-US"/>
              <a:t>n-1</a:t>
            </a:r>
            <a:r>
              <a:rPr lang="en-US"/>
              <a:t> </a:t>
            </a:r>
            <a:endParaRPr/>
          </a:p>
          <a:p>
            <a:pPr indent="-21374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i="1" lang="en-US"/>
              <a:t>T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= </a:t>
            </a:r>
            <a:r>
              <a:rPr i="1" lang="en-US"/>
              <a:t>an</a:t>
            </a:r>
            <a:r>
              <a:rPr lang="en-US"/>
              <a:t> + </a:t>
            </a:r>
            <a:r>
              <a:rPr i="1" lang="en-US"/>
              <a:t>b</a:t>
            </a:r>
            <a:r>
              <a:rPr lang="en-US"/>
              <a:t>, a linear function of </a:t>
            </a:r>
            <a:r>
              <a:rPr i="1" lang="en-US"/>
              <a:t>n</a:t>
            </a:r>
            <a:endParaRPr/>
          </a:p>
          <a:p>
            <a:pPr indent="-272129" lvl="1" marL="742950" rtl="0" algn="l">
              <a:lnSpc>
                <a:spcPct val="100000"/>
              </a:lnSpc>
              <a:spcBef>
                <a:spcPts val="407"/>
              </a:spcBef>
              <a:spcAft>
                <a:spcPts val="0"/>
              </a:spcAft>
              <a:buSzPct val="65000"/>
              <a:buChar char="●"/>
            </a:pPr>
            <a:r>
              <a:rPr b="1" lang="en-US" sz="2200">
                <a:solidFill>
                  <a:schemeClr val="dk2"/>
                </a:solidFill>
              </a:rPr>
              <a:t>Worst case:</a:t>
            </a:r>
            <a:r>
              <a:rPr lang="en-US" sz="2200"/>
              <a:t> the array is reverse sorted (inner loop body executed for all previous elements)</a:t>
            </a:r>
            <a:endParaRPr/>
          </a:p>
          <a:p>
            <a:pPr indent="-21374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i="1" lang="en-US"/>
              <a:t>t</a:t>
            </a:r>
            <a:r>
              <a:rPr baseline="-25000" i="1" lang="en-US"/>
              <a:t>i</a:t>
            </a:r>
            <a:r>
              <a:rPr lang="en-US"/>
              <a:t> = </a:t>
            </a:r>
            <a:r>
              <a:rPr i="1" lang="en-US"/>
              <a:t>i</a:t>
            </a:r>
            <a:r>
              <a:rPr lang="en-US"/>
              <a:t> 🡺 </a:t>
            </a:r>
            <a:r>
              <a:rPr i="1" lang="en-US"/>
              <a:t>T</a:t>
            </a:r>
            <a:r>
              <a:rPr lang="en-US"/>
              <a:t> = </a:t>
            </a:r>
            <a:r>
              <a:rPr i="1" lang="en-US"/>
              <a:t>n</a:t>
            </a:r>
            <a:r>
              <a:rPr lang="en-US"/>
              <a:t>(</a:t>
            </a:r>
            <a:r>
              <a:rPr i="1" lang="en-US"/>
              <a:t>n + </a:t>
            </a:r>
            <a:r>
              <a:rPr lang="en-US"/>
              <a:t>1)/2 - 1</a:t>
            </a:r>
            <a:endParaRPr/>
          </a:p>
          <a:p>
            <a:pPr indent="-21374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i="1" lang="en-US"/>
              <a:t>T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= </a:t>
            </a:r>
            <a:r>
              <a:rPr i="1" lang="en-US"/>
              <a:t>an</a:t>
            </a:r>
            <a:r>
              <a:rPr baseline="30000" lang="en-US"/>
              <a:t>2</a:t>
            </a:r>
            <a:r>
              <a:rPr lang="en-US"/>
              <a:t> </a:t>
            </a:r>
            <a:r>
              <a:rPr lang="en-US"/>
              <a:t>+ </a:t>
            </a:r>
            <a:r>
              <a:rPr i="1" lang="en-US"/>
              <a:t>bn </a:t>
            </a:r>
            <a:r>
              <a:rPr lang="en-US"/>
              <a:t>+ </a:t>
            </a:r>
            <a:r>
              <a:rPr i="1" lang="en-US"/>
              <a:t>c</a:t>
            </a:r>
            <a:r>
              <a:rPr lang="en-US"/>
              <a:t>, a quadratic function of </a:t>
            </a:r>
            <a:r>
              <a:rPr i="1" lang="en-US"/>
              <a:t>n</a:t>
            </a:r>
            <a:endParaRPr/>
          </a:p>
          <a:p>
            <a:pPr indent="-272129" lvl="1" marL="742950" rtl="0" algn="l">
              <a:lnSpc>
                <a:spcPct val="100000"/>
              </a:lnSpc>
              <a:spcBef>
                <a:spcPts val="407"/>
              </a:spcBef>
              <a:spcAft>
                <a:spcPts val="0"/>
              </a:spcAft>
              <a:buSzPct val="65000"/>
              <a:buChar char="●"/>
            </a:pPr>
            <a:r>
              <a:rPr b="1" lang="en-US" sz="2200">
                <a:solidFill>
                  <a:schemeClr val="dk2"/>
                </a:solidFill>
              </a:rPr>
              <a:t>Average case:</a:t>
            </a:r>
            <a:endParaRPr/>
          </a:p>
          <a:p>
            <a:pPr indent="-21374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Will still be </a:t>
            </a:r>
            <a:r>
              <a:rPr i="1" lang="en-US"/>
              <a:t>n</a:t>
            </a:r>
            <a:r>
              <a:rPr baseline="30000" lang="en-US"/>
              <a:t>2  </a:t>
            </a:r>
            <a:r>
              <a:rPr lang="en-US"/>
              <a:t>as there is no guarantee how much checking we have to do on a random array. We might have to check 1 or (n-1) for each case</a:t>
            </a:r>
            <a:endParaRPr baseline="30000"/>
          </a:p>
          <a:p>
            <a:pPr indent="0" lvl="0" marL="0" marR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47" name="Google Shape;2547;p1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48" name="Google Shape;2548;p1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49" name="Google Shape;2549;p1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0" name="Google Shape;2550;p1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Analyzing Insertion Sort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1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56" name="Google Shape;2556;p1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57" name="Google Shape;2557;p1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8" name="Google Shape;2558;p1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Best Case</a:t>
            </a:r>
            <a:endParaRPr/>
          </a:p>
        </p:txBody>
      </p:sp>
      <p:sp>
        <p:nvSpPr>
          <p:cNvPr id="2559" name="Google Shape;2559;p114"/>
          <p:cNvSpPr txBox="1"/>
          <p:nvPr/>
        </p:nvSpPr>
        <p:spPr>
          <a:xfrm>
            <a:off x="718975" y="1238875"/>
            <a:ext cx="10198500" cy="4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</a:rPr>
              <a:t>Best Case — Ω(n)</a:t>
            </a:r>
            <a:endParaRPr b="1"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When does it happen?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array is already sorted.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What happens?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For each element, we only check once and see it is already in the right place.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No shifting.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Why Ω(n)?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We do 1 comparison for each of the n elements → </a:t>
            </a:r>
            <a:r>
              <a:rPr b="1" lang="en-US" sz="1800">
                <a:solidFill>
                  <a:schemeClr val="dk1"/>
                </a:solidFill>
              </a:rPr>
              <a:t>n steps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g3a7bc7ed652_117_1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65" name="Google Shape;2565;g3a7bc7ed652_117_1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66" name="Google Shape;2566;g3a7bc7ed652_117_1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7" name="Google Shape;2567;g3a7bc7ed652_117_14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Worst Case</a:t>
            </a:r>
            <a:endParaRPr/>
          </a:p>
        </p:txBody>
      </p:sp>
      <p:sp>
        <p:nvSpPr>
          <p:cNvPr id="2568" name="Google Shape;2568;g3a7bc7ed652_117_14"/>
          <p:cNvSpPr txBox="1"/>
          <p:nvPr/>
        </p:nvSpPr>
        <p:spPr>
          <a:xfrm>
            <a:off x="718975" y="1238875"/>
            <a:ext cx="10198500" cy="4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</a:rPr>
              <a:t>Worst Case — O(n²)</a:t>
            </a:r>
            <a:endParaRPr b="1"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When does it happen?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array is reverse sorted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What happens?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Every new element has to move all the way to the front.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Lots of comparisons + lots of shifting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Why O(n²)?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1st element → 1 comparison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2nd element → 2 comparisons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3rd element → 3 comparisons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(n−1)th element → (n−1) comparisons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69" name="Google Shape;2569;g3a7bc7ed652_117_14"/>
          <p:cNvSpPr txBox="1"/>
          <p:nvPr/>
        </p:nvSpPr>
        <p:spPr>
          <a:xfrm>
            <a:off x="7090275" y="4313900"/>
            <a:ext cx="400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g3a7bc7ed652_117_14"/>
          <p:cNvSpPr txBox="1"/>
          <p:nvPr/>
        </p:nvSpPr>
        <p:spPr>
          <a:xfrm>
            <a:off x="6205375" y="4712125"/>
            <a:ext cx="464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2"/>
                </a:solidFill>
              </a:rPr>
              <a:t>1+2+⋯+(n−1)= {n(n-1)/2</a:t>
            </a:r>
            <a:r>
              <a:rPr b="1" lang="en-US" sz="2100">
                <a:solidFill>
                  <a:schemeClr val="accent2"/>
                </a:solidFill>
              </a:rPr>
              <a:t>​} ∼ O(</a:t>
            </a:r>
            <a:r>
              <a:rPr b="1" lang="en-US" sz="1800">
                <a:solidFill>
                  <a:schemeClr val="accent2"/>
                </a:solidFill>
              </a:rPr>
              <a:t>n²</a:t>
            </a:r>
            <a:r>
              <a:rPr b="1" lang="en-US" sz="2100">
                <a:solidFill>
                  <a:schemeClr val="accent2"/>
                </a:solidFill>
              </a:rPr>
              <a:t>)</a:t>
            </a:r>
            <a:endParaRPr sz="17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3a7bc7ed652_117_3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76" name="Google Shape;2576;g3a7bc7ed652_117_3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77" name="Google Shape;2577;g3a7bc7ed652_117_3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8" name="Google Shape;2578;g3a7bc7ed652_117_33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Average Case</a:t>
            </a:r>
            <a:endParaRPr/>
          </a:p>
        </p:txBody>
      </p:sp>
      <p:sp>
        <p:nvSpPr>
          <p:cNvPr id="2579" name="Google Shape;2579;g3a7bc7ed652_117_33"/>
          <p:cNvSpPr txBox="1"/>
          <p:nvPr/>
        </p:nvSpPr>
        <p:spPr>
          <a:xfrm>
            <a:off x="838200" y="1650363"/>
            <a:ext cx="101985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</a:rPr>
              <a:t>Average Case — Θ(n²)</a:t>
            </a:r>
            <a:endParaRPr b="1"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When does it happen?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array is in a random order.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What happens?</a:t>
            </a:r>
            <a:endParaRPr b="1" sz="18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1800">
                <a:solidFill>
                  <a:schemeClr val="dk1"/>
                </a:solidFill>
              </a:rPr>
              <a:t>On average, each element moves halfway back in the sorted portion.</a:t>
            </a:r>
            <a:endParaRPr sz="18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1800">
                <a:solidFill>
                  <a:schemeClr val="dk1"/>
                </a:solidFill>
              </a:rPr>
              <a:t>So each step takes about </a:t>
            </a:r>
            <a:r>
              <a:rPr b="1" lang="en-US" sz="1800">
                <a:solidFill>
                  <a:schemeClr val="dk1"/>
                </a:solidFill>
              </a:rPr>
              <a:t>i/2</a:t>
            </a:r>
            <a:r>
              <a:rPr lang="en-US" sz="1800">
                <a:solidFill>
                  <a:schemeClr val="dk1"/>
                </a:solidFill>
              </a:rPr>
              <a:t> comparisons.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Why </a:t>
            </a:r>
            <a:r>
              <a:rPr b="1" lang="en-US" sz="1800">
                <a:solidFill>
                  <a:schemeClr val="dk1"/>
                </a:solidFill>
              </a:rPr>
              <a:t>Θ(n²)</a:t>
            </a:r>
            <a:r>
              <a:rPr b="1" lang="en-US" sz="1800">
                <a:solidFill>
                  <a:schemeClr val="dk1"/>
                </a:solidFill>
              </a:rPr>
              <a:t>?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Total work </a:t>
            </a:r>
            <a:r>
              <a:rPr b="1" lang="en-US" sz="2100">
                <a:solidFill>
                  <a:schemeClr val="dk1"/>
                </a:solidFill>
              </a:rPr>
              <a:t>∼</a:t>
            </a:r>
            <a:r>
              <a:rPr b="1" lang="en-US" sz="2100">
                <a:solidFill>
                  <a:schemeClr val="accent2"/>
                </a:solidFill>
              </a:rPr>
              <a:t> ½(1+2+3+.....+(n-1)) </a:t>
            </a:r>
            <a:r>
              <a:rPr lang="en-US" sz="1800">
                <a:solidFill>
                  <a:schemeClr val="dk1"/>
                </a:solidFill>
              </a:rPr>
              <a:t>which is proportional to </a:t>
            </a:r>
            <a:r>
              <a:rPr b="1" lang="en-US" sz="1800">
                <a:solidFill>
                  <a:schemeClr val="accent2"/>
                </a:solidFill>
              </a:rPr>
              <a:t>Θ(n²)</a:t>
            </a:r>
            <a:endParaRPr sz="1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1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ASYMPTOTIC ANALYSIS</a:t>
            </a:r>
            <a:endParaRPr/>
          </a:p>
        </p:txBody>
      </p:sp>
      <p:sp>
        <p:nvSpPr>
          <p:cNvPr id="2585" name="Google Shape;2585;p1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586" name="Google Shape;2586;p1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87" name="Google Shape;2587;p1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88" name="Google Shape;2588;p1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1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>
                <a:solidFill>
                  <a:schemeClr val="accent1"/>
                </a:solidFill>
              </a:rPr>
              <a:t>Upper Bound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Provides an upper bound on running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An absolute guarantee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>
                <a:solidFill>
                  <a:schemeClr val="accent1"/>
                </a:solidFill>
              </a:rPr>
              <a:t>Asymptotically Tight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Provides the expected running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Very useful, but treat with care: what is “</a:t>
            </a:r>
            <a:r>
              <a:rPr lang="en-US">
                <a:solidFill>
                  <a:srgbClr val="FF0000"/>
                </a:solidFill>
              </a:rPr>
              <a:t>average</a:t>
            </a:r>
            <a:r>
              <a:rPr lang="en-US"/>
              <a:t>”?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Random (equally likely) inputs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Real-life inputs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>
                <a:solidFill>
                  <a:schemeClr val="accent1"/>
                </a:solidFill>
              </a:rPr>
              <a:t>Lower Bound</a:t>
            </a:r>
            <a:endParaRPr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94" name="Google Shape;2594;p1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595" name="Google Shape;2595;p1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596" name="Google Shape;2596;p1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7" name="Google Shape;2597;p1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Asymptotic Analysis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p1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We say InsertionSort’s run time is </a:t>
            </a:r>
            <a:r>
              <a:rPr i="1" lang="en-US">
                <a:solidFill>
                  <a:schemeClr val="dk2"/>
                </a:solidFill>
              </a:rPr>
              <a:t>O</a:t>
            </a:r>
            <a:r>
              <a:rPr lang="en-US">
                <a:solidFill>
                  <a:schemeClr val="dk2"/>
                </a:solidFill>
              </a:rPr>
              <a:t>(</a:t>
            </a:r>
            <a:r>
              <a:rPr i="1" lang="en-US">
                <a:solidFill>
                  <a:schemeClr val="dk2"/>
                </a:solidFill>
              </a:rPr>
              <a:t>n</a:t>
            </a:r>
            <a:r>
              <a:rPr baseline="30000" lang="en-US">
                <a:solidFill>
                  <a:schemeClr val="dk2"/>
                </a:solidFill>
              </a:rPr>
              <a:t>2</a:t>
            </a:r>
            <a:r>
              <a:rPr lang="en-US">
                <a:solidFill>
                  <a:schemeClr val="dk2"/>
                </a:solidFill>
              </a:rPr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Properly we should say run time is </a:t>
            </a:r>
            <a:r>
              <a:rPr i="1" lang="en-US"/>
              <a:t>in</a:t>
            </a:r>
            <a:r>
              <a:rPr lang="en-US"/>
              <a:t>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n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Read </a:t>
            </a:r>
            <a:r>
              <a:rPr i="1" lang="en-US"/>
              <a:t>O</a:t>
            </a:r>
            <a:r>
              <a:rPr lang="en-US"/>
              <a:t> as “Big-</a:t>
            </a:r>
            <a:r>
              <a:rPr i="1" lang="en-US"/>
              <a:t>O</a:t>
            </a:r>
            <a:r>
              <a:rPr lang="en-US"/>
              <a:t>” (you’ll also hear it as “order”)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In general a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is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)) if there exist positive constants </a:t>
            </a:r>
            <a:r>
              <a:rPr i="1" lang="en-US"/>
              <a:t>c</a:t>
            </a:r>
            <a:r>
              <a:rPr lang="en-US"/>
              <a:t> and </a:t>
            </a:r>
            <a:r>
              <a:rPr i="1" lang="en-US"/>
              <a:t>n</a:t>
            </a:r>
            <a:r>
              <a:rPr baseline="-25000" i="1" lang="en-US"/>
              <a:t>0</a:t>
            </a:r>
            <a:r>
              <a:rPr i="1" lang="en-US"/>
              <a:t> </a:t>
            </a:r>
            <a:r>
              <a:rPr lang="en-US"/>
              <a:t>such that 0 ≤ </a:t>
            </a: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≤ </a:t>
            </a:r>
            <a:r>
              <a:rPr i="1" lang="en-US"/>
              <a:t>c</a:t>
            </a:r>
            <a:r>
              <a:rPr lang="en-US"/>
              <a:t> ⋅ 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for all </a:t>
            </a:r>
            <a:r>
              <a:rPr i="1" lang="en-US"/>
              <a:t>n</a:t>
            </a:r>
            <a:r>
              <a:rPr lang="en-US"/>
              <a:t> ≥ </a:t>
            </a:r>
            <a:r>
              <a:rPr i="1" lang="en-US"/>
              <a:t>n</a:t>
            </a:r>
            <a:r>
              <a:rPr baseline="-25000" i="1" lang="en-US"/>
              <a:t>0</a:t>
            </a:r>
            <a:endParaRPr i="1"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Formally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)) = { </a:t>
            </a: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): ∃ positive constants </a:t>
            </a:r>
            <a:r>
              <a:rPr i="1" lang="en-US"/>
              <a:t>c</a:t>
            </a:r>
            <a:r>
              <a:rPr lang="en-US"/>
              <a:t> and </a:t>
            </a:r>
            <a:r>
              <a:rPr i="1" lang="en-US"/>
              <a:t>n</a:t>
            </a:r>
            <a:r>
              <a:rPr baseline="-25000" i="1" lang="en-US"/>
              <a:t>0</a:t>
            </a:r>
            <a:r>
              <a:rPr i="1" lang="en-US"/>
              <a:t> </a:t>
            </a:r>
            <a:r>
              <a:rPr lang="en-US"/>
              <a:t>such that 0 ≤ </a:t>
            </a: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≤ </a:t>
            </a:r>
            <a:r>
              <a:rPr i="1" lang="en-US"/>
              <a:t>c</a:t>
            </a:r>
            <a:r>
              <a:rPr lang="en-US"/>
              <a:t> ⋅ 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∀ </a:t>
            </a:r>
            <a:r>
              <a:rPr i="1" lang="en-US"/>
              <a:t>n</a:t>
            </a:r>
            <a:r>
              <a:rPr lang="en-US"/>
              <a:t> ≥ </a:t>
            </a:r>
            <a:r>
              <a:rPr i="1" lang="en-US"/>
              <a:t>n</a:t>
            </a:r>
            <a:r>
              <a:rPr baseline="-25000" i="1" lang="en-US"/>
              <a:t>0 </a:t>
            </a:r>
            <a:r>
              <a:rPr lang="en-US"/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603" name="Google Shape;2603;p1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04" name="Google Shape;2604;p1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05" name="Google Shape;2605;p1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6" name="Google Shape;2606;p1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Upper Bound Notation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p1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12" name="Google Shape;2612;p1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13" name="Google Shape;2613;p1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4" name="Google Shape;2614;p1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Upper Bound Notation</a:t>
            </a:r>
            <a:endParaRPr/>
          </a:p>
        </p:txBody>
      </p:sp>
      <p:cxnSp>
        <p:nvCxnSpPr>
          <p:cNvPr id="2615" name="Google Shape;2615;p120"/>
          <p:cNvCxnSpPr/>
          <p:nvPr/>
        </p:nvCxnSpPr>
        <p:spPr>
          <a:xfrm>
            <a:off x="3124200" y="1511450"/>
            <a:ext cx="0" cy="3581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6" name="Google Shape;2616;p120"/>
          <p:cNvCxnSpPr/>
          <p:nvPr/>
        </p:nvCxnSpPr>
        <p:spPr>
          <a:xfrm>
            <a:off x="3124200" y="5092850"/>
            <a:ext cx="5410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7" name="Google Shape;2617;p120"/>
          <p:cNvSpPr txBox="1"/>
          <p:nvPr/>
        </p:nvSpPr>
        <p:spPr>
          <a:xfrm>
            <a:off x="2209800" y="143525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p120"/>
          <p:cNvSpPr txBox="1"/>
          <p:nvPr/>
        </p:nvSpPr>
        <p:spPr>
          <a:xfrm>
            <a:off x="8001000" y="509285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9" name="Google Shape;2619;p120"/>
          <p:cNvCxnSpPr/>
          <p:nvPr/>
        </p:nvCxnSpPr>
        <p:spPr>
          <a:xfrm rot="10800000">
            <a:off x="4572000" y="3264050"/>
            <a:ext cx="0" cy="1828800"/>
          </a:xfrm>
          <a:prstGeom prst="straightConnector1">
            <a:avLst/>
          </a:prstGeom>
          <a:noFill/>
          <a:ln cap="rnd" cmpd="sng" w="127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20" name="Google Shape;2620;p120"/>
          <p:cNvSpPr txBox="1"/>
          <p:nvPr/>
        </p:nvSpPr>
        <p:spPr>
          <a:xfrm>
            <a:off x="4191000" y="507697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120"/>
          <p:cNvSpPr/>
          <p:nvPr/>
        </p:nvSpPr>
        <p:spPr>
          <a:xfrm>
            <a:off x="3124200" y="2425850"/>
            <a:ext cx="5486400" cy="1841500"/>
          </a:xfrm>
          <a:custGeom>
            <a:rect b="b" l="l" r="r" t="t"/>
            <a:pathLst>
              <a:path extrusionOk="0" h="1160" w="3456">
                <a:moveTo>
                  <a:pt x="0" y="816"/>
                </a:moveTo>
                <a:cubicBezTo>
                  <a:pt x="56" y="696"/>
                  <a:pt x="112" y="576"/>
                  <a:pt x="192" y="624"/>
                </a:cubicBezTo>
                <a:cubicBezTo>
                  <a:pt x="272" y="672"/>
                  <a:pt x="400" y="1160"/>
                  <a:pt x="480" y="1104"/>
                </a:cubicBezTo>
                <a:cubicBezTo>
                  <a:pt x="560" y="1048"/>
                  <a:pt x="584" y="360"/>
                  <a:pt x="672" y="288"/>
                </a:cubicBezTo>
                <a:cubicBezTo>
                  <a:pt x="760" y="216"/>
                  <a:pt x="864" y="560"/>
                  <a:pt x="1008" y="672"/>
                </a:cubicBezTo>
                <a:cubicBezTo>
                  <a:pt x="1152" y="784"/>
                  <a:pt x="1128" y="1072"/>
                  <a:pt x="1536" y="960"/>
                </a:cubicBezTo>
                <a:cubicBezTo>
                  <a:pt x="1944" y="848"/>
                  <a:pt x="3136" y="160"/>
                  <a:pt x="345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2" name="Google Shape;2622;p120"/>
          <p:cNvSpPr/>
          <p:nvPr/>
        </p:nvSpPr>
        <p:spPr>
          <a:xfrm>
            <a:off x="3124200" y="1511450"/>
            <a:ext cx="5486400" cy="2438400"/>
          </a:xfrm>
          <a:custGeom>
            <a:rect b="b" l="l" r="r" t="t"/>
            <a:pathLst>
              <a:path extrusionOk="0" h="1536" w="3456">
                <a:moveTo>
                  <a:pt x="0" y="1536"/>
                </a:moveTo>
                <a:cubicBezTo>
                  <a:pt x="140" y="1492"/>
                  <a:pt x="280" y="1448"/>
                  <a:pt x="384" y="1392"/>
                </a:cubicBezTo>
                <a:cubicBezTo>
                  <a:pt x="488" y="1336"/>
                  <a:pt x="488" y="1256"/>
                  <a:pt x="624" y="1200"/>
                </a:cubicBezTo>
                <a:cubicBezTo>
                  <a:pt x="760" y="1144"/>
                  <a:pt x="1016" y="1112"/>
                  <a:pt x="1200" y="1056"/>
                </a:cubicBezTo>
                <a:cubicBezTo>
                  <a:pt x="1384" y="1000"/>
                  <a:pt x="1488" y="960"/>
                  <a:pt x="1728" y="864"/>
                </a:cubicBezTo>
                <a:cubicBezTo>
                  <a:pt x="1968" y="768"/>
                  <a:pt x="2352" y="624"/>
                  <a:pt x="2640" y="480"/>
                </a:cubicBezTo>
                <a:cubicBezTo>
                  <a:pt x="2928" y="336"/>
                  <a:pt x="3192" y="168"/>
                  <a:pt x="345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120"/>
          <p:cNvSpPr txBox="1"/>
          <p:nvPr/>
        </p:nvSpPr>
        <p:spPr>
          <a:xfrm>
            <a:off x="8305800" y="248617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120"/>
          <p:cNvSpPr txBox="1"/>
          <p:nvPr/>
        </p:nvSpPr>
        <p:spPr>
          <a:xfrm>
            <a:off x="8229600" y="1130450"/>
            <a:ext cx="990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120"/>
          <p:cNvSpPr/>
          <p:nvPr/>
        </p:nvSpPr>
        <p:spPr>
          <a:xfrm>
            <a:off x="1822450" y="5626250"/>
            <a:ext cx="7913688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080"/>
              <a:buFont typeface="Noto Sans Symbols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say </a:t>
            </a:r>
            <a:r>
              <a:rPr b="1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</a:t>
            </a:r>
            <a:r>
              <a:rPr b="1" i="1" lang="en-US" sz="2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asymptotic upper bound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12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We say InsertionSort’s run time is Ω(n)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In general a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is Ω(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)) if ∃ positive constants </a:t>
            </a:r>
            <a:r>
              <a:rPr i="1" lang="en-US"/>
              <a:t>c</a:t>
            </a:r>
            <a:r>
              <a:rPr lang="en-US"/>
              <a:t> and </a:t>
            </a:r>
            <a:r>
              <a:rPr i="1" lang="en-US"/>
              <a:t>n</a:t>
            </a:r>
            <a:r>
              <a:rPr baseline="-25000" i="1" lang="en-US"/>
              <a:t>0</a:t>
            </a:r>
            <a:r>
              <a:rPr i="1" lang="en-US"/>
              <a:t> </a:t>
            </a:r>
            <a:r>
              <a:rPr lang="en-US"/>
              <a:t>such that 0 ≤ </a:t>
            </a:r>
            <a:r>
              <a:rPr i="1" lang="en-US"/>
              <a:t>c⋅g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≤ </a:t>
            </a: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 ∀ </a:t>
            </a:r>
            <a:r>
              <a:rPr i="1" lang="en-US"/>
              <a:t>n</a:t>
            </a:r>
            <a:r>
              <a:rPr lang="en-US"/>
              <a:t> ≥ </a:t>
            </a:r>
            <a:r>
              <a:rPr i="1" lang="en-US"/>
              <a:t>n</a:t>
            </a:r>
            <a:r>
              <a:rPr baseline="-25000" i="1" lang="en-US"/>
              <a:t>0</a:t>
            </a:r>
            <a:endParaRPr i="1"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Proof: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Suppose run time is an + b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Assume a and b are positive</a:t>
            </a:r>
            <a:endParaRPr>
              <a:solidFill>
                <a:schemeClr val="accent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an ≤ an +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631" name="Google Shape;2631;p1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32" name="Google Shape;2632;p1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33" name="Google Shape;2633;p1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4" name="Google Shape;2634;p1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Lower Bound Notation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p1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40" name="Google Shape;2640;p1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41" name="Google Shape;2641;p1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2" name="Google Shape;2642;p1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Lower Bound Notation</a:t>
            </a:r>
            <a:endParaRPr/>
          </a:p>
        </p:txBody>
      </p:sp>
      <p:cxnSp>
        <p:nvCxnSpPr>
          <p:cNvPr id="2643" name="Google Shape;2643;p122"/>
          <p:cNvCxnSpPr/>
          <p:nvPr/>
        </p:nvCxnSpPr>
        <p:spPr>
          <a:xfrm>
            <a:off x="3082159" y="1832125"/>
            <a:ext cx="0" cy="3581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4" name="Google Shape;2644;p122"/>
          <p:cNvCxnSpPr/>
          <p:nvPr/>
        </p:nvCxnSpPr>
        <p:spPr>
          <a:xfrm>
            <a:off x="3082159" y="5413525"/>
            <a:ext cx="5410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5" name="Google Shape;2645;p122"/>
          <p:cNvSpPr txBox="1"/>
          <p:nvPr/>
        </p:nvSpPr>
        <p:spPr>
          <a:xfrm>
            <a:off x="2167759" y="17559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6" name="Google Shape;2646;p122"/>
          <p:cNvCxnSpPr/>
          <p:nvPr/>
        </p:nvCxnSpPr>
        <p:spPr>
          <a:xfrm rot="10800000">
            <a:off x="4529959" y="4575325"/>
            <a:ext cx="0" cy="838200"/>
          </a:xfrm>
          <a:prstGeom prst="straightConnector1">
            <a:avLst/>
          </a:prstGeom>
          <a:noFill/>
          <a:ln cap="rnd" cmpd="sng" w="127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47" name="Google Shape;2647;p122"/>
          <p:cNvSpPr txBox="1"/>
          <p:nvPr/>
        </p:nvSpPr>
        <p:spPr>
          <a:xfrm>
            <a:off x="4148959" y="539765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122"/>
          <p:cNvSpPr/>
          <p:nvPr/>
        </p:nvSpPr>
        <p:spPr>
          <a:xfrm>
            <a:off x="3082159" y="2746525"/>
            <a:ext cx="5486400" cy="2438400"/>
          </a:xfrm>
          <a:custGeom>
            <a:rect b="b" l="l" r="r" t="t"/>
            <a:pathLst>
              <a:path extrusionOk="0" h="1536" w="3456">
                <a:moveTo>
                  <a:pt x="0" y="1536"/>
                </a:moveTo>
                <a:cubicBezTo>
                  <a:pt x="140" y="1492"/>
                  <a:pt x="280" y="1448"/>
                  <a:pt x="384" y="1392"/>
                </a:cubicBezTo>
                <a:cubicBezTo>
                  <a:pt x="488" y="1336"/>
                  <a:pt x="488" y="1256"/>
                  <a:pt x="624" y="1200"/>
                </a:cubicBezTo>
                <a:cubicBezTo>
                  <a:pt x="760" y="1144"/>
                  <a:pt x="1016" y="1112"/>
                  <a:pt x="1200" y="1056"/>
                </a:cubicBezTo>
                <a:cubicBezTo>
                  <a:pt x="1384" y="1000"/>
                  <a:pt x="1488" y="960"/>
                  <a:pt x="1728" y="864"/>
                </a:cubicBezTo>
                <a:cubicBezTo>
                  <a:pt x="1968" y="768"/>
                  <a:pt x="2352" y="624"/>
                  <a:pt x="2640" y="480"/>
                </a:cubicBezTo>
                <a:cubicBezTo>
                  <a:pt x="2928" y="336"/>
                  <a:pt x="3192" y="168"/>
                  <a:pt x="345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p122"/>
          <p:cNvSpPr txBox="1"/>
          <p:nvPr/>
        </p:nvSpPr>
        <p:spPr>
          <a:xfrm>
            <a:off x="8263759" y="2806850"/>
            <a:ext cx="990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0" name="Google Shape;2650;p122"/>
          <p:cNvSpPr txBox="1"/>
          <p:nvPr/>
        </p:nvSpPr>
        <p:spPr>
          <a:xfrm>
            <a:off x="8187559" y="1451125"/>
            <a:ext cx="990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1" name="Google Shape;2651;p122"/>
          <p:cNvSpPr/>
          <p:nvPr/>
        </p:nvSpPr>
        <p:spPr>
          <a:xfrm>
            <a:off x="3310759" y="1755925"/>
            <a:ext cx="5105400" cy="3657600"/>
          </a:xfrm>
          <a:custGeom>
            <a:rect b="b" l="l" r="r" t="t"/>
            <a:pathLst>
              <a:path extrusionOk="0" h="2304" w="3216">
                <a:moveTo>
                  <a:pt x="0" y="2304"/>
                </a:moveTo>
                <a:cubicBezTo>
                  <a:pt x="8" y="2032"/>
                  <a:pt x="16" y="1760"/>
                  <a:pt x="96" y="1728"/>
                </a:cubicBezTo>
                <a:cubicBezTo>
                  <a:pt x="176" y="1696"/>
                  <a:pt x="360" y="2128"/>
                  <a:pt x="480" y="2112"/>
                </a:cubicBezTo>
                <a:cubicBezTo>
                  <a:pt x="600" y="2096"/>
                  <a:pt x="704" y="1792"/>
                  <a:pt x="816" y="1632"/>
                </a:cubicBezTo>
                <a:cubicBezTo>
                  <a:pt x="928" y="1472"/>
                  <a:pt x="752" y="1424"/>
                  <a:pt x="1152" y="1152"/>
                </a:cubicBezTo>
                <a:cubicBezTo>
                  <a:pt x="1552" y="880"/>
                  <a:pt x="2384" y="440"/>
                  <a:pt x="321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1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600"/>
              <a:t>A function </a:t>
            </a:r>
            <a:r>
              <a:rPr i="1" lang="en-US" sz="2600"/>
              <a:t>f</a:t>
            </a:r>
            <a:r>
              <a:rPr lang="en-US" sz="2600"/>
              <a:t>(</a:t>
            </a:r>
            <a:r>
              <a:rPr i="1" lang="en-US" sz="2600"/>
              <a:t>n</a:t>
            </a:r>
            <a:r>
              <a:rPr lang="en-US" sz="2600"/>
              <a:t>) is Θ(</a:t>
            </a:r>
            <a:r>
              <a:rPr i="1" lang="en-US" sz="2600"/>
              <a:t>g</a:t>
            </a:r>
            <a:r>
              <a:rPr lang="en-US" sz="2600"/>
              <a:t>(</a:t>
            </a:r>
            <a:r>
              <a:rPr i="1" lang="en-US" sz="2600"/>
              <a:t>n</a:t>
            </a:r>
            <a:r>
              <a:rPr lang="en-US" sz="2600"/>
              <a:t>)) if ∃ positive constants </a:t>
            </a:r>
            <a:r>
              <a:rPr i="1" lang="en-US" sz="2600"/>
              <a:t>c</a:t>
            </a:r>
            <a:r>
              <a:rPr baseline="-25000" lang="en-US" sz="2600"/>
              <a:t>1</a:t>
            </a:r>
            <a:r>
              <a:rPr lang="en-US" sz="2600"/>
              <a:t>, </a:t>
            </a:r>
            <a:r>
              <a:rPr i="1" lang="en-US" sz="2600"/>
              <a:t>c</a:t>
            </a:r>
            <a:r>
              <a:rPr baseline="-25000" lang="en-US" sz="2600"/>
              <a:t>2</a:t>
            </a:r>
            <a:r>
              <a:rPr lang="en-US" sz="2600"/>
              <a:t>, and </a:t>
            </a:r>
            <a:r>
              <a:rPr i="1" lang="en-US" sz="2600"/>
              <a:t>n</a:t>
            </a:r>
            <a:r>
              <a:rPr baseline="-25000" lang="en-US" sz="2600"/>
              <a:t>0</a:t>
            </a:r>
            <a:r>
              <a:rPr lang="en-US" sz="2600"/>
              <a:t> such that </a:t>
            </a:r>
            <a:br>
              <a:rPr lang="en-US" sz="2600"/>
            </a:br>
            <a:r>
              <a:rPr lang="en-US" sz="2600"/>
              <a:t>	</a:t>
            </a:r>
            <a:br>
              <a:rPr lang="en-US" sz="2600"/>
            </a:br>
            <a:r>
              <a:rPr lang="en-US" sz="2600"/>
              <a:t>	 0 ≤</a:t>
            </a:r>
            <a:r>
              <a:rPr lang="en-US"/>
              <a:t> </a:t>
            </a:r>
            <a:r>
              <a:rPr i="1" lang="en-US" sz="2600"/>
              <a:t>c</a:t>
            </a:r>
            <a:r>
              <a:rPr baseline="-25000" lang="en-US" sz="2600"/>
              <a:t>1</a:t>
            </a:r>
            <a:r>
              <a:rPr lang="en-US" sz="2600"/>
              <a:t> </a:t>
            </a:r>
            <a:r>
              <a:rPr i="1" lang="en-US" sz="2600"/>
              <a:t>g</a:t>
            </a:r>
            <a:r>
              <a:rPr lang="en-US" sz="2600"/>
              <a:t>(</a:t>
            </a:r>
            <a:r>
              <a:rPr i="1" lang="en-US" sz="2600"/>
              <a:t>n</a:t>
            </a:r>
            <a:r>
              <a:rPr lang="en-US" sz="2600"/>
              <a:t>) ≤ </a:t>
            </a:r>
            <a:r>
              <a:rPr i="1" lang="en-US" sz="2600"/>
              <a:t>f</a:t>
            </a:r>
            <a:r>
              <a:rPr lang="en-US" sz="2600"/>
              <a:t>(</a:t>
            </a:r>
            <a:r>
              <a:rPr i="1" lang="en-US" sz="2600"/>
              <a:t>n</a:t>
            </a:r>
            <a:r>
              <a:rPr lang="en-US" sz="2600"/>
              <a:t>) ≤ </a:t>
            </a:r>
            <a:r>
              <a:rPr i="1" lang="en-US" sz="2600"/>
              <a:t>c</a:t>
            </a:r>
            <a:r>
              <a:rPr baseline="-25000" lang="en-US" sz="2600"/>
              <a:t>2</a:t>
            </a:r>
            <a:r>
              <a:rPr lang="en-US" sz="2600"/>
              <a:t> </a:t>
            </a:r>
            <a:r>
              <a:rPr i="1" lang="en-US" sz="2600"/>
              <a:t>g</a:t>
            </a:r>
            <a:r>
              <a:rPr lang="en-US" sz="2600"/>
              <a:t>(</a:t>
            </a:r>
            <a:r>
              <a:rPr i="1" lang="en-US" sz="2600"/>
              <a:t>n</a:t>
            </a:r>
            <a:r>
              <a:rPr lang="en-US" sz="2600"/>
              <a:t>) ∀ </a:t>
            </a:r>
            <a:r>
              <a:rPr i="1" lang="en-US" sz="2600"/>
              <a:t>n</a:t>
            </a:r>
            <a:r>
              <a:rPr lang="en-US" sz="2600"/>
              <a:t> ≥ </a:t>
            </a:r>
            <a:r>
              <a:rPr i="1" lang="en-US" sz="2600"/>
              <a:t>n</a:t>
            </a:r>
            <a:r>
              <a:rPr baseline="-25000" lang="en-US" sz="2600"/>
              <a:t>0</a:t>
            </a:r>
            <a:endParaRPr sz="2600"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t/>
            </a:r>
            <a:endParaRPr sz="2600"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Theorem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is Θ(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)) iff </a:t>
            </a:r>
            <a:r>
              <a:rPr i="1" lang="en-US"/>
              <a:t>f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is both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)) and Ω(</a:t>
            </a:r>
            <a:r>
              <a:rPr i="1" lang="en-US"/>
              <a:t>g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Proof: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657" name="Google Shape;2657;p1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58" name="Google Shape;2658;p1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59" name="Google Shape;2659;p1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0" name="Google Shape;2660;p1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Asymptotic Tight Bound Notation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1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666" name="Google Shape;2666;p1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67" name="Google Shape;2667;p1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68" name="Google Shape;2668;p1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9" name="Google Shape;2669;p1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Asymptotic Tight Bound Notation</a:t>
            </a:r>
            <a:endParaRPr/>
          </a:p>
        </p:txBody>
      </p:sp>
      <p:cxnSp>
        <p:nvCxnSpPr>
          <p:cNvPr id="2670" name="Google Shape;2670;p124"/>
          <p:cNvCxnSpPr/>
          <p:nvPr/>
        </p:nvCxnSpPr>
        <p:spPr>
          <a:xfrm>
            <a:off x="3276600" y="1906888"/>
            <a:ext cx="0" cy="3581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1" name="Google Shape;2671;p124"/>
          <p:cNvCxnSpPr/>
          <p:nvPr/>
        </p:nvCxnSpPr>
        <p:spPr>
          <a:xfrm>
            <a:off x="3276600" y="5488288"/>
            <a:ext cx="5410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2" name="Google Shape;2672;p124"/>
          <p:cNvSpPr txBox="1"/>
          <p:nvPr/>
        </p:nvSpPr>
        <p:spPr>
          <a:xfrm>
            <a:off x="2362200" y="1830688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3" name="Google Shape;2673;p124"/>
          <p:cNvSpPr txBox="1"/>
          <p:nvPr/>
        </p:nvSpPr>
        <p:spPr>
          <a:xfrm>
            <a:off x="8153400" y="5488288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4" name="Google Shape;2674;p124"/>
          <p:cNvCxnSpPr/>
          <p:nvPr/>
        </p:nvCxnSpPr>
        <p:spPr>
          <a:xfrm rot="10800000">
            <a:off x="4724400" y="3278488"/>
            <a:ext cx="0" cy="2209800"/>
          </a:xfrm>
          <a:prstGeom prst="straightConnector1">
            <a:avLst/>
          </a:prstGeom>
          <a:noFill/>
          <a:ln cap="rnd" cmpd="sng" w="127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5" name="Google Shape;2675;p124"/>
          <p:cNvSpPr txBox="1"/>
          <p:nvPr/>
        </p:nvSpPr>
        <p:spPr>
          <a:xfrm>
            <a:off x="4343400" y="5472413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124"/>
          <p:cNvSpPr/>
          <p:nvPr/>
        </p:nvSpPr>
        <p:spPr>
          <a:xfrm>
            <a:off x="3276600" y="2821288"/>
            <a:ext cx="5486400" cy="2438400"/>
          </a:xfrm>
          <a:custGeom>
            <a:rect b="b" l="l" r="r" t="t"/>
            <a:pathLst>
              <a:path extrusionOk="0" h="1536" w="3456">
                <a:moveTo>
                  <a:pt x="0" y="1536"/>
                </a:moveTo>
                <a:cubicBezTo>
                  <a:pt x="140" y="1492"/>
                  <a:pt x="280" y="1448"/>
                  <a:pt x="384" y="1392"/>
                </a:cubicBezTo>
                <a:cubicBezTo>
                  <a:pt x="488" y="1336"/>
                  <a:pt x="488" y="1256"/>
                  <a:pt x="624" y="1200"/>
                </a:cubicBezTo>
                <a:cubicBezTo>
                  <a:pt x="760" y="1144"/>
                  <a:pt x="1016" y="1112"/>
                  <a:pt x="1200" y="1056"/>
                </a:cubicBezTo>
                <a:cubicBezTo>
                  <a:pt x="1384" y="1000"/>
                  <a:pt x="1488" y="960"/>
                  <a:pt x="1728" y="864"/>
                </a:cubicBezTo>
                <a:cubicBezTo>
                  <a:pt x="1968" y="768"/>
                  <a:pt x="2352" y="624"/>
                  <a:pt x="2640" y="480"/>
                </a:cubicBezTo>
                <a:cubicBezTo>
                  <a:pt x="2928" y="336"/>
                  <a:pt x="3192" y="168"/>
                  <a:pt x="345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124"/>
          <p:cNvSpPr txBox="1"/>
          <p:nvPr/>
        </p:nvSpPr>
        <p:spPr>
          <a:xfrm>
            <a:off x="8458200" y="2881613"/>
            <a:ext cx="990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8" name="Google Shape;2678;p124"/>
          <p:cNvSpPr txBox="1"/>
          <p:nvPr/>
        </p:nvSpPr>
        <p:spPr>
          <a:xfrm>
            <a:off x="8382000" y="1525888"/>
            <a:ext cx="990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124"/>
          <p:cNvSpPr/>
          <p:nvPr/>
        </p:nvSpPr>
        <p:spPr>
          <a:xfrm>
            <a:off x="3505200" y="1830688"/>
            <a:ext cx="5105400" cy="3657600"/>
          </a:xfrm>
          <a:custGeom>
            <a:rect b="b" l="l" r="r" t="t"/>
            <a:pathLst>
              <a:path extrusionOk="0" h="2304" w="3216">
                <a:moveTo>
                  <a:pt x="0" y="2304"/>
                </a:moveTo>
                <a:cubicBezTo>
                  <a:pt x="8" y="2032"/>
                  <a:pt x="16" y="1760"/>
                  <a:pt x="96" y="1728"/>
                </a:cubicBezTo>
                <a:cubicBezTo>
                  <a:pt x="176" y="1696"/>
                  <a:pt x="360" y="2128"/>
                  <a:pt x="480" y="2112"/>
                </a:cubicBezTo>
                <a:cubicBezTo>
                  <a:pt x="600" y="2096"/>
                  <a:pt x="704" y="1792"/>
                  <a:pt x="816" y="1632"/>
                </a:cubicBezTo>
                <a:cubicBezTo>
                  <a:pt x="928" y="1472"/>
                  <a:pt x="752" y="1424"/>
                  <a:pt x="1152" y="1152"/>
                </a:cubicBezTo>
                <a:cubicBezTo>
                  <a:pt x="1552" y="880"/>
                  <a:pt x="2384" y="440"/>
                  <a:pt x="3216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124"/>
          <p:cNvSpPr/>
          <p:nvPr/>
        </p:nvSpPr>
        <p:spPr>
          <a:xfrm>
            <a:off x="3276600" y="1221088"/>
            <a:ext cx="4876800" cy="4267200"/>
          </a:xfrm>
          <a:custGeom>
            <a:rect b="b" l="l" r="r" t="t"/>
            <a:pathLst>
              <a:path extrusionOk="0" h="2688" w="3072">
                <a:moveTo>
                  <a:pt x="0" y="2688"/>
                </a:moveTo>
                <a:cubicBezTo>
                  <a:pt x="168" y="2488"/>
                  <a:pt x="336" y="2288"/>
                  <a:pt x="480" y="2064"/>
                </a:cubicBezTo>
                <a:cubicBezTo>
                  <a:pt x="624" y="1840"/>
                  <a:pt x="728" y="1552"/>
                  <a:pt x="864" y="1344"/>
                </a:cubicBezTo>
                <a:cubicBezTo>
                  <a:pt x="1000" y="1136"/>
                  <a:pt x="928" y="1040"/>
                  <a:pt x="1296" y="816"/>
                </a:cubicBezTo>
                <a:cubicBezTo>
                  <a:pt x="1664" y="592"/>
                  <a:pt x="2368" y="296"/>
                  <a:pt x="3072" y="0"/>
                </a:cubicBez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24"/>
          <p:cNvSpPr txBox="1"/>
          <p:nvPr/>
        </p:nvSpPr>
        <p:spPr>
          <a:xfrm>
            <a:off x="8001000" y="1068688"/>
            <a:ext cx="990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5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g3a23eea49eb_0_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87" name="Google Shape;2687;g3a23eea49eb_0_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88" name="Google Shape;2688;g3a23eea49eb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9" name="Google Shape;2689;g3a23eea49eb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Practical Complexity</a:t>
            </a:r>
            <a:endParaRPr/>
          </a:p>
        </p:txBody>
      </p:sp>
      <p:pic>
        <p:nvPicPr>
          <p:cNvPr id="2690" name="Google Shape;2690;g3a23eea49e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513" y="1146525"/>
            <a:ext cx="10904974" cy="534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3a23eea49eb_0_2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696" name="Google Shape;2696;g3a23eea49eb_0_2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697" name="Google Shape;2697;g3a23eea49eb_0_2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8" name="Google Shape;2698;g3a23eea49eb_0_21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Practical Complexity</a:t>
            </a:r>
            <a:endParaRPr/>
          </a:p>
        </p:txBody>
      </p:sp>
      <p:pic>
        <p:nvPicPr>
          <p:cNvPr id="2699" name="Google Shape;2699;g3a23eea49eb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150" y="1113075"/>
            <a:ext cx="10429700" cy="52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g3a23eea49eb_0_3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05" name="Google Shape;2705;g3a23eea49eb_0_3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06" name="Google Shape;2706;g3a23eea49eb_0_3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7" name="Google Shape;2707;g3a23eea49eb_0_3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Practical Complexity</a:t>
            </a:r>
            <a:endParaRPr/>
          </a:p>
        </p:txBody>
      </p:sp>
      <p:pic>
        <p:nvPicPr>
          <p:cNvPr id="2708" name="Google Shape;2708;g3a23eea49eb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041275"/>
            <a:ext cx="10186350" cy="51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3a23eea49eb_0_3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14" name="Google Shape;2714;g3a23eea49eb_0_3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15" name="Google Shape;2715;g3a23eea49eb_0_3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6" name="Google Shape;2716;g3a23eea49eb_0_39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Practical Complexity</a:t>
            </a:r>
            <a:endParaRPr/>
          </a:p>
        </p:txBody>
      </p:sp>
      <p:pic>
        <p:nvPicPr>
          <p:cNvPr id="2717" name="Google Shape;2717;g3a23eea49eb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13075"/>
            <a:ext cx="10214075" cy="53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" name="Google Shape;2722;g3a23eea49eb_0_4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23" name="Google Shape;2723;g3a23eea49eb_0_4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24" name="Google Shape;2724;g3a23eea49eb_0_4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5" name="Google Shape;2725;g3a23eea49eb_0_48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Practical Complexity</a:t>
            </a:r>
            <a:endParaRPr/>
          </a:p>
        </p:txBody>
      </p:sp>
      <p:pic>
        <p:nvPicPr>
          <p:cNvPr id="2726" name="Google Shape;2726;g3a23eea49eb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005350"/>
            <a:ext cx="10515600" cy="520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g3a23eea49eb_0_5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32" name="Google Shape;2732;g3a23eea49eb_0_5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33" name="Google Shape;2733;g3a23eea49eb_0_5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4" name="Google Shape;2734;g3a23eea49eb_0_57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Practical Complexity</a:t>
            </a:r>
            <a:endParaRPr/>
          </a:p>
        </p:txBody>
      </p:sp>
      <p:pic>
        <p:nvPicPr>
          <p:cNvPr id="2735" name="Google Shape;2735;g3a23eea49eb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005350"/>
            <a:ext cx="10515600" cy="55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g3a23eea49eb_0_6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41" name="Google Shape;2741;g3a23eea49eb_0_6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42" name="Google Shape;2742;g3a23eea49eb_0_6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3" name="Google Shape;2743;g3a23eea49eb_0_66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Practical Complexity</a:t>
            </a:r>
            <a:endParaRPr/>
          </a:p>
        </p:txBody>
      </p:sp>
      <p:pic>
        <p:nvPicPr>
          <p:cNvPr id="2744" name="Google Shape;2744;g3a23eea49eb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4988" y="1031575"/>
            <a:ext cx="8562025" cy="54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g3a23eea49eb_0_7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50" name="Google Shape;2750;g3a23eea49eb_0_7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51" name="Google Shape;2751;g3a23eea49eb_0_7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2" name="Google Shape;2752;g3a23eea49eb_0_75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Other Asymptotic Notations and Intuitions</a:t>
            </a:r>
            <a:endParaRPr/>
          </a:p>
        </p:txBody>
      </p:sp>
      <p:pic>
        <p:nvPicPr>
          <p:cNvPr id="2753" name="Google Shape;2753;g3a23eea49eb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950" y="1162875"/>
            <a:ext cx="9504725" cy="49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7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g2665f4aafad_0_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59" name="Google Shape;2759;g2665f4aafad_0_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60" name="Google Shape;2760;g2665f4aafad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1" name="Google Shape;2761;g2665f4aafad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What does the best case and the worst case imply?</a:t>
            </a:r>
            <a:endParaRPr/>
          </a:p>
        </p:txBody>
      </p:sp>
      <p:sp>
        <p:nvSpPr>
          <p:cNvPr id="2762" name="Google Shape;2762;g2665f4aafad_0_0"/>
          <p:cNvSpPr/>
          <p:nvPr/>
        </p:nvSpPr>
        <p:spPr>
          <a:xfrm>
            <a:off x="1809946" y="4830317"/>
            <a:ext cx="8672700" cy="567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g2665f4aafad_0_0"/>
          <p:cNvSpPr/>
          <p:nvPr/>
        </p:nvSpPr>
        <p:spPr>
          <a:xfrm rot="10800000">
            <a:off x="1810051" y="1875317"/>
            <a:ext cx="48600" cy="2955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g2665f4aafad_0_0"/>
          <p:cNvSpPr txBox="1"/>
          <p:nvPr/>
        </p:nvSpPr>
        <p:spPr>
          <a:xfrm>
            <a:off x="838200" y="3253493"/>
            <a:ext cx="64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g2665f4aafad_0_0"/>
          <p:cNvSpPr txBox="1"/>
          <p:nvPr/>
        </p:nvSpPr>
        <p:spPr>
          <a:xfrm>
            <a:off x="5176101" y="4999023"/>
            <a:ext cx="23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elements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6" name="Google Shape;2766;g2665f4aafad_0_0"/>
          <p:cNvCxnSpPr>
            <a:stCxn id="2763" idx="0"/>
          </p:cNvCxnSpPr>
          <p:nvPr/>
        </p:nvCxnSpPr>
        <p:spPr>
          <a:xfrm flipH="1" rot="10800000">
            <a:off x="1834351" y="4091117"/>
            <a:ext cx="3755700" cy="739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7" name="Google Shape;2767;g2665f4aafad_0_0"/>
          <p:cNvSpPr txBox="1"/>
          <p:nvPr/>
        </p:nvSpPr>
        <p:spPr>
          <a:xfrm>
            <a:off x="7071281" y="3335402"/>
            <a:ext cx="14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T(n) = an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g2665f4aafad_0_0"/>
          <p:cNvSpPr/>
          <p:nvPr/>
        </p:nvSpPr>
        <p:spPr>
          <a:xfrm rot="-1778817">
            <a:off x="-1557726" y="1334496"/>
            <a:ext cx="8120219" cy="3011109"/>
          </a:xfrm>
          <a:prstGeom prst="arc">
            <a:avLst>
              <a:gd fmla="val 1171830" name="adj1"/>
              <a:gd fmla="val 8345592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g2665f4aafad_0_0"/>
          <p:cNvSpPr txBox="1"/>
          <p:nvPr/>
        </p:nvSpPr>
        <p:spPr>
          <a:xfrm>
            <a:off x="5125854" y="1822879"/>
            <a:ext cx="234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T(n) = an</a:t>
            </a:r>
            <a:r>
              <a:rPr b="1" baseline="3000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+ bn +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1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NEXT CLASS</a:t>
            </a:r>
            <a:endParaRPr/>
          </a:p>
        </p:txBody>
      </p:sp>
      <p:sp>
        <p:nvSpPr>
          <p:cNvPr id="2775" name="Google Shape;2775;p1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 bit more about asymptotic notations and more on other algorithms</a:t>
            </a:r>
            <a:endParaRPr/>
          </a:p>
        </p:txBody>
      </p:sp>
      <p:sp>
        <p:nvSpPr>
          <p:cNvPr id="2776" name="Google Shape;2776;p1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77" name="Google Shape;2777;p1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78" name="Google Shape;2778;p1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1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784" name="Google Shape;2784;p1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85" name="Google Shape;2785;p126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2786" name="Google Shape;2786;p126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Asif Abrar, Dept of CSE, UIU</a:t>
            </a:r>
            <a:endParaRPr/>
          </a:p>
        </p:txBody>
      </p:sp>
      <p:sp>
        <p:nvSpPr>
          <p:cNvPr id="2787" name="Google Shape;2787;p126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