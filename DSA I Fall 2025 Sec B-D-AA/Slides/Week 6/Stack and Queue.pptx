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embeddedFontLst>
    <p:embeddedFont>
      <p:font typeface="Tahoma" panose="020B0604030504040204" pitchFamily="34" charset="0"/>
      <p:regular r:id="rId41"/>
      <p:bold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gIH2rcI66vHJufDTVl/HevIVZ5t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3" name="Google Shape;36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2" name="Google Shape;41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2" name="Google Shape;42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25e4398fc0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g25e4398fc0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4" name="Google Shape;454;g25e4398fc0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1" name="Google Shape;461;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accent2"/>
              </a:buClr>
              <a:buSzPts val="5400"/>
              <a:buFont typeface="Times New Roman"/>
              <a:buNone/>
              <a:defRPr sz="5400" b="1">
                <a:solidFill>
                  <a:schemeClr val="accent2"/>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520"/>
              </a:spcBef>
              <a:spcAft>
                <a:spcPts val="0"/>
              </a:spcAft>
              <a:buClr>
                <a:schemeClr val="accent1"/>
              </a:buClr>
              <a:buSzPts val="1950"/>
              <a:buFont typeface="Arial"/>
              <a:buNone/>
              <a:defRPr sz="2600">
                <a:solidFill>
                  <a:schemeClr val="dk1"/>
                </a:solidFill>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9"/>
          <p:cNvSpPr txBox="1">
            <a:spLocks noGrp="1"/>
          </p:cNvSpPr>
          <p:nvPr>
            <p:ph type="dt" idx="10"/>
          </p:nvPr>
        </p:nvSpPr>
        <p:spPr>
          <a:xfrm>
            <a:off x="855617" y="64928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E75B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Fall 2025</a:t>
            </a:r>
            <a:endParaRPr/>
          </a:p>
        </p:txBody>
      </p:sp>
      <p:sp>
        <p:nvSpPr>
          <p:cNvPr id="19" name="Google Shape;19;p39"/>
          <p:cNvSpPr txBox="1">
            <a:spLocks noGrp="1"/>
          </p:cNvSpPr>
          <p:nvPr>
            <p:ph type="ftr" idx="11"/>
          </p:nvPr>
        </p:nvSpPr>
        <p:spPr>
          <a:xfrm>
            <a:off x="4056017" y="64928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Asif Abrar, Dept of CSE, UIU</a:t>
            </a:r>
            <a:endParaRPr/>
          </a:p>
        </p:txBody>
      </p:sp>
      <p:sp>
        <p:nvSpPr>
          <p:cNvPr id="20" name="Google Shape;20;p39"/>
          <p:cNvSpPr txBox="1">
            <a:spLocks noGrp="1"/>
          </p:cNvSpPr>
          <p:nvPr>
            <p:ph type="sldNum" idx="12"/>
          </p:nvPr>
        </p:nvSpPr>
        <p:spPr>
          <a:xfrm>
            <a:off x="8628017"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grpSp>
        <p:nvGrpSpPr>
          <p:cNvPr id="21" name="Google Shape;21;p39"/>
          <p:cNvGrpSpPr/>
          <p:nvPr/>
        </p:nvGrpSpPr>
        <p:grpSpPr>
          <a:xfrm>
            <a:off x="0" y="837288"/>
            <a:ext cx="12192000" cy="70982"/>
            <a:chOff x="838200" y="1349257"/>
            <a:chExt cx="9144000" cy="76200"/>
          </a:xfrm>
        </p:grpSpPr>
        <p:sp>
          <p:nvSpPr>
            <p:cNvPr id="22" name="Google Shape;22;p39"/>
            <p:cNvSpPr/>
            <p:nvPr/>
          </p:nvSpPr>
          <p:spPr>
            <a:xfrm>
              <a:off x="838200" y="1349257"/>
              <a:ext cx="4572000" cy="76200"/>
            </a:xfrm>
            <a:prstGeom prst="rect">
              <a:avLst/>
            </a:prstGeom>
            <a:gradFill>
              <a:gsLst>
                <a:gs pos="0">
                  <a:srgbClr val="FF8200"/>
                </a:gs>
                <a:gs pos="10001">
                  <a:srgbClr val="FF0000"/>
                </a:gs>
                <a:gs pos="35001">
                  <a:srgbClr val="BA0066"/>
                </a:gs>
                <a:gs pos="70000">
                  <a:srgbClr val="66008F"/>
                </a:gs>
                <a:gs pos="100000">
                  <a:srgbClr val="00008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sp>
          <p:nvSpPr>
            <p:cNvPr id="23" name="Google Shape;23;p39"/>
            <p:cNvSpPr/>
            <p:nvPr/>
          </p:nvSpPr>
          <p:spPr>
            <a:xfrm>
              <a:off x="5410200" y="1349257"/>
              <a:ext cx="4572000" cy="76200"/>
            </a:xfrm>
            <a:prstGeom prst="rect">
              <a:avLst/>
            </a:prstGeom>
            <a:gradFill>
              <a:gsLst>
                <a:gs pos="0">
                  <a:srgbClr val="00008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4"/>
        <p:cNvGrpSpPr/>
        <p:nvPr/>
      </p:nvGrpSpPr>
      <p:grpSpPr>
        <a:xfrm>
          <a:off x="0" y="0"/>
          <a:ext cx="0" cy="0"/>
          <a:chOff x="0" y="0"/>
          <a:chExt cx="0" cy="0"/>
        </a:xfrm>
      </p:grpSpPr>
      <p:sp>
        <p:nvSpPr>
          <p:cNvPr id="25" name="Google Shape;25;p40"/>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lvl1pPr marL="457200" marR="0" lvl="0" indent="-361950" algn="l">
              <a:lnSpc>
                <a:spcPct val="100000"/>
              </a:lnSpc>
              <a:spcBef>
                <a:spcPts val="560"/>
              </a:spcBef>
              <a:spcAft>
                <a:spcPts val="0"/>
              </a:spcAft>
              <a:buClr>
                <a:srgbClr val="0033CC"/>
              </a:buClr>
              <a:buSzPts val="2100"/>
              <a:buFont typeface="Arial"/>
              <a:buChar char="●"/>
              <a:defRPr/>
            </a:lvl1pPr>
            <a:lvl2pPr marL="914400" marR="0" lvl="1" indent="-327660" algn="l">
              <a:lnSpc>
                <a:spcPct val="100000"/>
              </a:lnSpc>
              <a:spcBef>
                <a:spcPts val="480"/>
              </a:spcBef>
              <a:spcAft>
                <a:spcPts val="0"/>
              </a:spcAft>
              <a:buClr>
                <a:srgbClr val="CC0000"/>
              </a:buClr>
              <a:buSzPts val="1560"/>
              <a:buFont typeface="Arial"/>
              <a:buChar char="●"/>
              <a:defRPr/>
            </a:lvl2pPr>
            <a:lvl3pPr marL="1371600" marR="0" lvl="2" indent="-311150" algn="l">
              <a:lnSpc>
                <a:spcPct val="100000"/>
              </a:lnSpc>
              <a:spcBef>
                <a:spcPts val="400"/>
              </a:spcBef>
              <a:spcAft>
                <a:spcPts val="0"/>
              </a:spcAft>
              <a:buClr>
                <a:srgbClr val="0033CC"/>
              </a:buClr>
              <a:buSzPts val="1300"/>
              <a:buFont typeface="Arial"/>
              <a:buChar char="●"/>
              <a:defRPr/>
            </a:lvl3pPr>
            <a:lvl4pPr marL="1828800" marR="0" lvl="3" indent="-302894" algn="l">
              <a:lnSpc>
                <a:spcPct val="100000"/>
              </a:lnSpc>
              <a:spcBef>
                <a:spcPts val="360"/>
              </a:spcBef>
              <a:spcAft>
                <a:spcPts val="0"/>
              </a:spcAft>
              <a:buClr>
                <a:srgbClr val="0033CC"/>
              </a:buClr>
              <a:buSzPts val="1170"/>
              <a:buFont typeface="Arial"/>
              <a:buChar char="●"/>
              <a:defRPr/>
            </a:lvl4pPr>
            <a:lvl5pPr marL="2286000" marR="0" lvl="4" indent="-342900" algn="l">
              <a:lnSpc>
                <a:spcPct val="100000"/>
              </a:lnSpc>
              <a:spcBef>
                <a:spcPts val="360"/>
              </a:spcBef>
              <a:spcAft>
                <a:spcPts val="0"/>
              </a:spcAft>
              <a:buClr>
                <a:srgbClr val="000000"/>
              </a:buClr>
              <a:buSzPts val="1800"/>
              <a:buFont typeface="Calibri"/>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40"/>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E75B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Fall 2025</a:t>
            </a:r>
            <a:endParaRPr/>
          </a:p>
        </p:txBody>
      </p:sp>
      <p:sp>
        <p:nvSpPr>
          <p:cNvPr id="27" name="Google Shape;27;p40"/>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Asif Abrar, Dept of CSE, UIU</a:t>
            </a:r>
            <a:endParaRPr/>
          </a:p>
        </p:txBody>
      </p:sp>
      <p:sp>
        <p:nvSpPr>
          <p:cNvPr id="28" name="Google Shape;28;p40"/>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9" name="Google Shape;29;p40"/>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accent2"/>
              </a:buClr>
              <a:buSzPts val="4000"/>
              <a:buFont typeface="Times New Roman"/>
              <a:buNone/>
              <a:defRPr sz="4000" b="1">
                <a:solidFill>
                  <a:schemeClr val="accent2"/>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30" name="Google Shape;30;p40"/>
          <p:cNvGrpSpPr/>
          <p:nvPr/>
        </p:nvGrpSpPr>
        <p:grpSpPr>
          <a:xfrm>
            <a:off x="0" y="837288"/>
            <a:ext cx="12192000" cy="70982"/>
            <a:chOff x="838200" y="1349257"/>
            <a:chExt cx="9144000" cy="76200"/>
          </a:xfrm>
        </p:grpSpPr>
        <p:sp>
          <p:nvSpPr>
            <p:cNvPr id="31" name="Google Shape;31;p40"/>
            <p:cNvSpPr/>
            <p:nvPr/>
          </p:nvSpPr>
          <p:spPr>
            <a:xfrm>
              <a:off x="838200" y="1349257"/>
              <a:ext cx="4572000" cy="76200"/>
            </a:xfrm>
            <a:prstGeom prst="rect">
              <a:avLst/>
            </a:prstGeom>
            <a:gradFill>
              <a:gsLst>
                <a:gs pos="0">
                  <a:srgbClr val="FF8200"/>
                </a:gs>
                <a:gs pos="10001">
                  <a:srgbClr val="FF0000"/>
                </a:gs>
                <a:gs pos="35001">
                  <a:srgbClr val="BA0066"/>
                </a:gs>
                <a:gs pos="70000">
                  <a:srgbClr val="66008F"/>
                </a:gs>
                <a:gs pos="100000">
                  <a:srgbClr val="00008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sp>
          <p:nvSpPr>
            <p:cNvPr id="32" name="Google Shape;32;p40"/>
            <p:cNvSpPr/>
            <p:nvPr/>
          </p:nvSpPr>
          <p:spPr>
            <a:xfrm>
              <a:off x="5410200" y="1349257"/>
              <a:ext cx="4572000" cy="76200"/>
            </a:xfrm>
            <a:prstGeom prst="rect">
              <a:avLst/>
            </a:prstGeom>
            <a:gradFill>
              <a:gsLst>
                <a:gs pos="0">
                  <a:srgbClr val="00008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4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2"/>
              </a:buClr>
              <a:buSzPts val="5400"/>
              <a:buFont typeface="Times New Roman"/>
              <a:buNone/>
              <a:defRPr sz="5400" b="1" cap="none">
                <a:solidFill>
                  <a:schemeClr val="accent2"/>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3200"/>
              <a:buNone/>
              <a:defRPr sz="32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6" name="Google Shape;36;p41"/>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E75B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Fall 2025</a:t>
            </a:r>
            <a:endParaRPr/>
          </a:p>
        </p:txBody>
      </p:sp>
      <p:sp>
        <p:nvSpPr>
          <p:cNvPr id="37" name="Google Shape;37;p41"/>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Asif Abrar, Dept of CSE, UIU</a:t>
            </a:r>
            <a:endParaRPr/>
          </a:p>
        </p:txBody>
      </p:sp>
      <p:sp>
        <p:nvSpPr>
          <p:cNvPr id="38" name="Google Shape;38;p41"/>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grpSp>
        <p:nvGrpSpPr>
          <p:cNvPr id="39" name="Google Shape;39;p41"/>
          <p:cNvGrpSpPr/>
          <p:nvPr/>
        </p:nvGrpSpPr>
        <p:grpSpPr>
          <a:xfrm>
            <a:off x="0" y="837288"/>
            <a:ext cx="12192000" cy="70982"/>
            <a:chOff x="838200" y="1349257"/>
            <a:chExt cx="9144000" cy="76200"/>
          </a:xfrm>
        </p:grpSpPr>
        <p:sp>
          <p:nvSpPr>
            <p:cNvPr id="40" name="Google Shape;40;p41"/>
            <p:cNvSpPr/>
            <p:nvPr/>
          </p:nvSpPr>
          <p:spPr>
            <a:xfrm>
              <a:off x="838200" y="1349257"/>
              <a:ext cx="4572000" cy="76200"/>
            </a:xfrm>
            <a:prstGeom prst="rect">
              <a:avLst/>
            </a:prstGeom>
            <a:gradFill>
              <a:gsLst>
                <a:gs pos="0">
                  <a:srgbClr val="FF8200"/>
                </a:gs>
                <a:gs pos="10001">
                  <a:srgbClr val="FF0000"/>
                </a:gs>
                <a:gs pos="35001">
                  <a:srgbClr val="BA0066"/>
                </a:gs>
                <a:gs pos="70000">
                  <a:srgbClr val="66008F"/>
                </a:gs>
                <a:gs pos="100000">
                  <a:srgbClr val="00008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sp>
          <p:nvSpPr>
            <p:cNvPr id="41" name="Google Shape;41;p41"/>
            <p:cNvSpPr/>
            <p:nvPr/>
          </p:nvSpPr>
          <p:spPr>
            <a:xfrm>
              <a:off x="5410200" y="1349257"/>
              <a:ext cx="4572000" cy="76200"/>
            </a:xfrm>
            <a:prstGeom prst="rect">
              <a:avLst/>
            </a:prstGeom>
            <a:gradFill>
              <a:gsLst>
                <a:gs pos="0">
                  <a:srgbClr val="00008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2"/>
        <p:cNvGrpSpPr/>
        <p:nvPr/>
      </p:nvGrpSpPr>
      <p:grpSpPr>
        <a:xfrm>
          <a:off x="0" y="0"/>
          <a:ext cx="0" cy="0"/>
          <a:chOff x="0" y="0"/>
          <a:chExt cx="0" cy="0"/>
        </a:xfrm>
      </p:grpSpPr>
      <p:sp>
        <p:nvSpPr>
          <p:cNvPr id="43" name="Google Shape;43;p42"/>
          <p:cNvSpPr txBox="1">
            <a:spLocks noGrp="1"/>
          </p:cNvSpPr>
          <p:nvPr>
            <p:ph type="body" idx="1"/>
          </p:nvPr>
        </p:nvSpPr>
        <p:spPr>
          <a:xfrm>
            <a:off x="838200" y="1347537"/>
            <a:ext cx="5181600" cy="4829426"/>
          </a:xfrm>
          <a:prstGeom prst="rect">
            <a:avLst/>
          </a:prstGeom>
          <a:noFill/>
          <a:ln>
            <a:noFill/>
          </a:ln>
        </p:spPr>
        <p:txBody>
          <a:bodyPr spcFirstLastPara="1" wrap="square" lIns="91425" tIns="45700" rIns="91425" bIns="45700" anchor="t" anchorCtr="0">
            <a:normAutofit/>
          </a:bodyPr>
          <a:lstStyle>
            <a:lvl1pPr marL="457200" marR="0" lvl="0" indent="-361950" algn="l">
              <a:lnSpc>
                <a:spcPct val="100000"/>
              </a:lnSpc>
              <a:spcBef>
                <a:spcPts val="560"/>
              </a:spcBef>
              <a:spcAft>
                <a:spcPts val="0"/>
              </a:spcAft>
              <a:buClr>
                <a:srgbClr val="0033CC"/>
              </a:buClr>
              <a:buSzPts val="2100"/>
              <a:buFont typeface="Arial"/>
              <a:buChar char="●"/>
              <a:defRPr/>
            </a:lvl1pPr>
            <a:lvl2pPr marL="914400" marR="0" lvl="1" indent="-327660" algn="l">
              <a:lnSpc>
                <a:spcPct val="100000"/>
              </a:lnSpc>
              <a:spcBef>
                <a:spcPts val="480"/>
              </a:spcBef>
              <a:spcAft>
                <a:spcPts val="0"/>
              </a:spcAft>
              <a:buClr>
                <a:srgbClr val="CC0000"/>
              </a:buClr>
              <a:buSzPts val="1560"/>
              <a:buFont typeface="Arial"/>
              <a:buChar char="●"/>
              <a:defRPr/>
            </a:lvl2pPr>
            <a:lvl3pPr marL="1371600" marR="0" lvl="2" indent="-311150" algn="l">
              <a:lnSpc>
                <a:spcPct val="100000"/>
              </a:lnSpc>
              <a:spcBef>
                <a:spcPts val="400"/>
              </a:spcBef>
              <a:spcAft>
                <a:spcPts val="0"/>
              </a:spcAft>
              <a:buClr>
                <a:srgbClr val="0033CC"/>
              </a:buClr>
              <a:buSzPts val="1300"/>
              <a:buFont typeface="Arial"/>
              <a:buChar char="●"/>
              <a:defRPr/>
            </a:lvl3pPr>
            <a:lvl4pPr marL="1828800" marR="0" lvl="3" indent="-302894" algn="l">
              <a:lnSpc>
                <a:spcPct val="100000"/>
              </a:lnSpc>
              <a:spcBef>
                <a:spcPts val="360"/>
              </a:spcBef>
              <a:spcAft>
                <a:spcPts val="0"/>
              </a:spcAft>
              <a:buClr>
                <a:srgbClr val="0033CC"/>
              </a:buClr>
              <a:buSzPts val="1170"/>
              <a:buFont typeface="Arial"/>
              <a:buChar char="●"/>
              <a:defRPr/>
            </a:lvl4pPr>
            <a:lvl5pPr marL="2286000" marR="0" lvl="4" indent="-342900" algn="l">
              <a:lnSpc>
                <a:spcPct val="100000"/>
              </a:lnSpc>
              <a:spcBef>
                <a:spcPts val="360"/>
              </a:spcBef>
              <a:spcAft>
                <a:spcPts val="0"/>
              </a:spcAft>
              <a:buClr>
                <a:srgbClr val="000000"/>
              </a:buClr>
              <a:buSzPts val="1800"/>
              <a:buFont typeface="Calibri"/>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2"/>
          <p:cNvSpPr txBox="1">
            <a:spLocks noGrp="1"/>
          </p:cNvSpPr>
          <p:nvPr>
            <p:ph type="body" idx="2"/>
          </p:nvPr>
        </p:nvSpPr>
        <p:spPr>
          <a:xfrm>
            <a:off x="6172200" y="1347537"/>
            <a:ext cx="5181600" cy="4829426"/>
          </a:xfrm>
          <a:prstGeom prst="rect">
            <a:avLst/>
          </a:prstGeom>
          <a:noFill/>
          <a:ln>
            <a:noFill/>
          </a:ln>
        </p:spPr>
        <p:txBody>
          <a:bodyPr spcFirstLastPara="1" wrap="square" lIns="91425" tIns="45700" rIns="91425" bIns="45700" anchor="t" anchorCtr="0">
            <a:normAutofit/>
          </a:bodyPr>
          <a:lstStyle>
            <a:lvl1pPr marL="457200" marR="0" lvl="0" indent="-361950" algn="l">
              <a:lnSpc>
                <a:spcPct val="100000"/>
              </a:lnSpc>
              <a:spcBef>
                <a:spcPts val="560"/>
              </a:spcBef>
              <a:spcAft>
                <a:spcPts val="0"/>
              </a:spcAft>
              <a:buClr>
                <a:srgbClr val="0033CC"/>
              </a:buClr>
              <a:buSzPts val="2100"/>
              <a:buFont typeface="Arial"/>
              <a:buChar char="●"/>
              <a:defRPr/>
            </a:lvl1pPr>
            <a:lvl2pPr marL="914400" marR="0" lvl="1" indent="-327660" algn="l">
              <a:lnSpc>
                <a:spcPct val="100000"/>
              </a:lnSpc>
              <a:spcBef>
                <a:spcPts val="480"/>
              </a:spcBef>
              <a:spcAft>
                <a:spcPts val="0"/>
              </a:spcAft>
              <a:buClr>
                <a:srgbClr val="CC0000"/>
              </a:buClr>
              <a:buSzPts val="1560"/>
              <a:buFont typeface="Arial"/>
              <a:buChar char="●"/>
              <a:defRPr/>
            </a:lvl2pPr>
            <a:lvl3pPr marL="1371600" marR="0" lvl="2" indent="-311150" algn="l">
              <a:lnSpc>
                <a:spcPct val="100000"/>
              </a:lnSpc>
              <a:spcBef>
                <a:spcPts val="400"/>
              </a:spcBef>
              <a:spcAft>
                <a:spcPts val="0"/>
              </a:spcAft>
              <a:buClr>
                <a:srgbClr val="0033CC"/>
              </a:buClr>
              <a:buSzPts val="1300"/>
              <a:buFont typeface="Arial"/>
              <a:buChar char="●"/>
              <a:defRPr/>
            </a:lvl3pPr>
            <a:lvl4pPr marL="1828800" marR="0" lvl="3" indent="-302894" algn="l">
              <a:lnSpc>
                <a:spcPct val="100000"/>
              </a:lnSpc>
              <a:spcBef>
                <a:spcPts val="360"/>
              </a:spcBef>
              <a:spcAft>
                <a:spcPts val="0"/>
              </a:spcAft>
              <a:buClr>
                <a:srgbClr val="0033CC"/>
              </a:buClr>
              <a:buSzPts val="1170"/>
              <a:buFont typeface="Arial"/>
              <a:buChar char="●"/>
              <a:defRPr/>
            </a:lvl4pPr>
            <a:lvl5pPr marL="2286000" marR="0" lvl="4" indent="-342900" algn="l">
              <a:lnSpc>
                <a:spcPct val="100000"/>
              </a:lnSpc>
              <a:spcBef>
                <a:spcPts val="360"/>
              </a:spcBef>
              <a:spcAft>
                <a:spcPts val="0"/>
              </a:spcAft>
              <a:buClr>
                <a:srgbClr val="000000"/>
              </a:buClr>
              <a:buSzPts val="1800"/>
              <a:buFont typeface="Calibri"/>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42"/>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E75B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Fall 2025</a:t>
            </a:r>
            <a:endParaRPr/>
          </a:p>
        </p:txBody>
      </p:sp>
      <p:sp>
        <p:nvSpPr>
          <p:cNvPr id="46" name="Google Shape;46;p42"/>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Asif Abrar, Dept of CSE, UIU</a:t>
            </a:r>
            <a:endParaRPr/>
          </a:p>
        </p:txBody>
      </p:sp>
      <p:sp>
        <p:nvSpPr>
          <p:cNvPr id="47" name="Google Shape;47;p42"/>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48" name="Google Shape;48;p42"/>
          <p:cNvSpPr txBox="1">
            <a:spLocks noGrp="1"/>
          </p:cNvSpPr>
          <p:nvPr>
            <p:ph type="title"/>
          </p:nvPr>
        </p:nvSpPr>
        <p:spPr>
          <a:xfrm>
            <a:off x="838200" y="365126"/>
            <a:ext cx="10515600" cy="38765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accent2"/>
              </a:buClr>
              <a:buSzPts val="4000"/>
              <a:buFont typeface="Times New Roman"/>
              <a:buNone/>
              <a:defRPr sz="4000" b="1">
                <a:solidFill>
                  <a:schemeClr val="accent2"/>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49" name="Google Shape;49;p42"/>
          <p:cNvGrpSpPr/>
          <p:nvPr/>
        </p:nvGrpSpPr>
        <p:grpSpPr>
          <a:xfrm>
            <a:off x="0" y="837288"/>
            <a:ext cx="12192000" cy="70982"/>
            <a:chOff x="838200" y="1349257"/>
            <a:chExt cx="9144000" cy="76200"/>
          </a:xfrm>
        </p:grpSpPr>
        <p:sp>
          <p:nvSpPr>
            <p:cNvPr id="50" name="Google Shape;50;p42"/>
            <p:cNvSpPr/>
            <p:nvPr/>
          </p:nvSpPr>
          <p:spPr>
            <a:xfrm>
              <a:off x="838200" y="1349257"/>
              <a:ext cx="4572000" cy="76200"/>
            </a:xfrm>
            <a:prstGeom prst="rect">
              <a:avLst/>
            </a:prstGeom>
            <a:gradFill>
              <a:gsLst>
                <a:gs pos="0">
                  <a:srgbClr val="FF8200"/>
                </a:gs>
                <a:gs pos="10001">
                  <a:srgbClr val="FF0000"/>
                </a:gs>
                <a:gs pos="35001">
                  <a:srgbClr val="BA0066"/>
                </a:gs>
                <a:gs pos="70000">
                  <a:srgbClr val="66008F"/>
                </a:gs>
                <a:gs pos="100000">
                  <a:srgbClr val="00008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sp>
          <p:nvSpPr>
            <p:cNvPr id="51" name="Google Shape;51;p42"/>
            <p:cNvSpPr/>
            <p:nvPr/>
          </p:nvSpPr>
          <p:spPr>
            <a:xfrm>
              <a:off x="5410200" y="1349257"/>
              <a:ext cx="4572000" cy="76200"/>
            </a:xfrm>
            <a:prstGeom prst="rect">
              <a:avLst/>
            </a:prstGeom>
            <a:gradFill>
              <a:gsLst>
                <a:gs pos="0">
                  <a:srgbClr val="00008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52"/>
        <p:cNvGrpSpPr/>
        <p:nvPr/>
      </p:nvGrpSpPr>
      <p:grpSpPr>
        <a:xfrm>
          <a:off x="0" y="0"/>
          <a:ext cx="0" cy="0"/>
          <a:chOff x="0" y="0"/>
          <a:chExt cx="0" cy="0"/>
        </a:xfrm>
      </p:grpSpPr>
      <p:sp>
        <p:nvSpPr>
          <p:cNvPr id="53" name="Google Shape;53;p4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4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marR="0" lvl="0" indent="-361950" algn="l">
              <a:lnSpc>
                <a:spcPct val="100000"/>
              </a:lnSpc>
              <a:spcBef>
                <a:spcPts val="560"/>
              </a:spcBef>
              <a:spcAft>
                <a:spcPts val="0"/>
              </a:spcAft>
              <a:buClr>
                <a:srgbClr val="0033CC"/>
              </a:buClr>
              <a:buSzPts val="2100"/>
              <a:buFont typeface="Arial"/>
              <a:buChar char="●"/>
              <a:defRPr/>
            </a:lvl1pPr>
            <a:lvl2pPr marL="914400" marR="0" lvl="1" indent="-327660" algn="l">
              <a:lnSpc>
                <a:spcPct val="100000"/>
              </a:lnSpc>
              <a:spcBef>
                <a:spcPts val="480"/>
              </a:spcBef>
              <a:spcAft>
                <a:spcPts val="0"/>
              </a:spcAft>
              <a:buClr>
                <a:srgbClr val="CC0000"/>
              </a:buClr>
              <a:buSzPts val="1560"/>
              <a:buFont typeface="Arial"/>
              <a:buChar char="●"/>
              <a:defRPr/>
            </a:lvl2pPr>
            <a:lvl3pPr marL="1371600" marR="0" lvl="2" indent="-311150" algn="l">
              <a:lnSpc>
                <a:spcPct val="100000"/>
              </a:lnSpc>
              <a:spcBef>
                <a:spcPts val="400"/>
              </a:spcBef>
              <a:spcAft>
                <a:spcPts val="0"/>
              </a:spcAft>
              <a:buClr>
                <a:srgbClr val="0033CC"/>
              </a:buClr>
              <a:buSzPts val="1300"/>
              <a:buFont typeface="Arial"/>
              <a:buChar char="●"/>
              <a:defRPr/>
            </a:lvl3pPr>
            <a:lvl4pPr marL="1828800" marR="0" lvl="3" indent="-302894" algn="l">
              <a:lnSpc>
                <a:spcPct val="100000"/>
              </a:lnSpc>
              <a:spcBef>
                <a:spcPts val="360"/>
              </a:spcBef>
              <a:spcAft>
                <a:spcPts val="0"/>
              </a:spcAft>
              <a:buClr>
                <a:srgbClr val="0033CC"/>
              </a:buClr>
              <a:buSzPts val="1170"/>
              <a:buFont typeface="Arial"/>
              <a:buChar char="●"/>
              <a:defRPr/>
            </a:lvl4pPr>
            <a:lvl5pPr marL="2286000" marR="0" lvl="4" indent="-342900" algn="l">
              <a:lnSpc>
                <a:spcPct val="100000"/>
              </a:lnSpc>
              <a:spcBef>
                <a:spcPts val="360"/>
              </a:spcBef>
              <a:spcAft>
                <a:spcPts val="0"/>
              </a:spcAft>
              <a:buClr>
                <a:srgbClr val="000000"/>
              </a:buClr>
              <a:buSzPts val="1800"/>
              <a:buFont typeface="Calibri"/>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4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4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marR="0" lvl="0" indent="-361950" algn="l">
              <a:lnSpc>
                <a:spcPct val="100000"/>
              </a:lnSpc>
              <a:spcBef>
                <a:spcPts val="560"/>
              </a:spcBef>
              <a:spcAft>
                <a:spcPts val="0"/>
              </a:spcAft>
              <a:buClr>
                <a:srgbClr val="0033CC"/>
              </a:buClr>
              <a:buSzPts val="2100"/>
              <a:buFont typeface="Arial"/>
              <a:buChar char="●"/>
              <a:defRPr/>
            </a:lvl1pPr>
            <a:lvl2pPr marL="914400" marR="0" lvl="1" indent="-327660" algn="l">
              <a:lnSpc>
                <a:spcPct val="100000"/>
              </a:lnSpc>
              <a:spcBef>
                <a:spcPts val="480"/>
              </a:spcBef>
              <a:spcAft>
                <a:spcPts val="0"/>
              </a:spcAft>
              <a:buClr>
                <a:srgbClr val="CC0000"/>
              </a:buClr>
              <a:buSzPts val="1560"/>
              <a:buFont typeface="Arial"/>
              <a:buChar char="●"/>
              <a:defRPr/>
            </a:lvl2pPr>
            <a:lvl3pPr marL="1371600" marR="0" lvl="2" indent="-311150" algn="l">
              <a:lnSpc>
                <a:spcPct val="100000"/>
              </a:lnSpc>
              <a:spcBef>
                <a:spcPts val="400"/>
              </a:spcBef>
              <a:spcAft>
                <a:spcPts val="0"/>
              </a:spcAft>
              <a:buClr>
                <a:srgbClr val="0033CC"/>
              </a:buClr>
              <a:buSzPts val="1300"/>
              <a:buFont typeface="Arial"/>
              <a:buChar char="●"/>
              <a:defRPr/>
            </a:lvl3pPr>
            <a:lvl4pPr marL="1828800" marR="0" lvl="3" indent="-302894" algn="l">
              <a:lnSpc>
                <a:spcPct val="100000"/>
              </a:lnSpc>
              <a:spcBef>
                <a:spcPts val="360"/>
              </a:spcBef>
              <a:spcAft>
                <a:spcPts val="0"/>
              </a:spcAft>
              <a:buClr>
                <a:srgbClr val="0033CC"/>
              </a:buClr>
              <a:buSzPts val="1170"/>
              <a:buFont typeface="Arial"/>
              <a:buChar char="●"/>
              <a:defRPr/>
            </a:lvl4pPr>
            <a:lvl5pPr marL="2286000" marR="0" lvl="4" indent="-342900" algn="l">
              <a:lnSpc>
                <a:spcPct val="100000"/>
              </a:lnSpc>
              <a:spcBef>
                <a:spcPts val="360"/>
              </a:spcBef>
              <a:spcAft>
                <a:spcPts val="0"/>
              </a:spcAft>
              <a:buClr>
                <a:srgbClr val="000000"/>
              </a:buClr>
              <a:buSzPts val="1800"/>
              <a:buFont typeface="Calibri"/>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43"/>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E75B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Fall 2025</a:t>
            </a:r>
            <a:endParaRPr/>
          </a:p>
        </p:txBody>
      </p:sp>
      <p:sp>
        <p:nvSpPr>
          <p:cNvPr id="58" name="Google Shape;58;p43"/>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Asif Abrar, Dept of CSE, UIU</a:t>
            </a:r>
            <a:endParaRPr/>
          </a:p>
        </p:txBody>
      </p:sp>
      <p:sp>
        <p:nvSpPr>
          <p:cNvPr id="59" name="Google Shape;59;p43"/>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2E75B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60" name="Google Shape;60;p43"/>
          <p:cNvSpPr txBox="1">
            <a:spLocks noGrp="1"/>
          </p:cNvSpPr>
          <p:nvPr>
            <p:ph type="title"/>
          </p:nvPr>
        </p:nvSpPr>
        <p:spPr>
          <a:xfrm>
            <a:off x="838200" y="365126"/>
            <a:ext cx="10515600" cy="38765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accent2"/>
              </a:buClr>
              <a:buSzPts val="4000"/>
              <a:buFont typeface="Times New Roman"/>
              <a:buNone/>
              <a:defRPr sz="4000" b="1">
                <a:solidFill>
                  <a:schemeClr val="accent2"/>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61" name="Google Shape;61;p43"/>
          <p:cNvGrpSpPr/>
          <p:nvPr/>
        </p:nvGrpSpPr>
        <p:grpSpPr>
          <a:xfrm>
            <a:off x="0" y="837288"/>
            <a:ext cx="12192000" cy="70982"/>
            <a:chOff x="838200" y="1349257"/>
            <a:chExt cx="9144000" cy="76200"/>
          </a:xfrm>
        </p:grpSpPr>
        <p:sp>
          <p:nvSpPr>
            <p:cNvPr id="62" name="Google Shape;62;p43"/>
            <p:cNvSpPr/>
            <p:nvPr/>
          </p:nvSpPr>
          <p:spPr>
            <a:xfrm>
              <a:off x="838200" y="1349257"/>
              <a:ext cx="4572000" cy="76200"/>
            </a:xfrm>
            <a:prstGeom prst="rect">
              <a:avLst/>
            </a:prstGeom>
            <a:gradFill>
              <a:gsLst>
                <a:gs pos="0">
                  <a:srgbClr val="FF8200"/>
                </a:gs>
                <a:gs pos="10001">
                  <a:srgbClr val="FF0000"/>
                </a:gs>
                <a:gs pos="35001">
                  <a:srgbClr val="BA0066"/>
                </a:gs>
                <a:gs pos="70000">
                  <a:srgbClr val="66008F"/>
                </a:gs>
                <a:gs pos="100000">
                  <a:srgbClr val="000082"/>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sp>
          <p:nvSpPr>
            <p:cNvPr id="63" name="Google Shape;63;p43"/>
            <p:cNvSpPr/>
            <p:nvPr/>
          </p:nvSpPr>
          <p:spPr>
            <a:xfrm>
              <a:off x="5410200" y="1349257"/>
              <a:ext cx="4572000" cy="76200"/>
            </a:xfrm>
            <a:prstGeom prst="rect">
              <a:avLst/>
            </a:prstGeom>
            <a:gradFill>
              <a:gsLst>
                <a:gs pos="0">
                  <a:srgbClr val="000082"/>
                </a:gs>
                <a:gs pos="100000">
                  <a:schemeClr val="lt1"/>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ahoma"/>
                <a:ea typeface="Tahoma"/>
                <a:cs typeface="Tahoma"/>
                <a:sym typeface="Tahom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Fall 2025</a:t>
            </a:r>
            <a:endParaRPr/>
          </a:p>
        </p:txBody>
      </p:sp>
      <p:sp>
        <p:nvSpPr>
          <p:cNvPr id="67" name="Google Shape;67;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Asif Abrar, Dept of CSE, UIU</a:t>
            </a:r>
            <a:endParaRPr/>
          </a:p>
        </p:txBody>
      </p:sp>
      <p:sp>
        <p:nvSpPr>
          <p:cNvPr id="68" name="Google Shape;68;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
        <p:nvSpPr>
          <p:cNvPr id="70" name="Google Shape;70;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Fall 2025</a:t>
            </a:r>
            <a:endParaRPr/>
          </a:p>
        </p:txBody>
      </p:sp>
      <p:sp>
        <p:nvSpPr>
          <p:cNvPr id="71" name="Google Shape;71;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Asif Abrar, Dept of CSE, UIU</a:t>
            </a:r>
            <a:endParaRPr/>
          </a:p>
        </p:txBody>
      </p:sp>
      <p:sp>
        <p:nvSpPr>
          <p:cNvPr id="72" name="Google Shape;72;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3"/>
        <p:cNvGrpSpPr/>
        <p:nvPr/>
      </p:nvGrpSpPr>
      <p:grpSpPr>
        <a:xfrm>
          <a:off x="0" y="0"/>
          <a:ext cx="0" cy="0"/>
          <a:chOff x="0" y="0"/>
          <a:chExt cx="0" cy="0"/>
        </a:xfrm>
      </p:grpSpPr>
      <p:sp>
        <p:nvSpPr>
          <p:cNvPr id="74" name="Google Shape;74;p4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4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6" name="Google Shape;76;p4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Fall 2025</a:t>
            </a:r>
            <a:endParaRPr/>
          </a:p>
        </p:txBody>
      </p:sp>
      <p:sp>
        <p:nvSpPr>
          <p:cNvPr id="78" name="Google Shape;78;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Asif Abrar, Dept of CSE, UIU</a:t>
            </a:r>
            <a:endParaRPr/>
          </a:p>
        </p:txBody>
      </p:sp>
      <p:sp>
        <p:nvSpPr>
          <p:cNvPr id="79" name="Google Shape;79;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0"/>
        <p:cNvGrpSpPr/>
        <p:nvPr/>
      </p:nvGrpSpPr>
      <p:grpSpPr>
        <a:xfrm>
          <a:off x="0" y="0"/>
          <a:ext cx="0" cy="0"/>
          <a:chOff x="0" y="0"/>
          <a:chExt cx="0" cy="0"/>
        </a:xfrm>
      </p:grpSpPr>
      <p:sp>
        <p:nvSpPr>
          <p:cNvPr id="81" name="Google Shape;81;p47"/>
          <p:cNvSpPr txBox="1">
            <a:spLocks noGrp="1"/>
          </p:cNvSpPr>
          <p:nvPr>
            <p:ph type="title"/>
          </p:nvPr>
        </p:nvSpPr>
        <p:spPr>
          <a:xfrm>
            <a:off x="839788" y="987425"/>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47"/>
          <p:cNvSpPr>
            <a:spLocks noGrp="1"/>
          </p:cNvSpPr>
          <p:nvPr>
            <p:ph type="pic" idx="2"/>
          </p:nvPr>
        </p:nvSpPr>
        <p:spPr>
          <a:xfrm>
            <a:off x="5183188" y="987425"/>
            <a:ext cx="6172200" cy="4873625"/>
          </a:xfrm>
          <a:prstGeom prst="rect">
            <a:avLst/>
          </a:prstGeom>
          <a:noFill/>
          <a:ln>
            <a:noFill/>
          </a:ln>
        </p:spPr>
      </p:sp>
      <p:sp>
        <p:nvSpPr>
          <p:cNvPr id="83" name="Google Shape;83;p4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4" name="Google Shape;84;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Fall 2025</a:t>
            </a:r>
            <a:endParaRPr/>
          </a:p>
        </p:txBody>
      </p:sp>
      <p:sp>
        <p:nvSpPr>
          <p:cNvPr id="85" name="Google Shape;85;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Asif Abrar, Dept of CSE, UIU</a:t>
            </a:r>
            <a:endParaRPr/>
          </a:p>
        </p:txBody>
      </p:sp>
      <p:sp>
        <p:nvSpPr>
          <p:cNvPr id="86" name="Google Shape;86;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4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Fall 2025</a:t>
            </a:r>
            <a:endParaRPr/>
          </a:p>
        </p:txBody>
      </p:sp>
      <p:sp>
        <p:nvSpPr>
          <p:cNvPr id="91" name="Google Shape;91;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Asif Abrar, Dept of CSE, UIU</a:t>
            </a:r>
            <a:endParaRPr/>
          </a:p>
        </p:txBody>
      </p:sp>
      <p:sp>
        <p:nvSpPr>
          <p:cNvPr id="92" name="Google Shape;92;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4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4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Fall 2025</a:t>
            </a:r>
            <a:endParaRPr/>
          </a:p>
        </p:txBody>
      </p:sp>
      <p:sp>
        <p:nvSpPr>
          <p:cNvPr id="97" name="Google Shape;97;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Asif Abrar, Dept of CSE, UIU</a:t>
            </a:r>
            <a:endParaRPr/>
          </a:p>
        </p:txBody>
      </p:sp>
      <p:sp>
        <p:nvSpPr>
          <p:cNvPr id="98" name="Google Shape;98;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Fall 2025</a:t>
            </a:r>
            <a:endParaRPr/>
          </a:p>
        </p:txBody>
      </p:sp>
      <p:sp>
        <p:nvSpPr>
          <p:cNvPr id="13" name="Google Shape;1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Asif Abrar, Dept of CSE, UIU</a:t>
            </a:r>
            <a:endParaRPr/>
          </a:p>
        </p:txBody>
      </p:sp>
      <p:sp>
        <p:nvSpPr>
          <p:cNvPr id="14" name="Google Shape;1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2"/>
              </a:buClr>
              <a:buSzPts val="5400"/>
              <a:buFont typeface="Times New Roman"/>
              <a:buNone/>
            </a:pPr>
            <a:r>
              <a:rPr lang="en-US"/>
              <a:t>Stack and Queue</a:t>
            </a:r>
            <a:endParaRPr/>
          </a:p>
        </p:txBody>
      </p:sp>
      <p:sp>
        <p:nvSpPr>
          <p:cNvPr id="104" name="Google Shape;104;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accent1"/>
              </a:buClr>
              <a:buSzPts val="1950"/>
              <a:buFont typeface="Arial"/>
              <a:buNone/>
            </a:pPr>
            <a:endParaRPr/>
          </a:p>
        </p:txBody>
      </p:sp>
      <p:sp>
        <p:nvSpPr>
          <p:cNvPr id="105" name="Google Shape;105;p1"/>
          <p:cNvSpPr txBox="1">
            <a:spLocks noGrp="1"/>
          </p:cNvSpPr>
          <p:nvPr>
            <p:ph type="dt" idx="10"/>
          </p:nvPr>
        </p:nvSpPr>
        <p:spPr>
          <a:xfrm>
            <a:off x="855617"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106" name="Google Shape;106;p1"/>
          <p:cNvSpPr txBox="1">
            <a:spLocks noGrp="1"/>
          </p:cNvSpPr>
          <p:nvPr>
            <p:ph type="ftr" idx="11"/>
          </p:nvPr>
        </p:nvSpPr>
        <p:spPr>
          <a:xfrm>
            <a:off x="4056017"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107" name="Google Shape;107;p1"/>
          <p:cNvSpPr txBox="1">
            <a:spLocks noGrp="1"/>
          </p:cNvSpPr>
          <p:nvPr>
            <p:ph type="sldNum" idx="12"/>
          </p:nvPr>
        </p:nvSpPr>
        <p:spPr>
          <a:xfrm>
            <a:off x="8628017"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A stack is a last in, first out (LIFO) data structure </a:t>
            </a:r>
            <a:endParaRPr/>
          </a:p>
          <a:p>
            <a:pPr marL="742950" lvl="1" indent="-285750" algn="l" rtl="0">
              <a:lnSpc>
                <a:spcPct val="100000"/>
              </a:lnSpc>
              <a:spcBef>
                <a:spcPts val="480"/>
              </a:spcBef>
              <a:spcAft>
                <a:spcPts val="0"/>
              </a:spcAft>
              <a:buSzPts val="1560"/>
              <a:buChar char="●"/>
            </a:pPr>
            <a:r>
              <a:rPr lang="en-US"/>
              <a:t>Items are removed from a stack in the reverse order from the way they were inserted </a:t>
            </a:r>
            <a:endParaRPr/>
          </a:p>
          <a:p>
            <a:pPr marL="742950" lvl="1" indent="-285750" algn="l" rtl="0">
              <a:lnSpc>
                <a:spcPct val="100000"/>
              </a:lnSpc>
              <a:spcBef>
                <a:spcPts val="480"/>
              </a:spcBef>
              <a:spcAft>
                <a:spcPts val="0"/>
              </a:spcAft>
              <a:buSzPts val="1560"/>
              <a:buChar char="●"/>
            </a:pPr>
            <a:r>
              <a:rPr lang="en-US"/>
              <a:t> A queue is a first in, first out (FIFO) data structure  Items are removed from a queue in the same order as they were inserted</a:t>
            </a:r>
            <a:endParaRPr/>
          </a:p>
        </p:txBody>
      </p:sp>
      <p:sp>
        <p:nvSpPr>
          <p:cNvPr id="113" name="Google Shape;113;p2"/>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114" name="Google Shape;114;p2"/>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115" name="Google Shape;115;p2"/>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
        <p:nvSpPr>
          <p:cNvPr id="116" name="Google Shape;116;p2"/>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Stacks and Queues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2"/>
              </a:buClr>
              <a:buSzPts val="5400"/>
              <a:buFont typeface="Times New Roman"/>
              <a:buNone/>
            </a:pPr>
            <a:r>
              <a:rPr lang="en-US"/>
              <a:t>STACK</a:t>
            </a:r>
            <a:endParaRPr/>
          </a:p>
        </p:txBody>
      </p:sp>
      <p:sp>
        <p:nvSpPr>
          <p:cNvPr id="122" name="Google Shape;122;p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endParaRPr/>
          </a:p>
        </p:txBody>
      </p:sp>
      <p:sp>
        <p:nvSpPr>
          <p:cNvPr id="123" name="Google Shape;123;p3"/>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124" name="Google Shape;124;p3"/>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125" name="Google Shape;125;p3"/>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4"/>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A stack is a list with the restriction that insertions and deletions can be performed in only one position, namely, the top of the stack.  </a:t>
            </a:r>
            <a:endParaRPr/>
          </a:p>
          <a:p>
            <a:pPr marL="342900" marR="0" lvl="0" indent="-342900" algn="l" rtl="0">
              <a:lnSpc>
                <a:spcPct val="100000"/>
              </a:lnSpc>
              <a:spcBef>
                <a:spcPts val="560"/>
              </a:spcBef>
              <a:spcAft>
                <a:spcPts val="0"/>
              </a:spcAft>
              <a:buClr>
                <a:srgbClr val="0033CC"/>
              </a:buClr>
              <a:buSzPts val="2100"/>
              <a:buFont typeface="Arial"/>
              <a:buChar char="●"/>
            </a:pPr>
            <a:r>
              <a:rPr lang="en-US"/>
              <a:t>The operations: push (insert) and pop (delete)</a:t>
            </a:r>
            <a:endParaRPr/>
          </a:p>
        </p:txBody>
      </p:sp>
      <p:sp>
        <p:nvSpPr>
          <p:cNvPr id="131" name="Google Shape;131;p4"/>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132" name="Google Shape;132;p4"/>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133" name="Google Shape;133;p4"/>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
        <p:nvSpPr>
          <p:cNvPr id="134" name="Google Shape;134;p4"/>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Stack</a:t>
            </a:r>
            <a:endParaRPr/>
          </a:p>
        </p:txBody>
      </p:sp>
      <p:pic>
        <p:nvPicPr>
          <p:cNvPr id="135" name="Google Shape;135;p4"/>
          <p:cNvPicPr preferRelativeResize="0"/>
          <p:nvPr/>
        </p:nvPicPr>
        <p:blipFill rotWithShape="1">
          <a:blip r:embed="rId3">
            <a:alphaModFix/>
          </a:blip>
          <a:srcRect/>
          <a:stretch/>
        </p:blipFill>
        <p:spPr>
          <a:xfrm>
            <a:off x="2403423" y="3207896"/>
            <a:ext cx="8250884" cy="2969068"/>
          </a:xfrm>
          <a:prstGeom prst="rect">
            <a:avLst/>
          </a:prstGeom>
          <a:noFill/>
          <a:ln>
            <a:noFill/>
          </a:ln>
        </p:spPr>
      </p:pic>
      <p:sp>
        <p:nvSpPr>
          <p:cNvPr id="136" name="Google Shape;136;p4"/>
          <p:cNvSpPr/>
          <p:nvPr/>
        </p:nvSpPr>
        <p:spPr>
          <a:xfrm>
            <a:off x="1993692" y="3207896"/>
            <a:ext cx="8499423" cy="242219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5"/>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A stack is a list with the restriction that insertions and deletions can be performed in only one position, namely, the top of the stack.  </a:t>
            </a:r>
            <a:endParaRPr/>
          </a:p>
          <a:p>
            <a:pPr marL="342900" marR="0" lvl="0" indent="-342900" algn="l" rtl="0">
              <a:lnSpc>
                <a:spcPct val="100000"/>
              </a:lnSpc>
              <a:spcBef>
                <a:spcPts val="560"/>
              </a:spcBef>
              <a:spcAft>
                <a:spcPts val="0"/>
              </a:spcAft>
              <a:buClr>
                <a:srgbClr val="0033CC"/>
              </a:buClr>
              <a:buSzPts val="2100"/>
              <a:buFont typeface="Arial"/>
              <a:buChar char="●"/>
            </a:pPr>
            <a:r>
              <a:rPr lang="en-US"/>
              <a:t>The operations: push (insert) and pop (delete)</a:t>
            </a:r>
            <a:endParaRPr/>
          </a:p>
        </p:txBody>
      </p:sp>
      <p:sp>
        <p:nvSpPr>
          <p:cNvPr id="142" name="Google Shape;142;p5"/>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143" name="Google Shape;143;p5"/>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144" name="Google Shape;144;p5"/>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145" name="Google Shape;145;p5"/>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Stack</a:t>
            </a:r>
            <a:endParaRPr/>
          </a:p>
        </p:txBody>
      </p:sp>
      <p:pic>
        <p:nvPicPr>
          <p:cNvPr id="146" name="Google Shape;146;p5"/>
          <p:cNvPicPr preferRelativeResize="0"/>
          <p:nvPr/>
        </p:nvPicPr>
        <p:blipFill rotWithShape="1">
          <a:blip r:embed="rId3">
            <a:alphaModFix/>
          </a:blip>
          <a:srcRect/>
          <a:stretch/>
        </p:blipFill>
        <p:spPr>
          <a:xfrm>
            <a:off x="2403423" y="3207896"/>
            <a:ext cx="8250884" cy="296906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6"/>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Show the status of a STACK implemented by an array of size, m=5 for the operations: </a:t>
            </a:r>
            <a:endParaRPr/>
          </a:p>
          <a:p>
            <a:pPr marL="742950" lvl="1" indent="-285750" algn="l" rtl="0">
              <a:lnSpc>
                <a:spcPct val="100000"/>
              </a:lnSpc>
              <a:spcBef>
                <a:spcPts val="480"/>
              </a:spcBef>
              <a:spcAft>
                <a:spcPts val="0"/>
              </a:spcAft>
              <a:buSzPts val="1560"/>
              <a:buChar char="●"/>
            </a:pPr>
            <a:r>
              <a:rPr lang="en-US"/>
              <a:t>push(10), push(20), pop(), push(30), push(40), pop(), pop(), pop(). </a:t>
            </a:r>
            <a:endParaRPr/>
          </a:p>
        </p:txBody>
      </p:sp>
      <p:sp>
        <p:nvSpPr>
          <p:cNvPr id="152" name="Google Shape;152;p6"/>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153" name="Google Shape;153;p6"/>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154" name="Google Shape;154;p6"/>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155" name="Google Shape;155;p6"/>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Stack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7"/>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Direct applications </a:t>
            </a:r>
            <a:endParaRPr/>
          </a:p>
          <a:p>
            <a:pPr marL="742950" lvl="1" indent="-285750" algn="l" rtl="0">
              <a:lnSpc>
                <a:spcPct val="100000"/>
              </a:lnSpc>
              <a:spcBef>
                <a:spcPts val="480"/>
              </a:spcBef>
              <a:spcAft>
                <a:spcPts val="0"/>
              </a:spcAft>
              <a:buSzPts val="1560"/>
              <a:buChar char="●"/>
            </a:pPr>
            <a:r>
              <a:rPr lang="en-US"/>
              <a:t>Page-visited history in a Web browser  </a:t>
            </a:r>
            <a:endParaRPr/>
          </a:p>
          <a:p>
            <a:pPr marL="742950" lvl="1" indent="-285750" algn="l" rtl="0">
              <a:lnSpc>
                <a:spcPct val="100000"/>
              </a:lnSpc>
              <a:spcBef>
                <a:spcPts val="480"/>
              </a:spcBef>
              <a:spcAft>
                <a:spcPts val="0"/>
              </a:spcAft>
              <a:buSzPts val="1560"/>
              <a:buChar char="●"/>
            </a:pPr>
            <a:r>
              <a:rPr lang="en-US"/>
              <a:t>Undo sequence in a text editor </a:t>
            </a:r>
            <a:endParaRPr/>
          </a:p>
          <a:p>
            <a:pPr marL="742950" lvl="1" indent="-285750" algn="l" rtl="0">
              <a:lnSpc>
                <a:spcPct val="100000"/>
              </a:lnSpc>
              <a:spcBef>
                <a:spcPts val="480"/>
              </a:spcBef>
              <a:spcAft>
                <a:spcPts val="0"/>
              </a:spcAft>
              <a:buSzPts val="1560"/>
              <a:buChar char="●"/>
            </a:pPr>
            <a:r>
              <a:rPr lang="en-US"/>
              <a:t>Saving local variables when one function calls another, and this one calls another, and so on.  </a:t>
            </a:r>
            <a:endParaRPr/>
          </a:p>
          <a:p>
            <a:pPr marL="342900" marR="0" lvl="0" indent="-342900" algn="l" rtl="0">
              <a:lnSpc>
                <a:spcPct val="100000"/>
              </a:lnSpc>
              <a:spcBef>
                <a:spcPts val="560"/>
              </a:spcBef>
              <a:spcAft>
                <a:spcPts val="0"/>
              </a:spcAft>
              <a:buClr>
                <a:srgbClr val="0033CC"/>
              </a:buClr>
              <a:buSzPts val="2100"/>
              <a:buFont typeface="Arial"/>
              <a:buChar char="●"/>
            </a:pPr>
            <a:r>
              <a:rPr lang="en-US"/>
              <a:t>Indirect applications  </a:t>
            </a:r>
            <a:endParaRPr/>
          </a:p>
          <a:p>
            <a:pPr marL="742950" lvl="1" indent="-285750" algn="l" rtl="0">
              <a:lnSpc>
                <a:spcPct val="100000"/>
              </a:lnSpc>
              <a:spcBef>
                <a:spcPts val="480"/>
              </a:spcBef>
              <a:spcAft>
                <a:spcPts val="0"/>
              </a:spcAft>
              <a:buSzPts val="1560"/>
              <a:buChar char="●"/>
            </a:pPr>
            <a:r>
              <a:rPr lang="en-US"/>
              <a:t>Auxiliary data structure for algorithms </a:t>
            </a:r>
            <a:endParaRPr/>
          </a:p>
          <a:p>
            <a:pPr marL="742950" lvl="1" indent="-285750" algn="l" rtl="0">
              <a:lnSpc>
                <a:spcPct val="100000"/>
              </a:lnSpc>
              <a:spcBef>
                <a:spcPts val="480"/>
              </a:spcBef>
              <a:spcAft>
                <a:spcPts val="0"/>
              </a:spcAft>
              <a:buSzPts val="1560"/>
              <a:buChar char="●"/>
            </a:pPr>
            <a:r>
              <a:rPr lang="en-US"/>
              <a:t>Component of other data structures</a:t>
            </a:r>
            <a:endParaRPr/>
          </a:p>
        </p:txBody>
      </p:sp>
      <p:sp>
        <p:nvSpPr>
          <p:cNvPr id="161" name="Google Shape;161;p7"/>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162" name="Google Shape;162;p7"/>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163" name="Google Shape;163;p7"/>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64" name="Google Shape;164;p7"/>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Applications of Stack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8"/>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To implement a stack, items are inserted and removed at the same end (called the top) </a:t>
            </a:r>
            <a:endParaRPr/>
          </a:p>
          <a:p>
            <a:pPr marL="342900" marR="0" lvl="0" indent="-342900" algn="l" rtl="0">
              <a:lnSpc>
                <a:spcPct val="100000"/>
              </a:lnSpc>
              <a:spcBef>
                <a:spcPts val="560"/>
              </a:spcBef>
              <a:spcAft>
                <a:spcPts val="0"/>
              </a:spcAft>
              <a:buClr>
                <a:srgbClr val="0033CC"/>
              </a:buClr>
              <a:buSzPts val="2100"/>
              <a:buFont typeface="Arial"/>
              <a:buChar char="●"/>
            </a:pPr>
            <a:r>
              <a:rPr lang="en-US"/>
              <a:t>To use an array to implement a stack, you need both the array itself and an integer</a:t>
            </a:r>
            <a:endParaRPr/>
          </a:p>
          <a:p>
            <a:pPr marL="742950" lvl="1" indent="-285750" algn="l" rtl="0">
              <a:lnSpc>
                <a:spcPct val="100000"/>
              </a:lnSpc>
              <a:spcBef>
                <a:spcPts val="480"/>
              </a:spcBef>
              <a:spcAft>
                <a:spcPts val="0"/>
              </a:spcAft>
              <a:buSzPts val="1560"/>
              <a:buChar char="●"/>
            </a:pPr>
            <a:r>
              <a:rPr lang="en-US"/>
              <a:t>The integer tells you either:  </a:t>
            </a:r>
            <a:endParaRPr/>
          </a:p>
          <a:p>
            <a:pPr marL="1143000" lvl="2" indent="-228600" algn="l" rtl="0">
              <a:lnSpc>
                <a:spcPct val="100000"/>
              </a:lnSpc>
              <a:spcBef>
                <a:spcPts val="400"/>
              </a:spcBef>
              <a:spcAft>
                <a:spcPts val="0"/>
              </a:spcAft>
              <a:buSzPts val="1300"/>
              <a:buChar char="●"/>
            </a:pPr>
            <a:r>
              <a:rPr lang="en-US"/>
              <a:t>Which location is currently the top of the stack, or </a:t>
            </a:r>
            <a:endParaRPr/>
          </a:p>
          <a:p>
            <a:pPr marL="1143000" lvl="2" indent="-228600" algn="l" rtl="0">
              <a:lnSpc>
                <a:spcPct val="100000"/>
              </a:lnSpc>
              <a:spcBef>
                <a:spcPts val="400"/>
              </a:spcBef>
              <a:spcAft>
                <a:spcPts val="0"/>
              </a:spcAft>
              <a:buSzPts val="1300"/>
              <a:buChar char="●"/>
            </a:pPr>
            <a:r>
              <a:rPr lang="en-US"/>
              <a:t>How many elements are in the stack</a:t>
            </a:r>
            <a:endParaRPr/>
          </a:p>
        </p:txBody>
      </p:sp>
      <p:sp>
        <p:nvSpPr>
          <p:cNvPr id="170" name="Google Shape;170;p8"/>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171" name="Google Shape;171;p8"/>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172" name="Google Shape;172;p8"/>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73" name="Google Shape;173;p8"/>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Array Implementation of Stacks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9"/>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a:p>
            <a:pPr marL="342900" marR="0" lvl="0" indent="-209550" algn="l" rtl="0">
              <a:lnSpc>
                <a:spcPct val="100000"/>
              </a:lnSpc>
              <a:spcBef>
                <a:spcPts val="560"/>
              </a:spcBef>
              <a:spcAft>
                <a:spcPts val="0"/>
              </a:spcAft>
              <a:buClr>
                <a:srgbClr val="0033CC"/>
              </a:buClr>
              <a:buSzPts val="2100"/>
              <a:buFont typeface="Arial"/>
              <a:buNone/>
            </a:pPr>
            <a:endParaRPr/>
          </a:p>
          <a:p>
            <a:pPr marL="342900" marR="0" lvl="0" indent="-209550" algn="l" rtl="0">
              <a:lnSpc>
                <a:spcPct val="100000"/>
              </a:lnSpc>
              <a:spcBef>
                <a:spcPts val="560"/>
              </a:spcBef>
              <a:spcAft>
                <a:spcPts val="0"/>
              </a:spcAft>
              <a:buClr>
                <a:srgbClr val="0033CC"/>
              </a:buClr>
              <a:buSzPts val="2100"/>
              <a:buFont typeface="Arial"/>
              <a:buNone/>
            </a:pPr>
            <a:endParaRPr/>
          </a:p>
          <a:p>
            <a:pPr marL="0" lvl="0" indent="0" algn="l" rtl="0">
              <a:lnSpc>
                <a:spcPct val="100000"/>
              </a:lnSpc>
              <a:spcBef>
                <a:spcPts val="560"/>
              </a:spcBef>
              <a:spcAft>
                <a:spcPts val="0"/>
              </a:spcAft>
              <a:buSzPts val="2100"/>
              <a:buNone/>
            </a:pPr>
            <a:endParaRPr/>
          </a:p>
          <a:p>
            <a:pPr marL="0" lvl="0" indent="0" algn="l" rtl="0">
              <a:lnSpc>
                <a:spcPct val="100000"/>
              </a:lnSpc>
              <a:spcBef>
                <a:spcPts val="560"/>
              </a:spcBef>
              <a:spcAft>
                <a:spcPts val="0"/>
              </a:spcAft>
              <a:buSzPts val="2100"/>
              <a:buNone/>
            </a:pPr>
            <a:r>
              <a:rPr lang="en-US"/>
              <a:t>The functions after being called, will look like this:</a:t>
            </a:r>
            <a:endParaRPr/>
          </a:p>
          <a:p>
            <a:pPr marL="342900" marR="0" lvl="0" indent="-342900" algn="l" rtl="0">
              <a:lnSpc>
                <a:spcPct val="100000"/>
              </a:lnSpc>
              <a:spcBef>
                <a:spcPts val="560"/>
              </a:spcBef>
              <a:spcAft>
                <a:spcPts val="0"/>
              </a:spcAft>
              <a:buClr>
                <a:srgbClr val="0033CC"/>
              </a:buClr>
              <a:buSzPts val="2100"/>
              <a:buFont typeface="Arial"/>
              <a:buChar char="●"/>
            </a:pPr>
            <a:r>
              <a:rPr lang="en-US"/>
              <a:t>Push(44);</a:t>
            </a:r>
            <a:endParaRPr/>
          </a:p>
          <a:p>
            <a:pPr marL="342900" marR="0" lvl="0" indent="-342900" algn="l" rtl="0">
              <a:lnSpc>
                <a:spcPct val="100000"/>
              </a:lnSpc>
              <a:spcBef>
                <a:spcPts val="560"/>
              </a:spcBef>
              <a:spcAft>
                <a:spcPts val="0"/>
              </a:spcAft>
              <a:buClr>
                <a:srgbClr val="0033CC"/>
              </a:buClr>
              <a:buSzPts val="2100"/>
              <a:buFont typeface="Arial"/>
              <a:buChar char="●"/>
            </a:pPr>
            <a:r>
              <a:rPr lang="en-US"/>
              <a:t>X=Pop();</a:t>
            </a:r>
            <a:endParaRPr/>
          </a:p>
          <a:p>
            <a:pPr marL="342900" marR="0" lvl="0" indent="-209550" algn="l" rtl="0">
              <a:lnSpc>
                <a:spcPct val="100000"/>
              </a:lnSpc>
              <a:spcBef>
                <a:spcPts val="560"/>
              </a:spcBef>
              <a:spcAft>
                <a:spcPts val="0"/>
              </a:spcAft>
              <a:buClr>
                <a:srgbClr val="0033CC"/>
              </a:buClr>
              <a:buSzPts val="2100"/>
              <a:buFont typeface="Arial"/>
              <a:buNone/>
            </a:pPr>
            <a:endParaRPr/>
          </a:p>
        </p:txBody>
      </p:sp>
      <p:sp>
        <p:nvSpPr>
          <p:cNvPr id="179" name="Google Shape;179;p9"/>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180" name="Google Shape;180;p9"/>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181" name="Google Shape;181;p9"/>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182" name="Google Shape;182;p9"/>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Array Implementation of Stacks</a:t>
            </a:r>
            <a:endParaRPr/>
          </a:p>
        </p:txBody>
      </p:sp>
      <p:pic>
        <p:nvPicPr>
          <p:cNvPr id="183" name="Google Shape;183;p9"/>
          <p:cNvPicPr preferRelativeResize="0"/>
          <p:nvPr/>
        </p:nvPicPr>
        <p:blipFill rotWithShape="1">
          <a:blip r:embed="rId3">
            <a:alphaModFix/>
          </a:blip>
          <a:srcRect/>
          <a:stretch/>
        </p:blipFill>
        <p:spPr>
          <a:xfrm>
            <a:off x="2624137" y="1269132"/>
            <a:ext cx="6943725" cy="1676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0"/>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fontScale="92500" lnSpcReduction="10000"/>
          </a:bodyPr>
          <a:lstStyle/>
          <a:p>
            <a:pPr marL="342900" marR="0" lvl="0" indent="-219550" algn="l" rtl="0">
              <a:lnSpc>
                <a:spcPct val="100000"/>
              </a:lnSpc>
              <a:spcBef>
                <a:spcPts val="0"/>
              </a:spcBef>
              <a:spcAft>
                <a:spcPts val="0"/>
              </a:spcAft>
              <a:buClr>
                <a:srgbClr val="0033CC"/>
              </a:buClr>
              <a:buSzPct val="75000"/>
              <a:buFont typeface="Arial"/>
              <a:buNone/>
            </a:pPr>
            <a:endParaRPr/>
          </a:p>
          <a:p>
            <a:pPr marL="342900" marR="0" lvl="0" indent="-219550" algn="l" rtl="0">
              <a:lnSpc>
                <a:spcPct val="100000"/>
              </a:lnSpc>
              <a:spcBef>
                <a:spcPts val="518"/>
              </a:spcBef>
              <a:spcAft>
                <a:spcPts val="0"/>
              </a:spcAft>
              <a:buClr>
                <a:srgbClr val="0033CC"/>
              </a:buClr>
              <a:buSzPct val="75000"/>
              <a:buFont typeface="Arial"/>
              <a:buNone/>
            </a:pPr>
            <a:endParaRPr/>
          </a:p>
          <a:p>
            <a:pPr marL="342900" marR="0" lvl="0" indent="-219550" algn="l" rtl="0">
              <a:lnSpc>
                <a:spcPct val="100000"/>
              </a:lnSpc>
              <a:spcBef>
                <a:spcPts val="518"/>
              </a:spcBef>
              <a:spcAft>
                <a:spcPts val="0"/>
              </a:spcAft>
              <a:buClr>
                <a:srgbClr val="0033CC"/>
              </a:buClr>
              <a:buSzPct val="75000"/>
              <a:buFont typeface="Arial"/>
              <a:buNone/>
            </a:pPr>
            <a:endParaRPr/>
          </a:p>
          <a:p>
            <a:pPr marL="342900" marR="0" lvl="0" indent="-219550" algn="l" rtl="0">
              <a:lnSpc>
                <a:spcPct val="100000"/>
              </a:lnSpc>
              <a:spcBef>
                <a:spcPts val="518"/>
              </a:spcBef>
              <a:spcAft>
                <a:spcPts val="0"/>
              </a:spcAft>
              <a:buClr>
                <a:srgbClr val="0033CC"/>
              </a:buClr>
              <a:buSzPct val="75000"/>
              <a:buFont typeface="Arial"/>
              <a:buNone/>
            </a:pPr>
            <a:endParaRPr/>
          </a:p>
          <a:p>
            <a:pPr marL="342900" marR="0" lvl="0" indent="-342900" algn="l" rtl="0">
              <a:lnSpc>
                <a:spcPct val="100000"/>
              </a:lnSpc>
              <a:spcBef>
                <a:spcPts val="518"/>
              </a:spcBef>
              <a:spcAft>
                <a:spcPts val="0"/>
              </a:spcAft>
              <a:buClr>
                <a:srgbClr val="0033CC"/>
              </a:buClr>
              <a:buSzPct val="75000"/>
              <a:buFont typeface="Arial"/>
              <a:buChar char="●"/>
            </a:pPr>
            <a:r>
              <a:rPr lang="en-US"/>
              <a:t>If the bottom of the stack is at location 0, then an empty stack is represented by </a:t>
            </a:r>
            <a:r>
              <a:rPr lang="en-US" b="1"/>
              <a:t>top = -1</a:t>
            </a:r>
            <a:r>
              <a:rPr lang="en-US"/>
              <a:t> or </a:t>
            </a:r>
            <a:r>
              <a:rPr lang="en-US" b="1"/>
              <a:t>count = 0 </a:t>
            </a:r>
            <a:endParaRPr/>
          </a:p>
          <a:p>
            <a:pPr marL="342900" marR="0" lvl="0" indent="-342900" algn="l" rtl="0">
              <a:lnSpc>
                <a:spcPct val="100000"/>
              </a:lnSpc>
              <a:spcBef>
                <a:spcPts val="518"/>
              </a:spcBef>
              <a:spcAft>
                <a:spcPts val="0"/>
              </a:spcAft>
              <a:buClr>
                <a:srgbClr val="0033CC"/>
              </a:buClr>
              <a:buSzPct val="75000"/>
              <a:buFont typeface="Arial"/>
              <a:buChar char="●"/>
            </a:pPr>
            <a:r>
              <a:rPr lang="en-US"/>
              <a:t>To </a:t>
            </a:r>
            <a:r>
              <a:rPr lang="en-US" b="1"/>
              <a:t>add (push) </a:t>
            </a:r>
            <a:r>
              <a:rPr lang="en-US"/>
              <a:t>an element, either:  </a:t>
            </a:r>
            <a:endParaRPr/>
          </a:p>
          <a:p>
            <a:pPr marL="742950" lvl="1" indent="-285750" algn="l" rtl="0">
              <a:lnSpc>
                <a:spcPct val="100000"/>
              </a:lnSpc>
              <a:spcBef>
                <a:spcPts val="444"/>
              </a:spcBef>
              <a:spcAft>
                <a:spcPts val="0"/>
              </a:spcAft>
              <a:buSzPct val="65000"/>
              <a:buChar char="●"/>
            </a:pPr>
            <a:r>
              <a:rPr lang="en-US" b="1"/>
              <a:t>Increment</a:t>
            </a:r>
            <a:r>
              <a:rPr lang="en-US"/>
              <a:t> </a:t>
            </a:r>
            <a:r>
              <a:rPr lang="en-US" b="1"/>
              <a:t>top</a:t>
            </a:r>
            <a:r>
              <a:rPr lang="en-US"/>
              <a:t> and store the element in </a:t>
            </a:r>
            <a:r>
              <a:rPr lang="en-US" b="1"/>
              <a:t>stk[top], </a:t>
            </a:r>
            <a:r>
              <a:rPr lang="en-US"/>
              <a:t>or </a:t>
            </a:r>
            <a:endParaRPr/>
          </a:p>
          <a:p>
            <a:pPr marL="742950" lvl="1" indent="-285750" algn="l" rtl="0">
              <a:lnSpc>
                <a:spcPct val="100000"/>
              </a:lnSpc>
              <a:spcBef>
                <a:spcPts val="444"/>
              </a:spcBef>
              <a:spcAft>
                <a:spcPts val="0"/>
              </a:spcAft>
              <a:buSzPct val="65000"/>
              <a:buChar char="●"/>
            </a:pPr>
            <a:r>
              <a:rPr lang="en-US"/>
              <a:t>Store the element in </a:t>
            </a:r>
            <a:r>
              <a:rPr lang="en-US" b="1"/>
              <a:t>stk[count]</a:t>
            </a:r>
            <a:r>
              <a:rPr lang="en-US"/>
              <a:t> and </a:t>
            </a:r>
            <a:r>
              <a:rPr lang="en-US" b="1"/>
              <a:t>increment count </a:t>
            </a:r>
            <a:endParaRPr/>
          </a:p>
          <a:p>
            <a:pPr marL="342900" marR="0" lvl="0" indent="-342900" algn="l" rtl="0">
              <a:lnSpc>
                <a:spcPct val="100000"/>
              </a:lnSpc>
              <a:spcBef>
                <a:spcPts val="518"/>
              </a:spcBef>
              <a:spcAft>
                <a:spcPts val="0"/>
              </a:spcAft>
              <a:buClr>
                <a:srgbClr val="0033CC"/>
              </a:buClr>
              <a:buSzPct val="75000"/>
              <a:buFont typeface="Arial"/>
              <a:buChar char="●"/>
            </a:pPr>
            <a:r>
              <a:rPr lang="en-US"/>
              <a:t>To </a:t>
            </a:r>
            <a:r>
              <a:rPr lang="en-US" b="1"/>
              <a:t>remove (pop) </a:t>
            </a:r>
            <a:r>
              <a:rPr lang="en-US"/>
              <a:t>an element, either: </a:t>
            </a:r>
            <a:endParaRPr/>
          </a:p>
          <a:p>
            <a:pPr marL="742950" lvl="1" indent="-285750" algn="l" rtl="0">
              <a:lnSpc>
                <a:spcPct val="100000"/>
              </a:lnSpc>
              <a:spcBef>
                <a:spcPts val="444"/>
              </a:spcBef>
              <a:spcAft>
                <a:spcPts val="0"/>
              </a:spcAft>
              <a:buSzPct val="65000"/>
              <a:buChar char="●"/>
            </a:pPr>
            <a:r>
              <a:rPr lang="en-US"/>
              <a:t> Get the element from </a:t>
            </a:r>
            <a:r>
              <a:rPr lang="en-US" b="1"/>
              <a:t>stk[top] </a:t>
            </a:r>
            <a:r>
              <a:rPr lang="en-US"/>
              <a:t>and </a:t>
            </a:r>
            <a:r>
              <a:rPr lang="en-US" b="1"/>
              <a:t>decrement top</a:t>
            </a:r>
            <a:r>
              <a:rPr lang="en-US"/>
              <a:t>, or  </a:t>
            </a:r>
            <a:endParaRPr/>
          </a:p>
          <a:p>
            <a:pPr marL="742950" lvl="1" indent="-285750" algn="l" rtl="0">
              <a:lnSpc>
                <a:spcPct val="100000"/>
              </a:lnSpc>
              <a:spcBef>
                <a:spcPts val="444"/>
              </a:spcBef>
              <a:spcAft>
                <a:spcPts val="0"/>
              </a:spcAft>
              <a:buSzPct val="65000"/>
              <a:buChar char="●"/>
            </a:pPr>
            <a:r>
              <a:rPr lang="en-US"/>
              <a:t>Decrement </a:t>
            </a:r>
            <a:r>
              <a:rPr lang="en-US" b="1"/>
              <a:t>count</a:t>
            </a:r>
            <a:r>
              <a:rPr lang="en-US"/>
              <a:t> and get the element in </a:t>
            </a:r>
            <a:r>
              <a:rPr lang="en-US" b="1"/>
              <a:t>stk[count</a:t>
            </a:r>
            <a:r>
              <a:rPr lang="en-US"/>
              <a:t>] </a:t>
            </a:r>
            <a:endParaRPr/>
          </a:p>
        </p:txBody>
      </p:sp>
      <p:sp>
        <p:nvSpPr>
          <p:cNvPr id="189" name="Google Shape;189;p10"/>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190" name="Google Shape;190;p10"/>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191" name="Google Shape;191;p10"/>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192" name="Google Shape;192;p10"/>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Stacks by Array: Push and Pop</a:t>
            </a:r>
            <a:endParaRPr/>
          </a:p>
        </p:txBody>
      </p:sp>
      <p:pic>
        <p:nvPicPr>
          <p:cNvPr id="193" name="Google Shape;193;p10"/>
          <p:cNvPicPr preferRelativeResize="0"/>
          <p:nvPr/>
        </p:nvPicPr>
        <p:blipFill rotWithShape="1">
          <a:blip r:embed="rId3">
            <a:alphaModFix/>
          </a:blip>
          <a:srcRect/>
          <a:stretch/>
        </p:blipFill>
        <p:spPr>
          <a:xfrm>
            <a:off x="2624137" y="1269132"/>
            <a:ext cx="6943725" cy="1676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body" idx="1"/>
          </p:nvPr>
        </p:nvSpPr>
        <p:spPr>
          <a:xfrm>
            <a:off x="838200" y="3177915"/>
            <a:ext cx="10515600" cy="2999048"/>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When you pop an element, do you just leave the “deleted” element sitting in the array?</a:t>
            </a:r>
            <a:endParaRPr/>
          </a:p>
          <a:p>
            <a:pPr marL="342900" marR="0" lvl="0" indent="-342900" algn="l" rtl="0">
              <a:lnSpc>
                <a:spcPct val="100000"/>
              </a:lnSpc>
              <a:spcBef>
                <a:spcPts val="560"/>
              </a:spcBef>
              <a:spcAft>
                <a:spcPts val="0"/>
              </a:spcAft>
              <a:buClr>
                <a:srgbClr val="0033CC"/>
              </a:buClr>
              <a:buSzPts val="2100"/>
              <a:buFont typeface="Arial"/>
              <a:buChar char="●"/>
            </a:pPr>
            <a:r>
              <a:rPr lang="en-US"/>
              <a:t>The surprising answer is, </a:t>
            </a:r>
            <a:r>
              <a:rPr lang="en-US" b="1"/>
              <a:t>“it depends”</a:t>
            </a:r>
            <a:r>
              <a:rPr lang="en-US"/>
              <a:t> </a:t>
            </a:r>
            <a:endParaRPr/>
          </a:p>
          <a:p>
            <a:pPr marL="742950" lvl="1" indent="-285750" algn="l" rtl="0">
              <a:lnSpc>
                <a:spcPct val="100000"/>
              </a:lnSpc>
              <a:spcBef>
                <a:spcPts val="480"/>
              </a:spcBef>
              <a:spcAft>
                <a:spcPts val="0"/>
              </a:spcAft>
              <a:buSzPts val="1560"/>
              <a:buChar char="●"/>
            </a:pPr>
            <a:r>
              <a:rPr lang="en-US"/>
              <a:t>If this is an array of </a:t>
            </a:r>
            <a:r>
              <a:rPr lang="en-US" b="1"/>
              <a:t>primitives</a:t>
            </a:r>
            <a:r>
              <a:rPr lang="en-US"/>
              <a:t>, then doing anything more is just a waste of time </a:t>
            </a:r>
            <a:endParaRPr/>
          </a:p>
          <a:p>
            <a:pPr marL="742950" lvl="1" indent="-285750" algn="l" rtl="0">
              <a:lnSpc>
                <a:spcPct val="100000"/>
              </a:lnSpc>
              <a:spcBef>
                <a:spcPts val="480"/>
              </a:spcBef>
              <a:spcAft>
                <a:spcPts val="0"/>
              </a:spcAft>
              <a:buSzPts val="1560"/>
              <a:buChar char="●"/>
            </a:pPr>
            <a:r>
              <a:rPr lang="en-US"/>
              <a:t>If the array contains </a:t>
            </a:r>
            <a:r>
              <a:rPr lang="en-US" b="1"/>
              <a:t>objects</a:t>
            </a:r>
            <a:r>
              <a:rPr lang="en-US"/>
              <a:t>, you should set the delete array element to null </a:t>
            </a:r>
            <a:endParaRPr/>
          </a:p>
        </p:txBody>
      </p:sp>
      <p:sp>
        <p:nvSpPr>
          <p:cNvPr id="199" name="Google Shape;199;p11"/>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200" name="Google Shape;200;p11"/>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201" name="Google Shape;201;p11"/>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202" name="Google Shape;202;p11"/>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Stacks by Array: After Popping</a:t>
            </a:r>
            <a:endParaRPr/>
          </a:p>
        </p:txBody>
      </p:sp>
      <p:pic>
        <p:nvPicPr>
          <p:cNvPr id="203" name="Google Shape;203;p11"/>
          <p:cNvPicPr preferRelativeResize="0"/>
          <p:nvPr/>
        </p:nvPicPr>
        <p:blipFill rotWithShape="1">
          <a:blip r:embed="rId3">
            <a:alphaModFix/>
          </a:blip>
          <a:srcRect/>
          <a:stretch/>
        </p:blipFill>
        <p:spPr>
          <a:xfrm>
            <a:off x="2633662" y="1314102"/>
            <a:ext cx="6924675" cy="1685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2"/>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There are two stack errors that can occur: </a:t>
            </a:r>
            <a:endParaRPr/>
          </a:p>
          <a:p>
            <a:pPr marL="742950" lvl="1" indent="-285750" algn="l" rtl="0">
              <a:lnSpc>
                <a:spcPct val="100000"/>
              </a:lnSpc>
              <a:spcBef>
                <a:spcPts val="480"/>
              </a:spcBef>
              <a:spcAft>
                <a:spcPts val="0"/>
              </a:spcAft>
              <a:buSzPts val="1560"/>
              <a:buChar char="●"/>
            </a:pPr>
            <a:r>
              <a:rPr lang="en-US"/>
              <a:t>Underflow: trying to pop (or peek at) an empty stack </a:t>
            </a:r>
            <a:endParaRPr/>
          </a:p>
          <a:p>
            <a:pPr marL="742950" lvl="1" indent="-285750" algn="l" rtl="0">
              <a:lnSpc>
                <a:spcPct val="100000"/>
              </a:lnSpc>
              <a:spcBef>
                <a:spcPts val="480"/>
              </a:spcBef>
              <a:spcAft>
                <a:spcPts val="0"/>
              </a:spcAft>
              <a:buSzPts val="1560"/>
              <a:buChar char="●"/>
            </a:pPr>
            <a:r>
              <a:rPr lang="en-US"/>
              <a:t>Overflow: trying to push onto an already full stack </a:t>
            </a:r>
            <a:endParaRPr/>
          </a:p>
          <a:p>
            <a:pPr marL="342900" marR="0" lvl="0" indent="-342900" algn="l" rtl="0">
              <a:lnSpc>
                <a:spcPct val="100000"/>
              </a:lnSpc>
              <a:spcBef>
                <a:spcPts val="560"/>
              </a:spcBef>
              <a:spcAft>
                <a:spcPts val="0"/>
              </a:spcAft>
              <a:buClr>
                <a:srgbClr val="0033CC"/>
              </a:buClr>
              <a:buSzPts val="2100"/>
              <a:buFont typeface="Arial"/>
              <a:buChar char="●"/>
            </a:pPr>
            <a:r>
              <a:rPr lang="en-US" b="1"/>
              <a:t>For underflow,</a:t>
            </a:r>
            <a:r>
              <a:rPr lang="en-US"/>
              <a:t> you should check whether the stack is empty or not </a:t>
            </a:r>
            <a:endParaRPr/>
          </a:p>
          <a:p>
            <a:pPr marL="742950" lvl="1" indent="-285750" algn="l" rtl="0">
              <a:lnSpc>
                <a:spcPct val="100000"/>
              </a:lnSpc>
              <a:spcBef>
                <a:spcPts val="480"/>
              </a:spcBef>
              <a:spcAft>
                <a:spcPts val="0"/>
              </a:spcAft>
              <a:buSzPts val="1560"/>
              <a:buChar char="●"/>
            </a:pPr>
            <a:r>
              <a:rPr lang="en-US"/>
              <a:t>Use if condition</a:t>
            </a:r>
            <a:endParaRPr/>
          </a:p>
          <a:p>
            <a:pPr marL="342900" marR="0" lvl="0" indent="-342900" algn="l" rtl="0">
              <a:lnSpc>
                <a:spcPct val="100000"/>
              </a:lnSpc>
              <a:spcBef>
                <a:spcPts val="560"/>
              </a:spcBef>
              <a:spcAft>
                <a:spcPts val="0"/>
              </a:spcAft>
              <a:buClr>
                <a:srgbClr val="0033CC"/>
              </a:buClr>
              <a:buSzPts val="2100"/>
              <a:buFont typeface="Arial"/>
              <a:buChar char="●"/>
            </a:pPr>
            <a:r>
              <a:rPr lang="en-US" b="1"/>
              <a:t>For overflow</a:t>
            </a:r>
            <a:r>
              <a:rPr lang="en-US"/>
              <a:t>, you could do the same thing </a:t>
            </a:r>
            <a:endParaRPr/>
          </a:p>
          <a:p>
            <a:pPr marL="742950" lvl="1" indent="-285750" algn="l" rtl="0">
              <a:lnSpc>
                <a:spcPct val="100000"/>
              </a:lnSpc>
              <a:spcBef>
                <a:spcPts val="480"/>
              </a:spcBef>
              <a:spcAft>
                <a:spcPts val="0"/>
              </a:spcAft>
              <a:buSzPts val="1560"/>
              <a:buChar char="●"/>
            </a:pPr>
            <a:r>
              <a:rPr lang="en-US"/>
              <a:t>Or, you could copy everything into a new, larger array </a:t>
            </a:r>
            <a:endParaRPr/>
          </a:p>
        </p:txBody>
      </p:sp>
      <p:sp>
        <p:nvSpPr>
          <p:cNvPr id="209" name="Google Shape;209;p12"/>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210" name="Google Shape;210;p12"/>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211" name="Google Shape;211;p12"/>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212" name="Google Shape;212;p12"/>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Stacks by Array: Error Checking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3"/>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p:txBody>
      </p:sp>
      <p:sp>
        <p:nvSpPr>
          <p:cNvPr id="218" name="Google Shape;218;p13"/>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219" name="Google Shape;219;p13"/>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220" name="Google Shape;220;p13"/>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221" name="Google Shape;221;p13"/>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Let us write the Code for Stack</a:t>
            </a:r>
            <a:endParaRPr/>
          </a:p>
        </p:txBody>
      </p:sp>
      <p:pic>
        <p:nvPicPr>
          <p:cNvPr id="222" name="Google Shape;222;p13"/>
          <p:cNvPicPr preferRelativeResize="0"/>
          <p:nvPr/>
        </p:nvPicPr>
        <p:blipFill rotWithShape="1">
          <a:blip r:embed="rId3">
            <a:alphaModFix/>
          </a:blip>
          <a:srcRect/>
          <a:stretch/>
        </p:blipFill>
        <p:spPr>
          <a:xfrm>
            <a:off x="2700337" y="1314102"/>
            <a:ext cx="6791325" cy="1352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4"/>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p:txBody>
      </p:sp>
      <p:sp>
        <p:nvSpPr>
          <p:cNvPr id="228" name="Google Shape;228;p14"/>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229" name="Google Shape;229;p14"/>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230" name="Google Shape;230;p14"/>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231" name="Google Shape;231;p14"/>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Let us write the Code for Stack</a:t>
            </a:r>
            <a:endParaRPr/>
          </a:p>
        </p:txBody>
      </p:sp>
      <p:pic>
        <p:nvPicPr>
          <p:cNvPr id="232" name="Google Shape;232;p14"/>
          <p:cNvPicPr preferRelativeResize="0"/>
          <p:nvPr/>
        </p:nvPicPr>
        <p:blipFill rotWithShape="1">
          <a:blip r:embed="rId3">
            <a:alphaModFix/>
          </a:blip>
          <a:srcRect/>
          <a:stretch/>
        </p:blipFill>
        <p:spPr>
          <a:xfrm>
            <a:off x="2700337" y="1314102"/>
            <a:ext cx="6791325" cy="1352550"/>
          </a:xfrm>
          <a:prstGeom prst="rect">
            <a:avLst/>
          </a:prstGeom>
          <a:noFill/>
          <a:ln>
            <a:noFill/>
          </a:ln>
        </p:spPr>
      </p:pic>
      <p:pic>
        <p:nvPicPr>
          <p:cNvPr id="233" name="Google Shape;233;p14"/>
          <p:cNvPicPr preferRelativeResize="0"/>
          <p:nvPr/>
        </p:nvPicPr>
        <p:blipFill rotWithShape="1">
          <a:blip r:embed="rId4">
            <a:alphaModFix/>
          </a:blip>
          <a:srcRect/>
          <a:stretch/>
        </p:blipFill>
        <p:spPr>
          <a:xfrm>
            <a:off x="2319336" y="2666652"/>
            <a:ext cx="7553325" cy="3371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5"/>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With a linked-list representation, overflow will not happen (unless you exhaust memory, which is another kind of problem) </a:t>
            </a:r>
            <a:endParaRPr/>
          </a:p>
          <a:p>
            <a:pPr marL="342900" marR="0" lvl="0" indent="-342900" algn="l" rtl="0">
              <a:lnSpc>
                <a:spcPct val="100000"/>
              </a:lnSpc>
              <a:spcBef>
                <a:spcPts val="560"/>
              </a:spcBef>
              <a:spcAft>
                <a:spcPts val="0"/>
              </a:spcAft>
              <a:buClr>
                <a:srgbClr val="0033CC"/>
              </a:buClr>
              <a:buSzPts val="2100"/>
              <a:buFont typeface="Arial"/>
              <a:buChar char="●"/>
            </a:pPr>
            <a:r>
              <a:rPr lang="en-US"/>
              <a:t>Underflow can happen, and should be handled the same way as for an array implementation </a:t>
            </a:r>
            <a:endParaRPr/>
          </a:p>
        </p:txBody>
      </p:sp>
      <p:sp>
        <p:nvSpPr>
          <p:cNvPr id="239" name="Google Shape;239;p15"/>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240" name="Google Shape;240;p15"/>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241" name="Google Shape;241;p15"/>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242" name="Google Shape;242;p15"/>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Linked List Implementation of Stacks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6"/>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p:txBody>
      </p:sp>
      <p:sp>
        <p:nvSpPr>
          <p:cNvPr id="248" name="Google Shape;248;p16"/>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249" name="Google Shape;249;p16"/>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250" name="Google Shape;250;p16"/>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251" name="Google Shape;251;p16"/>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Let us write the code for SLL : Push</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7"/>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p:txBody>
      </p:sp>
      <p:sp>
        <p:nvSpPr>
          <p:cNvPr id="257" name="Google Shape;257;p17"/>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258" name="Google Shape;258;p17"/>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259" name="Google Shape;259;p17"/>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260" name="Google Shape;260;p17"/>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Let us write the code for SLL : Push</a:t>
            </a:r>
            <a:endParaRPr/>
          </a:p>
        </p:txBody>
      </p:sp>
      <p:pic>
        <p:nvPicPr>
          <p:cNvPr id="261" name="Google Shape;261;p17"/>
          <p:cNvPicPr preferRelativeResize="0"/>
          <p:nvPr/>
        </p:nvPicPr>
        <p:blipFill rotWithShape="1">
          <a:blip r:embed="rId3">
            <a:alphaModFix/>
          </a:blip>
          <a:srcRect/>
          <a:stretch/>
        </p:blipFill>
        <p:spPr>
          <a:xfrm>
            <a:off x="2447925" y="1364048"/>
            <a:ext cx="7534275" cy="4676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8"/>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p:txBody>
      </p:sp>
      <p:sp>
        <p:nvSpPr>
          <p:cNvPr id="267" name="Google Shape;267;p18"/>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268" name="Google Shape;268;p18"/>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269" name="Google Shape;269;p18"/>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sp>
        <p:nvSpPr>
          <p:cNvPr id="270" name="Google Shape;270;p18"/>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Let us write the code for SLL : Pop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9"/>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p:txBody>
      </p:sp>
      <p:sp>
        <p:nvSpPr>
          <p:cNvPr id="276" name="Google Shape;276;p19"/>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277" name="Google Shape;277;p19"/>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278" name="Google Shape;278;p19"/>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
        <p:nvSpPr>
          <p:cNvPr id="279" name="Google Shape;279;p19"/>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Let us write the code for SLL : Pop</a:t>
            </a:r>
            <a:endParaRPr/>
          </a:p>
        </p:txBody>
      </p:sp>
      <p:pic>
        <p:nvPicPr>
          <p:cNvPr id="280" name="Google Shape;280;p19"/>
          <p:cNvPicPr preferRelativeResize="0"/>
          <p:nvPr/>
        </p:nvPicPr>
        <p:blipFill rotWithShape="1">
          <a:blip r:embed="rId3">
            <a:alphaModFix/>
          </a:blip>
          <a:srcRect/>
          <a:stretch/>
        </p:blipFill>
        <p:spPr>
          <a:xfrm>
            <a:off x="2247900" y="1057275"/>
            <a:ext cx="7696200" cy="4743450"/>
          </a:xfrm>
          <a:prstGeom prst="rect">
            <a:avLst/>
          </a:prstGeom>
          <a:noFill/>
          <a:ln>
            <a:noFill/>
          </a:ln>
        </p:spPr>
      </p:pic>
      <p:pic>
        <p:nvPicPr>
          <p:cNvPr id="281" name="Google Shape;281;p19"/>
          <p:cNvPicPr preferRelativeResize="0"/>
          <p:nvPr/>
        </p:nvPicPr>
        <p:blipFill rotWithShape="1">
          <a:blip r:embed="rId4">
            <a:alphaModFix/>
          </a:blip>
          <a:srcRect b="12981"/>
          <a:stretch/>
        </p:blipFill>
        <p:spPr>
          <a:xfrm>
            <a:off x="2247900" y="5804030"/>
            <a:ext cx="457200" cy="28181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2"/>
              </a:buClr>
              <a:buSzPts val="5400"/>
              <a:buFont typeface="Times New Roman"/>
              <a:buNone/>
            </a:pPr>
            <a:r>
              <a:rPr lang="en-US"/>
              <a:t>QUEUE</a:t>
            </a:r>
            <a:endParaRPr/>
          </a:p>
        </p:txBody>
      </p:sp>
      <p:sp>
        <p:nvSpPr>
          <p:cNvPr id="287" name="Google Shape;287;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None/>
            </a:pPr>
            <a:endParaRPr/>
          </a:p>
        </p:txBody>
      </p:sp>
      <p:sp>
        <p:nvSpPr>
          <p:cNvPr id="288" name="Google Shape;288;p20"/>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289" name="Google Shape;289;p20"/>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290" name="Google Shape;290;p20"/>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1"/>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A Queue is an ordered collection of items from which items may be removed at one end (called the front of the queue) and into which items may be inserted at the other end (the rear of the queue).</a:t>
            </a:r>
            <a:endParaRPr/>
          </a:p>
          <a:p>
            <a:pPr marL="342900" marR="0" lvl="0" indent="-342900" algn="l" rtl="0">
              <a:lnSpc>
                <a:spcPct val="100000"/>
              </a:lnSpc>
              <a:spcBef>
                <a:spcPts val="560"/>
              </a:spcBef>
              <a:spcAft>
                <a:spcPts val="0"/>
              </a:spcAft>
              <a:buClr>
                <a:srgbClr val="0033CC"/>
              </a:buClr>
              <a:buSzPts val="2100"/>
              <a:buFont typeface="Arial"/>
              <a:buChar char="●"/>
            </a:pPr>
            <a:r>
              <a:rPr lang="en-US"/>
              <a:t>The operations: </a:t>
            </a:r>
            <a:r>
              <a:rPr lang="en-US" b="1"/>
              <a:t>enqueue</a:t>
            </a:r>
            <a:r>
              <a:rPr lang="en-US"/>
              <a:t> (insert) and </a:t>
            </a:r>
            <a:r>
              <a:rPr lang="en-US" b="1"/>
              <a:t>dequeue</a:t>
            </a:r>
            <a:r>
              <a:rPr lang="en-US"/>
              <a:t> (delete)</a:t>
            </a:r>
            <a:endParaRPr/>
          </a:p>
        </p:txBody>
      </p:sp>
      <p:sp>
        <p:nvSpPr>
          <p:cNvPr id="296" name="Google Shape;296;p21"/>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297" name="Google Shape;297;p21"/>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298" name="Google Shape;298;p21"/>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sp>
        <p:nvSpPr>
          <p:cNvPr id="299" name="Google Shape;299;p21"/>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Queue: First In First Out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2"/>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A Queue is an ordered collection of items from which items may be removed at one end (called the front of the queue) and into which items may be inserted at the other end (the rear of the queue).</a:t>
            </a:r>
            <a:endParaRPr/>
          </a:p>
          <a:p>
            <a:pPr marL="342900" marR="0" lvl="0" indent="-342900" algn="l" rtl="0">
              <a:lnSpc>
                <a:spcPct val="100000"/>
              </a:lnSpc>
              <a:spcBef>
                <a:spcPts val="560"/>
              </a:spcBef>
              <a:spcAft>
                <a:spcPts val="0"/>
              </a:spcAft>
              <a:buClr>
                <a:srgbClr val="0033CC"/>
              </a:buClr>
              <a:buSzPts val="2100"/>
              <a:buFont typeface="Arial"/>
              <a:buChar char="●"/>
            </a:pPr>
            <a:r>
              <a:rPr lang="en-US"/>
              <a:t>The operations: </a:t>
            </a:r>
            <a:r>
              <a:rPr lang="en-US" b="1"/>
              <a:t>enqueue</a:t>
            </a:r>
            <a:r>
              <a:rPr lang="en-US"/>
              <a:t> (insert) and </a:t>
            </a:r>
            <a:r>
              <a:rPr lang="en-US" b="1"/>
              <a:t>dequeue</a:t>
            </a:r>
            <a:r>
              <a:rPr lang="en-US"/>
              <a:t> (delete)</a:t>
            </a:r>
            <a:endParaRPr/>
          </a:p>
        </p:txBody>
      </p:sp>
      <p:sp>
        <p:nvSpPr>
          <p:cNvPr id="305" name="Google Shape;305;p22"/>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306" name="Google Shape;306;p22"/>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307" name="Google Shape;307;p22"/>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sp>
        <p:nvSpPr>
          <p:cNvPr id="308" name="Google Shape;308;p22"/>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Queue: First In First Out </a:t>
            </a:r>
            <a:endParaRPr/>
          </a:p>
        </p:txBody>
      </p:sp>
      <p:pic>
        <p:nvPicPr>
          <p:cNvPr id="309" name="Google Shape;309;p22"/>
          <p:cNvPicPr preferRelativeResize="0"/>
          <p:nvPr/>
        </p:nvPicPr>
        <p:blipFill rotWithShape="1">
          <a:blip r:embed="rId3">
            <a:alphaModFix/>
          </a:blip>
          <a:srcRect/>
          <a:stretch/>
        </p:blipFill>
        <p:spPr>
          <a:xfrm>
            <a:off x="2783897" y="3429000"/>
            <a:ext cx="6624205" cy="116586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3"/>
          <p:cNvSpPr txBox="1">
            <a:spLocks noGrp="1"/>
          </p:cNvSpPr>
          <p:nvPr>
            <p:ph type="body" idx="1"/>
          </p:nvPr>
        </p:nvSpPr>
        <p:spPr>
          <a:xfrm>
            <a:off x="838200" y="124314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A Queue is an ordered collection of items from which items may be removed at one end (called the front of the queue) and into which items may be inserted at the other end (the rear of the queue).</a:t>
            </a:r>
            <a:endParaRPr/>
          </a:p>
          <a:p>
            <a:pPr marL="342900" marR="0" lvl="0" indent="-342900" algn="l" rtl="0">
              <a:lnSpc>
                <a:spcPct val="100000"/>
              </a:lnSpc>
              <a:spcBef>
                <a:spcPts val="560"/>
              </a:spcBef>
              <a:spcAft>
                <a:spcPts val="0"/>
              </a:spcAft>
              <a:buClr>
                <a:srgbClr val="0033CC"/>
              </a:buClr>
              <a:buSzPts val="2100"/>
              <a:buFont typeface="Arial"/>
              <a:buChar char="●"/>
            </a:pPr>
            <a:r>
              <a:rPr lang="en-US"/>
              <a:t>The operations: </a:t>
            </a:r>
            <a:r>
              <a:rPr lang="en-US" b="1"/>
              <a:t>enqueue</a:t>
            </a:r>
            <a:r>
              <a:rPr lang="en-US"/>
              <a:t> (insert) and </a:t>
            </a:r>
            <a:r>
              <a:rPr lang="en-US" b="1"/>
              <a:t>dequeue</a:t>
            </a:r>
            <a:r>
              <a:rPr lang="en-US"/>
              <a:t> (delete)</a:t>
            </a:r>
            <a:endParaRPr/>
          </a:p>
        </p:txBody>
      </p:sp>
      <p:sp>
        <p:nvSpPr>
          <p:cNvPr id="315" name="Google Shape;315;p23"/>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316" name="Google Shape;316;p23"/>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317" name="Google Shape;317;p23"/>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sp>
        <p:nvSpPr>
          <p:cNvPr id="318" name="Google Shape;318;p23"/>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Queue: First In First Out </a:t>
            </a:r>
            <a:endParaRPr/>
          </a:p>
        </p:txBody>
      </p:sp>
      <p:pic>
        <p:nvPicPr>
          <p:cNvPr id="319" name="Google Shape;319;p23"/>
          <p:cNvPicPr preferRelativeResize="0"/>
          <p:nvPr/>
        </p:nvPicPr>
        <p:blipFill rotWithShape="1">
          <a:blip r:embed="rId3">
            <a:alphaModFix/>
          </a:blip>
          <a:srcRect t="13429"/>
          <a:stretch/>
        </p:blipFill>
        <p:spPr>
          <a:xfrm>
            <a:off x="1614768" y="3717676"/>
            <a:ext cx="8962464" cy="2369656"/>
          </a:xfrm>
          <a:prstGeom prst="rect">
            <a:avLst/>
          </a:prstGeom>
          <a:noFill/>
          <a:ln>
            <a:noFill/>
          </a:ln>
        </p:spPr>
      </p:pic>
      <p:sp>
        <p:nvSpPr>
          <p:cNvPr id="320" name="Google Shape;320;p23"/>
          <p:cNvSpPr/>
          <p:nvPr/>
        </p:nvSpPr>
        <p:spPr>
          <a:xfrm>
            <a:off x="1614768" y="3261360"/>
            <a:ext cx="8962464" cy="235349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4"/>
          <p:cNvSpPr txBox="1">
            <a:spLocks noGrp="1"/>
          </p:cNvSpPr>
          <p:nvPr>
            <p:ph type="body" idx="1"/>
          </p:nvPr>
        </p:nvSpPr>
        <p:spPr>
          <a:xfrm>
            <a:off x="838200" y="124314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A Queue is an ordered collection of items from which items may be removed at one end (called the front of the queue) and into which items may be inserted at the other end (the rear of the queue).</a:t>
            </a:r>
            <a:endParaRPr/>
          </a:p>
          <a:p>
            <a:pPr marL="342900" marR="0" lvl="0" indent="-342900" algn="l" rtl="0">
              <a:lnSpc>
                <a:spcPct val="100000"/>
              </a:lnSpc>
              <a:spcBef>
                <a:spcPts val="560"/>
              </a:spcBef>
              <a:spcAft>
                <a:spcPts val="0"/>
              </a:spcAft>
              <a:buClr>
                <a:srgbClr val="0033CC"/>
              </a:buClr>
              <a:buSzPts val="2100"/>
              <a:buFont typeface="Arial"/>
              <a:buChar char="●"/>
            </a:pPr>
            <a:r>
              <a:rPr lang="en-US"/>
              <a:t>The operations: </a:t>
            </a:r>
            <a:r>
              <a:rPr lang="en-US" b="1"/>
              <a:t>enqueue</a:t>
            </a:r>
            <a:r>
              <a:rPr lang="en-US"/>
              <a:t> (insert) and </a:t>
            </a:r>
            <a:r>
              <a:rPr lang="en-US" b="1"/>
              <a:t>dequeue</a:t>
            </a:r>
            <a:r>
              <a:rPr lang="en-US"/>
              <a:t> (delete)</a:t>
            </a:r>
            <a:endParaRPr/>
          </a:p>
        </p:txBody>
      </p:sp>
      <p:sp>
        <p:nvSpPr>
          <p:cNvPr id="326" name="Google Shape;326;p24"/>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327" name="Google Shape;327;p24"/>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328" name="Google Shape;328;p24"/>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sp>
        <p:nvSpPr>
          <p:cNvPr id="329" name="Google Shape;329;p24"/>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Queue: First In First Out </a:t>
            </a:r>
            <a:endParaRPr/>
          </a:p>
        </p:txBody>
      </p:sp>
      <p:pic>
        <p:nvPicPr>
          <p:cNvPr id="330" name="Google Shape;330;p24"/>
          <p:cNvPicPr preferRelativeResize="0"/>
          <p:nvPr/>
        </p:nvPicPr>
        <p:blipFill rotWithShape="1">
          <a:blip r:embed="rId3">
            <a:alphaModFix/>
          </a:blip>
          <a:srcRect t="13429"/>
          <a:stretch/>
        </p:blipFill>
        <p:spPr>
          <a:xfrm>
            <a:off x="1614768" y="3717676"/>
            <a:ext cx="8962464" cy="236965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5"/>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100"/>
              <a:buNone/>
            </a:pPr>
            <a:r>
              <a:rPr lang="en-US"/>
              <a:t>Application of Queues</a:t>
            </a:r>
            <a:endParaRPr/>
          </a:p>
          <a:p>
            <a:pPr marL="342900" marR="0" lvl="0" indent="-342900" algn="l" rtl="0">
              <a:lnSpc>
                <a:spcPct val="100000"/>
              </a:lnSpc>
              <a:spcBef>
                <a:spcPts val="560"/>
              </a:spcBef>
              <a:spcAft>
                <a:spcPts val="0"/>
              </a:spcAft>
              <a:buClr>
                <a:srgbClr val="0033CC"/>
              </a:buClr>
              <a:buSzPts val="2100"/>
              <a:buFont typeface="Arial"/>
              <a:buChar char="●"/>
            </a:pPr>
            <a:r>
              <a:rPr lang="en-US"/>
              <a:t>Direct applications </a:t>
            </a:r>
            <a:endParaRPr/>
          </a:p>
          <a:p>
            <a:pPr marL="742950" lvl="1" indent="-285750" algn="l" rtl="0">
              <a:lnSpc>
                <a:spcPct val="100000"/>
              </a:lnSpc>
              <a:spcBef>
                <a:spcPts val="480"/>
              </a:spcBef>
              <a:spcAft>
                <a:spcPts val="0"/>
              </a:spcAft>
              <a:buSzPts val="1560"/>
              <a:buChar char="●"/>
            </a:pPr>
            <a:r>
              <a:rPr lang="en-US"/>
              <a:t>Waiting lists, bureaucracy </a:t>
            </a:r>
            <a:endParaRPr/>
          </a:p>
          <a:p>
            <a:pPr marL="742950" lvl="1" indent="-285750" algn="l" rtl="0">
              <a:lnSpc>
                <a:spcPct val="100000"/>
              </a:lnSpc>
              <a:spcBef>
                <a:spcPts val="480"/>
              </a:spcBef>
              <a:spcAft>
                <a:spcPts val="0"/>
              </a:spcAft>
              <a:buSzPts val="1560"/>
              <a:buChar char="●"/>
            </a:pPr>
            <a:r>
              <a:rPr lang="en-US"/>
              <a:t>Access to shared resources (e.g., printer)  </a:t>
            </a:r>
            <a:endParaRPr/>
          </a:p>
          <a:p>
            <a:pPr marL="742950" lvl="1" indent="-285750" algn="l" rtl="0">
              <a:lnSpc>
                <a:spcPct val="100000"/>
              </a:lnSpc>
              <a:spcBef>
                <a:spcPts val="480"/>
              </a:spcBef>
              <a:spcAft>
                <a:spcPts val="0"/>
              </a:spcAft>
              <a:buSzPts val="1560"/>
              <a:buChar char="●"/>
            </a:pPr>
            <a:r>
              <a:rPr lang="en-US"/>
              <a:t>Multiprogramming </a:t>
            </a:r>
            <a:endParaRPr/>
          </a:p>
          <a:p>
            <a:pPr marL="342900" marR="0" lvl="0" indent="-342900" algn="l" rtl="0">
              <a:lnSpc>
                <a:spcPct val="100000"/>
              </a:lnSpc>
              <a:spcBef>
                <a:spcPts val="560"/>
              </a:spcBef>
              <a:spcAft>
                <a:spcPts val="0"/>
              </a:spcAft>
              <a:buClr>
                <a:srgbClr val="0033CC"/>
              </a:buClr>
              <a:buSzPts val="2100"/>
              <a:buFont typeface="Arial"/>
              <a:buChar char="●"/>
            </a:pPr>
            <a:r>
              <a:rPr lang="en-US"/>
              <a:t>Indirect applications </a:t>
            </a:r>
            <a:endParaRPr/>
          </a:p>
          <a:p>
            <a:pPr marL="742950" lvl="1" indent="-285750" algn="l" rtl="0">
              <a:lnSpc>
                <a:spcPct val="100000"/>
              </a:lnSpc>
              <a:spcBef>
                <a:spcPts val="480"/>
              </a:spcBef>
              <a:spcAft>
                <a:spcPts val="0"/>
              </a:spcAft>
              <a:buSzPts val="1560"/>
              <a:buChar char="●"/>
            </a:pPr>
            <a:r>
              <a:rPr lang="en-US"/>
              <a:t>Auxiliary data structure for algorithms </a:t>
            </a:r>
            <a:endParaRPr/>
          </a:p>
          <a:p>
            <a:pPr marL="742950" lvl="1" indent="-285750" algn="l" rtl="0">
              <a:lnSpc>
                <a:spcPct val="100000"/>
              </a:lnSpc>
              <a:spcBef>
                <a:spcPts val="480"/>
              </a:spcBef>
              <a:spcAft>
                <a:spcPts val="0"/>
              </a:spcAft>
              <a:buSzPts val="1560"/>
              <a:buChar char="●"/>
            </a:pPr>
            <a:r>
              <a:rPr lang="en-US"/>
              <a:t>Component of other data structures</a:t>
            </a:r>
            <a:endParaRPr/>
          </a:p>
        </p:txBody>
      </p:sp>
      <p:sp>
        <p:nvSpPr>
          <p:cNvPr id="336" name="Google Shape;336;p25"/>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337" name="Google Shape;337;p25"/>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338" name="Google Shape;338;p25"/>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sp>
        <p:nvSpPr>
          <p:cNvPr id="339" name="Google Shape;339;p25"/>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Queue: First In First Out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6"/>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Initial Queue, that is Empty Queue</a:t>
            </a:r>
            <a:endParaRPr/>
          </a:p>
          <a:p>
            <a:pPr marL="342900" marR="0" lvl="0" indent="-209550" algn="l" rtl="0">
              <a:lnSpc>
                <a:spcPct val="100000"/>
              </a:lnSpc>
              <a:spcBef>
                <a:spcPts val="560"/>
              </a:spcBef>
              <a:spcAft>
                <a:spcPts val="0"/>
              </a:spcAft>
              <a:buClr>
                <a:srgbClr val="0033CC"/>
              </a:buClr>
              <a:buSzPts val="2100"/>
              <a:buFont typeface="Arial"/>
              <a:buNone/>
            </a:pPr>
            <a:endParaRPr/>
          </a:p>
          <a:p>
            <a:pPr marL="342900" marR="0" lvl="0" indent="-209550" algn="l" rtl="0">
              <a:lnSpc>
                <a:spcPct val="100000"/>
              </a:lnSpc>
              <a:spcBef>
                <a:spcPts val="560"/>
              </a:spcBef>
              <a:spcAft>
                <a:spcPts val="0"/>
              </a:spcAft>
              <a:buClr>
                <a:srgbClr val="0033CC"/>
              </a:buClr>
              <a:buSzPts val="2100"/>
              <a:buFont typeface="Arial"/>
              <a:buNone/>
            </a:pPr>
            <a:endParaRPr/>
          </a:p>
          <a:p>
            <a:pPr marL="342900" marR="0" lvl="0" indent="-209550" algn="l" rtl="0">
              <a:lnSpc>
                <a:spcPct val="100000"/>
              </a:lnSpc>
              <a:spcBef>
                <a:spcPts val="560"/>
              </a:spcBef>
              <a:spcAft>
                <a:spcPts val="0"/>
              </a:spcAft>
              <a:buClr>
                <a:srgbClr val="0033CC"/>
              </a:buClr>
              <a:buSzPts val="2100"/>
              <a:buFont typeface="Arial"/>
              <a:buNone/>
            </a:pPr>
            <a:endParaRPr/>
          </a:p>
          <a:p>
            <a:pPr marL="342900" marR="0" lvl="0" indent="-209550" algn="l" rtl="0">
              <a:lnSpc>
                <a:spcPct val="100000"/>
              </a:lnSpc>
              <a:spcBef>
                <a:spcPts val="560"/>
              </a:spcBef>
              <a:spcAft>
                <a:spcPts val="0"/>
              </a:spcAft>
              <a:buClr>
                <a:srgbClr val="0033CC"/>
              </a:buClr>
              <a:buSzPts val="2100"/>
              <a:buFont typeface="Arial"/>
              <a:buNone/>
            </a:pPr>
            <a:endParaRPr/>
          </a:p>
          <a:p>
            <a:pPr marL="342900" marR="0" lvl="0" indent="-342900" algn="l" rtl="0">
              <a:lnSpc>
                <a:spcPct val="100000"/>
              </a:lnSpc>
              <a:spcBef>
                <a:spcPts val="560"/>
              </a:spcBef>
              <a:spcAft>
                <a:spcPts val="0"/>
              </a:spcAft>
              <a:buClr>
                <a:srgbClr val="0033CC"/>
              </a:buClr>
              <a:buSzPts val="2100"/>
              <a:buFont typeface="Arial"/>
              <a:buChar char="●"/>
            </a:pPr>
            <a:r>
              <a:rPr lang="en-US"/>
              <a:t>After inserting 1st element in an Empty Queue, Set </a:t>
            </a:r>
            <a:r>
              <a:rPr lang="en-US" b="1"/>
              <a:t>front</a:t>
            </a:r>
            <a:r>
              <a:rPr lang="en-US"/>
              <a:t> = </a:t>
            </a:r>
            <a:r>
              <a:rPr lang="en-US" b="1"/>
              <a:t>rear</a:t>
            </a:r>
            <a:r>
              <a:rPr lang="en-US"/>
              <a:t> = 0 </a:t>
            </a:r>
            <a:endParaRPr/>
          </a:p>
          <a:p>
            <a:pPr marL="742950" lvl="1" indent="-186690" algn="l" rtl="0">
              <a:lnSpc>
                <a:spcPct val="100000"/>
              </a:lnSpc>
              <a:spcBef>
                <a:spcPts val="480"/>
              </a:spcBef>
              <a:spcAft>
                <a:spcPts val="0"/>
              </a:spcAft>
              <a:buSzPts val="1560"/>
              <a:buNone/>
            </a:pPr>
            <a:endParaRPr/>
          </a:p>
        </p:txBody>
      </p:sp>
      <p:sp>
        <p:nvSpPr>
          <p:cNvPr id="345" name="Google Shape;345;p26"/>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346" name="Google Shape;346;p26"/>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347" name="Google Shape;347;p26"/>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sp>
        <p:nvSpPr>
          <p:cNvPr id="348" name="Google Shape;348;p26"/>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Array Implementation of Queue</a:t>
            </a:r>
            <a:endParaRPr/>
          </a:p>
        </p:txBody>
      </p:sp>
      <p:pic>
        <p:nvPicPr>
          <p:cNvPr id="349" name="Google Shape;349;p26"/>
          <p:cNvPicPr preferRelativeResize="0"/>
          <p:nvPr/>
        </p:nvPicPr>
        <p:blipFill rotWithShape="1">
          <a:blip r:embed="rId3">
            <a:alphaModFix/>
          </a:blip>
          <a:srcRect/>
          <a:stretch/>
        </p:blipFill>
        <p:spPr>
          <a:xfrm>
            <a:off x="3040317" y="1721167"/>
            <a:ext cx="6488493" cy="1905953"/>
          </a:xfrm>
          <a:prstGeom prst="rect">
            <a:avLst/>
          </a:prstGeom>
          <a:noFill/>
          <a:ln>
            <a:noFill/>
          </a:ln>
        </p:spPr>
      </p:pic>
      <p:pic>
        <p:nvPicPr>
          <p:cNvPr id="350" name="Google Shape;350;p26"/>
          <p:cNvPicPr preferRelativeResize="0"/>
          <p:nvPr/>
        </p:nvPicPr>
        <p:blipFill rotWithShape="1">
          <a:blip r:embed="rId4">
            <a:alphaModFix/>
          </a:blip>
          <a:srcRect/>
          <a:stretch/>
        </p:blipFill>
        <p:spPr>
          <a:xfrm>
            <a:off x="4292521" y="4305299"/>
            <a:ext cx="5003879" cy="16541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7"/>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p:txBody>
      </p:sp>
      <p:sp>
        <p:nvSpPr>
          <p:cNvPr id="356" name="Google Shape;356;p27"/>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357" name="Google Shape;357;p27"/>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358" name="Google Shape;358;p27"/>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
        <p:nvSpPr>
          <p:cNvPr id="359" name="Google Shape;359;p27"/>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Array Implementation of Queues</a:t>
            </a:r>
            <a:endParaRPr/>
          </a:p>
        </p:txBody>
      </p:sp>
      <p:pic>
        <p:nvPicPr>
          <p:cNvPr id="360" name="Google Shape;360;p27"/>
          <p:cNvPicPr preferRelativeResize="0"/>
          <p:nvPr/>
        </p:nvPicPr>
        <p:blipFill rotWithShape="1">
          <a:blip r:embed="rId3">
            <a:alphaModFix/>
          </a:blip>
          <a:srcRect/>
          <a:stretch/>
        </p:blipFill>
        <p:spPr>
          <a:xfrm>
            <a:off x="2890101" y="1339931"/>
            <a:ext cx="6705600" cy="32090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8"/>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a:p>
            <a:pPr marL="342900" marR="0" lvl="0" indent="-209550" algn="l" rtl="0">
              <a:lnSpc>
                <a:spcPct val="100000"/>
              </a:lnSpc>
              <a:spcBef>
                <a:spcPts val="560"/>
              </a:spcBef>
              <a:spcAft>
                <a:spcPts val="0"/>
              </a:spcAft>
              <a:buClr>
                <a:srgbClr val="0033CC"/>
              </a:buClr>
              <a:buSzPts val="2100"/>
              <a:buFont typeface="Arial"/>
              <a:buNone/>
            </a:pPr>
            <a:endParaRPr/>
          </a:p>
          <a:p>
            <a:pPr marL="342900" marR="0" lvl="0" indent="-209550" algn="l" rtl="0">
              <a:lnSpc>
                <a:spcPct val="100000"/>
              </a:lnSpc>
              <a:spcBef>
                <a:spcPts val="560"/>
              </a:spcBef>
              <a:spcAft>
                <a:spcPts val="0"/>
              </a:spcAft>
              <a:buClr>
                <a:srgbClr val="0033CC"/>
              </a:buClr>
              <a:buSzPts val="2100"/>
              <a:buFont typeface="Arial"/>
              <a:buNone/>
            </a:pPr>
            <a:endParaRPr/>
          </a:p>
          <a:p>
            <a:pPr marL="342900" marR="0" lvl="0" indent="-209550" algn="l" rtl="0">
              <a:lnSpc>
                <a:spcPct val="100000"/>
              </a:lnSpc>
              <a:spcBef>
                <a:spcPts val="560"/>
              </a:spcBef>
              <a:spcAft>
                <a:spcPts val="0"/>
              </a:spcAft>
              <a:buClr>
                <a:srgbClr val="0033CC"/>
              </a:buClr>
              <a:buSzPts val="2100"/>
              <a:buFont typeface="Arial"/>
              <a:buNone/>
            </a:pPr>
            <a:endParaRPr/>
          </a:p>
          <a:p>
            <a:pPr marL="342900" marR="0" lvl="0" indent="-209550" algn="l" rtl="0">
              <a:lnSpc>
                <a:spcPct val="100000"/>
              </a:lnSpc>
              <a:spcBef>
                <a:spcPts val="560"/>
              </a:spcBef>
              <a:spcAft>
                <a:spcPts val="0"/>
              </a:spcAft>
              <a:buClr>
                <a:srgbClr val="0033CC"/>
              </a:buClr>
              <a:buSzPts val="2100"/>
              <a:buFont typeface="Arial"/>
              <a:buNone/>
            </a:pPr>
            <a:endParaRPr/>
          </a:p>
          <a:p>
            <a:pPr marL="342900" marR="0" lvl="0" indent="-209550" algn="l" rtl="0">
              <a:lnSpc>
                <a:spcPct val="100000"/>
              </a:lnSpc>
              <a:spcBef>
                <a:spcPts val="560"/>
              </a:spcBef>
              <a:spcAft>
                <a:spcPts val="0"/>
              </a:spcAft>
              <a:buClr>
                <a:srgbClr val="0033CC"/>
              </a:buClr>
              <a:buSzPts val="2100"/>
              <a:buFont typeface="Arial"/>
              <a:buNone/>
            </a:pPr>
            <a:endParaRPr/>
          </a:p>
          <a:p>
            <a:pPr marL="342900" marR="0" lvl="0" indent="-342900" algn="l" rtl="0">
              <a:lnSpc>
                <a:spcPct val="100000"/>
              </a:lnSpc>
              <a:spcBef>
                <a:spcPts val="560"/>
              </a:spcBef>
              <a:spcAft>
                <a:spcPts val="0"/>
              </a:spcAft>
              <a:buClr>
                <a:srgbClr val="0033CC"/>
              </a:buClr>
              <a:buSzPts val="2100"/>
              <a:buFont typeface="Arial"/>
              <a:buChar char="●"/>
            </a:pPr>
            <a:r>
              <a:rPr lang="en-US"/>
              <a:t>Notice how the array contents “crawl” to the right as elements are enqueued and dequeued </a:t>
            </a:r>
            <a:endParaRPr/>
          </a:p>
          <a:p>
            <a:pPr marL="342900" marR="0" lvl="0" indent="-342900" algn="l" rtl="0">
              <a:lnSpc>
                <a:spcPct val="100000"/>
              </a:lnSpc>
              <a:spcBef>
                <a:spcPts val="560"/>
              </a:spcBef>
              <a:spcAft>
                <a:spcPts val="0"/>
              </a:spcAft>
              <a:buClr>
                <a:srgbClr val="0033CC"/>
              </a:buClr>
              <a:buSzPts val="2100"/>
              <a:buFont typeface="Arial"/>
              <a:buChar char="●"/>
            </a:pPr>
            <a:r>
              <a:rPr lang="en-US"/>
              <a:t>This will be a problem after a while!</a:t>
            </a:r>
            <a:endParaRPr/>
          </a:p>
        </p:txBody>
      </p:sp>
      <p:sp>
        <p:nvSpPr>
          <p:cNvPr id="366" name="Google Shape;366;p28"/>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367" name="Google Shape;367;p28"/>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368" name="Google Shape;368;p28"/>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
        <p:nvSpPr>
          <p:cNvPr id="369" name="Google Shape;369;p28"/>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Array Implementation of Queues</a:t>
            </a:r>
            <a:endParaRPr/>
          </a:p>
        </p:txBody>
      </p:sp>
      <p:pic>
        <p:nvPicPr>
          <p:cNvPr id="370" name="Google Shape;370;p28"/>
          <p:cNvPicPr preferRelativeResize="0"/>
          <p:nvPr/>
        </p:nvPicPr>
        <p:blipFill rotWithShape="1">
          <a:blip r:embed="rId3">
            <a:alphaModFix/>
          </a:blip>
          <a:srcRect/>
          <a:stretch/>
        </p:blipFill>
        <p:spPr>
          <a:xfrm>
            <a:off x="2230539" y="1068688"/>
            <a:ext cx="7751661" cy="332043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9"/>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fontScale="92500" lnSpcReduction="10000"/>
          </a:bodyPr>
          <a:lstStyle/>
          <a:p>
            <a:pPr marL="342900" marR="0" lvl="0" indent="-342900" algn="l" rtl="0">
              <a:lnSpc>
                <a:spcPct val="100000"/>
              </a:lnSpc>
              <a:spcBef>
                <a:spcPts val="0"/>
              </a:spcBef>
              <a:spcAft>
                <a:spcPts val="0"/>
              </a:spcAft>
              <a:buClr>
                <a:srgbClr val="0033CC"/>
              </a:buClr>
              <a:buSzPct val="75000"/>
              <a:buFont typeface="Arial"/>
              <a:buChar char="●"/>
            </a:pPr>
            <a:r>
              <a:rPr lang="en-US"/>
              <a:t>We can treat the array holding the queue elements as circular (joined at the ends)</a:t>
            </a:r>
            <a:endParaRPr/>
          </a:p>
          <a:p>
            <a:pPr marL="342900" marR="0" lvl="0" indent="-219550" algn="l" rtl="0">
              <a:lnSpc>
                <a:spcPct val="100000"/>
              </a:lnSpc>
              <a:spcBef>
                <a:spcPts val="518"/>
              </a:spcBef>
              <a:spcAft>
                <a:spcPts val="0"/>
              </a:spcAft>
              <a:buClr>
                <a:srgbClr val="0033CC"/>
              </a:buClr>
              <a:buSzPct val="75000"/>
              <a:buFont typeface="Arial"/>
              <a:buNone/>
            </a:pPr>
            <a:endParaRPr/>
          </a:p>
          <a:p>
            <a:pPr marL="342900" marR="0" lvl="0" indent="-219550" algn="l" rtl="0">
              <a:lnSpc>
                <a:spcPct val="100000"/>
              </a:lnSpc>
              <a:spcBef>
                <a:spcPts val="518"/>
              </a:spcBef>
              <a:spcAft>
                <a:spcPts val="0"/>
              </a:spcAft>
              <a:buClr>
                <a:srgbClr val="0033CC"/>
              </a:buClr>
              <a:buSzPct val="75000"/>
              <a:buFont typeface="Arial"/>
              <a:buNone/>
            </a:pPr>
            <a:endParaRPr/>
          </a:p>
          <a:p>
            <a:pPr marL="342900" marR="0" lvl="0" indent="-219550" algn="l" rtl="0">
              <a:lnSpc>
                <a:spcPct val="100000"/>
              </a:lnSpc>
              <a:spcBef>
                <a:spcPts val="518"/>
              </a:spcBef>
              <a:spcAft>
                <a:spcPts val="0"/>
              </a:spcAft>
              <a:buClr>
                <a:srgbClr val="0033CC"/>
              </a:buClr>
              <a:buSzPct val="75000"/>
              <a:buFont typeface="Arial"/>
              <a:buNone/>
            </a:pPr>
            <a:endParaRPr/>
          </a:p>
          <a:p>
            <a:pPr marL="342900" marR="0" lvl="0" indent="-219550" algn="l" rtl="0">
              <a:lnSpc>
                <a:spcPct val="100000"/>
              </a:lnSpc>
              <a:spcBef>
                <a:spcPts val="518"/>
              </a:spcBef>
              <a:spcAft>
                <a:spcPts val="0"/>
              </a:spcAft>
              <a:buClr>
                <a:srgbClr val="0033CC"/>
              </a:buClr>
              <a:buSzPct val="75000"/>
              <a:buFont typeface="Arial"/>
              <a:buNone/>
            </a:pPr>
            <a:endParaRPr/>
          </a:p>
          <a:p>
            <a:pPr marL="342900" marR="0" lvl="0" indent="-219550" algn="l" rtl="0">
              <a:lnSpc>
                <a:spcPct val="100000"/>
              </a:lnSpc>
              <a:spcBef>
                <a:spcPts val="518"/>
              </a:spcBef>
              <a:spcAft>
                <a:spcPts val="0"/>
              </a:spcAft>
              <a:buClr>
                <a:srgbClr val="0033CC"/>
              </a:buClr>
              <a:buSzPct val="75000"/>
              <a:buFont typeface="Arial"/>
              <a:buNone/>
            </a:pPr>
            <a:endParaRPr/>
          </a:p>
          <a:p>
            <a:pPr marL="342900" marR="0" lvl="0" indent="-342900" algn="l" rtl="0">
              <a:lnSpc>
                <a:spcPct val="100000"/>
              </a:lnSpc>
              <a:spcBef>
                <a:spcPts val="518"/>
              </a:spcBef>
              <a:spcAft>
                <a:spcPts val="0"/>
              </a:spcAft>
              <a:buClr>
                <a:srgbClr val="0033CC"/>
              </a:buClr>
              <a:buSzPct val="75000"/>
              <a:buFont typeface="Arial"/>
              <a:buChar char="●"/>
            </a:pPr>
            <a:r>
              <a:rPr lang="en-US"/>
              <a:t>The previous elements were deleted</a:t>
            </a:r>
            <a:endParaRPr/>
          </a:p>
          <a:p>
            <a:pPr marL="342900" marR="0" lvl="0" indent="-342900" algn="l" rtl="0">
              <a:lnSpc>
                <a:spcPct val="100000"/>
              </a:lnSpc>
              <a:spcBef>
                <a:spcPts val="518"/>
              </a:spcBef>
              <a:spcAft>
                <a:spcPts val="0"/>
              </a:spcAft>
              <a:buClr>
                <a:srgbClr val="0033CC"/>
              </a:buClr>
              <a:buSzPct val="75000"/>
              <a:buFont typeface="Arial"/>
              <a:buChar char="●"/>
            </a:pPr>
            <a:r>
              <a:rPr lang="en-US"/>
              <a:t>Elements were added to this queue in the order 11, 22, 33, 44, 55, and will be removed in the same order </a:t>
            </a:r>
            <a:endParaRPr/>
          </a:p>
          <a:p>
            <a:pPr marL="342900" marR="0" lvl="0" indent="-342900" algn="l" rtl="0">
              <a:lnSpc>
                <a:spcPct val="100000"/>
              </a:lnSpc>
              <a:spcBef>
                <a:spcPts val="518"/>
              </a:spcBef>
              <a:spcAft>
                <a:spcPts val="0"/>
              </a:spcAft>
              <a:buClr>
                <a:srgbClr val="0033CC"/>
              </a:buClr>
              <a:buSzPct val="75000"/>
              <a:buFont typeface="Arial"/>
              <a:buChar char="●"/>
            </a:pPr>
            <a:r>
              <a:rPr lang="en-US"/>
              <a:t>Use: front = (front + 1) % Qsize; and: rear = (rear + 1) % Qsize; </a:t>
            </a:r>
            <a:endParaRPr/>
          </a:p>
        </p:txBody>
      </p:sp>
      <p:sp>
        <p:nvSpPr>
          <p:cNvPr id="376" name="Google Shape;376;p29"/>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377" name="Google Shape;377;p29"/>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378" name="Google Shape;378;p29"/>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
        <p:nvSpPr>
          <p:cNvPr id="379" name="Google Shape;379;p29"/>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Circular Queues using Arrays</a:t>
            </a:r>
            <a:endParaRPr/>
          </a:p>
        </p:txBody>
      </p:sp>
      <p:pic>
        <p:nvPicPr>
          <p:cNvPr id="380" name="Google Shape;380;p29"/>
          <p:cNvPicPr preferRelativeResize="0"/>
          <p:nvPr/>
        </p:nvPicPr>
        <p:blipFill rotWithShape="1">
          <a:blip r:embed="rId3">
            <a:alphaModFix/>
          </a:blip>
          <a:srcRect/>
          <a:stretch/>
        </p:blipFill>
        <p:spPr>
          <a:xfrm>
            <a:off x="2271507" y="2042160"/>
            <a:ext cx="7648985" cy="208502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0"/>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p:txBody>
      </p:sp>
      <p:sp>
        <p:nvSpPr>
          <p:cNvPr id="386" name="Google Shape;386;p30"/>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387" name="Google Shape;387;p30"/>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388" name="Google Shape;388;p30"/>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
        <p:nvSpPr>
          <p:cNvPr id="389" name="Google Shape;389;p30"/>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Circular Queues using Arrays: Enqueue() </a:t>
            </a:r>
            <a:endParaRPr/>
          </a:p>
        </p:txBody>
      </p:sp>
      <p:pic>
        <p:nvPicPr>
          <p:cNvPr id="390" name="Google Shape;390;p30"/>
          <p:cNvPicPr preferRelativeResize="0"/>
          <p:nvPr/>
        </p:nvPicPr>
        <p:blipFill rotWithShape="1">
          <a:blip r:embed="rId3">
            <a:alphaModFix/>
          </a:blip>
          <a:srcRect/>
          <a:stretch/>
        </p:blipFill>
        <p:spPr>
          <a:xfrm>
            <a:off x="2486025" y="1054486"/>
            <a:ext cx="7496175" cy="52959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1"/>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p:txBody>
      </p:sp>
      <p:sp>
        <p:nvSpPr>
          <p:cNvPr id="396" name="Google Shape;396;p31"/>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397" name="Google Shape;397;p31"/>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398" name="Google Shape;398;p31"/>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sp>
        <p:nvSpPr>
          <p:cNvPr id="399" name="Google Shape;399;p31"/>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Circular Queues using Arrays: Dequeue() </a:t>
            </a:r>
            <a:endParaRPr/>
          </a:p>
        </p:txBody>
      </p:sp>
      <p:pic>
        <p:nvPicPr>
          <p:cNvPr id="400" name="Google Shape;400;p31"/>
          <p:cNvPicPr preferRelativeResize="0"/>
          <p:nvPr/>
        </p:nvPicPr>
        <p:blipFill rotWithShape="1">
          <a:blip r:embed="rId3">
            <a:alphaModFix/>
          </a:blip>
          <a:srcRect/>
          <a:stretch/>
        </p:blipFill>
        <p:spPr>
          <a:xfrm>
            <a:off x="1923574" y="899730"/>
            <a:ext cx="8344852" cy="559314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2"/>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In a queue, insertions occur at one end (rear end), deletions at the other end (front end). </a:t>
            </a:r>
            <a:endParaRPr/>
          </a:p>
          <a:p>
            <a:pPr marL="342900" marR="0" lvl="0" indent="-342900" algn="l" rtl="0">
              <a:lnSpc>
                <a:spcPct val="100000"/>
              </a:lnSpc>
              <a:spcBef>
                <a:spcPts val="560"/>
              </a:spcBef>
              <a:spcAft>
                <a:spcPts val="0"/>
              </a:spcAft>
              <a:buClr>
                <a:srgbClr val="0033CC"/>
              </a:buClr>
              <a:buSzPts val="2100"/>
              <a:buFont typeface="Arial"/>
              <a:buChar char="●"/>
            </a:pPr>
            <a:r>
              <a:rPr lang="en-US"/>
              <a:t>Operations at the head of a singly-linked list (SLL) are O(1), but at the other end they are O(n) </a:t>
            </a:r>
            <a:endParaRPr/>
          </a:p>
          <a:p>
            <a:pPr marL="742950" lvl="1" indent="-285750" algn="l" rtl="0">
              <a:lnSpc>
                <a:spcPct val="100000"/>
              </a:lnSpc>
              <a:spcBef>
                <a:spcPts val="480"/>
              </a:spcBef>
              <a:spcAft>
                <a:spcPts val="0"/>
              </a:spcAft>
              <a:buSzPts val="1560"/>
              <a:buChar char="●"/>
            </a:pPr>
            <a:r>
              <a:rPr lang="en-US"/>
              <a:t>Because you have to find the last element each time </a:t>
            </a:r>
            <a:endParaRPr/>
          </a:p>
          <a:p>
            <a:pPr marL="342900" marR="0" lvl="0" indent="-342900" algn="l" rtl="0">
              <a:lnSpc>
                <a:spcPct val="100000"/>
              </a:lnSpc>
              <a:spcBef>
                <a:spcPts val="560"/>
              </a:spcBef>
              <a:spcAft>
                <a:spcPts val="0"/>
              </a:spcAft>
              <a:buClr>
                <a:srgbClr val="0033CC"/>
              </a:buClr>
              <a:buSzPts val="2100"/>
              <a:buFont typeface="Arial"/>
              <a:buChar char="●"/>
            </a:pPr>
            <a:r>
              <a:rPr lang="en-US"/>
              <a:t>BUT: there is a simple way to use a singly-linked list to implement both insertions and deletions in O(1) time </a:t>
            </a:r>
            <a:endParaRPr/>
          </a:p>
          <a:p>
            <a:pPr marL="742950" lvl="1" indent="-285750" algn="l" rtl="0">
              <a:lnSpc>
                <a:spcPct val="100000"/>
              </a:lnSpc>
              <a:spcBef>
                <a:spcPts val="480"/>
              </a:spcBef>
              <a:spcAft>
                <a:spcPts val="0"/>
              </a:spcAft>
              <a:buSzPts val="1560"/>
              <a:buChar char="●"/>
            </a:pPr>
            <a:r>
              <a:rPr lang="en-US"/>
              <a:t>You always need a pointer to the first element in the list </a:t>
            </a:r>
            <a:endParaRPr/>
          </a:p>
          <a:p>
            <a:pPr marL="742950" lvl="1" indent="-285750" algn="l" rtl="0">
              <a:lnSpc>
                <a:spcPct val="100000"/>
              </a:lnSpc>
              <a:spcBef>
                <a:spcPts val="480"/>
              </a:spcBef>
              <a:spcAft>
                <a:spcPts val="0"/>
              </a:spcAft>
              <a:buSzPts val="1560"/>
              <a:buChar char="●"/>
            </a:pPr>
            <a:r>
              <a:rPr lang="en-US"/>
              <a:t>You can keep an additional pointer to the last element in the list</a:t>
            </a:r>
            <a:endParaRPr/>
          </a:p>
        </p:txBody>
      </p:sp>
      <p:sp>
        <p:nvSpPr>
          <p:cNvPr id="406" name="Google Shape;406;p32"/>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407" name="Google Shape;407;p32"/>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408" name="Google Shape;408;p32"/>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32</a:t>
            </a:fld>
            <a:endParaRPr/>
          </a:p>
        </p:txBody>
      </p:sp>
      <p:sp>
        <p:nvSpPr>
          <p:cNvPr id="409" name="Google Shape;409;p32"/>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Linked List Implementation of Queues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3"/>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p:txBody>
      </p:sp>
      <p:sp>
        <p:nvSpPr>
          <p:cNvPr id="415" name="Google Shape;415;p33"/>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416" name="Google Shape;416;p33"/>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417" name="Google Shape;417;p33"/>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sp>
        <p:nvSpPr>
          <p:cNvPr id="418" name="Google Shape;418;p33"/>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Linked List Implementation of Queues</a:t>
            </a:r>
            <a:endParaRPr/>
          </a:p>
        </p:txBody>
      </p:sp>
      <p:pic>
        <p:nvPicPr>
          <p:cNvPr id="419" name="Google Shape;419;p33"/>
          <p:cNvPicPr preferRelativeResize="0"/>
          <p:nvPr/>
        </p:nvPicPr>
        <p:blipFill rotWithShape="1">
          <a:blip r:embed="rId3">
            <a:alphaModFix/>
          </a:blip>
          <a:srcRect/>
          <a:stretch/>
        </p:blipFill>
        <p:spPr>
          <a:xfrm>
            <a:off x="2328862" y="2695575"/>
            <a:ext cx="7534275" cy="1466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4"/>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p:txBody>
      </p:sp>
      <p:sp>
        <p:nvSpPr>
          <p:cNvPr id="425" name="Google Shape;425;p34"/>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426" name="Google Shape;426;p34"/>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427" name="Google Shape;427;p34"/>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34</a:t>
            </a:fld>
            <a:endParaRPr/>
          </a:p>
        </p:txBody>
      </p:sp>
      <p:sp>
        <p:nvSpPr>
          <p:cNvPr id="428" name="Google Shape;428;p34"/>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Enqueue (Insertion at the End)</a:t>
            </a:r>
            <a:endParaRPr/>
          </a:p>
        </p:txBody>
      </p:sp>
      <p:pic>
        <p:nvPicPr>
          <p:cNvPr id="429" name="Google Shape;429;p34"/>
          <p:cNvPicPr preferRelativeResize="0"/>
          <p:nvPr/>
        </p:nvPicPr>
        <p:blipFill rotWithShape="1">
          <a:blip r:embed="rId3">
            <a:alphaModFix/>
          </a:blip>
          <a:srcRect r="39384"/>
          <a:stretch/>
        </p:blipFill>
        <p:spPr>
          <a:xfrm>
            <a:off x="5842637" y="2258241"/>
            <a:ext cx="4872990" cy="3371850"/>
          </a:xfrm>
          <a:prstGeom prst="rect">
            <a:avLst/>
          </a:prstGeom>
          <a:noFill/>
          <a:ln>
            <a:noFill/>
          </a:ln>
        </p:spPr>
      </p:pic>
      <p:pic>
        <p:nvPicPr>
          <p:cNvPr id="430" name="Google Shape;430;p34"/>
          <p:cNvPicPr preferRelativeResize="0"/>
          <p:nvPr/>
        </p:nvPicPr>
        <p:blipFill rotWithShape="1">
          <a:blip r:embed="rId3">
            <a:alphaModFix/>
          </a:blip>
          <a:srcRect l="65877"/>
          <a:stretch/>
        </p:blipFill>
        <p:spPr>
          <a:xfrm>
            <a:off x="1476373" y="2458471"/>
            <a:ext cx="2743200" cy="3371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5"/>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209550" algn="l" rtl="0">
              <a:lnSpc>
                <a:spcPct val="100000"/>
              </a:lnSpc>
              <a:spcBef>
                <a:spcPts val="0"/>
              </a:spcBef>
              <a:spcAft>
                <a:spcPts val="0"/>
              </a:spcAft>
              <a:buClr>
                <a:srgbClr val="0033CC"/>
              </a:buClr>
              <a:buSzPts val="2100"/>
              <a:buFont typeface="Arial"/>
              <a:buNone/>
            </a:pPr>
            <a:endParaRPr/>
          </a:p>
        </p:txBody>
      </p:sp>
      <p:sp>
        <p:nvSpPr>
          <p:cNvPr id="436" name="Google Shape;436;p35"/>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437" name="Google Shape;437;p35"/>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438" name="Google Shape;438;p35"/>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35</a:t>
            </a:fld>
            <a:endParaRPr/>
          </a:p>
        </p:txBody>
      </p:sp>
      <p:sp>
        <p:nvSpPr>
          <p:cNvPr id="439" name="Google Shape;439;p35"/>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Dequeue (Deletion at the head and returning)</a:t>
            </a:r>
            <a:endParaRPr/>
          </a:p>
        </p:txBody>
      </p:sp>
      <p:pic>
        <p:nvPicPr>
          <p:cNvPr id="440" name="Google Shape;440;p35"/>
          <p:cNvPicPr preferRelativeResize="0"/>
          <p:nvPr/>
        </p:nvPicPr>
        <p:blipFill rotWithShape="1">
          <a:blip r:embed="rId3">
            <a:alphaModFix/>
          </a:blip>
          <a:srcRect/>
          <a:stretch/>
        </p:blipFill>
        <p:spPr>
          <a:xfrm>
            <a:off x="946785" y="2438400"/>
            <a:ext cx="2800350" cy="1676400"/>
          </a:xfrm>
          <a:prstGeom prst="rect">
            <a:avLst/>
          </a:prstGeom>
          <a:noFill/>
          <a:ln>
            <a:noFill/>
          </a:ln>
        </p:spPr>
      </p:pic>
      <p:pic>
        <p:nvPicPr>
          <p:cNvPr id="441" name="Google Shape;441;p35"/>
          <p:cNvPicPr preferRelativeResize="0"/>
          <p:nvPr/>
        </p:nvPicPr>
        <p:blipFill rotWithShape="1">
          <a:blip r:embed="rId4">
            <a:alphaModFix/>
          </a:blip>
          <a:srcRect/>
          <a:stretch/>
        </p:blipFill>
        <p:spPr>
          <a:xfrm>
            <a:off x="6429375" y="2019300"/>
            <a:ext cx="3752850" cy="3733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6"/>
          <p:cNvSpPr txBox="1">
            <a:spLocks noGrp="1"/>
          </p:cNvSpPr>
          <p:nvPr>
            <p:ph type="body" idx="1"/>
          </p:nvPr>
        </p:nvSpPr>
        <p:spPr>
          <a:xfrm>
            <a:off x="838200" y="1227909"/>
            <a:ext cx="10515600" cy="4949054"/>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33CC"/>
              </a:buClr>
              <a:buSzPts val="2100"/>
              <a:buFont typeface="Arial"/>
              <a:buChar char="●"/>
            </a:pPr>
            <a:r>
              <a:rPr lang="en-US"/>
              <a:t>With an array implementation: </a:t>
            </a:r>
            <a:endParaRPr/>
          </a:p>
          <a:p>
            <a:pPr marL="742950" lvl="1" indent="-285750" algn="l" rtl="0">
              <a:lnSpc>
                <a:spcPct val="100000"/>
              </a:lnSpc>
              <a:spcBef>
                <a:spcPts val="480"/>
              </a:spcBef>
              <a:spcAft>
                <a:spcPts val="0"/>
              </a:spcAft>
              <a:buSzPts val="1560"/>
              <a:buChar char="●"/>
            </a:pPr>
            <a:r>
              <a:rPr lang="en-US"/>
              <a:t>you can have both overflow and underflow </a:t>
            </a:r>
            <a:endParaRPr/>
          </a:p>
          <a:p>
            <a:pPr marL="342900" marR="0" lvl="0" indent="-342900" algn="l" rtl="0">
              <a:lnSpc>
                <a:spcPct val="100000"/>
              </a:lnSpc>
              <a:spcBef>
                <a:spcPts val="560"/>
              </a:spcBef>
              <a:spcAft>
                <a:spcPts val="0"/>
              </a:spcAft>
              <a:buClr>
                <a:srgbClr val="0033CC"/>
              </a:buClr>
              <a:buSzPts val="2100"/>
              <a:buFont typeface="Arial"/>
              <a:buChar char="●"/>
            </a:pPr>
            <a:r>
              <a:rPr lang="en-US"/>
              <a:t>With a linked-list implementation:  </a:t>
            </a:r>
            <a:endParaRPr/>
          </a:p>
          <a:p>
            <a:pPr marL="742950" lvl="1" indent="-285750" algn="l" rtl="0">
              <a:lnSpc>
                <a:spcPct val="100000"/>
              </a:lnSpc>
              <a:spcBef>
                <a:spcPts val="480"/>
              </a:spcBef>
              <a:spcAft>
                <a:spcPts val="0"/>
              </a:spcAft>
              <a:buSzPts val="1560"/>
              <a:buChar char="●"/>
            </a:pPr>
            <a:r>
              <a:rPr lang="en-US"/>
              <a:t>you can have underflow </a:t>
            </a:r>
            <a:endParaRPr/>
          </a:p>
          <a:p>
            <a:pPr marL="742950" lvl="1" indent="-285750" algn="l" rtl="0">
              <a:lnSpc>
                <a:spcPct val="100000"/>
              </a:lnSpc>
              <a:spcBef>
                <a:spcPts val="480"/>
              </a:spcBef>
              <a:spcAft>
                <a:spcPts val="0"/>
              </a:spcAft>
              <a:buSzPts val="1560"/>
              <a:buChar char="●"/>
            </a:pPr>
            <a:r>
              <a:rPr lang="en-US"/>
              <a:t>overflow is a global out-of-memory condition</a:t>
            </a:r>
            <a:endParaRPr/>
          </a:p>
        </p:txBody>
      </p:sp>
      <p:sp>
        <p:nvSpPr>
          <p:cNvPr id="447" name="Google Shape;447;p36"/>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448" name="Google Shape;448;p36"/>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449" name="Google Shape;449;p36"/>
          <p:cNvSpPr txBox="1">
            <a:spLocks noGrp="1"/>
          </p:cNvSpPr>
          <p:nvPr>
            <p:ph type="sldNum" idx="12"/>
          </p:nvPr>
        </p:nvSpPr>
        <p:spPr>
          <a:xfrm>
            <a:off x="86106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sp>
        <p:nvSpPr>
          <p:cNvPr id="450" name="Google Shape;450;p36"/>
          <p:cNvSpPr txBox="1">
            <a:spLocks noGrp="1"/>
          </p:cNvSpPr>
          <p:nvPr>
            <p:ph type="title"/>
          </p:nvPr>
        </p:nvSpPr>
        <p:spPr>
          <a:xfrm>
            <a:off x="838200" y="148046"/>
            <a:ext cx="10515600" cy="6047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4000"/>
              <a:buFont typeface="Times New Roman"/>
              <a:buNone/>
            </a:pPr>
            <a:r>
              <a:rPr lang="en-US"/>
              <a:t>Queue Implementation Details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g25e4398fc03_0_0"/>
          <p:cNvSpPr txBox="1">
            <a:spLocks noGrp="1"/>
          </p:cNvSpPr>
          <p:nvPr>
            <p:ph type="body" idx="1"/>
          </p:nvPr>
        </p:nvSpPr>
        <p:spPr>
          <a:xfrm>
            <a:off x="838200" y="1227909"/>
            <a:ext cx="10515600" cy="4949100"/>
          </a:xfrm>
          <a:prstGeom prst="rect">
            <a:avLst/>
          </a:prstGeom>
          <a:noFill/>
          <a:ln>
            <a:noFill/>
          </a:ln>
        </p:spPr>
        <p:txBody>
          <a:bodyPr spcFirstLastPara="1" wrap="square" lIns="91425" tIns="45700" rIns="91425" bIns="45700" anchor="t" anchorCtr="0">
            <a:normAutofit lnSpcReduction="10000"/>
          </a:bodyPr>
          <a:lstStyle/>
          <a:p>
            <a:pPr marL="457200" lvl="0" indent="-361950" algn="l" rtl="0">
              <a:lnSpc>
                <a:spcPct val="100000"/>
              </a:lnSpc>
              <a:spcBef>
                <a:spcPts val="560"/>
              </a:spcBef>
              <a:spcAft>
                <a:spcPts val="0"/>
              </a:spcAft>
              <a:buSzPts val="2100"/>
              <a:buChar char="●"/>
            </a:pPr>
            <a:r>
              <a:rPr lang="en-US"/>
              <a:t>Stack can be used to </a:t>
            </a:r>
            <a:endParaRPr/>
          </a:p>
          <a:p>
            <a:pPr marL="914400" lvl="1" indent="-327660" algn="l" rtl="0">
              <a:lnSpc>
                <a:spcPct val="100000"/>
              </a:lnSpc>
              <a:spcBef>
                <a:spcPts val="0"/>
              </a:spcBef>
              <a:spcAft>
                <a:spcPts val="0"/>
              </a:spcAft>
              <a:buSzPts val="1560"/>
              <a:buChar char="●"/>
            </a:pPr>
            <a:r>
              <a:rPr lang="en-US"/>
              <a:t>reverse a string</a:t>
            </a:r>
            <a:endParaRPr/>
          </a:p>
          <a:p>
            <a:pPr marL="914400" lvl="1" indent="-327660" algn="l" rtl="0">
              <a:lnSpc>
                <a:spcPct val="100000"/>
              </a:lnSpc>
              <a:spcBef>
                <a:spcPts val="0"/>
              </a:spcBef>
              <a:spcAft>
                <a:spcPts val="0"/>
              </a:spcAft>
              <a:buSzPts val="1560"/>
              <a:buChar char="●"/>
            </a:pPr>
            <a:r>
              <a:rPr lang="en-US"/>
              <a:t>infix to postfix</a:t>
            </a:r>
            <a:endParaRPr/>
          </a:p>
          <a:p>
            <a:pPr marL="914400" lvl="1" indent="-327660" algn="l" rtl="0">
              <a:lnSpc>
                <a:spcPct val="100000"/>
              </a:lnSpc>
              <a:spcBef>
                <a:spcPts val="0"/>
              </a:spcBef>
              <a:spcAft>
                <a:spcPts val="0"/>
              </a:spcAft>
              <a:buSzPts val="1560"/>
              <a:buChar char="●"/>
            </a:pPr>
            <a:r>
              <a:rPr lang="en-US"/>
              <a:t>Tracking recursive calls</a:t>
            </a:r>
            <a:endParaRPr/>
          </a:p>
          <a:p>
            <a:pPr marL="914400" lvl="1" indent="-327660" algn="l" rtl="0">
              <a:lnSpc>
                <a:spcPct val="100000"/>
              </a:lnSpc>
              <a:spcBef>
                <a:spcPts val="0"/>
              </a:spcBef>
              <a:spcAft>
                <a:spcPts val="0"/>
              </a:spcAft>
              <a:buSzPts val="1560"/>
              <a:buChar char="●"/>
            </a:pPr>
            <a:r>
              <a:rPr lang="en-US"/>
              <a:t>DFS</a:t>
            </a:r>
            <a:endParaRPr/>
          </a:p>
          <a:p>
            <a:pPr marL="914400" lvl="1" indent="-327660" algn="l" rtl="0">
              <a:lnSpc>
                <a:spcPct val="100000"/>
              </a:lnSpc>
              <a:spcBef>
                <a:spcPts val="0"/>
              </a:spcBef>
              <a:spcAft>
                <a:spcPts val="0"/>
              </a:spcAft>
              <a:buSzPts val="1560"/>
              <a:buChar char="●"/>
            </a:pPr>
            <a:r>
              <a:rPr lang="en-US"/>
              <a:t>AI Search Algorithm</a:t>
            </a:r>
            <a:endParaRPr/>
          </a:p>
          <a:p>
            <a:pPr marL="914400" lvl="1" indent="-327660" algn="l" rtl="0">
              <a:lnSpc>
                <a:spcPct val="100000"/>
              </a:lnSpc>
              <a:spcBef>
                <a:spcPts val="0"/>
              </a:spcBef>
              <a:spcAft>
                <a:spcPts val="0"/>
              </a:spcAft>
              <a:buSzPts val="1560"/>
              <a:buChar char="●"/>
            </a:pPr>
            <a:r>
              <a:rPr lang="en-US"/>
              <a:t>etc</a:t>
            </a:r>
            <a:endParaRPr/>
          </a:p>
          <a:p>
            <a:pPr marL="457200" lvl="0" indent="-361950" algn="l" rtl="0">
              <a:lnSpc>
                <a:spcPct val="100000"/>
              </a:lnSpc>
              <a:spcBef>
                <a:spcPts val="0"/>
              </a:spcBef>
              <a:spcAft>
                <a:spcPts val="0"/>
              </a:spcAft>
              <a:buSzPts val="2100"/>
              <a:buChar char="●"/>
            </a:pPr>
            <a:r>
              <a:rPr lang="en-US"/>
              <a:t>Queue</a:t>
            </a:r>
            <a:endParaRPr/>
          </a:p>
          <a:p>
            <a:pPr marL="914400" lvl="1" indent="-327660" algn="l" rtl="0">
              <a:lnSpc>
                <a:spcPct val="100000"/>
              </a:lnSpc>
              <a:spcBef>
                <a:spcPts val="0"/>
              </a:spcBef>
              <a:spcAft>
                <a:spcPts val="0"/>
              </a:spcAft>
              <a:buSzPts val="1560"/>
              <a:buChar char="●"/>
            </a:pPr>
            <a:r>
              <a:rPr lang="en-US"/>
              <a:t>Managing OS processes</a:t>
            </a:r>
            <a:endParaRPr/>
          </a:p>
          <a:p>
            <a:pPr marL="914400" lvl="1" indent="-327660" algn="l" rtl="0">
              <a:lnSpc>
                <a:spcPct val="100000"/>
              </a:lnSpc>
              <a:spcBef>
                <a:spcPts val="0"/>
              </a:spcBef>
              <a:spcAft>
                <a:spcPts val="0"/>
              </a:spcAft>
              <a:buSzPts val="1560"/>
              <a:buChar char="●"/>
            </a:pPr>
            <a:r>
              <a:rPr lang="en-US"/>
              <a:t>BFS</a:t>
            </a:r>
            <a:endParaRPr/>
          </a:p>
          <a:p>
            <a:pPr marL="914400" lvl="1" indent="-327660" algn="l" rtl="0">
              <a:lnSpc>
                <a:spcPct val="100000"/>
              </a:lnSpc>
              <a:spcBef>
                <a:spcPts val="0"/>
              </a:spcBef>
              <a:spcAft>
                <a:spcPts val="0"/>
              </a:spcAft>
              <a:buSzPts val="1560"/>
              <a:buChar char="●"/>
            </a:pPr>
            <a:r>
              <a:rPr lang="en-US"/>
              <a:t>Multi Threading</a:t>
            </a:r>
            <a:endParaRPr/>
          </a:p>
          <a:p>
            <a:pPr marL="914400" lvl="1" indent="-327660" algn="l" rtl="0">
              <a:lnSpc>
                <a:spcPct val="100000"/>
              </a:lnSpc>
              <a:spcBef>
                <a:spcPts val="0"/>
              </a:spcBef>
              <a:spcAft>
                <a:spcPts val="0"/>
              </a:spcAft>
              <a:buSzPts val="1560"/>
              <a:buChar char="●"/>
            </a:pPr>
            <a:r>
              <a:rPr lang="en-US"/>
              <a:t>AI Search Algorithms</a:t>
            </a:r>
            <a:endParaRPr/>
          </a:p>
          <a:p>
            <a:pPr marL="914400" lvl="1" indent="-327660" algn="l" rtl="0">
              <a:lnSpc>
                <a:spcPct val="100000"/>
              </a:lnSpc>
              <a:spcBef>
                <a:spcPts val="0"/>
              </a:spcBef>
              <a:spcAft>
                <a:spcPts val="0"/>
              </a:spcAft>
              <a:buSzPts val="1560"/>
              <a:buChar char="●"/>
            </a:pPr>
            <a:r>
              <a:rPr lang="en-US"/>
              <a:t>etc</a:t>
            </a:r>
            <a:endParaRPr/>
          </a:p>
        </p:txBody>
      </p:sp>
      <p:sp>
        <p:nvSpPr>
          <p:cNvPr id="457" name="Google Shape;457;g25e4398fc03_0_0"/>
          <p:cNvSpPr txBox="1">
            <a:spLocks noGrp="1"/>
          </p:cNvSpPr>
          <p:nvPr>
            <p:ph type="sldNum" idx="12"/>
          </p:nvPr>
        </p:nvSpPr>
        <p:spPr>
          <a:xfrm>
            <a:off x="8610600"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37</a:t>
            </a:fld>
            <a:endParaRPr/>
          </a:p>
        </p:txBody>
      </p:sp>
      <p:sp>
        <p:nvSpPr>
          <p:cNvPr id="458" name="Google Shape;458;g25e4398fc03_0_0"/>
          <p:cNvSpPr txBox="1">
            <a:spLocks noGrp="1"/>
          </p:cNvSpPr>
          <p:nvPr>
            <p:ph type="title"/>
          </p:nvPr>
        </p:nvSpPr>
        <p:spPr>
          <a:xfrm>
            <a:off x="838200" y="148046"/>
            <a:ext cx="10515600" cy="6048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Use of Stack and Queue</a:t>
            </a:r>
            <a:endParaRPr/>
          </a:p>
        </p:txBody>
      </p:sp>
      <p:sp>
        <p:nvSpPr>
          <p:cNvPr id="2" name="Date Placeholder 1">
            <a:extLst>
              <a:ext uri="{FF2B5EF4-FFF2-40B4-BE49-F238E27FC236}">
                <a16:creationId xmlns:a16="http://schemas.microsoft.com/office/drawing/2014/main" id="{BBF69D13-D5EB-13F3-1D70-450D05C9C886}"/>
              </a:ext>
            </a:extLst>
          </p:cNvPr>
          <p:cNvSpPr>
            <a:spLocks noGrp="1"/>
          </p:cNvSpPr>
          <p:nvPr>
            <p:ph type="dt" idx="10"/>
          </p:nvPr>
        </p:nvSpPr>
        <p:spPr/>
        <p:txBody>
          <a:bodyPr/>
          <a:lstStyle/>
          <a:p>
            <a:r>
              <a:rPr lang="en-US"/>
              <a:t>Fall 2025</a:t>
            </a:r>
          </a:p>
        </p:txBody>
      </p:sp>
      <p:sp>
        <p:nvSpPr>
          <p:cNvPr id="3" name="Footer Placeholder 2">
            <a:extLst>
              <a:ext uri="{FF2B5EF4-FFF2-40B4-BE49-F238E27FC236}">
                <a16:creationId xmlns:a16="http://schemas.microsoft.com/office/drawing/2014/main" id="{88F3682A-E479-32D4-52D7-EA5C505E611A}"/>
              </a:ext>
            </a:extLst>
          </p:cNvPr>
          <p:cNvSpPr>
            <a:spLocks noGrp="1"/>
          </p:cNvSpPr>
          <p:nvPr>
            <p:ph type="ftr" idx="11"/>
          </p:nvPr>
        </p:nvSpPr>
        <p:spPr/>
        <p:txBody>
          <a:bodyPr/>
          <a:lstStyle/>
          <a:p>
            <a:r>
              <a:rPr lang="en-US"/>
              <a:t>Asif Abrar, Dept of CSE, UIU</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3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2"/>
              </a:buClr>
              <a:buSzPts val="5400"/>
              <a:buFont typeface="Times New Roman"/>
              <a:buNone/>
            </a:pPr>
            <a:r>
              <a:rPr lang="en-US"/>
              <a:t>Thank You</a:t>
            </a:r>
            <a:endParaRPr/>
          </a:p>
        </p:txBody>
      </p:sp>
      <p:sp>
        <p:nvSpPr>
          <p:cNvPr id="464" name="Google Shape;464;p3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accent1"/>
              </a:buClr>
              <a:buSzPts val="1950"/>
              <a:buFont typeface="Arial"/>
              <a:buNone/>
            </a:pPr>
            <a:endParaRPr/>
          </a:p>
        </p:txBody>
      </p:sp>
      <p:sp>
        <p:nvSpPr>
          <p:cNvPr id="465" name="Google Shape;465;p37"/>
          <p:cNvSpPr txBox="1">
            <a:spLocks noGrp="1"/>
          </p:cNvSpPr>
          <p:nvPr>
            <p:ph type="dt" idx="10"/>
          </p:nvPr>
        </p:nvSpPr>
        <p:spPr>
          <a:xfrm>
            <a:off x="855617" y="649287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Fall 2025</a:t>
            </a:r>
            <a:endParaRPr/>
          </a:p>
        </p:txBody>
      </p:sp>
      <p:sp>
        <p:nvSpPr>
          <p:cNvPr id="466" name="Google Shape;466;p37"/>
          <p:cNvSpPr txBox="1">
            <a:spLocks noGrp="1"/>
          </p:cNvSpPr>
          <p:nvPr>
            <p:ph type="ftr" idx="11"/>
          </p:nvPr>
        </p:nvSpPr>
        <p:spPr>
          <a:xfrm>
            <a:off x="4056017"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Asif Abrar, Dept of CSE, UIU</a:t>
            </a:r>
            <a:endParaRPr/>
          </a:p>
        </p:txBody>
      </p:sp>
      <p:sp>
        <p:nvSpPr>
          <p:cNvPr id="467" name="Google Shape;467;p37"/>
          <p:cNvSpPr txBox="1">
            <a:spLocks noGrp="1"/>
          </p:cNvSpPr>
          <p:nvPr>
            <p:ph type="sldNum" idx="12"/>
          </p:nvPr>
        </p:nvSpPr>
        <p:spPr>
          <a:xfrm>
            <a:off x="8628017"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38</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1724</Words>
  <Application>Microsoft Office PowerPoint</Application>
  <PresentationFormat>Widescreen</PresentationFormat>
  <Paragraphs>268</Paragraphs>
  <Slides>38</Slides>
  <Notes>38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Times New Roman</vt:lpstr>
      <vt:lpstr>Tahoma</vt:lpstr>
      <vt:lpstr>Calibri</vt:lpstr>
      <vt:lpstr>Arial</vt:lpstr>
      <vt:lpstr>Office Theme</vt:lpstr>
      <vt:lpstr>Stack and Queue</vt:lpstr>
      <vt:lpstr>Stacks and Queues</vt:lpstr>
      <vt:lpstr>STACK</vt:lpstr>
      <vt:lpstr>Stack</vt:lpstr>
      <vt:lpstr>Stack</vt:lpstr>
      <vt:lpstr>Stack</vt:lpstr>
      <vt:lpstr>Applications of Stack</vt:lpstr>
      <vt:lpstr>Array Implementation of Stacks</vt:lpstr>
      <vt:lpstr>Array Implementation of Stacks</vt:lpstr>
      <vt:lpstr>Stacks by Array: Push and Pop</vt:lpstr>
      <vt:lpstr>Stacks by Array: After Popping</vt:lpstr>
      <vt:lpstr>Stacks by Array: Error Checking</vt:lpstr>
      <vt:lpstr>Let us write the Code for Stack</vt:lpstr>
      <vt:lpstr>Let us write the Code for Stack</vt:lpstr>
      <vt:lpstr>Linked List Implementation of Stacks</vt:lpstr>
      <vt:lpstr>Let us write the code for SLL : Push</vt:lpstr>
      <vt:lpstr>Let us write the code for SLL : Push</vt:lpstr>
      <vt:lpstr>Let us write the code for SLL : Pop</vt:lpstr>
      <vt:lpstr>Let us write the code for SLL : Pop</vt:lpstr>
      <vt:lpstr>QUEUE</vt:lpstr>
      <vt:lpstr>Queue: First In First Out </vt:lpstr>
      <vt:lpstr>Queue: First In First Out </vt:lpstr>
      <vt:lpstr>Queue: First In First Out </vt:lpstr>
      <vt:lpstr>Queue: First In First Out </vt:lpstr>
      <vt:lpstr>Queue: First In First Out </vt:lpstr>
      <vt:lpstr>Array Implementation of Queue</vt:lpstr>
      <vt:lpstr>Array Implementation of Queues</vt:lpstr>
      <vt:lpstr>Array Implementation of Queues</vt:lpstr>
      <vt:lpstr>Circular Queues using Arrays</vt:lpstr>
      <vt:lpstr>Circular Queues using Arrays: Enqueue() </vt:lpstr>
      <vt:lpstr>Circular Queues using Arrays: Dequeue() </vt:lpstr>
      <vt:lpstr>Linked List Implementation of Queues</vt:lpstr>
      <vt:lpstr>Linked List Implementation of Queues</vt:lpstr>
      <vt:lpstr>Enqueue (Insertion at the End)</vt:lpstr>
      <vt:lpstr>Dequeue (Deletion at the head and returning)</vt:lpstr>
      <vt:lpstr>Queue Implementation Details</vt:lpstr>
      <vt:lpstr>Use of Stack and Queue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Asif Abrar</cp:lastModifiedBy>
  <cp:revision>1</cp:revision>
  <dcterms:created xsi:type="dcterms:W3CDTF">2023-03-19T03:25:32Z</dcterms:created>
  <dcterms:modified xsi:type="dcterms:W3CDTF">2025-11-10T17:29:59Z</dcterms:modified>
</cp:coreProperties>
</file>