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8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Noto Sans Symbols" pitchFamily="2" charset="0"/>
      <p:regular r:id="rId44"/>
      <p:bold r:id="rId45"/>
    </p:embeddedFont>
    <p:embeddedFont>
      <p:font typeface="Playfair Display" panose="00000500000000000000" pitchFamily="2" charset="0"/>
      <p:regular r:id="rId46"/>
      <p:bold r:id="rId47"/>
      <p:italic r:id="rId48"/>
      <p:boldItalic r:id="rId49"/>
    </p:embeddedFont>
    <p:embeddedFont>
      <p:font typeface="Tahoma" panose="020B0604030504040204" pitchFamily="34" charset="0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1951510e1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1951510e1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077ad0556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5077ad0556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077ad0556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5077ad0556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077ad0556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5077ad0556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077ad0556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35077ad0556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077ad0556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5077ad0556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077ad0556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5077ad0556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077ad0556_1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077ad0556_1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077ad0556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5077ad0556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077ad0556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5077ad0556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077ad0556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5077ad0556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077ad0556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5077ad0556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077ad0556_1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5077ad0556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077ad0556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5077ad0556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077ad0556_1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5077ad0556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077ad0556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5077ad0556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077ad0556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5077ad0556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077ad0556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5077ad0556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077ad0556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5077ad0556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077ad0556_1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5077ad0556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077ad0556_1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5077ad0556_1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5077ad0556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5077ad0556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077ad0556_1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5077ad0556_1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077ad0556_1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5077ad0556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077ad0556_1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5077ad0556_1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077ad0556_1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5077ad0556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8b596a8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38b596a8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5439e2f6f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5439e2f6f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/>
        </p:nvSpPr>
        <p:spPr>
          <a:xfrm>
            <a:off x="0" y="4663221"/>
            <a:ext cx="9144000" cy="4803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9525" y="248150"/>
            <a:ext cx="800750" cy="7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500" b="1">
                <a:solidFill>
                  <a:schemeClr val="lt1"/>
                </a:solidFill>
              </a:defRPr>
            </a:lvl1pPr>
            <a:lvl2pPr lvl="1" algn="ctr">
              <a:buNone/>
              <a:defRPr sz="1500" b="1">
                <a:solidFill>
                  <a:schemeClr val="lt1"/>
                </a:solidFill>
              </a:defRPr>
            </a:lvl2pPr>
            <a:lvl3pPr lvl="2" algn="ctr">
              <a:buNone/>
              <a:defRPr sz="1500" b="1">
                <a:solidFill>
                  <a:schemeClr val="lt1"/>
                </a:solidFill>
              </a:defRPr>
            </a:lvl3pPr>
            <a:lvl4pPr lvl="3" algn="ctr">
              <a:buNone/>
              <a:defRPr sz="1500" b="1">
                <a:solidFill>
                  <a:schemeClr val="lt1"/>
                </a:solidFill>
              </a:defRPr>
            </a:lvl4pPr>
            <a:lvl5pPr lvl="4" algn="ctr">
              <a:buNone/>
              <a:defRPr sz="1500" b="1">
                <a:solidFill>
                  <a:schemeClr val="lt1"/>
                </a:solidFill>
              </a:defRPr>
            </a:lvl5pPr>
            <a:lvl6pPr lvl="5" algn="ctr">
              <a:buNone/>
              <a:defRPr sz="1500" b="1">
                <a:solidFill>
                  <a:schemeClr val="lt1"/>
                </a:solidFill>
              </a:defRPr>
            </a:lvl6pPr>
            <a:lvl7pPr lvl="6" algn="ctr">
              <a:buNone/>
              <a:defRPr sz="1500" b="1">
                <a:solidFill>
                  <a:schemeClr val="lt1"/>
                </a:solidFill>
              </a:defRPr>
            </a:lvl7pPr>
            <a:lvl8pPr lvl="7" algn="ctr">
              <a:buNone/>
              <a:defRPr sz="1500" b="1">
                <a:solidFill>
                  <a:schemeClr val="lt1"/>
                </a:solidFill>
              </a:defRPr>
            </a:lvl8pPr>
            <a:lvl9pPr lvl="8" algn="ctr">
              <a:buNone/>
              <a:defRPr sz="1500" b="1"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30227" y="147243"/>
            <a:ext cx="808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7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530227" y="1300640"/>
            <a:ext cx="808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21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08960" y="4783461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4783461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798082" y="4868855"/>
            <a:ext cx="260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530227" y="147243"/>
            <a:ext cx="808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7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108960" y="4783461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4783461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798082" y="4868855"/>
            <a:ext cx="260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6858000" extrusionOk="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530227" y="147243"/>
            <a:ext cx="808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7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108960" y="4783461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457200" y="4783461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798082" y="4868855"/>
            <a:ext cx="260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13675" y="44732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1663" y="451200"/>
            <a:ext cx="1560675" cy="14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27350" y="2240850"/>
            <a:ext cx="91440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CSE 2215: Data Structures and Algorithms I</a:t>
            </a:r>
            <a:endParaRPr sz="3100" b="1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7350" y="3180025"/>
            <a:ext cx="9083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ASIF ABRAR</a:t>
            </a:r>
            <a:endParaRPr sz="22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Lecturer, Department of Computer Science and Engineering,</a:t>
            </a:r>
            <a:endParaRPr sz="16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United</a:t>
            </a:r>
            <a:r>
              <a:rPr lang="en" sz="16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International </a:t>
            </a:r>
            <a:r>
              <a:rPr lang="en" sz="16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University</a:t>
            </a:r>
            <a:endParaRPr sz="16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83" name="Google Shape;83;p17"/>
          <p:cNvSpPr txBox="1">
            <a:spLocks noGrp="1"/>
          </p:cNvSpPr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Trees </a:t>
            </a: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&amp;</a:t>
            </a: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Tree Traversal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 idx="4294967295"/>
          </p:nvPr>
        </p:nvSpPr>
        <p:spPr>
          <a:xfrm>
            <a:off x="628650" y="559688"/>
            <a:ext cx="40005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What is a Tree?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452075" y="1043550"/>
            <a:ext cx="7995900" cy="29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000" rIns="0" bIns="0" anchor="t" anchorCtr="0">
            <a:spAutoFit/>
          </a:bodyPr>
          <a:lstStyle/>
          <a:p>
            <a:pPr marL="1778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connected </a:t>
            </a:r>
            <a:r>
              <a:rPr lang="en" sz="1800">
                <a:solidFill>
                  <a:srgbClr val="E36C09"/>
                </a:solidFill>
                <a:latin typeface="Montserrat"/>
                <a:ea typeface="Montserrat"/>
                <a:cs typeface="Montserrat"/>
                <a:sym typeface="Montserrat"/>
              </a:rPr>
              <a:t>acyclic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graph is a tree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65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computer science, a	tree is an abstract model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of a hierarchical structure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651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tree consists of nodes with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 parent-child relationship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65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Applications: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1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Organizational charts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1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File systems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1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Programming	environments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91" name="Google Shape;91;p18" descr="Application of tree data structure | by Ievgen Dilevskyi | Mediu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5824" y="1733550"/>
            <a:ext cx="4013037" cy="262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4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title" idx="4294967295"/>
          </p:nvPr>
        </p:nvSpPr>
        <p:spPr>
          <a:xfrm>
            <a:off x="628650" y="635888"/>
            <a:ext cx="44577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What is a Tree?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552450" y="1619250"/>
            <a:ext cx="8076300" cy="24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0" rIns="0" bIns="0" anchor="t" anchorCtr="0">
            <a:spAutoFit/>
          </a:bodyPr>
          <a:lstStyle/>
          <a:p>
            <a:pPr marL="2667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Montserrat"/>
              <a:buChar char="o"/>
            </a:pPr>
            <a:r>
              <a:rPr lang="en" sz="1800" b="1" i="1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A connected acyclic graph is a tree.</a:t>
            </a:r>
            <a:endParaRPr sz="1800" b="1" i="1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6700" marR="0" lvl="0" indent="-1397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endParaRPr sz="1800" b="1" i="1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6700" marR="0" lvl="0" indent="-254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o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tree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a set of nodes in a parent-child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relationship with the following  properties: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6700" marR="0" lvl="0" indent="-1397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1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■"/>
            </a:pPr>
            <a:r>
              <a:rPr lang="en" sz="1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 a special node </a:t>
            </a:r>
            <a:r>
              <a:rPr lang="en" sz="1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called the </a:t>
            </a:r>
            <a:r>
              <a:rPr lang="en" sz="1800" b="1" i="1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root</a:t>
            </a:r>
            <a:r>
              <a:rPr lang="en" sz="1800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</a:t>
            </a:r>
            <a:r>
              <a:rPr lang="en" sz="1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with no	parent node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1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Each node </a:t>
            </a:r>
            <a:r>
              <a:rPr lang="en" sz="1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 </a:t>
            </a: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</a:t>
            </a:r>
            <a:r>
              <a:rPr lang="en" sz="1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different from </a:t>
            </a:r>
            <a:r>
              <a:rPr lang="en" sz="1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has a unique parent node </a:t>
            </a:r>
            <a:r>
              <a:rPr lang="en" sz="1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sz="1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9" descr="Tree Data Struct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0" y="609600"/>
            <a:ext cx="2203264" cy="270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 idx="4294967295"/>
          </p:nvPr>
        </p:nvSpPr>
        <p:spPr>
          <a:xfrm>
            <a:off x="628650" y="331088"/>
            <a:ext cx="69723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Tree Terminology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619125" y="826400"/>
            <a:ext cx="4134600" cy="4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000" rIns="0" bIns="0" anchor="t" anchorCtr="0">
            <a:spAutoFit/>
          </a:bodyPr>
          <a:lstStyle/>
          <a:p>
            <a:pPr marL="1778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2C0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Root</a:t>
            </a:r>
            <a:r>
              <a:rPr lang="en" sz="1800">
                <a:solidFill>
                  <a:srgbClr val="3F448B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node without parent (A)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25400" marR="292100" lvl="0" indent="-114300" algn="l" rtl="0">
              <a:lnSpc>
                <a:spcPct val="117083"/>
              </a:lnSpc>
              <a:spcBef>
                <a:spcPts val="300"/>
              </a:spcBef>
              <a:spcAft>
                <a:spcPts val="0"/>
              </a:spcAft>
              <a:buClr>
                <a:srgbClr val="BD2C0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 Internal node</a:t>
            </a:r>
            <a:r>
              <a:rPr lang="en" sz="1800">
                <a:solidFill>
                  <a:srgbClr val="3F448B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node with at least  one child	(A, B, C, F)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00" marR="0" lvl="0" indent="-114300" algn="l" rtl="0">
              <a:lnSpc>
                <a:spcPct val="100800"/>
              </a:lnSpc>
              <a:spcBef>
                <a:spcPts val="100"/>
              </a:spcBef>
              <a:spcAft>
                <a:spcPts val="0"/>
              </a:spcAft>
              <a:buClr>
                <a:srgbClr val="BD2C0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 External node </a:t>
            </a:r>
            <a:r>
              <a:rPr lang="en" sz="1800">
                <a:solidFill>
                  <a:srgbClr val="3F448B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18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Leaf </a:t>
            </a:r>
            <a:r>
              <a:rPr lang="en" sz="1800">
                <a:solidFill>
                  <a:srgbClr val="3F448B"/>
                </a:solidFill>
                <a:latin typeface="Montserrat"/>
                <a:ea typeface="Montserrat"/>
                <a:cs typeface="Montserrat"/>
                <a:sym typeface="Montserrat"/>
              </a:rPr>
              <a:t>):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node without  children (E, I, J, K, G, H, D)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00" marR="444500" lvl="0" indent="-114300" algn="l" rtl="0">
              <a:lnSpc>
                <a:spcPct val="99200"/>
              </a:lnSpc>
              <a:spcBef>
                <a:spcPts val="200"/>
              </a:spcBef>
              <a:spcAft>
                <a:spcPts val="0"/>
              </a:spcAft>
              <a:buClr>
                <a:srgbClr val="BD2C0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 Ancestors of a node: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parent,  grandparent, grand-grandparent,  etc.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00" marR="381000" lvl="0" indent="-114300" algn="l" rtl="0">
              <a:lnSpc>
                <a:spcPct val="100800"/>
              </a:lnSpc>
              <a:spcBef>
                <a:spcPts val="100"/>
              </a:spcBef>
              <a:spcAft>
                <a:spcPts val="0"/>
              </a:spcAft>
              <a:buClr>
                <a:srgbClr val="BD2C0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 Descendants of a node: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child,  grandchild, grand-grandchild, etc.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00" marR="381000" lvl="0" indent="-114300" algn="l" rtl="0">
              <a:lnSpc>
                <a:spcPct val="100800"/>
              </a:lnSpc>
              <a:spcBef>
                <a:spcPts val="100"/>
              </a:spcBef>
              <a:spcAft>
                <a:spcPts val="0"/>
              </a:spcAft>
              <a:buClr>
                <a:srgbClr val="BD2C0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Subtree: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tree consisting of a node and its descendants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00" marR="381000" lvl="0" indent="0" algn="l" rtl="0">
              <a:lnSpc>
                <a:spcPct val="1008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5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07" name="Google Shape;107;p20" descr="https://o.remove.bg/downloads/20130622-d859-4fad-ad5d-908c3f124cd7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700" y="2128037"/>
            <a:ext cx="2650331" cy="2664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descr="https://o.remove.bg/downloads/d0ba07d7-ffb0-4be0-a6fc-f4a55981ba46/image-removebg-previe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4215" y="1223371"/>
            <a:ext cx="3543300" cy="78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6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680085" y="967377"/>
            <a:ext cx="7835100" cy="3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t" anchorCtr="0">
            <a:spAutoFit/>
          </a:bodyPr>
          <a:lstStyle/>
          <a:p>
            <a:pPr marL="2032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18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depth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a node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be recursively defined as follows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55600" marR="0" lvl="1" indent="-114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v is the root, then the depth of v is 0.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55600" marR="0" lvl="1" indent="-114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Otherwise, the depth of v is one plus the depth of the parent of v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44069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Algorithm </a:t>
            </a:r>
            <a:endParaRPr sz="15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44069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" sz="18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depth(T, v)</a:t>
            </a:r>
            <a:endParaRPr sz="1800"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4419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if </a:t>
            </a:r>
            <a:r>
              <a:rPr lang="en" sz="18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T.isRoot(v) </a:t>
            </a:r>
            <a:r>
              <a:rPr lang="en" sz="18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then</a:t>
            </a:r>
            <a:endParaRPr sz="18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509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return 0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5842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sz="18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128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return 1 + depth(T, T.parent(v))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215900" marR="0" lvl="0" indent="-177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Running time: </a:t>
            </a:r>
            <a:r>
              <a:rPr lang="en" sz="1800" i="1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" sz="180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(1 + </a:t>
            </a:r>
            <a:r>
              <a:rPr lang="en" sz="1800" i="1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 sz="1800" i="1" baseline="-2500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" sz="180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), </a:t>
            </a:r>
            <a:r>
              <a:rPr lang="en" sz="18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 sz="1800" i="1" baseline="-2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depth of </a:t>
            </a:r>
            <a:r>
              <a:rPr lang="en" sz="18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</a:t>
            </a:r>
            <a:r>
              <a:rPr lang="en" sz="18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900" marR="0" lvl="0" indent="-177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In worst case </a:t>
            </a:r>
            <a:r>
              <a:rPr lang="en" sz="1800" i="1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" sz="180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1800" i="1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180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), </a:t>
            </a:r>
            <a:r>
              <a:rPr lang="en" sz="18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the number of nodes in </a:t>
            </a:r>
            <a:r>
              <a:rPr lang="en" sz="18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 idx="4294967295"/>
          </p:nvPr>
        </p:nvSpPr>
        <p:spPr>
          <a:xfrm>
            <a:off x="628650" y="431672"/>
            <a:ext cx="43434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Depth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1066800" y="2476500"/>
            <a:ext cx="3952200" cy="15432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21" descr="https://o.remove.bg/downloads/50405154-9ee9-4f57-a32c-e308c1cacf7b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7910" y="2038350"/>
            <a:ext cx="2770346" cy="2247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7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123" name="Google Shape;123;p22"/>
          <p:cNvSpPr txBox="1">
            <a:spLocks noGrp="1"/>
          </p:cNvSpPr>
          <p:nvPr>
            <p:ph type="title" idx="4294967295"/>
          </p:nvPr>
        </p:nvSpPr>
        <p:spPr>
          <a:xfrm>
            <a:off x="628650" y="584072"/>
            <a:ext cx="34863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Height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619125" y="1352575"/>
            <a:ext cx="7929600" cy="26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425" rIns="0" bIns="0" anchor="t" anchorCtr="0">
            <a:spAutoFit/>
          </a:bodyPr>
          <a:lstStyle/>
          <a:p>
            <a:pPr marL="1778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1800" b="1" i="1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height</a:t>
            </a:r>
            <a:r>
              <a:rPr lang="en" sz="18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a node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	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be recursively defined as follows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1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v is a leaf node, then the height of v is 0.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101600" lvl="1" indent="-101600" algn="l" rtl="0">
              <a:lnSpc>
                <a:spcPct val="1008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Otherwise, the height of v is one plus the maximum height of a child  of  v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06400" marR="101600" lvl="1" indent="0" algn="l" rtl="0">
              <a:lnSpc>
                <a:spcPct val="1008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height of a tree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the height of the root of 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651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height of a tree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equal to the maximum depth of a leaf node of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8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130" name="Google Shape;130;p23"/>
          <p:cNvSpPr txBox="1">
            <a:spLocks noGrp="1"/>
          </p:cNvSpPr>
          <p:nvPr>
            <p:ph type="title" idx="4294967295"/>
          </p:nvPr>
        </p:nvSpPr>
        <p:spPr>
          <a:xfrm>
            <a:off x="628650" y="279272"/>
            <a:ext cx="4229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Height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590550" y="763905"/>
            <a:ext cx="8896200" cy="37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5250" rIns="0" bIns="0" anchor="t" anchorCtr="0">
            <a:spAutoFit/>
          </a:bodyPr>
          <a:lstStyle/>
          <a:p>
            <a:pPr marL="203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Algorithm </a:t>
            </a:r>
            <a:r>
              <a:rPr lang="en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height(T, v)</a:t>
            </a:r>
            <a:endParaRPr sz="1000"/>
          </a:p>
          <a:p>
            <a:pPr marL="889000" marR="5803900" lvl="0" indent="-33020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</a:t>
            </a:r>
            <a:r>
              <a:rPr lang="en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T.isLeaf(v) </a:t>
            </a:r>
            <a:r>
              <a:rPr lang="en" sz="17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then  return </a:t>
            </a:r>
            <a:r>
              <a:rPr lang="en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sz="1000"/>
          </a:p>
          <a:p>
            <a:pPr marL="5461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else</a:t>
            </a:r>
            <a:endParaRPr sz="17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8509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 = 0</a:t>
            </a:r>
            <a:endParaRPr sz="17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8509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</a:t>
            </a:r>
            <a:r>
              <a:rPr lang="en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w εT.children(v) </a:t>
            </a:r>
            <a:r>
              <a:rPr lang="en" sz="17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</a:t>
            </a:r>
            <a:endParaRPr sz="17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4965700" lvl="0" indent="0" algn="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 = max(h, height(T, w))</a:t>
            </a:r>
            <a:endParaRPr sz="1000"/>
          </a:p>
          <a:p>
            <a:pPr marL="5334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</a:t>
            </a:r>
            <a:r>
              <a:rPr lang="en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+ h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Montserrat"/>
              <a:buChar char="•"/>
            </a:pP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Running time: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(Σ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 </a:t>
            </a:r>
            <a:r>
              <a:rPr lang="en" sz="17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ε 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(1 +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)), where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 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is the number of children of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 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in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200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900" marR="0" lvl="0" indent="-1714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Montserrat"/>
              <a:buChar char="•"/>
            </a:pP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Since Σ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 </a:t>
            </a:r>
            <a:r>
              <a:rPr lang="en" sz="17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ε 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 =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- 1, we have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(Σ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 </a:t>
            </a:r>
            <a:r>
              <a:rPr lang="en" sz="17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ε 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(1 +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000" baseline="-25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)) 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= O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17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21590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D2C00"/>
              </a:buClr>
              <a:buSzPts val="1500"/>
              <a:buFont typeface="Montserrat"/>
              <a:buChar char="•"/>
            </a:pPr>
            <a:r>
              <a:rPr lang="en" sz="17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The height of tree </a:t>
            </a:r>
            <a:r>
              <a:rPr lang="en" sz="20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" sz="1700">
                <a:solidFill>
                  <a:srgbClr val="BD2C00"/>
                </a:solidFill>
                <a:latin typeface="Montserrat"/>
                <a:ea typeface="Montserrat"/>
                <a:cs typeface="Montserrat"/>
                <a:sym typeface="Montserrat"/>
              </a:rPr>
              <a:t>is obtained by calling height(T, r).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647700" y="846475"/>
            <a:ext cx="4048500" cy="24450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775" y="348450"/>
            <a:ext cx="6004099" cy="40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/>
        </p:nvSpPr>
        <p:spPr>
          <a:xfrm>
            <a:off x="619125" y="1140325"/>
            <a:ext cx="7929600" cy="17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50" rIns="0" bIns="0" anchor="t" anchorCtr="0">
            <a:spAutoFit/>
          </a:bodyPr>
          <a:lstStyle/>
          <a:p>
            <a:pPr marL="25400" marR="0" lvl="0" indent="-11430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A tree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ordered if there is a </a:t>
            </a:r>
            <a:r>
              <a:rPr lang="en" sz="18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linear ordering defined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each child of each  node.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00" marR="533400" lvl="0" indent="-114300" algn="l" rtl="0">
              <a:lnSpc>
                <a:spcPct val="100800"/>
              </a:lnSpc>
              <a:spcBef>
                <a:spcPts val="1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A binary tree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an ordered tree in which every node has </a:t>
            </a:r>
            <a:r>
              <a:rPr lang="en" sz="18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at most two  children.</a:t>
            </a:r>
            <a:endParaRPr sz="180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00" marR="127000" lvl="0" indent="-114300" algn="l" rtl="0">
              <a:lnSpc>
                <a:spcPct val="1008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each node of a tree has either </a:t>
            </a:r>
            <a:r>
              <a:rPr lang="en" sz="18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zero or two children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the tree is called a  </a:t>
            </a:r>
            <a:r>
              <a:rPr lang="en" sz="18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proper binary tree.</a:t>
            </a:r>
            <a:endParaRPr sz="180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7350" y="2818740"/>
            <a:ext cx="2057142" cy="1252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>
            <a:spLocks noGrp="1"/>
          </p:cNvSpPr>
          <p:nvPr>
            <p:ph type="title" idx="4294967295"/>
          </p:nvPr>
        </p:nvSpPr>
        <p:spPr>
          <a:xfrm>
            <a:off x="628650" y="584072"/>
            <a:ext cx="291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Ordered Trees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2280362" y="4188333"/>
            <a:ext cx="8025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Tree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5401936" y="4160900"/>
            <a:ext cx="13128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 Binary Tree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5901" y="2772373"/>
            <a:ext cx="2141846" cy="124146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10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11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619125" y="1186825"/>
            <a:ext cx="7582800" cy="23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778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traversal of a tree T is a systematic way of visiting all the nodes of 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65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Traversing a tree involves visiting the root and	traversing its subtrees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65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There are the following traversal methods: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1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Preorder Traversal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1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Postorder Traversal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1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Inorder Traversal (</a:t>
            </a:r>
            <a:r>
              <a:rPr lang="en" sz="1800" i="0" u="none" strike="noStrike" cap="none">
                <a:solidFill>
                  <a:srgbClr val="006600"/>
                </a:solidFill>
                <a:latin typeface="Montserrat"/>
                <a:ea typeface="Montserrat"/>
                <a:cs typeface="Montserrat"/>
                <a:sym typeface="Montserrat"/>
              </a:rPr>
              <a:t>of a binary tree</a:t>
            </a: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6"/>
          <p:cNvSpPr txBox="1">
            <a:spLocks noGrp="1"/>
          </p:cNvSpPr>
          <p:nvPr>
            <p:ph type="title" idx="4294967295"/>
          </p:nvPr>
        </p:nvSpPr>
        <p:spPr>
          <a:xfrm>
            <a:off x="628650" y="584072"/>
            <a:ext cx="40005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Traversal of Trees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12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619125" y="1110625"/>
            <a:ext cx="81132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</a:pP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a preorder traversal, a node is visited before its descendants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</a:pP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a tree is ordered, then the subtrees are traversed according to the order of the children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7"/>
          <p:cNvSpPr txBox="1">
            <a:spLocks noGrp="1"/>
          </p:cNvSpPr>
          <p:nvPr>
            <p:ph type="title" idx="4294967295"/>
          </p:nvPr>
        </p:nvSpPr>
        <p:spPr>
          <a:xfrm>
            <a:off x="628650" y="584072"/>
            <a:ext cx="5257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Preorder Traversal (General Tree)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4" name="Google Shape;164;p27" descr="https://o.remove.bg/downloads/ba5043cb-6a32-4b50-b781-dbcb1de5eacf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8750" y="2400470"/>
            <a:ext cx="5479256" cy="232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13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619125" y="882014"/>
            <a:ext cx="73281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Traversing a binary tree in Preorder 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36600" marR="0" lvl="1" indent="-3873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AutoNum type="arabicPeriod"/>
            </a:pPr>
            <a:r>
              <a:rPr lang="en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Visit the root. </a:t>
            </a:r>
            <a:endParaRPr sz="2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36600" marR="0" lvl="1" indent="-3873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AutoNum type="arabicPeriod"/>
            </a:pPr>
            <a:r>
              <a:rPr lang="en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Traverse the left subtree in Preorder. </a:t>
            </a:r>
            <a:endParaRPr sz="2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36600" marR="0" lvl="1" indent="-3873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AutoNum type="arabicPeriod"/>
            </a:pPr>
            <a:r>
              <a:rPr lang="en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Traverse the right subtree in Preorder.</a:t>
            </a:r>
            <a:endParaRPr sz="2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8"/>
          <p:cNvSpPr txBox="1">
            <a:spLocks noGrp="1"/>
          </p:cNvSpPr>
          <p:nvPr>
            <p:ph type="title" idx="4294967295"/>
          </p:nvPr>
        </p:nvSpPr>
        <p:spPr>
          <a:xfrm>
            <a:off x="628650" y="507872"/>
            <a:ext cx="5257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Preorder Traversal (Binary Tree)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72" name="Google Shape;172;p28" descr="https://o.remove.bg/downloads/6124f6ac-d2db-457c-bfd2-a192bd6c4732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900" y="2368045"/>
            <a:ext cx="5222081" cy="232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14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619125" y="1110614"/>
            <a:ext cx="7328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</a:pP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a postorder traversal, a node is visited after its descendants 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9"/>
          <p:cNvSpPr txBox="1">
            <a:spLocks noGrp="1"/>
          </p:cNvSpPr>
          <p:nvPr>
            <p:ph type="title" idx="4294967295"/>
          </p:nvPr>
        </p:nvSpPr>
        <p:spPr>
          <a:xfrm>
            <a:off x="628650" y="584072"/>
            <a:ext cx="5257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Postorder Traversal (General Tree)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80" name="Google Shape;180;p29" descr="https://o.remove.bg/downloads/c1f37c3f-fcf7-46cf-92ce-80c571b21848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7300" y="1943100"/>
            <a:ext cx="5579269" cy="2278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15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619125" y="958214"/>
            <a:ext cx="73281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Traversing a binary tree in Postorder 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36600" marR="0" lvl="1" indent="-3873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AutoNum type="arabicPeriod"/>
            </a:pPr>
            <a:r>
              <a:rPr lang="en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Traverse the left subtree in Preorder. </a:t>
            </a:r>
            <a:endParaRPr sz="2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36600" marR="0" lvl="1" indent="-3873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AutoNum type="arabicPeriod"/>
            </a:pPr>
            <a:r>
              <a:rPr lang="en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Traverse the right subtree in Preorder. </a:t>
            </a:r>
            <a:endParaRPr sz="2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36600" marR="0" lvl="1" indent="-3873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AutoNum type="arabicPeriod"/>
            </a:pPr>
            <a:r>
              <a:rPr lang="en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Visit the root. </a:t>
            </a:r>
            <a:endParaRPr sz="2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30"/>
          <p:cNvSpPr txBox="1">
            <a:spLocks noGrp="1"/>
          </p:cNvSpPr>
          <p:nvPr>
            <p:ph type="title" idx="4294967295"/>
          </p:nvPr>
        </p:nvSpPr>
        <p:spPr>
          <a:xfrm>
            <a:off x="628650" y="584072"/>
            <a:ext cx="5257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Postorder Traversal (Binary Tree)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88" name="Google Shape;188;p30" descr="https://o.remove.bg/downloads/4ef730e4-0bcf-4a0c-8967-cdba9a0dadb2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7813" y="2400196"/>
            <a:ext cx="5450681" cy="2235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16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542925" y="1110625"/>
            <a:ext cx="852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</a:pP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a postorder traversal, a node is visited between its descendants 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31"/>
          <p:cNvSpPr txBox="1">
            <a:spLocks noGrp="1"/>
          </p:cNvSpPr>
          <p:nvPr>
            <p:ph type="title" idx="4294967295"/>
          </p:nvPr>
        </p:nvSpPr>
        <p:spPr>
          <a:xfrm>
            <a:off x="628650" y="584072"/>
            <a:ext cx="5257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Inorder Traversal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6" name="Google Shape;196;p31" descr="https://o.remove.bg/downloads/a2076967-3706-4e61-a226-4e610df72707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4550" y="1773205"/>
            <a:ext cx="3500438" cy="2478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17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619125" y="805814"/>
            <a:ext cx="7328100" cy="13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Traversing a binary tree in inorder 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36600" marR="0" lvl="1" indent="-3810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AutoNum type="arabicPeriod"/>
            </a:pPr>
            <a:r>
              <a:rPr lang="en" sz="2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Traverse the left subtree in inorder. </a:t>
            </a:r>
            <a:endParaRPr sz="2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36600" marR="0" lvl="1" indent="-3810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AutoNum type="arabicPeriod"/>
            </a:pPr>
            <a:r>
              <a:rPr lang="en" sz="2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Visit the root. </a:t>
            </a:r>
            <a:endParaRPr sz="2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36600" marR="0" lvl="1" indent="-3810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AutoNum type="arabicPeriod"/>
            </a:pPr>
            <a:r>
              <a:rPr lang="en" sz="2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Traverse the right subtree in inorder. </a:t>
            </a:r>
            <a:endParaRPr sz="2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32"/>
          <p:cNvSpPr txBox="1">
            <a:spLocks noGrp="1"/>
          </p:cNvSpPr>
          <p:nvPr>
            <p:ph type="title" idx="4294967295"/>
          </p:nvPr>
        </p:nvSpPr>
        <p:spPr>
          <a:xfrm>
            <a:off x="628650" y="431672"/>
            <a:ext cx="5257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Inorder Traversal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4" name="Google Shape;204;p32" descr="https://o.remove.bg/downloads/86206897-4532-4687-9956-a2ce0e8f40d7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1650" y="2493168"/>
            <a:ext cx="4286250" cy="19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18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210" name="Google Shape;210;p33"/>
          <p:cNvSpPr txBox="1">
            <a:spLocks noGrp="1"/>
          </p:cNvSpPr>
          <p:nvPr>
            <p:ph type="title" idx="4294967295"/>
          </p:nvPr>
        </p:nvSpPr>
        <p:spPr>
          <a:xfrm>
            <a:off x="628650" y="342900"/>
            <a:ext cx="7371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825" rIns="0" bIns="0" anchor="t" anchorCtr="0">
            <a:spAutoFit/>
          </a:bodyPr>
          <a:lstStyle/>
          <a:p>
            <a:pPr marL="215900" marR="0" lvl="0" indent="-203200" algn="l" rtl="0">
              <a:lnSpc>
                <a:spcPct val="118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Preorder, Inorder, Postorder Traversals: Example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1" name="Google Shape;211;p33" descr="https://o.remove.bg/downloads/3e542224-33b7-4db3-9713-ce6f85c9e1f5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5475" y="742652"/>
            <a:ext cx="2778077" cy="21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3" descr="https://o.remove.bg/downloads/b82df78e-3275-45b6-9daf-7d261c422c87/image-removebg-previe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150" y="3239214"/>
            <a:ext cx="522350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19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 txBox="1"/>
          <p:nvPr/>
        </p:nvSpPr>
        <p:spPr>
          <a:xfrm>
            <a:off x="687704" y="1287399"/>
            <a:ext cx="80565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Preorder:	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 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 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 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endParaRPr sz="21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Inorder:		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endParaRPr sz="21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5"/>
          <p:cNvSpPr txBox="1">
            <a:spLocks noGrp="1"/>
          </p:cNvSpPr>
          <p:nvPr>
            <p:ph type="title" idx="4294967295"/>
          </p:nvPr>
        </p:nvSpPr>
        <p:spPr>
          <a:xfrm>
            <a:off x="628650" y="584072"/>
            <a:ext cx="816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Construct a Binary Tree from </a:t>
            </a:r>
            <a:r>
              <a:rPr lang="en" sz="2400" b="1" i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Preorder &amp; Inorder</a:t>
            </a:r>
            <a:endParaRPr sz="2400" b="1" i="1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8" name="Google Shape;228;p35" descr="https://o.remove.bg/downloads/fda3318f-45ba-4b95-8e0f-92dabd5e0953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4550" y="2514600"/>
            <a:ext cx="3741857" cy="20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20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234" name="Google Shape;234;p36"/>
          <p:cNvSpPr txBox="1"/>
          <p:nvPr/>
        </p:nvSpPr>
        <p:spPr>
          <a:xfrm>
            <a:off x="687704" y="1287399"/>
            <a:ext cx="81105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Postoder:	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sz="21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Inorder:		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	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" sz="2100" b="1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" sz="2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endParaRPr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36"/>
          <p:cNvSpPr txBox="1">
            <a:spLocks noGrp="1"/>
          </p:cNvSpPr>
          <p:nvPr>
            <p:ph type="title" idx="4294967295"/>
          </p:nvPr>
        </p:nvSpPr>
        <p:spPr>
          <a:xfrm>
            <a:off x="628650" y="584072"/>
            <a:ext cx="84297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Cambria"/>
                <a:ea typeface="Cambria"/>
                <a:cs typeface="Cambria"/>
                <a:sym typeface="Cambria"/>
              </a:rPr>
              <a:t>Construct a Binary Tree from </a:t>
            </a:r>
            <a:r>
              <a:rPr lang="en" sz="2400" b="1" i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Postorder &amp; Inorder</a:t>
            </a:r>
            <a:endParaRPr sz="2400" b="1" i="1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36" name="Google Shape;236;p36" descr="https://o.remove.bg/downloads/9daddef5-5423-4ec4-a76f-570078b250e3/image-removebg-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498" y="2571750"/>
            <a:ext cx="3193045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>
            <a:spLocks noGrp="1"/>
          </p:cNvSpPr>
          <p:nvPr>
            <p:ph type="title" idx="4294967295"/>
          </p:nvPr>
        </p:nvSpPr>
        <p:spPr>
          <a:xfrm>
            <a:off x="628650" y="541400"/>
            <a:ext cx="56580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Level Order Traversal</a:t>
            </a:r>
            <a:endParaRPr b="1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p38"/>
          <p:cNvSpPr txBox="1"/>
          <p:nvPr/>
        </p:nvSpPr>
        <p:spPr>
          <a:xfrm>
            <a:off x="619125" y="1064133"/>
            <a:ext cx="77340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50" rIns="0" bIns="0" anchor="t" anchorCtr="0">
            <a:spAutoFit/>
          </a:bodyPr>
          <a:lstStyle/>
          <a:p>
            <a:pPr marL="25400" marR="0" lvl="0" indent="-11430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rgbClr val="3F448B"/>
              </a:buClr>
              <a:buSzPts val="1800"/>
              <a:buFont typeface="Montserrat"/>
              <a:buChar char="•"/>
            </a:pPr>
            <a:r>
              <a:rPr lang="en" sz="1800">
                <a:solidFill>
                  <a:srgbClr val="3F448B"/>
                </a:solidFill>
                <a:latin typeface="Montserrat"/>
                <a:ea typeface="Montserrat"/>
                <a:cs typeface="Montserrat"/>
                <a:sym typeface="Montserrat"/>
              </a:rPr>
              <a:t>In a level order traversal, every node on a level is	visited before going to a  lower level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1" name="Google Shape;25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0022" y="2055848"/>
            <a:ext cx="4983956" cy="215723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8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21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 txBox="1">
            <a:spLocks noGrp="1"/>
          </p:cNvSpPr>
          <p:nvPr>
            <p:ph type="title" idx="4294967295"/>
          </p:nvPr>
        </p:nvSpPr>
        <p:spPr>
          <a:xfrm>
            <a:off x="687704" y="518541"/>
            <a:ext cx="71421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Linked Structure for Binary Trees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8" name="Google Shape;298;p44"/>
          <p:cNvSpPr txBox="1"/>
          <p:nvPr/>
        </p:nvSpPr>
        <p:spPr>
          <a:xfrm>
            <a:off x="619125" y="1190025"/>
            <a:ext cx="61413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725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</a:pP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node is represented by an object storing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79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Element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79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Parent node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79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Left child node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8000" marR="0" lvl="1" indent="-1079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</a:pPr>
            <a:r>
              <a:rPr lang="en"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Right child node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3183" y="1885950"/>
            <a:ext cx="3155073" cy="2436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00300" y="2997499"/>
            <a:ext cx="2272751" cy="141415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4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22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23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307" name="Google Shape;307;p45"/>
          <p:cNvSpPr txBox="1">
            <a:spLocks noGrp="1"/>
          </p:cNvSpPr>
          <p:nvPr>
            <p:ph type="title" idx="4294967295"/>
          </p:nvPr>
        </p:nvSpPr>
        <p:spPr>
          <a:xfrm>
            <a:off x="687704" y="518541"/>
            <a:ext cx="65133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Codes for Creation of Binary Trees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8" name="Google Shape;308;p45"/>
          <p:cNvSpPr txBox="1"/>
          <p:nvPr/>
        </p:nvSpPr>
        <p:spPr>
          <a:xfrm>
            <a:off x="619125" y="1368925"/>
            <a:ext cx="8090100" cy="31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34671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binary tree can be created recursively.  The program will work as follow: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" marR="3467100" lvl="0" indent="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175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o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Read a data in </a:t>
            </a:r>
            <a:r>
              <a:rPr lang="en" sz="18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17500" marR="0" lvl="0" indent="-2540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o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Allocate memory for a new node and store the address in	pointer </a:t>
            </a:r>
            <a:r>
              <a:rPr lang="en" sz="18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17500" marR="0" lvl="0" indent="-2540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o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Store the </a:t>
            </a:r>
            <a:r>
              <a:rPr lang="en" sz="18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data x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the </a:t>
            </a:r>
            <a:r>
              <a:rPr lang="en" sz="18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node p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17500" marR="0" lvl="0" indent="-2540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o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Recursively create the left subtree of </a:t>
            </a:r>
            <a:r>
              <a:rPr lang="en" sz="18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make it the left	child of </a:t>
            </a:r>
            <a:r>
              <a:rPr lang="en" sz="18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17500" marR="0" lvl="0" indent="-2540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o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Recursively create the right subtree of </a:t>
            </a:r>
            <a:r>
              <a:rPr lang="en" sz="18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make it the right	child of</a:t>
            </a:r>
            <a:r>
              <a:rPr lang="en" sz="180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p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24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314" name="Google Shape;314;p46"/>
          <p:cNvSpPr txBox="1">
            <a:spLocks noGrp="1"/>
          </p:cNvSpPr>
          <p:nvPr>
            <p:ph type="title" idx="4294967295"/>
          </p:nvPr>
        </p:nvSpPr>
        <p:spPr>
          <a:xfrm>
            <a:off x="687704" y="518541"/>
            <a:ext cx="66849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Codes for Creation of Binary Trees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5" name="Google Shape;315;p46"/>
          <p:cNvSpPr txBox="1"/>
          <p:nvPr/>
        </p:nvSpPr>
        <p:spPr>
          <a:xfrm>
            <a:off x="619125" y="1343024"/>
            <a:ext cx="6867600" cy="19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1168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#include&lt;stdio.h&gt;  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1168400" lvl="0" indent="0" algn="l" rtl="0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TreeNode {</a:t>
            </a:r>
            <a:endParaRPr sz="1100"/>
          </a:p>
          <a:p>
            <a:pPr marL="698500" marR="0" lvl="0" indent="0" algn="l" rtl="0">
              <a:lnSpc>
                <a:spcPct val="121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TreeNode *left;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98500" marR="0" lvl="0" indent="0" algn="l" rtl="0">
              <a:lnSpc>
                <a:spcPct val="121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data; 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98500" marR="0" lvl="0" indent="0" algn="l" rtl="0">
              <a:lnSpc>
                <a:spcPct val="121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TreeNode *right;</a:t>
            </a:r>
            <a:endParaRPr sz="1100"/>
          </a:p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TreeNode;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>
            <a:spLocks noGrp="1"/>
          </p:cNvSpPr>
          <p:nvPr>
            <p:ph type="title" idx="4294967295"/>
          </p:nvPr>
        </p:nvSpPr>
        <p:spPr>
          <a:xfrm>
            <a:off x="687704" y="137541"/>
            <a:ext cx="68562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Codes for Creation of Binary Trees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1" name="Google Shape;321;p47"/>
          <p:cNvSpPr txBox="1"/>
          <p:nvPr/>
        </p:nvSpPr>
        <p:spPr>
          <a:xfrm>
            <a:off x="628650" y="666750"/>
            <a:ext cx="7715700" cy="3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75" rIns="0" bIns="0" anchor="t" anchorCtr="0">
            <a:spAutoFit/>
          </a:bodyPr>
          <a:lstStyle/>
          <a:p>
            <a:pPr marL="685800" marR="1435100" lvl="0" indent="-673100" algn="l" rtl="0">
              <a:lnSpc>
                <a:spcPct val="10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TreeNode * </a:t>
            </a:r>
            <a:r>
              <a:rPr lang="en" sz="12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createBinaryTree</a:t>
            </a: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 ){  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1435100" lvl="0" indent="-673100" algn="l" rtl="0">
              <a:lnSpc>
                <a:spcPct val="10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TreeNode *p;</a:t>
            </a:r>
            <a:endParaRPr sz="1100" b="1"/>
          </a:p>
          <a:p>
            <a:pPr marL="6858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x;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431800" lvl="0" indent="0" algn="l" rtl="0">
              <a:lnSpc>
                <a:spcPct val="1513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printf("Enter data(-1 for no data): "); 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431800" lvl="0" indent="0" algn="l" rtl="0">
              <a:lnSpc>
                <a:spcPct val="1513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scanf("%d", &amp;x);</a:t>
            </a:r>
            <a:endParaRPr sz="1100" b="1"/>
          </a:p>
          <a:p>
            <a:pPr marL="6858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if(x == -1) return NULL;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//create current node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0" lvl="0" indent="0" algn="l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 = (TreeNode*) malloc(sizeof(TreeNode)); </a:t>
            </a:r>
            <a:endParaRPr sz="1200" b="1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0" lvl="0" indent="0" algn="l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p-&gt;data = x;</a:t>
            </a:r>
            <a:endParaRPr sz="1200" b="1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0" lvl="0" indent="0" algn="l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//recursively create left and right subtree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381000" lvl="0" indent="0" algn="l" rtl="0">
              <a:lnSpc>
                <a:spcPct val="1509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printf("Enter left child of %d: \n", x); </a:t>
            </a:r>
            <a:endParaRPr sz="1200" b="1">
              <a:solidFill>
                <a:srgbClr val="00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381000" lvl="0" indent="0" algn="l" rtl="0">
              <a:lnSpc>
                <a:spcPct val="1509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p-&gt;left = createBinaryTree ( );  </a:t>
            </a:r>
            <a:endParaRPr sz="1200" b="1">
              <a:solidFill>
                <a:srgbClr val="00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381000" lvl="0" indent="0" algn="l" rtl="0">
              <a:lnSpc>
                <a:spcPct val="1509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printf("Enter right child of %d: \n",x);  </a:t>
            </a:r>
            <a:endParaRPr sz="1200" b="1">
              <a:solidFill>
                <a:srgbClr val="00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381000" lvl="0" indent="0" algn="l" rtl="0">
              <a:lnSpc>
                <a:spcPct val="1509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p-&gt;right = createBinaryTree (); </a:t>
            </a:r>
            <a:endParaRPr sz="1200" b="1">
              <a:solidFill>
                <a:srgbClr val="00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85800" marR="381000" lvl="0" indent="0" algn="l" rtl="0">
              <a:lnSpc>
                <a:spcPct val="1509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return p; }</a:t>
            </a:r>
            <a:endParaRPr sz="1200" b="1">
              <a:solidFill>
                <a:srgbClr val="0066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2" name="Google Shape;322;p47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25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26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328" name="Google Shape;328;p48"/>
          <p:cNvSpPr txBox="1">
            <a:spLocks noGrp="1"/>
          </p:cNvSpPr>
          <p:nvPr>
            <p:ph type="title" idx="4294967295"/>
          </p:nvPr>
        </p:nvSpPr>
        <p:spPr>
          <a:xfrm>
            <a:off x="687704" y="366141"/>
            <a:ext cx="71991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Codes for Creation of Binary Tree Traversal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9" name="Google Shape;329;p48"/>
          <p:cNvSpPr txBox="1"/>
          <p:nvPr/>
        </p:nvSpPr>
        <p:spPr>
          <a:xfrm>
            <a:off x="612127" y="906419"/>
            <a:ext cx="8178900" cy="3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" sz="12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(TreeNode *t) {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if(t != NULL) {</a:t>
            </a:r>
            <a:endParaRPr sz="1100"/>
          </a:p>
          <a:p>
            <a:pPr marL="6985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printf("\n%d", t-&gt;data);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98500" marR="1892300" lvl="0" indent="0" algn="l" rtl="0">
              <a:lnSpc>
                <a:spcPct val="17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preorder(t-&gt;left); </a:t>
            </a:r>
            <a:endParaRPr sz="1200" b="1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98500" marR="1892300" lvl="0" indent="0" algn="l" rtl="0">
              <a:lnSpc>
                <a:spcPct val="17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preorder(t-&gt;right);</a:t>
            </a:r>
            <a:endParaRPr sz="1200" b="1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98500" marR="1892300" lvl="0" indent="0" algn="l" rtl="0">
              <a:lnSpc>
                <a:spcPct val="17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  <a:p>
            <a:pPr marL="127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TreeNode *root; 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root = createBinaryTree ( );</a:t>
            </a:r>
            <a:endParaRPr sz="1200" b="1">
              <a:solidFill>
                <a:srgbClr val="00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printf("\nThe preorder traversal of tree is: \n"); 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preorder(root);  </a:t>
            </a:r>
            <a:endParaRPr sz="1200" b="1">
              <a:solidFill>
                <a:srgbClr val="00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54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>
            <a:spLocks noGrp="1"/>
          </p:cNvSpPr>
          <p:nvPr>
            <p:ph type="title" idx="4294967295"/>
          </p:nvPr>
        </p:nvSpPr>
        <p:spPr>
          <a:xfrm>
            <a:off x="611504" y="442341"/>
            <a:ext cx="67419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/>
                <a:ea typeface="Cambria"/>
                <a:cs typeface="Cambria"/>
                <a:sym typeface="Cambria"/>
              </a:rPr>
              <a:t>Linked Structure for General Trees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5" name="Google Shape;335;p49"/>
          <p:cNvSpPr txBox="1"/>
          <p:nvPr/>
        </p:nvSpPr>
        <p:spPr>
          <a:xfrm>
            <a:off x="619125" y="1391025"/>
            <a:ext cx="4342200" cy="12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448B"/>
              </a:buClr>
              <a:buSzPts val="1500"/>
              <a:buFont typeface="Montserrat"/>
              <a:buChar char="•"/>
            </a:pPr>
            <a:r>
              <a:rPr lang="en" sz="1500">
                <a:solidFill>
                  <a:srgbClr val="3F448B"/>
                </a:solidFill>
                <a:latin typeface="Montserrat"/>
                <a:ea typeface="Montserrat"/>
                <a:cs typeface="Montserrat"/>
                <a:sym typeface="Montserrat"/>
              </a:rPr>
              <a:t>A node is represented by an object storing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65100" marR="0" lvl="1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448B"/>
              </a:buClr>
              <a:buSzPts val="900"/>
              <a:buFont typeface="Montserrat"/>
              <a:buChar char="■"/>
            </a:pPr>
            <a:r>
              <a:rPr lang="en" sz="1500" i="0" u="none" strike="noStrike" cap="none">
                <a:solidFill>
                  <a:srgbClr val="3F448B"/>
                </a:solidFill>
                <a:latin typeface="Montserrat"/>
                <a:ea typeface="Montserrat"/>
                <a:cs typeface="Montserrat"/>
                <a:sym typeface="Montserrat"/>
              </a:rPr>
              <a:t>Element</a:t>
            </a:r>
            <a:endParaRPr sz="15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65100" marR="0" lvl="1" indent="-107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448B"/>
              </a:buClr>
              <a:buSzPts val="900"/>
              <a:buFont typeface="Montserrat"/>
              <a:buChar char="■"/>
            </a:pPr>
            <a:r>
              <a:rPr lang="en" sz="1500" i="0" u="none" strike="noStrike" cap="none">
                <a:solidFill>
                  <a:srgbClr val="3F448B"/>
                </a:solidFill>
                <a:latin typeface="Montserrat"/>
                <a:ea typeface="Montserrat"/>
                <a:cs typeface="Montserrat"/>
                <a:sym typeface="Montserrat"/>
              </a:rPr>
              <a:t>Parent node</a:t>
            </a:r>
            <a:endParaRPr sz="15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65100" marR="0" lvl="1" indent="-1079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F448B"/>
              </a:buClr>
              <a:buSzPts val="900"/>
              <a:buFont typeface="Montserrat"/>
              <a:buChar char="■"/>
            </a:pPr>
            <a:r>
              <a:rPr lang="en" sz="1500" i="0" u="none" strike="noStrike" cap="none">
                <a:solidFill>
                  <a:srgbClr val="3F448B"/>
                </a:solidFill>
                <a:latin typeface="Montserrat"/>
                <a:ea typeface="Montserrat"/>
                <a:cs typeface="Montserrat"/>
                <a:sym typeface="Montserrat"/>
              </a:rPr>
              <a:t>Children Container:	Sequence of	children nodes</a:t>
            </a:r>
            <a:endParaRPr sz="15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6" name="Google Shape;33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6350" y="1293426"/>
            <a:ext cx="3495004" cy="33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9192" y="2970626"/>
            <a:ext cx="1706876" cy="137802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9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27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50"/>
          <p:cNvSpPr txBox="1">
            <a:spLocks noGrp="1"/>
          </p:cNvSpPr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51"/>
          <p:cNvSpPr txBox="1">
            <a:spLocks noGrp="1"/>
          </p:cNvSpPr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1324</Words>
  <Application>Microsoft Office PowerPoint</Application>
  <PresentationFormat>On-screen Show (16:9)</PresentationFormat>
  <Paragraphs>190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Consolas</vt:lpstr>
      <vt:lpstr>Cambria</vt:lpstr>
      <vt:lpstr>Courier New</vt:lpstr>
      <vt:lpstr>Playfair Display</vt:lpstr>
      <vt:lpstr>Tahoma</vt:lpstr>
      <vt:lpstr>Calibri</vt:lpstr>
      <vt:lpstr>Montserrat</vt:lpstr>
      <vt:lpstr>Arial</vt:lpstr>
      <vt:lpstr>Noto Sans Symbols</vt:lpstr>
      <vt:lpstr>Simple Light</vt:lpstr>
      <vt:lpstr>PowerPoint Presentation</vt:lpstr>
      <vt:lpstr>Trees &amp; Tree Traversal</vt:lpstr>
      <vt:lpstr>What is a Tree?</vt:lpstr>
      <vt:lpstr>What is a Tree?</vt:lpstr>
      <vt:lpstr>Tree Terminology</vt:lpstr>
      <vt:lpstr>Depth</vt:lpstr>
      <vt:lpstr>Height</vt:lpstr>
      <vt:lpstr>Height</vt:lpstr>
      <vt:lpstr>PowerPoint Presentation</vt:lpstr>
      <vt:lpstr>Ordered Trees</vt:lpstr>
      <vt:lpstr>Traversal of Trees</vt:lpstr>
      <vt:lpstr>Preorder Traversal (General Tree)</vt:lpstr>
      <vt:lpstr>Preorder Traversal (Binary Tree)</vt:lpstr>
      <vt:lpstr>Postorder Traversal (General Tree)</vt:lpstr>
      <vt:lpstr>Postorder Traversal (Binary Tree)</vt:lpstr>
      <vt:lpstr>Inorder Traversal</vt:lpstr>
      <vt:lpstr>Inorder Traversal</vt:lpstr>
      <vt:lpstr>Preorder, Inorder, Postorder Traversals: Example</vt:lpstr>
      <vt:lpstr>Construct a Binary Tree from Preorder &amp; Inorder</vt:lpstr>
      <vt:lpstr>Construct a Binary Tree from Postorder &amp; Inorder</vt:lpstr>
      <vt:lpstr>Level Order Traversal</vt:lpstr>
      <vt:lpstr>Linked Structure for Binary Trees</vt:lpstr>
      <vt:lpstr>Codes for Creation of Binary Trees</vt:lpstr>
      <vt:lpstr>Codes for Creation of Binary Trees</vt:lpstr>
      <vt:lpstr>Codes for Creation of Binary Trees</vt:lpstr>
      <vt:lpstr>Codes for Creation of Binary Tree Traversal</vt:lpstr>
      <vt:lpstr>Linked Structure for General Trees</vt:lpstr>
      <vt:lpstr>Questions?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Asif Abrar</cp:lastModifiedBy>
  <cp:revision>1</cp:revision>
  <dcterms:modified xsi:type="dcterms:W3CDTF">2026-01-11T13:38:58Z</dcterms:modified>
</cp:coreProperties>
</file>