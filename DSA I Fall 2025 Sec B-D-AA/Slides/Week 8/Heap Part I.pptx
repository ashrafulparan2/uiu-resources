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y="6858000" cx="12192000"/>
  <p:notesSz cx="6858000" cy="9144000"/>
  <p:embeddedFontLst>
    <p:embeddedFont>
      <p:font typeface="Tahoma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6" roundtripDataSignature="AMtx7mjxB6QqniWDwU/Cgbx3oOVXUXdg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675BA29-B794-497A-A44D-2C9559FFFA87}">
  <a:tblStyle styleId="{F675BA29-B794-497A-A44D-2C9559FFFA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fill>
          <a:solidFill>
            <a:srgbClr val="D0DEEF"/>
          </a:solidFill>
        </a:fill>
      </a:tcStyle>
    </a:band1H>
    <a:band2H>
      <a:tcTxStyle/>
    </a:band2H>
    <a:band1V>
      <a:tcTxStyle/>
      <a:tcStyle>
        <a:fill>
          <a:solidFill>
            <a:srgbClr val="D0DEEF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Tahoma-bold.fntdata"/><Relationship Id="rId10" Type="http://schemas.openxmlformats.org/officeDocument/2006/relationships/slide" Target="slides/slide5.xml"/><Relationship Id="rId54" Type="http://schemas.openxmlformats.org/officeDocument/2006/relationships/font" Target="fonts/Tahoma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customschemas.google.com/relationships/presentationmetadata" Target="meta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50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0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0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5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5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5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b="1" sz="5400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5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5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5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5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5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9" name="Google Shape;39;p52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52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52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3"/>
          <p:cNvSpPr txBox="1"/>
          <p:nvPr>
            <p:ph idx="1" type="body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53"/>
          <p:cNvSpPr txBox="1"/>
          <p:nvPr>
            <p:ph idx="2" type="body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5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53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9" name="Google Shape;49;p53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53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53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5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5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5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indent="-327660" lvl="1" marL="9144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indent="-311150" lvl="2" marL="1371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indent="-302894" lvl="3" marL="18288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indent="-342900" lvl="4" marL="2286000" marR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5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54"/>
          <p:cNvSpPr txBox="1"/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b="1" sz="400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" name="Google Shape;61;p54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54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54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5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6" name="Google Shape;76;p5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5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8"/>
          <p:cNvSpPr txBox="1"/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5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1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Priority Queue and Heap</a:t>
            </a:r>
            <a:endParaRPr/>
          </a:p>
        </p:txBody>
      </p:sp>
      <p:sp>
        <p:nvSpPr>
          <p:cNvPr id="104" name="Google Shape;10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5" name="Google Shape;105;p1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06" name="Google Shape;106;p1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7" name="Google Shape;107;p1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113" name="Google Shape;113;p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4" name="Google Shape;114;p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15" name="Google Shape;115;p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16" name="Google Shape;116;p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Normal Queue: (Consider the values as age)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23" name="Google Shape;123;p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24" name="Google Shape;124;p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2653258" y="2278505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2653258" y="4775652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9130069" y="2418019"/>
            <a:ext cx="584616" cy="6047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8189831" y="2407985"/>
            <a:ext cx="584616" cy="6047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7396411" y="2395484"/>
            <a:ext cx="584616" cy="6047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6555316" y="2377883"/>
            <a:ext cx="584616" cy="6047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5803692" y="2387917"/>
            <a:ext cx="584616" cy="6047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  <p:sp>
        <p:nvSpPr>
          <p:cNvPr id="133" name="Google Shape;133;p3"/>
          <p:cNvSpPr/>
          <p:nvPr/>
        </p:nvSpPr>
        <p:spPr>
          <a:xfrm>
            <a:off x="5052068" y="2397951"/>
            <a:ext cx="584616" cy="6047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4300444" y="2407985"/>
            <a:ext cx="584616" cy="6047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3548820" y="2418019"/>
            <a:ext cx="584616" cy="6047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2809203" y="2418019"/>
            <a:ext cx="584616" cy="6047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43" name="Google Shape;143;p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44" name="Google Shape;144;p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8889357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153" name="Google Shape;153;p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54" name="Google Shape;154;p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55" name="Google Shape;155;p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8889357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7988461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165" name="Google Shape;165;p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66" name="Google Shape;166;p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67" name="Google Shape;167;p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639292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8729723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177" name="Google Shape;177;p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78" name="Google Shape;178;p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79" name="Google Shape;179;p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" name="Google Shape;180;p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639292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729723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6646945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190" name="Google Shape;190;p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91" name="Google Shape;191;p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92" name="Google Shape;192;p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639292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8729723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100</a:t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6646945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571403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204" name="Google Shape;204;p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205" name="Google Shape;205;p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06" name="Google Shape;206;p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7" name="Google Shape;207;p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639292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8729723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6646945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571403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218" name="Google Shape;218;p1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219" name="Google Shape;219;p1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20" name="Google Shape;220;p1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" name="Google Shape;221;p1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7639292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8729723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225" name="Google Shape;225;p10"/>
          <p:cNvSpPr/>
          <p:nvPr/>
        </p:nvSpPr>
        <p:spPr>
          <a:xfrm>
            <a:off x="6646945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571403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478112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233" name="Google Shape;233;p1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234" name="Google Shape;234;p1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35" name="Google Shape;235;p1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1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639292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8729723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6646945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571403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478112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385394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249" name="Google Shape;249;p1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250" name="Google Shape;250;p1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51" name="Google Shape;251;p1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1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253" name="Google Shape;253;p12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7639292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8729723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256" name="Google Shape;256;p12"/>
          <p:cNvSpPr/>
          <p:nvPr/>
        </p:nvSpPr>
        <p:spPr>
          <a:xfrm>
            <a:off x="6646945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57" name="Google Shape;257;p12"/>
          <p:cNvSpPr/>
          <p:nvPr/>
        </p:nvSpPr>
        <p:spPr>
          <a:xfrm>
            <a:off x="571403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478112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385394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265" name="Google Shape;265;p1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266" name="Google Shape;266;p1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67" name="Google Shape;267;p1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8" name="Google Shape;268;p1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7639292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8729723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6646945" y="315415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571403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478112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3853945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2855868" y="3144428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4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Priority Queue: (Priority given to the seniors)</a:t>
            </a:r>
            <a:endParaRPr/>
          </a:p>
        </p:txBody>
      </p:sp>
      <p:sp>
        <p:nvSpPr>
          <p:cNvPr id="282" name="Google Shape;282;p1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283" name="Google Shape;283;p1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284" name="Google Shape;284;p1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1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Priority Queue</a:t>
            </a:r>
            <a:endParaRPr/>
          </a:p>
        </p:txBody>
      </p:sp>
      <p:sp>
        <p:nvSpPr>
          <p:cNvPr id="286" name="Google Shape;286;p14"/>
          <p:cNvSpPr/>
          <p:nvPr/>
        </p:nvSpPr>
        <p:spPr>
          <a:xfrm>
            <a:off x="2711969" y="3085748"/>
            <a:ext cx="7270231" cy="854439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682220" y="3148056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endParaRPr/>
          </a:p>
        </p:txBody>
      </p:sp>
      <p:sp>
        <p:nvSpPr>
          <p:cNvPr id="288" name="Google Shape;288;p14"/>
          <p:cNvSpPr/>
          <p:nvPr/>
        </p:nvSpPr>
        <p:spPr>
          <a:xfrm>
            <a:off x="7772651" y="3148056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80</a:t>
            </a:r>
            <a:endParaRPr/>
          </a:p>
        </p:txBody>
      </p:sp>
      <p:sp>
        <p:nvSpPr>
          <p:cNvPr id="289" name="Google Shape;289;p14"/>
          <p:cNvSpPr/>
          <p:nvPr/>
        </p:nvSpPr>
        <p:spPr>
          <a:xfrm>
            <a:off x="5689873" y="3148056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290" name="Google Shape;290;p14"/>
          <p:cNvSpPr/>
          <p:nvPr/>
        </p:nvSpPr>
        <p:spPr>
          <a:xfrm>
            <a:off x="4756963" y="313833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91" name="Google Shape;291;p14"/>
          <p:cNvSpPr/>
          <p:nvPr/>
        </p:nvSpPr>
        <p:spPr>
          <a:xfrm>
            <a:off x="3824053" y="313833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92" name="Google Shape;292;p14"/>
          <p:cNvSpPr/>
          <p:nvPr/>
        </p:nvSpPr>
        <p:spPr>
          <a:xfrm>
            <a:off x="2896873" y="313833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93" name="Google Shape;293;p14"/>
          <p:cNvSpPr/>
          <p:nvPr/>
        </p:nvSpPr>
        <p:spPr>
          <a:xfrm>
            <a:off x="8840415" y="3138332"/>
            <a:ext cx="763929" cy="71763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Line-up of Incoming Planes at Airport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VIP Planes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Commercial Planes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Emergency Planes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Operating Systems Priority Queues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Alarm clock app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Messenger app</a:t>
            </a:r>
            <a:endParaRPr/>
          </a:p>
        </p:txBody>
      </p:sp>
      <p:sp>
        <p:nvSpPr>
          <p:cNvPr id="299" name="Google Shape;299;p1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00" name="Google Shape;300;p1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01" name="Google Shape;301;p1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2" name="Google Shape;302;p1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Applications of Priority Queue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BINARY HEAP</a:t>
            </a:r>
            <a:endParaRPr/>
          </a:p>
        </p:txBody>
      </p:sp>
      <p:sp>
        <p:nvSpPr>
          <p:cNvPr id="308" name="Google Shape;308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309" name="Google Shape;309;p1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10" name="Google Shape;310;p1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11" name="Google Shape;311;p1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(binary) heap data structure is an </a:t>
            </a:r>
            <a:r>
              <a:rPr b="1" lang="en-US"/>
              <a:t>array object</a:t>
            </a:r>
            <a:r>
              <a:rPr lang="en-US"/>
              <a:t> that can be viewed as a </a:t>
            </a:r>
            <a:r>
              <a:rPr b="1" lang="en-US"/>
              <a:t>complete binary tree.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Each node of the tree corresponds to an element of the array that stores the value in the node.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tree is completely filled on all levels except possibly the lowest, where it is filled from the left up to a point.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Despite the fact that it is in fact an </a:t>
            </a:r>
            <a:r>
              <a:rPr b="1" lang="en-US"/>
              <a:t>array.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will </a:t>
            </a:r>
            <a:r>
              <a:rPr b="1" lang="en-US"/>
              <a:t>imagine</a:t>
            </a:r>
            <a:r>
              <a:rPr lang="en-US"/>
              <a:t> the entire data structure to be a </a:t>
            </a:r>
            <a:r>
              <a:rPr b="1" lang="en-US"/>
              <a:t>tree.</a:t>
            </a:r>
            <a:r>
              <a:rPr lang="en-US"/>
              <a:t>	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7" name="Google Shape;317;p1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18" name="Google Shape;318;p1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19" name="Google Shape;319;p1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0" name="Google Shape;320;p1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Binary Heaps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How can we visualize this array as a complete binary tree?</a:t>
            </a:r>
            <a:endParaRPr/>
          </a:p>
        </p:txBody>
      </p:sp>
      <p:sp>
        <p:nvSpPr>
          <p:cNvPr id="326" name="Google Shape;326;p1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27" name="Google Shape;327;p1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28" name="Google Shape;328;p1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9" name="Google Shape;329;p1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Binary Heaps</a:t>
            </a:r>
            <a:endParaRPr/>
          </a:p>
        </p:txBody>
      </p:sp>
      <p:pic>
        <p:nvPicPr>
          <p:cNvPr id="330" name="Google Shape;330;p18"/>
          <p:cNvPicPr preferRelativeResize="0"/>
          <p:nvPr/>
        </p:nvPicPr>
        <p:blipFill rotWithShape="1">
          <a:blip r:embed="rId3">
            <a:alphaModFix/>
          </a:blip>
          <a:srcRect b="19057" l="0" r="48171" t="0"/>
          <a:stretch/>
        </p:blipFill>
        <p:spPr>
          <a:xfrm>
            <a:off x="3797749" y="3544481"/>
            <a:ext cx="4596501" cy="27904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1" name="Google Shape;331;p18"/>
          <p:cNvGraphicFramePr/>
          <p:nvPr/>
        </p:nvGraphicFramePr>
        <p:xfrm>
          <a:off x="3431490" y="25718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Some </a:t>
            </a:r>
            <a:r>
              <a:rPr b="1" lang="en-US"/>
              <a:t>basic</a:t>
            </a:r>
            <a:r>
              <a:rPr lang="en-US"/>
              <a:t> variables and functions of a heap: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>
                <a:solidFill>
                  <a:srgbClr val="FF0000"/>
                </a:solidFill>
              </a:rPr>
              <a:t>A.heap-size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>
                <a:solidFill>
                  <a:srgbClr val="FF0000"/>
                </a:solidFill>
              </a:rPr>
              <a:t>A.length</a:t>
            </a:r>
            <a:endParaRPr>
              <a:solidFill>
                <a:srgbClr val="FF00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PARENT(i)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LEFT(i)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RIGHT(i)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observe the array again</a:t>
            </a:r>
            <a:endParaRPr/>
          </a:p>
        </p:txBody>
      </p:sp>
      <p:sp>
        <p:nvSpPr>
          <p:cNvPr id="337" name="Google Shape;337;p1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38" name="Google Shape;338;p1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39" name="Google Shape;339;p1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0" name="Google Shape;340;p1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Binary Heaps</a:t>
            </a:r>
            <a:endParaRPr/>
          </a:p>
        </p:txBody>
      </p:sp>
      <p:graphicFrame>
        <p:nvGraphicFramePr>
          <p:cNvPr id="341" name="Google Shape;341;p19"/>
          <p:cNvGraphicFramePr/>
          <p:nvPr/>
        </p:nvGraphicFramePr>
        <p:xfrm>
          <a:off x="4520834" y="48884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18650"/>
                <a:gridCol w="418650"/>
                <a:gridCol w="418650"/>
                <a:gridCol w="418650"/>
                <a:gridCol w="418650"/>
                <a:gridCol w="418650"/>
                <a:gridCol w="418650"/>
                <a:gridCol w="418650"/>
                <a:gridCol w="418650"/>
                <a:gridCol w="418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Question: Who is the parent of the 7</a:t>
            </a:r>
            <a:r>
              <a:rPr baseline="30000" lang="en-US"/>
              <a:t>th</a:t>
            </a:r>
            <a:r>
              <a:rPr lang="en-US"/>
              <a:t> array element?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Answer: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We can draw the tree and find out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We can use these functions and determine directly</a:t>
            </a:r>
            <a:endParaRPr/>
          </a:p>
        </p:txBody>
      </p:sp>
      <p:sp>
        <p:nvSpPr>
          <p:cNvPr id="347" name="Google Shape;347;p2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48" name="Google Shape;348;p2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49" name="Google Shape;349;p2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0" name="Google Shape;350;p2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Binary Heaps</a:t>
            </a:r>
            <a:endParaRPr/>
          </a:p>
        </p:txBody>
      </p:sp>
      <p:pic>
        <p:nvPicPr>
          <p:cNvPr id="351" name="Google Shape;35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0600" y="1986946"/>
            <a:ext cx="2870462" cy="38818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2" name="Google Shape;352;p20"/>
          <p:cNvGraphicFramePr/>
          <p:nvPr/>
        </p:nvGraphicFramePr>
        <p:xfrm>
          <a:off x="1262406" y="22320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18650"/>
                <a:gridCol w="418650"/>
                <a:gridCol w="418650"/>
                <a:gridCol w="418650"/>
                <a:gridCol w="418650"/>
                <a:gridCol w="418650"/>
                <a:gridCol w="418650"/>
                <a:gridCol w="418650"/>
                <a:gridCol w="418650"/>
                <a:gridCol w="4186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Max-Heaps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Satisfies the heap property: </a:t>
            </a:r>
            <a:r>
              <a:rPr b="1" lang="en-US"/>
              <a:t>A[Parent(i)] &gt;= A[i] </a:t>
            </a:r>
            <a:r>
              <a:rPr lang="en-US"/>
              <a:t>for all nodes i &gt; 1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The value of a node is at most the value of its parent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</a:t>
            </a:r>
            <a:r>
              <a:rPr b="1" lang="en-US"/>
              <a:t>largest element </a:t>
            </a:r>
            <a:r>
              <a:rPr lang="en-US"/>
              <a:t>in a max-heap is stored at the </a:t>
            </a:r>
            <a:r>
              <a:rPr b="1" lang="en-US"/>
              <a:t>root</a:t>
            </a:r>
            <a:r>
              <a:rPr lang="en-US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Where is the </a:t>
            </a:r>
            <a:r>
              <a:rPr b="1" lang="en-US"/>
              <a:t>smallest</a:t>
            </a:r>
            <a:r>
              <a:rPr lang="en-US"/>
              <a:t> </a:t>
            </a:r>
            <a:r>
              <a:rPr b="1" lang="en-US"/>
              <a:t>element</a:t>
            </a:r>
            <a:r>
              <a:rPr lang="en-US"/>
              <a:t> ?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Ans: At one of the </a:t>
            </a:r>
            <a:r>
              <a:rPr b="1" lang="en-US"/>
              <a:t>leaves</a:t>
            </a:r>
            <a:r>
              <a:rPr lang="en-US"/>
              <a:t> [leaf indices are n/2+1 to n]</a:t>
            </a:r>
            <a:endParaRPr/>
          </a:p>
        </p:txBody>
      </p:sp>
      <p:sp>
        <p:nvSpPr>
          <p:cNvPr id="358" name="Google Shape;358;p2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59" name="Google Shape;359;p2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60" name="Google Shape;360;p2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1" name="Google Shape;361;p2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and Min Heap</a:t>
            </a:r>
            <a:endParaRPr/>
          </a:p>
        </p:txBody>
      </p:sp>
      <p:pic>
        <p:nvPicPr>
          <p:cNvPr id="362" name="Google Shape;362;p21"/>
          <p:cNvPicPr preferRelativeResize="0"/>
          <p:nvPr/>
        </p:nvPicPr>
        <p:blipFill rotWithShape="1">
          <a:blip r:embed="rId3">
            <a:alphaModFix/>
          </a:blip>
          <a:srcRect b="0" l="0" r="0" t="6878"/>
          <a:stretch/>
        </p:blipFill>
        <p:spPr>
          <a:xfrm>
            <a:off x="3329940" y="3993515"/>
            <a:ext cx="5844540" cy="24254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Min-Heaps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Satisfies the heap property</a:t>
            </a:r>
            <a:r>
              <a:rPr b="1" lang="en-US"/>
              <a:t>: A[Parent(i)] &lt;= A[i] </a:t>
            </a:r>
            <a:r>
              <a:rPr lang="en-US"/>
              <a:t>for all nodes i &gt; 1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The value of a node is at least the value of its parent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</a:t>
            </a:r>
            <a:r>
              <a:rPr b="1" lang="en-US"/>
              <a:t>smallest element</a:t>
            </a:r>
            <a:r>
              <a:rPr lang="en-US"/>
              <a:t> in a max-heap is stored at the </a:t>
            </a:r>
            <a:r>
              <a:rPr b="1" lang="en-US"/>
              <a:t>root</a:t>
            </a:r>
            <a:r>
              <a:rPr lang="en-US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Where is the </a:t>
            </a:r>
            <a:r>
              <a:rPr b="1" lang="en-US"/>
              <a:t>largest</a:t>
            </a:r>
            <a:r>
              <a:rPr lang="en-US"/>
              <a:t> element ?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●"/>
            </a:pPr>
            <a:r>
              <a:rPr lang="en-US"/>
              <a:t>Ans: At one of the leaves [leaf indices are n/2+1 to n]</a:t>
            </a:r>
            <a:endParaRPr/>
          </a:p>
        </p:txBody>
      </p:sp>
      <p:sp>
        <p:nvSpPr>
          <p:cNvPr id="368" name="Google Shape;368;p2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69" name="Google Shape;369;p2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70" name="Google Shape;370;p2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" name="Google Shape;371;p2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 and Min Heap</a:t>
            </a:r>
            <a:endParaRPr/>
          </a:p>
        </p:txBody>
      </p:sp>
      <p:pic>
        <p:nvPicPr>
          <p:cNvPr id="372" name="Google Shape;3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1840" y="3913299"/>
            <a:ext cx="5101590" cy="2263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000"/>
              <a:t>MAX-HEAPIFY</a:t>
            </a:r>
            <a:r>
              <a:rPr lang="en-US" sz="2000"/>
              <a:t> –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b="1" lang="en-US" sz="1600"/>
              <a:t>O(lg n)</a:t>
            </a:r>
            <a:r>
              <a:rPr lang="en-US" sz="1600"/>
              <a:t> time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b="1" lang="en-US" sz="1600"/>
              <a:t>Tries </a:t>
            </a:r>
            <a:r>
              <a:rPr lang="en-US" sz="1600"/>
              <a:t>to make the array into a heap</a:t>
            </a:r>
            <a:endParaRPr/>
          </a:p>
          <a:p>
            <a:pPr indent="-224662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None/>
            </a:pPr>
            <a:r>
              <a:t/>
            </a:r>
            <a:endParaRPr b="1" sz="1600"/>
          </a:p>
          <a:p>
            <a:pPr indent="-342900" lvl="0" marL="3429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000"/>
              <a:t>BUILD-MAX-HEAP</a:t>
            </a:r>
            <a:r>
              <a:rPr lang="en-US" sz="2000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b="1" lang="en-US" sz="1600"/>
              <a:t>O(n) </a:t>
            </a:r>
            <a:r>
              <a:rPr lang="en-US" sz="1600"/>
              <a:t>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/>
              <a:t>Converts an array into a heap</a:t>
            </a:r>
            <a:endParaRPr/>
          </a:p>
          <a:p>
            <a:pPr indent="-224662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None/>
            </a:pPr>
            <a:r>
              <a:t/>
            </a:r>
            <a:endParaRPr sz="1600"/>
          </a:p>
          <a:p>
            <a:pPr indent="-342900" lvl="0" marL="3429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000"/>
              <a:t>HEAPSORT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/>
              <a:t>O </a:t>
            </a:r>
            <a:r>
              <a:rPr b="1" lang="en-US" sz="1600"/>
              <a:t>(n lg n)</a:t>
            </a:r>
            <a:r>
              <a:rPr lang="en-US" sz="1600"/>
              <a:t>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b="1" lang="en-US" sz="1600"/>
              <a:t>Another sorting algorithm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/>
              <a:t>Makes use of the concept of heap</a:t>
            </a:r>
            <a:endParaRPr/>
          </a:p>
          <a:p>
            <a:pPr indent="-224662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None/>
            </a:pPr>
            <a:r>
              <a:t/>
            </a:r>
            <a:endParaRPr sz="1600"/>
          </a:p>
          <a:p>
            <a:pPr indent="-342900" lvl="0" marL="342900" marR="0" rtl="0" algn="l">
              <a:lnSpc>
                <a:spcPct val="100000"/>
              </a:lnSpc>
              <a:spcBef>
                <a:spcPts val="37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000"/>
              <a:t>Priority Queue functions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b="1" lang="en-US" sz="1600"/>
              <a:t>MAX-HEAP-INSERT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b="1" lang="en-US" sz="1600"/>
              <a:t>HEAP-EXTRACT-MAX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b="1" lang="en-US" sz="1600"/>
              <a:t>HEAP-INCREASE-KEY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b="1" lang="en-US" sz="1600"/>
              <a:t>HEAP-MAXIMUM</a:t>
            </a:r>
            <a:r>
              <a:rPr lang="en-US" sz="1600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296"/>
              </a:spcBef>
              <a:spcAft>
                <a:spcPts val="0"/>
              </a:spcAft>
              <a:buSzPct val="64999"/>
              <a:buChar char="●"/>
            </a:pPr>
            <a:r>
              <a:rPr lang="en-US" sz="1600"/>
              <a:t>run in O(lg n) time</a:t>
            </a:r>
            <a:endParaRPr/>
          </a:p>
        </p:txBody>
      </p:sp>
      <p:sp>
        <p:nvSpPr>
          <p:cNvPr id="378" name="Google Shape;378;p2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79" name="Google Shape;379;p2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80" name="Google Shape;380;p2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p2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Important Functions of Max Heap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4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387" name="Google Shape;387;p2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388" name="Google Shape;388;p2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389" name="Google Shape;389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2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391" name="Google Shape;391;p24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392" name="Google Shape;392;p24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393" name="Google Shape;393;p24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394" name="Google Shape;394;p24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395" name="Google Shape;395;p24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397" name="Google Shape;397;p24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398" name="Google Shape;398;p24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99" name="Google Shape;399;p24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00" name="Google Shape;400;p24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401" name="Google Shape;401;p24"/>
          <p:cNvCxnSpPr>
            <a:stCxn id="391" idx="3"/>
            <a:endCxn id="392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2" name="Google Shape;402;p24"/>
          <p:cNvCxnSpPr>
            <a:stCxn id="398" idx="1"/>
            <a:endCxn id="391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3" name="Google Shape;403;p24"/>
          <p:cNvCxnSpPr>
            <a:stCxn id="400" idx="1"/>
            <a:endCxn id="398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4" name="Google Shape;404;p24"/>
          <p:cNvCxnSpPr>
            <a:stCxn id="399" idx="7"/>
            <a:endCxn id="398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5" name="Google Shape;405;p24"/>
          <p:cNvCxnSpPr>
            <a:stCxn id="392" idx="3"/>
            <a:endCxn id="393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6" name="Google Shape;406;p24"/>
          <p:cNvCxnSpPr>
            <a:stCxn id="392" idx="5"/>
            <a:endCxn id="397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7" name="Google Shape;407;p24"/>
          <p:cNvCxnSpPr>
            <a:stCxn id="393" idx="3"/>
            <a:endCxn id="394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8" name="Google Shape;408;p24"/>
          <p:cNvCxnSpPr>
            <a:stCxn id="393" idx="5"/>
            <a:endCxn id="396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9" name="Google Shape;409;p24"/>
          <p:cNvCxnSpPr>
            <a:stCxn id="397" idx="3"/>
            <a:endCxn id="395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0" name="Google Shape;410;p24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11" name="Google Shape;411;p24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12" name="Google Shape;412;p24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13" name="Google Shape;413;p24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15" name="Google Shape;415;p24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17" name="Google Shape;417;p24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18" name="Google Shape;418;p24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19" name="Google Shape;419;p24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420" name="Google Shape;420;p24"/>
          <p:cNvGraphicFramePr/>
          <p:nvPr/>
        </p:nvGraphicFramePr>
        <p:xfrm>
          <a:off x="7150400" y="316428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5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426" name="Google Shape;426;p2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427" name="Google Shape;427;p2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28" name="Google Shape;428;p2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p2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31" name="Google Shape;431;p25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33" name="Google Shape;433;p25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4" name="Google Shape;434;p25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35" name="Google Shape;435;p25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440" name="Google Shape;440;p25"/>
          <p:cNvCxnSpPr>
            <a:stCxn id="430" idx="3"/>
            <a:endCxn id="431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1" name="Google Shape;441;p25"/>
          <p:cNvCxnSpPr>
            <a:stCxn id="437" idx="1"/>
            <a:endCxn id="430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2" name="Google Shape;442;p25"/>
          <p:cNvCxnSpPr>
            <a:stCxn id="439" idx="1"/>
            <a:endCxn id="437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3" name="Google Shape;443;p25"/>
          <p:cNvCxnSpPr>
            <a:stCxn id="438" idx="7"/>
            <a:endCxn id="437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p25"/>
          <p:cNvCxnSpPr>
            <a:stCxn id="431" idx="3"/>
            <a:endCxn id="432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5" name="Google Shape;445;p25"/>
          <p:cNvCxnSpPr>
            <a:stCxn id="431" idx="5"/>
            <a:endCxn id="436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p25"/>
          <p:cNvCxnSpPr>
            <a:stCxn id="432" idx="3"/>
            <a:endCxn id="433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7" name="Google Shape;447;p25"/>
          <p:cNvCxnSpPr>
            <a:stCxn id="432" idx="5"/>
            <a:endCxn id="435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8" name="Google Shape;448;p25"/>
          <p:cNvCxnSpPr>
            <a:stCxn id="436" idx="3"/>
            <a:endCxn id="434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9" name="Google Shape;449;p25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50" name="Google Shape;450;p25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51" name="Google Shape;451;p25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52" name="Google Shape;452;p25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53" name="Google Shape;453;p25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54" name="Google Shape;454;p25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55" name="Google Shape;455;p25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56" name="Google Shape;456;p25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57" name="Google Shape;457;p25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58" name="Google Shape;458;p25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459" name="Google Shape;459;p25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460" name="Google Shape;460;p25"/>
          <p:cNvSpPr/>
          <p:nvPr/>
        </p:nvSpPr>
        <p:spPr>
          <a:xfrm>
            <a:off x="2480690" y="3369054"/>
            <a:ext cx="687581" cy="68758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5"/>
          <p:cNvSpPr/>
          <p:nvPr/>
        </p:nvSpPr>
        <p:spPr>
          <a:xfrm>
            <a:off x="7529626" y="2220385"/>
            <a:ext cx="496711" cy="49671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467" name="Google Shape;467;p2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468" name="Google Shape;468;p2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469" name="Google Shape;469;p2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0" name="Google Shape;470;p2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471" name="Google Shape;471;p26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472" name="Google Shape;472;p26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73" name="Google Shape;473;p26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474" name="Google Shape;474;p26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75" name="Google Shape;475;p26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76" name="Google Shape;476;p26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478" name="Google Shape;478;p26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79" name="Google Shape;479;p26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80" name="Google Shape;480;p26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481" name="Google Shape;481;p26"/>
          <p:cNvCxnSpPr>
            <a:stCxn id="471" idx="3"/>
            <a:endCxn id="472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2" name="Google Shape;482;p26"/>
          <p:cNvCxnSpPr>
            <a:stCxn id="478" idx="1"/>
            <a:endCxn id="471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3" name="Google Shape;483;p26"/>
          <p:cNvCxnSpPr>
            <a:stCxn id="480" idx="1"/>
            <a:endCxn id="478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4" name="Google Shape;484;p26"/>
          <p:cNvCxnSpPr>
            <a:stCxn id="479" idx="7"/>
            <a:endCxn id="478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5" name="Google Shape;485;p26"/>
          <p:cNvCxnSpPr>
            <a:stCxn id="472" idx="3"/>
            <a:endCxn id="473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6" name="Google Shape;486;p26"/>
          <p:cNvCxnSpPr>
            <a:stCxn id="472" idx="5"/>
            <a:endCxn id="477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7" name="Google Shape;487;p26"/>
          <p:cNvCxnSpPr>
            <a:stCxn id="473" idx="3"/>
            <a:endCxn id="474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8" name="Google Shape;488;p26"/>
          <p:cNvCxnSpPr>
            <a:stCxn id="473" idx="5"/>
            <a:endCxn id="476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89" name="Google Shape;489;p26"/>
          <p:cNvCxnSpPr>
            <a:stCxn id="477" idx="3"/>
            <a:endCxn id="475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0" name="Google Shape;490;p26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491" name="Google Shape;491;p26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92" name="Google Shape;492;p26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493" name="Google Shape;493;p26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494" name="Google Shape;494;p26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495" name="Google Shape;495;p26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496" name="Google Shape;496;p26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497" name="Google Shape;497;p26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498" name="Google Shape;498;p26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499" name="Google Shape;499;p26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500" name="Google Shape;500;p26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01" name="Google Shape;501;p26"/>
          <p:cNvSpPr/>
          <p:nvPr/>
        </p:nvSpPr>
        <p:spPr>
          <a:xfrm>
            <a:off x="2480690" y="3369054"/>
            <a:ext cx="687581" cy="68758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6"/>
          <p:cNvSpPr/>
          <p:nvPr/>
        </p:nvSpPr>
        <p:spPr>
          <a:xfrm>
            <a:off x="7529626" y="2220385"/>
            <a:ext cx="496711" cy="49671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6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509" name="Google Shape;509;p2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510" name="Google Shape;510;p2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11" name="Google Shape;511;p2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2" name="Google Shape;512;p2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14" name="Google Shape;514;p27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15" name="Google Shape;515;p27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516" name="Google Shape;516;p27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20" name="Google Shape;520;p27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21" name="Google Shape;521;p27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22" name="Google Shape;522;p27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523" name="Google Shape;523;p27"/>
          <p:cNvCxnSpPr>
            <a:stCxn id="513" idx="3"/>
            <a:endCxn id="514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4" name="Google Shape;524;p27"/>
          <p:cNvCxnSpPr>
            <a:stCxn id="520" idx="1"/>
            <a:endCxn id="513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5" name="Google Shape;525;p27"/>
          <p:cNvCxnSpPr>
            <a:stCxn id="522" idx="1"/>
            <a:endCxn id="520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6" name="Google Shape;526;p27"/>
          <p:cNvCxnSpPr>
            <a:stCxn id="521" idx="7"/>
            <a:endCxn id="520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7" name="Google Shape;527;p27"/>
          <p:cNvCxnSpPr>
            <a:stCxn id="514" idx="3"/>
            <a:endCxn id="515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8" name="Google Shape;528;p27"/>
          <p:cNvCxnSpPr>
            <a:stCxn id="514" idx="5"/>
            <a:endCxn id="519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9" name="Google Shape;529;p27"/>
          <p:cNvCxnSpPr>
            <a:stCxn id="515" idx="3"/>
            <a:endCxn id="516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0" name="Google Shape;530;p27"/>
          <p:cNvCxnSpPr>
            <a:stCxn id="515" idx="5"/>
            <a:endCxn id="518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1" name="Google Shape;531;p27"/>
          <p:cNvCxnSpPr>
            <a:stCxn id="519" idx="3"/>
            <a:endCxn id="517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2" name="Google Shape;532;p27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33" name="Google Shape;533;p27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34" name="Google Shape;534;p27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35" name="Google Shape;535;p27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36" name="Google Shape;536;p27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37" name="Google Shape;537;p27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38" name="Google Shape;538;p27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39" name="Google Shape;539;p27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40" name="Google Shape;540;p27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41" name="Google Shape;541;p27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542" name="Google Shape;542;p27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43" name="Google Shape;543;p27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544" name="Google Shape;544;p27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8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550" name="Google Shape;550;p2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551" name="Google Shape;551;p2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52" name="Google Shape;552;p2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3" name="Google Shape;553;p2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554" name="Google Shape;554;p28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55" name="Google Shape;555;p28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56" name="Google Shape;556;p28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557" name="Google Shape;557;p28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58" name="Google Shape;558;p28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59" name="Google Shape;559;p28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60" name="Google Shape;560;p28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561" name="Google Shape;561;p28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62" name="Google Shape;562;p28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63" name="Google Shape;563;p28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564" name="Google Shape;564;p28"/>
          <p:cNvCxnSpPr>
            <a:stCxn id="554" idx="3"/>
            <a:endCxn id="555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5" name="Google Shape;565;p28"/>
          <p:cNvCxnSpPr>
            <a:stCxn id="561" idx="1"/>
            <a:endCxn id="554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6" name="Google Shape;566;p28"/>
          <p:cNvCxnSpPr>
            <a:stCxn id="563" idx="1"/>
            <a:endCxn id="561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7" name="Google Shape;567;p28"/>
          <p:cNvCxnSpPr>
            <a:stCxn id="562" idx="7"/>
            <a:endCxn id="561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8" name="Google Shape;568;p28"/>
          <p:cNvCxnSpPr>
            <a:stCxn id="555" idx="3"/>
            <a:endCxn id="556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69" name="Google Shape;569;p28"/>
          <p:cNvCxnSpPr>
            <a:stCxn id="555" idx="5"/>
            <a:endCxn id="560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0" name="Google Shape;570;p28"/>
          <p:cNvCxnSpPr>
            <a:stCxn id="556" idx="3"/>
            <a:endCxn id="557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1" name="Google Shape;571;p28"/>
          <p:cNvCxnSpPr>
            <a:stCxn id="556" idx="5"/>
            <a:endCxn id="559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2" name="Google Shape;572;p28"/>
          <p:cNvCxnSpPr>
            <a:stCxn id="560" idx="3"/>
            <a:endCxn id="558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73" name="Google Shape;573;p28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574" name="Google Shape;574;p28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75" name="Google Shape;575;p28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576" name="Google Shape;576;p28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77" name="Google Shape;577;p28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578" name="Google Shape;578;p28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579" name="Google Shape;579;p28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580" name="Google Shape;580;p28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581" name="Google Shape;581;p28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582" name="Google Shape;582;p28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583" name="Google Shape;583;p28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584" name="Google Shape;584;p28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585" name="Google Shape;585;p28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  <p:sp>
        <p:nvSpPr>
          <p:cNvPr id="586" name="Google Shape;586;p28"/>
          <p:cNvSpPr/>
          <p:nvPr/>
        </p:nvSpPr>
        <p:spPr>
          <a:xfrm>
            <a:off x="678811" y="4283953"/>
            <a:ext cx="808425" cy="3754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29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592" name="Google Shape;592;p2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593" name="Google Shape;593;p2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594" name="Google Shape;594;p2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5" name="Google Shape;595;p2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596" name="Google Shape;596;p29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597" name="Google Shape;597;p29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598" name="Google Shape;598;p29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599" name="Google Shape;599;p29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00" name="Google Shape;600;p29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01" name="Google Shape;601;p29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02" name="Google Shape;602;p29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03" name="Google Shape;603;p29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04" name="Google Shape;604;p29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05" name="Google Shape;605;p29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606" name="Google Shape;606;p29"/>
          <p:cNvCxnSpPr>
            <a:stCxn id="596" idx="3"/>
            <a:endCxn id="597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7" name="Google Shape;607;p29"/>
          <p:cNvCxnSpPr>
            <a:stCxn id="603" idx="1"/>
            <a:endCxn id="596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8" name="Google Shape;608;p29"/>
          <p:cNvCxnSpPr>
            <a:stCxn id="605" idx="1"/>
            <a:endCxn id="603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09" name="Google Shape;609;p29"/>
          <p:cNvCxnSpPr>
            <a:stCxn id="604" idx="7"/>
            <a:endCxn id="603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0" name="Google Shape;610;p29"/>
          <p:cNvCxnSpPr>
            <a:stCxn id="597" idx="3"/>
            <a:endCxn id="598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1" name="Google Shape;611;p29"/>
          <p:cNvCxnSpPr>
            <a:stCxn id="597" idx="5"/>
            <a:endCxn id="602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2" name="Google Shape;612;p29"/>
          <p:cNvCxnSpPr>
            <a:stCxn id="598" idx="3"/>
            <a:endCxn id="599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3" name="Google Shape;613;p29"/>
          <p:cNvCxnSpPr>
            <a:stCxn id="598" idx="5"/>
            <a:endCxn id="601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14" name="Google Shape;614;p29"/>
          <p:cNvCxnSpPr>
            <a:stCxn id="602" idx="3"/>
            <a:endCxn id="600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15" name="Google Shape;615;p29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16" name="Google Shape;616;p29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17" name="Google Shape;617;p29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18" name="Google Shape;618;p29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19" name="Google Shape;619;p29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20" name="Google Shape;620;p29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21" name="Google Shape;621;p29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22" name="Google Shape;622;p29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23" name="Google Shape;623;p29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24" name="Google Shape;624;p29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625" name="Google Shape;625;p29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26" name="Google Shape;626;p29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627" name="Google Shape;627;p29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  <p:sp>
        <p:nvSpPr>
          <p:cNvPr id="628" name="Google Shape;628;p29"/>
          <p:cNvSpPr/>
          <p:nvPr/>
        </p:nvSpPr>
        <p:spPr>
          <a:xfrm>
            <a:off x="678811" y="4283953"/>
            <a:ext cx="808425" cy="3754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  <p:cxnSp>
        <p:nvCxnSpPr>
          <p:cNvPr id="629" name="Google Shape;629;p29"/>
          <p:cNvCxnSpPr>
            <a:stCxn id="598" idx="0"/>
            <a:endCxn id="597" idx="2"/>
          </p:cNvCxnSpPr>
          <p:nvPr/>
        </p:nvCxnSpPr>
        <p:spPr>
          <a:xfrm rot="-5400000">
            <a:off x="1953248" y="3646523"/>
            <a:ext cx="530100" cy="6537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30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635" name="Google Shape;635;p3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636" name="Google Shape;636;p3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37" name="Google Shape;637;p3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8" name="Google Shape;638;p3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639" name="Google Shape;639;p30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640" name="Google Shape;640;p30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41" name="Google Shape;641;p30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642" name="Google Shape;642;p30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43" name="Google Shape;643;p30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44" name="Google Shape;644;p30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45" name="Google Shape;645;p30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46" name="Google Shape;646;p30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47" name="Google Shape;647;p30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48" name="Google Shape;648;p30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649" name="Google Shape;649;p30"/>
          <p:cNvCxnSpPr>
            <a:stCxn id="639" idx="3"/>
            <a:endCxn id="640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0" name="Google Shape;650;p30"/>
          <p:cNvCxnSpPr>
            <a:stCxn id="646" idx="1"/>
            <a:endCxn id="639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1" name="Google Shape;651;p30"/>
          <p:cNvCxnSpPr>
            <a:stCxn id="648" idx="1"/>
            <a:endCxn id="646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2" name="Google Shape;652;p30"/>
          <p:cNvCxnSpPr>
            <a:stCxn id="647" idx="7"/>
            <a:endCxn id="646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3" name="Google Shape;653;p30"/>
          <p:cNvCxnSpPr>
            <a:stCxn id="640" idx="3"/>
            <a:endCxn id="641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4" name="Google Shape;654;p30"/>
          <p:cNvCxnSpPr>
            <a:stCxn id="640" idx="5"/>
            <a:endCxn id="645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5" name="Google Shape;655;p30"/>
          <p:cNvCxnSpPr>
            <a:stCxn id="641" idx="3"/>
            <a:endCxn id="642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6" name="Google Shape;656;p30"/>
          <p:cNvCxnSpPr>
            <a:stCxn id="641" idx="5"/>
            <a:endCxn id="644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57" name="Google Shape;657;p30"/>
          <p:cNvCxnSpPr>
            <a:stCxn id="645" idx="3"/>
            <a:endCxn id="643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8" name="Google Shape;658;p30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59" name="Google Shape;659;p30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60" name="Google Shape;660;p30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661" name="Google Shape;661;p30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62" name="Google Shape;662;p30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63" name="Google Shape;663;p30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64" name="Google Shape;664;p30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65" name="Google Shape;665;p30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666" name="Google Shape;666;p30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667" name="Google Shape;667;p30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668" name="Google Shape;668;p30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69" name="Google Shape;669;p30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670" name="Google Shape;670;p30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  <p:cxnSp>
        <p:nvCxnSpPr>
          <p:cNvPr id="671" name="Google Shape;671;p30"/>
          <p:cNvCxnSpPr>
            <a:stCxn id="641" idx="0"/>
            <a:endCxn id="640" idx="2"/>
          </p:cNvCxnSpPr>
          <p:nvPr/>
        </p:nvCxnSpPr>
        <p:spPr>
          <a:xfrm rot="-5400000">
            <a:off x="1953248" y="3646523"/>
            <a:ext cx="530100" cy="653700"/>
          </a:xfrm>
          <a:prstGeom prst="curvedConnector2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1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677" name="Google Shape;677;p3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678" name="Google Shape;678;p3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679" name="Google Shape;679;p3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0" name="Google Shape;680;p3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681" name="Google Shape;681;p31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682" name="Google Shape;682;p31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683" name="Google Shape;683;p31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684" name="Google Shape;684;p31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685" name="Google Shape;685;p31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686" name="Google Shape;686;p31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687" name="Google Shape;687;p31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688" name="Google Shape;688;p31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689" name="Google Shape;689;p31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690" name="Google Shape;690;p31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691" name="Google Shape;691;p31"/>
          <p:cNvCxnSpPr>
            <a:stCxn id="681" idx="3"/>
            <a:endCxn id="682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2" name="Google Shape;692;p31"/>
          <p:cNvCxnSpPr>
            <a:stCxn id="688" idx="1"/>
            <a:endCxn id="681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3" name="Google Shape;693;p31"/>
          <p:cNvCxnSpPr>
            <a:stCxn id="690" idx="1"/>
            <a:endCxn id="688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4" name="Google Shape;694;p31"/>
          <p:cNvCxnSpPr>
            <a:stCxn id="689" idx="7"/>
            <a:endCxn id="688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5" name="Google Shape;695;p31"/>
          <p:cNvCxnSpPr>
            <a:stCxn id="682" idx="3"/>
            <a:endCxn id="683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6" name="Google Shape;696;p31"/>
          <p:cNvCxnSpPr>
            <a:stCxn id="682" idx="5"/>
            <a:endCxn id="687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7" name="Google Shape;697;p31"/>
          <p:cNvCxnSpPr>
            <a:stCxn id="683" idx="3"/>
            <a:endCxn id="684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8" name="Google Shape;698;p31"/>
          <p:cNvCxnSpPr>
            <a:stCxn id="683" idx="5"/>
            <a:endCxn id="686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99" name="Google Shape;699;p31"/>
          <p:cNvCxnSpPr>
            <a:stCxn id="687" idx="3"/>
            <a:endCxn id="685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00" name="Google Shape;700;p31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01" name="Google Shape;701;p31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02" name="Google Shape;702;p31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03" name="Google Shape;703;p31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04" name="Google Shape;704;p31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05" name="Google Shape;705;p31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06" name="Google Shape;706;p31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07" name="Google Shape;707;p31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08" name="Google Shape;708;p31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09" name="Google Shape;709;p31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710" name="Google Shape;710;p31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11" name="Google Shape;711;p31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384469" y="2956982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MaxHeapify(A,2)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2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718" name="Google Shape;718;p3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719" name="Google Shape;719;p3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720" name="Google Shape;720;p3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1" name="Google Shape;721;p3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722" name="Google Shape;722;p32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723" name="Google Shape;723;p32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724" name="Google Shape;724;p32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25" name="Google Shape;725;p32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26" name="Google Shape;726;p32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27" name="Google Shape;727;p32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28" name="Google Shape;728;p32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29" name="Google Shape;729;p32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30" name="Google Shape;730;p32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31" name="Google Shape;731;p32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732" name="Google Shape;732;p32"/>
          <p:cNvCxnSpPr>
            <a:stCxn id="722" idx="3"/>
            <a:endCxn id="723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3" name="Google Shape;733;p32"/>
          <p:cNvCxnSpPr>
            <a:stCxn id="729" idx="1"/>
            <a:endCxn id="722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4" name="Google Shape;734;p32"/>
          <p:cNvCxnSpPr>
            <a:stCxn id="731" idx="1"/>
            <a:endCxn id="729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5" name="Google Shape;735;p32"/>
          <p:cNvCxnSpPr>
            <a:stCxn id="730" idx="7"/>
            <a:endCxn id="729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6" name="Google Shape;736;p32"/>
          <p:cNvCxnSpPr>
            <a:stCxn id="723" idx="3"/>
            <a:endCxn id="724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7" name="Google Shape;737;p32"/>
          <p:cNvCxnSpPr>
            <a:stCxn id="723" idx="5"/>
            <a:endCxn id="728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8" name="Google Shape;738;p32"/>
          <p:cNvCxnSpPr>
            <a:stCxn id="724" idx="3"/>
            <a:endCxn id="725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9" name="Google Shape;739;p32"/>
          <p:cNvCxnSpPr>
            <a:stCxn id="724" idx="5"/>
            <a:endCxn id="727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40" name="Google Shape;740;p32"/>
          <p:cNvCxnSpPr>
            <a:stCxn id="728" idx="3"/>
            <a:endCxn id="726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41" name="Google Shape;741;p32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42" name="Google Shape;742;p32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43" name="Google Shape;743;p32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44" name="Google Shape;744;p32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45" name="Google Shape;745;p32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46" name="Google Shape;746;p32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47" name="Google Shape;747;p32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48" name="Google Shape;748;p32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49" name="Google Shape;749;p32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50" name="Google Shape;750;p32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751" name="Google Shape;751;p32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52" name="Google Shape;752;p32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753" name="Google Shape;753;p32"/>
          <p:cNvSpPr/>
          <p:nvPr/>
        </p:nvSpPr>
        <p:spPr>
          <a:xfrm>
            <a:off x="120869" y="3776439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MaxHeapify(A,4)</a:t>
            </a:r>
            <a:endParaRPr/>
          </a:p>
        </p:txBody>
      </p:sp>
      <p:sp>
        <p:nvSpPr>
          <p:cNvPr id="754" name="Google Shape;754;p32"/>
          <p:cNvSpPr/>
          <p:nvPr/>
        </p:nvSpPr>
        <p:spPr>
          <a:xfrm>
            <a:off x="1228029" y="5731277"/>
            <a:ext cx="808425" cy="375459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12700">
            <a:solidFill>
              <a:srgbClr val="AC5B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Largest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33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760" name="Google Shape;760;p3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761" name="Google Shape;761;p3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762" name="Google Shape;762;p3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3" name="Google Shape;763;p3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764" name="Google Shape;764;p33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765" name="Google Shape;765;p33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766" name="Google Shape;766;p33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67" name="Google Shape;767;p33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68" name="Google Shape;768;p33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69" name="Google Shape;769;p33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70" name="Google Shape;770;p33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771" name="Google Shape;771;p33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72" name="Google Shape;772;p33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73" name="Google Shape;773;p33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774" name="Google Shape;774;p33"/>
          <p:cNvCxnSpPr>
            <a:stCxn id="764" idx="3"/>
            <a:endCxn id="765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5" name="Google Shape;775;p33"/>
          <p:cNvCxnSpPr>
            <a:stCxn id="771" idx="1"/>
            <a:endCxn id="764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6" name="Google Shape;776;p33"/>
          <p:cNvCxnSpPr>
            <a:stCxn id="773" idx="1"/>
            <a:endCxn id="771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7" name="Google Shape;777;p33"/>
          <p:cNvCxnSpPr>
            <a:stCxn id="772" idx="7"/>
            <a:endCxn id="771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8" name="Google Shape;778;p33"/>
          <p:cNvCxnSpPr>
            <a:stCxn id="765" idx="3"/>
            <a:endCxn id="766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79" name="Google Shape;779;p33"/>
          <p:cNvCxnSpPr>
            <a:stCxn id="765" idx="5"/>
            <a:endCxn id="770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0" name="Google Shape;780;p33"/>
          <p:cNvCxnSpPr>
            <a:stCxn id="766" idx="3"/>
            <a:endCxn id="767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1" name="Google Shape;781;p33"/>
          <p:cNvCxnSpPr>
            <a:stCxn id="766" idx="5"/>
            <a:endCxn id="769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82" name="Google Shape;782;p33"/>
          <p:cNvCxnSpPr>
            <a:stCxn id="770" idx="3"/>
            <a:endCxn id="768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83" name="Google Shape;783;p33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784" name="Google Shape;784;p33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785" name="Google Shape;785;p33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786" name="Google Shape;786;p33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787" name="Google Shape;787;p33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788" name="Google Shape;788;p33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789" name="Google Shape;789;p33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790" name="Google Shape;790;p33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791" name="Google Shape;791;p33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792" name="Google Shape;792;p33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793" name="Google Shape;793;p33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94" name="Google Shape;794;p33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795" name="Google Shape;795;p33"/>
          <p:cNvSpPr/>
          <p:nvPr/>
        </p:nvSpPr>
        <p:spPr>
          <a:xfrm>
            <a:off x="120869" y="3776439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MaxHeapify(A,4)</a:t>
            </a:r>
            <a:endParaRPr/>
          </a:p>
        </p:txBody>
      </p:sp>
      <p:cxnSp>
        <p:nvCxnSpPr>
          <p:cNvPr id="796" name="Google Shape;796;p33"/>
          <p:cNvCxnSpPr>
            <a:stCxn id="766" idx="6"/>
            <a:endCxn id="769" idx="6"/>
          </p:cNvCxnSpPr>
          <p:nvPr/>
        </p:nvCxnSpPr>
        <p:spPr>
          <a:xfrm>
            <a:off x="2170848" y="4517823"/>
            <a:ext cx="456000" cy="1112400"/>
          </a:xfrm>
          <a:prstGeom prst="curvedConnector3">
            <a:avLst>
              <a:gd fmla="val 15014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34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802" name="Google Shape;802;p3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803" name="Google Shape;803;p3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04" name="Google Shape;804;p3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5" name="Google Shape;805;p3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806" name="Google Shape;806;p34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807" name="Google Shape;807;p34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808" name="Google Shape;808;p34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09" name="Google Shape;809;p34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10" name="Google Shape;810;p34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11" name="Google Shape;811;p34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12" name="Google Shape;812;p34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13" name="Google Shape;813;p34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814" name="Google Shape;814;p34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15" name="Google Shape;815;p34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816" name="Google Shape;816;p34"/>
          <p:cNvCxnSpPr>
            <a:stCxn id="806" idx="3"/>
            <a:endCxn id="807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7" name="Google Shape;817;p34"/>
          <p:cNvCxnSpPr>
            <a:stCxn id="813" idx="1"/>
            <a:endCxn id="806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8" name="Google Shape;818;p34"/>
          <p:cNvCxnSpPr>
            <a:stCxn id="815" idx="1"/>
            <a:endCxn id="813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19" name="Google Shape;819;p34"/>
          <p:cNvCxnSpPr>
            <a:stCxn id="814" idx="7"/>
            <a:endCxn id="813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0" name="Google Shape;820;p34"/>
          <p:cNvCxnSpPr>
            <a:stCxn id="807" idx="3"/>
            <a:endCxn id="808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1" name="Google Shape;821;p34"/>
          <p:cNvCxnSpPr>
            <a:stCxn id="807" idx="5"/>
            <a:endCxn id="812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2" name="Google Shape;822;p34"/>
          <p:cNvCxnSpPr>
            <a:stCxn id="808" idx="3"/>
            <a:endCxn id="809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3" name="Google Shape;823;p34"/>
          <p:cNvCxnSpPr>
            <a:stCxn id="808" idx="5"/>
            <a:endCxn id="811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24" name="Google Shape;824;p34"/>
          <p:cNvCxnSpPr>
            <a:stCxn id="812" idx="3"/>
            <a:endCxn id="810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5" name="Google Shape;825;p34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26" name="Google Shape;826;p34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27" name="Google Shape;827;p34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28" name="Google Shape;828;p34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29" name="Google Shape;829;p34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30" name="Google Shape;830;p34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31" name="Google Shape;831;p34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832" name="Google Shape;832;p34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33" name="Google Shape;833;p34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34" name="Google Shape;834;p34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835" name="Google Shape;835;p34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36" name="Google Shape;836;p34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837" name="Google Shape;837;p34"/>
          <p:cNvSpPr/>
          <p:nvPr/>
        </p:nvSpPr>
        <p:spPr>
          <a:xfrm>
            <a:off x="120869" y="3776439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MaxHeapify(A,4)</a:t>
            </a:r>
            <a:endParaRPr/>
          </a:p>
        </p:txBody>
      </p:sp>
      <p:cxnSp>
        <p:nvCxnSpPr>
          <p:cNvPr id="838" name="Google Shape;838;p34"/>
          <p:cNvCxnSpPr>
            <a:stCxn id="808" idx="6"/>
            <a:endCxn id="811" idx="6"/>
          </p:cNvCxnSpPr>
          <p:nvPr/>
        </p:nvCxnSpPr>
        <p:spPr>
          <a:xfrm>
            <a:off x="2170848" y="4517823"/>
            <a:ext cx="456000" cy="1112400"/>
          </a:xfrm>
          <a:prstGeom prst="curvedConnector3">
            <a:avLst>
              <a:gd fmla="val 150146" name="adj1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5"/>
          <p:cNvSpPr txBox="1"/>
          <p:nvPr>
            <p:ph idx="1" type="body"/>
          </p:nvPr>
        </p:nvSpPr>
        <p:spPr>
          <a:xfrm>
            <a:off x="838200" y="1227909"/>
            <a:ext cx="10515600" cy="1134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 sz="2800"/>
              <a:t>Tries </a:t>
            </a:r>
            <a:r>
              <a:rPr lang="en-US" sz="2800"/>
              <a:t>to make the array into a max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(parent value&gt;= child value)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76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lang="en-US"/>
              <a:t>MaxHeapify(A,index)</a:t>
            </a:r>
            <a:endParaRPr/>
          </a:p>
        </p:txBody>
      </p:sp>
      <p:sp>
        <p:nvSpPr>
          <p:cNvPr id="844" name="Google Shape;844;p3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845" name="Google Shape;845;p3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46" name="Google Shape;846;p3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7" name="Google Shape;847;p3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  <p:sp>
        <p:nvSpPr>
          <p:cNvPr id="848" name="Google Shape;848;p35"/>
          <p:cNvSpPr/>
          <p:nvPr/>
        </p:nvSpPr>
        <p:spPr>
          <a:xfrm>
            <a:off x="4094480" y="2509904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849" name="Google Shape;849;p35"/>
          <p:cNvSpPr/>
          <p:nvPr/>
        </p:nvSpPr>
        <p:spPr>
          <a:xfrm>
            <a:off x="2545080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850" name="Google Shape;850;p35"/>
          <p:cNvSpPr/>
          <p:nvPr/>
        </p:nvSpPr>
        <p:spPr>
          <a:xfrm>
            <a:off x="1612048" y="423842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51" name="Google Shape;851;p35"/>
          <p:cNvSpPr/>
          <p:nvPr/>
        </p:nvSpPr>
        <p:spPr>
          <a:xfrm>
            <a:off x="781753" y="5291186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52" name="Google Shape;852;p35"/>
          <p:cNvSpPr/>
          <p:nvPr/>
        </p:nvSpPr>
        <p:spPr>
          <a:xfrm>
            <a:off x="3075075" y="5315058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53" name="Google Shape;853;p35"/>
          <p:cNvSpPr/>
          <p:nvPr/>
        </p:nvSpPr>
        <p:spPr>
          <a:xfrm>
            <a:off x="2068114" y="5350691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54" name="Google Shape;854;p35"/>
          <p:cNvSpPr/>
          <p:nvPr/>
        </p:nvSpPr>
        <p:spPr>
          <a:xfrm>
            <a:off x="3493912" y="429375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855" name="Google Shape;855;p35"/>
          <p:cNvSpPr/>
          <p:nvPr/>
        </p:nvSpPr>
        <p:spPr>
          <a:xfrm>
            <a:off x="5461002" y="3429000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856" name="Google Shape;856;p35"/>
          <p:cNvSpPr/>
          <p:nvPr/>
        </p:nvSpPr>
        <p:spPr>
          <a:xfrm>
            <a:off x="4706344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57" name="Google Shape;857;p35"/>
          <p:cNvSpPr/>
          <p:nvPr/>
        </p:nvSpPr>
        <p:spPr>
          <a:xfrm>
            <a:off x="6238240" y="4320843"/>
            <a:ext cx="558800" cy="5588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cxnSp>
        <p:nvCxnSpPr>
          <p:cNvPr id="858" name="Google Shape;858;p35"/>
          <p:cNvCxnSpPr>
            <a:stCxn id="848" idx="3"/>
            <a:endCxn id="849" idx="7"/>
          </p:cNvCxnSpPr>
          <p:nvPr/>
        </p:nvCxnSpPr>
        <p:spPr>
          <a:xfrm flipH="1">
            <a:off x="3021914" y="2986870"/>
            <a:ext cx="1154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59" name="Google Shape;859;p35"/>
          <p:cNvCxnSpPr>
            <a:stCxn id="855" idx="1"/>
            <a:endCxn id="848" idx="5"/>
          </p:cNvCxnSpPr>
          <p:nvPr/>
        </p:nvCxnSpPr>
        <p:spPr>
          <a:xfrm rot="10800000">
            <a:off x="4571436" y="2986734"/>
            <a:ext cx="971400" cy="524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0" name="Google Shape;860;p35"/>
          <p:cNvCxnSpPr>
            <a:stCxn id="857" idx="1"/>
            <a:endCxn id="855" idx="5"/>
          </p:cNvCxnSpPr>
          <p:nvPr/>
        </p:nvCxnSpPr>
        <p:spPr>
          <a:xfrm rot="10800000">
            <a:off x="5937874" y="3905877"/>
            <a:ext cx="3822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1" name="Google Shape;861;p35"/>
          <p:cNvCxnSpPr>
            <a:stCxn id="856" idx="7"/>
            <a:endCxn id="855" idx="3"/>
          </p:cNvCxnSpPr>
          <p:nvPr/>
        </p:nvCxnSpPr>
        <p:spPr>
          <a:xfrm flipH="1" rot="10800000">
            <a:off x="5183310" y="3905877"/>
            <a:ext cx="359400" cy="4968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2" name="Google Shape;862;p35"/>
          <p:cNvCxnSpPr>
            <a:stCxn id="849" idx="3"/>
            <a:endCxn id="850" idx="7"/>
          </p:cNvCxnSpPr>
          <p:nvPr/>
        </p:nvCxnSpPr>
        <p:spPr>
          <a:xfrm flipH="1">
            <a:off x="2089014" y="3905966"/>
            <a:ext cx="537900" cy="4143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3" name="Google Shape;863;p35"/>
          <p:cNvCxnSpPr>
            <a:stCxn id="849" idx="5"/>
            <a:endCxn id="854" idx="1"/>
          </p:cNvCxnSpPr>
          <p:nvPr/>
        </p:nvCxnSpPr>
        <p:spPr>
          <a:xfrm>
            <a:off x="3022046" y="3905966"/>
            <a:ext cx="553800" cy="469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4" name="Google Shape;864;p35"/>
          <p:cNvCxnSpPr>
            <a:stCxn id="850" idx="3"/>
            <a:endCxn id="851" idx="7"/>
          </p:cNvCxnSpPr>
          <p:nvPr/>
        </p:nvCxnSpPr>
        <p:spPr>
          <a:xfrm flipH="1">
            <a:off x="1258582" y="4715389"/>
            <a:ext cx="435300" cy="6576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5" name="Google Shape;865;p35"/>
          <p:cNvCxnSpPr>
            <a:stCxn id="850" idx="5"/>
            <a:endCxn id="853" idx="0"/>
          </p:cNvCxnSpPr>
          <p:nvPr/>
        </p:nvCxnSpPr>
        <p:spPr>
          <a:xfrm>
            <a:off x="2089014" y="4715389"/>
            <a:ext cx="258600" cy="635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6" name="Google Shape;866;p35"/>
          <p:cNvCxnSpPr>
            <a:stCxn id="854" idx="3"/>
            <a:endCxn id="852" idx="0"/>
          </p:cNvCxnSpPr>
          <p:nvPr/>
        </p:nvCxnSpPr>
        <p:spPr>
          <a:xfrm flipH="1">
            <a:off x="3354346" y="4770719"/>
            <a:ext cx="221400" cy="544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67" name="Google Shape;867;p35"/>
          <p:cNvSpPr txBox="1"/>
          <p:nvPr/>
        </p:nvSpPr>
        <p:spPr>
          <a:xfrm>
            <a:off x="3792794" y="25194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868" name="Google Shape;868;p35"/>
          <p:cNvSpPr txBox="1"/>
          <p:nvPr/>
        </p:nvSpPr>
        <p:spPr>
          <a:xfrm>
            <a:off x="2243394" y="33007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869" name="Google Shape;869;p35"/>
          <p:cNvSpPr txBox="1"/>
          <p:nvPr/>
        </p:nvSpPr>
        <p:spPr>
          <a:xfrm>
            <a:off x="5630476" y="30833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870" name="Google Shape;870;p35"/>
          <p:cNvSpPr txBox="1"/>
          <p:nvPr/>
        </p:nvSpPr>
        <p:spPr>
          <a:xfrm>
            <a:off x="1481399" y="398780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871" name="Google Shape;871;p35"/>
          <p:cNvSpPr txBox="1"/>
          <p:nvPr/>
        </p:nvSpPr>
        <p:spPr>
          <a:xfrm>
            <a:off x="617227" y="496422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872" name="Google Shape;872;p35"/>
          <p:cNvSpPr txBox="1"/>
          <p:nvPr/>
        </p:nvSpPr>
        <p:spPr>
          <a:xfrm>
            <a:off x="1886975" y="496168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873" name="Google Shape;873;p35"/>
          <p:cNvSpPr txBox="1"/>
          <p:nvPr/>
        </p:nvSpPr>
        <p:spPr>
          <a:xfrm>
            <a:off x="2898476" y="4885509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874" name="Google Shape;874;p35"/>
          <p:cNvSpPr txBox="1"/>
          <p:nvPr/>
        </p:nvSpPr>
        <p:spPr>
          <a:xfrm>
            <a:off x="3712199" y="400332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875" name="Google Shape;875;p35"/>
          <p:cNvSpPr txBox="1"/>
          <p:nvPr/>
        </p:nvSpPr>
        <p:spPr>
          <a:xfrm>
            <a:off x="4796076" y="401365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876" name="Google Shape;876;p35"/>
          <p:cNvSpPr txBox="1"/>
          <p:nvPr/>
        </p:nvSpPr>
        <p:spPr>
          <a:xfrm>
            <a:off x="6401059" y="402356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graphicFrame>
        <p:nvGraphicFramePr>
          <p:cNvPr id="877" name="Google Shape;877;p35"/>
          <p:cNvGraphicFramePr/>
          <p:nvPr/>
        </p:nvGraphicFramePr>
        <p:xfrm>
          <a:off x="7076668" y="18902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{F675BA29-B794-497A-A44D-2C9559FFFA87}</a:tableStyleId>
              </a:tblPr>
              <a:tblGrid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  <a:gridCol w="4722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14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dk1"/>
                          </a:solidFill>
                        </a:rPr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1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878" name="Google Shape;878;p35"/>
          <p:cNvSpPr/>
          <p:nvPr/>
        </p:nvSpPr>
        <p:spPr>
          <a:xfrm>
            <a:off x="6992898" y="3099468"/>
            <a:ext cx="5054558" cy="2546367"/>
          </a:xfrm>
          <a:prstGeom prst="rect">
            <a:avLst/>
          </a:prstGeom>
          <a:gradFill>
            <a:gsLst>
              <a:gs pos="0">
                <a:srgbClr val="D1D1D1"/>
              </a:gs>
              <a:gs pos="50000">
                <a:srgbClr val="C7C7C7"/>
              </a:gs>
              <a:gs pos="100000">
                <a:srgbClr val="C0C0C0"/>
              </a:gs>
            </a:gsLst>
            <a:lin ang="5400000" scaled="0"/>
          </a:gradFill>
          <a:ln cap="flat" cmpd="sng" w="9525">
            <a:solidFill>
              <a:schemeClr val="accent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function works: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applied on an index.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checks if the parent is greater than the child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parent is greater, return.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child is greater, then swap values with child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arenR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the function on the child (recursively)</a:t>
            </a:r>
            <a:endParaRPr/>
          </a:p>
        </p:txBody>
      </p:sp>
      <p:sp>
        <p:nvSpPr>
          <p:cNvPr id="879" name="Google Shape;879;p35"/>
          <p:cNvSpPr/>
          <p:nvPr/>
        </p:nvSpPr>
        <p:spPr>
          <a:xfrm>
            <a:off x="698833" y="5906815"/>
            <a:ext cx="199009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MaxHeapify(A,9)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36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85" name="Google Shape;885;p3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886" name="Google Shape;886;p3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87" name="Google Shape;887;p3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8" name="Google Shape;888;p3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write the function for Max Heapify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7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94" name="Google Shape;894;p3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895" name="Google Shape;895;p3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896" name="Google Shape;896;p3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7" name="Google Shape;897;p3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write the function for Max Heapify</a:t>
            </a:r>
            <a:endParaRPr/>
          </a:p>
        </p:txBody>
      </p:sp>
      <p:pic>
        <p:nvPicPr>
          <p:cNvPr id="898" name="Google Shape;89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755" y="1398702"/>
            <a:ext cx="6076950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38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It is TRYING to make the array into a heap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But it may not fully succeed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Let us consider the following example</a:t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04" name="Google Shape;904;p38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905" name="Google Shape;905;p38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06" name="Google Shape;906;p38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7" name="Google Shape;907;p38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Max Heapify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39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500"/>
              <a:buFont typeface="Arial"/>
              <a:buChar char="●"/>
            </a:pPr>
            <a:r>
              <a:rPr lang="en-US" sz="2000"/>
              <a:t>Converts an array into a heap</a:t>
            </a:r>
            <a:endParaRPr/>
          </a:p>
          <a:p>
            <a:pPr indent="-266700" lvl="0" marL="3429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33CC"/>
              </a:buClr>
              <a:buSzPts val="1200"/>
              <a:buFont typeface="Arial"/>
              <a:buNone/>
            </a:pPr>
            <a:r>
              <a:t/>
            </a:r>
            <a:endParaRPr sz="1600"/>
          </a:p>
          <a:p>
            <a:pPr indent="-20955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13" name="Google Shape;913;p39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914" name="Google Shape;914;p39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15" name="Google Shape;915;p39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6" name="Google Shape;916;p39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Build Max Heap</a:t>
            </a:r>
            <a:endParaRPr/>
          </a:p>
        </p:txBody>
      </p:sp>
      <p:pic>
        <p:nvPicPr>
          <p:cNvPr id="917" name="Google Shape;91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27514" y="2340129"/>
            <a:ext cx="5734717" cy="2177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40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Consider the following array</a:t>
            </a:r>
            <a:endParaRPr/>
          </a:p>
        </p:txBody>
      </p:sp>
      <p:sp>
        <p:nvSpPr>
          <p:cNvPr id="923" name="Google Shape;923;p40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924" name="Google Shape;924;p40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25" name="Google Shape;925;p40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6" name="Google Shape;926;p40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Build Max Heap</a:t>
            </a:r>
            <a:endParaRPr/>
          </a:p>
        </p:txBody>
      </p:sp>
      <p:pic>
        <p:nvPicPr>
          <p:cNvPr id="927" name="Google Shape;92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30240"/>
            <a:ext cx="49720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7712" y="2389311"/>
            <a:ext cx="254317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03356" y="2672944"/>
            <a:ext cx="262890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9175" y="4609001"/>
            <a:ext cx="25527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19612" y="4678362"/>
            <a:ext cx="258127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4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53400" y="4757575"/>
            <a:ext cx="2524125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4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04900" y="2627251"/>
            <a:ext cx="2476500" cy="17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1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39" name="Google Shape;939;p41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940" name="Google Shape;940;p41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41" name="Google Shape;941;p41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2" name="Google Shape;942;p41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Heap Sort</a:t>
            </a:r>
            <a:endParaRPr/>
          </a:p>
        </p:txBody>
      </p:sp>
      <p:pic>
        <p:nvPicPr>
          <p:cNvPr id="943" name="Google Shape;94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07081" y="1793421"/>
            <a:ext cx="7977838" cy="3836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42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49" name="Google Shape;949;p42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950" name="Google Shape;950;p42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51" name="Google Shape;951;p42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2" name="Google Shape;952;p42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Run Heap Sort At First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3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0955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958" name="Google Shape;958;p43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959" name="Google Shape;959;p43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60" name="Google Shape;960;p43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1" name="Google Shape;961;p43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Let us Run Heap Sort At First</a:t>
            </a:r>
            <a:endParaRPr/>
          </a:p>
        </p:txBody>
      </p:sp>
      <p:pic>
        <p:nvPicPr>
          <p:cNvPr id="962" name="Google Shape;96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5257" y="0"/>
            <a:ext cx="8017963" cy="678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44"/>
          <p:cNvSpPr txBox="1"/>
          <p:nvPr>
            <p:ph idx="1" type="body"/>
          </p:nvPr>
        </p:nvSpPr>
        <p:spPr>
          <a:xfrm>
            <a:off x="838200" y="1227909"/>
            <a:ext cx="699516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Char char="●"/>
            </a:pPr>
            <a:r>
              <a:rPr b="1" lang="en-US"/>
              <a:t>Max Heapify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lang="en-US"/>
              <a:t>Fixing up relationships among the elements </a:t>
            </a:r>
            <a:r>
              <a:rPr i="1" lang="en-US"/>
              <a:t>A</a:t>
            </a:r>
            <a:r>
              <a:rPr lang="en-US"/>
              <a:t>[</a:t>
            </a:r>
            <a:r>
              <a:rPr i="1" lang="en-US"/>
              <a:t>i</a:t>
            </a:r>
            <a:r>
              <a:rPr lang="en-US"/>
              <a:t>], </a:t>
            </a:r>
            <a:r>
              <a:rPr i="1" lang="en-US"/>
              <a:t>A</a:t>
            </a:r>
            <a:r>
              <a:rPr lang="en-US"/>
              <a:t>[</a:t>
            </a:r>
            <a:r>
              <a:rPr i="1" lang="en-US"/>
              <a:t>l</a:t>
            </a:r>
            <a:r>
              <a:rPr lang="en-US"/>
              <a:t>], and </a:t>
            </a:r>
            <a:r>
              <a:rPr i="1" lang="en-US"/>
              <a:t>A</a:t>
            </a:r>
            <a:r>
              <a:rPr lang="en-US"/>
              <a:t>[</a:t>
            </a:r>
            <a:r>
              <a:rPr i="1" lang="en-US"/>
              <a:t>r</a:t>
            </a:r>
            <a:r>
              <a:rPr lang="en-US"/>
              <a:t>] takes Θ(1) time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Char char="●"/>
            </a:pPr>
            <a:r>
              <a:rPr i="1" lang="en-US" sz="2400">
                <a:solidFill>
                  <a:schemeClr val="accent1"/>
                </a:solidFill>
              </a:rPr>
              <a:t>If the heap at i has n elements, at most how many elements can the subtrees at l or r have? </a:t>
            </a:r>
            <a:endParaRPr/>
          </a:p>
          <a:p>
            <a:pPr indent="-194119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None/>
            </a:pPr>
            <a:r>
              <a:t/>
            </a:r>
            <a:endParaRPr i="1">
              <a:solidFill>
                <a:schemeClr val="accent1"/>
              </a:solidFill>
            </a:endParaRPr>
          </a:p>
          <a:p>
            <a:pPr indent="-194119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None/>
            </a:pPr>
            <a:r>
              <a:t/>
            </a:r>
            <a:endParaRPr i="1">
              <a:solidFill>
                <a:schemeClr val="accent1"/>
              </a:solidFill>
            </a:endParaRPr>
          </a:p>
          <a:p>
            <a:pPr indent="-194119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None/>
            </a:pPr>
            <a:r>
              <a:t/>
            </a:r>
            <a:endParaRPr i="1">
              <a:solidFill>
                <a:schemeClr val="accent1"/>
              </a:solidFill>
            </a:endParaRPr>
          </a:p>
          <a:p>
            <a:pPr indent="-194119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None/>
            </a:pPr>
            <a:r>
              <a:t/>
            </a:r>
            <a:endParaRPr i="1">
              <a:solidFill>
                <a:schemeClr val="accent1"/>
              </a:solidFill>
            </a:endParaRPr>
          </a:p>
          <a:p>
            <a:pPr indent="-237172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SzPct val="75000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SzPct val="75000"/>
              <a:buChar char="●"/>
            </a:pPr>
            <a:r>
              <a:rPr lang="en-US" sz="2400">
                <a:solidFill>
                  <a:schemeClr val="dk2"/>
                </a:solidFill>
              </a:rPr>
              <a:t>Answer: 2</a:t>
            </a:r>
            <a:r>
              <a:rPr i="1" lang="en-US" sz="2400">
                <a:solidFill>
                  <a:schemeClr val="dk2"/>
                </a:solidFill>
              </a:rPr>
              <a:t>n</a:t>
            </a:r>
            <a:r>
              <a:rPr lang="en-US" sz="2400">
                <a:solidFill>
                  <a:schemeClr val="dk2"/>
                </a:solidFill>
              </a:rPr>
              <a:t>/3</a:t>
            </a:r>
            <a:r>
              <a:rPr lang="en-US" sz="2400"/>
              <a:t> (worst case: bottom row half full)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SzPct val="75000"/>
              <a:buChar char="●"/>
            </a:pPr>
            <a:r>
              <a:rPr lang="en-US" sz="2400"/>
              <a:t>So time taken by </a:t>
            </a: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Heapify()</a:t>
            </a:r>
            <a:r>
              <a:rPr lang="en-US" sz="2400"/>
              <a:t> is given by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4"/>
              </a:spcBef>
              <a:spcAft>
                <a:spcPts val="0"/>
              </a:spcAft>
              <a:buSzPct val="75000"/>
              <a:buFont typeface="Arial"/>
              <a:buNone/>
            </a:pPr>
            <a:r>
              <a:rPr lang="en-US" sz="2400"/>
              <a:t>	       </a:t>
            </a:r>
            <a:r>
              <a:rPr i="1" lang="en-US" sz="2400"/>
              <a:t>T</a:t>
            </a:r>
            <a:r>
              <a:rPr lang="en-US" sz="2400"/>
              <a:t>(</a:t>
            </a:r>
            <a:r>
              <a:rPr i="1" lang="en-US" sz="2400"/>
              <a:t>n</a:t>
            </a:r>
            <a:r>
              <a:rPr lang="en-US" sz="2400"/>
              <a:t>)</a:t>
            </a:r>
            <a:r>
              <a:rPr i="1" lang="en-US" sz="2400"/>
              <a:t>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≤</a:t>
            </a:r>
            <a:r>
              <a:rPr lang="en-US" sz="2400"/>
              <a:t> </a:t>
            </a:r>
            <a:r>
              <a:rPr i="1" lang="en-US" sz="2400"/>
              <a:t>T</a:t>
            </a:r>
            <a:r>
              <a:rPr lang="en-US" sz="2400"/>
              <a:t>(2</a:t>
            </a:r>
            <a:r>
              <a:rPr i="1" lang="en-US" sz="2400"/>
              <a:t>n</a:t>
            </a:r>
            <a:r>
              <a:rPr lang="en-US" sz="2400"/>
              <a:t>/3) + Θ(1) </a:t>
            </a:r>
            <a:endParaRPr/>
          </a:p>
          <a:p>
            <a:pPr indent="-194119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None/>
            </a:pPr>
            <a:r>
              <a:t/>
            </a:r>
            <a:endParaRPr>
              <a:solidFill>
                <a:schemeClr val="accent1"/>
              </a:solidFill>
            </a:endParaRPr>
          </a:p>
          <a:p>
            <a:pPr indent="-194119" lvl="1" marL="742950" rtl="0" algn="l">
              <a:lnSpc>
                <a:spcPct val="100000"/>
              </a:lnSpc>
              <a:spcBef>
                <a:spcPts val="444"/>
              </a:spcBef>
              <a:spcAft>
                <a:spcPts val="0"/>
              </a:spcAft>
              <a:buSzPct val="65000"/>
              <a:buNone/>
            </a:pPr>
            <a:r>
              <a:t/>
            </a:r>
            <a:endParaRPr/>
          </a:p>
          <a:p>
            <a:pPr indent="-219551" lvl="0" marL="342900" marR="0" rtl="0" algn="l">
              <a:lnSpc>
                <a:spcPct val="100000"/>
              </a:lnSpc>
              <a:spcBef>
                <a:spcPts val="518"/>
              </a:spcBef>
              <a:spcAft>
                <a:spcPts val="0"/>
              </a:spcAft>
              <a:buClr>
                <a:srgbClr val="0033CC"/>
              </a:buClr>
              <a:buSzPct val="75000"/>
              <a:buFont typeface="Arial"/>
              <a:buNone/>
            </a:pPr>
            <a:r>
              <a:t/>
            </a:r>
            <a:endParaRPr b="1"/>
          </a:p>
        </p:txBody>
      </p:sp>
      <p:sp>
        <p:nvSpPr>
          <p:cNvPr id="968" name="Google Shape;968;p44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969" name="Google Shape;969;p44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970" name="Google Shape;970;p4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1" name="Google Shape;971;p44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Analysis-Max Heapify</a:t>
            </a:r>
            <a:endParaRPr/>
          </a:p>
        </p:txBody>
      </p:sp>
      <p:pic>
        <p:nvPicPr>
          <p:cNvPr id="972" name="Google Shape;97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0039" y="3108960"/>
            <a:ext cx="4061961" cy="29032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3" name="Google Shape;973;p44"/>
          <p:cNvGrpSpPr/>
          <p:nvPr/>
        </p:nvGrpSpPr>
        <p:grpSpPr>
          <a:xfrm>
            <a:off x="1844040" y="3108960"/>
            <a:ext cx="5212080" cy="1630680"/>
            <a:chOff x="720" y="1536"/>
            <a:chExt cx="4032" cy="1440"/>
          </a:xfrm>
        </p:grpSpPr>
        <p:grpSp>
          <p:nvGrpSpPr>
            <p:cNvPr id="974" name="Google Shape;974;p44"/>
            <p:cNvGrpSpPr/>
            <p:nvPr/>
          </p:nvGrpSpPr>
          <p:grpSpPr>
            <a:xfrm>
              <a:off x="720" y="1536"/>
              <a:ext cx="4032" cy="1440"/>
              <a:chOff x="720" y="1488"/>
              <a:chExt cx="4032" cy="1440"/>
            </a:xfrm>
          </p:grpSpPr>
          <p:sp>
            <p:nvSpPr>
              <p:cNvPr id="975" name="Google Shape;975;p44"/>
              <p:cNvSpPr/>
              <p:nvPr/>
            </p:nvSpPr>
            <p:spPr>
              <a:xfrm>
                <a:off x="2736" y="1488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16</a:t>
                </a:r>
                <a:endParaRPr/>
              </a:p>
            </p:txBody>
          </p:sp>
          <p:sp>
            <p:nvSpPr>
              <p:cNvPr id="976" name="Google Shape;976;p44"/>
              <p:cNvSpPr/>
              <p:nvPr/>
            </p:nvSpPr>
            <p:spPr>
              <a:xfrm>
                <a:off x="1584" y="1872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14</a:t>
                </a:r>
                <a:endParaRPr/>
              </a:p>
            </p:txBody>
          </p:sp>
          <p:sp>
            <p:nvSpPr>
              <p:cNvPr id="977" name="Google Shape;977;p44"/>
              <p:cNvSpPr/>
              <p:nvPr/>
            </p:nvSpPr>
            <p:spPr>
              <a:xfrm>
                <a:off x="3888" y="1872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10</a:t>
                </a:r>
                <a:endParaRPr/>
              </a:p>
            </p:txBody>
          </p:sp>
          <p:sp>
            <p:nvSpPr>
              <p:cNvPr id="978" name="Google Shape;978;p44"/>
              <p:cNvSpPr/>
              <p:nvPr/>
            </p:nvSpPr>
            <p:spPr>
              <a:xfrm>
                <a:off x="1008" y="2256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8</a:t>
                </a:r>
                <a:endParaRPr/>
              </a:p>
            </p:txBody>
          </p:sp>
          <p:sp>
            <p:nvSpPr>
              <p:cNvPr id="979" name="Google Shape;979;p44"/>
              <p:cNvSpPr/>
              <p:nvPr/>
            </p:nvSpPr>
            <p:spPr>
              <a:xfrm>
                <a:off x="2160" y="2256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7</a:t>
                </a:r>
                <a:endParaRPr/>
              </a:p>
            </p:txBody>
          </p:sp>
          <p:sp>
            <p:nvSpPr>
              <p:cNvPr id="980" name="Google Shape;980;p44"/>
              <p:cNvSpPr/>
              <p:nvPr/>
            </p:nvSpPr>
            <p:spPr>
              <a:xfrm>
                <a:off x="3312" y="2256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9</a:t>
                </a:r>
                <a:endParaRPr/>
              </a:p>
            </p:txBody>
          </p:sp>
          <p:sp>
            <p:nvSpPr>
              <p:cNvPr id="981" name="Google Shape;981;p44"/>
              <p:cNvSpPr/>
              <p:nvPr/>
            </p:nvSpPr>
            <p:spPr>
              <a:xfrm>
                <a:off x="4464" y="2256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  <p:sp>
            <p:nvSpPr>
              <p:cNvPr id="982" name="Google Shape;982;p44"/>
              <p:cNvSpPr/>
              <p:nvPr/>
            </p:nvSpPr>
            <p:spPr>
              <a:xfrm>
                <a:off x="720" y="2640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  <p:sp>
            <p:nvSpPr>
              <p:cNvPr id="983" name="Google Shape;983;p44"/>
              <p:cNvSpPr/>
              <p:nvPr/>
            </p:nvSpPr>
            <p:spPr>
              <a:xfrm>
                <a:off x="1296" y="2640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  <p:sp>
            <p:nvSpPr>
              <p:cNvPr id="984" name="Google Shape;984;p44"/>
              <p:cNvSpPr/>
              <p:nvPr/>
            </p:nvSpPr>
            <p:spPr>
              <a:xfrm>
                <a:off x="1872" y="2640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cxnSp>
            <p:nvCxnSpPr>
              <p:cNvPr id="985" name="Google Shape;985;p44"/>
              <p:cNvCxnSpPr>
                <a:stCxn id="975" idx="3"/>
                <a:endCxn id="976" idx="7"/>
              </p:cNvCxnSpPr>
              <p:nvPr/>
            </p:nvCxnSpPr>
            <p:spPr>
              <a:xfrm flipH="1">
                <a:off x="1878" y="1734"/>
                <a:ext cx="90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6" name="Google Shape;986;p44"/>
              <p:cNvCxnSpPr>
                <a:stCxn id="976" idx="3"/>
                <a:endCxn id="978" idx="7"/>
              </p:cNvCxnSpPr>
              <p:nvPr/>
            </p:nvCxnSpPr>
            <p:spPr>
              <a:xfrm flipH="1">
                <a:off x="1326" y="2118"/>
                <a:ext cx="30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7" name="Google Shape;987;p44"/>
              <p:cNvCxnSpPr>
                <a:stCxn id="978" idx="3"/>
                <a:endCxn id="982" idx="7"/>
              </p:cNvCxnSpPr>
              <p:nvPr/>
            </p:nvCxnSpPr>
            <p:spPr>
              <a:xfrm>
                <a:off x="1050" y="2502"/>
                <a:ext cx="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8" name="Google Shape;988;p44"/>
              <p:cNvCxnSpPr>
                <a:stCxn id="978" idx="5"/>
                <a:endCxn id="983" idx="1"/>
              </p:cNvCxnSpPr>
              <p:nvPr/>
            </p:nvCxnSpPr>
            <p:spPr>
              <a:xfrm>
                <a:off x="1254" y="2502"/>
                <a:ext cx="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89" name="Google Shape;989;p44"/>
              <p:cNvCxnSpPr>
                <a:stCxn id="976" idx="5"/>
                <a:endCxn id="979" idx="1"/>
              </p:cNvCxnSpPr>
              <p:nvPr/>
            </p:nvCxnSpPr>
            <p:spPr>
              <a:xfrm>
                <a:off x="1830" y="2118"/>
                <a:ext cx="30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0" name="Google Shape;990;p44"/>
              <p:cNvCxnSpPr>
                <a:stCxn id="979" idx="3"/>
                <a:endCxn id="984" idx="7"/>
              </p:cNvCxnSpPr>
              <p:nvPr/>
            </p:nvCxnSpPr>
            <p:spPr>
              <a:xfrm>
                <a:off x="2202" y="2502"/>
                <a:ext cx="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1" name="Google Shape;991;p44"/>
              <p:cNvCxnSpPr>
                <a:stCxn id="975" idx="5"/>
                <a:endCxn id="977" idx="1"/>
              </p:cNvCxnSpPr>
              <p:nvPr/>
            </p:nvCxnSpPr>
            <p:spPr>
              <a:xfrm>
                <a:off x="2982" y="1734"/>
                <a:ext cx="90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2" name="Google Shape;992;p44"/>
              <p:cNvCxnSpPr>
                <a:stCxn id="977" idx="5"/>
                <a:endCxn id="981" idx="1"/>
              </p:cNvCxnSpPr>
              <p:nvPr/>
            </p:nvCxnSpPr>
            <p:spPr>
              <a:xfrm>
                <a:off x="4134" y="2118"/>
                <a:ext cx="30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993" name="Google Shape;993;p44"/>
              <p:cNvCxnSpPr>
                <a:stCxn id="980" idx="7"/>
                <a:endCxn id="977" idx="3"/>
              </p:cNvCxnSpPr>
              <p:nvPr/>
            </p:nvCxnSpPr>
            <p:spPr>
              <a:xfrm flipH="1" rot="10800000">
                <a:off x="3558" y="1998"/>
                <a:ext cx="30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994" name="Google Shape;994;p44"/>
              <p:cNvSpPr/>
              <p:nvPr/>
            </p:nvSpPr>
            <p:spPr>
              <a:xfrm>
                <a:off x="2448" y="2632"/>
                <a:ext cx="288" cy="288"/>
              </a:xfrm>
              <a:prstGeom prst="ellipse">
                <a:avLst/>
              </a:prstGeom>
              <a:solidFill>
                <a:srgbClr val="FFFFFF"/>
              </a:solidFill>
              <a:ln cap="flat" cmpd="sng" w="381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i="1" lang="en-US" sz="20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  <p:cxnSp>
            <p:nvCxnSpPr>
              <p:cNvPr id="995" name="Google Shape;995;p44"/>
              <p:cNvCxnSpPr>
                <a:endCxn id="994" idx="1"/>
              </p:cNvCxnSpPr>
              <p:nvPr/>
            </p:nvCxnSpPr>
            <p:spPr>
              <a:xfrm>
                <a:off x="2490" y="2374"/>
                <a:ext cx="0" cy="3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accent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996" name="Google Shape;996;p44"/>
            <p:cNvSpPr txBox="1"/>
            <p:nvPr/>
          </p:nvSpPr>
          <p:spPr>
            <a:xfrm>
              <a:off x="1247" y="1824"/>
              <a:ext cx="40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Arial"/>
                <a:buNone/>
              </a:pPr>
              <a:r>
                <a:rPr i="1" lang="en-US" sz="280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</a:t>
              </a:r>
              <a:endParaRPr/>
            </a:p>
          </p:txBody>
        </p:sp>
        <p:sp>
          <p:nvSpPr>
            <p:cNvPr id="997" name="Google Shape;997;p44"/>
            <p:cNvSpPr txBox="1"/>
            <p:nvPr/>
          </p:nvSpPr>
          <p:spPr>
            <a:xfrm>
              <a:off x="4134" y="1761"/>
              <a:ext cx="400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2800"/>
                <a:buFont typeface="Arial"/>
                <a:buNone/>
              </a:pPr>
              <a:r>
                <a:rPr i="1" lang="en-US" sz="2800">
                  <a:solidFill>
                    <a:schemeClr val="accen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</a:t>
              </a:r>
              <a:endParaRPr/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45"/>
          <p:cNvSpPr txBox="1"/>
          <p:nvPr>
            <p:ph idx="1" type="body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So we have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rPr i="1" lang="en-US"/>
              <a:t>		T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</a:t>
            </a:r>
            <a:r>
              <a:rPr i="1" lang="en-US"/>
              <a:t>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≤</a:t>
            </a:r>
            <a:r>
              <a:rPr lang="en-US"/>
              <a:t> </a:t>
            </a:r>
            <a:r>
              <a:rPr i="1" lang="en-US"/>
              <a:t>T</a:t>
            </a:r>
            <a:r>
              <a:rPr lang="en-US"/>
              <a:t>(2</a:t>
            </a:r>
            <a:r>
              <a:rPr i="1" lang="en-US"/>
              <a:t>n</a:t>
            </a:r>
            <a:r>
              <a:rPr lang="en-US"/>
              <a:t>/3) + Θ(1)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Solving the recurrence, we have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rPr lang="en-US"/>
              <a:t>		</a:t>
            </a:r>
            <a:r>
              <a:rPr i="1" lang="en-US"/>
              <a:t>T</a:t>
            </a:r>
            <a:r>
              <a:rPr lang="en-US"/>
              <a:t>(</a:t>
            </a:r>
            <a:r>
              <a:rPr i="1" lang="en-US"/>
              <a:t>n</a:t>
            </a:r>
            <a:r>
              <a:rPr lang="en-US"/>
              <a:t>) = </a:t>
            </a:r>
            <a:r>
              <a:rPr i="1" lang="en-US"/>
              <a:t>O</a:t>
            </a:r>
            <a:r>
              <a:rPr lang="en-US"/>
              <a:t>(lg</a:t>
            </a:r>
            <a:r>
              <a:rPr lang="en-US" sz="1400"/>
              <a:t> </a:t>
            </a:r>
            <a:r>
              <a:rPr i="1" lang="en-US"/>
              <a:t>n</a:t>
            </a:r>
            <a:r>
              <a:rPr lang="en-US"/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100"/>
              <a:buChar char="●"/>
            </a:pPr>
            <a:r>
              <a:rPr lang="en-US"/>
              <a:t>Thus, </a:t>
            </a:r>
            <a:r>
              <a:rPr b="1" lang="en-US">
                <a:latin typeface="Courier New"/>
                <a:ea typeface="Courier New"/>
                <a:cs typeface="Courier New"/>
                <a:sym typeface="Courier New"/>
              </a:rPr>
              <a:t>Heapify()</a:t>
            </a:r>
            <a:r>
              <a:rPr lang="en-US"/>
              <a:t> takes </a:t>
            </a:r>
            <a:r>
              <a:rPr i="1" lang="en-US"/>
              <a:t>O</a:t>
            </a:r>
            <a:r>
              <a:rPr lang="en-US"/>
              <a:t>(</a:t>
            </a:r>
            <a:r>
              <a:rPr i="1" lang="en-US"/>
              <a:t>h</a:t>
            </a:r>
            <a:r>
              <a:rPr lang="en-US"/>
              <a:t>) time for a node at height </a:t>
            </a:r>
            <a:r>
              <a:rPr i="1" lang="en-US"/>
              <a:t>h</a:t>
            </a:r>
            <a:endParaRPr/>
          </a:p>
        </p:txBody>
      </p:sp>
      <p:sp>
        <p:nvSpPr>
          <p:cNvPr id="1003" name="Google Shape;1003;p45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004" name="Google Shape;1004;p45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05" name="Google Shape;1005;p45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6" name="Google Shape;1006;p45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Analysis-Max Heapify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6"/>
          <p:cNvSpPr txBox="1"/>
          <p:nvPr>
            <p:ph idx="1" type="body"/>
          </p:nvPr>
        </p:nvSpPr>
        <p:spPr>
          <a:xfrm>
            <a:off x="838200" y="1227909"/>
            <a:ext cx="451104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can compute a simple upper bound on the running time of BUILD-MAXHEAP as follows.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Each call to MAX-HEAPIFY costs O(lg n) time, and BUILDMAX-HEAP makes </a:t>
            </a:r>
            <a:r>
              <a:rPr b="1" lang="en-US"/>
              <a:t>O(n) such calls.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Thus, the running time is </a:t>
            </a:r>
            <a:r>
              <a:rPr b="1" lang="en-US"/>
              <a:t>O(n lg n). </a:t>
            </a:r>
            <a:endParaRPr/>
          </a:p>
        </p:txBody>
      </p:sp>
      <p:sp>
        <p:nvSpPr>
          <p:cNvPr id="1012" name="Google Shape;1012;p46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013" name="Google Shape;1013;p46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14" name="Google Shape;1014;p46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5" name="Google Shape;1015;p46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Analysis-Build Max Heap</a:t>
            </a:r>
            <a:endParaRPr/>
          </a:p>
        </p:txBody>
      </p:sp>
      <p:pic>
        <p:nvPicPr>
          <p:cNvPr id="1016" name="Google Shape;101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8794" y="2340129"/>
            <a:ext cx="5734717" cy="2177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47"/>
          <p:cNvSpPr txBox="1"/>
          <p:nvPr>
            <p:ph idx="1" type="body"/>
          </p:nvPr>
        </p:nvSpPr>
        <p:spPr>
          <a:xfrm>
            <a:off x="6052340" y="1148298"/>
            <a:ext cx="5090160" cy="4949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HEAPSORT procedure takes time O(n lg n)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since the call to BUILD-MAXHEAP takes time O(n)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Each of the n - 1 calls to MAX-HEAPIFY takes time O(lg n)</a:t>
            </a:r>
            <a:endParaRPr/>
          </a:p>
        </p:txBody>
      </p:sp>
      <p:sp>
        <p:nvSpPr>
          <p:cNvPr id="1022" name="Google Shape;1022;p47"/>
          <p:cNvSpPr txBox="1"/>
          <p:nvPr>
            <p:ph idx="10" type="dt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023" name="Google Shape;1023;p47"/>
          <p:cNvSpPr txBox="1"/>
          <p:nvPr>
            <p:ph idx="11" type="ftr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24" name="Google Shape;1024;p47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5" name="Google Shape;1025;p47"/>
          <p:cNvSpPr txBox="1"/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Time Complexity Analysis-Heap Sort</a:t>
            </a:r>
            <a:endParaRPr/>
          </a:p>
        </p:txBody>
      </p:sp>
      <p:pic>
        <p:nvPicPr>
          <p:cNvPr id="1026" name="Google Shape;102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1" y="2119754"/>
            <a:ext cx="5257800" cy="2618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4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032" name="Google Shape;1032;p4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033" name="Google Shape;1033;p48"/>
          <p:cNvSpPr txBox="1"/>
          <p:nvPr>
            <p:ph idx="10" type="dt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Sunday, January 11, 2026</a:t>
            </a:r>
            <a:endParaRPr/>
          </a:p>
        </p:txBody>
      </p:sp>
      <p:sp>
        <p:nvSpPr>
          <p:cNvPr id="1034" name="Google Shape;1034;p48"/>
          <p:cNvSpPr txBox="1"/>
          <p:nvPr>
            <p:ph idx="11" type="ftr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Asif Abrar, Dept of CSE, UIU</a:t>
            </a:r>
            <a:endParaRPr/>
          </a:p>
        </p:txBody>
      </p:sp>
      <p:sp>
        <p:nvSpPr>
          <p:cNvPr id="1035" name="Google Shape;1035;p48"/>
          <p:cNvSpPr txBox="1"/>
          <p:nvPr>
            <p:ph idx="12" type="sldNum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2023-03-19T03:25:32Z</dcterms:created>
  <dc:creator>lenovo</dc:creator>
</cp:coreProperties>
</file>