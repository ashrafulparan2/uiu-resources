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9144000"/>
  <p:embeddedFontLs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iO0MqnXEPM4P5Nk217Kge2/pn5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Tahoma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6041784d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b6041784d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6041784d1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b6041784d1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5dff2414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b5dff2414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6041784d1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b6041784d1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3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3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3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3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3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3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" name="Google Shape;39;p3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3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3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5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3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3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36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3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3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3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Tree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TREE - PART 1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Definition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Terminologies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Depth and Height</a:t>
            </a:r>
            <a:endParaRPr/>
          </a:p>
        </p:txBody>
      </p:sp>
      <p:sp>
        <p:nvSpPr>
          <p:cNvPr id="114" name="Google Shape;114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115" name="Google Shape;115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6" name="Google Shape;116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668936" y="3208225"/>
            <a:ext cx="10854128" cy="2930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A </a:t>
            </a:r>
            <a:r>
              <a:rPr b="1" lang="en-US"/>
              <a:t>connected</a:t>
            </a:r>
            <a:r>
              <a:rPr lang="en-US"/>
              <a:t> </a:t>
            </a:r>
            <a:r>
              <a:rPr b="1" lang="en-US"/>
              <a:t>acyclic</a:t>
            </a:r>
            <a:r>
              <a:rPr lang="en-US"/>
              <a:t> graph is a tree.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In computer science, a tree is an abstract model of a hierarchical structure.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A tree consists of nodes with a parent-child relationship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Applications: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Organizational charts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File systems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Programming environments</a:t>
            </a:r>
            <a:endParaRPr/>
          </a:p>
          <a:p>
            <a:pPr indent="-219551" lvl="0" marL="342900" marR="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123" name="Google Shape;123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 Tree?</a:t>
            </a:r>
            <a:endParaRPr/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5152"/>
          <a:stretch/>
        </p:blipFill>
        <p:spPr>
          <a:xfrm>
            <a:off x="3381375" y="989351"/>
            <a:ext cx="5429250" cy="2249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tree </a:t>
            </a:r>
            <a:r>
              <a:rPr b="1" lang="en-US"/>
              <a:t>T</a:t>
            </a:r>
            <a:r>
              <a:rPr lang="en-US"/>
              <a:t> is a set of nodes in a parent-child relationship with the following properties: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 has a special </a:t>
            </a:r>
            <a:r>
              <a:rPr b="1" lang="en-US"/>
              <a:t>node r</a:t>
            </a:r>
            <a:r>
              <a:rPr lang="en-US"/>
              <a:t>, called the root of T, with no parent node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Each node v of T, different from r, </a:t>
            </a:r>
            <a:r>
              <a:rPr b="1" lang="en-US"/>
              <a:t>has a parent node u</a:t>
            </a:r>
            <a:endParaRPr/>
          </a:p>
        </p:txBody>
      </p:sp>
      <p:sp>
        <p:nvSpPr>
          <p:cNvPr id="132" name="Google Shape;132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133" name="Google Shape;133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4" name="Google Shape;134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 Tree? (Cont.)</a:t>
            </a:r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150" y="3463920"/>
            <a:ext cx="36957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838201" y="1227909"/>
            <a:ext cx="6701852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Root</a:t>
            </a:r>
            <a:r>
              <a:rPr lang="en-US"/>
              <a:t>: node without parent (A)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Internal node:</a:t>
            </a:r>
            <a:r>
              <a:rPr lang="en-US"/>
              <a:t> node with at least one child (A, B, C, F)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External node (Leaf ):</a:t>
            </a:r>
            <a:r>
              <a:rPr lang="en-US"/>
              <a:t> node without children (E, I, J, K, G, H, D)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Ancestors of a node:</a:t>
            </a:r>
            <a:r>
              <a:rPr lang="en-US"/>
              <a:t> parent, grandparent, grand-grandparent, etc.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Descendants of a node:</a:t>
            </a:r>
            <a:r>
              <a:rPr lang="en-US"/>
              <a:t> child, grandchild, grand-grandchild, etc.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Depth of a node:</a:t>
            </a:r>
            <a:r>
              <a:rPr lang="en-US"/>
              <a:t> number of ancestors, excluding the node itself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Height of a tree:</a:t>
            </a:r>
            <a:r>
              <a:rPr lang="en-US"/>
              <a:t> maximum depth of any node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Siblings:</a:t>
            </a:r>
            <a:r>
              <a:rPr lang="en-US"/>
              <a:t> two nodes that are children of the same parent</a:t>
            </a:r>
            <a:endParaRPr/>
          </a:p>
        </p:txBody>
      </p:sp>
      <p:sp>
        <p:nvSpPr>
          <p:cNvPr id="142" name="Google Shape;142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143" name="Google Shape;143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4" name="Google Shape;144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Terminologies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9428813" y="1394085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8318291" y="2355954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10260770" y="2294216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1325072" y="2294215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540053" y="3767664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754258" y="3767663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7832361" y="4992593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754258" y="4990901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9676155" y="4989209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9968461" y="3730945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11032763" y="3742032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cxnSp>
        <p:nvCxnSpPr>
          <p:cNvPr id="157" name="Google Shape;157;p5"/>
          <p:cNvCxnSpPr>
            <a:stCxn id="147" idx="0"/>
            <a:endCxn id="146" idx="2"/>
          </p:cNvCxnSpPr>
          <p:nvPr/>
        </p:nvCxnSpPr>
        <p:spPr>
          <a:xfrm flipH="1" rot="10800000">
            <a:off x="8610600" y="1873854"/>
            <a:ext cx="1110600" cy="48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" name="Google Shape;158;p5"/>
          <p:cNvCxnSpPr>
            <a:stCxn id="148" idx="0"/>
            <a:endCxn id="146" idx="2"/>
          </p:cNvCxnSpPr>
          <p:nvPr/>
        </p:nvCxnSpPr>
        <p:spPr>
          <a:xfrm rot="10800000">
            <a:off x="9721179" y="1873916"/>
            <a:ext cx="831900" cy="4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" name="Google Shape;159;p5"/>
          <p:cNvCxnSpPr>
            <a:stCxn id="149" idx="0"/>
            <a:endCxn id="146" idx="2"/>
          </p:cNvCxnSpPr>
          <p:nvPr/>
        </p:nvCxnSpPr>
        <p:spPr>
          <a:xfrm rot="10800000">
            <a:off x="9721081" y="1873915"/>
            <a:ext cx="1896300" cy="4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5"/>
          <p:cNvCxnSpPr>
            <a:stCxn id="147" idx="2"/>
            <a:endCxn id="150" idx="0"/>
          </p:cNvCxnSpPr>
          <p:nvPr/>
        </p:nvCxnSpPr>
        <p:spPr>
          <a:xfrm flipH="1">
            <a:off x="7832400" y="2835639"/>
            <a:ext cx="778200" cy="93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5"/>
          <p:cNvCxnSpPr>
            <a:stCxn id="147" idx="2"/>
            <a:endCxn id="151" idx="0"/>
          </p:cNvCxnSpPr>
          <p:nvPr/>
        </p:nvCxnSpPr>
        <p:spPr>
          <a:xfrm>
            <a:off x="8610600" y="2835639"/>
            <a:ext cx="435900" cy="93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5"/>
          <p:cNvCxnSpPr>
            <a:stCxn id="148" idx="2"/>
            <a:endCxn id="155" idx="0"/>
          </p:cNvCxnSpPr>
          <p:nvPr/>
        </p:nvCxnSpPr>
        <p:spPr>
          <a:xfrm flipH="1">
            <a:off x="10260879" y="2773901"/>
            <a:ext cx="292200" cy="95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5"/>
          <p:cNvCxnSpPr>
            <a:stCxn id="148" idx="2"/>
            <a:endCxn id="156" idx="0"/>
          </p:cNvCxnSpPr>
          <p:nvPr/>
        </p:nvCxnSpPr>
        <p:spPr>
          <a:xfrm>
            <a:off x="10553079" y="2773901"/>
            <a:ext cx="771900" cy="9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" name="Google Shape;164;p5"/>
          <p:cNvCxnSpPr>
            <a:stCxn id="151" idx="2"/>
            <a:endCxn id="152" idx="0"/>
          </p:cNvCxnSpPr>
          <p:nvPr/>
        </p:nvCxnSpPr>
        <p:spPr>
          <a:xfrm flipH="1">
            <a:off x="8124667" y="4247348"/>
            <a:ext cx="921900" cy="745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5"/>
          <p:cNvCxnSpPr>
            <a:stCxn id="151" idx="2"/>
            <a:endCxn id="153" idx="0"/>
          </p:cNvCxnSpPr>
          <p:nvPr/>
        </p:nvCxnSpPr>
        <p:spPr>
          <a:xfrm>
            <a:off x="9046567" y="4247348"/>
            <a:ext cx="0" cy="74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5"/>
          <p:cNvCxnSpPr>
            <a:stCxn id="151" idx="2"/>
            <a:endCxn id="154" idx="0"/>
          </p:cNvCxnSpPr>
          <p:nvPr/>
        </p:nvCxnSpPr>
        <p:spPr>
          <a:xfrm>
            <a:off x="9046567" y="4247348"/>
            <a:ext cx="921900" cy="74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will explore the implementation codes for Trees later 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For now lets us get some general idea about some tree related algorithms</a:t>
            </a:r>
            <a:endParaRPr/>
          </a:p>
        </p:txBody>
      </p:sp>
      <p:sp>
        <p:nvSpPr>
          <p:cNvPr id="172" name="Google Shape;172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173" name="Google Shape;173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4" name="Google Shape;174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Note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</a:t>
            </a:r>
            <a:r>
              <a:rPr b="1" lang="en-US"/>
              <a:t>depth</a:t>
            </a:r>
            <a:r>
              <a:rPr lang="en-US"/>
              <a:t> of a node v can be recursively defined as follows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If v is the root, then the depth of v is 0.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Otherwise, the depth of v is one plus the depth of the parent of v</a:t>
            </a:r>
            <a:endParaRPr/>
          </a:p>
        </p:txBody>
      </p:sp>
      <p:sp>
        <p:nvSpPr>
          <p:cNvPr id="181" name="Google Shape;181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182" name="Google Shape;182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83" name="Google Shape;183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Depth and Height of a Node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3581400" y="2952435"/>
            <a:ext cx="5602239" cy="267765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depth(T, v)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T.isRoot(v)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 + depth(T, T.parent(v))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idx="1" type="body"/>
          </p:nvPr>
        </p:nvSpPr>
        <p:spPr>
          <a:xfrm>
            <a:off x="838200" y="869430"/>
            <a:ext cx="10515600" cy="5307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</a:t>
            </a:r>
            <a:r>
              <a:rPr b="1" lang="en-US"/>
              <a:t>height</a:t>
            </a:r>
            <a:r>
              <a:rPr lang="en-US"/>
              <a:t> of a node v can be recursively defined as follows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If v is a leaf node, then the height of v is 0.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Otherwise, the height of v is one plus the maximum height of a child of v The height of a tree T is the height of the root of T The height of a tree T is equal to the maximum depth of a leaf node of T</a:t>
            </a:r>
            <a:endParaRPr/>
          </a:p>
        </p:txBody>
      </p:sp>
      <p:sp>
        <p:nvSpPr>
          <p:cNvPr id="191" name="Google Shape;191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192" name="Google Shape;192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3" name="Google Shape;193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Depth and Height of a Node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581400" y="2953445"/>
            <a:ext cx="4623445" cy="353943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height(T, v)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T.isLeaf(v)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return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w ε T.children(v)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max(h, height(T, w))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return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+ 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TREE - PART 2</a:t>
            </a:r>
            <a:endParaRPr/>
          </a:p>
        </p:txBody>
      </p:sp>
      <p:sp>
        <p:nvSpPr>
          <p:cNvPr id="201" name="Google Shape;201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Ordered Trees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Tree Traversal</a:t>
            </a:r>
            <a:endParaRPr/>
          </a:p>
        </p:txBody>
      </p:sp>
      <p:sp>
        <p:nvSpPr>
          <p:cNvPr id="202" name="Google Shape;202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203" name="Google Shape;203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04" name="Google Shape;204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idx="1" type="body"/>
          </p:nvPr>
        </p:nvSpPr>
        <p:spPr>
          <a:xfrm>
            <a:off x="838200" y="1227909"/>
            <a:ext cx="5367728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tree is </a:t>
            </a:r>
            <a:r>
              <a:rPr b="1" lang="en-US"/>
              <a:t>ordered</a:t>
            </a:r>
            <a:r>
              <a:rPr lang="en-US"/>
              <a:t> if there is a linear ordering defined for each child of each node.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</a:t>
            </a:r>
            <a:r>
              <a:rPr lang="en-US"/>
              <a:t> is an ordered tree in which every node has at most two children.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If each node of a tree has either zero or two children, the tree is called a </a:t>
            </a:r>
            <a:r>
              <a:rPr b="1" lang="en-US"/>
              <a:t>proper</a:t>
            </a:r>
            <a:r>
              <a:rPr lang="en-US"/>
              <a:t>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tree.</a:t>
            </a:r>
            <a:endParaRPr/>
          </a:p>
        </p:txBody>
      </p:sp>
      <p:sp>
        <p:nvSpPr>
          <p:cNvPr id="210" name="Google Shape;210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211" name="Google Shape;211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12" name="Google Shape;212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Ordered Trees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idx="1" type="body"/>
          </p:nvPr>
        </p:nvSpPr>
        <p:spPr>
          <a:xfrm>
            <a:off x="838200" y="1227909"/>
            <a:ext cx="5367728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tree is </a:t>
            </a:r>
            <a:r>
              <a:rPr b="1" lang="en-US"/>
              <a:t>ordered</a:t>
            </a:r>
            <a:r>
              <a:rPr lang="en-US"/>
              <a:t> if there is a linear ordering defined for each child of each node.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</a:t>
            </a:r>
            <a:r>
              <a:rPr lang="en-US"/>
              <a:t> is an ordered tree in which every node has at most two children.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If each node of a tree has either zero or two children, the tree is called a </a:t>
            </a:r>
            <a:r>
              <a:rPr b="1" lang="en-US"/>
              <a:t>proper</a:t>
            </a:r>
            <a:r>
              <a:rPr lang="en-US"/>
              <a:t>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tree.</a:t>
            </a:r>
            <a:endParaRPr/>
          </a:p>
        </p:txBody>
      </p:sp>
      <p:sp>
        <p:nvSpPr>
          <p:cNvPr id="219" name="Google Shape;219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220" name="Google Shape;220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1" name="Google Shape;221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Ordered Trees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8872924" y="1227909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762402" y="2189778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9704881" y="2128040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10769183" y="2128039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6984164" y="3601488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198369" y="3601487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7276472" y="4826417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8198369" y="4824725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9120266" y="4823033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9412572" y="3564769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10476874" y="3575856"/>
            <a:ext cx="584617" cy="479685"/>
          </a:xfrm>
          <a:prstGeom prst="roundRect">
            <a:avLst>
              <a:gd fmla="val 16667" name="adj"/>
            </a:avLst>
          </a:prstGeom>
          <a:solidFill>
            <a:srgbClr val="F4B08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cxnSp>
        <p:nvCxnSpPr>
          <p:cNvPr id="234" name="Google Shape;234;p11"/>
          <p:cNvCxnSpPr>
            <a:stCxn id="224" idx="0"/>
            <a:endCxn id="223" idx="2"/>
          </p:cNvCxnSpPr>
          <p:nvPr/>
        </p:nvCxnSpPr>
        <p:spPr>
          <a:xfrm flipH="1" rot="10800000">
            <a:off x="8054711" y="1707678"/>
            <a:ext cx="1110600" cy="48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5" name="Google Shape;235;p11"/>
          <p:cNvCxnSpPr>
            <a:stCxn id="225" idx="0"/>
            <a:endCxn id="223" idx="2"/>
          </p:cNvCxnSpPr>
          <p:nvPr/>
        </p:nvCxnSpPr>
        <p:spPr>
          <a:xfrm rot="10800000">
            <a:off x="9165290" y="1707740"/>
            <a:ext cx="831900" cy="4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6" name="Google Shape;236;p11"/>
          <p:cNvCxnSpPr>
            <a:stCxn id="226" idx="0"/>
            <a:endCxn id="223" idx="2"/>
          </p:cNvCxnSpPr>
          <p:nvPr/>
        </p:nvCxnSpPr>
        <p:spPr>
          <a:xfrm rot="10800000">
            <a:off x="9165192" y="1707739"/>
            <a:ext cx="1896300" cy="4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7" name="Google Shape;237;p11"/>
          <p:cNvCxnSpPr>
            <a:stCxn id="224" idx="2"/>
            <a:endCxn id="227" idx="0"/>
          </p:cNvCxnSpPr>
          <p:nvPr/>
        </p:nvCxnSpPr>
        <p:spPr>
          <a:xfrm flipH="1">
            <a:off x="7276511" y="2669463"/>
            <a:ext cx="778200" cy="93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8" name="Google Shape;238;p11"/>
          <p:cNvCxnSpPr>
            <a:stCxn id="224" idx="2"/>
            <a:endCxn id="228" idx="0"/>
          </p:cNvCxnSpPr>
          <p:nvPr/>
        </p:nvCxnSpPr>
        <p:spPr>
          <a:xfrm>
            <a:off x="8054711" y="2669463"/>
            <a:ext cx="435900" cy="93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9" name="Google Shape;239;p11"/>
          <p:cNvCxnSpPr>
            <a:stCxn id="225" idx="2"/>
            <a:endCxn id="232" idx="0"/>
          </p:cNvCxnSpPr>
          <p:nvPr/>
        </p:nvCxnSpPr>
        <p:spPr>
          <a:xfrm flipH="1">
            <a:off x="9704990" y="2607725"/>
            <a:ext cx="292200" cy="95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0" name="Google Shape;240;p11"/>
          <p:cNvCxnSpPr>
            <a:stCxn id="225" idx="2"/>
            <a:endCxn id="233" idx="0"/>
          </p:cNvCxnSpPr>
          <p:nvPr/>
        </p:nvCxnSpPr>
        <p:spPr>
          <a:xfrm>
            <a:off x="9997190" y="2607725"/>
            <a:ext cx="771900" cy="96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" name="Google Shape;241;p11"/>
          <p:cNvCxnSpPr>
            <a:stCxn id="228" idx="2"/>
            <a:endCxn id="229" idx="0"/>
          </p:cNvCxnSpPr>
          <p:nvPr/>
        </p:nvCxnSpPr>
        <p:spPr>
          <a:xfrm flipH="1">
            <a:off x="7568778" y="4081172"/>
            <a:ext cx="921900" cy="745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2" name="Google Shape;242;p11"/>
          <p:cNvCxnSpPr>
            <a:stCxn id="228" idx="2"/>
            <a:endCxn id="230" idx="0"/>
          </p:cNvCxnSpPr>
          <p:nvPr/>
        </p:nvCxnSpPr>
        <p:spPr>
          <a:xfrm>
            <a:off x="8490678" y="4081172"/>
            <a:ext cx="0" cy="74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11"/>
          <p:cNvCxnSpPr>
            <a:stCxn id="228" idx="2"/>
            <a:endCxn id="231" idx="0"/>
          </p:cNvCxnSpPr>
          <p:nvPr/>
        </p:nvCxnSpPr>
        <p:spPr>
          <a:xfrm>
            <a:off x="8490678" y="4081172"/>
            <a:ext cx="921900" cy="74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11"/>
          <p:cNvSpPr txBox="1"/>
          <p:nvPr/>
        </p:nvSpPr>
        <p:spPr>
          <a:xfrm>
            <a:off x="7630341" y="5564894"/>
            <a:ext cx="411516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happens if it is an ordered tree?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happens if it is not an ordered tree?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05353" y="1345994"/>
            <a:ext cx="432847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/>
          <p:nvPr>
            <p:ph idx="1" type="body"/>
          </p:nvPr>
        </p:nvSpPr>
        <p:spPr>
          <a:xfrm>
            <a:off x="838200" y="1227909"/>
            <a:ext cx="5367728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tree is </a:t>
            </a:r>
            <a:r>
              <a:rPr b="1" lang="en-US"/>
              <a:t>ordered</a:t>
            </a:r>
            <a:r>
              <a:rPr lang="en-US"/>
              <a:t> if there is a linear ordering defined for each child of each node.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</a:t>
            </a:r>
            <a:r>
              <a:rPr lang="en-US"/>
              <a:t> is an </a:t>
            </a:r>
            <a:r>
              <a:rPr b="1" lang="en-US"/>
              <a:t>ordered</a:t>
            </a:r>
            <a:r>
              <a:rPr lang="en-US"/>
              <a:t> tree in which every node has </a:t>
            </a:r>
            <a:r>
              <a:rPr b="1" lang="en-US"/>
              <a:t>at</a:t>
            </a:r>
            <a:r>
              <a:rPr lang="en-US"/>
              <a:t> </a:t>
            </a:r>
            <a:r>
              <a:rPr b="1" lang="en-US"/>
              <a:t>most</a:t>
            </a:r>
            <a:r>
              <a:rPr lang="en-US"/>
              <a:t> two children.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If each node of a tree has either zero or two children, the tree is called a </a:t>
            </a:r>
            <a:r>
              <a:rPr b="1" lang="en-US"/>
              <a:t>proper</a:t>
            </a:r>
            <a:r>
              <a:rPr lang="en-US"/>
              <a:t>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tree.</a:t>
            </a:r>
            <a:endParaRPr/>
          </a:p>
        </p:txBody>
      </p:sp>
      <p:sp>
        <p:nvSpPr>
          <p:cNvPr id="251" name="Google Shape;251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252" name="Google Shape;252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53" name="Google Shape;253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Ordered Trees</a:t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405353" y="2669463"/>
            <a:ext cx="432847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 txBox="1"/>
          <p:nvPr>
            <p:ph idx="1" type="body"/>
          </p:nvPr>
        </p:nvSpPr>
        <p:spPr>
          <a:xfrm>
            <a:off x="838200" y="1227909"/>
            <a:ext cx="5367728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tree is </a:t>
            </a:r>
            <a:r>
              <a:rPr b="1" lang="en-US"/>
              <a:t>ordered</a:t>
            </a:r>
            <a:r>
              <a:rPr lang="en-US"/>
              <a:t> if there is a linear ordering defined for each child of each node.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</a:t>
            </a:r>
            <a:r>
              <a:rPr lang="en-US"/>
              <a:t> is an </a:t>
            </a:r>
            <a:r>
              <a:rPr b="1" lang="en-US"/>
              <a:t>ordered</a:t>
            </a:r>
            <a:r>
              <a:rPr lang="en-US"/>
              <a:t> tree in which every node has </a:t>
            </a:r>
            <a:r>
              <a:rPr b="1" lang="en-US"/>
              <a:t>at</a:t>
            </a:r>
            <a:r>
              <a:rPr lang="en-US"/>
              <a:t> </a:t>
            </a:r>
            <a:r>
              <a:rPr b="1" lang="en-US"/>
              <a:t>most</a:t>
            </a:r>
            <a:r>
              <a:rPr lang="en-US"/>
              <a:t> two children.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If each node of a tree has either zero or two children, the tree is called a </a:t>
            </a:r>
            <a:r>
              <a:rPr b="1" lang="en-US"/>
              <a:t>proper</a:t>
            </a:r>
            <a:r>
              <a:rPr lang="en-US"/>
              <a:t>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tree.</a:t>
            </a:r>
            <a:endParaRPr/>
          </a:p>
        </p:txBody>
      </p:sp>
      <p:sp>
        <p:nvSpPr>
          <p:cNvPr id="261" name="Google Shape;261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262" name="Google Shape;262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63" name="Google Shape;263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Ordered Trees</a:t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405353" y="2669463"/>
            <a:ext cx="432847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3572" y="1581150"/>
            <a:ext cx="555307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 txBox="1"/>
          <p:nvPr/>
        </p:nvSpPr>
        <p:spPr>
          <a:xfrm>
            <a:off x="7685419" y="5592762"/>
            <a:ext cx="2649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Recall the term m-ary tree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"/>
          <p:cNvSpPr txBox="1"/>
          <p:nvPr>
            <p:ph idx="1" type="body"/>
          </p:nvPr>
        </p:nvSpPr>
        <p:spPr>
          <a:xfrm>
            <a:off x="838200" y="1227909"/>
            <a:ext cx="5367728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tree is </a:t>
            </a:r>
            <a:r>
              <a:rPr b="1" lang="en-US"/>
              <a:t>ordered</a:t>
            </a:r>
            <a:r>
              <a:rPr lang="en-US"/>
              <a:t> if there is a linear ordering defined for each child of each node.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</a:t>
            </a:r>
            <a:r>
              <a:rPr lang="en-US"/>
              <a:t> is an </a:t>
            </a:r>
            <a:r>
              <a:rPr b="1" lang="en-US"/>
              <a:t>ordered</a:t>
            </a:r>
            <a:r>
              <a:rPr lang="en-US"/>
              <a:t> tree in which every node has </a:t>
            </a:r>
            <a:r>
              <a:rPr b="1" lang="en-US"/>
              <a:t>at</a:t>
            </a:r>
            <a:r>
              <a:rPr lang="en-US"/>
              <a:t> </a:t>
            </a:r>
            <a:r>
              <a:rPr b="1" lang="en-US"/>
              <a:t>most</a:t>
            </a:r>
            <a:r>
              <a:rPr lang="en-US"/>
              <a:t> two children.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If each node of a tree has either zero or two children, the tree is called a </a:t>
            </a:r>
            <a:r>
              <a:rPr b="1" lang="en-US"/>
              <a:t>proper</a:t>
            </a:r>
            <a:r>
              <a:rPr lang="en-US"/>
              <a:t>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tree.</a:t>
            </a:r>
            <a:endParaRPr/>
          </a:p>
        </p:txBody>
      </p:sp>
      <p:sp>
        <p:nvSpPr>
          <p:cNvPr id="273" name="Google Shape;273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274" name="Google Shape;274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75" name="Google Shape;275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Ordered Trees</a:t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405353" y="4003588"/>
            <a:ext cx="432847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 txBox="1"/>
          <p:nvPr>
            <p:ph idx="1" type="body"/>
          </p:nvPr>
        </p:nvSpPr>
        <p:spPr>
          <a:xfrm>
            <a:off x="838200" y="1227909"/>
            <a:ext cx="5367728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tree is </a:t>
            </a:r>
            <a:r>
              <a:rPr b="1" lang="en-US"/>
              <a:t>ordered</a:t>
            </a:r>
            <a:r>
              <a:rPr lang="en-US"/>
              <a:t> if there is a linear ordering defined for each child of each node.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</a:t>
            </a:r>
            <a:r>
              <a:rPr lang="en-US"/>
              <a:t> is an </a:t>
            </a:r>
            <a:r>
              <a:rPr b="1" lang="en-US"/>
              <a:t>ordered</a:t>
            </a:r>
            <a:r>
              <a:rPr lang="en-US"/>
              <a:t> tree in which every node has </a:t>
            </a:r>
            <a:r>
              <a:rPr b="1" lang="en-US"/>
              <a:t>at</a:t>
            </a:r>
            <a:r>
              <a:rPr lang="en-US"/>
              <a:t> </a:t>
            </a:r>
            <a:r>
              <a:rPr b="1" lang="en-US"/>
              <a:t>most</a:t>
            </a:r>
            <a:r>
              <a:rPr lang="en-US"/>
              <a:t> two children.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If each node of a tree has either zero or two children, the tree is called a </a:t>
            </a:r>
            <a:r>
              <a:rPr b="1" lang="en-US"/>
              <a:t>proper</a:t>
            </a:r>
            <a:r>
              <a:rPr lang="en-US"/>
              <a:t> </a:t>
            </a:r>
            <a:r>
              <a:rPr b="1" lang="en-US"/>
              <a:t>binary</a:t>
            </a:r>
            <a:r>
              <a:rPr lang="en-US"/>
              <a:t> </a:t>
            </a:r>
            <a:r>
              <a:rPr b="1" lang="en-US"/>
              <a:t>tree.</a:t>
            </a:r>
            <a:endParaRPr/>
          </a:p>
        </p:txBody>
      </p:sp>
      <p:sp>
        <p:nvSpPr>
          <p:cNvPr id="283" name="Google Shape;283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284" name="Google Shape;284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85" name="Google Shape;285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Ordered Trees</a:t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405353" y="4003588"/>
            <a:ext cx="432847" cy="3651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7340230" y="5592762"/>
            <a:ext cx="33397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Recall the term proper m-ary tree</a:t>
            </a:r>
            <a:endParaRPr/>
          </a:p>
        </p:txBody>
      </p:sp>
      <p:pic>
        <p:nvPicPr>
          <p:cNvPr id="289" name="Google Shape;2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7560" y="1628804"/>
            <a:ext cx="5118142" cy="282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6041784d1_0_0"/>
          <p:cNvSpPr txBox="1"/>
          <p:nvPr>
            <p:ph idx="1" type="body"/>
          </p:nvPr>
        </p:nvSpPr>
        <p:spPr>
          <a:xfrm>
            <a:off x="838200" y="1227909"/>
            <a:ext cx="5367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Arial"/>
              <a:buChar char="●"/>
            </a:pPr>
            <a:r>
              <a:rPr b="1" lang="en-US"/>
              <a:t>Complete</a:t>
            </a:r>
            <a:r>
              <a:rPr lang="en-US"/>
              <a:t> - </a:t>
            </a:r>
            <a:r>
              <a:rPr lang="en-US"/>
              <a:t>All levels full except possibly last; last filled </a:t>
            </a:r>
            <a:r>
              <a:rPr b="1" lang="en-US"/>
              <a:t>left to right</a:t>
            </a:r>
            <a:endParaRPr/>
          </a:p>
          <a:p>
            <a:pPr indent="-3873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Arial"/>
              <a:buChar char="●"/>
            </a:pPr>
            <a:r>
              <a:rPr b="1" lang="en-US"/>
              <a:t>Perfect</a:t>
            </a:r>
            <a:r>
              <a:rPr lang="en-US"/>
              <a:t> - Proper + </a:t>
            </a:r>
            <a:r>
              <a:rPr b="1" lang="en-US"/>
              <a:t>all leaves at same level</a:t>
            </a:r>
            <a:r>
              <a:rPr lang="en-US"/>
              <a:t> + </a:t>
            </a:r>
            <a:r>
              <a:rPr b="1" lang="en-US"/>
              <a:t>all levels filled</a:t>
            </a:r>
            <a:r>
              <a:rPr lang="en-US"/>
              <a:t>. </a:t>
            </a:r>
            <a:endParaRPr/>
          </a:p>
        </p:txBody>
      </p:sp>
      <p:sp>
        <p:nvSpPr>
          <p:cNvPr id="295" name="Google Shape;295;g3b6041784d1_0_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296" name="Google Shape;296;g3b6041784d1_0_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97" name="Google Shape;297;g3b6041784d1_0_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g3b6041784d1_0_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Ordered Trees</a:t>
            </a:r>
            <a:endParaRPr/>
          </a:p>
        </p:txBody>
      </p:sp>
      <p:sp>
        <p:nvSpPr>
          <p:cNvPr id="299" name="Google Shape;299;g3b6041784d1_0_0"/>
          <p:cNvSpPr/>
          <p:nvPr/>
        </p:nvSpPr>
        <p:spPr>
          <a:xfrm>
            <a:off x="405303" y="1346438"/>
            <a:ext cx="432900" cy="3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b6041784d1_0_0"/>
          <p:cNvSpPr txBox="1"/>
          <p:nvPr/>
        </p:nvSpPr>
        <p:spPr>
          <a:xfrm>
            <a:off x="7340230" y="5592762"/>
            <a:ext cx="33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Complete Binary Tree</a:t>
            </a:r>
            <a:endParaRPr/>
          </a:p>
        </p:txBody>
      </p:sp>
      <p:pic>
        <p:nvPicPr>
          <p:cNvPr id="301" name="Google Shape;301;g3b6041784d1_0_0"/>
          <p:cNvPicPr preferRelativeResize="0"/>
          <p:nvPr/>
        </p:nvPicPr>
        <p:blipFill rotWithShape="1">
          <a:blip r:embed="rId3">
            <a:alphaModFix/>
          </a:blip>
          <a:srcRect b="0" l="13502" r="0" t="0"/>
          <a:stretch/>
        </p:blipFill>
        <p:spPr>
          <a:xfrm>
            <a:off x="6076899" y="1227895"/>
            <a:ext cx="5367600" cy="419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6041784d1_0_22"/>
          <p:cNvSpPr txBox="1"/>
          <p:nvPr>
            <p:ph idx="1" type="body"/>
          </p:nvPr>
        </p:nvSpPr>
        <p:spPr>
          <a:xfrm>
            <a:off x="838200" y="1227909"/>
            <a:ext cx="5367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Arial"/>
              <a:buChar char="●"/>
            </a:pPr>
            <a:r>
              <a:rPr b="1" lang="en-US"/>
              <a:t>Complete</a:t>
            </a:r>
            <a:r>
              <a:rPr lang="en-US"/>
              <a:t> - All levels full except possibly last; last filled </a:t>
            </a:r>
            <a:r>
              <a:rPr b="1" lang="en-US"/>
              <a:t>left to right</a:t>
            </a:r>
            <a:endParaRPr/>
          </a:p>
          <a:p>
            <a:pPr indent="-3873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Arial"/>
              <a:buChar char="●"/>
            </a:pPr>
            <a:r>
              <a:rPr b="1" lang="en-US"/>
              <a:t>Perfect</a:t>
            </a:r>
            <a:r>
              <a:rPr lang="en-US"/>
              <a:t> - Proper + </a:t>
            </a:r>
            <a:r>
              <a:rPr b="1" lang="en-US"/>
              <a:t>all leaves at same level</a:t>
            </a:r>
            <a:r>
              <a:rPr lang="en-US"/>
              <a:t> + </a:t>
            </a:r>
            <a:r>
              <a:rPr b="1" lang="en-US"/>
              <a:t>all levels filled</a:t>
            </a:r>
            <a:r>
              <a:rPr lang="en-US"/>
              <a:t>. </a:t>
            </a:r>
            <a:r>
              <a:rPr lang="en-US"/>
              <a:t> </a:t>
            </a:r>
            <a:endParaRPr/>
          </a:p>
        </p:txBody>
      </p:sp>
      <p:sp>
        <p:nvSpPr>
          <p:cNvPr id="307" name="Google Shape;307;g3b6041784d1_0_2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08" name="Google Shape;308;g3b6041784d1_0_2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09" name="Google Shape;309;g3b6041784d1_0_2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g3b6041784d1_0_22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Ordered Trees</a:t>
            </a:r>
            <a:endParaRPr/>
          </a:p>
        </p:txBody>
      </p:sp>
      <p:sp>
        <p:nvSpPr>
          <p:cNvPr id="311" name="Google Shape;311;g3b6041784d1_0_22"/>
          <p:cNvSpPr/>
          <p:nvPr/>
        </p:nvSpPr>
        <p:spPr>
          <a:xfrm>
            <a:off x="405303" y="2763588"/>
            <a:ext cx="432900" cy="3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b6041784d1_0_22"/>
          <p:cNvSpPr txBox="1"/>
          <p:nvPr/>
        </p:nvSpPr>
        <p:spPr>
          <a:xfrm>
            <a:off x="7340230" y="5592762"/>
            <a:ext cx="33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Complete Binary Tree</a:t>
            </a:r>
            <a:endParaRPr/>
          </a:p>
        </p:txBody>
      </p:sp>
      <p:pic>
        <p:nvPicPr>
          <p:cNvPr id="313" name="Google Shape;313;g3b6041784d1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575" y="1341975"/>
            <a:ext cx="6095650" cy="42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 traversal of a tree T is a systematic way of visiting </a:t>
            </a:r>
            <a:r>
              <a:rPr b="1" lang="en-US"/>
              <a:t>all the nodes </a:t>
            </a:r>
            <a:r>
              <a:rPr lang="en-US"/>
              <a:t>of T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Traversing a tree involves visiting the </a:t>
            </a:r>
            <a:r>
              <a:rPr b="1" lang="en-US"/>
              <a:t>root</a:t>
            </a:r>
            <a:r>
              <a:rPr lang="en-US"/>
              <a:t> and traversing its </a:t>
            </a:r>
            <a:r>
              <a:rPr b="1" lang="en-US"/>
              <a:t>subtrees</a:t>
            </a:r>
            <a:r>
              <a:rPr lang="en-US"/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There are the following traversal methods: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Preorder Traversal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Postorder Traversal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Inorder Traversal</a:t>
            </a:r>
            <a:endParaRPr/>
          </a:p>
        </p:txBody>
      </p:sp>
      <p:sp>
        <p:nvSpPr>
          <p:cNvPr id="319" name="Google Shape;319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20" name="Google Shape;320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21" name="Google Shape;321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Traversal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5dff24147_0_0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b5dff24147_0_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29" name="Google Shape;329;g3b5dff24147_0_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30" name="Google Shape;330;g3b5dff24147_0_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g3b5dff24147_0_0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Traversal</a:t>
            </a:r>
            <a:endParaRPr/>
          </a:p>
        </p:txBody>
      </p:sp>
      <p:pic>
        <p:nvPicPr>
          <p:cNvPr id="332" name="Google Shape;332;g3b5dff24147_0_0"/>
          <p:cNvPicPr preferRelativeResize="0"/>
          <p:nvPr/>
        </p:nvPicPr>
        <p:blipFill rotWithShape="1">
          <a:blip r:embed="rId3">
            <a:alphaModFix/>
          </a:blip>
          <a:srcRect b="0" l="4058" r="0" t="4058"/>
          <a:stretch/>
        </p:blipFill>
        <p:spPr>
          <a:xfrm>
            <a:off x="509525" y="912538"/>
            <a:ext cx="11172926" cy="54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/>
              <a:t>Preorder Traversal (General Tree)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 a preorder traversal, a node is visited before its descendants.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 If a tree is ordered, then the subtrees are traversed according to the order of the children</a:t>
            </a:r>
            <a:endParaRPr/>
          </a:p>
        </p:txBody>
      </p:sp>
      <p:sp>
        <p:nvSpPr>
          <p:cNvPr id="338" name="Google Shape;338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39" name="Google Shape;339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40" name="Google Shape;340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Traversal</a:t>
            </a:r>
            <a:endParaRPr/>
          </a:p>
        </p:txBody>
      </p:sp>
      <p:pic>
        <p:nvPicPr>
          <p:cNvPr id="342" name="Google Shape;3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575" y="3429000"/>
            <a:ext cx="527685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/>
              <a:t>Preorder Traversal (Binary Tree)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Visit the root.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Traverse the left subtree in Preorder.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Traverse the right subtree in Preorder.</a:t>
            </a:r>
            <a:endParaRPr/>
          </a:p>
        </p:txBody>
      </p:sp>
      <p:sp>
        <p:nvSpPr>
          <p:cNvPr id="348" name="Google Shape;348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49" name="Google Shape;349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50" name="Google Shape;350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Traversal</a:t>
            </a:r>
            <a:endParaRPr/>
          </a:p>
        </p:txBody>
      </p:sp>
      <p:pic>
        <p:nvPicPr>
          <p:cNvPr id="352" name="Google Shape;3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7575" y="3429000"/>
            <a:ext cx="527685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/>
              <a:t>Postorder Traversal (General Tree)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 a postorder traversal, a node is visited after its descendants </a:t>
            </a:r>
            <a:endParaRPr/>
          </a:p>
        </p:txBody>
      </p:sp>
      <p:sp>
        <p:nvSpPr>
          <p:cNvPr id="358" name="Google Shape;358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59" name="Google Shape;359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60" name="Google Shape;360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Traversal</a:t>
            </a:r>
            <a:endParaRPr/>
          </a:p>
        </p:txBody>
      </p:sp>
      <p:pic>
        <p:nvPicPr>
          <p:cNvPr id="362" name="Google Shape;3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8813" y="2852303"/>
            <a:ext cx="6174374" cy="306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/>
              <a:t>Postorder Traversal (Binary Tree)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Traverse the left subtree in Preorder.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Traverse the right subtree in Preorder.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Visit the root.</a:t>
            </a:r>
            <a:endParaRPr/>
          </a:p>
        </p:txBody>
      </p:sp>
      <p:sp>
        <p:nvSpPr>
          <p:cNvPr id="368" name="Google Shape;368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69" name="Google Shape;369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70" name="Google Shape;370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Traversal</a:t>
            </a:r>
            <a:endParaRPr/>
          </a:p>
        </p:txBody>
      </p:sp>
      <p:pic>
        <p:nvPicPr>
          <p:cNvPr id="372" name="Google Shape;3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2007" y="3291840"/>
            <a:ext cx="5320699" cy="2644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/>
              <a:t>Inorder Traversal (General Tree)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 an inorder traversal a node is visited after its left subtree and before its right subtree</a:t>
            </a:r>
            <a:endParaRPr/>
          </a:p>
        </p:txBody>
      </p:sp>
      <p:sp>
        <p:nvSpPr>
          <p:cNvPr id="378" name="Google Shape;378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79" name="Google Shape;379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0" name="Google Shape;380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Traversal</a:t>
            </a:r>
            <a:endParaRPr/>
          </a:p>
        </p:txBody>
      </p:sp>
      <p:pic>
        <p:nvPicPr>
          <p:cNvPr id="382" name="Google Shape;3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8097" y="3226921"/>
            <a:ext cx="4535805" cy="2673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/>
              <a:t>Inorder Traversal (Binary Tree)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Traverse the left subtree in inorder.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Visit the root.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Traverse the right subtree in inorder. </a:t>
            </a:r>
            <a:endParaRPr/>
          </a:p>
        </p:txBody>
      </p:sp>
      <p:sp>
        <p:nvSpPr>
          <p:cNvPr id="388" name="Google Shape;388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89" name="Google Shape;389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90" name="Google Shape;390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Tree Traversal</a:t>
            </a:r>
            <a:endParaRPr/>
          </a:p>
        </p:txBody>
      </p:sp>
      <p:pic>
        <p:nvPicPr>
          <p:cNvPr id="392" name="Google Shape;3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4795" y="3429000"/>
            <a:ext cx="4535805" cy="2673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 a level order traversal, every node on a level is visited before going to a lower level </a:t>
            </a:r>
            <a:endParaRPr/>
          </a:p>
        </p:txBody>
      </p:sp>
      <p:sp>
        <p:nvSpPr>
          <p:cNvPr id="398" name="Google Shape;398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399" name="Google Shape;399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00" name="Google Shape;400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Level Order Tree Traversal</a:t>
            </a:r>
            <a:endParaRPr/>
          </a:p>
        </p:txBody>
      </p:sp>
      <p:pic>
        <p:nvPicPr>
          <p:cNvPr id="402" name="Google Shape;4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6062" y="2442210"/>
            <a:ext cx="6619875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3"/>
          <p:cNvSpPr txBox="1"/>
          <p:nvPr/>
        </p:nvSpPr>
        <p:spPr>
          <a:xfrm>
            <a:off x="4556760" y="5165243"/>
            <a:ext cx="30784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order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B C D E F I G H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A (proper) binary tree is a tree with the following properties: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Each internal node has two children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children of a node are an ordered pair</a:t>
            </a:r>
            <a:endParaRPr/>
          </a:p>
          <a:p>
            <a:pPr indent="-20955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In a (proper) binary tree T, the number of external nodes is 1 more than the number of internal nodes.</a:t>
            </a:r>
            <a:endParaRPr sz="2800"/>
          </a:p>
          <a:p>
            <a:pPr indent="-20955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●"/>
            </a:pPr>
            <a:r>
              <a:rPr lang="en-US" sz="2800"/>
              <a:t>Proof: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Use Induction</a:t>
            </a:r>
            <a:endParaRPr/>
          </a:p>
        </p:txBody>
      </p:sp>
      <p:sp>
        <p:nvSpPr>
          <p:cNvPr id="409" name="Google Shape;409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410" name="Google Shape;410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11" name="Google Shape;411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Property of Proper Binary Trees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418" name="Google Shape;418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19" name="Google Shape;419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" name="Google Shape;420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Implementing Binary Trees</a:t>
            </a:r>
            <a:endParaRPr/>
          </a:p>
        </p:txBody>
      </p:sp>
      <p:pic>
        <p:nvPicPr>
          <p:cNvPr id="421" name="Google Shape;4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8288" y="1722053"/>
            <a:ext cx="4895512" cy="391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469" y="3536233"/>
            <a:ext cx="2987299" cy="226790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5"/>
          <p:cNvSpPr txBox="1"/>
          <p:nvPr/>
        </p:nvSpPr>
        <p:spPr>
          <a:xfrm>
            <a:off x="563716" y="1227909"/>
            <a:ext cx="553228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TreeNode{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value;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TreeNode* parent;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TreeNode* left;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TreeNode * right;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429" name="Google Shape;429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30" name="Google Shape;430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Implementing General Trees</a:t>
            </a:r>
            <a:endParaRPr/>
          </a:p>
        </p:txBody>
      </p:sp>
      <p:sp>
        <p:nvSpPr>
          <p:cNvPr id="432" name="Google Shape;432;p26"/>
          <p:cNvSpPr txBox="1"/>
          <p:nvPr/>
        </p:nvSpPr>
        <p:spPr>
          <a:xfrm>
            <a:off x="503755" y="2562865"/>
            <a:ext cx="607089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TreeNode{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value;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TreeNode* parent;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Container* childrenContainer;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pic>
        <p:nvPicPr>
          <p:cNvPr id="433" name="Google Shape;4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9567" y="4210562"/>
            <a:ext cx="2086965" cy="175432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6"/>
          <p:cNvSpPr txBox="1"/>
          <p:nvPr/>
        </p:nvSpPr>
        <p:spPr>
          <a:xfrm>
            <a:off x="503755" y="1162368"/>
            <a:ext cx="55194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Container{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struct TreeNode* childrenArr[7];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noOfChildren;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grpSp>
        <p:nvGrpSpPr>
          <p:cNvPr id="435" name="Google Shape;435;p26"/>
          <p:cNvGrpSpPr/>
          <p:nvPr/>
        </p:nvGrpSpPr>
        <p:grpSpPr>
          <a:xfrm>
            <a:off x="6456441" y="1893887"/>
            <a:ext cx="1028700" cy="342900"/>
            <a:chOff x="2232" y="2244"/>
            <a:chExt cx="648" cy="216"/>
          </a:xfrm>
        </p:grpSpPr>
        <p:sp>
          <p:nvSpPr>
            <p:cNvPr id="436" name="Google Shape;436;p26"/>
            <p:cNvSpPr/>
            <p:nvPr/>
          </p:nvSpPr>
          <p:spPr>
            <a:xfrm>
              <a:off x="2232" y="2244"/>
              <a:ext cx="216" cy="216"/>
            </a:xfrm>
            <a:prstGeom prst="rect">
              <a:avLst/>
            </a:prstGeom>
            <a:solidFill>
              <a:srgbClr val="ECD882"/>
            </a:solidFill>
            <a:ln cap="flat" cmpd="sng" w="19050">
              <a:solidFill>
                <a:srgbClr val="40458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 cap="none" strike="noStrik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2664" y="2244"/>
              <a:ext cx="216" cy="216"/>
            </a:xfrm>
            <a:prstGeom prst="rect">
              <a:avLst/>
            </a:prstGeom>
            <a:solidFill>
              <a:srgbClr val="ECD882"/>
            </a:solidFill>
            <a:ln cap="flat" cmpd="sng" w="19050">
              <a:solidFill>
                <a:srgbClr val="40458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 cap="none" strike="noStrik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2448" y="2244"/>
              <a:ext cx="216" cy="216"/>
            </a:xfrm>
            <a:prstGeom prst="rect">
              <a:avLst/>
            </a:prstGeom>
            <a:solidFill>
              <a:srgbClr val="ECD882"/>
            </a:solidFill>
            <a:ln cap="flat" cmpd="sng" w="19050">
              <a:solidFill>
                <a:srgbClr val="40458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58C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40458C"/>
                  </a:solidFill>
                  <a:latin typeface="Tahoma"/>
                  <a:ea typeface="Tahoma"/>
                  <a:cs typeface="Tahoma"/>
                  <a:sym typeface="Tahoma"/>
                </a:rPr>
                <a:t>∅</a:t>
              </a:r>
              <a:endParaRPr/>
            </a:p>
          </p:txBody>
        </p:sp>
      </p:grpSp>
      <p:sp>
        <p:nvSpPr>
          <p:cNvPr id="439" name="Google Shape;439;p26"/>
          <p:cNvSpPr/>
          <p:nvPr/>
        </p:nvSpPr>
        <p:spPr>
          <a:xfrm>
            <a:off x="7789941" y="1966912"/>
            <a:ext cx="2489440" cy="415925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0" name="Google Shape;440;p26"/>
          <p:cNvSpPr txBox="1"/>
          <p:nvPr/>
        </p:nvSpPr>
        <p:spPr>
          <a:xfrm>
            <a:off x="6456441" y="1887537"/>
            <a:ext cx="3333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2D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BE2D00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endParaRPr/>
          </a:p>
        </p:txBody>
      </p:sp>
      <p:cxnSp>
        <p:nvCxnSpPr>
          <p:cNvPr id="441" name="Google Shape;441;p26"/>
          <p:cNvCxnSpPr/>
          <p:nvPr/>
        </p:nvCxnSpPr>
        <p:spPr>
          <a:xfrm>
            <a:off x="7342266" y="2068512"/>
            <a:ext cx="447600" cy="96900"/>
          </a:xfrm>
          <a:prstGeom prst="curvedConnector3">
            <a:avLst>
              <a:gd fmla="val 51074" name="adj1"/>
            </a:avLst>
          </a:prstGeom>
          <a:noFill/>
          <a:ln cap="flat" cmpd="sng" w="19050">
            <a:solidFill>
              <a:srgbClr val="40458C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42" name="Google Shape;442;p26"/>
          <p:cNvSpPr/>
          <p:nvPr/>
        </p:nvSpPr>
        <p:spPr>
          <a:xfrm>
            <a:off x="7961391" y="2097087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8432879" y="2097087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8904366" y="2097087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45" name="Google Shape;445;p26"/>
          <p:cNvCxnSpPr>
            <a:stCxn id="446" idx="2"/>
          </p:cNvCxnSpPr>
          <p:nvPr/>
        </p:nvCxnSpPr>
        <p:spPr>
          <a:xfrm flipH="1" rot="-5400000">
            <a:off x="8316179" y="2366741"/>
            <a:ext cx="833700" cy="7527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40458C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47" name="Google Shape;447;p26"/>
          <p:cNvCxnSpPr>
            <a:stCxn id="448" idx="2"/>
            <a:endCxn id="449" idx="0"/>
          </p:cNvCxnSpPr>
          <p:nvPr/>
        </p:nvCxnSpPr>
        <p:spPr>
          <a:xfrm flipH="1" rot="-5400000">
            <a:off x="9187830" y="1834418"/>
            <a:ext cx="847500" cy="1824000"/>
          </a:xfrm>
          <a:prstGeom prst="curvedConnector3">
            <a:avLst>
              <a:gd fmla="val 50004" name="adj1"/>
            </a:avLst>
          </a:prstGeom>
          <a:noFill/>
          <a:ln cap="flat" cmpd="sng" w="19050">
            <a:solidFill>
              <a:srgbClr val="40458C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50" name="Google Shape;450;p26"/>
          <p:cNvSpPr/>
          <p:nvPr/>
        </p:nvSpPr>
        <p:spPr>
          <a:xfrm>
            <a:off x="7526416" y="3170237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8212216" y="3170237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58C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7869316" y="3170237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8767841" y="3170237"/>
            <a:ext cx="342900" cy="342900"/>
          </a:xfrm>
          <a:prstGeom prst="rect">
            <a:avLst/>
          </a:prstGeom>
          <a:solidFill>
            <a:srgbClr val="ECD882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9453641" y="3170237"/>
            <a:ext cx="342900" cy="342900"/>
          </a:xfrm>
          <a:prstGeom prst="rect">
            <a:avLst/>
          </a:prstGeom>
          <a:solidFill>
            <a:srgbClr val="ECD882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9110741" y="3170237"/>
            <a:ext cx="342900" cy="342900"/>
          </a:xfrm>
          <a:prstGeom prst="rect">
            <a:avLst/>
          </a:prstGeom>
          <a:solidFill>
            <a:srgbClr val="ECD882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10009266" y="3170237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10695066" y="3170237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58C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10352166" y="3170237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8" name="Google Shape;458;p26"/>
          <p:cNvSpPr txBox="1"/>
          <p:nvPr/>
        </p:nvSpPr>
        <p:spPr>
          <a:xfrm>
            <a:off x="7556579" y="3146425"/>
            <a:ext cx="3333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2D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BE2D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/>
          </a:p>
        </p:txBody>
      </p:sp>
      <p:sp>
        <p:nvSpPr>
          <p:cNvPr id="459" name="Google Shape;459;p26"/>
          <p:cNvSpPr txBox="1"/>
          <p:nvPr/>
        </p:nvSpPr>
        <p:spPr>
          <a:xfrm>
            <a:off x="8771016" y="3159125"/>
            <a:ext cx="3571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2D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BE2D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/>
          </a:p>
        </p:txBody>
      </p:sp>
      <p:sp>
        <p:nvSpPr>
          <p:cNvPr id="460" name="Google Shape;460;p26"/>
          <p:cNvSpPr txBox="1"/>
          <p:nvPr/>
        </p:nvSpPr>
        <p:spPr>
          <a:xfrm>
            <a:off x="10026729" y="3162300"/>
            <a:ext cx="3159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2D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BE2D00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8037591" y="3298825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9269491" y="3298825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10501391" y="3298825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7266066" y="2246312"/>
            <a:ext cx="917575" cy="1976438"/>
          </a:xfrm>
          <a:custGeom>
            <a:rect b="b" l="l" r="r" t="t"/>
            <a:pathLst>
              <a:path extrusionOk="0" h="1245" w="578">
                <a:moveTo>
                  <a:pt x="486" y="684"/>
                </a:moveTo>
                <a:cubicBezTo>
                  <a:pt x="492" y="712"/>
                  <a:pt x="517" y="780"/>
                  <a:pt x="528" y="852"/>
                </a:cubicBezTo>
                <a:cubicBezTo>
                  <a:pt x="539" y="924"/>
                  <a:pt x="578" y="1057"/>
                  <a:pt x="552" y="1116"/>
                </a:cubicBezTo>
                <a:cubicBezTo>
                  <a:pt x="526" y="1175"/>
                  <a:pt x="435" y="1218"/>
                  <a:pt x="372" y="1206"/>
                </a:cubicBezTo>
                <a:cubicBezTo>
                  <a:pt x="309" y="1194"/>
                  <a:pt x="236" y="1245"/>
                  <a:pt x="174" y="1044"/>
                </a:cubicBezTo>
                <a:cubicBezTo>
                  <a:pt x="112" y="843"/>
                  <a:pt x="36" y="217"/>
                  <a:pt x="0" y="0"/>
                </a:cubicBezTo>
              </a:path>
            </a:pathLst>
          </a:cu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7075566" y="2246312"/>
            <a:ext cx="2405063" cy="2159000"/>
          </a:xfrm>
          <a:custGeom>
            <a:rect b="b" l="l" r="r" t="t"/>
            <a:pathLst>
              <a:path extrusionOk="0" h="1360" w="1515">
                <a:moveTo>
                  <a:pt x="1398" y="684"/>
                </a:moveTo>
                <a:cubicBezTo>
                  <a:pt x="1389" y="779"/>
                  <a:pt x="1515" y="1160"/>
                  <a:pt x="1344" y="1260"/>
                </a:cubicBezTo>
                <a:cubicBezTo>
                  <a:pt x="1173" y="1360"/>
                  <a:pt x="571" y="1350"/>
                  <a:pt x="372" y="1284"/>
                </a:cubicBezTo>
                <a:cubicBezTo>
                  <a:pt x="173" y="1218"/>
                  <a:pt x="212" y="1078"/>
                  <a:pt x="150" y="864"/>
                </a:cubicBezTo>
                <a:cubicBezTo>
                  <a:pt x="88" y="650"/>
                  <a:pt x="31" y="180"/>
                  <a:pt x="0" y="0"/>
                </a:cubicBezTo>
              </a:path>
            </a:pathLst>
          </a:cu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6858079" y="2255837"/>
            <a:ext cx="3824287" cy="2346325"/>
          </a:xfrm>
          <a:custGeom>
            <a:rect b="b" l="l" r="r" t="t"/>
            <a:pathLst>
              <a:path extrusionOk="0" h="1478" w="2409">
                <a:moveTo>
                  <a:pt x="2309" y="684"/>
                </a:moveTo>
                <a:cubicBezTo>
                  <a:pt x="2306" y="765"/>
                  <a:pt x="2409" y="1054"/>
                  <a:pt x="2291" y="1170"/>
                </a:cubicBezTo>
                <a:cubicBezTo>
                  <a:pt x="2173" y="1286"/>
                  <a:pt x="1939" y="1367"/>
                  <a:pt x="1601" y="1380"/>
                </a:cubicBezTo>
                <a:cubicBezTo>
                  <a:pt x="1263" y="1393"/>
                  <a:pt x="526" y="1478"/>
                  <a:pt x="263" y="1248"/>
                </a:cubicBezTo>
                <a:cubicBezTo>
                  <a:pt x="0" y="1018"/>
                  <a:pt x="73" y="260"/>
                  <a:pt x="23" y="0"/>
                </a:cubicBezTo>
              </a:path>
            </a:pathLst>
          </a:cu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8532891" y="5561012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9218691" y="5561012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58C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8875791" y="5561012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0" name="Google Shape;470;p26"/>
          <p:cNvSpPr txBox="1"/>
          <p:nvPr/>
        </p:nvSpPr>
        <p:spPr>
          <a:xfrm>
            <a:off x="8556704" y="5519737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2D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BE2D00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9461579" y="3322637"/>
            <a:ext cx="155574" cy="1624013"/>
          </a:xfrm>
          <a:custGeom>
            <a:rect b="b" l="l" r="r" t="t"/>
            <a:pathLst>
              <a:path extrusionOk="0" h="846" w="183">
                <a:moveTo>
                  <a:pt x="93" y="0"/>
                </a:moveTo>
                <a:cubicBezTo>
                  <a:pt x="78" y="40"/>
                  <a:pt x="0" y="149"/>
                  <a:pt x="3" y="240"/>
                </a:cubicBezTo>
                <a:cubicBezTo>
                  <a:pt x="6" y="331"/>
                  <a:pt x="81" y="445"/>
                  <a:pt x="111" y="546"/>
                </a:cubicBezTo>
                <a:cubicBezTo>
                  <a:pt x="141" y="647"/>
                  <a:pt x="168" y="784"/>
                  <a:pt x="183" y="846"/>
                </a:cubicBezTo>
              </a:path>
            </a:pathLst>
          </a:cu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9885441" y="5561012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10571241" y="5561012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58C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rPr>
              <a:t>∅</a:t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10228341" y="5561012"/>
            <a:ext cx="342900" cy="342900"/>
          </a:xfrm>
          <a:prstGeom prst="rect">
            <a:avLst/>
          </a:prstGeom>
          <a:solidFill>
            <a:srgbClr val="CFDBFD"/>
          </a:solidFill>
          <a:ln cap="flat" cmpd="sng" w="19050">
            <a:solidFill>
              <a:srgbClr val="4045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p26"/>
          <p:cNvSpPr txBox="1"/>
          <p:nvPr/>
        </p:nvSpPr>
        <p:spPr>
          <a:xfrm>
            <a:off x="9899729" y="5534025"/>
            <a:ext cx="3270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2D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BE2D00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9961641" y="5212823"/>
            <a:ext cx="447675" cy="329139"/>
          </a:xfrm>
          <a:custGeom>
            <a:rect b="b" l="l" r="r" t="t"/>
            <a:pathLst>
              <a:path extrusionOk="0" h="390" w="282">
                <a:moveTo>
                  <a:pt x="0" y="0"/>
                </a:moveTo>
                <a:cubicBezTo>
                  <a:pt x="9" y="30"/>
                  <a:pt x="15" y="138"/>
                  <a:pt x="54" y="180"/>
                </a:cubicBezTo>
                <a:cubicBezTo>
                  <a:pt x="93" y="222"/>
                  <a:pt x="196" y="217"/>
                  <a:pt x="234" y="252"/>
                </a:cubicBezTo>
                <a:cubicBezTo>
                  <a:pt x="272" y="287"/>
                  <a:pt x="272" y="361"/>
                  <a:pt x="282" y="390"/>
                </a:cubicBezTo>
              </a:path>
            </a:pathLst>
          </a:cu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9047241" y="5249056"/>
            <a:ext cx="460375" cy="311956"/>
          </a:xfrm>
          <a:custGeom>
            <a:rect b="b" l="l" r="r" t="t"/>
            <a:pathLst>
              <a:path extrusionOk="0" h="408" w="290">
                <a:moveTo>
                  <a:pt x="288" y="0"/>
                </a:moveTo>
                <a:cubicBezTo>
                  <a:pt x="283" y="29"/>
                  <a:pt x="290" y="138"/>
                  <a:pt x="258" y="174"/>
                </a:cubicBezTo>
                <a:cubicBezTo>
                  <a:pt x="226" y="210"/>
                  <a:pt x="139" y="177"/>
                  <a:pt x="96" y="216"/>
                </a:cubicBezTo>
                <a:cubicBezTo>
                  <a:pt x="53" y="255"/>
                  <a:pt x="20" y="368"/>
                  <a:pt x="0" y="408"/>
                </a:cubicBezTo>
              </a:path>
            </a:pathLst>
          </a:cu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8291591" y="3494087"/>
            <a:ext cx="866775" cy="2943225"/>
          </a:xfrm>
          <a:custGeom>
            <a:rect b="b" l="l" r="r" t="t"/>
            <a:pathLst>
              <a:path extrusionOk="0" h="1854" w="546">
                <a:moveTo>
                  <a:pt x="482" y="1404"/>
                </a:moveTo>
                <a:cubicBezTo>
                  <a:pt x="483" y="1467"/>
                  <a:pt x="546" y="1728"/>
                  <a:pt x="488" y="1782"/>
                </a:cubicBezTo>
                <a:cubicBezTo>
                  <a:pt x="430" y="1836"/>
                  <a:pt x="210" y="1854"/>
                  <a:pt x="134" y="1728"/>
                </a:cubicBezTo>
                <a:cubicBezTo>
                  <a:pt x="58" y="1602"/>
                  <a:pt x="0" y="1249"/>
                  <a:pt x="32" y="1026"/>
                </a:cubicBezTo>
                <a:cubicBezTo>
                  <a:pt x="64" y="803"/>
                  <a:pt x="271" y="561"/>
                  <a:pt x="326" y="390"/>
                </a:cubicBezTo>
                <a:cubicBezTo>
                  <a:pt x="381" y="219"/>
                  <a:pt x="354" y="81"/>
                  <a:pt x="362" y="0"/>
                </a:cubicBezTo>
              </a:path>
            </a:pathLst>
          </a:cu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9647316" y="3513137"/>
            <a:ext cx="1493838" cy="2635250"/>
          </a:xfrm>
          <a:custGeom>
            <a:rect b="b" l="l" r="r" t="t"/>
            <a:pathLst>
              <a:path extrusionOk="0" h="1660" w="941">
                <a:moveTo>
                  <a:pt x="478" y="1392"/>
                </a:moveTo>
                <a:cubicBezTo>
                  <a:pt x="513" y="1436"/>
                  <a:pt x="614" y="1652"/>
                  <a:pt x="690" y="1656"/>
                </a:cubicBezTo>
                <a:cubicBezTo>
                  <a:pt x="766" y="1660"/>
                  <a:pt x="931" y="1533"/>
                  <a:pt x="936" y="1416"/>
                </a:cubicBezTo>
                <a:cubicBezTo>
                  <a:pt x="941" y="1299"/>
                  <a:pt x="839" y="1095"/>
                  <a:pt x="720" y="954"/>
                </a:cubicBezTo>
                <a:cubicBezTo>
                  <a:pt x="601" y="813"/>
                  <a:pt x="342" y="729"/>
                  <a:pt x="222" y="570"/>
                </a:cubicBezTo>
                <a:cubicBezTo>
                  <a:pt x="102" y="411"/>
                  <a:pt x="46" y="119"/>
                  <a:pt x="0" y="0"/>
                </a:cubicBezTo>
              </a:path>
            </a:pathLst>
          </a:cu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7861377" y="2011997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8204278" y="2008424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8547179" y="2004851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26"/>
          <p:cNvCxnSpPr>
            <a:stCxn id="480" idx="2"/>
            <a:endCxn id="452" idx="0"/>
          </p:cNvCxnSpPr>
          <p:nvPr/>
        </p:nvCxnSpPr>
        <p:spPr>
          <a:xfrm flipH="1" rot="-5400000">
            <a:off x="7607128" y="2736464"/>
            <a:ext cx="840300" cy="27000"/>
          </a:xfrm>
          <a:prstGeom prst="curvedConnector3">
            <a:avLst>
              <a:gd fmla="val 50007" name="adj1"/>
            </a:avLst>
          </a:prstGeom>
          <a:noFill/>
          <a:ln cap="flat" cmpd="sng" w="19050">
            <a:solidFill>
              <a:srgbClr val="40458C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82" name="Google Shape;482;p26"/>
          <p:cNvSpPr/>
          <p:nvPr/>
        </p:nvSpPr>
        <p:spPr>
          <a:xfrm>
            <a:off x="8890080" y="2004537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9232981" y="2004223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9575882" y="2003909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9918783" y="2003595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8517017" y="1287462"/>
            <a:ext cx="358773" cy="64952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 txBox="1"/>
          <p:nvPr/>
        </p:nvSpPr>
        <p:spPr>
          <a:xfrm>
            <a:off x="8555116" y="1097264"/>
            <a:ext cx="14384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noOfChildren</a:t>
            </a:r>
            <a:endParaRPr/>
          </a:p>
        </p:txBody>
      </p:sp>
      <p:sp>
        <p:nvSpPr>
          <p:cNvPr id="488" name="Google Shape;488;p26"/>
          <p:cNvSpPr/>
          <p:nvPr/>
        </p:nvSpPr>
        <p:spPr>
          <a:xfrm>
            <a:off x="9318376" y="4947606"/>
            <a:ext cx="2489440" cy="415925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04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9489826" y="5077781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9961314" y="5077781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10432801" y="5077781"/>
            <a:ext cx="76200" cy="76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40458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9389812" y="4992691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9732713" y="4989118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0075614" y="4985545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0418515" y="4985231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10761416" y="4984917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11104317" y="4984603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11447218" y="4984289"/>
            <a:ext cx="304801" cy="317817"/>
          </a:xfrm>
          <a:prstGeom prst="rect">
            <a:avLst/>
          </a:prstGeom>
          <a:solidFill>
            <a:srgbClr val="5B9BD5">
              <a:alpha val="38823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9733176" y="4336945"/>
            <a:ext cx="358773" cy="64952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 txBox="1"/>
          <p:nvPr/>
        </p:nvSpPr>
        <p:spPr>
          <a:xfrm>
            <a:off x="9771275" y="4146747"/>
            <a:ext cx="14384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noOfChildren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6041784d1_0_3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506" name="Google Shape;506;g3b6041784d1_0_3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07" name="Google Shape;507;g3b6041784d1_0_3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g3b6041784d1_0_35"/>
          <p:cNvSpPr txBox="1"/>
          <p:nvPr>
            <p:ph type="title"/>
          </p:nvPr>
        </p:nvSpPr>
        <p:spPr>
          <a:xfrm>
            <a:off x="838200" y="148046"/>
            <a:ext cx="105156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Implementing Binary trees using array</a:t>
            </a:r>
            <a:endParaRPr/>
          </a:p>
        </p:txBody>
      </p:sp>
      <p:sp>
        <p:nvSpPr>
          <p:cNvPr id="509" name="Google Shape;509;g3b6041784d1_0_35"/>
          <p:cNvSpPr txBox="1"/>
          <p:nvPr/>
        </p:nvSpPr>
        <p:spPr>
          <a:xfrm>
            <a:off x="604350" y="1195650"/>
            <a:ext cx="4263900" cy="4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Complete/Perfect Binary Tree: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node is at index </a:t>
            </a:r>
            <a:r>
              <a:rPr lang="en-US" sz="2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child → </a:t>
            </a:r>
            <a:r>
              <a:rPr lang="en-US" sz="2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2i + 1</a:t>
            </a:r>
            <a:br>
              <a:rPr lang="en-US" sz="2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child → </a:t>
            </a:r>
            <a:r>
              <a:rPr lang="en-US" sz="2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2i + 2</a:t>
            </a:r>
            <a:br>
              <a:rPr lang="en-US" sz="2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rgbClr val="1880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→ </a:t>
            </a:r>
            <a:r>
              <a:rPr lang="en-US" sz="21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(i - 1) //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g3b6041784d1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575" y="1195650"/>
            <a:ext cx="6887700" cy="49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Pre Order and Inorder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Pre-Order : 1, 2, 4, 8, 9, 10, 11, 5 ,3, 6, 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In-Order : 8, 4, 10, 9, 11, 2, 5, 1, 6, 3, 7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Method: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Consider the In Order Sequence.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Identify the Root (first element from pre order) and draw it.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Determine left in order sequence and right in order sequence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Repeat until the tree is drawn</a:t>
            </a:r>
            <a:endParaRPr/>
          </a:p>
        </p:txBody>
      </p:sp>
      <p:sp>
        <p:nvSpPr>
          <p:cNvPr id="516" name="Google Shape;516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517" name="Google Shape;517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18" name="Google Shape;518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9" name="Google Shape;519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Drawing Trees based on Tree Traversals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Post Order and Inorder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Pre-Order : 9, 1, 2, 12, 7, 5, 3, 11, 4, 8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In-Order : 9, 5, 1, 7, 2, 12, 8, 4, 3, 11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Method: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Consider the In Order Sequence.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Identify the Root (last element from pre order) and draw it.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Determine left in order sequence and right in order sequence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Repeat until the tree is drawn</a:t>
            </a:r>
            <a:endParaRPr/>
          </a:p>
        </p:txBody>
      </p:sp>
      <p:sp>
        <p:nvSpPr>
          <p:cNvPr id="525" name="Google Shape;525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526" name="Google Shape;526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27" name="Google Shape;527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8" name="Google Shape;528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Drawing Trees based on Tree Traversals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Pre Order and Post Order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Pre-Order : F, B, A, D, C, E, G, I, H (Root, Left, Right)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Post-Order : A, C, E, D, B, H, I, G, F (Left, Root, Right)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Method: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Consider the </a:t>
            </a:r>
            <a:r>
              <a:rPr b="1" lang="en-US"/>
              <a:t>Post Order Sequence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Identify the </a:t>
            </a:r>
            <a:r>
              <a:rPr b="1" lang="en-US"/>
              <a:t>Root</a:t>
            </a:r>
            <a:r>
              <a:rPr lang="en-US"/>
              <a:t> (with the help of pre-order).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Identify the </a:t>
            </a:r>
            <a:r>
              <a:rPr b="1" lang="en-US"/>
              <a:t>partitioning</a:t>
            </a:r>
            <a:r>
              <a:rPr lang="en-US"/>
              <a:t> </a:t>
            </a:r>
            <a:r>
              <a:rPr b="1" lang="en-US"/>
              <a:t>element</a:t>
            </a:r>
            <a:r>
              <a:rPr lang="en-US"/>
              <a:t> (Second Element after Root in preorder).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b="1" lang="en-US"/>
              <a:t>Partition</a:t>
            </a:r>
            <a:r>
              <a:rPr lang="en-US"/>
              <a:t> the </a:t>
            </a:r>
            <a:r>
              <a:rPr b="1" lang="en-US"/>
              <a:t>Post</a:t>
            </a:r>
            <a:r>
              <a:rPr lang="en-US"/>
              <a:t> </a:t>
            </a:r>
            <a:r>
              <a:rPr b="1" lang="en-US"/>
              <a:t>Order</a:t>
            </a:r>
            <a:r>
              <a:rPr lang="en-US"/>
              <a:t> </a:t>
            </a:r>
            <a:r>
              <a:rPr b="1" lang="en-US"/>
              <a:t>Sequence</a:t>
            </a:r>
            <a:r>
              <a:rPr lang="en-US"/>
              <a:t> to obtain </a:t>
            </a:r>
            <a:r>
              <a:rPr b="1" lang="en-US"/>
              <a:t>two more post order sequences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Repeat until the entire tree is drawn.</a:t>
            </a:r>
            <a:endParaRPr/>
          </a:p>
        </p:txBody>
      </p:sp>
      <p:sp>
        <p:nvSpPr>
          <p:cNvPr id="534" name="Google Shape;534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535" name="Google Shape;535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36" name="Google Shape;536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" name="Google Shape;537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Drawing Trees based on Tree Traversals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43" name="Google Shape;543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4" name="Google Shape;544;p30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January 9, 2026</a:t>
            </a:r>
            <a:endParaRPr/>
          </a:p>
        </p:txBody>
      </p:sp>
      <p:sp>
        <p:nvSpPr>
          <p:cNvPr id="545" name="Google Shape;545;p30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46" name="Google Shape;546;p30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