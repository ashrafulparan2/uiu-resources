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Nuni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B7CDA1-DD09-4A02-ABA4-6BC34A959E95}">
  <a:tblStyle styleId="{56B7CDA1-DD09-4A02-ABA4-6BC34A959E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Nunito-bold.fntdata"/><Relationship Id="rId10" Type="http://schemas.openxmlformats.org/officeDocument/2006/relationships/slide" Target="slides/slide4.xml"/><Relationship Id="rId21" Type="http://schemas.openxmlformats.org/officeDocument/2006/relationships/font" Target="fonts/Nunito-regular.fntdata"/><Relationship Id="rId13" Type="http://schemas.openxmlformats.org/officeDocument/2006/relationships/slide" Target="slides/slide7.xml"/><Relationship Id="rId24" Type="http://schemas.openxmlformats.org/officeDocument/2006/relationships/font" Target="fonts/Nunito-boldItalic.fntdata"/><Relationship Id="rId12" Type="http://schemas.openxmlformats.org/officeDocument/2006/relationships/slide" Target="slides/slide6.xml"/><Relationship Id="rId23" Type="http://schemas.openxmlformats.org/officeDocument/2006/relationships/font" Target="fonts/Nuni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7620f197a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7620f197a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7620f197a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7620f197a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7620f197a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7620f197a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7620f197a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7620f197a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7620f197a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7620f197a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7620f197a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7620f197a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7620f197a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a7620f197a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7620f197a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7620f197a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a1366bf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9a1366bf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a1366bf0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9a1366bf0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9a1366bf0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9a1366bf0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a1366bf0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9a1366bf0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a1366bf0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9a1366bf0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426008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Recursion</a:t>
            </a:r>
            <a:endParaRPr sz="4400"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001621"/>
            <a:ext cx="5361300" cy="7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2160"/>
              <a:t>Prepared by: Azizur Rahman Anik</a:t>
            </a:r>
            <a:endParaRPr sz="216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2160"/>
              <a:t>Lecturer, department of CSE, UIU</a:t>
            </a:r>
            <a:endParaRPr sz="216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4030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Recursion?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231175"/>
            <a:ext cx="7505700" cy="32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Solving a big problem by solving smaller versions of the same problem.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Examples:</a:t>
            </a:r>
            <a:endParaRPr sz="2000"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Suppose you want to find 5! </a:t>
            </a:r>
            <a:r>
              <a:rPr lang="en" sz="2000"/>
              <a:t>a</a:t>
            </a:r>
            <a:r>
              <a:rPr lang="en" sz="2000"/>
              <a:t>nd someone has already calculated 4! </a:t>
            </a:r>
            <a:r>
              <a:rPr lang="en" sz="2000"/>
              <a:t>f</a:t>
            </a:r>
            <a:r>
              <a:rPr lang="en" sz="2000"/>
              <a:t>or you. You then just do 4!*5 = 5!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>
                <a:solidFill>
                  <a:srgbClr val="000000"/>
                </a:solidFill>
              </a:rPr>
              <a:t>Suppose you want the </a:t>
            </a:r>
            <a:r>
              <a:rPr b="1" lang="en" sz="2000">
                <a:solidFill>
                  <a:srgbClr val="000000"/>
                </a:solidFill>
              </a:rPr>
              <a:t>sum of first 10 numbers</a:t>
            </a:r>
            <a:br>
              <a:rPr b="1" lang="en" sz="2000">
                <a:solidFill>
                  <a:srgbClr val="000000"/>
                </a:solidFill>
              </a:rPr>
            </a:br>
            <a:r>
              <a:rPr lang="en" sz="2000">
                <a:solidFill>
                  <a:srgbClr val="000000"/>
                </a:solidFill>
              </a:rPr>
              <a:t> and someone already calculated the </a:t>
            </a:r>
            <a:r>
              <a:rPr b="1" lang="en" sz="2000">
                <a:solidFill>
                  <a:srgbClr val="000000"/>
                </a:solidFill>
              </a:rPr>
              <a:t>sum of first 9 numbers</a:t>
            </a:r>
            <a:r>
              <a:rPr lang="en" sz="2000">
                <a:solidFill>
                  <a:srgbClr val="000000"/>
                </a:solidFill>
              </a:rPr>
              <a:t>.</a:t>
            </a:r>
            <a:br>
              <a:rPr lang="en" sz="2000">
                <a:solidFill>
                  <a:srgbClr val="000000"/>
                </a:solidFill>
              </a:rPr>
            </a:br>
            <a:r>
              <a:rPr lang="en" sz="2000">
                <a:solidFill>
                  <a:srgbClr val="000000"/>
                </a:solidFill>
              </a:rPr>
              <a:t> Then you just do: </a:t>
            </a:r>
            <a:r>
              <a:rPr b="1" lang="en" sz="2000">
                <a:solidFill>
                  <a:srgbClr val="000000"/>
                </a:solidFill>
              </a:rPr>
              <a:t>Sum(10) = Sum(9) + 10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4335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 into Recursion through Factorial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215925"/>
            <a:ext cx="7505700" cy="32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4! = 3! * 4 = 2! * 3 * 4 = 1! * 2 * 3 * 4 = 0! * 1 * 2 * 3 * 4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So we stop unfolding when we reach to 0! - this is called the </a:t>
            </a:r>
            <a:r>
              <a:rPr b="1" lang="en" sz="2000"/>
              <a:t>base condition</a:t>
            </a:r>
            <a:r>
              <a:rPr lang="en" sz="2000"/>
              <a:t>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When we write 4! = 3! * 4, this is same as 4! = (4-1)! * 4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 general, factorial(n) = factorial(n-1) * n , till we reach to factorial(0)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819150" y="3724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Illustration of Recursive calls</a:t>
            </a:r>
            <a:endParaRPr/>
          </a:p>
        </p:txBody>
      </p:sp>
      <p:pic>
        <p:nvPicPr>
          <p:cNvPr id="147" name="Google Shape;14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6550" y="1143675"/>
            <a:ext cx="4413674" cy="351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819150" y="4487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pieces together…</a:t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1300" y="1174225"/>
            <a:ext cx="4797800" cy="3680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" name="Google Shape;154;p17"/>
          <p:cNvCxnSpPr/>
          <p:nvPr/>
        </p:nvCxnSpPr>
        <p:spPr>
          <a:xfrm>
            <a:off x="2645525" y="2467450"/>
            <a:ext cx="2976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" name="Google Shape;155;p17"/>
          <p:cNvSpPr/>
          <p:nvPr/>
        </p:nvSpPr>
        <p:spPr>
          <a:xfrm>
            <a:off x="5972775" y="2177475"/>
            <a:ext cx="1373700" cy="5952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Calibri"/>
                <a:ea typeface="Calibri"/>
                <a:cs typeface="Calibri"/>
                <a:sym typeface="Calibri"/>
              </a:rPr>
              <a:t>Base Case</a:t>
            </a:r>
            <a:endParaRPr b="1" sz="19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6" name="Google Shape;156;p17"/>
          <p:cNvCxnSpPr/>
          <p:nvPr/>
        </p:nvCxnSpPr>
        <p:spPr>
          <a:xfrm>
            <a:off x="2966025" y="3077950"/>
            <a:ext cx="2823600" cy="48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" name="Google Shape;157;p17"/>
          <p:cNvSpPr/>
          <p:nvPr/>
        </p:nvSpPr>
        <p:spPr>
          <a:xfrm>
            <a:off x="5972775" y="3337225"/>
            <a:ext cx="1800900" cy="8703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Calibri"/>
                <a:ea typeface="Calibri"/>
                <a:cs typeface="Calibri"/>
                <a:sym typeface="Calibri"/>
              </a:rPr>
              <a:t>Recursive call: function calls itself</a:t>
            </a:r>
            <a:endParaRPr b="1" sz="1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>
            <p:ph type="title"/>
          </p:nvPr>
        </p:nvSpPr>
        <p:spPr>
          <a:xfrm>
            <a:off x="742850" y="3724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Sum of Digits</a:t>
            </a:r>
            <a:endParaRPr/>
          </a:p>
        </p:txBody>
      </p:sp>
      <p:pic>
        <p:nvPicPr>
          <p:cNvPr id="163" name="Google Shape;16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375" y="1082625"/>
            <a:ext cx="8289940" cy="351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type="title"/>
          </p:nvPr>
        </p:nvSpPr>
        <p:spPr>
          <a:xfrm>
            <a:off x="819150" y="311425"/>
            <a:ext cx="7505700" cy="6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Illustration of Sum of Digits</a:t>
            </a:r>
            <a:endParaRPr/>
          </a:p>
        </p:txBody>
      </p:sp>
      <p:grpSp>
        <p:nvGrpSpPr>
          <p:cNvPr id="169" name="Google Shape;169;p19"/>
          <p:cNvGrpSpPr/>
          <p:nvPr/>
        </p:nvGrpSpPr>
        <p:grpSpPr>
          <a:xfrm>
            <a:off x="1668700" y="941200"/>
            <a:ext cx="5143225" cy="3996300"/>
            <a:chOff x="951375" y="941200"/>
            <a:chExt cx="5143225" cy="3996300"/>
          </a:xfrm>
        </p:grpSpPr>
        <p:sp>
          <p:nvSpPr>
            <p:cNvPr id="170" name="Google Shape;170;p19"/>
            <p:cNvSpPr/>
            <p:nvPr/>
          </p:nvSpPr>
          <p:spPr>
            <a:xfrm>
              <a:off x="951375" y="941200"/>
              <a:ext cx="2304600" cy="5952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Calibri"/>
                  <a:ea typeface="Calibri"/>
                  <a:cs typeface="Calibri"/>
                  <a:sym typeface="Calibri"/>
                </a:rPr>
                <a:t>sumOfDigits(527)</a:t>
              </a:r>
              <a:endParaRPr b="1"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1" name="Google Shape;171;p19"/>
            <p:cNvCxnSpPr>
              <a:stCxn id="170" idx="2"/>
            </p:cNvCxnSpPr>
            <p:nvPr/>
          </p:nvCxnSpPr>
          <p:spPr>
            <a:xfrm>
              <a:off x="2103675" y="1536400"/>
              <a:ext cx="0" cy="4428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2" name="Google Shape;172;p19"/>
            <p:cNvSpPr/>
            <p:nvPr/>
          </p:nvSpPr>
          <p:spPr>
            <a:xfrm>
              <a:off x="951375" y="1979200"/>
              <a:ext cx="2304600" cy="6909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Calibri"/>
                  <a:ea typeface="Calibri"/>
                  <a:cs typeface="Calibri"/>
                  <a:sym typeface="Calibri"/>
                </a:rPr>
                <a:t>7 + </a:t>
              </a:r>
              <a:r>
                <a:rPr b="1" lang="en" sz="1800">
                  <a:latin typeface="Calibri"/>
                  <a:ea typeface="Calibri"/>
                  <a:cs typeface="Calibri"/>
                  <a:sym typeface="Calibri"/>
                </a:rPr>
                <a:t>sumOfDigits(52)</a:t>
              </a:r>
              <a:endParaRPr b="1"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3" name="Google Shape;173;p19"/>
            <p:cNvCxnSpPr/>
            <p:nvPr/>
          </p:nvCxnSpPr>
          <p:spPr>
            <a:xfrm>
              <a:off x="2103675" y="2670100"/>
              <a:ext cx="0" cy="4428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4" name="Google Shape;174;p19"/>
            <p:cNvSpPr/>
            <p:nvPr/>
          </p:nvSpPr>
          <p:spPr>
            <a:xfrm>
              <a:off x="951375" y="3112900"/>
              <a:ext cx="2304600" cy="6909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b="1" lang="en" sz="1800">
                  <a:latin typeface="Calibri"/>
                  <a:ea typeface="Calibri"/>
                  <a:cs typeface="Calibri"/>
                  <a:sym typeface="Calibri"/>
                </a:rPr>
                <a:t> + sumOfDigits(5)</a:t>
              </a:r>
              <a:endParaRPr b="1"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" name="Google Shape;175;p19"/>
            <p:cNvCxnSpPr/>
            <p:nvPr/>
          </p:nvCxnSpPr>
          <p:spPr>
            <a:xfrm>
              <a:off x="2103675" y="3803800"/>
              <a:ext cx="0" cy="4428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6" name="Google Shape;176;p19"/>
            <p:cNvSpPr/>
            <p:nvPr/>
          </p:nvSpPr>
          <p:spPr>
            <a:xfrm>
              <a:off x="951375" y="4246600"/>
              <a:ext cx="2304600" cy="6909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Calibri"/>
                  <a:ea typeface="Calibri"/>
                  <a:cs typeface="Calibri"/>
                  <a:sym typeface="Calibri"/>
                </a:rPr>
                <a:t>5</a:t>
              </a:r>
              <a:r>
                <a:rPr b="1" lang="en" sz="1800">
                  <a:latin typeface="Calibri"/>
                  <a:ea typeface="Calibri"/>
                  <a:cs typeface="Calibri"/>
                  <a:sym typeface="Calibri"/>
                </a:rPr>
                <a:t> + sumOfDigits(0)</a:t>
              </a:r>
              <a:endParaRPr b="1"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7" name="Google Shape;177;p19"/>
            <p:cNvCxnSpPr>
              <a:stCxn id="176" idx="3"/>
            </p:cNvCxnSpPr>
            <p:nvPr/>
          </p:nvCxnSpPr>
          <p:spPr>
            <a:xfrm flipH="1" rot="10800000">
              <a:off x="3255975" y="4115950"/>
              <a:ext cx="595200" cy="4761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8" name="Google Shape;178;p19"/>
            <p:cNvSpPr/>
            <p:nvPr/>
          </p:nvSpPr>
          <p:spPr>
            <a:xfrm>
              <a:off x="3790000" y="3555700"/>
              <a:ext cx="2304600" cy="6909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Calibri"/>
                  <a:ea typeface="Calibri"/>
                  <a:cs typeface="Calibri"/>
                  <a:sym typeface="Calibri"/>
                </a:rPr>
                <a:t>5 + 0 = 5</a:t>
              </a:r>
              <a:endParaRPr b="1"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9" name="Google Shape;179;p19"/>
            <p:cNvCxnSpPr>
              <a:stCxn id="178" idx="1"/>
              <a:endCxn id="174" idx="3"/>
            </p:cNvCxnSpPr>
            <p:nvPr/>
          </p:nvCxnSpPr>
          <p:spPr>
            <a:xfrm rot="10800000">
              <a:off x="3256000" y="3458350"/>
              <a:ext cx="534000" cy="4428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0" name="Google Shape;180;p19"/>
            <p:cNvSpPr/>
            <p:nvPr/>
          </p:nvSpPr>
          <p:spPr>
            <a:xfrm>
              <a:off x="3790000" y="2546050"/>
              <a:ext cx="2304600" cy="6909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Calibri"/>
                  <a:ea typeface="Calibri"/>
                  <a:cs typeface="Calibri"/>
                  <a:sym typeface="Calibri"/>
                </a:rPr>
                <a:t>2 + 5 = 7</a:t>
              </a:r>
              <a:endParaRPr b="1"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1" name="Google Shape;181;p19"/>
            <p:cNvCxnSpPr/>
            <p:nvPr/>
          </p:nvCxnSpPr>
          <p:spPr>
            <a:xfrm flipH="1" rot="10800000">
              <a:off x="3225400" y="2982250"/>
              <a:ext cx="595200" cy="4761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2" name="Google Shape;182;p19"/>
            <p:cNvSpPr/>
            <p:nvPr/>
          </p:nvSpPr>
          <p:spPr>
            <a:xfrm>
              <a:off x="3790000" y="1536400"/>
              <a:ext cx="2304600" cy="6909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latin typeface="Calibri"/>
                  <a:ea typeface="Calibri"/>
                  <a:cs typeface="Calibri"/>
                  <a:sym typeface="Calibri"/>
                </a:rPr>
                <a:t>7 + 7 =14</a:t>
              </a:r>
              <a:endParaRPr b="1"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3" name="Google Shape;183;p19"/>
            <p:cNvCxnSpPr/>
            <p:nvPr/>
          </p:nvCxnSpPr>
          <p:spPr>
            <a:xfrm rot="10800000">
              <a:off x="3256000" y="2337738"/>
              <a:ext cx="534000" cy="4428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4" name="Google Shape;184;p19"/>
            <p:cNvCxnSpPr/>
            <p:nvPr/>
          </p:nvCxnSpPr>
          <p:spPr>
            <a:xfrm flipH="1" rot="10800000">
              <a:off x="3255975" y="1848550"/>
              <a:ext cx="595200" cy="4761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5" name="Google Shape;185;p19"/>
            <p:cNvCxnSpPr/>
            <p:nvPr/>
          </p:nvCxnSpPr>
          <p:spPr>
            <a:xfrm rot="10800000">
              <a:off x="3256000" y="1392638"/>
              <a:ext cx="534000" cy="4428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86" name="Google Shape;186;p19"/>
          <p:cNvSpPr/>
          <p:nvPr/>
        </p:nvSpPr>
        <p:spPr>
          <a:xfrm>
            <a:off x="5911725" y="864875"/>
            <a:ext cx="2732000" cy="442800"/>
          </a:xfrm>
          <a:prstGeom prst="flowChartOffpageConnector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Thus we get the sum = 14</a:t>
            </a:r>
            <a:endParaRPr b="1"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1622925" y="2070625"/>
            <a:ext cx="488400" cy="5010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p19"/>
          <p:cNvCxnSpPr>
            <a:stCxn id="187" idx="2"/>
          </p:cNvCxnSpPr>
          <p:nvPr/>
        </p:nvCxnSpPr>
        <p:spPr>
          <a:xfrm rot="10800000">
            <a:off x="1287225" y="2162125"/>
            <a:ext cx="335700" cy="159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" name="Google Shape;189;p19"/>
          <p:cNvSpPr/>
          <p:nvPr/>
        </p:nvSpPr>
        <p:spPr>
          <a:xfrm>
            <a:off x="325600" y="1948525"/>
            <a:ext cx="915900" cy="50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Calibri"/>
                <a:ea typeface="Calibri"/>
                <a:cs typeface="Calibri"/>
                <a:sym typeface="Calibri"/>
              </a:rPr>
              <a:t>527 % 10</a:t>
            </a:r>
            <a:endParaRPr b="1"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3362850" y="2131675"/>
            <a:ext cx="488400" cy="442800"/>
          </a:xfrm>
          <a:prstGeom prst="ellipse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19"/>
          <p:cNvCxnSpPr>
            <a:stCxn id="190" idx="3"/>
          </p:cNvCxnSpPr>
          <p:nvPr/>
        </p:nvCxnSpPr>
        <p:spPr>
          <a:xfrm flipH="1">
            <a:off x="1256675" y="2509628"/>
            <a:ext cx="2177700" cy="476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" name="Google Shape;192;p19"/>
          <p:cNvSpPr/>
          <p:nvPr/>
        </p:nvSpPr>
        <p:spPr>
          <a:xfrm>
            <a:off x="325600" y="2688850"/>
            <a:ext cx="915900" cy="501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527 / 10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 txBox="1"/>
          <p:nvPr>
            <p:ph type="title"/>
          </p:nvPr>
        </p:nvSpPr>
        <p:spPr>
          <a:xfrm>
            <a:off x="819150" y="4487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elements of Array</a:t>
            </a:r>
            <a:endParaRPr/>
          </a:p>
        </p:txBody>
      </p:sp>
      <p:sp>
        <p:nvSpPr>
          <p:cNvPr id="198" name="Google Shape;198;p20"/>
          <p:cNvSpPr txBox="1"/>
          <p:nvPr>
            <p:ph idx="1" type="body"/>
          </p:nvPr>
        </p:nvSpPr>
        <p:spPr>
          <a:xfrm>
            <a:off x="819150" y="1185400"/>
            <a:ext cx="7505700" cy="32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Recursive Idea</a:t>
            </a:r>
            <a:endParaRPr b="1"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If someone has already calculated the sum of the first </a:t>
            </a:r>
            <a:r>
              <a:rPr i="1" lang="en" sz="2000">
                <a:solidFill>
                  <a:srgbClr val="000000"/>
                </a:solidFill>
              </a:rPr>
              <a:t>(n-1)</a:t>
            </a:r>
            <a:r>
              <a:rPr lang="en" sz="2000">
                <a:solidFill>
                  <a:srgbClr val="000000"/>
                </a:solidFill>
              </a:rPr>
              <a:t> elements,</a:t>
            </a:r>
            <a:br>
              <a:rPr lang="en" sz="2000">
                <a:solidFill>
                  <a:srgbClr val="000000"/>
                </a:solidFill>
              </a:rPr>
            </a:br>
            <a:r>
              <a:rPr lang="en" sz="2000">
                <a:solidFill>
                  <a:srgbClr val="000000"/>
                </a:solidFill>
              </a:rPr>
              <a:t> you can simply add the last element.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graphicFrame>
        <p:nvGraphicFramePr>
          <p:cNvPr id="199" name="Google Shape;199;p20"/>
          <p:cNvGraphicFramePr/>
          <p:nvPr/>
        </p:nvGraphicFramePr>
        <p:xfrm>
          <a:off x="952500" y="2670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{56B7CDA1-DD09-4A02-ABA4-6BC34A959E95}</a:tableStyleId>
              </a:tblPr>
              <a:tblGrid>
                <a:gridCol w="7239000"/>
              </a:tblGrid>
              <a:tr h="2194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 sumArray(int arr[], int n) {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if (n == 0)          // Base case: no elements left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  return 0;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return arr[n - 1] + sumArray(arr, n - 1);  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 sz="2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/>
          <p:nvPr>
            <p:ph type="title"/>
          </p:nvPr>
        </p:nvSpPr>
        <p:spPr>
          <a:xfrm>
            <a:off x="819150" y="4487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Printing Elements of Array</a:t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6733" r="0" t="0"/>
          <a:stretch/>
        </p:blipFill>
        <p:spPr>
          <a:xfrm>
            <a:off x="307800" y="1910900"/>
            <a:ext cx="8528401" cy="199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type="title"/>
          </p:nvPr>
        </p:nvSpPr>
        <p:spPr>
          <a:xfrm>
            <a:off x="819150" y="387725"/>
            <a:ext cx="75057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Greatest Common Divisor (GCD)</a:t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819150" y="1139600"/>
            <a:ext cx="7763400" cy="36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73239"/>
                </a:solidFill>
                <a:highlight>
                  <a:srgbClr val="FFFFFF"/>
                </a:highlight>
              </a:rPr>
              <a:t>Euclidean Algorithm for GCD</a:t>
            </a:r>
            <a:endParaRPr b="1" sz="1800">
              <a:solidFill>
                <a:srgbClr val="273239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273239"/>
                </a:solidFill>
              </a:rPr>
              <a:t>The algorithm is based on the below facts. </a:t>
            </a:r>
            <a:endParaRPr i="1" sz="1800">
              <a:solidFill>
                <a:srgbClr val="273239"/>
              </a:solidFill>
            </a:endParaRPr>
          </a:p>
          <a:p>
            <a:pPr indent="-342900" lvl="0" marL="685800" rtl="0" algn="l">
              <a:lnSpc>
                <a:spcPct val="158000"/>
              </a:lnSpc>
              <a:spcBef>
                <a:spcPts val="80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Calibri"/>
              <a:buChar char="●"/>
            </a:pPr>
            <a:r>
              <a:rPr i="1" lang="en" sz="1800">
                <a:solidFill>
                  <a:srgbClr val="273239"/>
                </a:solidFill>
              </a:rPr>
              <a:t>If we subtract a smaller number from a larger one (we reduce a larger number), GCD doesn't change. So if we keep subtracting repeatedly the larger of two, we end up with GCD.</a:t>
            </a:r>
            <a:endParaRPr i="1" sz="1800">
              <a:solidFill>
                <a:srgbClr val="273239"/>
              </a:solidFill>
            </a:endParaRPr>
          </a:p>
          <a:p>
            <a:pPr indent="-342900" lvl="0" marL="685800" rtl="0"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Font typeface="Calibri"/>
              <a:buChar char="●"/>
            </a:pPr>
            <a:r>
              <a:rPr i="1" lang="en" sz="1800">
                <a:solidFill>
                  <a:srgbClr val="273239"/>
                </a:solidFill>
              </a:rPr>
              <a:t>Now instead of subtraction, if we divide the larger number, the algorithm stops when we find the remainder 0.</a:t>
            </a:r>
            <a:endParaRPr i="1" sz="1800">
              <a:solidFill>
                <a:srgbClr val="273239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0A0A0A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819150" y="387725"/>
            <a:ext cx="75057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Greatest Common Divisor (GCD)</a:t>
            </a:r>
            <a:endParaRPr/>
          </a:p>
        </p:txBody>
      </p:sp>
      <p:pic>
        <p:nvPicPr>
          <p:cNvPr id="217" name="Google Shape;21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5775" y="1032725"/>
            <a:ext cx="6452456" cy="380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"/>
          <p:cNvSpPr txBox="1"/>
          <p:nvPr>
            <p:ph type="title"/>
          </p:nvPr>
        </p:nvSpPr>
        <p:spPr>
          <a:xfrm>
            <a:off x="819150" y="387725"/>
            <a:ext cx="75057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Greatest Common Divisor (GCD)</a:t>
            </a:r>
            <a:endParaRPr/>
          </a:p>
        </p:txBody>
      </p:sp>
      <p:sp>
        <p:nvSpPr>
          <p:cNvPr id="223" name="Google Shape;223;p24"/>
          <p:cNvSpPr txBox="1"/>
          <p:nvPr/>
        </p:nvSpPr>
        <p:spPr>
          <a:xfrm>
            <a:off x="722425" y="1124350"/>
            <a:ext cx="77382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Division (Remainder / Mod) Method – Euclidean Algorithm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3450" y="1643200"/>
            <a:ext cx="5280875" cy="311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type="title"/>
          </p:nvPr>
        </p:nvSpPr>
        <p:spPr>
          <a:xfrm>
            <a:off x="819150" y="387725"/>
            <a:ext cx="75057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Greatest Common Divisor (GCD)</a:t>
            </a:r>
            <a:endParaRPr/>
          </a:p>
        </p:txBody>
      </p:sp>
      <p:sp>
        <p:nvSpPr>
          <p:cNvPr id="230" name="Google Shape;230;p25"/>
          <p:cNvSpPr txBox="1"/>
          <p:nvPr/>
        </p:nvSpPr>
        <p:spPr>
          <a:xfrm>
            <a:off x="722425" y="1124350"/>
            <a:ext cx="7738200" cy="30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recursive idea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We need gcd (48, 18) but someone has already figured out gcd (18, 48%18 = 12) or gcd (18, 12), which is now a smaller problem.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8528" y="2786675"/>
            <a:ext cx="5487525" cy="207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"/>
          <p:cNvSpPr txBox="1"/>
          <p:nvPr>
            <p:ph type="title"/>
          </p:nvPr>
        </p:nvSpPr>
        <p:spPr>
          <a:xfrm>
            <a:off x="819150" y="5251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Search</a:t>
            </a:r>
            <a:endParaRPr/>
          </a:p>
        </p:txBody>
      </p:sp>
      <p:pic>
        <p:nvPicPr>
          <p:cNvPr id="237" name="Google Shape;23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375" y="1632100"/>
            <a:ext cx="8409899" cy="28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