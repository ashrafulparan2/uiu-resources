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jpg" ContentType="image/jp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5"/>
  </p:notesMasterIdLst>
  <p:sldIdLst>
    <p:sldId id="256" r:id="rId2"/>
    <p:sldId id="277" r:id="rId3"/>
    <p:sldId id="278" r:id="rId4"/>
    <p:sldId id="279" r:id="rId5"/>
    <p:sldId id="280" r:id="rId6"/>
    <p:sldId id="281" r:id="rId7"/>
    <p:sldId id="282" r:id="rId8"/>
    <p:sldId id="283" r:id="rId9"/>
    <p:sldId id="284" r:id="rId10"/>
    <p:sldId id="285" r:id="rId11"/>
    <p:sldId id="286" r:id="rId12"/>
    <p:sldId id="287" r:id="rId13"/>
    <p:sldId id="288" r:id="rId14"/>
    <p:sldId id="297" r:id="rId15"/>
    <p:sldId id="289" r:id="rId16"/>
    <p:sldId id="290" r:id="rId17"/>
    <p:sldId id="291" r:id="rId18"/>
    <p:sldId id="292" r:id="rId19"/>
    <p:sldId id="293" r:id="rId20"/>
    <p:sldId id="294" r:id="rId21"/>
    <p:sldId id="295" r:id="rId22"/>
    <p:sldId id="296" r:id="rId23"/>
    <p:sldId id="270" r:id="rId24"/>
  </p:sldIdLst>
  <p:sldSz cx="12192000" cy="6858000"/>
  <p:notesSz cx="9144000" cy="6858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A6D3A"/>
    <a:srgbClr val="7AF88F"/>
    <a:srgbClr val="B9B9B9"/>
    <a:srgbClr val="F9E5E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83" d="100"/>
          <a:sy n="83" d="100"/>
        </p:scale>
        <p:origin x="658" y="72"/>
      </p:cViewPr>
      <p:guideLst>
        <p:guide orient="horz" pos="288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-1834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DD0F817-F997-4BDC-AC74-26B65EFB3769}" type="datetimeFigureOut">
              <a:rPr lang="en-US" smtClean="0"/>
              <a:t>1/25/2024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7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13513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F7D5022-0398-4A5B-92D0-8DCAEC3C86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64985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F7D5022-0398-4A5B-92D0-8DCAEC3C8606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244594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55399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8"/>
            <a:ext cx="8534400" cy="43088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smtClean="0"/>
              <a:t>mohaiminul@cse.uiu.ac.bd</a:t>
            </a:r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smtClean="0"/>
              <a:t>12/26/21</a:t>
            </a:r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300" b="0" i="0">
                <a:solidFill>
                  <a:srgbClr val="2388DB"/>
                </a:solidFill>
                <a:latin typeface="Arial MT"/>
                <a:cs typeface="Arial MT"/>
              </a:defRPr>
            </a:lvl1pPr>
          </a:lstStyle>
          <a:p>
            <a:pPr marL="38099">
              <a:lnSpc>
                <a:spcPts val="1535"/>
              </a:lnSpc>
            </a:pPr>
            <a:fld id="{81D60167-4931-47E6-BA6A-407CBD079E47}" type="slidenum">
              <a:rPr lang="en-US" smtClean="0"/>
              <a:pPr marL="38099">
                <a:lnSpc>
                  <a:spcPts val="1535"/>
                </a:lnSpc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706969" y="196324"/>
            <a:ext cx="10778067" cy="553998"/>
          </a:xfrm>
        </p:spPr>
        <p:txBody>
          <a:bodyPr lIns="0" tIns="0" rIns="0" bIns="0"/>
          <a:lstStyle>
            <a:lvl1pPr>
              <a:defRPr sz="3600" b="1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706969" y="1734186"/>
            <a:ext cx="10778067" cy="430887"/>
          </a:xfrm>
        </p:spPr>
        <p:txBody>
          <a:bodyPr lIns="0" tIns="0" rIns="0" bIns="0"/>
          <a:lstStyle>
            <a:lvl1pPr>
              <a:defRPr sz="28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smtClean="0"/>
              <a:t>mohaiminul@cse.uiu.ac.bd</a:t>
            </a:r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smtClean="0"/>
              <a:t>12/26/21</a:t>
            </a:r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300" b="0" i="0">
                <a:solidFill>
                  <a:srgbClr val="2388DB"/>
                </a:solidFill>
                <a:latin typeface="Arial MT"/>
                <a:cs typeface="Arial MT"/>
              </a:defRPr>
            </a:lvl1pPr>
          </a:lstStyle>
          <a:p>
            <a:pPr marL="38099">
              <a:lnSpc>
                <a:spcPts val="1535"/>
              </a:lnSpc>
            </a:pPr>
            <a:fld id="{81D60167-4931-47E6-BA6A-407CBD079E47}" type="slidenum">
              <a:rPr lang="en-US" smtClean="0"/>
              <a:pPr marL="38099">
                <a:lnSpc>
                  <a:spcPts val="1535"/>
                </a:lnSpc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706969" y="196324"/>
            <a:ext cx="10778067" cy="553998"/>
          </a:xfrm>
        </p:spPr>
        <p:txBody>
          <a:bodyPr lIns="0" tIns="0" rIns="0" bIns="0"/>
          <a:lstStyle>
            <a:lvl1pPr>
              <a:defRPr sz="3600" b="1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3088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3088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smtClean="0"/>
              <a:t>mohaiminul@cse.uiu.ac.bd</a:t>
            </a:r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smtClean="0"/>
              <a:t>12/26/21</a:t>
            </a:r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300" b="0" i="0">
                <a:solidFill>
                  <a:srgbClr val="2388DB"/>
                </a:solidFill>
                <a:latin typeface="Arial MT"/>
                <a:cs typeface="Arial MT"/>
              </a:defRPr>
            </a:lvl1pPr>
          </a:lstStyle>
          <a:p>
            <a:pPr marL="38099">
              <a:lnSpc>
                <a:spcPts val="1535"/>
              </a:lnSpc>
            </a:pPr>
            <a:fld id="{81D60167-4931-47E6-BA6A-407CBD079E47}" type="slidenum">
              <a:rPr lang="en-US" smtClean="0"/>
              <a:pPr marL="38099">
                <a:lnSpc>
                  <a:spcPts val="1535"/>
                </a:lnSpc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9144000" h="6858000">
                <a:moveTo>
                  <a:pt x="9143999" y="6857999"/>
                </a:moveTo>
                <a:lnTo>
                  <a:pt x="0" y="6857999"/>
                </a:lnTo>
                <a:lnTo>
                  <a:pt x="0" y="0"/>
                </a:lnTo>
                <a:lnTo>
                  <a:pt x="9143999" y="0"/>
                </a:lnTo>
                <a:lnTo>
                  <a:pt x="9143999" y="6857999"/>
                </a:lnTo>
                <a:close/>
              </a:path>
            </a:pathLst>
          </a:custGeom>
          <a:solidFill>
            <a:srgbClr val="2388DB"/>
          </a:solidFill>
        </p:spPr>
        <p:txBody>
          <a:bodyPr wrap="square" lIns="0" tIns="0" rIns="0" bIns="0" rtlCol="0"/>
          <a:lstStyle/>
          <a:p>
            <a:endParaRPr sz="1800"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706969" y="196324"/>
            <a:ext cx="10778067" cy="553998"/>
          </a:xfrm>
        </p:spPr>
        <p:txBody>
          <a:bodyPr lIns="0" tIns="0" rIns="0" bIns="0"/>
          <a:lstStyle>
            <a:lvl1pPr>
              <a:defRPr sz="3600" b="1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smtClean="0"/>
              <a:t>mohaiminul@cse.uiu.ac.bd</a:t>
            </a:r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smtClean="0"/>
              <a:t>12/26/21</a:t>
            </a:r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300" b="0" i="0">
                <a:solidFill>
                  <a:srgbClr val="2388DB"/>
                </a:solidFill>
                <a:latin typeface="Arial MT"/>
                <a:cs typeface="Arial MT"/>
              </a:defRPr>
            </a:lvl1pPr>
          </a:lstStyle>
          <a:p>
            <a:pPr marL="38099">
              <a:lnSpc>
                <a:spcPts val="1535"/>
              </a:lnSpc>
            </a:pPr>
            <a:fld id="{81D60167-4931-47E6-BA6A-407CBD079E47}" type="slidenum">
              <a:rPr lang="en-US" smtClean="0"/>
              <a:pPr marL="38099">
                <a:lnSpc>
                  <a:spcPts val="1535"/>
                </a:lnSpc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4690723"/>
            <a:ext cx="12192000" cy="635"/>
          </a:xfrm>
          <a:custGeom>
            <a:avLst/>
            <a:gdLst/>
            <a:ahLst/>
            <a:cxnLst/>
            <a:rect l="l" t="t" r="r" b="b"/>
            <a:pathLst>
              <a:path w="9144000" h="635">
                <a:moveTo>
                  <a:pt x="0" y="384"/>
                </a:moveTo>
                <a:lnTo>
                  <a:pt x="9143999" y="384"/>
                </a:lnTo>
                <a:lnTo>
                  <a:pt x="9143999" y="0"/>
                </a:lnTo>
                <a:lnTo>
                  <a:pt x="0" y="0"/>
                </a:lnTo>
                <a:lnTo>
                  <a:pt x="0" y="384"/>
                </a:lnTo>
                <a:close/>
              </a:path>
            </a:pathLst>
          </a:custGeom>
          <a:solidFill>
            <a:srgbClr val="2388DB"/>
          </a:solidFill>
        </p:spPr>
        <p:txBody>
          <a:bodyPr wrap="square" lIns="0" tIns="0" rIns="0" bIns="0" rtlCol="0"/>
          <a:lstStyle/>
          <a:p>
            <a:endParaRPr sz="1800"/>
          </a:p>
        </p:txBody>
      </p:sp>
      <p:sp>
        <p:nvSpPr>
          <p:cNvPr id="17" name="bg object 17"/>
          <p:cNvSpPr/>
          <p:nvPr/>
        </p:nvSpPr>
        <p:spPr>
          <a:xfrm>
            <a:off x="0" y="9"/>
            <a:ext cx="12192000" cy="4633595"/>
          </a:xfrm>
          <a:custGeom>
            <a:avLst/>
            <a:gdLst/>
            <a:ahLst/>
            <a:cxnLst/>
            <a:rect l="l" t="t" r="r" b="b"/>
            <a:pathLst>
              <a:path w="9144000" h="4633595">
                <a:moveTo>
                  <a:pt x="0" y="4633564"/>
                </a:moveTo>
                <a:lnTo>
                  <a:pt x="9143999" y="4633564"/>
                </a:lnTo>
                <a:lnTo>
                  <a:pt x="9143999" y="0"/>
                </a:lnTo>
                <a:lnTo>
                  <a:pt x="0" y="0"/>
                </a:lnTo>
                <a:lnTo>
                  <a:pt x="0" y="4633564"/>
                </a:lnTo>
                <a:close/>
              </a:path>
            </a:pathLst>
          </a:custGeom>
          <a:solidFill>
            <a:srgbClr val="2388DB"/>
          </a:solidFill>
        </p:spPr>
        <p:txBody>
          <a:bodyPr wrap="square" lIns="0" tIns="0" rIns="0" bIns="0" rtlCol="0"/>
          <a:lstStyle/>
          <a:p>
            <a:endParaRPr sz="1800"/>
          </a:p>
        </p:txBody>
      </p:sp>
      <p:sp>
        <p:nvSpPr>
          <p:cNvPr id="18" name="bg object 18"/>
          <p:cNvSpPr/>
          <p:nvPr/>
        </p:nvSpPr>
        <p:spPr>
          <a:xfrm>
            <a:off x="0" y="4633565"/>
            <a:ext cx="12192000" cy="57150"/>
          </a:xfrm>
          <a:custGeom>
            <a:avLst/>
            <a:gdLst/>
            <a:ahLst/>
            <a:cxnLst/>
            <a:rect l="l" t="t" r="r" b="b"/>
            <a:pathLst>
              <a:path w="9144000" h="57150">
                <a:moveTo>
                  <a:pt x="0" y="0"/>
                </a:moveTo>
                <a:lnTo>
                  <a:pt x="9143999" y="0"/>
                </a:lnTo>
                <a:lnTo>
                  <a:pt x="9143999" y="57149"/>
                </a:lnTo>
                <a:lnTo>
                  <a:pt x="0" y="57149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14901"/>
            </a:srgbClr>
          </a:solidFill>
        </p:spPr>
        <p:txBody>
          <a:bodyPr wrap="square" lIns="0" tIns="0" rIns="0" bIns="0" rtlCol="0"/>
          <a:lstStyle/>
          <a:p>
            <a:endParaRPr sz="1800"/>
          </a:p>
        </p:txBody>
      </p:sp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smtClean="0"/>
              <a:t>mohaiminul@cse.uiu.ac.bd</a:t>
            </a:r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smtClean="0"/>
              <a:t>12/26/21</a:t>
            </a:r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300" b="0" i="0">
                <a:solidFill>
                  <a:srgbClr val="2388DB"/>
                </a:solidFill>
                <a:latin typeface="Arial MT"/>
                <a:cs typeface="Arial MT"/>
              </a:defRPr>
            </a:lvl1pPr>
          </a:lstStyle>
          <a:p>
            <a:pPr marL="38099">
              <a:lnSpc>
                <a:spcPts val="1535"/>
              </a:lnSpc>
            </a:pPr>
            <a:fld id="{81D60167-4931-47E6-BA6A-407CBD079E47}" type="slidenum">
              <a:rPr lang="en-US" smtClean="0"/>
              <a:pPr marL="38099">
                <a:lnSpc>
                  <a:spcPts val="1535"/>
                </a:lnSpc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1532408"/>
            <a:ext cx="12192000" cy="1270"/>
          </a:xfrm>
          <a:custGeom>
            <a:avLst/>
            <a:gdLst/>
            <a:ahLst/>
            <a:cxnLst/>
            <a:rect l="l" t="t" r="r" b="b"/>
            <a:pathLst>
              <a:path w="9144000" h="1269">
                <a:moveTo>
                  <a:pt x="0" y="890"/>
                </a:moveTo>
                <a:lnTo>
                  <a:pt x="9143999" y="890"/>
                </a:lnTo>
                <a:lnTo>
                  <a:pt x="9143999" y="0"/>
                </a:lnTo>
                <a:lnTo>
                  <a:pt x="0" y="0"/>
                </a:lnTo>
                <a:lnTo>
                  <a:pt x="0" y="890"/>
                </a:lnTo>
                <a:close/>
              </a:path>
            </a:pathLst>
          </a:custGeom>
          <a:solidFill>
            <a:srgbClr val="2388DB"/>
          </a:solidFill>
        </p:spPr>
        <p:txBody>
          <a:bodyPr wrap="square" lIns="0" tIns="0" rIns="0" bIns="0" rtlCol="0"/>
          <a:lstStyle/>
          <a:p>
            <a:endParaRPr sz="1800"/>
          </a:p>
        </p:txBody>
      </p:sp>
      <p:sp>
        <p:nvSpPr>
          <p:cNvPr id="17" name="bg object 17"/>
          <p:cNvSpPr/>
          <p:nvPr/>
        </p:nvSpPr>
        <p:spPr>
          <a:xfrm>
            <a:off x="0" y="0"/>
            <a:ext cx="12192000" cy="1475740"/>
          </a:xfrm>
          <a:custGeom>
            <a:avLst/>
            <a:gdLst/>
            <a:ahLst/>
            <a:cxnLst/>
            <a:rect l="l" t="t" r="r" b="b"/>
            <a:pathLst>
              <a:path w="9144000" h="1475740">
                <a:moveTo>
                  <a:pt x="0" y="1475258"/>
                </a:moveTo>
                <a:lnTo>
                  <a:pt x="9143999" y="1475258"/>
                </a:lnTo>
                <a:lnTo>
                  <a:pt x="9143999" y="0"/>
                </a:lnTo>
                <a:lnTo>
                  <a:pt x="0" y="0"/>
                </a:lnTo>
                <a:lnTo>
                  <a:pt x="0" y="1475258"/>
                </a:lnTo>
                <a:close/>
              </a:path>
            </a:pathLst>
          </a:custGeom>
          <a:solidFill>
            <a:srgbClr val="2388DB"/>
          </a:solidFill>
        </p:spPr>
        <p:txBody>
          <a:bodyPr wrap="square" lIns="0" tIns="0" rIns="0" bIns="0" rtlCol="0"/>
          <a:lstStyle/>
          <a:p>
            <a:endParaRPr sz="1800"/>
          </a:p>
        </p:txBody>
      </p:sp>
      <p:sp>
        <p:nvSpPr>
          <p:cNvPr id="18" name="bg object 18"/>
          <p:cNvSpPr/>
          <p:nvPr/>
        </p:nvSpPr>
        <p:spPr>
          <a:xfrm>
            <a:off x="0" y="1475259"/>
            <a:ext cx="12192000" cy="57150"/>
          </a:xfrm>
          <a:custGeom>
            <a:avLst/>
            <a:gdLst/>
            <a:ahLst/>
            <a:cxnLst/>
            <a:rect l="l" t="t" r="r" b="b"/>
            <a:pathLst>
              <a:path w="9144000" h="57150">
                <a:moveTo>
                  <a:pt x="0" y="0"/>
                </a:moveTo>
                <a:lnTo>
                  <a:pt x="9143999" y="0"/>
                </a:lnTo>
                <a:lnTo>
                  <a:pt x="9143999" y="57149"/>
                </a:lnTo>
                <a:lnTo>
                  <a:pt x="0" y="57149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14901"/>
            </a:srgbClr>
          </a:solidFill>
        </p:spPr>
        <p:txBody>
          <a:bodyPr wrap="square" lIns="0" tIns="0" rIns="0" bIns="0" rtlCol="0"/>
          <a:lstStyle/>
          <a:p>
            <a:endParaRPr sz="1800"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706969" y="196324"/>
            <a:ext cx="10778067" cy="55399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1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706969" y="1734186"/>
            <a:ext cx="10778067" cy="43088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8"/>
            <a:ext cx="390144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smtClean="0"/>
              <a:t>mohaiminul@cse.uiu.ac.bd</a:t>
            </a:r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8"/>
            <a:ext cx="280416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smtClean="0"/>
              <a:t>12/26/21</a:t>
            </a:r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1730776" y="6491807"/>
            <a:ext cx="347133" cy="1923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300" b="0" i="0">
                <a:solidFill>
                  <a:srgbClr val="2388DB"/>
                </a:solidFill>
                <a:latin typeface="Arial MT"/>
                <a:cs typeface="Arial MT"/>
              </a:defRPr>
            </a:lvl1pPr>
          </a:lstStyle>
          <a:p>
            <a:pPr marL="38099">
              <a:lnSpc>
                <a:spcPts val="1535"/>
              </a:lnSpc>
            </a:pPr>
            <a:fld id="{81D60167-4931-47E6-BA6A-407CBD079E47}" type="slidenum">
              <a:rPr lang="en-US" smtClean="0"/>
              <a:pPr marL="38099">
                <a:lnSpc>
                  <a:spcPts val="1535"/>
                </a:lnSpc>
              </a:pPr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hf hdr="0" ftr="0" dt="0"/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189">
        <a:defRPr>
          <a:latin typeface="+mn-lt"/>
          <a:ea typeface="+mn-ea"/>
          <a:cs typeface="+mn-cs"/>
        </a:defRPr>
      </a:lvl2pPr>
      <a:lvl3pPr marL="914377">
        <a:defRPr>
          <a:latin typeface="+mn-lt"/>
          <a:ea typeface="+mn-ea"/>
          <a:cs typeface="+mn-cs"/>
        </a:defRPr>
      </a:lvl3pPr>
      <a:lvl4pPr marL="1371566">
        <a:defRPr>
          <a:latin typeface="+mn-lt"/>
          <a:ea typeface="+mn-ea"/>
          <a:cs typeface="+mn-cs"/>
        </a:defRPr>
      </a:lvl4pPr>
      <a:lvl5pPr marL="1828754">
        <a:defRPr>
          <a:latin typeface="+mn-lt"/>
          <a:ea typeface="+mn-ea"/>
          <a:cs typeface="+mn-cs"/>
        </a:defRPr>
      </a:lvl5pPr>
      <a:lvl6pPr marL="2285943">
        <a:defRPr>
          <a:latin typeface="+mn-lt"/>
          <a:ea typeface="+mn-ea"/>
          <a:cs typeface="+mn-cs"/>
        </a:defRPr>
      </a:lvl6pPr>
      <a:lvl7pPr marL="2743131">
        <a:defRPr>
          <a:latin typeface="+mn-lt"/>
          <a:ea typeface="+mn-ea"/>
          <a:cs typeface="+mn-cs"/>
        </a:defRPr>
      </a:lvl7pPr>
      <a:lvl8pPr marL="3200320">
        <a:defRPr>
          <a:latin typeface="+mn-lt"/>
          <a:ea typeface="+mn-ea"/>
          <a:cs typeface="+mn-cs"/>
        </a:defRPr>
      </a:lvl8pPr>
      <a:lvl9pPr marL="3657509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189">
        <a:defRPr>
          <a:latin typeface="+mn-lt"/>
          <a:ea typeface="+mn-ea"/>
          <a:cs typeface="+mn-cs"/>
        </a:defRPr>
      </a:lvl2pPr>
      <a:lvl3pPr marL="914377">
        <a:defRPr>
          <a:latin typeface="+mn-lt"/>
          <a:ea typeface="+mn-ea"/>
          <a:cs typeface="+mn-cs"/>
        </a:defRPr>
      </a:lvl3pPr>
      <a:lvl4pPr marL="1371566">
        <a:defRPr>
          <a:latin typeface="+mn-lt"/>
          <a:ea typeface="+mn-ea"/>
          <a:cs typeface="+mn-cs"/>
        </a:defRPr>
      </a:lvl4pPr>
      <a:lvl5pPr marL="1828754">
        <a:defRPr>
          <a:latin typeface="+mn-lt"/>
          <a:ea typeface="+mn-ea"/>
          <a:cs typeface="+mn-cs"/>
        </a:defRPr>
      </a:lvl5pPr>
      <a:lvl6pPr marL="2285943">
        <a:defRPr>
          <a:latin typeface="+mn-lt"/>
          <a:ea typeface="+mn-ea"/>
          <a:cs typeface="+mn-cs"/>
        </a:defRPr>
      </a:lvl6pPr>
      <a:lvl7pPr marL="2743131">
        <a:defRPr>
          <a:latin typeface="+mn-lt"/>
          <a:ea typeface="+mn-ea"/>
          <a:cs typeface="+mn-cs"/>
        </a:defRPr>
      </a:lvl7pPr>
      <a:lvl8pPr marL="3200320">
        <a:defRPr>
          <a:latin typeface="+mn-lt"/>
          <a:ea typeface="+mn-ea"/>
          <a:cs typeface="+mn-cs"/>
        </a:defRPr>
      </a:lvl8pPr>
      <a:lvl9pPr marL="3657509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jp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g"/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7.jpg"/><Relationship Id="rId4" Type="http://schemas.openxmlformats.org/officeDocument/2006/relationships/image" Target="../media/image16.jp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g"/><Relationship Id="rId2" Type="http://schemas.openxmlformats.org/officeDocument/2006/relationships/image" Target="../media/image18.jp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g"/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1.jpg"/><Relationship Id="rId4" Type="http://schemas.openxmlformats.org/officeDocument/2006/relationships/image" Target="../media/image20.jpg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057400" y="2885995"/>
            <a:ext cx="9223368" cy="187230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lang="en-US" sz="6000" b="1" spc="-5" dirty="0" smtClean="0">
                <a:solidFill>
                  <a:srgbClr val="FFFFFF"/>
                </a:solidFill>
                <a:latin typeface="Arial"/>
                <a:cs typeface="Arial"/>
              </a:rPr>
              <a:t>Graph Terminology &amp;</a:t>
            </a:r>
          </a:p>
          <a:p>
            <a:pPr marL="12700">
              <a:spcBef>
                <a:spcPts val="100"/>
              </a:spcBef>
            </a:pPr>
            <a:r>
              <a:rPr lang="en-US" sz="6000" b="1" spc="-5" dirty="0" smtClean="0">
                <a:solidFill>
                  <a:srgbClr val="FFFFFF"/>
                </a:solidFill>
                <a:latin typeface="Arial"/>
                <a:cs typeface="Arial"/>
              </a:rPr>
              <a:t>Representation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282832" y="4019619"/>
            <a:ext cx="7699375" cy="19723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endParaRPr lang="en-US" sz="3600" dirty="0">
              <a:latin typeface="Arial"/>
              <a:cs typeface="Arial"/>
            </a:endParaRPr>
          </a:p>
          <a:p>
            <a:pPr marL="12700">
              <a:spcBef>
                <a:spcPts val="2560"/>
              </a:spcBef>
            </a:pPr>
            <a:r>
              <a:rPr sz="3000" spc="-5" dirty="0">
                <a:solidFill>
                  <a:srgbClr val="2388DB"/>
                </a:solidFill>
                <a:latin typeface="Arial MT"/>
                <a:cs typeface="Arial MT"/>
              </a:rPr>
              <a:t>CSE</a:t>
            </a:r>
            <a:r>
              <a:rPr sz="3000" spc="-20" dirty="0">
                <a:solidFill>
                  <a:srgbClr val="2388DB"/>
                </a:solidFill>
                <a:latin typeface="Arial MT"/>
                <a:cs typeface="Arial MT"/>
              </a:rPr>
              <a:t> </a:t>
            </a:r>
            <a:r>
              <a:rPr lang="en-US" sz="3000" spc="-5" dirty="0">
                <a:solidFill>
                  <a:srgbClr val="2388DB"/>
                </a:solidFill>
                <a:latin typeface="Arial MT"/>
                <a:cs typeface="Arial MT"/>
              </a:rPr>
              <a:t>2215</a:t>
            </a:r>
            <a:r>
              <a:rPr sz="3000" spc="-20" dirty="0">
                <a:solidFill>
                  <a:srgbClr val="2388DB"/>
                </a:solidFill>
                <a:latin typeface="Arial MT"/>
                <a:cs typeface="Arial MT"/>
              </a:rPr>
              <a:t> </a:t>
            </a:r>
            <a:r>
              <a:rPr sz="3000" dirty="0">
                <a:solidFill>
                  <a:srgbClr val="2388DB"/>
                </a:solidFill>
                <a:latin typeface="Arial MT"/>
                <a:cs typeface="Arial MT"/>
              </a:rPr>
              <a:t>-</a:t>
            </a:r>
            <a:r>
              <a:rPr sz="3000" spc="-20" dirty="0">
                <a:solidFill>
                  <a:srgbClr val="2388DB"/>
                </a:solidFill>
                <a:latin typeface="Arial MT"/>
                <a:cs typeface="Arial MT"/>
              </a:rPr>
              <a:t> </a:t>
            </a:r>
            <a:r>
              <a:rPr sz="3000" spc="-5" dirty="0">
                <a:solidFill>
                  <a:srgbClr val="2388DB"/>
                </a:solidFill>
                <a:latin typeface="Arial MT"/>
                <a:cs typeface="Arial MT"/>
              </a:rPr>
              <a:t>Lecture</a:t>
            </a:r>
            <a:r>
              <a:rPr sz="3000" spc="-15" dirty="0">
                <a:solidFill>
                  <a:srgbClr val="2388DB"/>
                </a:solidFill>
                <a:latin typeface="Arial MT"/>
                <a:cs typeface="Arial MT"/>
              </a:rPr>
              <a:t> </a:t>
            </a:r>
            <a:r>
              <a:rPr lang="en-US" sz="3000" smtClean="0">
                <a:solidFill>
                  <a:srgbClr val="2388DB"/>
                </a:solidFill>
                <a:latin typeface="Arial MT"/>
                <a:cs typeface="Arial MT"/>
              </a:rPr>
              <a:t>13</a:t>
            </a:r>
            <a:r>
              <a:rPr sz="3000" spc="-20" smtClean="0">
                <a:solidFill>
                  <a:srgbClr val="2388DB"/>
                </a:solidFill>
                <a:latin typeface="Arial MT"/>
                <a:cs typeface="Arial MT"/>
              </a:rPr>
              <a:t> </a:t>
            </a:r>
            <a:endParaRPr lang="en-US" sz="3000" spc="-20" smtClean="0">
              <a:solidFill>
                <a:srgbClr val="2388DB"/>
              </a:solidFill>
              <a:latin typeface="Arial MT"/>
              <a:cs typeface="Arial MT"/>
            </a:endParaRPr>
          </a:p>
          <a:p>
            <a:pPr marL="12700">
              <a:spcBef>
                <a:spcPts val="2560"/>
              </a:spcBef>
            </a:pPr>
            <a:r>
              <a:rPr lang="en-US" spc="-5" smtClean="0">
                <a:solidFill>
                  <a:srgbClr val="2388DB"/>
                </a:solidFill>
                <a:latin typeface="Arial MT"/>
                <a:cs typeface="Arial MT"/>
              </a:rPr>
              <a:t>Instructor </a:t>
            </a:r>
            <a:r>
              <a:rPr lang="en-US" spc="-5" dirty="0">
                <a:solidFill>
                  <a:srgbClr val="2388DB"/>
                </a:solidFill>
                <a:latin typeface="Arial MT"/>
                <a:cs typeface="Arial MT"/>
              </a:rPr>
              <a:t>: </a:t>
            </a:r>
            <a:r>
              <a:rPr lang="en-US" dirty="0"/>
              <a:t>Fahmid Al </a:t>
            </a:r>
            <a:r>
              <a:rPr lang="en-US" dirty="0" err="1"/>
              <a:t>Rifat</a:t>
            </a:r>
            <a:r>
              <a:rPr lang="en-US" dirty="0"/>
              <a:t>, Lecturer, Dept. of CSE , UIU</a:t>
            </a:r>
            <a:endParaRPr lang="en-US" dirty="0">
              <a:latin typeface="Arial MT"/>
              <a:cs typeface="Arial MT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38099">
              <a:lnSpc>
                <a:spcPts val="1535"/>
              </a:lnSpc>
            </a:pPr>
            <a:fld id="{81D60167-4931-47E6-BA6A-407CBD079E47}" type="slidenum">
              <a:rPr lang="en-US" smtClean="0"/>
              <a:pPr marL="38099">
                <a:lnSpc>
                  <a:spcPts val="1535"/>
                </a:lnSpc>
              </a:pPr>
              <a:t>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5"/>
          </p:nvPr>
        </p:nvSpPr>
        <p:spPr>
          <a:xfrm>
            <a:off x="4145280" y="6377948"/>
            <a:ext cx="3901440" cy="276999"/>
          </a:xfrm>
        </p:spPr>
        <p:txBody>
          <a:bodyPr/>
          <a:lstStyle/>
          <a:p>
            <a:r>
              <a:rPr lang="en-US" dirty="0" smtClean="0"/>
              <a:t>fahmid@cse.uiu.ac.bd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8" y="679195"/>
            <a:ext cx="5102861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10" dirty="0"/>
              <a:t>What</a:t>
            </a:r>
            <a:r>
              <a:rPr sz="3600" spc="-20" dirty="0"/>
              <a:t> </a:t>
            </a:r>
            <a:r>
              <a:rPr sz="3600" dirty="0"/>
              <a:t>is</a:t>
            </a:r>
            <a:r>
              <a:rPr sz="3600" spc="-30" dirty="0"/>
              <a:t> </a:t>
            </a:r>
            <a:r>
              <a:rPr sz="3600" dirty="0"/>
              <a:t>a</a:t>
            </a:r>
            <a:r>
              <a:rPr sz="3600" spc="-25" dirty="0"/>
              <a:t> </a:t>
            </a:r>
            <a:r>
              <a:rPr sz="3600" spc="-15" dirty="0"/>
              <a:t>Graph?</a:t>
            </a:r>
            <a:endParaRPr sz="3600" dirty="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740351" y="3577377"/>
            <a:ext cx="2277449" cy="1803919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916939" y="1845564"/>
            <a:ext cx="10817861" cy="330859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240665" algn="l"/>
                <a:tab pos="241300" algn="l"/>
              </a:tabLst>
            </a:pPr>
            <a:r>
              <a:rPr sz="2000" dirty="0">
                <a:latin typeface="Arial MT"/>
                <a:cs typeface="Tahoma"/>
              </a:rPr>
              <a:t>A</a:t>
            </a:r>
            <a:r>
              <a:rPr sz="2000" spc="-10" dirty="0">
                <a:latin typeface="Arial MT"/>
                <a:cs typeface="Tahoma"/>
              </a:rPr>
              <a:t> </a:t>
            </a:r>
            <a:r>
              <a:rPr sz="2000" spc="-15" dirty="0">
                <a:latin typeface="Arial MT"/>
                <a:cs typeface="Tahoma"/>
              </a:rPr>
              <a:t>graph</a:t>
            </a:r>
            <a:r>
              <a:rPr sz="2000" spc="-25" dirty="0">
                <a:latin typeface="Arial MT"/>
                <a:cs typeface="Tahoma"/>
              </a:rPr>
              <a:t> </a:t>
            </a:r>
            <a:r>
              <a:rPr sz="2000" spc="5" dirty="0">
                <a:latin typeface="Arial MT"/>
                <a:cs typeface="Tahoma"/>
              </a:rPr>
              <a:t>is</a:t>
            </a:r>
            <a:r>
              <a:rPr sz="2000" spc="-5" dirty="0">
                <a:latin typeface="Arial MT"/>
                <a:cs typeface="Tahoma"/>
              </a:rPr>
              <a:t> </a:t>
            </a:r>
            <a:r>
              <a:rPr sz="2000" dirty="0">
                <a:latin typeface="Arial MT"/>
                <a:cs typeface="Tahoma"/>
              </a:rPr>
              <a:t>a</a:t>
            </a:r>
            <a:r>
              <a:rPr sz="2000" spc="-10" dirty="0">
                <a:latin typeface="Arial MT"/>
                <a:cs typeface="Tahoma"/>
              </a:rPr>
              <a:t> </a:t>
            </a:r>
            <a:r>
              <a:rPr sz="2000" spc="-5" dirty="0">
                <a:latin typeface="Arial MT"/>
                <a:cs typeface="Tahoma"/>
              </a:rPr>
              <a:t>pair </a:t>
            </a:r>
            <a:r>
              <a:rPr sz="2000" spc="-90" dirty="0">
                <a:latin typeface="Arial MT"/>
                <a:cs typeface="Times New Roman"/>
              </a:rPr>
              <a:t>(</a:t>
            </a:r>
            <a:r>
              <a:rPr sz="2000" b="1" i="1" spc="-90" dirty="0">
                <a:latin typeface="Arial MT"/>
                <a:cs typeface="Times New Roman"/>
              </a:rPr>
              <a:t>V,</a:t>
            </a:r>
            <a:r>
              <a:rPr sz="2000" b="1" i="1" spc="-25" dirty="0">
                <a:latin typeface="Arial MT"/>
                <a:cs typeface="Times New Roman"/>
              </a:rPr>
              <a:t> </a:t>
            </a:r>
            <a:r>
              <a:rPr sz="2000" b="1" i="1" spc="-5" dirty="0">
                <a:latin typeface="Arial MT"/>
                <a:cs typeface="Times New Roman"/>
              </a:rPr>
              <a:t>E</a:t>
            </a:r>
            <a:r>
              <a:rPr sz="2000" spc="-5" dirty="0">
                <a:latin typeface="Arial MT"/>
                <a:cs typeface="Times New Roman"/>
              </a:rPr>
              <a:t>)</a:t>
            </a:r>
            <a:r>
              <a:rPr sz="2000" spc="-5" dirty="0">
                <a:latin typeface="Arial MT"/>
                <a:cs typeface="Tahoma"/>
              </a:rPr>
              <a:t>,</a:t>
            </a:r>
            <a:r>
              <a:rPr sz="2000" spc="-90" dirty="0">
                <a:latin typeface="Arial MT"/>
                <a:cs typeface="Tahoma"/>
              </a:rPr>
              <a:t> </a:t>
            </a:r>
            <a:r>
              <a:rPr sz="2000" spc="-10" dirty="0">
                <a:latin typeface="Arial MT"/>
                <a:cs typeface="Tahoma"/>
              </a:rPr>
              <a:t>where</a:t>
            </a:r>
            <a:endParaRPr sz="2000" dirty="0">
              <a:latin typeface="Arial MT"/>
              <a:cs typeface="Tahoma"/>
            </a:endParaRPr>
          </a:p>
          <a:p>
            <a:pPr marL="683260" lvl="1" indent="-143510">
              <a:lnSpc>
                <a:spcPct val="100000"/>
              </a:lnSpc>
              <a:spcBef>
                <a:spcPts val="95"/>
              </a:spcBef>
              <a:buSzPct val="60000"/>
              <a:buFont typeface="Wingdings"/>
              <a:buChar char=""/>
              <a:tabLst>
                <a:tab pos="683260" algn="l"/>
              </a:tabLst>
            </a:pPr>
            <a:r>
              <a:rPr sz="2000" b="1" i="1" dirty="0">
                <a:latin typeface="Arial MT"/>
                <a:cs typeface="Times New Roman"/>
              </a:rPr>
              <a:t>V</a:t>
            </a:r>
            <a:r>
              <a:rPr sz="2000" b="1" i="1" spc="-35" dirty="0">
                <a:latin typeface="Arial MT"/>
                <a:cs typeface="Times New Roman"/>
              </a:rPr>
              <a:t> </a:t>
            </a:r>
            <a:r>
              <a:rPr sz="2000" spc="5" dirty="0">
                <a:latin typeface="Arial MT"/>
                <a:cs typeface="Tahoma"/>
              </a:rPr>
              <a:t>is</a:t>
            </a:r>
            <a:r>
              <a:rPr sz="2000" dirty="0">
                <a:latin typeface="Arial MT"/>
                <a:cs typeface="Tahoma"/>
              </a:rPr>
              <a:t> a</a:t>
            </a:r>
            <a:r>
              <a:rPr sz="2000" spc="-10" dirty="0">
                <a:latin typeface="Arial MT"/>
                <a:cs typeface="Tahoma"/>
              </a:rPr>
              <a:t> </a:t>
            </a:r>
            <a:r>
              <a:rPr sz="2000" spc="-5" dirty="0">
                <a:latin typeface="Arial MT"/>
                <a:cs typeface="Tahoma"/>
              </a:rPr>
              <a:t>set </a:t>
            </a:r>
            <a:r>
              <a:rPr sz="2000" dirty="0">
                <a:latin typeface="Arial MT"/>
                <a:cs typeface="Tahoma"/>
              </a:rPr>
              <a:t>of</a:t>
            </a:r>
            <a:r>
              <a:rPr sz="2000" spc="-10" dirty="0">
                <a:latin typeface="Arial MT"/>
                <a:cs typeface="Tahoma"/>
              </a:rPr>
              <a:t> </a:t>
            </a:r>
            <a:r>
              <a:rPr sz="2000" spc="-5" dirty="0">
                <a:latin typeface="Arial MT"/>
                <a:cs typeface="Tahoma"/>
              </a:rPr>
              <a:t>nodes,</a:t>
            </a:r>
            <a:r>
              <a:rPr sz="2000" spc="-15" dirty="0">
                <a:latin typeface="Arial MT"/>
                <a:cs typeface="Tahoma"/>
              </a:rPr>
              <a:t> </a:t>
            </a:r>
            <a:r>
              <a:rPr sz="2000" dirty="0">
                <a:latin typeface="Arial MT"/>
                <a:cs typeface="Tahoma"/>
              </a:rPr>
              <a:t>called</a:t>
            </a:r>
            <a:r>
              <a:rPr sz="2000" spc="-114" dirty="0">
                <a:latin typeface="Arial MT"/>
                <a:cs typeface="Tahoma"/>
              </a:rPr>
              <a:t> </a:t>
            </a:r>
            <a:r>
              <a:rPr sz="2000" spc="-5" dirty="0">
                <a:solidFill>
                  <a:srgbClr val="C00000"/>
                </a:solidFill>
                <a:latin typeface="Arial MT"/>
                <a:cs typeface="Tahoma"/>
              </a:rPr>
              <a:t>vertices</a:t>
            </a:r>
            <a:endParaRPr sz="2000" dirty="0">
              <a:solidFill>
                <a:srgbClr val="C00000"/>
              </a:solidFill>
              <a:latin typeface="Arial MT"/>
              <a:cs typeface="Tahoma"/>
            </a:endParaRPr>
          </a:p>
          <a:p>
            <a:pPr marL="683260" lvl="1" indent="-143510">
              <a:lnSpc>
                <a:spcPct val="100000"/>
              </a:lnSpc>
              <a:spcBef>
                <a:spcPts val="95"/>
              </a:spcBef>
              <a:buSzPct val="60000"/>
              <a:buFont typeface="Wingdings"/>
              <a:buChar char=""/>
              <a:tabLst>
                <a:tab pos="683260" algn="l"/>
              </a:tabLst>
            </a:pPr>
            <a:r>
              <a:rPr sz="2000" b="1" i="1" dirty="0">
                <a:latin typeface="Arial MT"/>
                <a:cs typeface="Times New Roman"/>
              </a:rPr>
              <a:t>E</a:t>
            </a:r>
            <a:r>
              <a:rPr sz="2000" b="1" i="1" spc="5" dirty="0">
                <a:latin typeface="Arial MT"/>
                <a:cs typeface="Times New Roman"/>
              </a:rPr>
              <a:t> </a:t>
            </a:r>
            <a:r>
              <a:rPr sz="2000" spc="5" dirty="0">
                <a:latin typeface="Arial MT"/>
                <a:cs typeface="Tahoma"/>
              </a:rPr>
              <a:t>is </a:t>
            </a:r>
            <a:r>
              <a:rPr sz="2000" dirty="0">
                <a:latin typeface="Arial MT"/>
                <a:cs typeface="Tahoma"/>
              </a:rPr>
              <a:t>a</a:t>
            </a:r>
            <a:r>
              <a:rPr sz="2000" spc="-5" dirty="0">
                <a:latin typeface="Arial MT"/>
                <a:cs typeface="Tahoma"/>
              </a:rPr>
              <a:t> </a:t>
            </a:r>
            <a:r>
              <a:rPr sz="2000" dirty="0">
                <a:latin typeface="Arial MT"/>
                <a:cs typeface="Tahoma"/>
              </a:rPr>
              <a:t>collection</a:t>
            </a:r>
            <a:r>
              <a:rPr sz="2000" spc="-5" dirty="0">
                <a:latin typeface="Arial MT"/>
                <a:cs typeface="Tahoma"/>
              </a:rPr>
              <a:t> </a:t>
            </a:r>
            <a:r>
              <a:rPr sz="2000" dirty="0">
                <a:latin typeface="Arial MT"/>
                <a:cs typeface="Tahoma"/>
              </a:rPr>
              <a:t>of </a:t>
            </a:r>
            <a:r>
              <a:rPr sz="2000" spc="-5" dirty="0">
                <a:latin typeface="Arial MT"/>
                <a:cs typeface="Tahoma"/>
              </a:rPr>
              <a:t>pairs</a:t>
            </a:r>
            <a:r>
              <a:rPr sz="2000" spc="-10" dirty="0">
                <a:latin typeface="Arial MT"/>
                <a:cs typeface="Tahoma"/>
              </a:rPr>
              <a:t> </a:t>
            </a:r>
            <a:r>
              <a:rPr sz="2000" dirty="0">
                <a:latin typeface="Arial MT"/>
                <a:cs typeface="Tahoma"/>
              </a:rPr>
              <a:t>of </a:t>
            </a:r>
            <a:r>
              <a:rPr sz="2000" spc="-5" dirty="0">
                <a:latin typeface="Arial MT"/>
                <a:cs typeface="Tahoma"/>
              </a:rPr>
              <a:t>vertices,</a:t>
            </a:r>
            <a:r>
              <a:rPr sz="2000" spc="-15" dirty="0">
                <a:latin typeface="Arial MT"/>
                <a:cs typeface="Tahoma"/>
              </a:rPr>
              <a:t> </a:t>
            </a:r>
            <a:r>
              <a:rPr sz="2000" dirty="0">
                <a:latin typeface="Arial MT"/>
                <a:cs typeface="Tahoma"/>
              </a:rPr>
              <a:t>called</a:t>
            </a:r>
            <a:r>
              <a:rPr sz="2000" spc="-150" dirty="0">
                <a:latin typeface="Arial MT"/>
                <a:cs typeface="Tahoma"/>
              </a:rPr>
              <a:t> </a:t>
            </a:r>
            <a:r>
              <a:rPr sz="2000" spc="-10" dirty="0">
                <a:solidFill>
                  <a:srgbClr val="C00000"/>
                </a:solidFill>
                <a:latin typeface="Arial MT"/>
                <a:cs typeface="Tahoma"/>
              </a:rPr>
              <a:t>edges</a:t>
            </a:r>
            <a:endParaRPr sz="2000" dirty="0">
              <a:solidFill>
                <a:srgbClr val="C00000"/>
              </a:solidFill>
              <a:latin typeface="Arial MT"/>
              <a:cs typeface="Tahoma"/>
            </a:endParaRPr>
          </a:p>
          <a:p>
            <a:pPr marL="241300" indent="-228600">
              <a:lnSpc>
                <a:spcPct val="100000"/>
              </a:lnSpc>
              <a:spcBef>
                <a:spcPts val="409"/>
              </a:spcBef>
              <a:buFont typeface="Arial MT"/>
              <a:buChar char="•"/>
              <a:tabLst>
                <a:tab pos="240665" algn="l"/>
                <a:tab pos="241300" algn="l"/>
                <a:tab pos="7155815" algn="l"/>
              </a:tabLst>
            </a:pPr>
            <a:r>
              <a:rPr sz="2000" spc="-5" dirty="0">
                <a:latin typeface="Arial MT"/>
                <a:cs typeface="Tahoma"/>
              </a:rPr>
              <a:t>V(G)</a:t>
            </a:r>
            <a:r>
              <a:rPr sz="2000" dirty="0">
                <a:latin typeface="Arial MT"/>
                <a:cs typeface="Tahoma"/>
              </a:rPr>
              <a:t> </a:t>
            </a:r>
            <a:r>
              <a:rPr sz="2000" spc="-5" dirty="0">
                <a:latin typeface="Arial MT"/>
                <a:cs typeface="Tahoma"/>
              </a:rPr>
              <a:t>and E(G)</a:t>
            </a:r>
            <a:r>
              <a:rPr sz="2000" spc="5" dirty="0">
                <a:latin typeface="Arial MT"/>
                <a:cs typeface="Tahoma"/>
              </a:rPr>
              <a:t> </a:t>
            </a:r>
            <a:r>
              <a:rPr sz="2000" spc="-10" dirty="0">
                <a:latin typeface="Arial MT"/>
                <a:cs typeface="Tahoma"/>
              </a:rPr>
              <a:t>represent</a:t>
            </a:r>
            <a:r>
              <a:rPr sz="2000" spc="20" dirty="0">
                <a:latin typeface="Arial MT"/>
                <a:cs typeface="Tahoma"/>
              </a:rPr>
              <a:t> </a:t>
            </a:r>
            <a:r>
              <a:rPr sz="2000" spc="-5" dirty="0">
                <a:latin typeface="Arial MT"/>
                <a:cs typeface="Tahoma"/>
              </a:rPr>
              <a:t>the sets </a:t>
            </a:r>
            <a:r>
              <a:rPr sz="2000" dirty="0">
                <a:latin typeface="Arial MT"/>
                <a:cs typeface="Tahoma"/>
              </a:rPr>
              <a:t>of</a:t>
            </a:r>
            <a:r>
              <a:rPr sz="2000" spc="10" dirty="0">
                <a:latin typeface="Arial MT"/>
                <a:cs typeface="Tahoma"/>
              </a:rPr>
              <a:t> </a:t>
            </a:r>
            <a:r>
              <a:rPr sz="2000" spc="-5" dirty="0">
                <a:latin typeface="Arial MT"/>
                <a:cs typeface="Tahoma"/>
              </a:rPr>
              <a:t>vertices</a:t>
            </a:r>
            <a:r>
              <a:rPr sz="2000" dirty="0">
                <a:latin typeface="Arial MT"/>
                <a:cs typeface="Tahoma"/>
              </a:rPr>
              <a:t> </a:t>
            </a:r>
            <a:r>
              <a:rPr sz="2000" spc="-5" dirty="0">
                <a:latin typeface="Arial MT"/>
                <a:cs typeface="Tahoma"/>
              </a:rPr>
              <a:t>and </a:t>
            </a:r>
            <a:r>
              <a:rPr sz="2000" spc="-10" dirty="0">
                <a:latin typeface="Arial MT"/>
                <a:cs typeface="Tahoma"/>
              </a:rPr>
              <a:t>edges</a:t>
            </a:r>
            <a:r>
              <a:rPr sz="2000" spc="5" dirty="0">
                <a:latin typeface="Arial MT"/>
                <a:cs typeface="Tahoma"/>
              </a:rPr>
              <a:t> </a:t>
            </a:r>
            <a:r>
              <a:rPr sz="2000" dirty="0">
                <a:latin typeface="Arial MT"/>
                <a:cs typeface="Tahoma"/>
              </a:rPr>
              <a:t>of</a:t>
            </a:r>
            <a:r>
              <a:rPr sz="2000" spc="-180" dirty="0">
                <a:latin typeface="Arial MT"/>
                <a:cs typeface="Tahoma"/>
              </a:rPr>
              <a:t> </a:t>
            </a:r>
            <a:r>
              <a:rPr sz="2000" spc="-5" dirty="0">
                <a:latin typeface="Arial MT"/>
                <a:cs typeface="Tahoma"/>
              </a:rPr>
              <a:t>G,	respectively</a:t>
            </a:r>
            <a:endParaRPr sz="2000" dirty="0">
              <a:latin typeface="Arial MT"/>
              <a:cs typeface="Tahoma"/>
            </a:endParaRPr>
          </a:p>
          <a:p>
            <a:pPr marL="241300" indent="-228600">
              <a:lnSpc>
                <a:spcPct val="100000"/>
              </a:lnSpc>
              <a:spcBef>
                <a:spcPts val="95"/>
              </a:spcBef>
              <a:buFont typeface="Arial MT"/>
              <a:buChar char="•"/>
              <a:tabLst>
                <a:tab pos="240665" algn="l"/>
                <a:tab pos="241300" algn="l"/>
              </a:tabLst>
            </a:pPr>
            <a:r>
              <a:rPr sz="2000" spc="-5" dirty="0">
                <a:latin typeface="Arial MT"/>
                <a:cs typeface="Tahoma"/>
              </a:rPr>
              <a:t>Example:</a:t>
            </a:r>
            <a:endParaRPr sz="2000" dirty="0">
              <a:latin typeface="Arial MT"/>
              <a:cs typeface="Tahoma"/>
            </a:endParaRPr>
          </a:p>
          <a:p>
            <a:pPr marL="6901180">
              <a:lnSpc>
                <a:spcPct val="100000"/>
              </a:lnSpc>
              <a:spcBef>
                <a:spcPts val="1440"/>
              </a:spcBef>
            </a:pPr>
            <a:endParaRPr lang="en-US" sz="2000" dirty="0" smtClean="0">
              <a:solidFill>
                <a:srgbClr val="F92B24"/>
              </a:solidFill>
              <a:latin typeface="Arial MT"/>
              <a:cs typeface="Times New Roman"/>
            </a:endParaRPr>
          </a:p>
          <a:p>
            <a:pPr marL="6901180">
              <a:lnSpc>
                <a:spcPct val="100000"/>
              </a:lnSpc>
              <a:spcBef>
                <a:spcPts val="1440"/>
              </a:spcBef>
            </a:pPr>
            <a:r>
              <a:rPr sz="2000" dirty="0" smtClean="0">
                <a:solidFill>
                  <a:srgbClr val="F92B24"/>
                </a:solidFill>
                <a:latin typeface="Arial MT"/>
                <a:cs typeface="Times New Roman"/>
              </a:rPr>
              <a:t>V</a:t>
            </a:r>
            <a:r>
              <a:rPr sz="2000" dirty="0">
                <a:solidFill>
                  <a:srgbClr val="3F448B"/>
                </a:solidFill>
                <a:latin typeface="Arial MT"/>
                <a:cs typeface="Times New Roman"/>
              </a:rPr>
              <a:t>=</a:t>
            </a:r>
            <a:r>
              <a:rPr sz="2000" spc="-30" dirty="0">
                <a:solidFill>
                  <a:srgbClr val="3F448B"/>
                </a:solidFill>
                <a:latin typeface="Arial MT"/>
                <a:cs typeface="Times New Roman"/>
              </a:rPr>
              <a:t> </a:t>
            </a:r>
            <a:r>
              <a:rPr sz="2000" spc="-5" dirty="0">
                <a:solidFill>
                  <a:srgbClr val="3F448B"/>
                </a:solidFill>
                <a:latin typeface="Arial MT"/>
                <a:cs typeface="Times New Roman"/>
              </a:rPr>
              <a:t>{a,</a:t>
            </a:r>
            <a:r>
              <a:rPr sz="2000" spc="-30" dirty="0">
                <a:solidFill>
                  <a:srgbClr val="3F448B"/>
                </a:solidFill>
                <a:latin typeface="Arial MT"/>
                <a:cs typeface="Times New Roman"/>
              </a:rPr>
              <a:t> </a:t>
            </a:r>
            <a:r>
              <a:rPr sz="2000" spc="-10" dirty="0">
                <a:solidFill>
                  <a:srgbClr val="3F448B"/>
                </a:solidFill>
                <a:latin typeface="Arial MT"/>
                <a:cs typeface="Times New Roman"/>
              </a:rPr>
              <a:t>b,</a:t>
            </a:r>
            <a:r>
              <a:rPr sz="2000" spc="-45" dirty="0">
                <a:solidFill>
                  <a:srgbClr val="3F448B"/>
                </a:solidFill>
                <a:latin typeface="Arial MT"/>
                <a:cs typeface="Times New Roman"/>
              </a:rPr>
              <a:t> </a:t>
            </a:r>
            <a:r>
              <a:rPr sz="2000" spc="-5" dirty="0">
                <a:solidFill>
                  <a:srgbClr val="3F448B"/>
                </a:solidFill>
                <a:latin typeface="Arial MT"/>
                <a:cs typeface="Times New Roman"/>
              </a:rPr>
              <a:t>c,</a:t>
            </a:r>
            <a:r>
              <a:rPr sz="2000" spc="-30" dirty="0">
                <a:solidFill>
                  <a:srgbClr val="3F448B"/>
                </a:solidFill>
                <a:latin typeface="Arial MT"/>
                <a:cs typeface="Times New Roman"/>
              </a:rPr>
              <a:t> </a:t>
            </a:r>
            <a:r>
              <a:rPr sz="2000" dirty="0">
                <a:solidFill>
                  <a:srgbClr val="3F448B"/>
                </a:solidFill>
                <a:latin typeface="Arial MT"/>
                <a:cs typeface="Times New Roman"/>
              </a:rPr>
              <a:t>d,</a:t>
            </a:r>
            <a:r>
              <a:rPr sz="2000" spc="-10" dirty="0">
                <a:solidFill>
                  <a:srgbClr val="3F448B"/>
                </a:solidFill>
                <a:latin typeface="Arial MT"/>
                <a:cs typeface="Times New Roman"/>
              </a:rPr>
              <a:t> e}</a:t>
            </a:r>
            <a:endParaRPr sz="2000" dirty="0">
              <a:latin typeface="Arial MT"/>
              <a:cs typeface="Times New Roman"/>
            </a:endParaRPr>
          </a:p>
          <a:p>
            <a:pPr marL="6901180">
              <a:lnSpc>
                <a:spcPct val="100000"/>
              </a:lnSpc>
              <a:spcBef>
                <a:spcPts val="600"/>
              </a:spcBef>
            </a:pPr>
            <a:r>
              <a:rPr sz="2000" dirty="0">
                <a:solidFill>
                  <a:srgbClr val="007F00"/>
                </a:solidFill>
                <a:latin typeface="Arial MT"/>
                <a:cs typeface="Times New Roman"/>
              </a:rPr>
              <a:t>E</a:t>
            </a:r>
            <a:r>
              <a:rPr sz="2000" dirty="0">
                <a:solidFill>
                  <a:srgbClr val="3F448B"/>
                </a:solidFill>
                <a:latin typeface="Arial MT"/>
                <a:cs typeface="Times New Roman"/>
              </a:rPr>
              <a:t>=</a:t>
            </a:r>
            <a:r>
              <a:rPr sz="2000" spc="-10" dirty="0">
                <a:solidFill>
                  <a:srgbClr val="3F448B"/>
                </a:solidFill>
                <a:latin typeface="Arial MT"/>
                <a:cs typeface="Times New Roman"/>
              </a:rPr>
              <a:t> {(a,b),</a:t>
            </a:r>
            <a:r>
              <a:rPr sz="2000" spc="-25" dirty="0">
                <a:solidFill>
                  <a:srgbClr val="3F448B"/>
                </a:solidFill>
                <a:latin typeface="Arial MT"/>
                <a:cs typeface="Times New Roman"/>
              </a:rPr>
              <a:t> </a:t>
            </a:r>
            <a:r>
              <a:rPr sz="2000" spc="-5" dirty="0">
                <a:solidFill>
                  <a:srgbClr val="3F448B"/>
                </a:solidFill>
                <a:latin typeface="Arial MT"/>
                <a:cs typeface="Times New Roman"/>
              </a:rPr>
              <a:t>(a,c),</a:t>
            </a:r>
            <a:r>
              <a:rPr sz="2000" spc="-100" dirty="0">
                <a:solidFill>
                  <a:srgbClr val="3F448B"/>
                </a:solidFill>
                <a:latin typeface="Arial MT"/>
                <a:cs typeface="Times New Roman"/>
              </a:rPr>
              <a:t> </a:t>
            </a:r>
            <a:r>
              <a:rPr sz="2000" spc="-5" dirty="0">
                <a:solidFill>
                  <a:srgbClr val="3F448B"/>
                </a:solidFill>
                <a:latin typeface="Arial MT"/>
                <a:cs typeface="Times New Roman"/>
              </a:rPr>
              <a:t>(a,d),</a:t>
            </a:r>
            <a:endParaRPr sz="2000" dirty="0">
              <a:latin typeface="Arial MT"/>
              <a:cs typeface="Times New Roman"/>
            </a:endParaRPr>
          </a:p>
          <a:p>
            <a:pPr marL="6901180">
              <a:lnSpc>
                <a:spcPct val="100000"/>
              </a:lnSpc>
            </a:pPr>
            <a:r>
              <a:rPr sz="2000" spc="-10" dirty="0">
                <a:solidFill>
                  <a:srgbClr val="3F448B"/>
                </a:solidFill>
                <a:latin typeface="Arial MT"/>
                <a:cs typeface="Times New Roman"/>
              </a:rPr>
              <a:t>(b,e),</a:t>
            </a:r>
            <a:r>
              <a:rPr sz="2000" spc="-30" dirty="0">
                <a:solidFill>
                  <a:srgbClr val="3F448B"/>
                </a:solidFill>
                <a:latin typeface="Arial MT"/>
                <a:cs typeface="Times New Roman"/>
              </a:rPr>
              <a:t> </a:t>
            </a:r>
            <a:r>
              <a:rPr sz="2000" spc="-5" dirty="0">
                <a:solidFill>
                  <a:srgbClr val="3F448B"/>
                </a:solidFill>
                <a:latin typeface="Arial MT"/>
                <a:cs typeface="Times New Roman"/>
              </a:rPr>
              <a:t>(c,d),</a:t>
            </a:r>
            <a:r>
              <a:rPr sz="2000" spc="-10" dirty="0">
                <a:solidFill>
                  <a:srgbClr val="3F448B"/>
                </a:solidFill>
                <a:latin typeface="Arial MT"/>
                <a:cs typeface="Times New Roman"/>
              </a:rPr>
              <a:t> </a:t>
            </a:r>
            <a:r>
              <a:rPr sz="2000" spc="-5" dirty="0">
                <a:solidFill>
                  <a:srgbClr val="3F448B"/>
                </a:solidFill>
                <a:latin typeface="Arial MT"/>
                <a:cs typeface="Times New Roman"/>
              </a:rPr>
              <a:t>(c,e),</a:t>
            </a:r>
            <a:r>
              <a:rPr sz="2000" spc="-114" dirty="0">
                <a:solidFill>
                  <a:srgbClr val="3F448B"/>
                </a:solidFill>
                <a:latin typeface="Arial MT"/>
                <a:cs typeface="Times New Roman"/>
              </a:rPr>
              <a:t> </a:t>
            </a:r>
            <a:r>
              <a:rPr sz="2000" spc="-5" dirty="0">
                <a:solidFill>
                  <a:srgbClr val="3F448B"/>
                </a:solidFill>
                <a:latin typeface="Arial MT"/>
                <a:cs typeface="Times New Roman"/>
              </a:rPr>
              <a:t>(d,e)}</a:t>
            </a:r>
            <a:endParaRPr sz="2000" dirty="0">
              <a:latin typeface="Arial MT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397996" y="5690108"/>
            <a:ext cx="36963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3F448B"/>
                </a:solidFill>
                <a:latin typeface="Tahoma"/>
                <a:cs typeface="Tahoma"/>
              </a:rPr>
              <a:t>A </a:t>
            </a:r>
            <a:r>
              <a:rPr sz="1800" b="1" spc="-5" dirty="0">
                <a:solidFill>
                  <a:srgbClr val="3F448B"/>
                </a:solidFill>
                <a:latin typeface="Tahoma"/>
                <a:cs typeface="Tahoma"/>
              </a:rPr>
              <a:t>tree</a:t>
            </a:r>
            <a:r>
              <a:rPr sz="1800" b="1" spc="-15" dirty="0">
                <a:solidFill>
                  <a:srgbClr val="3F448B"/>
                </a:solidFill>
                <a:latin typeface="Tahoma"/>
                <a:cs typeface="Tahoma"/>
              </a:rPr>
              <a:t> </a:t>
            </a:r>
            <a:r>
              <a:rPr sz="1800" b="1" spc="-5" dirty="0">
                <a:solidFill>
                  <a:srgbClr val="3F448B"/>
                </a:solidFill>
                <a:latin typeface="Tahoma"/>
                <a:cs typeface="Tahoma"/>
              </a:rPr>
              <a:t>is</a:t>
            </a:r>
            <a:r>
              <a:rPr sz="1800" b="1" dirty="0">
                <a:solidFill>
                  <a:srgbClr val="3F448B"/>
                </a:solidFill>
                <a:latin typeface="Tahoma"/>
                <a:cs typeface="Tahoma"/>
              </a:rPr>
              <a:t> a</a:t>
            </a:r>
            <a:r>
              <a:rPr sz="1800" b="1" spc="-15" dirty="0">
                <a:solidFill>
                  <a:srgbClr val="3F448B"/>
                </a:solidFill>
                <a:latin typeface="Tahoma"/>
                <a:cs typeface="Tahoma"/>
              </a:rPr>
              <a:t> </a:t>
            </a:r>
            <a:r>
              <a:rPr sz="1800" b="1" spc="-5" dirty="0">
                <a:solidFill>
                  <a:srgbClr val="3F448B"/>
                </a:solidFill>
                <a:latin typeface="Tahoma"/>
                <a:cs typeface="Tahoma"/>
              </a:rPr>
              <a:t>special</a:t>
            </a:r>
            <a:r>
              <a:rPr sz="1800" b="1" spc="-20" dirty="0">
                <a:solidFill>
                  <a:srgbClr val="3F448B"/>
                </a:solidFill>
                <a:latin typeface="Tahoma"/>
                <a:cs typeface="Tahoma"/>
              </a:rPr>
              <a:t> </a:t>
            </a:r>
            <a:r>
              <a:rPr sz="1800" b="1" spc="-5" dirty="0">
                <a:solidFill>
                  <a:srgbClr val="3F448B"/>
                </a:solidFill>
                <a:latin typeface="Tahoma"/>
                <a:cs typeface="Tahoma"/>
              </a:rPr>
              <a:t>type</a:t>
            </a:r>
            <a:r>
              <a:rPr sz="1800" b="1" spc="-15" dirty="0">
                <a:solidFill>
                  <a:srgbClr val="3F448B"/>
                </a:solidFill>
                <a:latin typeface="Tahoma"/>
                <a:cs typeface="Tahoma"/>
              </a:rPr>
              <a:t> </a:t>
            </a:r>
            <a:r>
              <a:rPr sz="1800" b="1" dirty="0">
                <a:solidFill>
                  <a:srgbClr val="3F448B"/>
                </a:solidFill>
                <a:latin typeface="Tahoma"/>
                <a:cs typeface="Tahoma"/>
              </a:rPr>
              <a:t>of</a:t>
            </a:r>
            <a:r>
              <a:rPr sz="1800" b="1" spc="-110" dirty="0">
                <a:solidFill>
                  <a:srgbClr val="3F448B"/>
                </a:solidFill>
                <a:latin typeface="Tahoma"/>
                <a:cs typeface="Tahoma"/>
              </a:rPr>
              <a:t> </a:t>
            </a:r>
            <a:r>
              <a:rPr sz="1800" b="1" spc="-10" dirty="0">
                <a:solidFill>
                  <a:srgbClr val="3F448B"/>
                </a:solidFill>
                <a:latin typeface="Tahoma"/>
                <a:cs typeface="Tahoma"/>
              </a:rPr>
              <a:t>graph!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38099">
              <a:lnSpc>
                <a:spcPts val="1535"/>
              </a:lnSpc>
            </a:pPr>
            <a:fld id="{81D60167-4931-47E6-BA6A-407CBD079E47}" type="slidenum">
              <a:rPr lang="en-US" smtClean="0"/>
              <a:pPr marL="38099">
                <a:lnSpc>
                  <a:spcPts val="1535"/>
                </a:lnSpc>
              </a:pPr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968934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611124"/>
            <a:ext cx="2763520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Applications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38200" y="1691131"/>
            <a:ext cx="5486400" cy="4765040"/>
          </a:xfrm>
          <a:prstGeom prst="rect">
            <a:avLst/>
          </a:prstGeom>
        </p:spPr>
        <p:txBody>
          <a:bodyPr vert="horz" wrap="square" lIns="0" tIns="431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40"/>
              </a:spcBef>
            </a:pPr>
            <a:r>
              <a:rPr sz="2400" spc="-10" dirty="0">
                <a:latin typeface="Arial MT"/>
                <a:cs typeface="Tahoma"/>
              </a:rPr>
              <a:t>Electronic</a:t>
            </a:r>
            <a:r>
              <a:rPr sz="2400" spc="-25" dirty="0">
                <a:latin typeface="Arial MT"/>
                <a:cs typeface="Tahoma"/>
              </a:rPr>
              <a:t> </a:t>
            </a:r>
            <a:r>
              <a:rPr sz="2400" spc="-10" dirty="0">
                <a:latin typeface="Arial MT"/>
                <a:cs typeface="Tahoma"/>
              </a:rPr>
              <a:t>circuits</a:t>
            </a:r>
            <a:endParaRPr sz="2400" dirty="0">
              <a:latin typeface="Arial MT"/>
              <a:cs typeface="Tahoma"/>
            </a:endParaRPr>
          </a:p>
          <a:p>
            <a:pPr marL="670560" indent="-143510">
              <a:lnSpc>
                <a:spcPct val="100000"/>
              </a:lnSpc>
              <a:spcBef>
                <a:spcPts val="240"/>
              </a:spcBef>
              <a:buSzPct val="54166"/>
              <a:buFont typeface="Wingdings"/>
              <a:buChar char=""/>
              <a:tabLst>
                <a:tab pos="670560" algn="l"/>
              </a:tabLst>
            </a:pPr>
            <a:r>
              <a:rPr sz="2400" spc="-5" dirty="0">
                <a:latin typeface="Arial MT"/>
                <a:cs typeface="Tahoma"/>
              </a:rPr>
              <a:t>Printed</a:t>
            </a:r>
            <a:r>
              <a:rPr sz="2400" spc="-35" dirty="0">
                <a:latin typeface="Arial MT"/>
                <a:cs typeface="Tahoma"/>
              </a:rPr>
              <a:t> </a:t>
            </a:r>
            <a:r>
              <a:rPr sz="2400" spc="-5" dirty="0">
                <a:latin typeface="Arial MT"/>
                <a:cs typeface="Tahoma"/>
              </a:rPr>
              <a:t>circuit</a:t>
            </a:r>
            <a:r>
              <a:rPr sz="2400" spc="-80" dirty="0">
                <a:latin typeface="Arial MT"/>
                <a:cs typeface="Tahoma"/>
              </a:rPr>
              <a:t> </a:t>
            </a:r>
            <a:r>
              <a:rPr sz="2400" spc="-5" dirty="0">
                <a:latin typeface="Arial MT"/>
                <a:cs typeface="Tahoma"/>
              </a:rPr>
              <a:t>board</a:t>
            </a:r>
            <a:endParaRPr sz="2400" dirty="0">
              <a:latin typeface="Arial MT"/>
              <a:cs typeface="Tahoma"/>
            </a:endParaRPr>
          </a:p>
          <a:p>
            <a:pPr marL="670560" indent="-143510">
              <a:lnSpc>
                <a:spcPct val="100000"/>
              </a:lnSpc>
              <a:spcBef>
                <a:spcPts val="120"/>
              </a:spcBef>
              <a:buSzPct val="54166"/>
              <a:buFont typeface="Wingdings"/>
              <a:buChar char=""/>
              <a:tabLst>
                <a:tab pos="670560" algn="l"/>
              </a:tabLst>
            </a:pPr>
            <a:r>
              <a:rPr sz="2400" spc="-15" dirty="0">
                <a:latin typeface="Arial MT"/>
                <a:cs typeface="Tahoma"/>
              </a:rPr>
              <a:t>Integrated</a:t>
            </a:r>
            <a:r>
              <a:rPr sz="2400" spc="-85" dirty="0">
                <a:latin typeface="Arial MT"/>
                <a:cs typeface="Tahoma"/>
              </a:rPr>
              <a:t> </a:t>
            </a:r>
            <a:r>
              <a:rPr sz="2400" spc="-5" dirty="0">
                <a:latin typeface="Arial MT"/>
                <a:cs typeface="Tahoma"/>
              </a:rPr>
              <a:t>circuit</a:t>
            </a:r>
            <a:endParaRPr sz="2400" dirty="0">
              <a:latin typeface="Arial MT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310"/>
              </a:spcBef>
            </a:pPr>
            <a:r>
              <a:rPr sz="2400" spc="-30" dirty="0">
                <a:latin typeface="Arial MT"/>
                <a:cs typeface="Tahoma"/>
              </a:rPr>
              <a:t>Transportation</a:t>
            </a:r>
            <a:r>
              <a:rPr sz="2400" spc="-60" dirty="0">
                <a:latin typeface="Arial MT"/>
                <a:cs typeface="Tahoma"/>
              </a:rPr>
              <a:t> </a:t>
            </a:r>
            <a:r>
              <a:rPr sz="2400" spc="-10" dirty="0">
                <a:latin typeface="Arial MT"/>
                <a:cs typeface="Tahoma"/>
              </a:rPr>
              <a:t>networks</a:t>
            </a:r>
            <a:endParaRPr sz="2400" dirty="0">
              <a:latin typeface="Arial MT"/>
              <a:cs typeface="Tahoma"/>
            </a:endParaRPr>
          </a:p>
          <a:p>
            <a:pPr marL="670560" indent="-143510">
              <a:lnSpc>
                <a:spcPct val="100000"/>
              </a:lnSpc>
              <a:spcBef>
                <a:spcPts val="215"/>
              </a:spcBef>
              <a:buSzPct val="54166"/>
              <a:buFont typeface="Wingdings"/>
              <a:buChar char=""/>
              <a:tabLst>
                <a:tab pos="670560" algn="l"/>
              </a:tabLst>
            </a:pPr>
            <a:r>
              <a:rPr sz="2400" spc="-15" dirty="0">
                <a:latin typeface="Arial MT"/>
                <a:cs typeface="Tahoma"/>
              </a:rPr>
              <a:t>Highway</a:t>
            </a:r>
            <a:r>
              <a:rPr sz="2400" spc="-65" dirty="0">
                <a:latin typeface="Arial MT"/>
                <a:cs typeface="Tahoma"/>
              </a:rPr>
              <a:t> </a:t>
            </a:r>
            <a:r>
              <a:rPr sz="2400" spc="-10" dirty="0">
                <a:latin typeface="Arial MT"/>
                <a:cs typeface="Tahoma"/>
              </a:rPr>
              <a:t>network</a:t>
            </a:r>
            <a:endParaRPr sz="2400" dirty="0">
              <a:latin typeface="Arial MT"/>
              <a:cs typeface="Tahoma"/>
            </a:endParaRPr>
          </a:p>
          <a:p>
            <a:pPr marL="12700" marR="1634489" indent="514350">
              <a:lnSpc>
                <a:spcPts val="3220"/>
              </a:lnSpc>
              <a:spcBef>
                <a:spcPts val="40"/>
              </a:spcBef>
              <a:buSzPct val="54166"/>
              <a:buFont typeface="Wingdings"/>
              <a:buChar char=""/>
              <a:tabLst>
                <a:tab pos="670560" algn="l"/>
              </a:tabLst>
            </a:pPr>
            <a:r>
              <a:rPr sz="2400" spc="-5" dirty="0">
                <a:latin typeface="Arial MT"/>
                <a:cs typeface="Tahoma"/>
              </a:rPr>
              <a:t>Flight </a:t>
            </a:r>
            <a:r>
              <a:rPr sz="2400" spc="-10" dirty="0">
                <a:latin typeface="Arial MT"/>
                <a:cs typeface="Tahoma"/>
              </a:rPr>
              <a:t>network </a:t>
            </a:r>
            <a:r>
              <a:rPr sz="2400" spc="-735" dirty="0">
                <a:latin typeface="Arial MT"/>
                <a:cs typeface="Tahoma"/>
              </a:rPr>
              <a:t> </a:t>
            </a:r>
            <a:r>
              <a:rPr sz="2400" spc="-10" dirty="0">
                <a:latin typeface="Arial MT"/>
                <a:cs typeface="Tahoma"/>
              </a:rPr>
              <a:t>Computer</a:t>
            </a:r>
            <a:r>
              <a:rPr sz="2400" spc="-114" dirty="0">
                <a:latin typeface="Arial MT"/>
                <a:cs typeface="Tahoma"/>
              </a:rPr>
              <a:t> </a:t>
            </a:r>
            <a:r>
              <a:rPr sz="2400" spc="-10" dirty="0">
                <a:latin typeface="Arial MT"/>
                <a:cs typeface="Tahoma"/>
              </a:rPr>
              <a:t>networks</a:t>
            </a:r>
            <a:endParaRPr sz="2400" dirty="0">
              <a:latin typeface="Arial MT"/>
              <a:cs typeface="Tahoma"/>
            </a:endParaRPr>
          </a:p>
          <a:p>
            <a:pPr marL="670560" indent="-143510">
              <a:lnSpc>
                <a:spcPts val="2830"/>
              </a:lnSpc>
              <a:buSzPct val="54166"/>
              <a:buFont typeface="Wingdings"/>
              <a:buChar char=""/>
              <a:tabLst>
                <a:tab pos="670560" algn="l"/>
              </a:tabLst>
            </a:pPr>
            <a:r>
              <a:rPr sz="2400" dirty="0">
                <a:latin typeface="Arial MT"/>
                <a:cs typeface="Tahoma"/>
              </a:rPr>
              <a:t>Local</a:t>
            </a:r>
            <a:r>
              <a:rPr sz="2400" spc="-30" dirty="0">
                <a:latin typeface="Arial MT"/>
                <a:cs typeface="Tahoma"/>
              </a:rPr>
              <a:t> </a:t>
            </a:r>
            <a:r>
              <a:rPr sz="2400" spc="-5" dirty="0">
                <a:latin typeface="Arial MT"/>
                <a:cs typeface="Tahoma"/>
              </a:rPr>
              <a:t>area</a:t>
            </a:r>
            <a:r>
              <a:rPr sz="2400" spc="-80" dirty="0">
                <a:latin typeface="Arial MT"/>
                <a:cs typeface="Tahoma"/>
              </a:rPr>
              <a:t> </a:t>
            </a:r>
            <a:r>
              <a:rPr sz="2400" spc="-10" dirty="0">
                <a:latin typeface="Arial MT"/>
                <a:cs typeface="Tahoma"/>
              </a:rPr>
              <a:t>network</a:t>
            </a:r>
            <a:endParaRPr sz="2400" dirty="0">
              <a:latin typeface="Arial MT"/>
              <a:cs typeface="Tahoma"/>
            </a:endParaRPr>
          </a:p>
          <a:p>
            <a:pPr marL="670560" indent="-143510">
              <a:lnSpc>
                <a:spcPct val="100000"/>
              </a:lnSpc>
              <a:spcBef>
                <a:spcPts val="219"/>
              </a:spcBef>
              <a:buSzPct val="54166"/>
              <a:buFont typeface="Wingdings"/>
              <a:buChar char=""/>
              <a:tabLst>
                <a:tab pos="670560" algn="l"/>
              </a:tabLst>
            </a:pPr>
            <a:r>
              <a:rPr sz="2400" spc="-10" dirty="0">
                <a:latin typeface="Arial MT"/>
                <a:cs typeface="Tahoma"/>
              </a:rPr>
              <a:t>Internet</a:t>
            </a:r>
            <a:endParaRPr sz="2400" dirty="0">
              <a:latin typeface="Arial MT"/>
              <a:cs typeface="Tahoma"/>
            </a:endParaRPr>
          </a:p>
          <a:p>
            <a:pPr marL="670560" indent="-143510">
              <a:lnSpc>
                <a:spcPct val="100000"/>
              </a:lnSpc>
              <a:spcBef>
                <a:spcPts val="215"/>
              </a:spcBef>
              <a:buSzPct val="54166"/>
              <a:buFont typeface="Wingdings"/>
              <a:buChar char=""/>
              <a:tabLst>
                <a:tab pos="670560" algn="l"/>
              </a:tabLst>
            </a:pPr>
            <a:r>
              <a:rPr sz="2400" spc="-35" dirty="0">
                <a:latin typeface="Arial MT"/>
                <a:cs typeface="Tahoma"/>
              </a:rPr>
              <a:t>Web</a:t>
            </a:r>
            <a:endParaRPr sz="2400" dirty="0">
              <a:latin typeface="Arial MT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310"/>
              </a:spcBef>
            </a:pPr>
            <a:r>
              <a:rPr sz="2400" spc="-10" dirty="0">
                <a:latin typeface="Arial MT"/>
                <a:cs typeface="Tahoma"/>
              </a:rPr>
              <a:t>Databases</a:t>
            </a:r>
            <a:endParaRPr sz="2400" dirty="0">
              <a:latin typeface="Arial MT"/>
              <a:cs typeface="Tahoma"/>
            </a:endParaRPr>
          </a:p>
          <a:p>
            <a:pPr marL="670560" indent="-143510">
              <a:lnSpc>
                <a:spcPct val="100000"/>
              </a:lnSpc>
              <a:spcBef>
                <a:spcPts val="215"/>
              </a:spcBef>
              <a:buSzPct val="54166"/>
              <a:buFont typeface="Wingdings"/>
              <a:buChar char=""/>
              <a:tabLst>
                <a:tab pos="670560" algn="l"/>
              </a:tabLst>
            </a:pPr>
            <a:r>
              <a:rPr sz="2400" spc="-10" dirty="0">
                <a:latin typeface="Arial MT"/>
                <a:cs typeface="Tahoma"/>
              </a:rPr>
              <a:t>Entity-relationship</a:t>
            </a:r>
            <a:r>
              <a:rPr sz="2400" spc="-140" dirty="0">
                <a:latin typeface="Arial MT"/>
                <a:cs typeface="Tahoma"/>
              </a:rPr>
              <a:t> </a:t>
            </a:r>
            <a:r>
              <a:rPr sz="2400" spc="-10" dirty="0">
                <a:latin typeface="Arial MT"/>
                <a:cs typeface="Tahoma"/>
              </a:rPr>
              <a:t>diagram</a:t>
            </a:r>
            <a:endParaRPr sz="2400" dirty="0">
              <a:latin typeface="Arial MT"/>
              <a:cs typeface="Tahoma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600498" y="1690687"/>
            <a:ext cx="4138223" cy="4604941"/>
          </a:xfrm>
          <a:prstGeom prst="rect">
            <a:avLst/>
          </a:prstGeom>
        </p:spPr>
      </p:pic>
      <p:sp>
        <p:nvSpPr>
          <p:cNvPr id="5" name="Slide Number Placeholder 4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38099">
              <a:lnSpc>
                <a:spcPts val="1535"/>
              </a:lnSpc>
            </a:pPr>
            <a:fld id="{81D60167-4931-47E6-BA6A-407CBD079E47}" type="slidenum">
              <a:rPr lang="en-US" smtClean="0"/>
              <a:pPr marL="38099">
                <a:lnSpc>
                  <a:spcPts val="1535"/>
                </a:lnSpc>
              </a:pPr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599885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611124"/>
            <a:ext cx="6453505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5" dirty="0"/>
              <a:t>What</a:t>
            </a:r>
            <a:r>
              <a:rPr dirty="0"/>
              <a:t> </a:t>
            </a:r>
            <a:r>
              <a:rPr spc="-15" dirty="0"/>
              <a:t>can</a:t>
            </a:r>
            <a:r>
              <a:rPr dirty="0"/>
              <a:t> </a:t>
            </a:r>
            <a:r>
              <a:rPr spc="-25" dirty="0"/>
              <a:t>we</a:t>
            </a:r>
            <a:r>
              <a:rPr spc="-5" dirty="0"/>
              <a:t> </a:t>
            </a:r>
            <a:r>
              <a:rPr dirty="0"/>
              <a:t>do</a:t>
            </a:r>
            <a:r>
              <a:rPr spc="5" dirty="0"/>
              <a:t> </a:t>
            </a:r>
            <a:r>
              <a:rPr spc="-5" dirty="0"/>
              <a:t>with</a:t>
            </a:r>
            <a:r>
              <a:rPr dirty="0"/>
              <a:t> </a:t>
            </a:r>
            <a:r>
              <a:rPr spc="-20" dirty="0"/>
              <a:t>graph?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38198" y="1742904"/>
            <a:ext cx="10363201" cy="2319866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84150" indent="-171450">
              <a:lnSpc>
                <a:spcPct val="100000"/>
              </a:lnSpc>
              <a:spcBef>
                <a:spcPts val="110"/>
              </a:spcBef>
              <a:buFont typeface="Arial MT"/>
              <a:buChar char="•"/>
              <a:tabLst>
                <a:tab pos="184150" algn="l"/>
              </a:tabLst>
            </a:pPr>
            <a:r>
              <a:rPr sz="2400" spc="-15" dirty="0">
                <a:latin typeface="Arial MT"/>
                <a:cs typeface="Tahoma"/>
              </a:rPr>
              <a:t>Find</a:t>
            </a:r>
            <a:r>
              <a:rPr sz="2400" spc="-35" dirty="0">
                <a:latin typeface="Arial MT"/>
                <a:cs typeface="Tahoma"/>
              </a:rPr>
              <a:t> </a:t>
            </a:r>
            <a:r>
              <a:rPr sz="2400" dirty="0">
                <a:latin typeface="Arial MT"/>
                <a:cs typeface="Tahoma"/>
              </a:rPr>
              <a:t>a</a:t>
            </a:r>
            <a:r>
              <a:rPr sz="2400" spc="-5" dirty="0">
                <a:latin typeface="Arial MT"/>
                <a:cs typeface="Tahoma"/>
              </a:rPr>
              <a:t> </a:t>
            </a:r>
            <a:r>
              <a:rPr sz="2400" spc="-70" dirty="0">
                <a:latin typeface="Arial MT"/>
                <a:cs typeface="Tahoma"/>
              </a:rPr>
              <a:t>path</a:t>
            </a:r>
            <a:r>
              <a:rPr sz="2400" spc="-90" dirty="0">
                <a:latin typeface="Arial MT"/>
                <a:cs typeface="Tahoma"/>
              </a:rPr>
              <a:t> </a:t>
            </a:r>
            <a:r>
              <a:rPr sz="2400" spc="-10" dirty="0">
                <a:latin typeface="Arial MT"/>
                <a:cs typeface="Tahoma"/>
              </a:rPr>
              <a:t>from</a:t>
            </a:r>
            <a:r>
              <a:rPr sz="2400" spc="-20" dirty="0">
                <a:latin typeface="Arial MT"/>
                <a:cs typeface="Tahoma"/>
              </a:rPr>
              <a:t> </a:t>
            </a:r>
            <a:r>
              <a:rPr sz="2400" spc="-5" dirty="0">
                <a:latin typeface="Arial MT"/>
                <a:cs typeface="Tahoma"/>
              </a:rPr>
              <a:t>one</a:t>
            </a:r>
            <a:r>
              <a:rPr sz="2400" spc="-15" dirty="0">
                <a:latin typeface="Arial MT"/>
                <a:cs typeface="Tahoma"/>
              </a:rPr>
              <a:t> </a:t>
            </a:r>
            <a:r>
              <a:rPr sz="2400" spc="-10" dirty="0">
                <a:latin typeface="Arial MT"/>
                <a:cs typeface="Tahoma"/>
              </a:rPr>
              <a:t>place</a:t>
            </a:r>
            <a:r>
              <a:rPr sz="2400" spc="-20" dirty="0">
                <a:latin typeface="Arial MT"/>
                <a:cs typeface="Tahoma"/>
              </a:rPr>
              <a:t> </a:t>
            </a:r>
            <a:r>
              <a:rPr sz="2400" dirty="0">
                <a:latin typeface="Arial MT"/>
                <a:cs typeface="Tahoma"/>
              </a:rPr>
              <a:t>to</a:t>
            </a:r>
            <a:r>
              <a:rPr sz="2400" spc="-10" dirty="0">
                <a:latin typeface="Arial MT"/>
                <a:cs typeface="Tahoma"/>
              </a:rPr>
              <a:t> another</a:t>
            </a:r>
            <a:endParaRPr sz="2400" dirty="0">
              <a:latin typeface="Arial MT"/>
              <a:cs typeface="Tahoma"/>
            </a:endParaRPr>
          </a:p>
          <a:p>
            <a:pPr marL="184150" indent="-171450">
              <a:lnSpc>
                <a:spcPct val="100000"/>
              </a:lnSpc>
              <a:spcBef>
                <a:spcPts val="75"/>
              </a:spcBef>
              <a:buFont typeface="Arial MT"/>
              <a:buChar char="•"/>
              <a:tabLst>
                <a:tab pos="184150" algn="l"/>
              </a:tabLst>
            </a:pPr>
            <a:r>
              <a:rPr sz="2400" spc="-15" dirty="0">
                <a:latin typeface="Arial MT"/>
                <a:cs typeface="Tahoma"/>
              </a:rPr>
              <a:t>Find</a:t>
            </a:r>
            <a:r>
              <a:rPr sz="2400" spc="-35" dirty="0">
                <a:latin typeface="Arial MT"/>
                <a:cs typeface="Tahoma"/>
              </a:rPr>
              <a:t> </a:t>
            </a:r>
            <a:r>
              <a:rPr sz="2400" dirty="0">
                <a:latin typeface="Arial MT"/>
                <a:cs typeface="Tahoma"/>
              </a:rPr>
              <a:t>the</a:t>
            </a:r>
            <a:r>
              <a:rPr sz="2400" spc="-5" dirty="0">
                <a:latin typeface="Arial MT"/>
                <a:cs typeface="Tahoma"/>
              </a:rPr>
              <a:t> </a:t>
            </a:r>
            <a:r>
              <a:rPr sz="2400" spc="-75" dirty="0">
                <a:latin typeface="Arial MT"/>
                <a:cs typeface="Tahoma"/>
              </a:rPr>
              <a:t>shortest</a:t>
            </a:r>
            <a:r>
              <a:rPr sz="2400" spc="-85" dirty="0">
                <a:latin typeface="Arial MT"/>
                <a:cs typeface="Tahoma"/>
              </a:rPr>
              <a:t> </a:t>
            </a:r>
            <a:r>
              <a:rPr sz="2400" spc="-70" dirty="0">
                <a:latin typeface="Arial MT"/>
                <a:cs typeface="Tahoma"/>
              </a:rPr>
              <a:t>path</a:t>
            </a:r>
            <a:r>
              <a:rPr sz="2400" spc="-95" dirty="0">
                <a:latin typeface="Arial MT"/>
                <a:cs typeface="Tahoma"/>
              </a:rPr>
              <a:t> </a:t>
            </a:r>
            <a:r>
              <a:rPr sz="2400" spc="-10" dirty="0">
                <a:latin typeface="Arial MT"/>
                <a:cs typeface="Tahoma"/>
              </a:rPr>
              <a:t>from</a:t>
            </a:r>
            <a:r>
              <a:rPr sz="2400" spc="-15" dirty="0">
                <a:latin typeface="Arial MT"/>
                <a:cs typeface="Tahoma"/>
              </a:rPr>
              <a:t> </a:t>
            </a:r>
            <a:r>
              <a:rPr sz="2400" spc="-5" dirty="0">
                <a:latin typeface="Arial MT"/>
                <a:cs typeface="Tahoma"/>
              </a:rPr>
              <a:t>one</a:t>
            </a:r>
            <a:r>
              <a:rPr sz="2400" spc="-15" dirty="0">
                <a:latin typeface="Arial MT"/>
                <a:cs typeface="Tahoma"/>
              </a:rPr>
              <a:t> </a:t>
            </a:r>
            <a:r>
              <a:rPr sz="2400" spc="-10" dirty="0">
                <a:latin typeface="Arial MT"/>
                <a:cs typeface="Tahoma"/>
              </a:rPr>
              <a:t>place</a:t>
            </a:r>
            <a:r>
              <a:rPr sz="2400" spc="-15" dirty="0">
                <a:latin typeface="Arial MT"/>
                <a:cs typeface="Tahoma"/>
              </a:rPr>
              <a:t> </a:t>
            </a:r>
            <a:r>
              <a:rPr sz="2400" dirty="0">
                <a:latin typeface="Arial MT"/>
                <a:cs typeface="Tahoma"/>
              </a:rPr>
              <a:t>to</a:t>
            </a:r>
            <a:r>
              <a:rPr sz="2400" spc="-5" dirty="0">
                <a:latin typeface="Arial MT"/>
                <a:cs typeface="Tahoma"/>
              </a:rPr>
              <a:t> </a:t>
            </a:r>
            <a:r>
              <a:rPr sz="2400" spc="-10" dirty="0">
                <a:latin typeface="Arial MT"/>
                <a:cs typeface="Tahoma"/>
              </a:rPr>
              <a:t>another</a:t>
            </a:r>
            <a:endParaRPr sz="2400" dirty="0">
              <a:latin typeface="Arial MT"/>
              <a:cs typeface="Tahoma"/>
            </a:endParaRPr>
          </a:p>
          <a:p>
            <a:pPr marL="184150" indent="-171450">
              <a:lnSpc>
                <a:spcPct val="100000"/>
              </a:lnSpc>
              <a:spcBef>
                <a:spcPts val="170"/>
              </a:spcBef>
              <a:buFont typeface="Arial MT"/>
              <a:buChar char="•"/>
              <a:tabLst>
                <a:tab pos="184150" algn="l"/>
              </a:tabLst>
            </a:pPr>
            <a:r>
              <a:rPr sz="2400" spc="-10" dirty="0">
                <a:latin typeface="Arial MT"/>
                <a:cs typeface="Tahoma"/>
              </a:rPr>
              <a:t>Determine</a:t>
            </a:r>
            <a:r>
              <a:rPr sz="2400" spc="-45" dirty="0">
                <a:latin typeface="Arial MT"/>
                <a:cs typeface="Tahoma"/>
              </a:rPr>
              <a:t> </a:t>
            </a:r>
            <a:r>
              <a:rPr sz="2400" spc="-10" dirty="0">
                <a:latin typeface="Arial MT"/>
                <a:cs typeface="Tahoma"/>
              </a:rPr>
              <a:t>connectivity</a:t>
            </a:r>
            <a:endParaRPr sz="2400" dirty="0">
              <a:latin typeface="Arial MT"/>
              <a:cs typeface="Tahoma"/>
            </a:endParaRPr>
          </a:p>
          <a:p>
            <a:pPr marL="184150" indent="-171450">
              <a:lnSpc>
                <a:spcPct val="100000"/>
              </a:lnSpc>
              <a:spcBef>
                <a:spcPts val="409"/>
              </a:spcBef>
              <a:buFont typeface="Arial MT"/>
              <a:buChar char="•"/>
              <a:tabLst>
                <a:tab pos="184150" algn="l"/>
              </a:tabLst>
            </a:pPr>
            <a:r>
              <a:rPr sz="2400" spc="-15" dirty="0">
                <a:latin typeface="Arial MT"/>
                <a:cs typeface="Tahoma"/>
              </a:rPr>
              <a:t>Find</a:t>
            </a:r>
            <a:r>
              <a:rPr sz="2400" spc="-40" dirty="0">
                <a:latin typeface="Arial MT"/>
                <a:cs typeface="Tahoma"/>
              </a:rPr>
              <a:t> </a:t>
            </a:r>
            <a:r>
              <a:rPr sz="2400" dirty="0">
                <a:latin typeface="Arial MT"/>
                <a:cs typeface="Tahoma"/>
              </a:rPr>
              <a:t>the</a:t>
            </a:r>
            <a:r>
              <a:rPr sz="2400" spc="-15" dirty="0">
                <a:latin typeface="Arial MT"/>
                <a:cs typeface="Tahoma"/>
              </a:rPr>
              <a:t> “</a:t>
            </a:r>
            <a:r>
              <a:rPr sz="2400" spc="-15" dirty="0">
                <a:solidFill>
                  <a:srgbClr val="C00000"/>
                </a:solidFill>
                <a:latin typeface="Arial MT"/>
                <a:cs typeface="Tahoma"/>
              </a:rPr>
              <a:t>weakest</a:t>
            </a:r>
            <a:r>
              <a:rPr sz="2400" spc="-25" dirty="0">
                <a:solidFill>
                  <a:srgbClr val="C00000"/>
                </a:solidFill>
                <a:latin typeface="Arial MT"/>
                <a:cs typeface="Tahoma"/>
              </a:rPr>
              <a:t> </a:t>
            </a:r>
            <a:r>
              <a:rPr sz="2400" spc="-10" dirty="0">
                <a:solidFill>
                  <a:srgbClr val="C00000"/>
                </a:solidFill>
                <a:latin typeface="Arial MT"/>
                <a:cs typeface="Tahoma"/>
              </a:rPr>
              <a:t>link</a:t>
            </a:r>
            <a:r>
              <a:rPr sz="2400" spc="-10" dirty="0">
                <a:latin typeface="Arial MT"/>
                <a:cs typeface="Tahoma"/>
              </a:rPr>
              <a:t>”</a:t>
            </a:r>
            <a:r>
              <a:rPr sz="2400" spc="-35" dirty="0">
                <a:latin typeface="Arial MT"/>
                <a:cs typeface="Tahoma"/>
              </a:rPr>
              <a:t> </a:t>
            </a:r>
            <a:r>
              <a:rPr sz="2400" spc="-5" dirty="0">
                <a:latin typeface="Arial MT"/>
                <a:cs typeface="Tahoma"/>
              </a:rPr>
              <a:t>(min</a:t>
            </a:r>
            <a:r>
              <a:rPr sz="2400" spc="40" dirty="0">
                <a:latin typeface="Arial MT"/>
                <a:cs typeface="Tahoma"/>
              </a:rPr>
              <a:t> </a:t>
            </a:r>
            <a:r>
              <a:rPr sz="2400" dirty="0">
                <a:latin typeface="Arial MT"/>
                <a:cs typeface="Tahoma"/>
              </a:rPr>
              <a:t>cut)</a:t>
            </a:r>
          </a:p>
          <a:p>
            <a:pPr marL="756285" lvl="1" indent="-287020">
              <a:lnSpc>
                <a:spcPct val="100000"/>
              </a:lnSpc>
              <a:buChar char="•"/>
              <a:tabLst>
                <a:tab pos="755650" algn="l"/>
                <a:tab pos="756285" algn="l"/>
              </a:tabLst>
            </a:pPr>
            <a:r>
              <a:rPr sz="2400" spc="-10" dirty="0">
                <a:latin typeface="Arial MT"/>
                <a:cs typeface="Tahoma"/>
              </a:rPr>
              <a:t>check</a:t>
            </a:r>
            <a:r>
              <a:rPr sz="2400" spc="-15" dirty="0">
                <a:latin typeface="Arial MT"/>
                <a:cs typeface="Tahoma"/>
              </a:rPr>
              <a:t> </a:t>
            </a:r>
            <a:r>
              <a:rPr sz="2400" spc="-10" dirty="0">
                <a:latin typeface="Arial MT"/>
                <a:cs typeface="Tahoma"/>
              </a:rPr>
              <a:t>amount </a:t>
            </a:r>
            <a:r>
              <a:rPr sz="2400" spc="-5" dirty="0">
                <a:latin typeface="Arial MT"/>
                <a:cs typeface="Tahoma"/>
              </a:rPr>
              <a:t>of</a:t>
            </a:r>
            <a:r>
              <a:rPr sz="2400" spc="-15" dirty="0">
                <a:latin typeface="Arial MT"/>
                <a:cs typeface="Tahoma"/>
              </a:rPr>
              <a:t> </a:t>
            </a:r>
            <a:r>
              <a:rPr sz="2400" spc="-10" dirty="0">
                <a:latin typeface="Arial MT"/>
                <a:cs typeface="Tahoma"/>
              </a:rPr>
              <a:t>redundancy</a:t>
            </a:r>
            <a:r>
              <a:rPr sz="2400" spc="-5" dirty="0">
                <a:latin typeface="Arial MT"/>
                <a:cs typeface="Tahoma"/>
              </a:rPr>
              <a:t> in</a:t>
            </a:r>
            <a:r>
              <a:rPr sz="2400" spc="-30" dirty="0">
                <a:latin typeface="Arial MT"/>
                <a:cs typeface="Tahoma"/>
              </a:rPr>
              <a:t> </a:t>
            </a:r>
            <a:r>
              <a:rPr sz="2400" spc="-10" dirty="0">
                <a:latin typeface="Arial MT"/>
                <a:cs typeface="Tahoma"/>
              </a:rPr>
              <a:t>case</a:t>
            </a:r>
            <a:r>
              <a:rPr sz="2400" spc="-20" dirty="0">
                <a:latin typeface="Arial MT"/>
                <a:cs typeface="Tahoma"/>
              </a:rPr>
              <a:t> </a:t>
            </a:r>
            <a:r>
              <a:rPr sz="2400" spc="-5" dirty="0">
                <a:latin typeface="Arial MT"/>
                <a:cs typeface="Tahoma"/>
              </a:rPr>
              <a:t>of</a:t>
            </a:r>
            <a:r>
              <a:rPr sz="2400" spc="-10" dirty="0">
                <a:latin typeface="Arial MT"/>
                <a:cs typeface="Tahoma"/>
              </a:rPr>
              <a:t> </a:t>
            </a:r>
            <a:r>
              <a:rPr sz="2400" spc="-15" dirty="0">
                <a:latin typeface="Arial MT"/>
                <a:cs typeface="Tahoma"/>
              </a:rPr>
              <a:t>failures</a:t>
            </a:r>
            <a:endParaRPr sz="2400" dirty="0">
              <a:latin typeface="Arial MT"/>
              <a:cs typeface="Tahoma"/>
            </a:endParaRPr>
          </a:p>
          <a:p>
            <a:pPr marL="184150" indent="-171450">
              <a:lnSpc>
                <a:spcPct val="100000"/>
              </a:lnSpc>
              <a:buFont typeface="Arial MT"/>
              <a:buChar char="•"/>
              <a:tabLst>
                <a:tab pos="184150" algn="l"/>
              </a:tabLst>
            </a:pPr>
            <a:r>
              <a:rPr sz="2400" spc="-15" dirty="0">
                <a:latin typeface="Arial MT"/>
                <a:cs typeface="Tahoma"/>
              </a:rPr>
              <a:t>Find</a:t>
            </a:r>
            <a:r>
              <a:rPr sz="2400" spc="-35" dirty="0">
                <a:latin typeface="Arial MT"/>
                <a:cs typeface="Tahoma"/>
              </a:rPr>
              <a:t> </a:t>
            </a:r>
            <a:r>
              <a:rPr sz="2400" dirty="0">
                <a:latin typeface="Arial MT"/>
                <a:cs typeface="Tahoma"/>
              </a:rPr>
              <a:t>the</a:t>
            </a:r>
            <a:r>
              <a:rPr sz="2400" spc="-10" dirty="0">
                <a:latin typeface="Arial MT"/>
                <a:cs typeface="Tahoma"/>
              </a:rPr>
              <a:t> amount </a:t>
            </a:r>
            <a:r>
              <a:rPr sz="2400" spc="-5" dirty="0">
                <a:latin typeface="Arial MT"/>
                <a:cs typeface="Tahoma"/>
              </a:rPr>
              <a:t>of</a:t>
            </a:r>
            <a:r>
              <a:rPr sz="2400" spc="-10" dirty="0">
                <a:latin typeface="Arial MT"/>
                <a:cs typeface="Tahoma"/>
              </a:rPr>
              <a:t> </a:t>
            </a:r>
            <a:r>
              <a:rPr sz="2400" spc="-5" dirty="0">
                <a:latin typeface="Arial MT"/>
                <a:cs typeface="Tahoma"/>
              </a:rPr>
              <a:t>flow</a:t>
            </a:r>
            <a:r>
              <a:rPr sz="2400" spc="-15" dirty="0">
                <a:latin typeface="Arial MT"/>
                <a:cs typeface="Tahoma"/>
              </a:rPr>
              <a:t> </a:t>
            </a:r>
            <a:r>
              <a:rPr sz="2400" dirty="0">
                <a:latin typeface="Arial MT"/>
                <a:cs typeface="Tahoma"/>
              </a:rPr>
              <a:t>that </a:t>
            </a:r>
            <a:r>
              <a:rPr sz="2400" spc="-5" dirty="0">
                <a:latin typeface="Arial MT"/>
                <a:cs typeface="Tahoma"/>
              </a:rPr>
              <a:t>will</a:t>
            </a:r>
            <a:r>
              <a:rPr sz="2400" spc="-15" dirty="0">
                <a:latin typeface="Arial MT"/>
                <a:cs typeface="Tahoma"/>
              </a:rPr>
              <a:t> </a:t>
            </a:r>
            <a:r>
              <a:rPr sz="2400" spc="-5" dirty="0">
                <a:latin typeface="Arial MT"/>
                <a:cs typeface="Tahoma"/>
              </a:rPr>
              <a:t>go </a:t>
            </a:r>
            <a:r>
              <a:rPr sz="2400" spc="-10" dirty="0">
                <a:latin typeface="Arial MT"/>
                <a:cs typeface="Tahoma"/>
              </a:rPr>
              <a:t>through</a:t>
            </a:r>
            <a:r>
              <a:rPr sz="2400" spc="-30" dirty="0">
                <a:latin typeface="Arial MT"/>
                <a:cs typeface="Tahoma"/>
              </a:rPr>
              <a:t> </a:t>
            </a:r>
            <a:r>
              <a:rPr sz="2400" spc="-5" dirty="0">
                <a:latin typeface="Arial MT"/>
                <a:cs typeface="Tahoma"/>
              </a:rPr>
              <a:t>them</a:t>
            </a:r>
            <a:endParaRPr sz="2400" dirty="0">
              <a:latin typeface="Arial MT"/>
              <a:cs typeface="Tahoma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38099">
              <a:lnSpc>
                <a:spcPts val="1535"/>
              </a:lnSpc>
            </a:pPr>
            <a:fld id="{81D60167-4931-47E6-BA6A-407CBD079E47}" type="slidenum">
              <a:rPr lang="en-US" smtClean="0"/>
              <a:pPr marL="38099">
                <a:lnSpc>
                  <a:spcPts val="1535"/>
                </a:lnSpc>
              </a:pPr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717935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611124"/>
            <a:ext cx="4986020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5" dirty="0"/>
              <a:t>Edge</a:t>
            </a:r>
            <a:r>
              <a:rPr spc="-30" dirty="0"/>
              <a:t> </a:t>
            </a:r>
            <a:r>
              <a:rPr dirty="0"/>
              <a:t>and</a:t>
            </a:r>
            <a:r>
              <a:rPr spc="-20" dirty="0"/>
              <a:t> Graph </a:t>
            </a:r>
            <a:r>
              <a:rPr spc="-50" dirty="0"/>
              <a:t>Types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25500" y="1767332"/>
            <a:ext cx="7000101" cy="4849404"/>
          </a:xfrm>
          <a:prstGeom prst="rect">
            <a:avLst/>
          </a:prstGeom>
        </p:spPr>
        <p:txBody>
          <a:bodyPr vert="horz" wrap="square" lIns="0" tIns="70485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555"/>
              </a:spcBef>
              <a:buFont typeface="Arial MT"/>
              <a:buChar char="•"/>
              <a:tabLst>
                <a:tab pos="240665" algn="l"/>
                <a:tab pos="241300" algn="l"/>
              </a:tabLst>
            </a:pPr>
            <a:r>
              <a:rPr sz="1800" spc="-10" dirty="0">
                <a:latin typeface="Arial MT"/>
                <a:cs typeface="Tahoma"/>
              </a:rPr>
              <a:t>Directed</a:t>
            </a:r>
            <a:r>
              <a:rPr sz="1800" spc="-75" dirty="0">
                <a:latin typeface="Arial MT"/>
                <a:cs typeface="Tahoma"/>
              </a:rPr>
              <a:t> </a:t>
            </a:r>
            <a:r>
              <a:rPr sz="1800" dirty="0">
                <a:latin typeface="Arial MT"/>
                <a:cs typeface="Tahoma"/>
              </a:rPr>
              <a:t>edge</a:t>
            </a:r>
          </a:p>
          <a:p>
            <a:pPr marL="683260" lvl="1" indent="-143510">
              <a:lnSpc>
                <a:spcPct val="100000"/>
              </a:lnSpc>
              <a:spcBef>
                <a:spcPts val="455"/>
              </a:spcBef>
              <a:buSzPct val="61111"/>
              <a:buFont typeface="Wingdings"/>
              <a:buChar char=""/>
              <a:tabLst>
                <a:tab pos="683260" algn="l"/>
              </a:tabLst>
            </a:pPr>
            <a:r>
              <a:rPr sz="1800" dirty="0">
                <a:latin typeface="Arial MT"/>
                <a:cs typeface="Tahoma"/>
              </a:rPr>
              <a:t>o</a:t>
            </a:r>
            <a:r>
              <a:rPr sz="1800" spc="-5" dirty="0">
                <a:latin typeface="Arial MT"/>
                <a:cs typeface="Tahoma"/>
              </a:rPr>
              <a:t>r</a:t>
            </a:r>
            <a:r>
              <a:rPr sz="1800" spc="10" dirty="0">
                <a:latin typeface="Arial MT"/>
                <a:cs typeface="Tahoma"/>
              </a:rPr>
              <a:t>d</a:t>
            </a:r>
            <a:r>
              <a:rPr sz="1800" spc="5" dirty="0">
                <a:latin typeface="Arial MT"/>
                <a:cs typeface="Tahoma"/>
              </a:rPr>
              <a:t>e</a:t>
            </a:r>
            <a:r>
              <a:rPr sz="1800" spc="-5" dirty="0">
                <a:latin typeface="Arial MT"/>
                <a:cs typeface="Tahoma"/>
              </a:rPr>
              <a:t>r</a:t>
            </a:r>
            <a:r>
              <a:rPr sz="1800" spc="5" dirty="0">
                <a:latin typeface="Arial MT"/>
                <a:cs typeface="Tahoma"/>
              </a:rPr>
              <a:t>e</a:t>
            </a:r>
            <a:r>
              <a:rPr sz="1800" dirty="0">
                <a:latin typeface="Arial MT"/>
                <a:cs typeface="Tahoma"/>
              </a:rPr>
              <a:t>d</a:t>
            </a:r>
            <a:r>
              <a:rPr sz="1800" spc="-85" dirty="0">
                <a:latin typeface="Arial MT"/>
                <a:cs typeface="Tahoma"/>
              </a:rPr>
              <a:t> </a:t>
            </a:r>
            <a:r>
              <a:rPr sz="1800" spc="10" dirty="0">
                <a:latin typeface="Arial MT"/>
                <a:cs typeface="Tahoma"/>
              </a:rPr>
              <a:t>pa</a:t>
            </a:r>
            <a:r>
              <a:rPr sz="1800" spc="5" dirty="0">
                <a:latin typeface="Arial MT"/>
                <a:cs typeface="Tahoma"/>
              </a:rPr>
              <a:t>i</a:t>
            </a:r>
            <a:r>
              <a:rPr sz="1800" dirty="0">
                <a:latin typeface="Arial MT"/>
                <a:cs typeface="Tahoma"/>
              </a:rPr>
              <a:t>r</a:t>
            </a:r>
            <a:r>
              <a:rPr sz="1800" spc="-10" dirty="0">
                <a:latin typeface="Arial MT"/>
                <a:cs typeface="Tahoma"/>
              </a:rPr>
              <a:t> </a:t>
            </a:r>
            <a:r>
              <a:rPr sz="1800" dirty="0">
                <a:latin typeface="Arial MT"/>
                <a:cs typeface="Tahoma"/>
              </a:rPr>
              <a:t>of</a:t>
            </a:r>
            <a:r>
              <a:rPr sz="1800" spc="-20" dirty="0">
                <a:latin typeface="Arial MT"/>
                <a:cs typeface="Tahoma"/>
              </a:rPr>
              <a:t> </a:t>
            </a:r>
            <a:r>
              <a:rPr sz="1800" spc="-10" dirty="0">
                <a:latin typeface="Arial MT"/>
                <a:cs typeface="Tahoma"/>
              </a:rPr>
              <a:t>v</a:t>
            </a:r>
            <a:r>
              <a:rPr sz="1800" spc="5" dirty="0">
                <a:latin typeface="Arial MT"/>
                <a:cs typeface="Tahoma"/>
              </a:rPr>
              <a:t>er</a:t>
            </a:r>
            <a:r>
              <a:rPr sz="1800" dirty="0">
                <a:latin typeface="Arial MT"/>
                <a:cs typeface="Tahoma"/>
              </a:rPr>
              <a:t>t</a:t>
            </a:r>
            <a:r>
              <a:rPr sz="1800" spc="5" dirty="0">
                <a:latin typeface="Arial MT"/>
                <a:cs typeface="Tahoma"/>
              </a:rPr>
              <a:t>i</a:t>
            </a:r>
            <a:r>
              <a:rPr sz="1800" spc="-5" dirty="0">
                <a:latin typeface="Arial MT"/>
                <a:cs typeface="Tahoma"/>
              </a:rPr>
              <a:t>c</a:t>
            </a:r>
            <a:r>
              <a:rPr sz="1800" spc="5" dirty="0">
                <a:latin typeface="Arial MT"/>
                <a:cs typeface="Tahoma"/>
              </a:rPr>
              <a:t>e</a:t>
            </a:r>
            <a:r>
              <a:rPr sz="1800" dirty="0">
                <a:latin typeface="Arial MT"/>
                <a:cs typeface="Tahoma"/>
              </a:rPr>
              <a:t>s</a:t>
            </a:r>
            <a:r>
              <a:rPr sz="1800" spc="-140" dirty="0">
                <a:latin typeface="Arial MT"/>
                <a:cs typeface="Tahoma"/>
              </a:rPr>
              <a:t> </a:t>
            </a:r>
            <a:r>
              <a:rPr sz="1800" spc="5" dirty="0">
                <a:latin typeface="Arial MT"/>
                <a:cs typeface="Times New Roman"/>
              </a:rPr>
              <a:t>(</a:t>
            </a:r>
            <a:r>
              <a:rPr sz="1800" b="1" i="1" dirty="0">
                <a:latin typeface="Arial MT"/>
                <a:cs typeface="Times New Roman"/>
              </a:rPr>
              <a:t>u</a:t>
            </a:r>
            <a:r>
              <a:rPr sz="1800" spc="5" dirty="0">
                <a:latin typeface="Arial MT"/>
                <a:cs typeface="Times New Roman"/>
              </a:rPr>
              <a:t>,</a:t>
            </a:r>
            <a:r>
              <a:rPr sz="1800" b="1" i="1" spc="5" dirty="0">
                <a:latin typeface="Arial MT"/>
                <a:cs typeface="Times New Roman"/>
              </a:rPr>
              <a:t>v</a:t>
            </a:r>
            <a:r>
              <a:rPr sz="1800" dirty="0">
                <a:latin typeface="Arial MT"/>
                <a:cs typeface="Times New Roman"/>
              </a:rPr>
              <a:t>)</a:t>
            </a:r>
          </a:p>
          <a:p>
            <a:pPr marL="683260" lvl="1" indent="-143510">
              <a:lnSpc>
                <a:spcPct val="100000"/>
              </a:lnSpc>
              <a:spcBef>
                <a:spcPts val="530"/>
              </a:spcBef>
              <a:buSzPct val="61111"/>
              <a:buFont typeface="Wingdings"/>
              <a:buChar char=""/>
              <a:tabLst>
                <a:tab pos="683260" algn="l"/>
              </a:tabLst>
            </a:pPr>
            <a:r>
              <a:rPr sz="1800" spc="5" dirty="0">
                <a:latin typeface="Arial MT"/>
                <a:cs typeface="Tahoma"/>
              </a:rPr>
              <a:t>fir</a:t>
            </a:r>
            <a:r>
              <a:rPr sz="1800" dirty="0">
                <a:latin typeface="Arial MT"/>
                <a:cs typeface="Tahoma"/>
              </a:rPr>
              <a:t>st</a:t>
            </a:r>
            <a:r>
              <a:rPr sz="1800" spc="5" dirty="0">
                <a:latin typeface="Arial MT"/>
                <a:cs typeface="Tahoma"/>
              </a:rPr>
              <a:t> </a:t>
            </a:r>
            <a:r>
              <a:rPr sz="1800" spc="-10" dirty="0">
                <a:latin typeface="Arial MT"/>
                <a:cs typeface="Tahoma"/>
              </a:rPr>
              <a:t>v</a:t>
            </a:r>
            <a:r>
              <a:rPr sz="1800" spc="5" dirty="0">
                <a:latin typeface="Arial MT"/>
                <a:cs typeface="Tahoma"/>
              </a:rPr>
              <a:t>er</a:t>
            </a:r>
            <a:r>
              <a:rPr sz="1800" dirty="0">
                <a:latin typeface="Arial MT"/>
                <a:cs typeface="Tahoma"/>
              </a:rPr>
              <a:t>t</a:t>
            </a:r>
            <a:r>
              <a:rPr sz="1800" spc="5" dirty="0">
                <a:latin typeface="Arial MT"/>
                <a:cs typeface="Tahoma"/>
              </a:rPr>
              <a:t>e</a:t>
            </a:r>
            <a:r>
              <a:rPr sz="1800" dirty="0">
                <a:latin typeface="Arial MT"/>
                <a:cs typeface="Tahoma"/>
              </a:rPr>
              <a:t>x</a:t>
            </a:r>
            <a:r>
              <a:rPr sz="1800" spc="5" dirty="0">
                <a:latin typeface="Arial MT"/>
                <a:cs typeface="Tahoma"/>
              </a:rPr>
              <a:t> </a:t>
            </a:r>
            <a:r>
              <a:rPr sz="1800" b="1" i="1" dirty="0">
                <a:latin typeface="Arial MT"/>
                <a:cs typeface="Times New Roman"/>
              </a:rPr>
              <a:t>u</a:t>
            </a:r>
            <a:r>
              <a:rPr sz="1800" b="1" i="1" spc="5" dirty="0">
                <a:latin typeface="Arial MT"/>
                <a:cs typeface="Times New Roman"/>
              </a:rPr>
              <a:t> </a:t>
            </a:r>
            <a:r>
              <a:rPr sz="1800" spc="5" dirty="0">
                <a:latin typeface="Arial MT"/>
                <a:cs typeface="Tahoma"/>
              </a:rPr>
              <a:t>i</a:t>
            </a:r>
            <a:r>
              <a:rPr sz="1800" dirty="0">
                <a:latin typeface="Arial MT"/>
                <a:cs typeface="Tahoma"/>
              </a:rPr>
              <a:t>s</a:t>
            </a:r>
            <a:r>
              <a:rPr sz="1800" spc="5" dirty="0">
                <a:latin typeface="Arial MT"/>
                <a:cs typeface="Tahoma"/>
              </a:rPr>
              <a:t> </a:t>
            </a:r>
            <a:r>
              <a:rPr sz="1800" dirty="0">
                <a:latin typeface="Arial MT"/>
                <a:cs typeface="Tahoma"/>
              </a:rPr>
              <a:t>the</a:t>
            </a:r>
            <a:r>
              <a:rPr sz="1800" spc="-135" dirty="0">
                <a:latin typeface="Arial MT"/>
                <a:cs typeface="Tahoma"/>
              </a:rPr>
              <a:t> </a:t>
            </a:r>
            <a:r>
              <a:rPr sz="1800" dirty="0">
                <a:latin typeface="Arial MT"/>
                <a:cs typeface="Tahoma"/>
              </a:rPr>
              <a:t>o</a:t>
            </a:r>
            <a:r>
              <a:rPr sz="1800" spc="5" dirty="0">
                <a:latin typeface="Arial MT"/>
                <a:cs typeface="Tahoma"/>
              </a:rPr>
              <a:t>ri</a:t>
            </a:r>
            <a:r>
              <a:rPr sz="1800" spc="10" dirty="0">
                <a:latin typeface="Arial MT"/>
                <a:cs typeface="Tahoma"/>
              </a:rPr>
              <a:t>g</a:t>
            </a:r>
            <a:r>
              <a:rPr sz="1800" spc="5" dirty="0">
                <a:latin typeface="Arial MT"/>
                <a:cs typeface="Tahoma"/>
              </a:rPr>
              <a:t>i</a:t>
            </a:r>
            <a:r>
              <a:rPr sz="1800" dirty="0">
                <a:latin typeface="Arial MT"/>
                <a:cs typeface="Tahoma"/>
              </a:rPr>
              <a:t>n</a:t>
            </a:r>
          </a:p>
          <a:p>
            <a:pPr marL="683260" lvl="1" indent="-143510">
              <a:lnSpc>
                <a:spcPct val="100000"/>
              </a:lnSpc>
              <a:spcBef>
                <a:spcPts val="430"/>
              </a:spcBef>
              <a:buSzPct val="61111"/>
              <a:buFont typeface="Wingdings"/>
              <a:buChar char=""/>
              <a:tabLst>
                <a:tab pos="683260" algn="l"/>
              </a:tabLst>
            </a:pPr>
            <a:r>
              <a:rPr sz="1800" dirty="0">
                <a:latin typeface="Arial MT"/>
                <a:cs typeface="Tahoma"/>
              </a:rPr>
              <a:t>s</a:t>
            </a:r>
            <a:r>
              <a:rPr sz="1800" spc="5" dirty="0">
                <a:latin typeface="Arial MT"/>
                <a:cs typeface="Tahoma"/>
              </a:rPr>
              <a:t>e</a:t>
            </a:r>
            <a:r>
              <a:rPr sz="1800" spc="-5" dirty="0">
                <a:latin typeface="Arial MT"/>
                <a:cs typeface="Tahoma"/>
              </a:rPr>
              <a:t>c</a:t>
            </a:r>
            <a:r>
              <a:rPr sz="1800" dirty="0">
                <a:latin typeface="Arial MT"/>
                <a:cs typeface="Tahoma"/>
              </a:rPr>
              <a:t>ond</a:t>
            </a:r>
            <a:r>
              <a:rPr sz="1800" spc="10" dirty="0">
                <a:latin typeface="Arial MT"/>
                <a:cs typeface="Tahoma"/>
              </a:rPr>
              <a:t> </a:t>
            </a:r>
            <a:r>
              <a:rPr sz="1800" spc="-10" dirty="0">
                <a:latin typeface="Arial MT"/>
                <a:cs typeface="Tahoma"/>
              </a:rPr>
              <a:t>v</a:t>
            </a:r>
            <a:r>
              <a:rPr sz="1800" spc="5" dirty="0">
                <a:latin typeface="Arial MT"/>
                <a:cs typeface="Tahoma"/>
              </a:rPr>
              <a:t>er</a:t>
            </a:r>
            <a:r>
              <a:rPr sz="1800" dirty="0">
                <a:latin typeface="Arial MT"/>
                <a:cs typeface="Tahoma"/>
              </a:rPr>
              <a:t>t</a:t>
            </a:r>
            <a:r>
              <a:rPr sz="1800" spc="5" dirty="0">
                <a:latin typeface="Arial MT"/>
                <a:cs typeface="Tahoma"/>
              </a:rPr>
              <a:t>e</a:t>
            </a:r>
            <a:r>
              <a:rPr sz="1800" dirty="0">
                <a:latin typeface="Arial MT"/>
                <a:cs typeface="Tahoma"/>
              </a:rPr>
              <a:t>x</a:t>
            </a:r>
            <a:r>
              <a:rPr sz="1800" spc="5" dirty="0">
                <a:latin typeface="Arial MT"/>
                <a:cs typeface="Tahoma"/>
              </a:rPr>
              <a:t> </a:t>
            </a:r>
            <a:r>
              <a:rPr sz="1800" b="1" i="1" dirty="0">
                <a:latin typeface="Arial MT"/>
                <a:cs typeface="Times New Roman"/>
              </a:rPr>
              <a:t>v</a:t>
            </a:r>
            <a:r>
              <a:rPr sz="1800" b="1" i="1" spc="10" dirty="0">
                <a:latin typeface="Arial MT"/>
                <a:cs typeface="Times New Roman"/>
              </a:rPr>
              <a:t> </a:t>
            </a:r>
            <a:r>
              <a:rPr sz="1800" spc="5" dirty="0">
                <a:latin typeface="Arial MT"/>
                <a:cs typeface="Tahoma"/>
              </a:rPr>
              <a:t>i</a:t>
            </a:r>
            <a:r>
              <a:rPr sz="1800" dirty="0">
                <a:latin typeface="Arial MT"/>
                <a:cs typeface="Tahoma"/>
              </a:rPr>
              <a:t>s</a:t>
            </a:r>
            <a:r>
              <a:rPr sz="1800" spc="5" dirty="0">
                <a:latin typeface="Arial MT"/>
                <a:cs typeface="Tahoma"/>
              </a:rPr>
              <a:t> </a:t>
            </a:r>
            <a:r>
              <a:rPr sz="1800" dirty="0">
                <a:latin typeface="Arial MT"/>
                <a:cs typeface="Tahoma"/>
              </a:rPr>
              <a:t>the</a:t>
            </a:r>
            <a:r>
              <a:rPr sz="1800" spc="-185" dirty="0">
                <a:latin typeface="Arial MT"/>
                <a:cs typeface="Tahoma"/>
              </a:rPr>
              <a:t> </a:t>
            </a:r>
            <a:r>
              <a:rPr sz="1800" spc="10" dirty="0">
                <a:latin typeface="Arial MT"/>
                <a:cs typeface="Tahoma"/>
              </a:rPr>
              <a:t>d</a:t>
            </a:r>
            <a:r>
              <a:rPr sz="1800" spc="5" dirty="0">
                <a:latin typeface="Arial MT"/>
                <a:cs typeface="Tahoma"/>
              </a:rPr>
              <a:t>e</a:t>
            </a:r>
            <a:r>
              <a:rPr sz="1800" dirty="0">
                <a:latin typeface="Arial MT"/>
                <a:cs typeface="Tahoma"/>
              </a:rPr>
              <a:t>st</a:t>
            </a:r>
            <a:r>
              <a:rPr sz="1800" spc="5" dirty="0">
                <a:latin typeface="Arial MT"/>
                <a:cs typeface="Tahoma"/>
              </a:rPr>
              <a:t>i</a:t>
            </a:r>
            <a:r>
              <a:rPr sz="1800" dirty="0">
                <a:latin typeface="Arial MT"/>
                <a:cs typeface="Tahoma"/>
              </a:rPr>
              <a:t>n</a:t>
            </a:r>
            <a:r>
              <a:rPr sz="1800" spc="5" dirty="0">
                <a:latin typeface="Arial MT"/>
                <a:cs typeface="Tahoma"/>
              </a:rPr>
              <a:t>a</a:t>
            </a:r>
            <a:r>
              <a:rPr sz="1800" dirty="0">
                <a:latin typeface="Arial MT"/>
                <a:cs typeface="Tahoma"/>
              </a:rPr>
              <a:t>t</a:t>
            </a:r>
            <a:r>
              <a:rPr sz="1800" spc="5" dirty="0">
                <a:latin typeface="Arial MT"/>
                <a:cs typeface="Tahoma"/>
              </a:rPr>
              <a:t>i</a:t>
            </a:r>
            <a:r>
              <a:rPr sz="1800" dirty="0">
                <a:latin typeface="Arial MT"/>
                <a:cs typeface="Tahoma"/>
              </a:rPr>
              <a:t>on</a:t>
            </a:r>
          </a:p>
          <a:p>
            <a:pPr marL="241300" indent="-228600">
              <a:lnSpc>
                <a:spcPct val="100000"/>
              </a:lnSpc>
              <a:spcBef>
                <a:spcPts val="50"/>
              </a:spcBef>
              <a:buFont typeface="Arial MT"/>
              <a:buChar char="•"/>
              <a:tabLst>
                <a:tab pos="240665" algn="l"/>
                <a:tab pos="241300" algn="l"/>
              </a:tabLst>
            </a:pPr>
            <a:r>
              <a:rPr sz="1800" spc="-5" dirty="0">
                <a:latin typeface="Arial MT"/>
                <a:cs typeface="Tahoma"/>
              </a:rPr>
              <a:t>Undirected</a:t>
            </a:r>
            <a:r>
              <a:rPr sz="1800" spc="-95" dirty="0">
                <a:latin typeface="Arial MT"/>
                <a:cs typeface="Tahoma"/>
              </a:rPr>
              <a:t> </a:t>
            </a:r>
            <a:r>
              <a:rPr sz="1800" dirty="0">
                <a:latin typeface="Arial MT"/>
                <a:cs typeface="Tahoma"/>
              </a:rPr>
              <a:t>edge</a:t>
            </a:r>
          </a:p>
          <a:p>
            <a:pPr marL="683260" lvl="1" indent="-143510">
              <a:lnSpc>
                <a:spcPct val="100000"/>
              </a:lnSpc>
              <a:spcBef>
                <a:spcPts val="430"/>
              </a:spcBef>
              <a:buSzPct val="61111"/>
              <a:buFont typeface="Wingdings"/>
              <a:buChar char=""/>
              <a:tabLst>
                <a:tab pos="683260" algn="l"/>
              </a:tabLst>
            </a:pPr>
            <a:r>
              <a:rPr sz="1800" dirty="0">
                <a:latin typeface="Arial MT"/>
                <a:cs typeface="Tahoma"/>
              </a:rPr>
              <a:t>uno</a:t>
            </a:r>
            <a:r>
              <a:rPr sz="1800" spc="-5" dirty="0">
                <a:latin typeface="Arial MT"/>
                <a:cs typeface="Tahoma"/>
              </a:rPr>
              <a:t>r</a:t>
            </a:r>
            <a:r>
              <a:rPr sz="1800" spc="10" dirty="0">
                <a:latin typeface="Arial MT"/>
                <a:cs typeface="Tahoma"/>
              </a:rPr>
              <a:t>d</a:t>
            </a:r>
            <a:r>
              <a:rPr sz="1800" spc="5" dirty="0">
                <a:latin typeface="Arial MT"/>
                <a:cs typeface="Tahoma"/>
              </a:rPr>
              <a:t>e</a:t>
            </a:r>
            <a:r>
              <a:rPr sz="1800" spc="-5" dirty="0">
                <a:latin typeface="Arial MT"/>
                <a:cs typeface="Tahoma"/>
              </a:rPr>
              <a:t>r</a:t>
            </a:r>
            <a:r>
              <a:rPr sz="1800" spc="5" dirty="0">
                <a:latin typeface="Arial MT"/>
                <a:cs typeface="Tahoma"/>
              </a:rPr>
              <a:t>e</a:t>
            </a:r>
            <a:r>
              <a:rPr sz="1800" dirty="0">
                <a:latin typeface="Arial MT"/>
                <a:cs typeface="Tahoma"/>
              </a:rPr>
              <a:t>d</a:t>
            </a:r>
            <a:r>
              <a:rPr sz="1800" spc="-90" dirty="0">
                <a:latin typeface="Arial MT"/>
                <a:cs typeface="Tahoma"/>
              </a:rPr>
              <a:t> </a:t>
            </a:r>
            <a:r>
              <a:rPr sz="1800" spc="10" dirty="0">
                <a:latin typeface="Arial MT"/>
                <a:cs typeface="Tahoma"/>
              </a:rPr>
              <a:t>pa</a:t>
            </a:r>
            <a:r>
              <a:rPr sz="1800" spc="5" dirty="0">
                <a:latin typeface="Arial MT"/>
                <a:cs typeface="Tahoma"/>
              </a:rPr>
              <a:t>i</a:t>
            </a:r>
            <a:r>
              <a:rPr sz="1800" dirty="0">
                <a:latin typeface="Arial MT"/>
                <a:cs typeface="Tahoma"/>
              </a:rPr>
              <a:t>r</a:t>
            </a:r>
            <a:r>
              <a:rPr sz="1800" spc="-15" dirty="0">
                <a:latin typeface="Arial MT"/>
                <a:cs typeface="Tahoma"/>
              </a:rPr>
              <a:t> </a:t>
            </a:r>
            <a:r>
              <a:rPr sz="1800" dirty="0">
                <a:latin typeface="Arial MT"/>
                <a:cs typeface="Tahoma"/>
              </a:rPr>
              <a:t>of</a:t>
            </a:r>
            <a:r>
              <a:rPr sz="1800" spc="-20" dirty="0">
                <a:latin typeface="Arial MT"/>
                <a:cs typeface="Tahoma"/>
              </a:rPr>
              <a:t> </a:t>
            </a:r>
            <a:r>
              <a:rPr sz="1800" spc="-10" dirty="0">
                <a:latin typeface="Arial MT"/>
                <a:cs typeface="Tahoma"/>
              </a:rPr>
              <a:t>v</a:t>
            </a:r>
            <a:r>
              <a:rPr sz="1800" spc="5" dirty="0">
                <a:latin typeface="Arial MT"/>
                <a:cs typeface="Tahoma"/>
              </a:rPr>
              <a:t>er</a:t>
            </a:r>
            <a:r>
              <a:rPr sz="1800" dirty="0">
                <a:latin typeface="Arial MT"/>
                <a:cs typeface="Tahoma"/>
              </a:rPr>
              <a:t>t</a:t>
            </a:r>
            <a:r>
              <a:rPr sz="1800" spc="5" dirty="0">
                <a:latin typeface="Arial MT"/>
                <a:cs typeface="Tahoma"/>
              </a:rPr>
              <a:t>i</a:t>
            </a:r>
            <a:r>
              <a:rPr sz="1800" spc="-5" dirty="0">
                <a:latin typeface="Arial MT"/>
                <a:cs typeface="Tahoma"/>
              </a:rPr>
              <a:t>c</a:t>
            </a:r>
            <a:r>
              <a:rPr sz="1800" spc="5" dirty="0">
                <a:latin typeface="Arial MT"/>
                <a:cs typeface="Tahoma"/>
              </a:rPr>
              <a:t>e</a:t>
            </a:r>
            <a:r>
              <a:rPr sz="1800" dirty="0">
                <a:latin typeface="Arial MT"/>
                <a:cs typeface="Tahoma"/>
              </a:rPr>
              <a:t>s</a:t>
            </a:r>
            <a:r>
              <a:rPr sz="1800" spc="-145" dirty="0">
                <a:latin typeface="Arial MT"/>
                <a:cs typeface="Tahoma"/>
              </a:rPr>
              <a:t> </a:t>
            </a:r>
            <a:r>
              <a:rPr sz="1800" spc="5" dirty="0">
                <a:latin typeface="Arial MT"/>
                <a:cs typeface="Times New Roman"/>
              </a:rPr>
              <a:t>(</a:t>
            </a:r>
            <a:r>
              <a:rPr sz="1800" b="1" i="1" dirty="0">
                <a:latin typeface="Arial MT"/>
                <a:cs typeface="Times New Roman"/>
              </a:rPr>
              <a:t>u</a:t>
            </a:r>
            <a:r>
              <a:rPr sz="1800" spc="5" dirty="0">
                <a:latin typeface="Arial MT"/>
                <a:cs typeface="Times New Roman"/>
              </a:rPr>
              <a:t>,</a:t>
            </a:r>
            <a:r>
              <a:rPr sz="1800" b="1" i="1" spc="5" dirty="0">
                <a:latin typeface="Arial MT"/>
                <a:cs typeface="Times New Roman"/>
              </a:rPr>
              <a:t>v</a:t>
            </a:r>
            <a:r>
              <a:rPr sz="1800" dirty="0">
                <a:latin typeface="Arial MT"/>
                <a:cs typeface="Times New Roman"/>
              </a:rPr>
              <a:t>)</a:t>
            </a:r>
          </a:p>
          <a:p>
            <a:pPr marL="241300" indent="-228600">
              <a:lnSpc>
                <a:spcPts val="2135"/>
              </a:lnSpc>
              <a:spcBef>
                <a:spcPts val="145"/>
              </a:spcBef>
              <a:buFont typeface="Arial MT"/>
              <a:buChar char="•"/>
              <a:tabLst>
                <a:tab pos="240665" algn="l"/>
                <a:tab pos="241300" algn="l"/>
              </a:tabLst>
            </a:pPr>
            <a:r>
              <a:rPr sz="1800" spc="-10" dirty="0">
                <a:latin typeface="Arial MT"/>
                <a:cs typeface="Tahoma"/>
              </a:rPr>
              <a:t>Directed</a:t>
            </a:r>
            <a:r>
              <a:rPr sz="1800" spc="-25" dirty="0">
                <a:latin typeface="Arial MT"/>
                <a:cs typeface="Tahoma"/>
              </a:rPr>
              <a:t> </a:t>
            </a:r>
            <a:r>
              <a:rPr sz="1800" spc="-10" dirty="0">
                <a:latin typeface="Arial MT"/>
                <a:cs typeface="Tahoma"/>
              </a:rPr>
              <a:t>graph</a:t>
            </a:r>
            <a:r>
              <a:rPr sz="1800" spc="-65" dirty="0">
                <a:latin typeface="Arial MT"/>
                <a:cs typeface="Tahoma"/>
              </a:rPr>
              <a:t> </a:t>
            </a:r>
            <a:r>
              <a:rPr sz="1800" spc="-10" dirty="0">
                <a:latin typeface="Arial MT"/>
                <a:cs typeface="Tahoma"/>
              </a:rPr>
              <a:t>(Digraph)</a:t>
            </a:r>
            <a:endParaRPr sz="1800" dirty="0">
              <a:latin typeface="Arial MT"/>
              <a:cs typeface="Tahoma"/>
            </a:endParaRPr>
          </a:p>
          <a:p>
            <a:pPr marL="683260" lvl="1" indent="-143510">
              <a:lnSpc>
                <a:spcPts val="2135"/>
              </a:lnSpc>
              <a:buSzPct val="61111"/>
              <a:buFont typeface="Wingdings"/>
              <a:buChar char=""/>
              <a:tabLst>
                <a:tab pos="683260" algn="l"/>
              </a:tabLst>
            </a:pPr>
            <a:r>
              <a:rPr sz="1800" spc="10" dirty="0">
                <a:latin typeface="Arial MT"/>
                <a:cs typeface="Tahoma"/>
              </a:rPr>
              <a:t>al</a:t>
            </a:r>
            <a:r>
              <a:rPr sz="1800" dirty="0">
                <a:latin typeface="Arial MT"/>
                <a:cs typeface="Tahoma"/>
              </a:rPr>
              <a:t>l</a:t>
            </a:r>
            <a:r>
              <a:rPr sz="1800" spc="10" dirty="0">
                <a:latin typeface="Arial MT"/>
                <a:cs typeface="Tahoma"/>
              </a:rPr>
              <a:t> </a:t>
            </a:r>
            <a:r>
              <a:rPr sz="1800" dirty="0">
                <a:latin typeface="Arial MT"/>
                <a:cs typeface="Tahoma"/>
              </a:rPr>
              <a:t>the</a:t>
            </a:r>
            <a:r>
              <a:rPr sz="1800" spc="10" dirty="0">
                <a:latin typeface="Arial MT"/>
                <a:cs typeface="Tahoma"/>
              </a:rPr>
              <a:t> </a:t>
            </a:r>
            <a:r>
              <a:rPr sz="1800" dirty="0">
                <a:latin typeface="Arial MT"/>
                <a:cs typeface="Tahoma"/>
              </a:rPr>
              <a:t>ed</a:t>
            </a:r>
            <a:r>
              <a:rPr sz="1800" spc="5" dirty="0">
                <a:latin typeface="Arial MT"/>
                <a:cs typeface="Tahoma"/>
              </a:rPr>
              <a:t>g</a:t>
            </a:r>
            <a:r>
              <a:rPr sz="1800" dirty="0">
                <a:latin typeface="Arial MT"/>
                <a:cs typeface="Tahoma"/>
              </a:rPr>
              <a:t>es</a:t>
            </a:r>
            <a:r>
              <a:rPr sz="1800" spc="-5" dirty="0">
                <a:latin typeface="Arial MT"/>
                <a:cs typeface="Tahoma"/>
              </a:rPr>
              <a:t> </a:t>
            </a:r>
            <a:r>
              <a:rPr sz="1800" spc="10" dirty="0">
                <a:latin typeface="Arial MT"/>
                <a:cs typeface="Tahoma"/>
              </a:rPr>
              <a:t>a</a:t>
            </a:r>
            <a:r>
              <a:rPr sz="1800" spc="-5" dirty="0">
                <a:latin typeface="Arial MT"/>
                <a:cs typeface="Tahoma"/>
              </a:rPr>
              <a:t>r</a:t>
            </a:r>
            <a:r>
              <a:rPr sz="1800" dirty="0">
                <a:latin typeface="Arial MT"/>
                <a:cs typeface="Tahoma"/>
              </a:rPr>
              <a:t>e</a:t>
            </a:r>
            <a:r>
              <a:rPr sz="1800" spc="-135" dirty="0">
                <a:latin typeface="Arial MT"/>
                <a:cs typeface="Tahoma"/>
              </a:rPr>
              <a:t> </a:t>
            </a:r>
            <a:r>
              <a:rPr sz="1800" spc="10" dirty="0">
                <a:latin typeface="Arial MT"/>
                <a:cs typeface="Tahoma"/>
              </a:rPr>
              <a:t>d</a:t>
            </a:r>
            <a:r>
              <a:rPr sz="1800" spc="5" dirty="0">
                <a:latin typeface="Arial MT"/>
                <a:cs typeface="Tahoma"/>
              </a:rPr>
              <a:t>i</a:t>
            </a:r>
            <a:r>
              <a:rPr sz="1800" spc="-5" dirty="0">
                <a:latin typeface="Arial MT"/>
                <a:cs typeface="Tahoma"/>
              </a:rPr>
              <a:t>r</a:t>
            </a:r>
            <a:r>
              <a:rPr sz="1800" spc="5" dirty="0">
                <a:latin typeface="Arial MT"/>
                <a:cs typeface="Tahoma"/>
              </a:rPr>
              <a:t>e</a:t>
            </a:r>
            <a:r>
              <a:rPr sz="1800" spc="-5" dirty="0">
                <a:latin typeface="Arial MT"/>
                <a:cs typeface="Tahoma"/>
              </a:rPr>
              <a:t>c</a:t>
            </a:r>
            <a:r>
              <a:rPr sz="1800" dirty="0">
                <a:latin typeface="Arial MT"/>
                <a:cs typeface="Tahoma"/>
              </a:rPr>
              <a:t>t</a:t>
            </a:r>
            <a:r>
              <a:rPr sz="1800" spc="5" dirty="0">
                <a:latin typeface="Arial MT"/>
                <a:cs typeface="Tahoma"/>
              </a:rPr>
              <a:t>e</a:t>
            </a:r>
            <a:r>
              <a:rPr sz="1800" dirty="0">
                <a:latin typeface="Arial MT"/>
                <a:cs typeface="Tahoma"/>
              </a:rPr>
              <a:t>d</a:t>
            </a:r>
          </a:p>
          <a:p>
            <a:pPr marL="683260" lvl="1" indent="-143510">
              <a:lnSpc>
                <a:spcPct val="100000"/>
              </a:lnSpc>
              <a:spcBef>
                <a:spcPts val="530"/>
              </a:spcBef>
              <a:buSzPct val="61111"/>
              <a:buFont typeface="Wingdings"/>
              <a:buChar char=""/>
              <a:tabLst>
                <a:tab pos="683260" algn="l"/>
              </a:tabLst>
            </a:pPr>
            <a:r>
              <a:rPr sz="1800" spc="5" dirty="0">
                <a:latin typeface="Arial MT"/>
                <a:cs typeface="Tahoma"/>
              </a:rPr>
              <a:t>e.</a:t>
            </a:r>
            <a:r>
              <a:rPr sz="1800" spc="10" dirty="0">
                <a:latin typeface="Arial MT"/>
                <a:cs typeface="Tahoma"/>
              </a:rPr>
              <a:t>g</a:t>
            </a:r>
            <a:r>
              <a:rPr sz="1800" spc="-110" dirty="0">
                <a:latin typeface="Arial MT"/>
                <a:cs typeface="Tahoma"/>
              </a:rPr>
              <a:t>.</a:t>
            </a:r>
            <a:r>
              <a:rPr sz="1800" dirty="0">
                <a:latin typeface="Arial MT"/>
                <a:cs typeface="Tahoma"/>
              </a:rPr>
              <a:t>,</a:t>
            </a:r>
            <a:r>
              <a:rPr sz="1800" spc="15" dirty="0">
                <a:latin typeface="Arial MT"/>
                <a:cs typeface="Tahoma"/>
              </a:rPr>
              <a:t> </a:t>
            </a:r>
            <a:r>
              <a:rPr sz="1800" spc="-5" dirty="0">
                <a:latin typeface="Arial MT"/>
                <a:cs typeface="Tahoma"/>
              </a:rPr>
              <a:t>r</a:t>
            </a:r>
            <a:r>
              <a:rPr sz="1800" dirty="0">
                <a:latin typeface="Arial MT"/>
                <a:cs typeface="Tahoma"/>
              </a:rPr>
              <a:t>oute</a:t>
            </a:r>
            <a:r>
              <a:rPr sz="1800" spc="-130" dirty="0">
                <a:latin typeface="Arial MT"/>
                <a:cs typeface="Tahoma"/>
              </a:rPr>
              <a:t> </a:t>
            </a:r>
            <a:r>
              <a:rPr sz="1800" dirty="0">
                <a:latin typeface="Arial MT"/>
                <a:cs typeface="Tahoma"/>
              </a:rPr>
              <a:t>n</a:t>
            </a:r>
            <a:r>
              <a:rPr sz="1800" spc="5" dirty="0">
                <a:latin typeface="Arial MT"/>
                <a:cs typeface="Tahoma"/>
              </a:rPr>
              <a:t>e</a:t>
            </a:r>
            <a:r>
              <a:rPr sz="1800" dirty="0">
                <a:latin typeface="Arial MT"/>
                <a:cs typeface="Tahoma"/>
              </a:rPr>
              <a:t>t</a:t>
            </a:r>
            <a:r>
              <a:rPr sz="1800" spc="5" dirty="0">
                <a:latin typeface="Arial MT"/>
                <a:cs typeface="Tahoma"/>
              </a:rPr>
              <a:t>w</a:t>
            </a:r>
            <a:r>
              <a:rPr sz="1800" dirty="0">
                <a:latin typeface="Arial MT"/>
                <a:cs typeface="Tahoma"/>
              </a:rPr>
              <a:t>o</a:t>
            </a:r>
            <a:r>
              <a:rPr sz="1800" spc="5" dirty="0">
                <a:latin typeface="Arial MT"/>
                <a:cs typeface="Tahoma"/>
              </a:rPr>
              <a:t>r</a:t>
            </a:r>
            <a:r>
              <a:rPr sz="1800" dirty="0">
                <a:latin typeface="Arial MT"/>
                <a:cs typeface="Tahoma"/>
              </a:rPr>
              <a:t>k</a:t>
            </a:r>
          </a:p>
          <a:p>
            <a:pPr marL="241300" indent="-228600">
              <a:lnSpc>
                <a:spcPct val="100000"/>
              </a:lnSpc>
              <a:spcBef>
                <a:spcPts val="935"/>
              </a:spcBef>
              <a:buFont typeface="Arial MT"/>
              <a:buChar char="•"/>
              <a:tabLst>
                <a:tab pos="240665" algn="l"/>
                <a:tab pos="241300" algn="l"/>
              </a:tabLst>
            </a:pPr>
            <a:r>
              <a:rPr sz="1800" spc="-5" dirty="0">
                <a:latin typeface="Arial MT"/>
                <a:cs typeface="Tahoma"/>
              </a:rPr>
              <a:t>Undirected</a:t>
            </a:r>
            <a:r>
              <a:rPr sz="1800" spc="-95" dirty="0">
                <a:latin typeface="Arial MT"/>
                <a:cs typeface="Tahoma"/>
              </a:rPr>
              <a:t> </a:t>
            </a:r>
            <a:r>
              <a:rPr sz="1800" spc="-10" dirty="0">
                <a:latin typeface="Arial MT"/>
                <a:cs typeface="Tahoma"/>
              </a:rPr>
              <a:t>graph</a:t>
            </a:r>
            <a:endParaRPr sz="1800" dirty="0">
              <a:latin typeface="Arial MT"/>
              <a:cs typeface="Tahoma"/>
            </a:endParaRPr>
          </a:p>
          <a:p>
            <a:pPr marL="683260" lvl="1" indent="-143510">
              <a:lnSpc>
                <a:spcPct val="100000"/>
              </a:lnSpc>
              <a:spcBef>
                <a:spcPts val="45"/>
              </a:spcBef>
              <a:buSzPct val="61111"/>
              <a:buFont typeface="Wingdings"/>
              <a:buChar char=""/>
              <a:tabLst>
                <a:tab pos="683260" algn="l"/>
              </a:tabLst>
            </a:pPr>
            <a:r>
              <a:rPr sz="1800" spc="10" dirty="0">
                <a:latin typeface="Arial MT"/>
                <a:cs typeface="Tahoma"/>
              </a:rPr>
              <a:t>al</a:t>
            </a:r>
            <a:r>
              <a:rPr sz="1800" dirty="0">
                <a:latin typeface="Arial MT"/>
                <a:cs typeface="Tahoma"/>
              </a:rPr>
              <a:t>l</a:t>
            </a:r>
            <a:r>
              <a:rPr sz="1800" spc="10" dirty="0">
                <a:latin typeface="Arial MT"/>
                <a:cs typeface="Tahoma"/>
              </a:rPr>
              <a:t> </a:t>
            </a:r>
            <a:r>
              <a:rPr sz="1800" dirty="0">
                <a:latin typeface="Arial MT"/>
                <a:cs typeface="Tahoma"/>
              </a:rPr>
              <a:t>the</a:t>
            </a:r>
            <a:r>
              <a:rPr sz="1800" spc="10" dirty="0">
                <a:latin typeface="Arial MT"/>
                <a:cs typeface="Tahoma"/>
              </a:rPr>
              <a:t> </a:t>
            </a:r>
            <a:r>
              <a:rPr sz="1800" dirty="0">
                <a:latin typeface="Arial MT"/>
                <a:cs typeface="Tahoma"/>
              </a:rPr>
              <a:t>ed</a:t>
            </a:r>
            <a:r>
              <a:rPr sz="1800" spc="5" dirty="0">
                <a:latin typeface="Arial MT"/>
                <a:cs typeface="Tahoma"/>
              </a:rPr>
              <a:t>g</a:t>
            </a:r>
            <a:r>
              <a:rPr sz="1800" dirty="0">
                <a:latin typeface="Arial MT"/>
                <a:cs typeface="Tahoma"/>
              </a:rPr>
              <a:t>es</a:t>
            </a:r>
            <a:r>
              <a:rPr sz="1800" spc="-5" dirty="0">
                <a:latin typeface="Arial MT"/>
                <a:cs typeface="Tahoma"/>
              </a:rPr>
              <a:t> </a:t>
            </a:r>
            <a:r>
              <a:rPr sz="1800" spc="10" dirty="0">
                <a:latin typeface="Arial MT"/>
                <a:cs typeface="Tahoma"/>
              </a:rPr>
              <a:t>a</a:t>
            </a:r>
            <a:r>
              <a:rPr sz="1800" spc="-5" dirty="0">
                <a:latin typeface="Arial MT"/>
                <a:cs typeface="Tahoma"/>
              </a:rPr>
              <a:t>r</a:t>
            </a:r>
            <a:r>
              <a:rPr sz="1800" dirty="0">
                <a:latin typeface="Arial MT"/>
                <a:cs typeface="Tahoma"/>
              </a:rPr>
              <a:t>e</a:t>
            </a:r>
            <a:r>
              <a:rPr sz="1800" spc="-145" dirty="0">
                <a:latin typeface="Arial MT"/>
                <a:cs typeface="Tahoma"/>
              </a:rPr>
              <a:t> </a:t>
            </a:r>
            <a:r>
              <a:rPr sz="1800" dirty="0">
                <a:latin typeface="Arial MT"/>
                <a:cs typeface="Tahoma"/>
              </a:rPr>
              <a:t>un</a:t>
            </a:r>
            <a:r>
              <a:rPr sz="1800" spc="10" dirty="0">
                <a:latin typeface="Arial MT"/>
                <a:cs typeface="Tahoma"/>
              </a:rPr>
              <a:t>d</a:t>
            </a:r>
            <a:r>
              <a:rPr sz="1800" spc="5" dirty="0">
                <a:latin typeface="Arial MT"/>
                <a:cs typeface="Tahoma"/>
              </a:rPr>
              <a:t>i</a:t>
            </a:r>
            <a:r>
              <a:rPr sz="1800" spc="-5" dirty="0">
                <a:latin typeface="Arial MT"/>
                <a:cs typeface="Tahoma"/>
              </a:rPr>
              <a:t>r</a:t>
            </a:r>
            <a:r>
              <a:rPr sz="1800" spc="5" dirty="0">
                <a:latin typeface="Arial MT"/>
                <a:cs typeface="Tahoma"/>
              </a:rPr>
              <a:t>e</a:t>
            </a:r>
            <a:r>
              <a:rPr sz="1800" spc="-5" dirty="0">
                <a:latin typeface="Arial MT"/>
                <a:cs typeface="Tahoma"/>
              </a:rPr>
              <a:t>c</a:t>
            </a:r>
            <a:r>
              <a:rPr sz="1800" dirty="0">
                <a:latin typeface="Arial MT"/>
                <a:cs typeface="Tahoma"/>
              </a:rPr>
              <a:t>t</a:t>
            </a:r>
            <a:r>
              <a:rPr sz="1800" spc="5" dirty="0">
                <a:latin typeface="Arial MT"/>
                <a:cs typeface="Tahoma"/>
              </a:rPr>
              <a:t>e</a:t>
            </a:r>
            <a:r>
              <a:rPr sz="1800" dirty="0">
                <a:latin typeface="Arial MT"/>
                <a:cs typeface="Tahoma"/>
              </a:rPr>
              <a:t>d</a:t>
            </a:r>
          </a:p>
          <a:p>
            <a:pPr marL="683260" lvl="1" indent="-143510">
              <a:lnSpc>
                <a:spcPct val="100000"/>
              </a:lnSpc>
              <a:spcBef>
                <a:spcPts val="555"/>
              </a:spcBef>
              <a:buSzPct val="61111"/>
              <a:buFont typeface="Wingdings"/>
              <a:buChar char=""/>
              <a:tabLst>
                <a:tab pos="683260" algn="l"/>
              </a:tabLst>
            </a:pPr>
            <a:r>
              <a:rPr sz="1800" spc="-20" dirty="0">
                <a:latin typeface="Arial MT"/>
                <a:cs typeface="Tahoma"/>
              </a:rPr>
              <a:t>e.g.,</a:t>
            </a:r>
            <a:r>
              <a:rPr sz="1800" spc="-10" dirty="0">
                <a:latin typeface="Arial MT"/>
                <a:cs typeface="Tahoma"/>
              </a:rPr>
              <a:t> </a:t>
            </a:r>
            <a:r>
              <a:rPr sz="1800" spc="-5" dirty="0">
                <a:latin typeface="Arial MT"/>
                <a:cs typeface="Tahoma"/>
              </a:rPr>
              <a:t>flight</a:t>
            </a:r>
            <a:r>
              <a:rPr sz="1800" spc="-114" dirty="0">
                <a:latin typeface="Arial MT"/>
                <a:cs typeface="Tahoma"/>
              </a:rPr>
              <a:t> </a:t>
            </a:r>
            <a:r>
              <a:rPr sz="1800" dirty="0">
                <a:latin typeface="Arial MT"/>
                <a:cs typeface="Tahoma"/>
              </a:rPr>
              <a:t>network</a:t>
            </a:r>
          </a:p>
          <a:p>
            <a:pPr marL="241300" indent="-228600">
              <a:lnSpc>
                <a:spcPct val="100000"/>
              </a:lnSpc>
              <a:spcBef>
                <a:spcPts val="935"/>
              </a:spcBef>
              <a:buFont typeface="Arial MT"/>
              <a:buChar char="•"/>
              <a:tabLst>
                <a:tab pos="240665" algn="l"/>
                <a:tab pos="241300" algn="l"/>
              </a:tabLst>
            </a:pPr>
            <a:r>
              <a:rPr sz="1800" spc="-5" dirty="0">
                <a:latin typeface="Arial MT"/>
                <a:cs typeface="Tahoma"/>
              </a:rPr>
              <a:t>Mixed</a:t>
            </a:r>
            <a:r>
              <a:rPr sz="1800" spc="-105" dirty="0">
                <a:latin typeface="Arial MT"/>
                <a:cs typeface="Tahoma"/>
              </a:rPr>
              <a:t> </a:t>
            </a:r>
            <a:r>
              <a:rPr sz="1800" spc="-10" dirty="0">
                <a:latin typeface="Arial MT"/>
                <a:cs typeface="Tahoma"/>
              </a:rPr>
              <a:t>graph</a:t>
            </a:r>
            <a:endParaRPr sz="1800" dirty="0">
              <a:latin typeface="Arial MT"/>
              <a:cs typeface="Tahoma"/>
            </a:endParaRPr>
          </a:p>
          <a:p>
            <a:pPr marL="683260" lvl="1" indent="-143510">
              <a:lnSpc>
                <a:spcPts val="2125"/>
              </a:lnSpc>
              <a:spcBef>
                <a:spcPts val="240"/>
              </a:spcBef>
              <a:buSzPct val="61111"/>
              <a:buFont typeface="Wingdings"/>
              <a:buChar char=""/>
              <a:tabLst>
                <a:tab pos="683260" algn="l"/>
                <a:tab pos="3987800" algn="l"/>
              </a:tabLst>
            </a:pPr>
            <a:r>
              <a:rPr sz="1800" dirty="0">
                <a:latin typeface="Arial MT"/>
                <a:cs typeface="Tahoma"/>
              </a:rPr>
              <a:t>so</a:t>
            </a:r>
            <a:r>
              <a:rPr sz="1800" spc="5" dirty="0">
                <a:latin typeface="Arial MT"/>
                <a:cs typeface="Tahoma"/>
              </a:rPr>
              <a:t>m</a:t>
            </a:r>
            <a:r>
              <a:rPr sz="1800" dirty="0">
                <a:latin typeface="Arial MT"/>
                <a:cs typeface="Tahoma"/>
              </a:rPr>
              <a:t>e</a:t>
            </a:r>
            <a:r>
              <a:rPr sz="1800" spc="-75" dirty="0">
                <a:latin typeface="Arial MT"/>
                <a:cs typeface="Tahoma"/>
              </a:rPr>
              <a:t> </a:t>
            </a:r>
            <a:r>
              <a:rPr sz="1800" dirty="0">
                <a:latin typeface="Arial MT"/>
                <a:cs typeface="Tahoma"/>
              </a:rPr>
              <a:t>ed</a:t>
            </a:r>
            <a:r>
              <a:rPr sz="1800" spc="5" dirty="0">
                <a:latin typeface="Arial MT"/>
                <a:cs typeface="Tahoma"/>
              </a:rPr>
              <a:t>g</a:t>
            </a:r>
            <a:r>
              <a:rPr sz="1800" dirty="0">
                <a:latin typeface="Arial MT"/>
                <a:cs typeface="Tahoma"/>
              </a:rPr>
              <a:t>es</a:t>
            </a:r>
            <a:r>
              <a:rPr sz="1800" spc="-35" dirty="0">
                <a:latin typeface="Arial MT"/>
                <a:cs typeface="Tahoma"/>
              </a:rPr>
              <a:t> </a:t>
            </a:r>
            <a:r>
              <a:rPr sz="1800" spc="10" dirty="0">
                <a:latin typeface="Arial MT"/>
                <a:cs typeface="Tahoma"/>
              </a:rPr>
              <a:t>a</a:t>
            </a:r>
            <a:r>
              <a:rPr sz="1800" spc="-5" dirty="0">
                <a:latin typeface="Arial MT"/>
                <a:cs typeface="Tahoma"/>
              </a:rPr>
              <a:t>r</a:t>
            </a:r>
            <a:r>
              <a:rPr sz="1800" dirty="0">
                <a:latin typeface="Arial MT"/>
                <a:cs typeface="Tahoma"/>
              </a:rPr>
              <a:t>e</a:t>
            </a:r>
            <a:r>
              <a:rPr sz="1800" spc="-50" dirty="0">
                <a:latin typeface="Arial MT"/>
                <a:cs typeface="Tahoma"/>
              </a:rPr>
              <a:t> </a:t>
            </a:r>
            <a:r>
              <a:rPr sz="1800" dirty="0">
                <a:latin typeface="Arial MT"/>
                <a:cs typeface="Tahoma"/>
              </a:rPr>
              <a:t>un</a:t>
            </a:r>
            <a:r>
              <a:rPr sz="1800" spc="10" dirty="0">
                <a:latin typeface="Arial MT"/>
                <a:cs typeface="Tahoma"/>
              </a:rPr>
              <a:t>d</a:t>
            </a:r>
            <a:r>
              <a:rPr sz="1800" spc="5" dirty="0">
                <a:latin typeface="Arial MT"/>
                <a:cs typeface="Tahoma"/>
              </a:rPr>
              <a:t>i</a:t>
            </a:r>
            <a:r>
              <a:rPr sz="1800" spc="-5" dirty="0">
                <a:latin typeface="Arial MT"/>
                <a:cs typeface="Tahoma"/>
              </a:rPr>
              <a:t>r</a:t>
            </a:r>
            <a:r>
              <a:rPr sz="1800" spc="5" dirty="0">
                <a:latin typeface="Arial MT"/>
                <a:cs typeface="Tahoma"/>
              </a:rPr>
              <a:t>e</a:t>
            </a:r>
            <a:r>
              <a:rPr sz="1800" spc="-5" dirty="0">
                <a:latin typeface="Arial MT"/>
                <a:cs typeface="Tahoma"/>
              </a:rPr>
              <a:t>c</a:t>
            </a:r>
            <a:r>
              <a:rPr sz="1800" dirty="0">
                <a:latin typeface="Arial MT"/>
                <a:cs typeface="Tahoma"/>
              </a:rPr>
              <a:t>t</a:t>
            </a:r>
            <a:r>
              <a:rPr sz="1800" spc="5" dirty="0">
                <a:latin typeface="Arial MT"/>
                <a:cs typeface="Tahoma"/>
              </a:rPr>
              <a:t>e</a:t>
            </a:r>
            <a:r>
              <a:rPr sz="1800" dirty="0">
                <a:latin typeface="Arial MT"/>
                <a:cs typeface="Tahoma"/>
              </a:rPr>
              <a:t>d</a:t>
            </a:r>
            <a:r>
              <a:rPr sz="1800" spc="-75" dirty="0">
                <a:latin typeface="Arial MT"/>
                <a:cs typeface="Tahoma"/>
              </a:rPr>
              <a:t> </a:t>
            </a:r>
            <a:r>
              <a:rPr sz="1800" spc="5" dirty="0">
                <a:latin typeface="Arial MT"/>
                <a:cs typeface="Tahoma"/>
              </a:rPr>
              <a:t>a</a:t>
            </a:r>
            <a:r>
              <a:rPr sz="1800" spc="-5" dirty="0">
                <a:latin typeface="Arial MT"/>
                <a:cs typeface="Tahoma"/>
              </a:rPr>
              <a:t>n</a:t>
            </a:r>
            <a:r>
              <a:rPr sz="1800" dirty="0">
                <a:latin typeface="Arial MT"/>
                <a:cs typeface="Tahoma"/>
              </a:rPr>
              <a:t>d	so</a:t>
            </a:r>
            <a:r>
              <a:rPr sz="1800" spc="5" dirty="0">
                <a:latin typeface="Arial MT"/>
                <a:cs typeface="Tahoma"/>
              </a:rPr>
              <a:t>m</a:t>
            </a:r>
            <a:r>
              <a:rPr sz="1800" dirty="0">
                <a:latin typeface="Arial MT"/>
                <a:cs typeface="Tahoma"/>
              </a:rPr>
              <a:t>e</a:t>
            </a:r>
            <a:r>
              <a:rPr sz="1800" spc="10" dirty="0">
                <a:latin typeface="Arial MT"/>
                <a:cs typeface="Tahoma"/>
              </a:rPr>
              <a:t> </a:t>
            </a:r>
            <a:r>
              <a:rPr sz="1800" dirty="0">
                <a:latin typeface="Arial MT"/>
                <a:cs typeface="Tahoma"/>
              </a:rPr>
              <a:t>ed</a:t>
            </a:r>
            <a:r>
              <a:rPr sz="1800" spc="5" dirty="0">
                <a:latin typeface="Arial MT"/>
                <a:cs typeface="Tahoma"/>
              </a:rPr>
              <a:t>g</a:t>
            </a:r>
            <a:r>
              <a:rPr sz="1800" dirty="0">
                <a:latin typeface="Arial MT"/>
                <a:cs typeface="Tahoma"/>
              </a:rPr>
              <a:t>es</a:t>
            </a:r>
            <a:r>
              <a:rPr sz="1800" spc="-5" dirty="0">
                <a:latin typeface="Arial MT"/>
                <a:cs typeface="Tahoma"/>
              </a:rPr>
              <a:t> </a:t>
            </a:r>
            <a:r>
              <a:rPr sz="1800" spc="10" dirty="0">
                <a:latin typeface="Arial MT"/>
                <a:cs typeface="Tahoma"/>
              </a:rPr>
              <a:t>a</a:t>
            </a:r>
            <a:r>
              <a:rPr sz="1800" spc="-5" dirty="0">
                <a:latin typeface="Arial MT"/>
                <a:cs typeface="Tahoma"/>
              </a:rPr>
              <a:t>r</a:t>
            </a:r>
            <a:r>
              <a:rPr sz="1800" dirty="0">
                <a:latin typeface="Arial MT"/>
                <a:cs typeface="Tahoma"/>
              </a:rPr>
              <a:t>e</a:t>
            </a:r>
            <a:r>
              <a:rPr sz="1800" spc="-150" dirty="0">
                <a:latin typeface="Arial MT"/>
                <a:cs typeface="Tahoma"/>
              </a:rPr>
              <a:t> </a:t>
            </a:r>
            <a:r>
              <a:rPr sz="1800" spc="10" dirty="0">
                <a:latin typeface="Arial MT"/>
                <a:cs typeface="Tahoma"/>
              </a:rPr>
              <a:t>d</a:t>
            </a:r>
            <a:r>
              <a:rPr sz="1800" spc="5" dirty="0">
                <a:latin typeface="Arial MT"/>
                <a:cs typeface="Tahoma"/>
              </a:rPr>
              <a:t>i</a:t>
            </a:r>
            <a:r>
              <a:rPr sz="1800" spc="-5" dirty="0">
                <a:latin typeface="Arial MT"/>
                <a:cs typeface="Tahoma"/>
              </a:rPr>
              <a:t>r</a:t>
            </a:r>
            <a:r>
              <a:rPr sz="1800" spc="5" dirty="0">
                <a:latin typeface="Arial MT"/>
                <a:cs typeface="Tahoma"/>
              </a:rPr>
              <a:t>e</a:t>
            </a:r>
            <a:r>
              <a:rPr sz="1800" spc="-5" dirty="0">
                <a:latin typeface="Arial MT"/>
                <a:cs typeface="Tahoma"/>
              </a:rPr>
              <a:t>c</a:t>
            </a:r>
            <a:r>
              <a:rPr sz="1800" dirty="0">
                <a:latin typeface="Arial MT"/>
                <a:cs typeface="Tahoma"/>
              </a:rPr>
              <a:t>t</a:t>
            </a:r>
            <a:r>
              <a:rPr sz="1800" spc="5" dirty="0">
                <a:latin typeface="Arial MT"/>
                <a:cs typeface="Tahoma"/>
              </a:rPr>
              <a:t>e</a:t>
            </a:r>
            <a:r>
              <a:rPr sz="1800" dirty="0">
                <a:latin typeface="Arial MT"/>
                <a:cs typeface="Tahoma"/>
              </a:rPr>
              <a:t>d</a:t>
            </a:r>
          </a:p>
          <a:p>
            <a:pPr marL="683260" lvl="1" indent="-143510">
              <a:lnSpc>
                <a:spcPts val="2125"/>
              </a:lnSpc>
              <a:buSzPct val="61111"/>
              <a:buFont typeface="Wingdings"/>
              <a:buChar char=""/>
              <a:tabLst>
                <a:tab pos="683260" algn="l"/>
              </a:tabLst>
            </a:pPr>
            <a:r>
              <a:rPr sz="1800" spc="-20" dirty="0">
                <a:latin typeface="Arial MT"/>
                <a:cs typeface="Tahoma"/>
              </a:rPr>
              <a:t>e.g.,</a:t>
            </a:r>
            <a:r>
              <a:rPr sz="1800" spc="-60" dirty="0">
                <a:latin typeface="Arial MT"/>
                <a:cs typeface="Tahoma"/>
              </a:rPr>
              <a:t> </a:t>
            </a:r>
            <a:r>
              <a:rPr sz="1800" dirty="0">
                <a:latin typeface="Arial MT"/>
                <a:cs typeface="Tahoma"/>
              </a:rPr>
              <a:t>a</a:t>
            </a:r>
            <a:r>
              <a:rPr sz="1800" spc="-20" dirty="0">
                <a:latin typeface="Arial MT"/>
                <a:cs typeface="Tahoma"/>
              </a:rPr>
              <a:t> </a:t>
            </a:r>
            <a:r>
              <a:rPr sz="1800" spc="-5" dirty="0">
                <a:latin typeface="Arial MT"/>
                <a:cs typeface="Tahoma"/>
              </a:rPr>
              <a:t>graph</a:t>
            </a:r>
            <a:r>
              <a:rPr sz="1800" spc="-35" dirty="0">
                <a:latin typeface="Arial MT"/>
                <a:cs typeface="Tahoma"/>
              </a:rPr>
              <a:t> </a:t>
            </a:r>
            <a:r>
              <a:rPr sz="1800" dirty="0">
                <a:latin typeface="Arial MT"/>
                <a:cs typeface="Tahoma"/>
              </a:rPr>
              <a:t>modeling</a:t>
            </a:r>
            <a:r>
              <a:rPr sz="1800" spc="-65" dirty="0">
                <a:latin typeface="Arial MT"/>
                <a:cs typeface="Tahoma"/>
              </a:rPr>
              <a:t> </a:t>
            </a:r>
            <a:r>
              <a:rPr sz="1800" dirty="0">
                <a:latin typeface="Arial MT"/>
                <a:cs typeface="Tahoma"/>
              </a:rPr>
              <a:t>a</a:t>
            </a:r>
            <a:r>
              <a:rPr sz="1800" spc="-20" dirty="0">
                <a:latin typeface="Arial MT"/>
                <a:cs typeface="Tahoma"/>
              </a:rPr>
              <a:t> </a:t>
            </a:r>
            <a:r>
              <a:rPr sz="1800" spc="-5" dirty="0">
                <a:latin typeface="Arial MT"/>
                <a:cs typeface="Tahoma"/>
              </a:rPr>
              <a:t>city</a:t>
            </a:r>
            <a:r>
              <a:rPr sz="1800" spc="-40" dirty="0">
                <a:latin typeface="Arial MT"/>
                <a:cs typeface="Tahoma"/>
              </a:rPr>
              <a:t> </a:t>
            </a:r>
            <a:r>
              <a:rPr sz="1800" dirty="0">
                <a:latin typeface="Arial MT"/>
                <a:cs typeface="Tahoma"/>
              </a:rPr>
              <a:t>map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825601" y="1691608"/>
            <a:ext cx="3285749" cy="4672395"/>
          </a:xfrm>
          <a:prstGeom prst="rect">
            <a:avLst/>
          </a:prstGeom>
        </p:spPr>
      </p:pic>
      <p:sp>
        <p:nvSpPr>
          <p:cNvPr id="5" name="Slide Number Placeholder 4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38099">
              <a:lnSpc>
                <a:spcPts val="1535"/>
              </a:lnSpc>
            </a:pPr>
            <a:fld id="{81D60167-4931-47E6-BA6A-407CBD079E47}" type="slidenum">
              <a:rPr lang="en-US" smtClean="0"/>
              <a:pPr marL="38099">
                <a:lnSpc>
                  <a:spcPts val="1535"/>
                </a:lnSpc>
              </a:pPr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797454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611124"/>
            <a:ext cx="2785110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40" dirty="0"/>
              <a:t>Terminology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25500" y="1842515"/>
            <a:ext cx="7251700" cy="40549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1300" indent="-228600">
              <a:lnSpc>
                <a:spcPts val="2300"/>
              </a:lnSpc>
              <a:spcBef>
                <a:spcPts val="100"/>
              </a:spcBef>
              <a:buFont typeface="Arial MT"/>
              <a:buChar char="•"/>
              <a:tabLst>
                <a:tab pos="240665" algn="l"/>
                <a:tab pos="241300" algn="l"/>
                <a:tab pos="3711575" algn="l"/>
              </a:tabLst>
            </a:pPr>
            <a:r>
              <a:rPr sz="2400" spc="-5" dirty="0">
                <a:latin typeface="Tahoma"/>
                <a:cs typeface="Tahoma"/>
              </a:rPr>
              <a:t>End</a:t>
            </a:r>
            <a:r>
              <a:rPr sz="2400" dirty="0">
                <a:latin typeface="Tahoma"/>
                <a:cs typeface="Tahoma"/>
              </a:rPr>
              <a:t> </a:t>
            </a:r>
            <a:r>
              <a:rPr sz="2400" spc="-5" dirty="0">
                <a:latin typeface="Tahoma"/>
                <a:cs typeface="Tahoma"/>
              </a:rPr>
              <a:t>vertices</a:t>
            </a:r>
            <a:r>
              <a:rPr sz="2400" dirty="0">
                <a:latin typeface="Tahoma"/>
                <a:cs typeface="Tahoma"/>
              </a:rPr>
              <a:t> </a:t>
            </a:r>
            <a:r>
              <a:rPr sz="2400" spc="-5" dirty="0">
                <a:latin typeface="Tahoma"/>
                <a:cs typeface="Tahoma"/>
              </a:rPr>
              <a:t>(or</a:t>
            </a:r>
            <a:r>
              <a:rPr sz="2400" spc="10" dirty="0">
                <a:latin typeface="Tahoma"/>
                <a:cs typeface="Tahoma"/>
              </a:rPr>
              <a:t> </a:t>
            </a:r>
            <a:r>
              <a:rPr sz="2400" spc="-5" dirty="0">
                <a:latin typeface="Tahoma"/>
                <a:cs typeface="Tahoma"/>
              </a:rPr>
              <a:t>endpoints)</a:t>
            </a:r>
            <a:r>
              <a:rPr sz="2400" spc="-165" dirty="0">
                <a:latin typeface="Tahoma"/>
                <a:cs typeface="Tahoma"/>
              </a:rPr>
              <a:t> </a:t>
            </a:r>
            <a:r>
              <a:rPr sz="2400" dirty="0" smtClean="0">
                <a:latin typeface="Tahoma"/>
                <a:cs typeface="Tahoma"/>
              </a:rPr>
              <a:t>of</a:t>
            </a:r>
            <a:r>
              <a:rPr lang="en-US" sz="2400" dirty="0" smtClean="0">
                <a:latin typeface="Tahoma"/>
                <a:cs typeface="Tahoma"/>
              </a:rPr>
              <a:t> </a:t>
            </a:r>
            <a:r>
              <a:rPr sz="2400" dirty="0" smtClean="0">
                <a:latin typeface="Tahoma"/>
                <a:cs typeface="Tahoma"/>
              </a:rPr>
              <a:t>an</a:t>
            </a:r>
            <a:r>
              <a:rPr sz="2400" spc="-114" dirty="0" smtClean="0">
                <a:latin typeface="Tahoma"/>
                <a:cs typeface="Tahoma"/>
              </a:rPr>
              <a:t> </a:t>
            </a:r>
            <a:r>
              <a:rPr sz="2400" spc="-10" dirty="0">
                <a:latin typeface="Tahoma"/>
                <a:cs typeface="Tahoma"/>
              </a:rPr>
              <a:t>edge</a:t>
            </a:r>
            <a:endParaRPr sz="2400" dirty="0">
              <a:latin typeface="Tahoma"/>
              <a:cs typeface="Tahoma"/>
            </a:endParaRPr>
          </a:p>
          <a:p>
            <a:pPr marL="683260" lvl="1" indent="-143510">
              <a:lnSpc>
                <a:spcPts val="2420"/>
              </a:lnSpc>
              <a:buSzPct val="60000"/>
              <a:buFont typeface="Wingdings"/>
              <a:buChar char=""/>
              <a:tabLst>
                <a:tab pos="683260" algn="l"/>
              </a:tabLst>
            </a:pPr>
            <a:r>
              <a:rPr lang="en-US" sz="2400" dirty="0" smtClean="0">
                <a:latin typeface="Tahoma"/>
                <a:cs typeface="Tahoma"/>
              </a:rPr>
              <a:t>  </a:t>
            </a:r>
            <a:r>
              <a:rPr sz="2400" dirty="0" smtClean="0">
                <a:latin typeface="Tahoma"/>
                <a:cs typeface="Tahoma"/>
              </a:rPr>
              <a:t>u</a:t>
            </a:r>
            <a:r>
              <a:rPr sz="2400" spc="-35" dirty="0" smtClean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a</a:t>
            </a:r>
            <a:r>
              <a:rPr sz="2400" spc="-5" dirty="0">
                <a:latin typeface="Tahoma"/>
                <a:cs typeface="Tahoma"/>
              </a:rPr>
              <a:t>n</a:t>
            </a:r>
            <a:r>
              <a:rPr sz="2400" dirty="0">
                <a:latin typeface="Tahoma"/>
                <a:cs typeface="Tahoma"/>
              </a:rPr>
              <a:t>d</a:t>
            </a:r>
            <a:r>
              <a:rPr sz="2400" spc="-30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v</a:t>
            </a:r>
            <a:r>
              <a:rPr sz="2400" spc="-25" dirty="0">
                <a:latin typeface="Tahoma"/>
                <a:cs typeface="Tahoma"/>
              </a:rPr>
              <a:t> </a:t>
            </a:r>
            <a:r>
              <a:rPr sz="2400" spc="5" dirty="0">
                <a:latin typeface="Tahoma"/>
                <a:cs typeface="Tahoma"/>
              </a:rPr>
              <a:t>a</a:t>
            </a:r>
            <a:r>
              <a:rPr sz="2400" spc="-5" dirty="0">
                <a:latin typeface="Tahoma"/>
                <a:cs typeface="Tahoma"/>
              </a:rPr>
              <a:t>r</a:t>
            </a:r>
            <a:r>
              <a:rPr sz="2400" dirty="0">
                <a:latin typeface="Tahoma"/>
                <a:cs typeface="Tahoma"/>
              </a:rPr>
              <a:t>e</a:t>
            </a:r>
            <a:r>
              <a:rPr sz="2400" spc="-25" dirty="0">
                <a:latin typeface="Tahoma"/>
                <a:cs typeface="Tahoma"/>
              </a:rPr>
              <a:t> </a:t>
            </a:r>
            <a:r>
              <a:rPr sz="2400" spc="10" dirty="0">
                <a:latin typeface="Tahoma"/>
                <a:cs typeface="Tahoma"/>
              </a:rPr>
              <a:t>t</a:t>
            </a:r>
            <a:r>
              <a:rPr sz="2400" dirty="0">
                <a:latin typeface="Tahoma"/>
                <a:cs typeface="Tahoma"/>
              </a:rPr>
              <a:t>he</a:t>
            </a:r>
            <a:r>
              <a:rPr sz="2400" spc="-25" dirty="0">
                <a:latin typeface="Tahoma"/>
                <a:cs typeface="Tahoma"/>
              </a:rPr>
              <a:t> </a:t>
            </a:r>
            <a:r>
              <a:rPr sz="2400" spc="-80" dirty="0">
                <a:latin typeface="Tahoma"/>
                <a:cs typeface="Tahoma"/>
              </a:rPr>
              <a:t>en</a:t>
            </a:r>
            <a:r>
              <a:rPr sz="2400" spc="-90" dirty="0">
                <a:latin typeface="Tahoma"/>
                <a:cs typeface="Tahoma"/>
              </a:rPr>
              <a:t>dp</a:t>
            </a:r>
            <a:r>
              <a:rPr sz="2400" spc="-75" dirty="0">
                <a:latin typeface="Tahoma"/>
                <a:cs typeface="Tahoma"/>
              </a:rPr>
              <a:t>o</a:t>
            </a:r>
            <a:r>
              <a:rPr sz="2400" spc="-40" dirty="0">
                <a:latin typeface="Tahoma"/>
                <a:cs typeface="Tahoma"/>
              </a:rPr>
              <a:t>i</a:t>
            </a:r>
            <a:r>
              <a:rPr sz="2400" spc="-85" dirty="0">
                <a:latin typeface="Tahoma"/>
                <a:cs typeface="Tahoma"/>
              </a:rPr>
              <a:t>n</a:t>
            </a:r>
            <a:r>
              <a:rPr sz="2400" spc="-50" dirty="0">
                <a:latin typeface="Tahoma"/>
                <a:cs typeface="Tahoma"/>
              </a:rPr>
              <a:t>t</a:t>
            </a:r>
            <a:r>
              <a:rPr sz="2400" spc="-45" dirty="0">
                <a:latin typeface="Tahoma"/>
                <a:cs typeface="Tahoma"/>
              </a:rPr>
              <a:t>s</a:t>
            </a:r>
            <a:r>
              <a:rPr sz="2400" spc="-145" dirty="0">
                <a:latin typeface="Tahoma"/>
                <a:cs typeface="Tahoma"/>
              </a:rPr>
              <a:t> </a:t>
            </a:r>
            <a:r>
              <a:rPr sz="2400" spc="5" dirty="0">
                <a:latin typeface="Tahoma"/>
                <a:cs typeface="Tahoma"/>
              </a:rPr>
              <a:t>o</a:t>
            </a:r>
            <a:r>
              <a:rPr sz="2400" dirty="0">
                <a:latin typeface="Tahoma"/>
                <a:cs typeface="Tahoma"/>
              </a:rPr>
              <a:t>f</a:t>
            </a:r>
            <a:r>
              <a:rPr sz="2400" spc="-20" dirty="0">
                <a:latin typeface="Tahoma"/>
                <a:cs typeface="Tahoma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a</a:t>
            </a:r>
            <a:endParaRPr sz="2400" dirty="0">
              <a:latin typeface="Times New Roman"/>
              <a:cs typeface="Times New Roman"/>
            </a:endParaRPr>
          </a:p>
          <a:p>
            <a:pPr marL="241300" indent="-228600">
              <a:lnSpc>
                <a:spcPct val="100000"/>
              </a:lnSpc>
              <a:spcBef>
                <a:spcPts val="170"/>
              </a:spcBef>
              <a:buFont typeface="Arial MT"/>
              <a:buChar char="•"/>
              <a:tabLst>
                <a:tab pos="240665" algn="l"/>
                <a:tab pos="241300" algn="l"/>
              </a:tabLst>
            </a:pPr>
            <a:r>
              <a:rPr sz="2400" spc="-5" dirty="0">
                <a:latin typeface="Tahoma"/>
                <a:cs typeface="Tahoma"/>
              </a:rPr>
              <a:t>Edges</a:t>
            </a:r>
            <a:r>
              <a:rPr sz="2400" spc="-20" dirty="0">
                <a:latin typeface="Tahoma"/>
                <a:cs typeface="Tahoma"/>
              </a:rPr>
              <a:t> </a:t>
            </a:r>
            <a:r>
              <a:rPr sz="2400" spc="-10" dirty="0">
                <a:latin typeface="Tahoma"/>
                <a:cs typeface="Tahoma"/>
              </a:rPr>
              <a:t>incident</a:t>
            </a:r>
            <a:r>
              <a:rPr sz="2400" spc="-15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to</a:t>
            </a:r>
            <a:r>
              <a:rPr sz="2400" spc="-10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a</a:t>
            </a:r>
            <a:r>
              <a:rPr sz="2400" spc="-90" dirty="0">
                <a:latin typeface="Tahoma"/>
                <a:cs typeface="Tahoma"/>
              </a:rPr>
              <a:t> </a:t>
            </a:r>
            <a:r>
              <a:rPr sz="2400" spc="-5" dirty="0">
                <a:latin typeface="Tahoma"/>
                <a:cs typeface="Tahoma"/>
              </a:rPr>
              <a:t>vertex</a:t>
            </a:r>
            <a:endParaRPr sz="2400" dirty="0">
              <a:latin typeface="Tahoma"/>
              <a:cs typeface="Tahoma"/>
            </a:endParaRPr>
          </a:p>
          <a:p>
            <a:pPr marL="683260" lvl="1" indent="-143510">
              <a:lnSpc>
                <a:spcPct val="100000"/>
              </a:lnSpc>
              <a:spcBef>
                <a:spcPts val="20"/>
              </a:spcBef>
              <a:buSzPct val="60000"/>
              <a:buFont typeface="Wingdings"/>
              <a:buChar char=""/>
              <a:tabLst>
                <a:tab pos="683260" algn="l"/>
              </a:tabLst>
            </a:pPr>
            <a:r>
              <a:rPr lang="en-US" sz="2400" dirty="0" smtClean="0">
                <a:latin typeface="Tahoma"/>
                <a:cs typeface="Tahoma"/>
              </a:rPr>
              <a:t>  </a:t>
            </a:r>
            <a:r>
              <a:rPr sz="2400" dirty="0" smtClean="0">
                <a:latin typeface="Tahoma"/>
                <a:cs typeface="Tahoma"/>
              </a:rPr>
              <a:t>a</a:t>
            </a:r>
            <a:r>
              <a:rPr sz="2400" dirty="0">
                <a:latin typeface="Tahoma"/>
                <a:cs typeface="Tahoma"/>
              </a:rPr>
              <a:t>,</a:t>
            </a:r>
            <a:r>
              <a:rPr sz="2400" spc="-10" dirty="0">
                <a:latin typeface="Tahoma"/>
                <a:cs typeface="Tahoma"/>
              </a:rPr>
              <a:t> d</a:t>
            </a:r>
            <a:r>
              <a:rPr sz="2400" dirty="0">
                <a:latin typeface="Tahoma"/>
                <a:cs typeface="Tahoma"/>
              </a:rPr>
              <a:t>,</a:t>
            </a:r>
            <a:r>
              <a:rPr sz="2400" spc="-10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a</a:t>
            </a:r>
            <a:r>
              <a:rPr sz="2400" spc="-5" dirty="0">
                <a:latin typeface="Tahoma"/>
                <a:cs typeface="Tahoma"/>
              </a:rPr>
              <a:t>n</a:t>
            </a:r>
            <a:r>
              <a:rPr sz="2400" dirty="0">
                <a:latin typeface="Tahoma"/>
                <a:cs typeface="Tahoma"/>
              </a:rPr>
              <a:t>d</a:t>
            </a:r>
            <a:r>
              <a:rPr sz="2400" spc="-5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b </a:t>
            </a:r>
            <a:r>
              <a:rPr sz="2400" spc="5" dirty="0">
                <a:latin typeface="Tahoma"/>
                <a:cs typeface="Tahoma"/>
              </a:rPr>
              <a:t>a</a:t>
            </a:r>
            <a:r>
              <a:rPr sz="2400" spc="-5" dirty="0">
                <a:latin typeface="Tahoma"/>
                <a:cs typeface="Tahoma"/>
              </a:rPr>
              <a:t>r</a:t>
            </a:r>
            <a:r>
              <a:rPr sz="2400" dirty="0">
                <a:latin typeface="Tahoma"/>
                <a:cs typeface="Tahoma"/>
              </a:rPr>
              <a:t>e</a:t>
            </a:r>
            <a:r>
              <a:rPr sz="2400" spc="5" dirty="0">
                <a:latin typeface="Tahoma"/>
                <a:cs typeface="Tahoma"/>
              </a:rPr>
              <a:t> </a:t>
            </a:r>
            <a:r>
              <a:rPr sz="2400" spc="-40" dirty="0">
                <a:latin typeface="Tahoma"/>
                <a:cs typeface="Tahoma"/>
              </a:rPr>
              <a:t>i</a:t>
            </a:r>
            <a:r>
              <a:rPr sz="2400" spc="-85" dirty="0">
                <a:latin typeface="Tahoma"/>
                <a:cs typeface="Tahoma"/>
              </a:rPr>
              <a:t>n</a:t>
            </a:r>
            <a:r>
              <a:rPr sz="2400" spc="-70" dirty="0">
                <a:latin typeface="Tahoma"/>
                <a:cs typeface="Tahoma"/>
              </a:rPr>
              <a:t>c</a:t>
            </a:r>
            <a:r>
              <a:rPr sz="2400" spc="-40" dirty="0">
                <a:latin typeface="Tahoma"/>
                <a:cs typeface="Tahoma"/>
              </a:rPr>
              <a:t>i</a:t>
            </a:r>
            <a:r>
              <a:rPr sz="2400" spc="-80" dirty="0">
                <a:latin typeface="Tahoma"/>
                <a:cs typeface="Tahoma"/>
              </a:rPr>
              <a:t>den</a:t>
            </a:r>
            <a:r>
              <a:rPr sz="2400" spc="-35" dirty="0">
                <a:latin typeface="Tahoma"/>
                <a:cs typeface="Tahoma"/>
              </a:rPr>
              <a:t>t</a:t>
            </a:r>
            <a:r>
              <a:rPr sz="2400" spc="-70" dirty="0">
                <a:latin typeface="Tahoma"/>
                <a:cs typeface="Tahoma"/>
              </a:rPr>
              <a:t> </a:t>
            </a:r>
            <a:r>
              <a:rPr sz="2400" spc="10" dirty="0">
                <a:latin typeface="Tahoma"/>
                <a:cs typeface="Tahoma"/>
              </a:rPr>
              <a:t>t</a:t>
            </a:r>
            <a:r>
              <a:rPr sz="2400" dirty="0">
                <a:latin typeface="Tahoma"/>
                <a:cs typeface="Tahoma"/>
              </a:rPr>
              <a:t>o</a:t>
            </a:r>
            <a:r>
              <a:rPr sz="2400" spc="-180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v</a:t>
            </a:r>
          </a:p>
          <a:p>
            <a:pPr marL="241300" indent="-228600">
              <a:lnSpc>
                <a:spcPts val="2400"/>
              </a:lnSpc>
              <a:spcBef>
                <a:spcPts val="75"/>
              </a:spcBef>
              <a:buFont typeface="Arial MT"/>
              <a:buChar char="•"/>
              <a:tabLst>
                <a:tab pos="240665" algn="l"/>
                <a:tab pos="241300" algn="l"/>
              </a:tabLst>
            </a:pPr>
            <a:r>
              <a:rPr sz="2400" spc="-10" dirty="0">
                <a:latin typeface="Tahoma"/>
                <a:cs typeface="Tahoma"/>
              </a:rPr>
              <a:t>Adjacent</a:t>
            </a:r>
            <a:r>
              <a:rPr sz="2400" spc="-65" dirty="0">
                <a:latin typeface="Tahoma"/>
                <a:cs typeface="Tahoma"/>
              </a:rPr>
              <a:t> </a:t>
            </a:r>
            <a:r>
              <a:rPr sz="2400" spc="-5" dirty="0" smtClean="0">
                <a:latin typeface="Tahoma"/>
                <a:cs typeface="Tahoma"/>
              </a:rPr>
              <a:t>vertices</a:t>
            </a:r>
            <a:endParaRPr lang="en-US" sz="2400" spc="-5" dirty="0" smtClean="0">
              <a:latin typeface="Tahoma"/>
              <a:cs typeface="Tahoma"/>
            </a:endParaRPr>
          </a:p>
          <a:p>
            <a:pPr marL="812800" lvl="1" indent="-342900">
              <a:lnSpc>
                <a:spcPts val="2400"/>
              </a:lnSpc>
              <a:spcBef>
                <a:spcPts val="75"/>
              </a:spcBef>
              <a:buFont typeface="Wingdings" panose="05000000000000000000" pitchFamily="2" charset="2"/>
              <a:buChar char="§"/>
              <a:tabLst>
                <a:tab pos="240665" algn="l"/>
                <a:tab pos="241300" algn="l"/>
              </a:tabLst>
            </a:pPr>
            <a:r>
              <a:rPr lang="en-US" sz="2400" dirty="0">
                <a:latin typeface="Tahoma"/>
                <a:cs typeface="Tahoma"/>
              </a:rPr>
              <a:t>u</a:t>
            </a:r>
            <a:r>
              <a:rPr lang="en-US" sz="2400" spc="-10" dirty="0">
                <a:latin typeface="Tahoma"/>
                <a:cs typeface="Tahoma"/>
              </a:rPr>
              <a:t> </a:t>
            </a:r>
            <a:r>
              <a:rPr lang="en-US" sz="2400" spc="-5" dirty="0">
                <a:latin typeface="Tahoma"/>
                <a:cs typeface="Tahoma"/>
              </a:rPr>
              <a:t>and</a:t>
            </a:r>
            <a:r>
              <a:rPr lang="en-US" sz="2400" spc="-20" dirty="0">
                <a:latin typeface="Tahoma"/>
                <a:cs typeface="Tahoma"/>
              </a:rPr>
              <a:t> </a:t>
            </a:r>
            <a:r>
              <a:rPr lang="en-US" sz="2400" dirty="0">
                <a:latin typeface="Tahoma"/>
                <a:cs typeface="Tahoma"/>
              </a:rPr>
              <a:t>v</a:t>
            </a:r>
            <a:r>
              <a:rPr lang="en-US" sz="2400" spc="-5" dirty="0">
                <a:latin typeface="Tahoma"/>
                <a:cs typeface="Tahoma"/>
              </a:rPr>
              <a:t> </a:t>
            </a:r>
            <a:r>
              <a:rPr lang="en-US" sz="2400" dirty="0">
                <a:latin typeface="Tahoma"/>
                <a:cs typeface="Tahoma"/>
              </a:rPr>
              <a:t>are</a:t>
            </a:r>
            <a:r>
              <a:rPr lang="en-US" sz="2400" spc="-125" dirty="0">
                <a:latin typeface="Tahoma"/>
                <a:cs typeface="Tahoma"/>
              </a:rPr>
              <a:t> </a:t>
            </a:r>
            <a:r>
              <a:rPr lang="en-US" sz="2400" spc="-70" dirty="0" smtClean="0">
                <a:latin typeface="Tahoma"/>
                <a:cs typeface="Tahoma"/>
              </a:rPr>
              <a:t>adjacent</a:t>
            </a:r>
            <a:endParaRPr lang="en-US" sz="2400" dirty="0">
              <a:latin typeface="Tahoma"/>
              <a:cs typeface="Tahoma"/>
            </a:endParaRPr>
          </a:p>
          <a:p>
            <a:pPr marL="241300" indent="-228600">
              <a:lnSpc>
                <a:spcPts val="2400"/>
              </a:lnSpc>
              <a:spcBef>
                <a:spcPts val="75"/>
              </a:spcBef>
              <a:buFont typeface="Arial MT"/>
              <a:buChar char="•"/>
              <a:tabLst>
                <a:tab pos="240665" algn="l"/>
                <a:tab pos="241300" algn="l"/>
              </a:tabLst>
            </a:pPr>
            <a:r>
              <a:rPr sz="2400" spc="-10" dirty="0" smtClean="0">
                <a:latin typeface="Tahoma"/>
                <a:cs typeface="Tahoma"/>
              </a:rPr>
              <a:t>Degree</a:t>
            </a:r>
            <a:r>
              <a:rPr sz="2400" spc="-45" dirty="0" smtClean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of</a:t>
            </a:r>
            <a:r>
              <a:rPr sz="2400" spc="-25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a</a:t>
            </a:r>
            <a:r>
              <a:rPr sz="2400" spc="-80" dirty="0">
                <a:latin typeface="Tahoma"/>
                <a:cs typeface="Tahoma"/>
              </a:rPr>
              <a:t> </a:t>
            </a:r>
            <a:r>
              <a:rPr sz="2400" spc="-5" dirty="0" smtClean="0">
                <a:latin typeface="Tahoma"/>
                <a:cs typeface="Tahoma"/>
              </a:rPr>
              <a:t>vertex</a:t>
            </a:r>
            <a:endParaRPr lang="en-US" sz="2400" dirty="0">
              <a:latin typeface="Tahoma"/>
              <a:cs typeface="Tahoma"/>
            </a:endParaRPr>
          </a:p>
          <a:p>
            <a:pPr marL="683260" lvl="1" indent="-143510">
              <a:lnSpc>
                <a:spcPts val="2520"/>
              </a:lnSpc>
              <a:buSzPct val="60000"/>
              <a:buFont typeface="Wingdings"/>
              <a:buChar char=""/>
              <a:tabLst>
                <a:tab pos="683260" algn="l"/>
              </a:tabLst>
            </a:pPr>
            <a:r>
              <a:rPr sz="2400" dirty="0" smtClean="0">
                <a:latin typeface="Tahoma"/>
                <a:cs typeface="Tahoma"/>
              </a:rPr>
              <a:t>x</a:t>
            </a:r>
            <a:r>
              <a:rPr sz="2400" spc="5" dirty="0" smtClean="0">
                <a:latin typeface="Tahoma"/>
                <a:cs typeface="Tahoma"/>
              </a:rPr>
              <a:t> </a:t>
            </a:r>
            <a:r>
              <a:rPr sz="2400" spc="-5" dirty="0" smtClean="0">
                <a:latin typeface="Tahoma"/>
                <a:cs typeface="Tahoma"/>
              </a:rPr>
              <a:t>h</a:t>
            </a:r>
            <a:r>
              <a:rPr sz="2400" dirty="0" smtClean="0">
                <a:latin typeface="Tahoma"/>
                <a:cs typeface="Tahoma"/>
              </a:rPr>
              <a:t>as</a:t>
            </a:r>
            <a:r>
              <a:rPr sz="2400" spc="-10" dirty="0" smtClean="0">
                <a:latin typeface="Tahoma"/>
                <a:cs typeface="Tahoma"/>
              </a:rPr>
              <a:t> </a:t>
            </a:r>
            <a:r>
              <a:rPr sz="2400" spc="-90" dirty="0" smtClean="0">
                <a:latin typeface="Tahoma"/>
                <a:cs typeface="Tahoma"/>
              </a:rPr>
              <a:t>d</a:t>
            </a:r>
            <a:r>
              <a:rPr sz="2400" spc="-80" dirty="0" smtClean="0">
                <a:latin typeface="Tahoma"/>
                <a:cs typeface="Tahoma"/>
              </a:rPr>
              <a:t>e</a:t>
            </a:r>
            <a:r>
              <a:rPr sz="2400" spc="-90" dirty="0" smtClean="0">
                <a:latin typeface="Tahoma"/>
                <a:cs typeface="Tahoma"/>
              </a:rPr>
              <a:t>g</a:t>
            </a:r>
            <a:r>
              <a:rPr sz="2400" spc="-70" dirty="0" smtClean="0">
                <a:latin typeface="Tahoma"/>
                <a:cs typeface="Tahoma"/>
              </a:rPr>
              <a:t>re</a:t>
            </a:r>
            <a:r>
              <a:rPr sz="2400" spc="-55" dirty="0" smtClean="0">
                <a:latin typeface="Tahoma"/>
                <a:cs typeface="Tahoma"/>
              </a:rPr>
              <a:t>e</a:t>
            </a:r>
            <a:r>
              <a:rPr sz="2400" spc="-170" dirty="0" smtClean="0">
                <a:latin typeface="Tahoma"/>
                <a:cs typeface="Tahoma"/>
              </a:rPr>
              <a:t> </a:t>
            </a:r>
            <a:r>
              <a:rPr sz="2400" dirty="0" smtClean="0">
                <a:latin typeface="Tahoma"/>
                <a:cs typeface="Tahoma"/>
              </a:rPr>
              <a:t>5</a:t>
            </a:r>
          </a:p>
          <a:p>
            <a:pPr marL="241300" indent="-228600">
              <a:lnSpc>
                <a:spcPct val="100000"/>
              </a:lnSpc>
              <a:spcBef>
                <a:spcPts val="75"/>
              </a:spcBef>
              <a:buFont typeface="Arial MT"/>
              <a:buChar char="•"/>
              <a:tabLst>
                <a:tab pos="240665" algn="l"/>
                <a:tab pos="241300" algn="l"/>
              </a:tabLst>
            </a:pPr>
            <a:r>
              <a:rPr sz="2400" spc="-10" dirty="0" smtClean="0">
                <a:latin typeface="Tahoma"/>
                <a:cs typeface="Tahoma"/>
              </a:rPr>
              <a:t>Parallel</a:t>
            </a:r>
            <a:r>
              <a:rPr sz="2400" spc="-80" dirty="0" smtClean="0">
                <a:latin typeface="Tahoma"/>
                <a:cs typeface="Tahoma"/>
              </a:rPr>
              <a:t> </a:t>
            </a:r>
            <a:r>
              <a:rPr sz="2400" spc="-10" dirty="0" smtClean="0">
                <a:latin typeface="Tahoma"/>
                <a:cs typeface="Tahoma"/>
              </a:rPr>
              <a:t>edges</a:t>
            </a:r>
            <a:endParaRPr sz="2400" dirty="0" smtClean="0">
              <a:latin typeface="Tahoma"/>
              <a:cs typeface="Tahoma"/>
            </a:endParaRPr>
          </a:p>
          <a:p>
            <a:pPr marL="683260" lvl="1" indent="-143510">
              <a:lnSpc>
                <a:spcPct val="100000"/>
              </a:lnSpc>
              <a:spcBef>
                <a:spcPts val="20"/>
              </a:spcBef>
              <a:buSzPct val="60000"/>
              <a:buFont typeface="Wingdings"/>
              <a:buChar char=""/>
              <a:tabLst>
                <a:tab pos="683260" algn="l"/>
              </a:tabLst>
            </a:pPr>
            <a:r>
              <a:rPr sz="2400" dirty="0" smtClean="0">
                <a:latin typeface="Tahoma"/>
                <a:cs typeface="Tahoma"/>
              </a:rPr>
              <a:t>h</a:t>
            </a:r>
            <a:r>
              <a:rPr sz="2400" spc="5" dirty="0" smtClean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a</a:t>
            </a:r>
            <a:r>
              <a:rPr sz="2400" spc="-5" dirty="0">
                <a:latin typeface="Tahoma"/>
                <a:cs typeface="Tahoma"/>
              </a:rPr>
              <a:t>n</a:t>
            </a:r>
            <a:r>
              <a:rPr sz="2400" dirty="0">
                <a:latin typeface="Tahoma"/>
                <a:cs typeface="Tahoma"/>
              </a:rPr>
              <a:t>d</a:t>
            </a:r>
            <a:r>
              <a:rPr sz="2400" spc="-10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i</a:t>
            </a:r>
            <a:r>
              <a:rPr sz="2400" spc="5" dirty="0">
                <a:latin typeface="Tahoma"/>
                <a:cs typeface="Tahoma"/>
              </a:rPr>
              <a:t> a</a:t>
            </a:r>
            <a:r>
              <a:rPr sz="2400" spc="-5" dirty="0">
                <a:latin typeface="Tahoma"/>
                <a:cs typeface="Tahoma"/>
              </a:rPr>
              <a:t>r</a:t>
            </a:r>
            <a:r>
              <a:rPr sz="2400" dirty="0">
                <a:latin typeface="Tahoma"/>
                <a:cs typeface="Tahoma"/>
              </a:rPr>
              <a:t>e</a:t>
            </a:r>
            <a:r>
              <a:rPr sz="2400" spc="5" dirty="0">
                <a:latin typeface="Tahoma"/>
                <a:cs typeface="Tahoma"/>
              </a:rPr>
              <a:t> </a:t>
            </a:r>
            <a:r>
              <a:rPr sz="2400" spc="-85" dirty="0">
                <a:latin typeface="Tahoma"/>
                <a:cs typeface="Tahoma"/>
              </a:rPr>
              <a:t>p</a:t>
            </a:r>
            <a:r>
              <a:rPr sz="2400" spc="-70" dirty="0">
                <a:latin typeface="Tahoma"/>
                <a:cs typeface="Tahoma"/>
              </a:rPr>
              <a:t>a</a:t>
            </a:r>
            <a:r>
              <a:rPr sz="2400" spc="-90" dirty="0">
                <a:latin typeface="Tahoma"/>
                <a:cs typeface="Tahoma"/>
              </a:rPr>
              <a:t>r</a:t>
            </a:r>
            <a:r>
              <a:rPr sz="2400" spc="-70" dirty="0">
                <a:latin typeface="Tahoma"/>
                <a:cs typeface="Tahoma"/>
              </a:rPr>
              <a:t>a</a:t>
            </a:r>
            <a:r>
              <a:rPr sz="2400" spc="-30" dirty="0">
                <a:latin typeface="Tahoma"/>
                <a:cs typeface="Tahoma"/>
              </a:rPr>
              <a:t>l</a:t>
            </a:r>
            <a:r>
              <a:rPr sz="2400" spc="-35" dirty="0">
                <a:latin typeface="Tahoma"/>
                <a:cs typeface="Tahoma"/>
              </a:rPr>
              <a:t>l</a:t>
            </a:r>
            <a:r>
              <a:rPr sz="2400" spc="-75" dirty="0">
                <a:latin typeface="Tahoma"/>
                <a:cs typeface="Tahoma"/>
              </a:rPr>
              <a:t>e</a:t>
            </a:r>
            <a:r>
              <a:rPr sz="2400" spc="-25" dirty="0">
                <a:latin typeface="Tahoma"/>
                <a:cs typeface="Tahoma"/>
              </a:rPr>
              <a:t>l</a:t>
            </a:r>
            <a:r>
              <a:rPr sz="2400" spc="-225" dirty="0">
                <a:latin typeface="Tahoma"/>
                <a:cs typeface="Tahoma"/>
              </a:rPr>
              <a:t> </a:t>
            </a:r>
            <a:r>
              <a:rPr sz="2400" spc="-85" dirty="0">
                <a:latin typeface="Tahoma"/>
                <a:cs typeface="Tahoma"/>
              </a:rPr>
              <a:t>e</a:t>
            </a:r>
            <a:r>
              <a:rPr sz="2400" spc="-95" dirty="0">
                <a:latin typeface="Tahoma"/>
                <a:cs typeface="Tahoma"/>
              </a:rPr>
              <a:t>dg</a:t>
            </a:r>
            <a:r>
              <a:rPr sz="2400" spc="-80" dirty="0">
                <a:latin typeface="Tahoma"/>
                <a:cs typeface="Tahoma"/>
              </a:rPr>
              <a:t>es</a:t>
            </a:r>
            <a:endParaRPr sz="2400" dirty="0">
              <a:latin typeface="Tahoma"/>
              <a:cs typeface="Tahoma"/>
            </a:endParaRPr>
          </a:p>
          <a:p>
            <a:pPr marL="241300" indent="-228600">
              <a:lnSpc>
                <a:spcPts val="2400"/>
              </a:lnSpc>
              <a:spcBef>
                <a:spcPts val="75"/>
              </a:spcBef>
              <a:buFont typeface="Arial MT"/>
              <a:buChar char="•"/>
              <a:tabLst>
                <a:tab pos="240665" algn="l"/>
                <a:tab pos="241300" algn="l"/>
              </a:tabLst>
            </a:pPr>
            <a:r>
              <a:rPr sz="2400" spc="-10" dirty="0">
                <a:latin typeface="Tahoma"/>
                <a:cs typeface="Tahoma"/>
              </a:rPr>
              <a:t>Self-loop</a:t>
            </a:r>
            <a:endParaRPr sz="2400" dirty="0">
              <a:latin typeface="Tahoma"/>
              <a:cs typeface="Tahoma"/>
            </a:endParaRPr>
          </a:p>
          <a:p>
            <a:pPr marL="683260" lvl="1" indent="-143510">
              <a:lnSpc>
                <a:spcPts val="2520"/>
              </a:lnSpc>
              <a:buSzPct val="60000"/>
              <a:buFont typeface="Wingdings"/>
              <a:buChar char=""/>
              <a:tabLst>
                <a:tab pos="683260" algn="l"/>
              </a:tabLst>
            </a:pPr>
            <a:r>
              <a:rPr sz="2400" dirty="0">
                <a:latin typeface="Tahoma"/>
                <a:cs typeface="Tahoma"/>
              </a:rPr>
              <a:t>j</a:t>
            </a:r>
            <a:r>
              <a:rPr sz="2400" spc="-30" dirty="0">
                <a:latin typeface="Tahoma"/>
                <a:cs typeface="Tahoma"/>
              </a:rPr>
              <a:t> </a:t>
            </a:r>
            <a:r>
              <a:rPr sz="2400" spc="5" dirty="0">
                <a:latin typeface="Tahoma"/>
                <a:cs typeface="Tahoma"/>
              </a:rPr>
              <a:t>is</a:t>
            </a:r>
            <a:r>
              <a:rPr sz="2400" spc="-20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a</a:t>
            </a:r>
            <a:r>
              <a:rPr sz="2400" spc="-85" dirty="0">
                <a:latin typeface="Tahoma"/>
                <a:cs typeface="Tahoma"/>
              </a:rPr>
              <a:t> </a:t>
            </a:r>
            <a:r>
              <a:rPr sz="2400" spc="-65" dirty="0">
                <a:latin typeface="Tahoma"/>
                <a:cs typeface="Tahoma"/>
              </a:rPr>
              <a:t>self-loop</a:t>
            </a:r>
            <a:endParaRPr sz="2400" dirty="0">
              <a:latin typeface="Tahoma"/>
              <a:cs typeface="Tahoma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719492" y="1666354"/>
            <a:ext cx="4634307" cy="4170876"/>
          </a:xfrm>
          <a:prstGeom prst="rect">
            <a:avLst/>
          </a:prstGeom>
        </p:spPr>
      </p:pic>
      <p:sp>
        <p:nvSpPr>
          <p:cNvPr id="5" name="Slide Number Placeholder 4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38099">
              <a:lnSpc>
                <a:spcPts val="1535"/>
              </a:lnSpc>
            </a:pPr>
            <a:fld id="{81D60167-4931-47E6-BA6A-407CBD079E47}" type="slidenum">
              <a:rPr lang="en-US" smtClean="0"/>
              <a:pPr marL="38099">
                <a:lnSpc>
                  <a:spcPts val="1535"/>
                </a:lnSpc>
              </a:pPr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263898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611124"/>
            <a:ext cx="2785110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40" dirty="0"/>
              <a:t>Terminology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25500" y="1812035"/>
            <a:ext cx="8470900" cy="4428776"/>
          </a:xfrm>
          <a:prstGeom prst="rect">
            <a:avLst/>
          </a:prstGeom>
        </p:spPr>
        <p:txBody>
          <a:bodyPr vert="horz" wrap="square" lIns="0" tIns="40005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315"/>
              </a:spcBef>
              <a:buFont typeface="Arial MT"/>
              <a:buChar char="•"/>
              <a:tabLst>
                <a:tab pos="240665" algn="l"/>
                <a:tab pos="241300" algn="l"/>
              </a:tabLst>
            </a:pPr>
            <a:r>
              <a:rPr lang="en-US" sz="2400" spc="-15" dirty="0">
                <a:solidFill>
                  <a:srgbClr val="C00000"/>
                </a:solidFill>
                <a:latin typeface="Tahoma"/>
                <a:cs typeface="Tahoma"/>
              </a:rPr>
              <a:t>Out-degree</a:t>
            </a:r>
            <a:r>
              <a:rPr lang="en-US" sz="2400" spc="-15" dirty="0">
                <a:latin typeface="Tahoma"/>
                <a:cs typeface="Tahoma"/>
              </a:rPr>
              <a:t> </a:t>
            </a:r>
            <a:r>
              <a:rPr lang="en-US" sz="2400" spc="-15" dirty="0" smtClean="0">
                <a:latin typeface="Tahoma"/>
                <a:cs typeface="Tahoma"/>
              </a:rPr>
              <a:t>: </a:t>
            </a:r>
            <a:r>
              <a:rPr sz="2400" spc="-10" dirty="0" smtClean="0">
                <a:latin typeface="Tahoma"/>
                <a:cs typeface="Tahoma"/>
              </a:rPr>
              <a:t>Outgoing</a:t>
            </a:r>
            <a:r>
              <a:rPr sz="2400" spc="-25" dirty="0" smtClean="0">
                <a:latin typeface="Tahoma"/>
                <a:cs typeface="Tahoma"/>
              </a:rPr>
              <a:t> </a:t>
            </a:r>
            <a:r>
              <a:rPr sz="2400" spc="-10" dirty="0">
                <a:latin typeface="Tahoma"/>
                <a:cs typeface="Tahoma"/>
              </a:rPr>
              <a:t>edges</a:t>
            </a:r>
            <a:r>
              <a:rPr sz="2400" spc="-25" dirty="0">
                <a:latin typeface="Tahoma"/>
                <a:cs typeface="Tahoma"/>
              </a:rPr>
              <a:t> </a:t>
            </a:r>
            <a:r>
              <a:rPr sz="2400" spc="-5" dirty="0">
                <a:latin typeface="Tahoma"/>
                <a:cs typeface="Tahoma"/>
              </a:rPr>
              <a:t>of</a:t>
            </a:r>
            <a:r>
              <a:rPr sz="2400" spc="-30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a</a:t>
            </a:r>
            <a:r>
              <a:rPr sz="2400" spc="-55" dirty="0">
                <a:latin typeface="Tahoma"/>
                <a:cs typeface="Tahoma"/>
              </a:rPr>
              <a:t> </a:t>
            </a:r>
            <a:r>
              <a:rPr sz="2400" spc="-10" dirty="0" smtClean="0">
                <a:latin typeface="Tahoma"/>
                <a:cs typeface="Tahoma"/>
              </a:rPr>
              <a:t>vertex</a:t>
            </a:r>
            <a:endParaRPr lang="en-US" sz="2400" dirty="0">
              <a:latin typeface="Tahoma"/>
              <a:cs typeface="Tahoma"/>
            </a:endParaRPr>
          </a:p>
          <a:p>
            <a:pPr marL="812800" lvl="1" indent="-342900">
              <a:spcBef>
                <a:spcPts val="315"/>
              </a:spcBef>
              <a:buFont typeface="Wingdings" panose="05000000000000000000" pitchFamily="2" charset="2"/>
              <a:buChar char="§"/>
              <a:tabLst>
                <a:tab pos="240665" algn="l"/>
                <a:tab pos="241300" algn="l"/>
              </a:tabLst>
            </a:pPr>
            <a:r>
              <a:rPr sz="2400" spc="-5" dirty="0" smtClean="0">
                <a:latin typeface="Tahoma"/>
                <a:cs typeface="Tahoma"/>
              </a:rPr>
              <a:t>(a</a:t>
            </a:r>
            <a:r>
              <a:rPr sz="2400" spc="-5" dirty="0">
                <a:latin typeface="Tahoma"/>
                <a:cs typeface="Tahoma"/>
              </a:rPr>
              <a:t>,</a:t>
            </a:r>
            <a:r>
              <a:rPr sz="2400" spc="-15" dirty="0">
                <a:latin typeface="Tahoma"/>
                <a:cs typeface="Tahoma"/>
              </a:rPr>
              <a:t> </a:t>
            </a:r>
            <a:r>
              <a:rPr sz="2400" spc="-5" dirty="0">
                <a:latin typeface="Tahoma"/>
                <a:cs typeface="Tahoma"/>
              </a:rPr>
              <a:t>b)</a:t>
            </a:r>
            <a:r>
              <a:rPr sz="2400" dirty="0">
                <a:latin typeface="Tahoma"/>
                <a:cs typeface="Tahoma"/>
              </a:rPr>
              <a:t> </a:t>
            </a:r>
            <a:r>
              <a:rPr sz="2400" spc="-5" dirty="0">
                <a:latin typeface="Tahoma"/>
                <a:cs typeface="Tahoma"/>
              </a:rPr>
              <a:t>and</a:t>
            </a:r>
            <a:r>
              <a:rPr sz="2400" spc="-15" dirty="0">
                <a:latin typeface="Tahoma"/>
                <a:cs typeface="Tahoma"/>
              </a:rPr>
              <a:t> </a:t>
            </a:r>
            <a:r>
              <a:rPr sz="2400" spc="-5" dirty="0">
                <a:latin typeface="Tahoma"/>
                <a:cs typeface="Tahoma"/>
              </a:rPr>
              <a:t>(a,</a:t>
            </a:r>
            <a:r>
              <a:rPr sz="2400" spc="-10" dirty="0">
                <a:latin typeface="Tahoma"/>
                <a:cs typeface="Tahoma"/>
              </a:rPr>
              <a:t> </a:t>
            </a:r>
            <a:r>
              <a:rPr sz="2400" spc="-5" dirty="0">
                <a:latin typeface="Tahoma"/>
                <a:cs typeface="Tahoma"/>
              </a:rPr>
              <a:t>c)</a:t>
            </a:r>
            <a:r>
              <a:rPr sz="2400" spc="-10" dirty="0">
                <a:latin typeface="Tahoma"/>
                <a:cs typeface="Tahoma"/>
              </a:rPr>
              <a:t> </a:t>
            </a:r>
            <a:r>
              <a:rPr sz="2400" spc="-5" dirty="0">
                <a:latin typeface="Tahoma"/>
                <a:cs typeface="Tahoma"/>
              </a:rPr>
              <a:t>are</a:t>
            </a:r>
            <a:r>
              <a:rPr sz="2400" spc="-75" dirty="0">
                <a:latin typeface="Tahoma"/>
                <a:cs typeface="Tahoma"/>
              </a:rPr>
              <a:t> </a:t>
            </a:r>
            <a:r>
              <a:rPr sz="2400" spc="-10" dirty="0" smtClean="0">
                <a:latin typeface="Tahoma"/>
                <a:cs typeface="Tahoma"/>
              </a:rPr>
              <a:t>outgoing</a:t>
            </a:r>
            <a:r>
              <a:rPr lang="en-US" sz="2400" spc="-10" dirty="0" smtClean="0">
                <a:latin typeface="Tahoma"/>
                <a:cs typeface="Tahoma"/>
              </a:rPr>
              <a:t> </a:t>
            </a:r>
            <a:r>
              <a:rPr sz="2400" spc="-10" dirty="0" smtClean="0">
                <a:latin typeface="Tahoma"/>
                <a:cs typeface="Tahoma"/>
              </a:rPr>
              <a:t>edges</a:t>
            </a:r>
            <a:r>
              <a:rPr sz="2400" spc="-20" dirty="0" smtClean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of</a:t>
            </a:r>
            <a:r>
              <a:rPr sz="2400" spc="-20" dirty="0">
                <a:latin typeface="Tahoma"/>
                <a:cs typeface="Tahoma"/>
              </a:rPr>
              <a:t> </a:t>
            </a:r>
            <a:r>
              <a:rPr sz="2400" spc="-5" dirty="0">
                <a:latin typeface="Tahoma"/>
                <a:cs typeface="Tahoma"/>
              </a:rPr>
              <a:t>vertex</a:t>
            </a:r>
            <a:r>
              <a:rPr sz="2400" spc="-110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a</a:t>
            </a:r>
          </a:p>
          <a:p>
            <a:pPr marL="241300" indent="-228600">
              <a:lnSpc>
                <a:spcPct val="100000"/>
              </a:lnSpc>
              <a:spcBef>
                <a:spcPts val="95"/>
              </a:spcBef>
              <a:buFont typeface="Arial MT"/>
              <a:buChar char="•"/>
              <a:tabLst>
                <a:tab pos="240665" algn="l"/>
                <a:tab pos="241300" algn="l"/>
              </a:tabLst>
            </a:pPr>
            <a:r>
              <a:rPr lang="en-US" sz="2400" spc="-15" dirty="0" smtClean="0">
                <a:solidFill>
                  <a:srgbClr val="C00000"/>
                </a:solidFill>
                <a:latin typeface="Tahoma"/>
                <a:cs typeface="Tahoma"/>
              </a:rPr>
              <a:t>In-degree </a:t>
            </a:r>
            <a:r>
              <a:rPr lang="en-US" sz="2400" spc="-15" dirty="0" smtClean="0">
                <a:latin typeface="Tahoma"/>
                <a:cs typeface="Tahoma"/>
              </a:rPr>
              <a:t>: </a:t>
            </a:r>
            <a:r>
              <a:rPr sz="2400" spc="-10" dirty="0" smtClean="0">
                <a:latin typeface="Tahoma"/>
                <a:cs typeface="Tahoma"/>
              </a:rPr>
              <a:t>Incoming</a:t>
            </a:r>
            <a:r>
              <a:rPr sz="2400" spc="-30" dirty="0" smtClean="0">
                <a:latin typeface="Tahoma"/>
                <a:cs typeface="Tahoma"/>
              </a:rPr>
              <a:t> </a:t>
            </a:r>
            <a:r>
              <a:rPr sz="2400" spc="-10" dirty="0">
                <a:latin typeface="Tahoma"/>
                <a:cs typeface="Tahoma"/>
              </a:rPr>
              <a:t>edges</a:t>
            </a:r>
            <a:r>
              <a:rPr sz="2400" spc="-25" dirty="0">
                <a:latin typeface="Tahoma"/>
                <a:cs typeface="Tahoma"/>
              </a:rPr>
              <a:t> </a:t>
            </a:r>
            <a:r>
              <a:rPr sz="2400" spc="-5" dirty="0">
                <a:latin typeface="Tahoma"/>
                <a:cs typeface="Tahoma"/>
              </a:rPr>
              <a:t>of</a:t>
            </a:r>
            <a:r>
              <a:rPr sz="2400" spc="-25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a</a:t>
            </a:r>
            <a:r>
              <a:rPr sz="2400" spc="-60" dirty="0">
                <a:latin typeface="Tahoma"/>
                <a:cs typeface="Tahoma"/>
              </a:rPr>
              <a:t> </a:t>
            </a:r>
            <a:r>
              <a:rPr sz="2400" spc="-10" dirty="0" smtClean="0">
                <a:latin typeface="Tahoma"/>
                <a:cs typeface="Tahoma"/>
              </a:rPr>
              <a:t>vertex</a:t>
            </a:r>
            <a:endParaRPr lang="en-US" sz="2400" spc="-10" dirty="0" smtClean="0">
              <a:latin typeface="Tahoma"/>
              <a:cs typeface="Tahoma"/>
            </a:endParaRPr>
          </a:p>
          <a:p>
            <a:pPr marL="812800" lvl="1" indent="-342900">
              <a:spcBef>
                <a:spcPts val="95"/>
              </a:spcBef>
              <a:buFont typeface="Wingdings" panose="05000000000000000000" pitchFamily="2" charset="2"/>
              <a:buChar char="§"/>
              <a:tabLst>
                <a:tab pos="240665" algn="l"/>
                <a:tab pos="241300" algn="l"/>
              </a:tabLst>
            </a:pPr>
            <a:r>
              <a:rPr lang="en-US" sz="2400" spc="-10" dirty="0">
                <a:latin typeface="Tahoma"/>
                <a:cs typeface="Tahoma"/>
              </a:rPr>
              <a:t>(</a:t>
            </a:r>
            <a:r>
              <a:rPr lang="en-US" sz="2400" spc="-40" dirty="0">
                <a:latin typeface="Tahoma"/>
                <a:cs typeface="Tahoma"/>
              </a:rPr>
              <a:t>b</a:t>
            </a:r>
            <a:r>
              <a:rPr lang="en-US" sz="2400" dirty="0">
                <a:latin typeface="Tahoma"/>
                <a:cs typeface="Tahoma"/>
              </a:rPr>
              <a:t>,</a:t>
            </a:r>
            <a:r>
              <a:rPr lang="en-US" sz="2400" spc="-20" dirty="0">
                <a:latin typeface="Tahoma"/>
                <a:cs typeface="Tahoma"/>
              </a:rPr>
              <a:t> </a:t>
            </a:r>
            <a:r>
              <a:rPr lang="en-US" sz="2400" spc="-5" dirty="0">
                <a:latin typeface="Tahoma"/>
                <a:cs typeface="Tahoma"/>
              </a:rPr>
              <a:t>c</a:t>
            </a:r>
            <a:r>
              <a:rPr lang="en-US" sz="2400" spc="-10" dirty="0">
                <a:latin typeface="Tahoma"/>
                <a:cs typeface="Tahoma"/>
              </a:rPr>
              <a:t>)</a:t>
            </a:r>
            <a:r>
              <a:rPr lang="en-US" sz="2400" dirty="0">
                <a:latin typeface="Tahoma"/>
                <a:cs typeface="Tahoma"/>
              </a:rPr>
              <a:t>,</a:t>
            </a:r>
            <a:r>
              <a:rPr lang="en-US" sz="2400" spc="-20" dirty="0">
                <a:latin typeface="Tahoma"/>
                <a:cs typeface="Tahoma"/>
              </a:rPr>
              <a:t> </a:t>
            </a:r>
            <a:r>
              <a:rPr lang="en-US" sz="2400" spc="-10" dirty="0">
                <a:latin typeface="Tahoma"/>
                <a:cs typeface="Tahoma"/>
              </a:rPr>
              <a:t>(d</a:t>
            </a:r>
            <a:r>
              <a:rPr lang="en-US" sz="2400" dirty="0">
                <a:latin typeface="Tahoma"/>
                <a:cs typeface="Tahoma"/>
              </a:rPr>
              <a:t>,</a:t>
            </a:r>
            <a:r>
              <a:rPr lang="en-US" sz="2400" spc="-20" dirty="0">
                <a:latin typeface="Tahoma"/>
                <a:cs typeface="Tahoma"/>
              </a:rPr>
              <a:t> </a:t>
            </a:r>
            <a:r>
              <a:rPr lang="en-US" sz="2400" spc="-5" dirty="0">
                <a:latin typeface="Tahoma"/>
                <a:cs typeface="Tahoma"/>
              </a:rPr>
              <a:t>c</a:t>
            </a:r>
            <a:r>
              <a:rPr lang="en-US" sz="2400" dirty="0">
                <a:latin typeface="Tahoma"/>
                <a:cs typeface="Tahoma"/>
              </a:rPr>
              <a:t>)</a:t>
            </a:r>
            <a:r>
              <a:rPr lang="en-US" sz="2400" spc="-15" dirty="0">
                <a:latin typeface="Tahoma"/>
                <a:cs typeface="Tahoma"/>
              </a:rPr>
              <a:t> </a:t>
            </a:r>
            <a:r>
              <a:rPr lang="en-US" sz="2400" spc="-5" dirty="0">
                <a:latin typeface="Tahoma"/>
                <a:cs typeface="Tahoma"/>
              </a:rPr>
              <a:t>a</a:t>
            </a:r>
            <a:r>
              <a:rPr lang="en-US" sz="2400" spc="-10" dirty="0">
                <a:latin typeface="Tahoma"/>
                <a:cs typeface="Tahoma"/>
              </a:rPr>
              <a:t>n</a:t>
            </a:r>
            <a:r>
              <a:rPr lang="en-US" sz="2400" dirty="0">
                <a:latin typeface="Tahoma"/>
                <a:cs typeface="Tahoma"/>
              </a:rPr>
              <a:t>d</a:t>
            </a:r>
            <a:r>
              <a:rPr lang="en-US" sz="2400" spc="-15" dirty="0">
                <a:latin typeface="Tahoma"/>
                <a:cs typeface="Tahoma"/>
              </a:rPr>
              <a:t> </a:t>
            </a:r>
            <a:r>
              <a:rPr lang="en-US" sz="2400" spc="-10" dirty="0">
                <a:latin typeface="Tahoma"/>
                <a:cs typeface="Tahoma"/>
              </a:rPr>
              <a:t>(</a:t>
            </a:r>
            <a:r>
              <a:rPr lang="en-US" sz="2400" spc="-5" dirty="0">
                <a:latin typeface="Tahoma"/>
                <a:cs typeface="Tahoma"/>
              </a:rPr>
              <a:t>a</a:t>
            </a:r>
            <a:r>
              <a:rPr lang="en-US" sz="2400" dirty="0">
                <a:latin typeface="Tahoma"/>
                <a:cs typeface="Tahoma"/>
              </a:rPr>
              <a:t>,</a:t>
            </a:r>
            <a:r>
              <a:rPr lang="en-US" sz="2400" spc="-20" dirty="0">
                <a:latin typeface="Tahoma"/>
                <a:cs typeface="Tahoma"/>
              </a:rPr>
              <a:t> </a:t>
            </a:r>
            <a:r>
              <a:rPr lang="en-US" sz="2400" spc="-5" dirty="0">
                <a:latin typeface="Tahoma"/>
                <a:cs typeface="Tahoma"/>
              </a:rPr>
              <a:t>c</a:t>
            </a:r>
            <a:r>
              <a:rPr lang="en-US" sz="2400" dirty="0">
                <a:latin typeface="Tahoma"/>
                <a:cs typeface="Tahoma"/>
              </a:rPr>
              <a:t>)</a:t>
            </a:r>
            <a:r>
              <a:rPr lang="en-US" sz="2400" spc="-15" dirty="0">
                <a:latin typeface="Tahoma"/>
                <a:cs typeface="Tahoma"/>
              </a:rPr>
              <a:t> </a:t>
            </a:r>
            <a:r>
              <a:rPr lang="en-US" sz="2400" dirty="0">
                <a:latin typeface="Tahoma"/>
                <a:cs typeface="Tahoma"/>
              </a:rPr>
              <a:t>a</a:t>
            </a:r>
            <a:r>
              <a:rPr lang="en-US" sz="2400" spc="-5" dirty="0">
                <a:latin typeface="Tahoma"/>
                <a:cs typeface="Tahoma"/>
              </a:rPr>
              <a:t>r</a:t>
            </a:r>
            <a:r>
              <a:rPr lang="en-US" sz="2400" dirty="0">
                <a:latin typeface="Tahoma"/>
                <a:cs typeface="Tahoma"/>
              </a:rPr>
              <a:t>e	</a:t>
            </a:r>
            <a:r>
              <a:rPr lang="en-US" sz="2400" spc="5" dirty="0">
                <a:latin typeface="Tahoma"/>
                <a:cs typeface="Tahoma"/>
              </a:rPr>
              <a:t>i</a:t>
            </a:r>
            <a:r>
              <a:rPr lang="en-US" sz="2400" spc="-5" dirty="0">
                <a:latin typeface="Tahoma"/>
                <a:cs typeface="Tahoma"/>
              </a:rPr>
              <a:t>n</a:t>
            </a:r>
            <a:r>
              <a:rPr lang="en-US" sz="2400" dirty="0">
                <a:latin typeface="Tahoma"/>
                <a:cs typeface="Tahoma"/>
              </a:rPr>
              <a:t>co</a:t>
            </a:r>
            <a:r>
              <a:rPr lang="en-US" sz="2400" spc="-5" dirty="0">
                <a:latin typeface="Tahoma"/>
                <a:cs typeface="Tahoma"/>
              </a:rPr>
              <a:t>m</a:t>
            </a:r>
            <a:r>
              <a:rPr lang="en-US" sz="2400" spc="5" dirty="0">
                <a:latin typeface="Tahoma"/>
                <a:cs typeface="Tahoma"/>
              </a:rPr>
              <a:t>i</a:t>
            </a:r>
            <a:r>
              <a:rPr lang="en-US" sz="2400" spc="-5" dirty="0">
                <a:latin typeface="Tahoma"/>
                <a:cs typeface="Tahoma"/>
              </a:rPr>
              <a:t>n</a:t>
            </a:r>
            <a:r>
              <a:rPr lang="en-US" sz="2400" dirty="0">
                <a:latin typeface="Tahoma"/>
                <a:cs typeface="Tahoma"/>
              </a:rPr>
              <a:t>g</a:t>
            </a:r>
            <a:r>
              <a:rPr lang="en-US" sz="2400" spc="-10" dirty="0">
                <a:latin typeface="Tahoma"/>
                <a:cs typeface="Tahoma"/>
              </a:rPr>
              <a:t> </a:t>
            </a:r>
            <a:r>
              <a:rPr lang="en-US" sz="2400" spc="-5" dirty="0">
                <a:latin typeface="Tahoma"/>
                <a:cs typeface="Tahoma"/>
              </a:rPr>
              <a:t>e</a:t>
            </a:r>
            <a:r>
              <a:rPr lang="en-US" sz="2400" spc="-10" dirty="0">
                <a:latin typeface="Tahoma"/>
                <a:cs typeface="Tahoma"/>
              </a:rPr>
              <a:t>dg</a:t>
            </a:r>
            <a:r>
              <a:rPr lang="en-US" sz="2400" spc="-5" dirty="0">
                <a:latin typeface="Tahoma"/>
                <a:cs typeface="Tahoma"/>
              </a:rPr>
              <a:t>e</a:t>
            </a:r>
            <a:r>
              <a:rPr lang="en-US" sz="2400" dirty="0">
                <a:latin typeface="Tahoma"/>
                <a:cs typeface="Tahoma"/>
              </a:rPr>
              <a:t>s</a:t>
            </a:r>
            <a:r>
              <a:rPr lang="en-US" sz="2400" spc="-5" dirty="0">
                <a:latin typeface="Tahoma"/>
                <a:cs typeface="Tahoma"/>
              </a:rPr>
              <a:t> </a:t>
            </a:r>
            <a:r>
              <a:rPr lang="en-US" sz="2400" dirty="0">
                <a:latin typeface="Tahoma"/>
                <a:cs typeface="Tahoma"/>
              </a:rPr>
              <a:t>of </a:t>
            </a:r>
            <a:r>
              <a:rPr lang="en-US" sz="2400" spc="-15" dirty="0">
                <a:latin typeface="Tahoma"/>
                <a:cs typeface="Tahoma"/>
              </a:rPr>
              <a:t>v</a:t>
            </a:r>
            <a:r>
              <a:rPr lang="en-US" sz="2400" spc="-5" dirty="0">
                <a:latin typeface="Tahoma"/>
                <a:cs typeface="Tahoma"/>
              </a:rPr>
              <a:t>e</a:t>
            </a:r>
            <a:r>
              <a:rPr lang="en-US" sz="2400" dirty="0">
                <a:latin typeface="Tahoma"/>
                <a:cs typeface="Tahoma"/>
              </a:rPr>
              <a:t>r</a:t>
            </a:r>
            <a:r>
              <a:rPr lang="en-US" sz="2400" spc="5" dirty="0">
                <a:latin typeface="Tahoma"/>
                <a:cs typeface="Tahoma"/>
              </a:rPr>
              <a:t>t</a:t>
            </a:r>
            <a:r>
              <a:rPr lang="en-US" sz="2400" spc="-5" dirty="0">
                <a:latin typeface="Tahoma"/>
                <a:cs typeface="Tahoma"/>
              </a:rPr>
              <a:t>e</a:t>
            </a:r>
            <a:r>
              <a:rPr lang="en-US" sz="2400" dirty="0">
                <a:latin typeface="Tahoma"/>
                <a:cs typeface="Tahoma"/>
              </a:rPr>
              <a:t>x</a:t>
            </a:r>
            <a:r>
              <a:rPr lang="en-US" sz="2400" spc="-165" dirty="0">
                <a:latin typeface="Tahoma"/>
                <a:cs typeface="Tahoma"/>
              </a:rPr>
              <a:t> </a:t>
            </a:r>
            <a:r>
              <a:rPr lang="en-US" sz="2400" dirty="0" smtClean="0">
                <a:latin typeface="Tahoma"/>
                <a:cs typeface="Tahoma"/>
              </a:rPr>
              <a:t>c</a:t>
            </a:r>
          </a:p>
          <a:p>
            <a:pPr marL="469900" lvl="1">
              <a:spcBef>
                <a:spcPts val="95"/>
              </a:spcBef>
              <a:tabLst>
                <a:tab pos="240665" algn="l"/>
                <a:tab pos="241300" algn="l"/>
              </a:tabLst>
            </a:pPr>
            <a:endParaRPr lang="en-US" sz="2400" dirty="0">
              <a:latin typeface="Tahoma"/>
              <a:cs typeface="Tahoma"/>
            </a:endParaRPr>
          </a:p>
          <a:p>
            <a:pPr marL="241300" indent="-228600">
              <a:lnSpc>
                <a:spcPct val="100000"/>
              </a:lnSpc>
              <a:spcBef>
                <a:spcPts val="95"/>
              </a:spcBef>
              <a:buFont typeface="Arial MT"/>
              <a:buChar char="•"/>
              <a:tabLst>
                <a:tab pos="240665" algn="l"/>
                <a:tab pos="241300" algn="l"/>
              </a:tabLst>
            </a:pPr>
            <a:r>
              <a:rPr sz="2400" spc="-15" dirty="0" smtClean="0">
                <a:latin typeface="Tahoma"/>
                <a:cs typeface="Tahoma"/>
              </a:rPr>
              <a:t>In-degree </a:t>
            </a:r>
            <a:r>
              <a:rPr sz="2400" spc="-5" dirty="0">
                <a:latin typeface="Tahoma"/>
                <a:cs typeface="Tahoma"/>
              </a:rPr>
              <a:t>of</a:t>
            </a:r>
            <a:r>
              <a:rPr sz="2400" spc="-15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a</a:t>
            </a:r>
            <a:r>
              <a:rPr sz="2400" spc="-45" dirty="0">
                <a:latin typeface="Tahoma"/>
                <a:cs typeface="Tahoma"/>
              </a:rPr>
              <a:t> </a:t>
            </a:r>
            <a:r>
              <a:rPr sz="2400" spc="-10" dirty="0" smtClean="0">
                <a:latin typeface="Tahoma"/>
                <a:cs typeface="Tahoma"/>
              </a:rPr>
              <a:t>vertex</a:t>
            </a:r>
            <a:endParaRPr lang="en-US" sz="2400" spc="-10" dirty="0" smtClean="0">
              <a:latin typeface="Tahoma"/>
              <a:cs typeface="Tahoma"/>
            </a:endParaRPr>
          </a:p>
          <a:p>
            <a:pPr marL="143510" marR="4220845" lvl="1" indent="-143510" algn="r">
              <a:lnSpc>
                <a:spcPts val="2520"/>
              </a:lnSpc>
              <a:buSzPct val="60000"/>
              <a:buFont typeface="Wingdings"/>
              <a:buChar char=""/>
              <a:tabLst>
                <a:tab pos="143510" algn="l"/>
              </a:tabLst>
            </a:pPr>
            <a:r>
              <a:rPr lang="en-US" sz="2400" dirty="0">
                <a:latin typeface="Tahoma"/>
                <a:cs typeface="Tahoma"/>
              </a:rPr>
              <a:t>c </a:t>
            </a:r>
            <a:r>
              <a:rPr lang="en-US" sz="2400" spc="-10" dirty="0">
                <a:latin typeface="Tahoma"/>
                <a:cs typeface="Tahoma"/>
              </a:rPr>
              <a:t>h</a:t>
            </a:r>
            <a:r>
              <a:rPr lang="en-US" sz="2400" spc="-5" dirty="0">
                <a:latin typeface="Tahoma"/>
                <a:cs typeface="Tahoma"/>
              </a:rPr>
              <a:t>a</a:t>
            </a:r>
            <a:r>
              <a:rPr lang="en-US" sz="2400" dirty="0">
                <a:latin typeface="Tahoma"/>
                <a:cs typeface="Tahoma"/>
              </a:rPr>
              <a:t>s</a:t>
            </a:r>
            <a:r>
              <a:rPr lang="en-US" sz="2400" spc="-20" dirty="0">
                <a:latin typeface="Tahoma"/>
                <a:cs typeface="Tahoma"/>
              </a:rPr>
              <a:t> </a:t>
            </a:r>
            <a:r>
              <a:rPr lang="en-US" sz="2400" spc="-45" dirty="0">
                <a:latin typeface="Tahoma"/>
                <a:cs typeface="Tahoma"/>
              </a:rPr>
              <a:t>i</a:t>
            </a:r>
            <a:r>
              <a:rPr lang="en-US" sz="2400" spc="-90" dirty="0">
                <a:latin typeface="Tahoma"/>
                <a:cs typeface="Tahoma"/>
              </a:rPr>
              <a:t>n</a:t>
            </a:r>
            <a:r>
              <a:rPr lang="en-US" sz="2400" spc="-30" dirty="0">
                <a:latin typeface="Tahoma"/>
                <a:cs typeface="Tahoma"/>
              </a:rPr>
              <a:t>-</a:t>
            </a:r>
            <a:r>
              <a:rPr lang="en-US" sz="2400" spc="-95" dirty="0">
                <a:latin typeface="Tahoma"/>
                <a:cs typeface="Tahoma"/>
              </a:rPr>
              <a:t>d</a:t>
            </a:r>
            <a:r>
              <a:rPr lang="en-US" sz="2400" spc="-85" dirty="0">
                <a:latin typeface="Tahoma"/>
                <a:cs typeface="Tahoma"/>
              </a:rPr>
              <a:t>e</a:t>
            </a:r>
            <a:r>
              <a:rPr lang="en-US" sz="2400" spc="-95" dirty="0">
                <a:latin typeface="Tahoma"/>
                <a:cs typeface="Tahoma"/>
              </a:rPr>
              <a:t>g</a:t>
            </a:r>
            <a:r>
              <a:rPr lang="en-US" sz="2400" spc="-75" dirty="0">
                <a:latin typeface="Tahoma"/>
                <a:cs typeface="Tahoma"/>
              </a:rPr>
              <a:t>re</a:t>
            </a:r>
            <a:r>
              <a:rPr lang="en-US" sz="2400" spc="-55" dirty="0">
                <a:latin typeface="Tahoma"/>
                <a:cs typeface="Tahoma"/>
              </a:rPr>
              <a:t>e</a:t>
            </a:r>
            <a:r>
              <a:rPr lang="en-US" sz="2400" spc="-195" dirty="0">
                <a:latin typeface="Tahoma"/>
                <a:cs typeface="Tahoma"/>
              </a:rPr>
              <a:t> </a:t>
            </a:r>
            <a:r>
              <a:rPr lang="en-US" sz="2400" dirty="0">
                <a:latin typeface="Tahoma"/>
                <a:cs typeface="Tahoma"/>
              </a:rPr>
              <a:t>3</a:t>
            </a:r>
          </a:p>
          <a:p>
            <a:pPr marL="143510" marR="4197985" lvl="1" indent="-143510" algn="r">
              <a:lnSpc>
                <a:spcPct val="100000"/>
              </a:lnSpc>
              <a:buSzPct val="60000"/>
              <a:buFont typeface="Wingdings"/>
              <a:buChar char=""/>
              <a:tabLst>
                <a:tab pos="143510" algn="l"/>
              </a:tabLst>
            </a:pPr>
            <a:r>
              <a:rPr lang="en-US" sz="2400" dirty="0">
                <a:latin typeface="Tahoma"/>
                <a:cs typeface="Tahoma"/>
              </a:rPr>
              <a:t>b</a:t>
            </a:r>
            <a:r>
              <a:rPr lang="en-US" sz="2400" spc="-10" dirty="0">
                <a:latin typeface="Tahoma"/>
                <a:cs typeface="Tahoma"/>
              </a:rPr>
              <a:t> h</a:t>
            </a:r>
            <a:r>
              <a:rPr lang="en-US" sz="2400" spc="-5" dirty="0">
                <a:latin typeface="Tahoma"/>
                <a:cs typeface="Tahoma"/>
              </a:rPr>
              <a:t>a</a:t>
            </a:r>
            <a:r>
              <a:rPr lang="en-US" sz="2400" dirty="0">
                <a:latin typeface="Tahoma"/>
                <a:cs typeface="Tahoma"/>
              </a:rPr>
              <a:t>s</a:t>
            </a:r>
            <a:r>
              <a:rPr lang="en-US" sz="2400" spc="-20" dirty="0">
                <a:latin typeface="Tahoma"/>
                <a:cs typeface="Tahoma"/>
              </a:rPr>
              <a:t> </a:t>
            </a:r>
            <a:r>
              <a:rPr lang="en-US" sz="2400" spc="-45" dirty="0">
                <a:latin typeface="Tahoma"/>
                <a:cs typeface="Tahoma"/>
              </a:rPr>
              <a:t>i</a:t>
            </a:r>
            <a:r>
              <a:rPr lang="en-US" sz="2400" spc="-90" dirty="0">
                <a:latin typeface="Tahoma"/>
                <a:cs typeface="Tahoma"/>
              </a:rPr>
              <a:t>n</a:t>
            </a:r>
            <a:r>
              <a:rPr lang="en-US" sz="2400" spc="-30" dirty="0">
                <a:latin typeface="Tahoma"/>
                <a:cs typeface="Tahoma"/>
              </a:rPr>
              <a:t>-</a:t>
            </a:r>
            <a:r>
              <a:rPr lang="en-US" sz="2400" spc="-95" dirty="0">
                <a:latin typeface="Tahoma"/>
                <a:cs typeface="Tahoma"/>
              </a:rPr>
              <a:t>d</a:t>
            </a:r>
            <a:r>
              <a:rPr lang="en-US" sz="2400" spc="-85" dirty="0">
                <a:latin typeface="Tahoma"/>
                <a:cs typeface="Tahoma"/>
              </a:rPr>
              <a:t>e</a:t>
            </a:r>
            <a:r>
              <a:rPr lang="en-US" sz="2400" spc="-95" dirty="0">
                <a:latin typeface="Tahoma"/>
                <a:cs typeface="Tahoma"/>
              </a:rPr>
              <a:t>g</a:t>
            </a:r>
            <a:r>
              <a:rPr lang="en-US" sz="2400" spc="-75" dirty="0">
                <a:latin typeface="Tahoma"/>
                <a:cs typeface="Tahoma"/>
              </a:rPr>
              <a:t>re</a:t>
            </a:r>
            <a:r>
              <a:rPr lang="en-US" sz="2400" spc="-55" dirty="0">
                <a:latin typeface="Tahoma"/>
                <a:cs typeface="Tahoma"/>
              </a:rPr>
              <a:t>e</a:t>
            </a:r>
            <a:r>
              <a:rPr lang="en-US" sz="2400" spc="-190" dirty="0">
                <a:latin typeface="Tahoma"/>
                <a:cs typeface="Tahoma"/>
              </a:rPr>
              <a:t> </a:t>
            </a:r>
            <a:r>
              <a:rPr lang="en-US" sz="2400" dirty="0" smtClean="0">
                <a:latin typeface="Tahoma"/>
                <a:cs typeface="Tahoma"/>
              </a:rPr>
              <a:t>1</a:t>
            </a:r>
          </a:p>
          <a:p>
            <a:pPr marL="143510" marR="4197985" lvl="1" indent="-143510" algn="r">
              <a:lnSpc>
                <a:spcPct val="100000"/>
              </a:lnSpc>
              <a:buSzPct val="60000"/>
              <a:buFont typeface="Wingdings"/>
              <a:buChar char=""/>
              <a:tabLst>
                <a:tab pos="143510" algn="l"/>
              </a:tabLst>
            </a:pPr>
            <a:endParaRPr lang="en-US" sz="2400" dirty="0">
              <a:latin typeface="Tahoma"/>
              <a:cs typeface="Tahoma"/>
            </a:endParaRPr>
          </a:p>
          <a:p>
            <a:pPr marL="241300" indent="-228600">
              <a:lnSpc>
                <a:spcPct val="100000"/>
              </a:lnSpc>
              <a:spcBef>
                <a:spcPts val="95"/>
              </a:spcBef>
              <a:buFont typeface="Arial MT"/>
              <a:buChar char="•"/>
              <a:tabLst>
                <a:tab pos="240665" algn="l"/>
                <a:tab pos="241300" algn="l"/>
              </a:tabLst>
            </a:pPr>
            <a:r>
              <a:rPr sz="2400" spc="-15" dirty="0" smtClean="0">
                <a:latin typeface="Tahoma"/>
                <a:cs typeface="Tahoma"/>
              </a:rPr>
              <a:t>Out-degree</a:t>
            </a:r>
            <a:r>
              <a:rPr sz="2400" spc="-40" dirty="0" smtClean="0">
                <a:latin typeface="Tahoma"/>
                <a:cs typeface="Tahoma"/>
              </a:rPr>
              <a:t> </a:t>
            </a:r>
            <a:r>
              <a:rPr sz="2400" spc="-5" dirty="0">
                <a:latin typeface="Tahoma"/>
                <a:cs typeface="Tahoma"/>
              </a:rPr>
              <a:t>of</a:t>
            </a:r>
            <a:r>
              <a:rPr sz="2400" spc="-35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a</a:t>
            </a:r>
            <a:r>
              <a:rPr sz="2400" spc="-65" dirty="0">
                <a:latin typeface="Tahoma"/>
                <a:cs typeface="Tahoma"/>
              </a:rPr>
              <a:t> </a:t>
            </a:r>
            <a:r>
              <a:rPr sz="2400" spc="-10" dirty="0">
                <a:latin typeface="Tahoma"/>
                <a:cs typeface="Tahoma"/>
              </a:rPr>
              <a:t>vertex</a:t>
            </a:r>
            <a:endParaRPr sz="2400" dirty="0">
              <a:latin typeface="Tahoma"/>
              <a:cs typeface="Tahoma"/>
            </a:endParaRPr>
          </a:p>
          <a:p>
            <a:pPr marL="143510" marR="4043045" lvl="1" indent="-143510" algn="r">
              <a:lnSpc>
                <a:spcPts val="2505"/>
              </a:lnSpc>
              <a:buSzPct val="60000"/>
              <a:buFont typeface="Wingdings"/>
              <a:buChar char=""/>
              <a:tabLst>
                <a:tab pos="143510" algn="l"/>
              </a:tabLst>
            </a:pPr>
            <a:r>
              <a:rPr sz="2400" dirty="0">
                <a:latin typeface="Tahoma"/>
                <a:cs typeface="Tahoma"/>
              </a:rPr>
              <a:t>a </a:t>
            </a:r>
            <a:r>
              <a:rPr sz="2400" spc="-10" dirty="0">
                <a:latin typeface="Tahoma"/>
                <a:cs typeface="Tahoma"/>
              </a:rPr>
              <a:t>h</a:t>
            </a:r>
            <a:r>
              <a:rPr sz="2400" spc="-5" dirty="0">
                <a:latin typeface="Tahoma"/>
                <a:cs typeface="Tahoma"/>
              </a:rPr>
              <a:t>a</a:t>
            </a:r>
            <a:r>
              <a:rPr sz="2400" dirty="0">
                <a:latin typeface="Tahoma"/>
                <a:cs typeface="Tahoma"/>
              </a:rPr>
              <a:t>s</a:t>
            </a:r>
            <a:r>
              <a:rPr sz="2400" spc="-20" dirty="0">
                <a:latin typeface="Tahoma"/>
                <a:cs typeface="Tahoma"/>
              </a:rPr>
              <a:t> </a:t>
            </a:r>
            <a:r>
              <a:rPr sz="2400" spc="-80" dirty="0">
                <a:latin typeface="Tahoma"/>
                <a:cs typeface="Tahoma"/>
              </a:rPr>
              <a:t>o</a:t>
            </a:r>
            <a:r>
              <a:rPr sz="2400" spc="-90" dirty="0">
                <a:latin typeface="Tahoma"/>
                <a:cs typeface="Tahoma"/>
              </a:rPr>
              <a:t>u</a:t>
            </a:r>
            <a:r>
              <a:rPr sz="2400" spc="-55" dirty="0">
                <a:latin typeface="Tahoma"/>
                <a:cs typeface="Tahoma"/>
              </a:rPr>
              <a:t>t</a:t>
            </a:r>
            <a:r>
              <a:rPr sz="2400" spc="-30" dirty="0">
                <a:latin typeface="Tahoma"/>
                <a:cs typeface="Tahoma"/>
              </a:rPr>
              <a:t>-</a:t>
            </a:r>
            <a:r>
              <a:rPr sz="2400" spc="-95" dirty="0">
                <a:latin typeface="Tahoma"/>
                <a:cs typeface="Tahoma"/>
              </a:rPr>
              <a:t>d</a:t>
            </a:r>
            <a:r>
              <a:rPr sz="2400" spc="-85" dirty="0">
                <a:latin typeface="Tahoma"/>
                <a:cs typeface="Tahoma"/>
              </a:rPr>
              <a:t>e</a:t>
            </a:r>
            <a:r>
              <a:rPr sz="2400" spc="-95" dirty="0">
                <a:latin typeface="Tahoma"/>
                <a:cs typeface="Tahoma"/>
              </a:rPr>
              <a:t>g</a:t>
            </a:r>
            <a:r>
              <a:rPr sz="2400" spc="-75" dirty="0">
                <a:latin typeface="Tahoma"/>
                <a:cs typeface="Tahoma"/>
              </a:rPr>
              <a:t>re</a:t>
            </a:r>
            <a:r>
              <a:rPr sz="2400" spc="-55" dirty="0">
                <a:latin typeface="Tahoma"/>
                <a:cs typeface="Tahoma"/>
              </a:rPr>
              <a:t>e</a:t>
            </a:r>
            <a:r>
              <a:rPr sz="2400" spc="-195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2</a:t>
            </a:r>
          </a:p>
          <a:p>
            <a:pPr marL="143510" marR="4037329" lvl="1" indent="-143510" algn="r">
              <a:lnSpc>
                <a:spcPts val="2510"/>
              </a:lnSpc>
              <a:buSzPct val="60000"/>
              <a:buFont typeface="Wingdings"/>
              <a:buChar char=""/>
              <a:tabLst>
                <a:tab pos="143510" algn="l"/>
              </a:tabLst>
            </a:pPr>
            <a:r>
              <a:rPr sz="2400" dirty="0">
                <a:latin typeface="Tahoma"/>
                <a:cs typeface="Tahoma"/>
              </a:rPr>
              <a:t>b</a:t>
            </a:r>
            <a:r>
              <a:rPr sz="2400" spc="-10" dirty="0">
                <a:latin typeface="Tahoma"/>
                <a:cs typeface="Tahoma"/>
              </a:rPr>
              <a:t> h</a:t>
            </a:r>
            <a:r>
              <a:rPr sz="2400" spc="-5" dirty="0">
                <a:latin typeface="Tahoma"/>
                <a:cs typeface="Tahoma"/>
              </a:rPr>
              <a:t>a</a:t>
            </a:r>
            <a:r>
              <a:rPr sz="2400" dirty="0">
                <a:latin typeface="Tahoma"/>
                <a:cs typeface="Tahoma"/>
              </a:rPr>
              <a:t>s</a:t>
            </a:r>
            <a:r>
              <a:rPr sz="2400" spc="-20" dirty="0">
                <a:latin typeface="Tahoma"/>
                <a:cs typeface="Tahoma"/>
              </a:rPr>
              <a:t> </a:t>
            </a:r>
            <a:r>
              <a:rPr sz="2400" spc="-80" dirty="0">
                <a:latin typeface="Tahoma"/>
                <a:cs typeface="Tahoma"/>
              </a:rPr>
              <a:t>o</a:t>
            </a:r>
            <a:r>
              <a:rPr sz="2400" spc="-90" dirty="0">
                <a:latin typeface="Tahoma"/>
                <a:cs typeface="Tahoma"/>
              </a:rPr>
              <a:t>u</a:t>
            </a:r>
            <a:r>
              <a:rPr sz="2400" spc="-55" dirty="0">
                <a:latin typeface="Tahoma"/>
                <a:cs typeface="Tahoma"/>
              </a:rPr>
              <a:t>t</a:t>
            </a:r>
            <a:r>
              <a:rPr sz="2400" spc="-30" dirty="0">
                <a:latin typeface="Tahoma"/>
                <a:cs typeface="Tahoma"/>
              </a:rPr>
              <a:t>-</a:t>
            </a:r>
            <a:r>
              <a:rPr sz="2400" spc="-95" dirty="0">
                <a:latin typeface="Tahoma"/>
                <a:cs typeface="Tahoma"/>
              </a:rPr>
              <a:t>d</a:t>
            </a:r>
            <a:r>
              <a:rPr sz="2400" spc="-85" dirty="0">
                <a:latin typeface="Tahoma"/>
                <a:cs typeface="Tahoma"/>
              </a:rPr>
              <a:t>e</a:t>
            </a:r>
            <a:r>
              <a:rPr sz="2400" spc="-95" dirty="0">
                <a:latin typeface="Tahoma"/>
                <a:cs typeface="Tahoma"/>
              </a:rPr>
              <a:t>g</a:t>
            </a:r>
            <a:r>
              <a:rPr sz="2400" spc="-75" dirty="0">
                <a:latin typeface="Tahoma"/>
                <a:cs typeface="Tahoma"/>
              </a:rPr>
              <a:t>re</a:t>
            </a:r>
            <a:r>
              <a:rPr sz="2400" spc="-55" dirty="0">
                <a:latin typeface="Tahoma"/>
                <a:cs typeface="Tahoma"/>
              </a:rPr>
              <a:t>e</a:t>
            </a:r>
            <a:r>
              <a:rPr sz="2400" spc="-200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1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499172" y="3810000"/>
            <a:ext cx="2797228" cy="2797228"/>
          </a:xfrm>
          <a:prstGeom prst="rect">
            <a:avLst/>
          </a:prstGeom>
        </p:spPr>
      </p:pic>
      <p:sp>
        <p:nvSpPr>
          <p:cNvPr id="5" name="Slide Number Placeholder 4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38099">
              <a:lnSpc>
                <a:spcPts val="1535"/>
              </a:lnSpc>
            </a:pPr>
            <a:fld id="{81D60167-4931-47E6-BA6A-407CBD079E47}" type="slidenum">
              <a:rPr lang="en-US" smtClean="0"/>
              <a:pPr marL="38099">
                <a:lnSpc>
                  <a:spcPts val="1535"/>
                </a:lnSpc>
              </a:pPr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209609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611124"/>
            <a:ext cx="2785110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40" dirty="0"/>
              <a:t>Terminology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12800" y="1805939"/>
            <a:ext cx="7645400" cy="4563429"/>
          </a:xfrm>
          <a:prstGeom prst="rect">
            <a:avLst/>
          </a:prstGeom>
        </p:spPr>
        <p:txBody>
          <a:bodyPr vert="horz" wrap="square" lIns="0" tIns="48895" rIns="0" bIns="0" rtlCol="0">
            <a:spAutoFit/>
          </a:bodyPr>
          <a:lstStyle/>
          <a:p>
            <a:pPr marL="254000" indent="-228600">
              <a:lnSpc>
                <a:spcPct val="100000"/>
              </a:lnSpc>
              <a:spcBef>
                <a:spcPts val="385"/>
              </a:spcBef>
              <a:buFont typeface="Arial MT"/>
              <a:buChar char="•"/>
              <a:tabLst>
                <a:tab pos="253365" algn="l"/>
                <a:tab pos="254000" algn="l"/>
              </a:tabLst>
            </a:pPr>
            <a:r>
              <a:rPr sz="2400" spc="-20" dirty="0">
                <a:latin typeface="Arial MT"/>
                <a:cs typeface="Tahoma"/>
              </a:rPr>
              <a:t>Path</a:t>
            </a:r>
            <a:endParaRPr sz="2400" dirty="0">
              <a:latin typeface="Arial MT"/>
              <a:cs typeface="Tahoma"/>
            </a:endParaRPr>
          </a:p>
          <a:p>
            <a:pPr marL="721360" lvl="1" indent="-143510">
              <a:lnSpc>
                <a:spcPct val="100000"/>
              </a:lnSpc>
              <a:spcBef>
                <a:spcPts val="290"/>
              </a:spcBef>
              <a:buSzPct val="60000"/>
              <a:buFont typeface="Wingdings"/>
              <a:buChar char=""/>
              <a:tabLst>
                <a:tab pos="721360" algn="l"/>
                <a:tab pos="4439920" algn="l"/>
              </a:tabLst>
            </a:pPr>
            <a:r>
              <a:rPr sz="2200" spc="-5" dirty="0">
                <a:latin typeface="Arial MT"/>
                <a:cs typeface="Tahoma"/>
              </a:rPr>
              <a:t>sequence</a:t>
            </a:r>
            <a:r>
              <a:rPr sz="2200" spc="5" dirty="0">
                <a:latin typeface="Arial MT"/>
                <a:cs typeface="Tahoma"/>
              </a:rPr>
              <a:t> </a:t>
            </a:r>
            <a:r>
              <a:rPr sz="2200" dirty="0">
                <a:latin typeface="Arial MT"/>
                <a:cs typeface="Tahoma"/>
              </a:rPr>
              <a:t>of</a:t>
            </a:r>
            <a:r>
              <a:rPr sz="2200" spc="25" dirty="0">
                <a:latin typeface="Arial MT"/>
                <a:cs typeface="Tahoma"/>
              </a:rPr>
              <a:t> </a:t>
            </a:r>
            <a:r>
              <a:rPr sz="2200" dirty="0">
                <a:latin typeface="Arial MT"/>
                <a:cs typeface="Tahoma"/>
              </a:rPr>
              <a:t>alternating</a:t>
            </a:r>
            <a:r>
              <a:rPr sz="2200" spc="-204" dirty="0">
                <a:latin typeface="Arial MT"/>
                <a:cs typeface="Tahoma"/>
              </a:rPr>
              <a:t> </a:t>
            </a:r>
            <a:r>
              <a:rPr sz="2200" dirty="0" smtClean="0">
                <a:latin typeface="Arial MT"/>
                <a:cs typeface="Tahoma"/>
              </a:rPr>
              <a:t>vertices</a:t>
            </a:r>
            <a:r>
              <a:rPr lang="en-US" sz="2200" dirty="0" smtClean="0">
                <a:latin typeface="Arial MT"/>
                <a:cs typeface="Tahoma"/>
              </a:rPr>
              <a:t> </a:t>
            </a:r>
            <a:r>
              <a:rPr sz="2200" spc="-5" dirty="0" smtClean="0">
                <a:latin typeface="Arial MT"/>
                <a:cs typeface="Tahoma"/>
              </a:rPr>
              <a:t>and</a:t>
            </a:r>
            <a:r>
              <a:rPr sz="2200" spc="-85" dirty="0" smtClean="0">
                <a:latin typeface="Arial MT"/>
                <a:cs typeface="Tahoma"/>
              </a:rPr>
              <a:t> </a:t>
            </a:r>
            <a:r>
              <a:rPr sz="2200" spc="-10" dirty="0">
                <a:latin typeface="Arial MT"/>
                <a:cs typeface="Tahoma"/>
              </a:rPr>
              <a:t>edges</a:t>
            </a:r>
            <a:endParaRPr sz="2200" dirty="0">
              <a:latin typeface="Arial MT"/>
              <a:cs typeface="Tahoma"/>
            </a:endParaRPr>
          </a:p>
          <a:p>
            <a:pPr marL="721360" lvl="1" indent="-143510">
              <a:lnSpc>
                <a:spcPct val="100000"/>
              </a:lnSpc>
              <a:spcBef>
                <a:spcPts val="120"/>
              </a:spcBef>
              <a:buSzPct val="60000"/>
              <a:buFont typeface="Wingdings"/>
              <a:buChar char=""/>
              <a:tabLst>
                <a:tab pos="721360" algn="l"/>
              </a:tabLst>
            </a:pPr>
            <a:r>
              <a:rPr sz="2200" spc="-5" dirty="0">
                <a:latin typeface="Arial MT"/>
                <a:cs typeface="Tahoma"/>
              </a:rPr>
              <a:t>begins</a:t>
            </a:r>
            <a:r>
              <a:rPr sz="2200" spc="-15" dirty="0">
                <a:latin typeface="Arial MT"/>
                <a:cs typeface="Tahoma"/>
              </a:rPr>
              <a:t> </a:t>
            </a:r>
            <a:r>
              <a:rPr sz="2200" spc="5" dirty="0">
                <a:latin typeface="Arial MT"/>
                <a:cs typeface="Tahoma"/>
              </a:rPr>
              <a:t>with</a:t>
            </a:r>
            <a:r>
              <a:rPr sz="2200" spc="-10" dirty="0">
                <a:latin typeface="Arial MT"/>
                <a:cs typeface="Tahoma"/>
              </a:rPr>
              <a:t> </a:t>
            </a:r>
            <a:r>
              <a:rPr sz="2200" dirty="0">
                <a:latin typeface="Arial MT"/>
                <a:cs typeface="Tahoma"/>
              </a:rPr>
              <a:t>a</a:t>
            </a:r>
            <a:r>
              <a:rPr sz="2200" spc="-140" dirty="0">
                <a:latin typeface="Arial MT"/>
                <a:cs typeface="Tahoma"/>
              </a:rPr>
              <a:t> </a:t>
            </a:r>
            <a:r>
              <a:rPr sz="2200" spc="-5" dirty="0">
                <a:latin typeface="Arial MT"/>
                <a:cs typeface="Tahoma"/>
              </a:rPr>
              <a:t>vertex</a:t>
            </a:r>
            <a:endParaRPr sz="2200" dirty="0">
              <a:latin typeface="Arial MT"/>
              <a:cs typeface="Tahoma"/>
            </a:endParaRPr>
          </a:p>
          <a:p>
            <a:pPr marL="721360" lvl="1" indent="-143510">
              <a:lnSpc>
                <a:spcPct val="100000"/>
              </a:lnSpc>
              <a:spcBef>
                <a:spcPts val="95"/>
              </a:spcBef>
              <a:buSzPct val="60000"/>
              <a:buFont typeface="Wingdings"/>
              <a:buChar char=""/>
              <a:tabLst>
                <a:tab pos="721360" algn="l"/>
              </a:tabLst>
            </a:pPr>
            <a:r>
              <a:rPr sz="2200" spc="-5" dirty="0">
                <a:latin typeface="Arial MT"/>
                <a:cs typeface="Tahoma"/>
              </a:rPr>
              <a:t>ends</a:t>
            </a:r>
            <a:r>
              <a:rPr sz="2200" spc="-30" dirty="0">
                <a:latin typeface="Arial MT"/>
                <a:cs typeface="Tahoma"/>
              </a:rPr>
              <a:t> </a:t>
            </a:r>
            <a:r>
              <a:rPr sz="2200" spc="5" dirty="0">
                <a:latin typeface="Arial MT"/>
                <a:cs typeface="Tahoma"/>
              </a:rPr>
              <a:t>with</a:t>
            </a:r>
            <a:r>
              <a:rPr sz="2200" spc="-15" dirty="0">
                <a:latin typeface="Arial MT"/>
                <a:cs typeface="Tahoma"/>
              </a:rPr>
              <a:t> </a:t>
            </a:r>
            <a:r>
              <a:rPr sz="2200" dirty="0">
                <a:latin typeface="Arial MT"/>
                <a:cs typeface="Tahoma"/>
              </a:rPr>
              <a:t>a</a:t>
            </a:r>
            <a:r>
              <a:rPr sz="2200" spc="-110" dirty="0">
                <a:latin typeface="Arial MT"/>
                <a:cs typeface="Tahoma"/>
              </a:rPr>
              <a:t> </a:t>
            </a:r>
            <a:r>
              <a:rPr sz="2200" spc="-5" dirty="0">
                <a:latin typeface="Arial MT"/>
                <a:cs typeface="Tahoma"/>
              </a:rPr>
              <a:t>vertex</a:t>
            </a:r>
            <a:endParaRPr sz="2200" dirty="0">
              <a:latin typeface="Arial MT"/>
              <a:cs typeface="Tahoma"/>
            </a:endParaRPr>
          </a:p>
          <a:p>
            <a:pPr marL="721360" lvl="1" indent="-143510">
              <a:lnSpc>
                <a:spcPct val="100000"/>
              </a:lnSpc>
              <a:spcBef>
                <a:spcPts val="290"/>
              </a:spcBef>
              <a:buSzPct val="60000"/>
              <a:buFont typeface="Wingdings"/>
              <a:buChar char=""/>
              <a:tabLst>
                <a:tab pos="721360" algn="l"/>
                <a:tab pos="3863975" algn="l"/>
              </a:tabLst>
            </a:pPr>
            <a:r>
              <a:rPr sz="2200" dirty="0">
                <a:latin typeface="Arial MT"/>
                <a:cs typeface="Tahoma"/>
              </a:rPr>
              <a:t>ea</a:t>
            </a:r>
            <a:r>
              <a:rPr sz="2200" spc="5" dirty="0">
                <a:latin typeface="Arial MT"/>
                <a:cs typeface="Tahoma"/>
              </a:rPr>
              <a:t>c</a:t>
            </a:r>
            <a:r>
              <a:rPr sz="2200" dirty="0">
                <a:latin typeface="Arial MT"/>
                <a:cs typeface="Tahoma"/>
              </a:rPr>
              <a:t>h</a:t>
            </a:r>
            <a:r>
              <a:rPr sz="2200" spc="-220" dirty="0">
                <a:latin typeface="Arial MT"/>
                <a:cs typeface="Tahoma"/>
              </a:rPr>
              <a:t> </a:t>
            </a:r>
            <a:r>
              <a:rPr sz="2200" spc="-5" dirty="0">
                <a:latin typeface="Arial MT"/>
                <a:cs typeface="Tahoma"/>
              </a:rPr>
              <a:t>e</a:t>
            </a:r>
            <a:r>
              <a:rPr sz="2200" spc="-10" dirty="0">
                <a:latin typeface="Arial MT"/>
                <a:cs typeface="Tahoma"/>
              </a:rPr>
              <a:t>dg</a:t>
            </a:r>
            <a:r>
              <a:rPr sz="2200" dirty="0">
                <a:latin typeface="Arial MT"/>
                <a:cs typeface="Tahoma"/>
              </a:rPr>
              <a:t>e</a:t>
            </a:r>
            <a:r>
              <a:rPr sz="2200" spc="-5" dirty="0">
                <a:latin typeface="Arial MT"/>
                <a:cs typeface="Tahoma"/>
              </a:rPr>
              <a:t> </a:t>
            </a:r>
            <a:r>
              <a:rPr sz="2200" spc="10" dirty="0">
                <a:latin typeface="Arial MT"/>
                <a:cs typeface="Tahoma"/>
              </a:rPr>
              <a:t>i</a:t>
            </a:r>
            <a:r>
              <a:rPr sz="2200" dirty="0">
                <a:latin typeface="Arial MT"/>
                <a:cs typeface="Tahoma"/>
              </a:rPr>
              <a:t>s</a:t>
            </a:r>
            <a:r>
              <a:rPr sz="2200" spc="5" dirty="0">
                <a:latin typeface="Arial MT"/>
                <a:cs typeface="Tahoma"/>
              </a:rPr>
              <a:t> </a:t>
            </a:r>
            <a:r>
              <a:rPr sz="2200" spc="-5" dirty="0">
                <a:latin typeface="Arial MT"/>
                <a:cs typeface="Tahoma"/>
              </a:rPr>
              <a:t>pr</a:t>
            </a:r>
            <a:r>
              <a:rPr sz="2200" dirty="0">
                <a:latin typeface="Arial MT"/>
                <a:cs typeface="Tahoma"/>
              </a:rPr>
              <a:t>e</a:t>
            </a:r>
            <a:r>
              <a:rPr sz="2200" spc="5" dirty="0">
                <a:latin typeface="Arial MT"/>
                <a:cs typeface="Tahoma"/>
              </a:rPr>
              <a:t>c</a:t>
            </a:r>
            <a:r>
              <a:rPr sz="2200" dirty="0">
                <a:latin typeface="Arial MT"/>
                <a:cs typeface="Tahoma"/>
              </a:rPr>
              <a:t>e</a:t>
            </a:r>
            <a:r>
              <a:rPr sz="2200" spc="-5" dirty="0">
                <a:latin typeface="Arial MT"/>
                <a:cs typeface="Tahoma"/>
              </a:rPr>
              <a:t>d</a:t>
            </a:r>
            <a:r>
              <a:rPr sz="2200" dirty="0">
                <a:latin typeface="Arial MT"/>
                <a:cs typeface="Tahoma"/>
              </a:rPr>
              <a:t>ed </a:t>
            </a:r>
            <a:r>
              <a:rPr sz="2200" dirty="0" smtClean="0">
                <a:latin typeface="Arial MT"/>
                <a:cs typeface="Tahoma"/>
              </a:rPr>
              <a:t>a</a:t>
            </a:r>
            <a:r>
              <a:rPr sz="2200" spc="-5" dirty="0" smtClean="0">
                <a:latin typeface="Arial MT"/>
                <a:cs typeface="Tahoma"/>
              </a:rPr>
              <a:t>n</a:t>
            </a:r>
            <a:r>
              <a:rPr sz="2200" dirty="0" smtClean="0">
                <a:latin typeface="Arial MT"/>
                <a:cs typeface="Tahoma"/>
              </a:rPr>
              <a:t>d</a:t>
            </a:r>
            <a:r>
              <a:rPr lang="en-US" sz="2200" dirty="0" smtClean="0">
                <a:latin typeface="Arial MT"/>
                <a:cs typeface="Tahoma"/>
              </a:rPr>
              <a:t> </a:t>
            </a:r>
            <a:r>
              <a:rPr sz="2200" spc="-15" dirty="0" smtClean="0">
                <a:latin typeface="Arial MT"/>
                <a:cs typeface="Tahoma"/>
              </a:rPr>
              <a:t>f</a:t>
            </a:r>
            <a:r>
              <a:rPr sz="2200" spc="5" dirty="0" smtClean="0">
                <a:latin typeface="Arial MT"/>
                <a:cs typeface="Tahoma"/>
              </a:rPr>
              <a:t>o</a:t>
            </a:r>
            <a:r>
              <a:rPr sz="2200" spc="15" dirty="0" smtClean="0">
                <a:latin typeface="Arial MT"/>
                <a:cs typeface="Tahoma"/>
              </a:rPr>
              <a:t>l</a:t>
            </a:r>
            <a:r>
              <a:rPr sz="2200" spc="10" dirty="0" smtClean="0">
                <a:latin typeface="Arial MT"/>
                <a:cs typeface="Tahoma"/>
              </a:rPr>
              <a:t>l</a:t>
            </a:r>
            <a:r>
              <a:rPr sz="2200" spc="5" dirty="0" smtClean="0">
                <a:latin typeface="Arial MT"/>
                <a:cs typeface="Tahoma"/>
              </a:rPr>
              <a:t>ow</a:t>
            </a:r>
            <a:r>
              <a:rPr sz="2200" dirty="0" smtClean="0">
                <a:latin typeface="Arial MT"/>
                <a:cs typeface="Tahoma"/>
              </a:rPr>
              <a:t>ed</a:t>
            </a:r>
            <a:r>
              <a:rPr sz="2200" spc="5" dirty="0" smtClean="0">
                <a:latin typeface="Arial MT"/>
                <a:cs typeface="Tahoma"/>
              </a:rPr>
              <a:t> </a:t>
            </a:r>
            <a:r>
              <a:rPr sz="2200" spc="-5" dirty="0">
                <a:latin typeface="Arial MT"/>
                <a:cs typeface="Tahoma"/>
              </a:rPr>
              <a:t>b</a:t>
            </a:r>
            <a:r>
              <a:rPr sz="2200" dirty="0">
                <a:latin typeface="Arial MT"/>
                <a:cs typeface="Tahoma"/>
              </a:rPr>
              <a:t>y</a:t>
            </a:r>
            <a:r>
              <a:rPr sz="2200" spc="10" dirty="0">
                <a:latin typeface="Arial MT"/>
                <a:cs typeface="Tahoma"/>
              </a:rPr>
              <a:t> </a:t>
            </a:r>
            <a:r>
              <a:rPr sz="2200" spc="10" dirty="0" smtClean="0">
                <a:latin typeface="Arial MT"/>
                <a:cs typeface="Tahoma"/>
              </a:rPr>
              <a:t>it</a:t>
            </a:r>
            <a:r>
              <a:rPr sz="2200" dirty="0" smtClean="0">
                <a:latin typeface="Arial MT"/>
                <a:cs typeface="Tahoma"/>
              </a:rPr>
              <a:t>s</a:t>
            </a:r>
            <a:r>
              <a:rPr lang="en-US" sz="2200" spc="-180" dirty="0">
                <a:latin typeface="Arial MT"/>
                <a:cs typeface="Tahoma"/>
              </a:rPr>
              <a:t> </a:t>
            </a:r>
            <a:r>
              <a:rPr sz="2200" dirty="0" smtClean="0">
                <a:latin typeface="Arial MT"/>
                <a:cs typeface="Tahoma"/>
              </a:rPr>
              <a:t>en</a:t>
            </a:r>
            <a:r>
              <a:rPr sz="2200" spc="-5" dirty="0" smtClean="0">
                <a:latin typeface="Arial MT"/>
                <a:cs typeface="Tahoma"/>
              </a:rPr>
              <a:t>dp</a:t>
            </a:r>
            <a:r>
              <a:rPr sz="2200" spc="5" dirty="0" smtClean="0">
                <a:latin typeface="Arial MT"/>
                <a:cs typeface="Tahoma"/>
              </a:rPr>
              <a:t>o</a:t>
            </a:r>
            <a:r>
              <a:rPr sz="2200" spc="10" dirty="0" smtClean="0">
                <a:latin typeface="Arial MT"/>
                <a:cs typeface="Tahoma"/>
              </a:rPr>
              <a:t>i</a:t>
            </a:r>
            <a:r>
              <a:rPr sz="2200" dirty="0" smtClean="0">
                <a:latin typeface="Arial MT"/>
                <a:cs typeface="Tahoma"/>
              </a:rPr>
              <a:t>n</a:t>
            </a:r>
            <a:r>
              <a:rPr sz="2200" spc="10" dirty="0" smtClean="0">
                <a:latin typeface="Arial MT"/>
                <a:cs typeface="Tahoma"/>
              </a:rPr>
              <a:t>t</a:t>
            </a:r>
            <a:r>
              <a:rPr sz="2200" dirty="0" smtClean="0">
                <a:latin typeface="Arial MT"/>
                <a:cs typeface="Tahoma"/>
              </a:rPr>
              <a:t>s</a:t>
            </a:r>
            <a:endParaRPr sz="2200" dirty="0">
              <a:latin typeface="Arial MT"/>
              <a:cs typeface="Tahoma"/>
            </a:endParaRPr>
          </a:p>
          <a:p>
            <a:pPr marL="254000" indent="-228600">
              <a:lnSpc>
                <a:spcPct val="100000"/>
              </a:lnSpc>
              <a:spcBef>
                <a:spcPts val="95"/>
              </a:spcBef>
              <a:buFont typeface="Arial MT"/>
              <a:buChar char="•"/>
              <a:tabLst>
                <a:tab pos="253365" algn="l"/>
                <a:tab pos="254000" algn="l"/>
              </a:tabLst>
            </a:pPr>
            <a:r>
              <a:rPr sz="2400" spc="-5" dirty="0">
                <a:latin typeface="Arial MT"/>
                <a:cs typeface="Tahoma"/>
              </a:rPr>
              <a:t>Simple</a:t>
            </a:r>
            <a:r>
              <a:rPr sz="2400" spc="-105" dirty="0">
                <a:latin typeface="Arial MT"/>
                <a:cs typeface="Tahoma"/>
              </a:rPr>
              <a:t> </a:t>
            </a:r>
            <a:r>
              <a:rPr sz="2400" spc="-5" dirty="0">
                <a:latin typeface="Arial MT"/>
                <a:cs typeface="Tahoma"/>
              </a:rPr>
              <a:t>path</a:t>
            </a:r>
            <a:endParaRPr sz="2400" dirty="0">
              <a:latin typeface="Arial MT"/>
              <a:cs typeface="Tahoma"/>
            </a:endParaRPr>
          </a:p>
          <a:p>
            <a:pPr marL="721360" lvl="1" indent="-143510">
              <a:lnSpc>
                <a:spcPct val="100000"/>
              </a:lnSpc>
              <a:spcBef>
                <a:spcPts val="310"/>
              </a:spcBef>
              <a:buSzPct val="60000"/>
              <a:buFont typeface="Wingdings"/>
              <a:buChar char=""/>
              <a:tabLst>
                <a:tab pos="721360" algn="l"/>
                <a:tab pos="4577715" algn="l"/>
              </a:tabLst>
            </a:pPr>
            <a:r>
              <a:rPr sz="2400" dirty="0">
                <a:latin typeface="Arial MT"/>
                <a:cs typeface="Tahoma"/>
              </a:rPr>
              <a:t>path</a:t>
            </a:r>
            <a:r>
              <a:rPr sz="2400" spc="-50" dirty="0">
                <a:latin typeface="Arial MT"/>
                <a:cs typeface="Tahoma"/>
              </a:rPr>
              <a:t> </a:t>
            </a:r>
            <a:r>
              <a:rPr sz="2400" dirty="0">
                <a:latin typeface="Arial MT"/>
                <a:cs typeface="Tahoma"/>
              </a:rPr>
              <a:t>such</a:t>
            </a:r>
            <a:r>
              <a:rPr sz="2400" spc="-40" dirty="0">
                <a:latin typeface="Arial MT"/>
                <a:cs typeface="Tahoma"/>
              </a:rPr>
              <a:t> </a:t>
            </a:r>
            <a:r>
              <a:rPr sz="2400" dirty="0">
                <a:latin typeface="Arial MT"/>
                <a:cs typeface="Tahoma"/>
              </a:rPr>
              <a:t>that</a:t>
            </a:r>
            <a:r>
              <a:rPr sz="2400" spc="-25" dirty="0">
                <a:latin typeface="Arial MT"/>
                <a:cs typeface="Tahoma"/>
              </a:rPr>
              <a:t> </a:t>
            </a:r>
            <a:r>
              <a:rPr sz="2400" spc="5" dirty="0">
                <a:latin typeface="Arial MT"/>
                <a:cs typeface="Tahoma"/>
              </a:rPr>
              <a:t>all</a:t>
            </a:r>
            <a:r>
              <a:rPr sz="2400" dirty="0">
                <a:latin typeface="Arial MT"/>
                <a:cs typeface="Tahoma"/>
              </a:rPr>
              <a:t> </a:t>
            </a:r>
            <a:r>
              <a:rPr sz="2400" spc="5" dirty="0">
                <a:latin typeface="Arial MT"/>
                <a:cs typeface="Tahoma"/>
              </a:rPr>
              <a:t>its</a:t>
            </a:r>
            <a:r>
              <a:rPr sz="2400" spc="-40" dirty="0">
                <a:latin typeface="Arial MT"/>
                <a:cs typeface="Tahoma"/>
              </a:rPr>
              <a:t> </a:t>
            </a:r>
            <a:r>
              <a:rPr sz="2400" dirty="0">
                <a:latin typeface="Arial MT"/>
                <a:cs typeface="Tahoma"/>
              </a:rPr>
              <a:t>vertices</a:t>
            </a:r>
            <a:r>
              <a:rPr sz="2400" spc="-65" dirty="0">
                <a:latin typeface="Arial MT"/>
                <a:cs typeface="Tahoma"/>
              </a:rPr>
              <a:t> </a:t>
            </a:r>
            <a:r>
              <a:rPr sz="2400" spc="-5" dirty="0" smtClean="0">
                <a:latin typeface="Arial MT"/>
                <a:cs typeface="Tahoma"/>
              </a:rPr>
              <a:t>and</a:t>
            </a:r>
            <a:r>
              <a:rPr lang="en-US" sz="2400" spc="-5" dirty="0" smtClean="0">
                <a:latin typeface="Arial MT"/>
                <a:cs typeface="Tahoma"/>
              </a:rPr>
              <a:t> </a:t>
            </a:r>
            <a:r>
              <a:rPr sz="2400" spc="-10" dirty="0" smtClean="0">
                <a:latin typeface="Arial MT"/>
                <a:cs typeface="Tahoma"/>
              </a:rPr>
              <a:t>edges</a:t>
            </a:r>
            <a:r>
              <a:rPr sz="2400" spc="-25" dirty="0" smtClean="0">
                <a:latin typeface="Arial MT"/>
                <a:cs typeface="Tahoma"/>
              </a:rPr>
              <a:t> </a:t>
            </a:r>
            <a:r>
              <a:rPr sz="2400" dirty="0">
                <a:latin typeface="Arial MT"/>
                <a:cs typeface="Tahoma"/>
              </a:rPr>
              <a:t>are</a:t>
            </a:r>
            <a:r>
              <a:rPr sz="2400" spc="-105" dirty="0">
                <a:latin typeface="Arial MT"/>
                <a:cs typeface="Tahoma"/>
              </a:rPr>
              <a:t> </a:t>
            </a:r>
            <a:r>
              <a:rPr sz="2400" dirty="0" smtClean="0">
                <a:latin typeface="Arial MT"/>
                <a:cs typeface="Tahoma"/>
              </a:rPr>
              <a:t>distinct</a:t>
            </a:r>
            <a:endParaRPr sz="2400" dirty="0">
              <a:latin typeface="Arial MT"/>
              <a:cs typeface="Tahoma"/>
            </a:endParaRPr>
          </a:p>
          <a:p>
            <a:pPr marL="254000" indent="-228600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253365" algn="l"/>
                <a:tab pos="254000" algn="l"/>
              </a:tabLst>
            </a:pPr>
            <a:r>
              <a:rPr sz="2400" spc="-5" dirty="0">
                <a:latin typeface="Arial MT"/>
                <a:cs typeface="Tahoma"/>
              </a:rPr>
              <a:t>Examples</a:t>
            </a:r>
            <a:endParaRPr sz="2400" dirty="0">
              <a:latin typeface="Arial MT"/>
              <a:cs typeface="Tahoma"/>
            </a:endParaRPr>
          </a:p>
          <a:p>
            <a:pPr marL="721360" lvl="1" indent="-143510">
              <a:lnSpc>
                <a:spcPct val="100000"/>
              </a:lnSpc>
              <a:spcBef>
                <a:spcPts val="95"/>
              </a:spcBef>
              <a:buClr>
                <a:srgbClr val="3F448B"/>
              </a:buClr>
              <a:buSzPct val="60000"/>
              <a:buFont typeface="Wingdings"/>
              <a:buChar char=""/>
              <a:tabLst>
                <a:tab pos="721360" algn="l"/>
              </a:tabLst>
            </a:pPr>
            <a:r>
              <a:rPr sz="2400" dirty="0">
                <a:solidFill>
                  <a:srgbClr val="BD2C00"/>
                </a:solidFill>
                <a:latin typeface="Arial MT"/>
                <a:cs typeface="Tahoma"/>
              </a:rPr>
              <a:t>P</a:t>
            </a:r>
            <a:r>
              <a:rPr sz="2000" spc="22" baseline="-12820" dirty="0">
                <a:solidFill>
                  <a:srgbClr val="BD2C00"/>
                </a:solidFill>
                <a:latin typeface="Arial MT"/>
                <a:cs typeface="Tahoma"/>
              </a:rPr>
              <a:t>1</a:t>
            </a:r>
            <a:r>
              <a:rPr sz="2400" spc="-5" dirty="0">
                <a:solidFill>
                  <a:srgbClr val="BD2C00"/>
                </a:solidFill>
                <a:latin typeface="Arial MT"/>
                <a:cs typeface="Tahoma"/>
              </a:rPr>
              <a:t>=</a:t>
            </a:r>
            <a:r>
              <a:rPr sz="2400" dirty="0">
                <a:solidFill>
                  <a:srgbClr val="BD2C00"/>
                </a:solidFill>
                <a:latin typeface="Arial MT"/>
                <a:cs typeface="Tahoma"/>
              </a:rPr>
              <a:t>(</a:t>
            </a:r>
            <a:r>
              <a:rPr sz="2400" spc="-275" dirty="0" smtClean="0">
                <a:solidFill>
                  <a:srgbClr val="BD2C00"/>
                </a:solidFill>
                <a:latin typeface="Arial MT"/>
                <a:cs typeface="Tahoma"/>
              </a:rPr>
              <a:t>V</a:t>
            </a:r>
            <a:r>
              <a:rPr lang="en-US" sz="2400" spc="-275" dirty="0" smtClean="0">
                <a:solidFill>
                  <a:srgbClr val="BD2C00"/>
                </a:solidFill>
                <a:latin typeface="Arial MT"/>
                <a:cs typeface="Tahoma"/>
              </a:rPr>
              <a:t> </a:t>
            </a:r>
            <a:r>
              <a:rPr sz="2400" dirty="0" smtClean="0">
                <a:solidFill>
                  <a:srgbClr val="BD2C00"/>
                </a:solidFill>
                <a:latin typeface="Arial MT"/>
                <a:cs typeface="Tahoma"/>
              </a:rPr>
              <a:t>,</a:t>
            </a:r>
            <a:r>
              <a:rPr sz="2400" spc="-114" dirty="0" smtClean="0">
                <a:solidFill>
                  <a:srgbClr val="BD2C00"/>
                </a:solidFill>
                <a:latin typeface="Arial MT"/>
                <a:cs typeface="Tahoma"/>
              </a:rPr>
              <a:t> </a:t>
            </a:r>
            <a:r>
              <a:rPr sz="2400" spc="-35" dirty="0" smtClean="0">
                <a:solidFill>
                  <a:srgbClr val="BD2C00"/>
                </a:solidFill>
                <a:latin typeface="Arial MT"/>
                <a:cs typeface="Tahoma"/>
              </a:rPr>
              <a:t>b</a:t>
            </a:r>
            <a:r>
              <a:rPr lang="en-US" sz="2400" spc="-35" dirty="0" smtClean="0">
                <a:solidFill>
                  <a:srgbClr val="BD2C00"/>
                </a:solidFill>
                <a:latin typeface="Arial MT"/>
                <a:cs typeface="Tahoma"/>
              </a:rPr>
              <a:t> </a:t>
            </a:r>
            <a:r>
              <a:rPr sz="2400" dirty="0" smtClean="0">
                <a:solidFill>
                  <a:srgbClr val="BD2C00"/>
                </a:solidFill>
                <a:latin typeface="Arial MT"/>
                <a:cs typeface="Tahoma"/>
              </a:rPr>
              <a:t>,</a:t>
            </a:r>
            <a:r>
              <a:rPr sz="2400" spc="-25" dirty="0" smtClean="0">
                <a:solidFill>
                  <a:srgbClr val="BD2C00"/>
                </a:solidFill>
                <a:latin typeface="Arial MT"/>
                <a:cs typeface="Tahoma"/>
              </a:rPr>
              <a:t> </a:t>
            </a:r>
            <a:r>
              <a:rPr sz="2400" dirty="0" smtClean="0">
                <a:solidFill>
                  <a:srgbClr val="BD2C00"/>
                </a:solidFill>
                <a:latin typeface="Arial MT"/>
                <a:cs typeface="Tahoma"/>
              </a:rPr>
              <a:t>X</a:t>
            </a:r>
            <a:r>
              <a:rPr lang="en-US" sz="2400" dirty="0" smtClean="0">
                <a:solidFill>
                  <a:srgbClr val="BD2C00"/>
                </a:solidFill>
                <a:latin typeface="Arial MT"/>
                <a:cs typeface="Tahoma"/>
              </a:rPr>
              <a:t> </a:t>
            </a:r>
            <a:r>
              <a:rPr sz="2400" dirty="0" smtClean="0">
                <a:solidFill>
                  <a:srgbClr val="BD2C00"/>
                </a:solidFill>
                <a:latin typeface="Arial MT"/>
                <a:cs typeface="Tahoma"/>
              </a:rPr>
              <a:t>,</a:t>
            </a:r>
            <a:r>
              <a:rPr sz="2400" spc="-25" dirty="0" smtClean="0">
                <a:solidFill>
                  <a:srgbClr val="BD2C00"/>
                </a:solidFill>
                <a:latin typeface="Arial MT"/>
                <a:cs typeface="Tahoma"/>
              </a:rPr>
              <a:t> </a:t>
            </a:r>
            <a:r>
              <a:rPr sz="2400" spc="-5" dirty="0" smtClean="0">
                <a:solidFill>
                  <a:srgbClr val="BD2C00"/>
                </a:solidFill>
                <a:latin typeface="Arial MT"/>
                <a:cs typeface="Tahoma"/>
              </a:rPr>
              <a:t>h</a:t>
            </a:r>
            <a:r>
              <a:rPr lang="en-US" sz="2400" spc="-5" dirty="0" smtClean="0">
                <a:solidFill>
                  <a:srgbClr val="BD2C00"/>
                </a:solidFill>
                <a:latin typeface="Arial MT"/>
                <a:cs typeface="Tahoma"/>
              </a:rPr>
              <a:t> </a:t>
            </a:r>
            <a:r>
              <a:rPr sz="2400" dirty="0" smtClean="0">
                <a:solidFill>
                  <a:srgbClr val="BD2C00"/>
                </a:solidFill>
                <a:latin typeface="Arial MT"/>
                <a:cs typeface="Tahoma"/>
              </a:rPr>
              <a:t>,</a:t>
            </a:r>
            <a:r>
              <a:rPr sz="2400" spc="-20" dirty="0" smtClean="0">
                <a:solidFill>
                  <a:srgbClr val="BD2C00"/>
                </a:solidFill>
                <a:latin typeface="Arial MT"/>
                <a:cs typeface="Tahoma"/>
              </a:rPr>
              <a:t> </a:t>
            </a:r>
            <a:r>
              <a:rPr sz="2400" spc="-10" dirty="0">
                <a:solidFill>
                  <a:srgbClr val="BD2C00"/>
                </a:solidFill>
                <a:latin typeface="Arial MT"/>
                <a:cs typeface="Tahoma"/>
              </a:rPr>
              <a:t>Z</a:t>
            </a:r>
            <a:r>
              <a:rPr sz="2400" dirty="0">
                <a:solidFill>
                  <a:srgbClr val="BD2C00"/>
                </a:solidFill>
                <a:latin typeface="Arial MT"/>
                <a:cs typeface="Tahoma"/>
              </a:rPr>
              <a:t>)</a:t>
            </a:r>
            <a:r>
              <a:rPr sz="2400" spc="5" dirty="0">
                <a:solidFill>
                  <a:srgbClr val="BD2C00"/>
                </a:solidFill>
                <a:latin typeface="Arial MT"/>
                <a:cs typeface="Tahoma"/>
              </a:rPr>
              <a:t> </a:t>
            </a:r>
            <a:endParaRPr lang="en-US" sz="2400" spc="5" dirty="0" smtClean="0">
              <a:solidFill>
                <a:srgbClr val="BD2C00"/>
              </a:solidFill>
              <a:latin typeface="Arial MT"/>
              <a:cs typeface="Tahoma"/>
            </a:endParaRPr>
          </a:p>
          <a:p>
            <a:pPr marL="577850" lvl="1">
              <a:lnSpc>
                <a:spcPct val="100000"/>
              </a:lnSpc>
              <a:spcBef>
                <a:spcPts val="95"/>
              </a:spcBef>
              <a:buClr>
                <a:srgbClr val="3F448B"/>
              </a:buClr>
              <a:buSzPct val="60000"/>
              <a:tabLst>
                <a:tab pos="721360" algn="l"/>
              </a:tabLst>
            </a:pPr>
            <a:r>
              <a:rPr lang="en-US" sz="2400" spc="5" dirty="0">
                <a:solidFill>
                  <a:srgbClr val="BD2C00"/>
                </a:solidFill>
                <a:latin typeface="Arial MT"/>
                <a:cs typeface="Tahoma"/>
              </a:rPr>
              <a:t> </a:t>
            </a:r>
            <a:r>
              <a:rPr sz="2400" spc="10" dirty="0" smtClean="0">
                <a:latin typeface="Arial MT"/>
                <a:cs typeface="Tahoma"/>
              </a:rPr>
              <a:t>i</a:t>
            </a:r>
            <a:r>
              <a:rPr sz="2400" dirty="0" smtClean="0">
                <a:latin typeface="Arial MT"/>
                <a:cs typeface="Tahoma"/>
              </a:rPr>
              <a:t>s</a:t>
            </a:r>
            <a:r>
              <a:rPr sz="2400" spc="-25" dirty="0" smtClean="0">
                <a:latin typeface="Arial MT"/>
                <a:cs typeface="Tahoma"/>
              </a:rPr>
              <a:t> </a:t>
            </a:r>
            <a:r>
              <a:rPr sz="2400" dirty="0">
                <a:latin typeface="Arial MT"/>
                <a:cs typeface="Tahoma"/>
              </a:rPr>
              <a:t>a</a:t>
            </a:r>
            <a:r>
              <a:rPr sz="2400" spc="-20" dirty="0">
                <a:latin typeface="Arial MT"/>
                <a:cs typeface="Tahoma"/>
              </a:rPr>
              <a:t> </a:t>
            </a:r>
            <a:r>
              <a:rPr sz="2400" dirty="0">
                <a:latin typeface="Arial MT"/>
                <a:cs typeface="Tahoma"/>
              </a:rPr>
              <a:t>s</a:t>
            </a:r>
            <a:r>
              <a:rPr sz="2400" spc="10" dirty="0">
                <a:latin typeface="Arial MT"/>
                <a:cs typeface="Tahoma"/>
              </a:rPr>
              <a:t>i</a:t>
            </a:r>
            <a:r>
              <a:rPr sz="2400" dirty="0">
                <a:latin typeface="Arial MT"/>
                <a:cs typeface="Tahoma"/>
              </a:rPr>
              <a:t>m</a:t>
            </a:r>
            <a:r>
              <a:rPr sz="2400" spc="-5" dirty="0">
                <a:latin typeface="Arial MT"/>
                <a:cs typeface="Tahoma"/>
              </a:rPr>
              <a:t>p</a:t>
            </a:r>
            <a:r>
              <a:rPr sz="2400" spc="10" dirty="0">
                <a:latin typeface="Arial MT"/>
                <a:cs typeface="Tahoma"/>
              </a:rPr>
              <a:t>l</a:t>
            </a:r>
            <a:r>
              <a:rPr sz="2400" dirty="0">
                <a:latin typeface="Arial MT"/>
                <a:cs typeface="Tahoma"/>
              </a:rPr>
              <a:t>e</a:t>
            </a:r>
            <a:r>
              <a:rPr sz="2400" spc="-45" dirty="0">
                <a:latin typeface="Arial MT"/>
                <a:cs typeface="Tahoma"/>
              </a:rPr>
              <a:t> </a:t>
            </a:r>
            <a:r>
              <a:rPr sz="2400" spc="-5" dirty="0">
                <a:latin typeface="Arial MT"/>
                <a:cs typeface="Tahoma"/>
              </a:rPr>
              <a:t>p</a:t>
            </a:r>
            <a:r>
              <a:rPr sz="2400" spc="5" dirty="0">
                <a:latin typeface="Arial MT"/>
                <a:cs typeface="Tahoma"/>
              </a:rPr>
              <a:t>a</a:t>
            </a:r>
            <a:r>
              <a:rPr sz="2400" spc="10" dirty="0">
                <a:latin typeface="Arial MT"/>
                <a:cs typeface="Tahoma"/>
              </a:rPr>
              <a:t>t</a:t>
            </a:r>
            <a:r>
              <a:rPr sz="2400" dirty="0">
                <a:latin typeface="Arial MT"/>
                <a:cs typeface="Tahoma"/>
              </a:rPr>
              <a:t>h</a:t>
            </a:r>
          </a:p>
          <a:p>
            <a:pPr marL="721360" lvl="1" indent="-143510">
              <a:lnSpc>
                <a:spcPct val="100000"/>
              </a:lnSpc>
              <a:spcBef>
                <a:spcPts val="95"/>
              </a:spcBef>
              <a:buClr>
                <a:srgbClr val="3F448B"/>
              </a:buClr>
              <a:buSzPct val="60000"/>
              <a:buFont typeface="Wingdings"/>
              <a:buChar char=""/>
              <a:tabLst>
                <a:tab pos="721360" algn="l"/>
              </a:tabLst>
            </a:pPr>
            <a:r>
              <a:rPr sz="2400" dirty="0">
                <a:solidFill>
                  <a:srgbClr val="566F51"/>
                </a:solidFill>
                <a:latin typeface="Arial MT"/>
                <a:cs typeface="Tahoma"/>
              </a:rPr>
              <a:t>P</a:t>
            </a:r>
            <a:r>
              <a:rPr sz="2000" spc="22" baseline="-12820" dirty="0">
                <a:solidFill>
                  <a:srgbClr val="566F51"/>
                </a:solidFill>
                <a:latin typeface="Arial MT"/>
                <a:cs typeface="Tahoma"/>
              </a:rPr>
              <a:t>2</a:t>
            </a:r>
            <a:r>
              <a:rPr sz="2400" spc="-5" dirty="0">
                <a:solidFill>
                  <a:srgbClr val="566F51"/>
                </a:solidFill>
                <a:latin typeface="Arial MT"/>
                <a:cs typeface="Tahoma"/>
              </a:rPr>
              <a:t>=</a:t>
            </a:r>
            <a:r>
              <a:rPr sz="2400" dirty="0">
                <a:solidFill>
                  <a:srgbClr val="566F51"/>
                </a:solidFill>
                <a:latin typeface="Arial MT"/>
                <a:cs typeface="Tahoma"/>
              </a:rPr>
              <a:t>(</a:t>
            </a:r>
            <a:r>
              <a:rPr sz="2400" spc="-15" dirty="0">
                <a:solidFill>
                  <a:srgbClr val="566F51"/>
                </a:solidFill>
                <a:latin typeface="Arial MT"/>
                <a:cs typeface="Tahoma"/>
              </a:rPr>
              <a:t>U</a:t>
            </a:r>
            <a:r>
              <a:rPr sz="2400" dirty="0">
                <a:solidFill>
                  <a:srgbClr val="566F51"/>
                </a:solidFill>
                <a:latin typeface="Arial MT"/>
                <a:cs typeface="Tahoma"/>
              </a:rPr>
              <a:t>,</a:t>
            </a:r>
            <a:r>
              <a:rPr sz="2400" spc="-110" dirty="0">
                <a:solidFill>
                  <a:srgbClr val="566F51"/>
                </a:solidFill>
                <a:latin typeface="Arial MT"/>
                <a:cs typeface="Tahoma"/>
              </a:rPr>
              <a:t> </a:t>
            </a:r>
            <a:r>
              <a:rPr sz="2400" spc="5" dirty="0">
                <a:solidFill>
                  <a:srgbClr val="566F51"/>
                </a:solidFill>
                <a:latin typeface="Arial MT"/>
                <a:cs typeface="Tahoma"/>
              </a:rPr>
              <a:t>c</a:t>
            </a:r>
            <a:r>
              <a:rPr sz="2400" dirty="0">
                <a:solidFill>
                  <a:srgbClr val="566F51"/>
                </a:solidFill>
                <a:latin typeface="Arial MT"/>
                <a:cs typeface="Tahoma"/>
              </a:rPr>
              <a:t>,</a:t>
            </a:r>
            <a:r>
              <a:rPr sz="2400" spc="-15" dirty="0">
                <a:solidFill>
                  <a:srgbClr val="566F51"/>
                </a:solidFill>
                <a:latin typeface="Arial MT"/>
                <a:cs typeface="Tahoma"/>
              </a:rPr>
              <a:t> </a:t>
            </a:r>
            <a:r>
              <a:rPr sz="2400" spc="-275" dirty="0" smtClean="0">
                <a:solidFill>
                  <a:srgbClr val="566F51"/>
                </a:solidFill>
                <a:latin typeface="Arial MT"/>
                <a:cs typeface="Tahoma"/>
              </a:rPr>
              <a:t>W</a:t>
            </a:r>
            <a:r>
              <a:rPr lang="en-US" sz="2400" spc="-275" dirty="0" smtClean="0">
                <a:solidFill>
                  <a:srgbClr val="566F51"/>
                </a:solidFill>
                <a:latin typeface="Arial MT"/>
                <a:cs typeface="Tahoma"/>
              </a:rPr>
              <a:t> </a:t>
            </a:r>
            <a:r>
              <a:rPr sz="2400" dirty="0" smtClean="0">
                <a:solidFill>
                  <a:srgbClr val="566F51"/>
                </a:solidFill>
                <a:latin typeface="Arial MT"/>
                <a:cs typeface="Tahoma"/>
              </a:rPr>
              <a:t>,</a:t>
            </a:r>
            <a:r>
              <a:rPr sz="2400" spc="-25" dirty="0" smtClean="0">
                <a:solidFill>
                  <a:srgbClr val="566F51"/>
                </a:solidFill>
                <a:latin typeface="Arial MT"/>
                <a:cs typeface="Tahoma"/>
              </a:rPr>
              <a:t> </a:t>
            </a:r>
            <a:r>
              <a:rPr sz="2400" spc="-5" dirty="0">
                <a:solidFill>
                  <a:srgbClr val="566F51"/>
                </a:solidFill>
                <a:latin typeface="Arial MT"/>
                <a:cs typeface="Tahoma"/>
              </a:rPr>
              <a:t>e</a:t>
            </a:r>
            <a:r>
              <a:rPr sz="2400" dirty="0">
                <a:solidFill>
                  <a:srgbClr val="566F51"/>
                </a:solidFill>
                <a:latin typeface="Arial MT"/>
                <a:cs typeface="Tahoma"/>
              </a:rPr>
              <a:t>,</a:t>
            </a:r>
            <a:r>
              <a:rPr sz="2400" spc="-20" dirty="0">
                <a:solidFill>
                  <a:srgbClr val="566F51"/>
                </a:solidFill>
                <a:latin typeface="Arial MT"/>
                <a:cs typeface="Tahoma"/>
              </a:rPr>
              <a:t> </a:t>
            </a:r>
            <a:r>
              <a:rPr sz="2400" dirty="0">
                <a:solidFill>
                  <a:srgbClr val="566F51"/>
                </a:solidFill>
                <a:latin typeface="Arial MT"/>
                <a:cs typeface="Tahoma"/>
              </a:rPr>
              <a:t>X,</a:t>
            </a:r>
            <a:r>
              <a:rPr sz="2400" spc="-25" dirty="0">
                <a:solidFill>
                  <a:srgbClr val="566F51"/>
                </a:solidFill>
                <a:latin typeface="Arial MT"/>
                <a:cs typeface="Tahoma"/>
              </a:rPr>
              <a:t> </a:t>
            </a:r>
            <a:r>
              <a:rPr sz="2400" spc="-10" dirty="0">
                <a:solidFill>
                  <a:srgbClr val="566F51"/>
                </a:solidFill>
                <a:latin typeface="Arial MT"/>
                <a:cs typeface="Tahoma"/>
              </a:rPr>
              <a:t>g</a:t>
            </a:r>
            <a:r>
              <a:rPr sz="2400" dirty="0">
                <a:solidFill>
                  <a:srgbClr val="566F51"/>
                </a:solidFill>
                <a:latin typeface="Arial MT"/>
                <a:cs typeface="Tahoma"/>
              </a:rPr>
              <a:t>,</a:t>
            </a:r>
            <a:r>
              <a:rPr sz="2400" spc="-20" dirty="0">
                <a:solidFill>
                  <a:srgbClr val="566F51"/>
                </a:solidFill>
                <a:latin typeface="Arial MT"/>
                <a:cs typeface="Tahoma"/>
              </a:rPr>
              <a:t> </a:t>
            </a:r>
            <a:r>
              <a:rPr sz="2400" spc="-270" dirty="0">
                <a:solidFill>
                  <a:srgbClr val="566F51"/>
                </a:solidFill>
                <a:latin typeface="Arial MT"/>
                <a:cs typeface="Tahoma"/>
              </a:rPr>
              <a:t>Y</a:t>
            </a:r>
            <a:r>
              <a:rPr sz="2400" dirty="0">
                <a:solidFill>
                  <a:srgbClr val="566F51"/>
                </a:solidFill>
                <a:latin typeface="Arial MT"/>
                <a:cs typeface="Tahoma"/>
              </a:rPr>
              <a:t>,</a:t>
            </a:r>
            <a:r>
              <a:rPr sz="2400" spc="-20" dirty="0">
                <a:solidFill>
                  <a:srgbClr val="566F51"/>
                </a:solidFill>
                <a:latin typeface="Arial MT"/>
                <a:cs typeface="Tahoma"/>
              </a:rPr>
              <a:t> </a:t>
            </a:r>
            <a:r>
              <a:rPr sz="2400" spc="-150" dirty="0" smtClean="0">
                <a:solidFill>
                  <a:srgbClr val="566F51"/>
                </a:solidFill>
                <a:latin typeface="Arial MT"/>
                <a:cs typeface="Tahoma"/>
              </a:rPr>
              <a:t>f</a:t>
            </a:r>
            <a:r>
              <a:rPr lang="en-US" sz="2400" spc="-150" dirty="0" smtClean="0">
                <a:solidFill>
                  <a:srgbClr val="566F51"/>
                </a:solidFill>
                <a:latin typeface="Arial MT"/>
                <a:cs typeface="Tahoma"/>
              </a:rPr>
              <a:t> </a:t>
            </a:r>
            <a:r>
              <a:rPr sz="2400" dirty="0" smtClean="0">
                <a:solidFill>
                  <a:srgbClr val="566F51"/>
                </a:solidFill>
                <a:latin typeface="Arial MT"/>
                <a:cs typeface="Tahoma"/>
              </a:rPr>
              <a:t>,</a:t>
            </a:r>
            <a:r>
              <a:rPr sz="2400" spc="-20" dirty="0" smtClean="0">
                <a:solidFill>
                  <a:srgbClr val="566F51"/>
                </a:solidFill>
                <a:latin typeface="Arial MT"/>
                <a:cs typeface="Tahoma"/>
              </a:rPr>
              <a:t> </a:t>
            </a:r>
            <a:r>
              <a:rPr sz="2400" spc="-275" dirty="0" smtClean="0">
                <a:solidFill>
                  <a:srgbClr val="566F51"/>
                </a:solidFill>
                <a:latin typeface="Arial MT"/>
                <a:cs typeface="Tahoma"/>
              </a:rPr>
              <a:t>W</a:t>
            </a:r>
            <a:r>
              <a:rPr lang="en-US" sz="2400" spc="-275" dirty="0" smtClean="0">
                <a:solidFill>
                  <a:srgbClr val="566F51"/>
                </a:solidFill>
                <a:latin typeface="Arial MT"/>
                <a:cs typeface="Tahoma"/>
              </a:rPr>
              <a:t> </a:t>
            </a:r>
            <a:r>
              <a:rPr sz="2400" dirty="0" smtClean="0">
                <a:solidFill>
                  <a:srgbClr val="566F51"/>
                </a:solidFill>
                <a:latin typeface="Arial MT"/>
                <a:cs typeface="Tahoma"/>
              </a:rPr>
              <a:t>,</a:t>
            </a:r>
            <a:r>
              <a:rPr sz="2400" spc="-25" dirty="0" smtClean="0">
                <a:solidFill>
                  <a:srgbClr val="566F51"/>
                </a:solidFill>
                <a:latin typeface="Arial MT"/>
                <a:cs typeface="Tahoma"/>
              </a:rPr>
              <a:t> </a:t>
            </a:r>
            <a:r>
              <a:rPr sz="2400" spc="-10" dirty="0" smtClean="0">
                <a:solidFill>
                  <a:srgbClr val="566F51"/>
                </a:solidFill>
                <a:latin typeface="Arial MT"/>
                <a:cs typeface="Tahoma"/>
              </a:rPr>
              <a:t>d</a:t>
            </a:r>
            <a:r>
              <a:rPr lang="en-US" sz="2400" spc="-10" dirty="0" smtClean="0">
                <a:solidFill>
                  <a:srgbClr val="566F51"/>
                </a:solidFill>
                <a:latin typeface="Arial MT"/>
                <a:cs typeface="Tahoma"/>
              </a:rPr>
              <a:t> </a:t>
            </a:r>
            <a:r>
              <a:rPr sz="2400" dirty="0" smtClean="0">
                <a:solidFill>
                  <a:srgbClr val="566F51"/>
                </a:solidFill>
                <a:latin typeface="Arial MT"/>
                <a:cs typeface="Tahoma"/>
              </a:rPr>
              <a:t>,</a:t>
            </a:r>
            <a:r>
              <a:rPr sz="2400" spc="-20" dirty="0" smtClean="0">
                <a:solidFill>
                  <a:srgbClr val="566F51"/>
                </a:solidFill>
                <a:latin typeface="Arial MT"/>
                <a:cs typeface="Tahoma"/>
              </a:rPr>
              <a:t> </a:t>
            </a:r>
            <a:r>
              <a:rPr sz="2400" spc="-5" dirty="0" smtClean="0">
                <a:solidFill>
                  <a:srgbClr val="566F51"/>
                </a:solidFill>
                <a:latin typeface="Arial MT"/>
                <a:cs typeface="Tahoma"/>
              </a:rPr>
              <a:t>V)</a:t>
            </a:r>
            <a:endParaRPr lang="en-US" sz="2400" spc="-5" dirty="0" smtClean="0">
              <a:solidFill>
                <a:srgbClr val="566F51"/>
              </a:solidFill>
              <a:latin typeface="Arial MT"/>
              <a:cs typeface="Tahoma"/>
            </a:endParaRPr>
          </a:p>
          <a:p>
            <a:pPr marL="577850" lvl="1">
              <a:lnSpc>
                <a:spcPct val="100000"/>
              </a:lnSpc>
              <a:spcBef>
                <a:spcPts val="95"/>
              </a:spcBef>
              <a:buClr>
                <a:srgbClr val="3F448B"/>
              </a:buClr>
              <a:buSzPct val="60000"/>
              <a:tabLst>
                <a:tab pos="721360" algn="l"/>
              </a:tabLst>
            </a:pPr>
            <a:r>
              <a:rPr lang="en-US" sz="2400" dirty="0" smtClean="0">
                <a:latin typeface="Arial MT"/>
                <a:cs typeface="Tahoma"/>
              </a:rPr>
              <a:t> </a:t>
            </a:r>
            <a:r>
              <a:rPr sz="2400" spc="10" dirty="0" smtClean="0">
                <a:latin typeface="Arial MT"/>
                <a:cs typeface="Tahoma"/>
              </a:rPr>
              <a:t>i</a:t>
            </a:r>
            <a:r>
              <a:rPr sz="2400" dirty="0" smtClean="0">
                <a:latin typeface="Arial MT"/>
                <a:cs typeface="Tahoma"/>
              </a:rPr>
              <a:t>s</a:t>
            </a:r>
            <a:r>
              <a:rPr sz="2400" spc="5" dirty="0" smtClean="0">
                <a:latin typeface="Arial MT"/>
                <a:cs typeface="Tahoma"/>
              </a:rPr>
              <a:t> </a:t>
            </a:r>
            <a:r>
              <a:rPr sz="2400" dirty="0">
                <a:latin typeface="Arial MT"/>
                <a:cs typeface="Tahoma"/>
              </a:rPr>
              <a:t>a</a:t>
            </a:r>
            <a:r>
              <a:rPr sz="2400" spc="10" dirty="0">
                <a:latin typeface="Arial MT"/>
                <a:cs typeface="Tahoma"/>
              </a:rPr>
              <a:t> </a:t>
            </a:r>
            <a:r>
              <a:rPr sz="2400" spc="-5" dirty="0">
                <a:latin typeface="Arial MT"/>
                <a:cs typeface="Tahoma"/>
              </a:rPr>
              <a:t>p</a:t>
            </a:r>
            <a:r>
              <a:rPr sz="2400" spc="5" dirty="0">
                <a:latin typeface="Arial MT"/>
                <a:cs typeface="Tahoma"/>
              </a:rPr>
              <a:t>a</a:t>
            </a:r>
            <a:r>
              <a:rPr sz="2400" spc="10" dirty="0">
                <a:latin typeface="Arial MT"/>
                <a:cs typeface="Tahoma"/>
              </a:rPr>
              <a:t>t</a:t>
            </a:r>
            <a:r>
              <a:rPr sz="2400" dirty="0">
                <a:latin typeface="Arial MT"/>
                <a:cs typeface="Tahoma"/>
              </a:rPr>
              <a:t>h</a:t>
            </a:r>
            <a:r>
              <a:rPr sz="2400" spc="5" dirty="0">
                <a:latin typeface="Arial MT"/>
                <a:cs typeface="Tahoma"/>
              </a:rPr>
              <a:t> </a:t>
            </a:r>
            <a:r>
              <a:rPr sz="2400" spc="10" dirty="0">
                <a:latin typeface="Arial MT"/>
                <a:cs typeface="Tahoma"/>
              </a:rPr>
              <a:t>t</a:t>
            </a:r>
            <a:r>
              <a:rPr sz="2400" dirty="0">
                <a:latin typeface="Arial MT"/>
                <a:cs typeface="Tahoma"/>
              </a:rPr>
              <a:t>h</a:t>
            </a:r>
            <a:r>
              <a:rPr sz="2400" spc="5" dirty="0">
                <a:latin typeface="Arial MT"/>
                <a:cs typeface="Tahoma"/>
              </a:rPr>
              <a:t>a</a:t>
            </a:r>
            <a:r>
              <a:rPr sz="2400" dirty="0">
                <a:latin typeface="Arial MT"/>
                <a:cs typeface="Tahoma"/>
              </a:rPr>
              <a:t>t</a:t>
            </a:r>
            <a:r>
              <a:rPr sz="2400" spc="10" dirty="0">
                <a:latin typeface="Arial MT"/>
                <a:cs typeface="Tahoma"/>
              </a:rPr>
              <a:t> i</a:t>
            </a:r>
            <a:r>
              <a:rPr sz="2400" dirty="0">
                <a:latin typeface="Arial MT"/>
                <a:cs typeface="Tahoma"/>
              </a:rPr>
              <a:t>s</a:t>
            </a:r>
            <a:r>
              <a:rPr sz="2400" spc="5" dirty="0">
                <a:latin typeface="Arial MT"/>
                <a:cs typeface="Tahoma"/>
              </a:rPr>
              <a:t> </a:t>
            </a:r>
            <a:r>
              <a:rPr sz="2400" dirty="0">
                <a:latin typeface="Arial MT"/>
                <a:cs typeface="Tahoma"/>
              </a:rPr>
              <a:t>n</a:t>
            </a:r>
            <a:r>
              <a:rPr sz="2400" spc="5" dirty="0">
                <a:latin typeface="Arial MT"/>
                <a:cs typeface="Tahoma"/>
              </a:rPr>
              <a:t>o</a:t>
            </a:r>
            <a:r>
              <a:rPr sz="2400" dirty="0">
                <a:latin typeface="Arial MT"/>
                <a:cs typeface="Tahoma"/>
              </a:rPr>
              <a:t>t</a:t>
            </a:r>
            <a:r>
              <a:rPr sz="2400" spc="-185" dirty="0">
                <a:latin typeface="Arial MT"/>
                <a:cs typeface="Tahoma"/>
              </a:rPr>
              <a:t> </a:t>
            </a:r>
            <a:r>
              <a:rPr sz="2400" dirty="0">
                <a:latin typeface="Arial MT"/>
                <a:cs typeface="Tahoma"/>
              </a:rPr>
              <a:t>s</a:t>
            </a:r>
            <a:r>
              <a:rPr sz="2400" spc="10" dirty="0">
                <a:latin typeface="Arial MT"/>
                <a:cs typeface="Tahoma"/>
              </a:rPr>
              <a:t>i</a:t>
            </a:r>
            <a:r>
              <a:rPr sz="2400" dirty="0">
                <a:latin typeface="Arial MT"/>
                <a:cs typeface="Tahoma"/>
              </a:rPr>
              <a:t>m</a:t>
            </a:r>
            <a:r>
              <a:rPr sz="2400" spc="-5" dirty="0">
                <a:latin typeface="Arial MT"/>
                <a:cs typeface="Tahoma"/>
              </a:rPr>
              <a:t>p</a:t>
            </a:r>
            <a:r>
              <a:rPr sz="2400" spc="10" dirty="0">
                <a:latin typeface="Arial MT"/>
                <a:cs typeface="Tahoma"/>
              </a:rPr>
              <a:t>l</a:t>
            </a:r>
            <a:r>
              <a:rPr sz="2400" dirty="0">
                <a:latin typeface="Arial MT"/>
                <a:cs typeface="Tahoma"/>
              </a:rPr>
              <a:t>e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388265" y="1524000"/>
            <a:ext cx="3803735" cy="3581849"/>
          </a:xfrm>
          <a:prstGeom prst="rect">
            <a:avLst/>
          </a:prstGeom>
        </p:spPr>
      </p:pic>
      <p:sp>
        <p:nvSpPr>
          <p:cNvPr id="5" name="Slide Number Placeholder 4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38099">
              <a:lnSpc>
                <a:spcPts val="1535"/>
              </a:lnSpc>
            </a:pPr>
            <a:fld id="{81D60167-4931-47E6-BA6A-407CBD079E47}" type="slidenum">
              <a:rPr lang="en-US" smtClean="0"/>
              <a:pPr marL="38099">
                <a:lnSpc>
                  <a:spcPts val="1535"/>
                </a:lnSpc>
              </a:pPr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145113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2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2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2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2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3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5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41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42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3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44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5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46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7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48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611124"/>
            <a:ext cx="2785110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40" dirty="0"/>
              <a:t>Terminology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12800" y="1806447"/>
            <a:ext cx="6959600" cy="4537139"/>
          </a:xfrm>
          <a:prstGeom prst="rect">
            <a:avLst/>
          </a:prstGeom>
        </p:spPr>
        <p:txBody>
          <a:bodyPr vert="horz" wrap="square" lIns="0" tIns="45720" rIns="0" bIns="0" rtlCol="0">
            <a:spAutoFit/>
          </a:bodyPr>
          <a:lstStyle/>
          <a:p>
            <a:pPr marL="254000" indent="-228600">
              <a:lnSpc>
                <a:spcPct val="100000"/>
              </a:lnSpc>
              <a:spcBef>
                <a:spcPts val="360"/>
              </a:spcBef>
              <a:buFont typeface="Arial MT"/>
              <a:buChar char="•"/>
              <a:tabLst>
                <a:tab pos="253365" algn="l"/>
                <a:tab pos="254000" algn="l"/>
              </a:tabLst>
            </a:pPr>
            <a:r>
              <a:rPr sz="2400" spc="-10" dirty="0">
                <a:latin typeface="Arial MT"/>
                <a:cs typeface="Tahoma"/>
              </a:rPr>
              <a:t>Cycle</a:t>
            </a:r>
            <a:endParaRPr sz="2400" dirty="0">
              <a:latin typeface="Arial MT"/>
              <a:cs typeface="Tahoma"/>
            </a:endParaRPr>
          </a:p>
          <a:p>
            <a:pPr marL="721360" lvl="1" indent="-143510">
              <a:lnSpc>
                <a:spcPct val="100000"/>
              </a:lnSpc>
              <a:spcBef>
                <a:spcPts val="204"/>
              </a:spcBef>
              <a:buSzPct val="62500"/>
              <a:buFont typeface="Wingdings"/>
              <a:buChar char=""/>
              <a:tabLst>
                <a:tab pos="721360" algn="l"/>
              </a:tabLst>
            </a:pPr>
            <a:r>
              <a:rPr sz="2000" dirty="0">
                <a:latin typeface="Arial MT"/>
                <a:cs typeface="Tahoma"/>
              </a:rPr>
              <a:t>A </a:t>
            </a:r>
            <a:r>
              <a:rPr sz="2000" spc="-5" dirty="0">
                <a:latin typeface="Arial MT"/>
                <a:cs typeface="Tahoma"/>
              </a:rPr>
              <a:t>c</a:t>
            </a:r>
            <a:r>
              <a:rPr sz="2000" spc="-10" dirty="0">
                <a:latin typeface="Arial MT"/>
                <a:cs typeface="Tahoma"/>
              </a:rPr>
              <a:t>y</a:t>
            </a:r>
            <a:r>
              <a:rPr sz="2000" spc="-5" dirty="0">
                <a:latin typeface="Arial MT"/>
                <a:cs typeface="Tahoma"/>
              </a:rPr>
              <a:t>cl</a:t>
            </a:r>
            <a:r>
              <a:rPr sz="2000" dirty="0">
                <a:latin typeface="Arial MT"/>
                <a:cs typeface="Tahoma"/>
              </a:rPr>
              <a:t>e</a:t>
            </a:r>
            <a:r>
              <a:rPr sz="2000" spc="-10" dirty="0">
                <a:latin typeface="Arial MT"/>
                <a:cs typeface="Tahoma"/>
              </a:rPr>
              <a:t> </a:t>
            </a:r>
            <a:r>
              <a:rPr sz="2000" dirty="0">
                <a:latin typeface="Arial MT"/>
                <a:cs typeface="Tahoma"/>
              </a:rPr>
              <a:t>is</a:t>
            </a:r>
            <a:r>
              <a:rPr sz="2000" spc="5" dirty="0">
                <a:latin typeface="Arial MT"/>
                <a:cs typeface="Tahoma"/>
              </a:rPr>
              <a:t> </a:t>
            </a:r>
            <a:r>
              <a:rPr sz="2000" dirty="0">
                <a:latin typeface="Arial MT"/>
                <a:cs typeface="Tahoma"/>
              </a:rPr>
              <a:t>a</a:t>
            </a:r>
            <a:r>
              <a:rPr sz="2000" spc="-5" dirty="0">
                <a:latin typeface="Arial MT"/>
                <a:cs typeface="Tahoma"/>
              </a:rPr>
              <a:t> </a:t>
            </a:r>
            <a:r>
              <a:rPr sz="2000" dirty="0">
                <a:latin typeface="Arial MT"/>
                <a:cs typeface="Tahoma"/>
              </a:rPr>
              <a:t>p</a:t>
            </a:r>
            <a:r>
              <a:rPr sz="2000" spc="-5" dirty="0">
                <a:latin typeface="Arial MT"/>
                <a:cs typeface="Tahoma"/>
              </a:rPr>
              <a:t>a</a:t>
            </a:r>
            <a:r>
              <a:rPr sz="2000" dirty="0">
                <a:latin typeface="Arial MT"/>
                <a:cs typeface="Tahoma"/>
              </a:rPr>
              <a:t>th</a:t>
            </a:r>
            <a:r>
              <a:rPr sz="2000" spc="-10" dirty="0">
                <a:latin typeface="Arial MT"/>
                <a:cs typeface="Tahoma"/>
              </a:rPr>
              <a:t> </a:t>
            </a:r>
            <a:r>
              <a:rPr sz="2000" dirty="0">
                <a:latin typeface="Arial MT"/>
                <a:cs typeface="Tahoma"/>
              </a:rPr>
              <a:t>w</a:t>
            </a:r>
            <a:r>
              <a:rPr sz="2000" spc="-10" dirty="0">
                <a:latin typeface="Arial MT"/>
                <a:cs typeface="Tahoma"/>
              </a:rPr>
              <a:t>h</a:t>
            </a:r>
            <a:r>
              <a:rPr sz="2000" spc="5" dirty="0">
                <a:latin typeface="Arial MT"/>
                <a:cs typeface="Tahoma"/>
              </a:rPr>
              <a:t>o</a:t>
            </a:r>
            <a:r>
              <a:rPr sz="2000" spc="-5" dirty="0">
                <a:latin typeface="Arial MT"/>
                <a:cs typeface="Tahoma"/>
              </a:rPr>
              <a:t>s</a:t>
            </a:r>
            <a:r>
              <a:rPr sz="2000" dirty="0">
                <a:latin typeface="Arial MT"/>
                <a:cs typeface="Tahoma"/>
              </a:rPr>
              <a:t>e</a:t>
            </a:r>
            <a:r>
              <a:rPr sz="2000" spc="-5" dirty="0">
                <a:latin typeface="Arial MT"/>
                <a:cs typeface="Tahoma"/>
              </a:rPr>
              <a:t> s</a:t>
            </a:r>
            <a:r>
              <a:rPr sz="2000" dirty="0">
                <a:latin typeface="Arial MT"/>
                <a:cs typeface="Tahoma"/>
              </a:rPr>
              <a:t>t</a:t>
            </a:r>
            <a:r>
              <a:rPr sz="2000" spc="-5" dirty="0">
                <a:latin typeface="Arial MT"/>
                <a:cs typeface="Tahoma"/>
              </a:rPr>
              <a:t>ar</a:t>
            </a:r>
            <a:r>
              <a:rPr sz="2000" dirty="0">
                <a:latin typeface="Arial MT"/>
                <a:cs typeface="Tahoma"/>
              </a:rPr>
              <a:t>t</a:t>
            </a:r>
            <a:r>
              <a:rPr sz="2000" spc="-175" dirty="0">
                <a:latin typeface="Arial MT"/>
                <a:cs typeface="Tahoma"/>
              </a:rPr>
              <a:t> </a:t>
            </a:r>
            <a:r>
              <a:rPr sz="2000" spc="-10" dirty="0">
                <a:latin typeface="Arial MT"/>
                <a:cs typeface="Tahoma"/>
              </a:rPr>
              <a:t>a</a:t>
            </a:r>
            <a:r>
              <a:rPr sz="2000" spc="-15" dirty="0">
                <a:latin typeface="Arial MT"/>
                <a:cs typeface="Tahoma"/>
              </a:rPr>
              <a:t>n</a:t>
            </a:r>
            <a:r>
              <a:rPr sz="2000" dirty="0">
                <a:latin typeface="Arial MT"/>
                <a:cs typeface="Tahoma"/>
              </a:rPr>
              <a:t>d </a:t>
            </a:r>
            <a:r>
              <a:rPr sz="2000" spc="-15" dirty="0">
                <a:latin typeface="Arial MT"/>
                <a:cs typeface="Tahoma"/>
              </a:rPr>
              <a:t> </a:t>
            </a:r>
            <a:r>
              <a:rPr sz="2000" spc="-10" dirty="0">
                <a:latin typeface="Arial MT"/>
                <a:cs typeface="Tahoma"/>
              </a:rPr>
              <a:t>e</a:t>
            </a:r>
            <a:r>
              <a:rPr sz="2000" spc="-15" dirty="0">
                <a:latin typeface="Arial MT"/>
                <a:cs typeface="Tahoma"/>
              </a:rPr>
              <a:t>n</a:t>
            </a:r>
            <a:r>
              <a:rPr sz="2000" dirty="0">
                <a:latin typeface="Arial MT"/>
                <a:cs typeface="Tahoma"/>
              </a:rPr>
              <a:t>d</a:t>
            </a:r>
            <a:r>
              <a:rPr sz="2000" spc="-5" dirty="0">
                <a:latin typeface="Arial MT"/>
                <a:cs typeface="Tahoma"/>
              </a:rPr>
              <a:t> </a:t>
            </a:r>
            <a:r>
              <a:rPr sz="2000" spc="-10" dirty="0">
                <a:latin typeface="Arial MT"/>
                <a:cs typeface="Tahoma"/>
              </a:rPr>
              <a:t>v</a:t>
            </a:r>
            <a:r>
              <a:rPr sz="2000" spc="-5" dirty="0">
                <a:latin typeface="Arial MT"/>
                <a:cs typeface="Tahoma"/>
              </a:rPr>
              <a:t>er</a:t>
            </a:r>
            <a:r>
              <a:rPr sz="2000" dirty="0">
                <a:latin typeface="Arial MT"/>
                <a:cs typeface="Tahoma"/>
              </a:rPr>
              <a:t>t</a:t>
            </a:r>
            <a:r>
              <a:rPr sz="2000" spc="-5" dirty="0">
                <a:latin typeface="Arial MT"/>
                <a:cs typeface="Tahoma"/>
              </a:rPr>
              <a:t>ic</a:t>
            </a:r>
            <a:r>
              <a:rPr sz="2000" spc="-10" dirty="0">
                <a:latin typeface="Arial MT"/>
                <a:cs typeface="Tahoma"/>
              </a:rPr>
              <a:t>e</a:t>
            </a:r>
            <a:r>
              <a:rPr sz="2000" dirty="0">
                <a:latin typeface="Arial MT"/>
                <a:cs typeface="Tahoma"/>
              </a:rPr>
              <a:t>s</a:t>
            </a:r>
            <a:r>
              <a:rPr sz="2000" spc="-5" dirty="0">
                <a:latin typeface="Arial MT"/>
                <a:cs typeface="Tahoma"/>
              </a:rPr>
              <a:t> a</a:t>
            </a:r>
            <a:r>
              <a:rPr sz="2000" spc="-10" dirty="0">
                <a:latin typeface="Arial MT"/>
                <a:cs typeface="Tahoma"/>
              </a:rPr>
              <a:t>r</a:t>
            </a:r>
            <a:r>
              <a:rPr sz="2000" dirty="0">
                <a:latin typeface="Arial MT"/>
                <a:cs typeface="Tahoma"/>
              </a:rPr>
              <a:t>e</a:t>
            </a:r>
            <a:r>
              <a:rPr sz="2000" spc="-5" dirty="0">
                <a:latin typeface="Arial MT"/>
                <a:cs typeface="Tahoma"/>
              </a:rPr>
              <a:t> t</a:t>
            </a:r>
            <a:r>
              <a:rPr sz="2000" spc="-15" dirty="0">
                <a:latin typeface="Arial MT"/>
                <a:cs typeface="Tahoma"/>
              </a:rPr>
              <a:t>h</a:t>
            </a:r>
            <a:r>
              <a:rPr sz="2000" dirty="0">
                <a:latin typeface="Arial MT"/>
                <a:cs typeface="Tahoma"/>
              </a:rPr>
              <a:t>e</a:t>
            </a:r>
            <a:r>
              <a:rPr sz="2000" spc="-85" dirty="0">
                <a:latin typeface="Arial MT"/>
                <a:cs typeface="Tahoma"/>
              </a:rPr>
              <a:t> </a:t>
            </a:r>
            <a:r>
              <a:rPr sz="2000" spc="-5" dirty="0">
                <a:latin typeface="Arial MT"/>
                <a:cs typeface="Tahoma"/>
              </a:rPr>
              <a:t>sa</a:t>
            </a:r>
            <a:r>
              <a:rPr sz="2000" spc="5" dirty="0">
                <a:latin typeface="Arial MT"/>
                <a:cs typeface="Tahoma"/>
              </a:rPr>
              <a:t>m</a:t>
            </a:r>
            <a:r>
              <a:rPr sz="2000" dirty="0">
                <a:latin typeface="Arial MT"/>
                <a:cs typeface="Tahoma"/>
              </a:rPr>
              <a:t>e</a:t>
            </a:r>
          </a:p>
          <a:p>
            <a:pPr marL="721360" lvl="1" indent="-143510">
              <a:lnSpc>
                <a:spcPct val="100000"/>
              </a:lnSpc>
              <a:spcBef>
                <a:spcPts val="170"/>
              </a:spcBef>
              <a:buSzPct val="62500"/>
              <a:buFont typeface="Wingdings"/>
              <a:buChar char=""/>
              <a:tabLst>
                <a:tab pos="721360" algn="l"/>
                <a:tab pos="4043045" algn="l"/>
              </a:tabLst>
            </a:pPr>
            <a:r>
              <a:rPr sz="2000" spc="-10" dirty="0">
                <a:latin typeface="Arial MT"/>
                <a:cs typeface="Tahoma"/>
              </a:rPr>
              <a:t>each</a:t>
            </a:r>
            <a:r>
              <a:rPr sz="2000" spc="-5" dirty="0">
                <a:latin typeface="Arial MT"/>
                <a:cs typeface="Tahoma"/>
              </a:rPr>
              <a:t> edge</a:t>
            </a:r>
            <a:r>
              <a:rPr sz="2000" spc="5" dirty="0">
                <a:latin typeface="Arial MT"/>
                <a:cs typeface="Tahoma"/>
              </a:rPr>
              <a:t> </a:t>
            </a:r>
            <a:r>
              <a:rPr sz="2000" dirty="0">
                <a:latin typeface="Arial MT"/>
                <a:cs typeface="Tahoma"/>
              </a:rPr>
              <a:t>is</a:t>
            </a:r>
            <a:r>
              <a:rPr sz="2000" spc="20" dirty="0">
                <a:latin typeface="Arial MT"/>
                <a:cs typeface="Tahoma"/>
              </a:rPr>
              <a:t> </a:t>
            </a:r>
            <a:r>
              <a:rPr sz="2000" spc="-10" dirty="0">
                <a:latin typeface="Arial MT"/>
                <a:cs typeface="Tahoma"/>
              </a:rPr>
              <a:t>preceded</a:t>
            </a:r>
            <a:r>
              <a:rPr sz="2000" dirty="0">
                <a:latin typeface="Arial MT"/>
                <a:cs typeface="Tahoma"/>
              </a:rPr>
              <a:t> </a:t>
            </a:r>
            <a:r>
              <a:rPr sz="2000" spc="-10" dirty="0">
                <a:latin typeface="Arial MT"/>
                <a:cs typeface="Tahoma"/>
              </a:rPr>
              <a:t>and</a:t>
            </a:r>
            <a:r>
              <a:rPr sz="2000" spc="-80" dirty="0">
                <a:latin typeface="Arial MT"/>
                <a:cs typeface="Tahoma"/>
              </a:rPr>
              <a:t> </a:t>
            </a:r>
            <a:r>
              <a:rPr sz="2000" spc="-5" dirty="0" smtClean="0">
                <a:latin typeface="Arial MT"/>
                <a:cs typeface="Tahoma"/>
              </a:rPr>
              <a:t>followed</a:t>
            </a:r>
            <a:r>
              <a:rPr lang="en-US" sz="2000" spc="-5" dirty="0" smtClean="0">
                <a:latin typeface="Arial MT"/>
                <a:cs typeface="Tahoma"/>
              </a:rPr>
              <a:t> </a:t>
            </a:r>
            <a:r>
              <a:rPr sz="2000" spc="-5" dirty="0" smtClean="0">
                <a:latin typeface="Arial MT"/>
                <a:cs typeface="Tahoma"/>
              </a:rPr>
              <a:t>by</a:t>
            </a:r>
            <a:r>
              <a:rPr sz="2000" spc="-20" dirty="0" smtClean="0">
                <a:latin typeface="Arial MT"/>
                <a:cs typeface="Tahoma"/>
              </a:rPr>
              <a:t> </a:t>
            </a:r>
            <a:r>
              <a:rPr sz="2000" dirty="0">
                <a:latin typeface="Arial MT"/>
                <a:cs typeface="Tahoma"/>
              </a:rPr>
              <a:t>its</a:t>
            </a:r>
            <a:r>
              <a:rPr sz="2000" spc="-75" dirty="0">
                <a:latin typeface="Arial MT"/>
                <a:cs typeface="Tahoma"/>
              </a:rPr>
              <a:t> </a:t>
            </a:r>
            <a:r>
              <a:rPr sz="2000" spc="-10" dirty="0">
                <a:latin typeface="Arial MT"/>
                <a:cs typeface="Tahoma"/>
              </a:rPr>
              <a:t>endpoints</a:t>
            </a:r>
            <a:endParaRPr dirty="0">
              <a:latin typeface="Arial MT"/>
              <a:cs typeface="Tahoma"/>
            </a:endParaRPr>
          </a:p>
          <a:p>
            <a:pPr marL="254000" indent="-228600">
              <a:lnSpc>
                <a:spcPct val="100000"/>
              </a:lnSpc>
              <a:spcBef>
                <a:spcPts val="80"/>
              </a:spcBef>
              <a:buFont typeface="Arial MT"/>
              <a:buChar char="•"/>
              <a:tabLst>
                <a:tab pos="253365" algn="l"/>
                <a:tab pos="254000" algn="l"/>
              </a:tabLst>
            </a:pPr>
            <a:r>
              <a:rPr sz="2400" spc="-10" dirty="0">
                <a:latin typeface="Arial MT"/>
                <a:cs typeface="Tahoma"/>
              </a:rPr>
              <a:t>Simple</a:t>
            </a:r>
            <a:r>
              <a:rPr sz="2400" spc="-75" dirty="0">
                <a:latin typeface="Arial MT"/>
                <a:cs typeface="Tahoma"/>
              </a:rPr>
              <a:t> </a:t>
            </a:r>
            <a:r>
              <a:rPr sz="2400" spc="-10" dirty="0">
                <a:latin typeface="Arial MT"/>
                <a:cs typeface="Tahoma"/>
              </a:rPr>
              <a:t>cycle</a:t>
            </a:r>
            <a:endParaRPr sz="2400" dirty="0">
              <a:latin typeface="Arial MT"/>
              <a:cs typeface="Tahoma"/>
            </a:endParaRPr>
          </a:p>
          <a:p>
            <a:pPr marL="721360" lvl="1" indent="-143510">
              <a:lnSpc>
                <a:spcPct val="100000"/>
              </a:lnSpc>
              <a:spcBef>
                <a:spcPts val="209"/>
              </a:spcBef>
              <a:buSzPct val="62500"/>
              <a:buFont typeface="Wingdings"/>
              <a:buChar char=""/>
              <a:tabLst>
                <a:tab pos="721360" algn="l"/>
                <a:tab pos="3670935" algn="l"/>
              </a:tabLst>
            </a:pPr>
            <a:r>
              <a:rPr sz="2000" dirty="0">
                <a:latin typeface="Arial MT"/>
                <a:cs typeface="Tahoma"/>
              </a:rPr>
              <a:t>A</a:t>
            </a:r>
            <a:r>
              <a:rPr sz="2000" spc="5" dirty="0">
                <a:latin typeface="Arial MT"/>
                <a:cs typeface="Tahoma"/>
              </a:rPr>
              <a:t> </a:t>
            </a:r>
            <a:r>
              <a:rPr sz="2000" spc="-5" dirty="0">
                <a:latin typeface="Arial MT"/>
                <a:cs typeface="Tahoma"/>
              </a:rPr>
              <a:t>cycle </a:t>
            </a:r>
            <a:r>
              <a:rPr sz="2000" dirty="0">
                <a:latin typeface="Arial MT"/>
                <a:cs typeface="Tahoma"/>
              </a:rPr>
              <a:t>is</a:t>
            </a:r>
            <a:r>
              <a:rPr sz="2000" spc="10" dirty="0">
                <a:latin typeface="Arial MT"/>
                <a:cs typeface="Tahoma"/>
              </a:rPr>
              <a:t> </a:t>
            </a:r>
            <a:r>
              <a:rPr sz="2000" spc="-5" dirty="0">
                <a:latin typeface="Arial MT"/>
                <a:cs typeface="Tahoma"/>
              </a:rPr>
              <a:t>simple if</a:t>
            </a:r>
            <a:r>
              <a:rPr sz="2000" spc="15" dirty="0">
                <a:latin typeface="Arial MT"/>
                <a:cs typeface="Tahoma"/>
              </a:rPr>
              <a:t> </a:t>
            </a:r>
            <a:r>
              <a:rPr sz="2000" spc="-10" dirty="0">
                <a:latin typeface="Arial MT"/>
                <a:cs typeface="Tahoma"/>
              </a:rPr>
              <a:t>each </a:t>
            </a:r>
            <a:r>
              <a:rPr sz="2000" spc="-5" dirty="0">
                <a:latin typeface="Arial MT"/>
                <a:cs typeface="Tahoma"/>
              </a:rPr>
              <a:t>edge</a:t>
            </a:r>
            <a:r>
              <a:rPr sz="2000" dirty="0">
                <a:latin typeface="Arial MT"/>
                <a:cs typeface="Tahoma"/>
              </a:rPr>
              <a:t> </a:t>
            </a:r>
            <a:r>
              <a:rPr sz="2000" dirty="0" smtClean="0">
                <a:latin typeface="Arial MT"/>
                <a:cs typeface="Tahoma"/>
              </a:rPr>
              <a:t>is</a:t>
            </a:r>
            <a:r>
              <a:rPr lang="en-US" sz="2000" dirty="0" smtClean="0">
                <a:latin typeface="Arial MT"/>
                <a:cs typeface="Tahoma"/>
              </a:rPr>
              <a:t> </a:t>
            </a:r>
            <a:r>
              <a:rPr sz="2000" spc="-5" dirty="0" smtClean="0">
                <a:latin typeface="Arial MT"/>
                <a:cs typeface="Tahoma"/>
              </a:rPr>
              <a:t>distinct</a:t>
            </a:r>
            <a:r>
              <a:rPr sz="2000" spc="-10" dirty="0" smtClean="0">
                <a:latin typeface="Arial MT"/>
                <a:cs typeface="Tahoma"/>
              </a:rPr>
              <a:t> </a:t>
            </a:r>
            <a:r>
              <a:rPr sz="2000" spc="-10" dirty="0">
                <a:latin typeface="Arial MT"/>
                <a:cs typeface="Tahoma"/>
              </a:rPr>
              <a:t>and</a:t>
            </a:r>
            <a:r>
              <a:rPr sz="2000" spc="-15" dirty="0">
                <a:latin typeface="Arial MT"/>
                <a:cs typeface="Tahoma"/>
              </a:rPr>
              <a:t> </a:t>
            </a:r>
            <a:r>
              <a:rPr sz="2000" spc="-10" dirty="0">
                <a:latin typeface="Arial MT"/>
                <a:cs typeface="Tahoma"/>
              </a:rPr>
              <a:t>each</a:t>
            </a:r>
            <a:r>
              <a:rPr sz="2000" spc="-25" dirty="0">
                <a:latin typeface="Arial MT"/>
                <a:cs typeface="Tahoma"/>
              </a:rPr>
              <a:t> </a:t>
            </a:r>
            <a:r>
              <a:rPr sz="2000" spc="-5" dirty="0">
                <a:latin typeface="Arial MT"/>
                <a:cs typeface="Tahoma"/>
              </a:rPr>
              <a:t>vertex</a:t>
            </a:r>
            <a:r>
              <a:rPr sz="2000" spc="-10" dirty="0">
                <a:latin typeface="Arial MT"/>
                <a:cs typeface="Tahoma"/>
              </a:rPr>
              <a:t> </a:t>
            </a:r>
            <a:r>
              <a:rPr sz="2000" dirty="0">
                <a:latin typeface="Arial MT"/>
                <a:cs typeface="Tahoma"/>
              </a:rPr>
              <a:t>is</a:t>
            </a:r>
            <a:r>
              <a:rPr sz="2000" spc="-5" dirty="0">
                <a:latin typeface="Arial MT"/>
                <a:cs typeface="Tahoma"/>
              </a:rPr>
              <a:t> distinct,</a:t>
            </a:r>
            <a:endParaRPr sz="2000" dirty="0">
              <a:latin typeface="Arial MT"/>
              <a:cs typeface="Tahoma"/>
            </a:endParaRPr>
          </a:p>
          <a:p>
            <a:pPr marL="721360" lvl="1" indent="-143510">
              <a:lnSpc>
                <a:spcPct val="100000"/>
              </a:lnSpc>
              <a:spcBef>
                <a:spcPts val="285"/>
              </a:spcBef>
              <a:buSzPct val="62500"/>
              <a:buFont typeface="Wingdings"/>
              <a:buChar char=""/>
              <a:tabLst>
                <a:tab pos="721360" algn="l"/>
              </a:tabLst>
            </a:pPr>
            <a:r>
              <a:rPr sz="2000" spc="-10" dirty="0">
                <a:latin typeface="Arial MT"/>
                <a:cs typeface="Tahoma"/>
              </a:rPr>
              <a:t>except</a:t>
            </a:r>
            <a:r>
              <a:rPr sz="2000" spc="-20" dirty="0">
                <a:latin typeface="Arial MT"/>
                <a:cs typeface="Tahoma"/>
              </a:rPr>
              <a:t> </a:t>
            </a:r>
            <a:r>
              <a:rPr sz="2000" spc="-5" dirty="0">
                <a:latin typeface="Arial MT"/>
                <a:cs typeface="Tahoma"/>
              </a:rPr>
              <a:t>for</a:t>
            </a:r>
            <a:r>
              <a:rPr sz="2000" spc="-10" dirty="0">
                <a:latin typeface="Arial MT"/>
                <a:cs typeface="Tahoma"/>
              </a:rPr>
              <a:t> the</a:t>
            </a:r>
            <a:r>
              <a:rPr sz="2000" spc="-20" dirty="0">
                <a:latin typeface="Arial MT"/>
                <a:cs typeface="Tahoma"/>
              </a:rPr>
              <a:t> </a:t>
            </a:r>
            <a:r>
              <a:rPr sz="2000" spc="-5" dirty="0">
                <a:latin typeface="Arial MT"/>
                <a:cs typeface="Tahoma"/>
              </a:rPr>
              <a:t>first</a:t>
            </a:r>
            <a:r>
              <a:rPr sz="2000" spc="-10" dirty="0">
                <a:latin typeface="Arial MT"/>
                <a:cs typeface="Tahoma"/>
              </a:rPr>
              <a:t> and</a:t>
            </a:r>
            <a:r>
              <a:rPr sz="2000" spc="-15" dirty="0">
                <a:latin typeface="Arial MT"/>
                <a:cs typeface="Tahoma"/>
              </a:rPr>
              <a:t> </a:t>
            </a:r>
            <a:r>
              <a:rPr sz="2000" spc="-10" dirty="0">
                <a:latin typeface="Arial MT"/>
                <a:cs typeface="Tahoma"/>
              </a:rPr>
              <a:t>the</a:t>
            </a:r>
            <a:r>
              <a:rPr sz="2000" spc="-20" dirty="0">
                <a:latin typeface="Arial MT"/>
                <a:cs typeface="Tahoma"/>
              </a:rPr>
              <a:t> </a:t>
            </a:r>
            <a:r>
              <a:rPr sz="2000" spc="-5" dirty="0">
                <a:latin typeface="Arial MT"/>
                <a:cs typeface="Tahoma"/>
              </a:rPr>
              <a:t>last</a:t>
            </a:r>
            <a:r>
              <a:rPr sz="2000" spc="-70" dirty="0">
                <a:latin typeface="Arial MT"/>
                <a:cs typeface="Tahoma"/>
              </a:rPr>
              <a:t> </a:t>
            </a:r>
            <a:r>
              <a:rPr sz="2000" dirty="0">
                <a:latin typeface="Arial MT"/>
                <a:cs typeface="Tahoma"/>
              </a:rPr>
              <a:t>one</a:t>
            </a:r>
          </a:p>
          <a:p>
            <a:pPr marL="254000" indent="-228600">
              <a:lnSpc>
                <a:spcPct val="100000"/>
              </a:lnSpc>
              <a:spcBef>
                <a:spcPts val="80"/>
              </a:spcBef>
              <a:buFont typeface="Arial MT"/>
              <a:buChar char="•"/>
              <a:tabLst>
                <a:tab pos="253365" algn="l"/>
                <a:tab pos="254000" algn="l"/>
              </a:tabLst>
            </a:pPr>
            <a:r>
              <a:rPr sz="2800" spc="-10" dirty="0">
                <a:latin typeface="Arial MT"/>
                <a:cs typeface="Tahoma"/>
              </a:rPr>
              <a:t>Examples</a:t>
            </a:r>
            <a:endParaRPr sz="2800" dirty="0">
              <a:latin typeface="Arial MT"/>
              <a:cs typeface="Tahoma"/>
            </a:endParaRPr>
          </a:p>
          <a:p>
            <a:pPr marL="721360" lvl="1" indent="-143510">
              <a:lnSpc>
                <a:spcPct val="100000"/>
              </a:lnSpc>
              <a:spcBef>
                <a:spcPts val="90"/>
              </a:spcBef>
              <a:buClr>
                <a:srgbClr val="3F448B"/>
              </a:buClr>
              <a:buSzPct val="62500"/>
              <a:buFont typeface="Wingdings"/>
              <a:buChar char=""/>
              <a:tabLst>
                <a:tab pos="721360" algn="l"/>
              </a:tabLst>
            </a:pPr>
            <a:r>
              <a:rPr sz="2000" spc="-45" dirty="0">
                <a:solidFill>
                  <a:srgbClr val="BD2C00"/>
                </a:solidFill>
                <a:latin typeface="Arial MT"/>
                <a:cs typeface="Tahoma"/>
              </a:rPr>
              <a:t>C</a:t>
            </a:r>
            <a:r>
              <a:rPr sz="2000" spc="-67" baseline="-10101" dirty="0">
                <a:solidFill>
                  <a:srgbClr val="BD2C00"/>
                </a:solidFill>
                <a:latin typeface="Arial MT"/>
                <a:cs typeface="Tahoma"/>
              </a:rPr>
              <a:t>1</a:t>
            </a:r>
            <a:r>
              <a:rPr sz="2000" spc="-45" dirty="0">
                <a:solidFill>
                  <a:srgbClr val="BD2C00"/>
                </a:solidFill>
                <a:latin typeface="Arial MT"/>
                <a:cs typeface="Tahoma"/>
              </a:rPr>
              <a:t>=(V,</a:t>
            </a:r>
            <a:r>
              <a:rPr sz="2000" spc="-10" dirty="0">
                <a:solidFill>
                  <a:srgbClr val="BD2C00"/>
                </a:solidFill>
                <a:latin typeface="Arial MT"/>
                <a:cs typeface="Tahoma"/>
              </a:rPr>
              <a:t> b,</a:t>
            </a:r>
            <a:r>
              <a:rPr sz="2000" spc="-5" dirty="0">
                <a:solidFill>
                  <a:srgbClr val="BD2C00"/>
                </a:solidFill>
                <a:latin typeface="Arial MT"/>
                <a:cs typeface="Tahoma"/>
              </a:rPr>
              <a:t> X,</a:t>
            </a:r>
            <a:r>
              <a:rPr sz="2000" spc="-15" dirty="0">
                <a:solidFill>
                  <a:srgbClr val="BD2C00"/>
                </a:solidFill>
                <a:latin typeface="Arial MT"/>
                <a:cs typeface="Tahoma"/>
              </a:rPr>
              <a:t> </a:t>
            </a:r>
            <a:r>
              <a:rPr sz="2000" dirty="0">
                <a:solidFill>
                  <a:srgbClr val="BD2C00"/>
                </a:solidFill>
                <a:latin typeface="Arial MT"/>
                <a:cs typeface="Tahoma"/>
              </a:rPr>
              <a:t>g,</a:t>
            </a:r>
            <a:r>
              <a:rPr sz="2000" spc="-5" dirty="0">
                <a:solidFill>
                  <a:srgbClr val="BD2C00"/>
                </a:solidFill>
                <a:latin typeface="Arial MT"/>
                <a:cs typeface="Tahoma"/>
              </a:rPr>
              <a:t> </a:t>
            </a:r>
            <a:r>
              <a:rPr sz="2000" spc="-110" dirty="0">
                <a:solidFill>
                  <a:srgbClr val="BD2C00"/>
                </a:solidFill>
                <a:latin typeface="Arial MT"/>
                <a:cs typeface="Tahoma"/>
              </a:rPr>
              <a:t>Y,</a:t>
            </a:r>
            <a:r>
              <a:rPr sz="2000" spc="-5" dirty="0">
                <a:solidFill>
                  <a:srgbClr val="BD2C00"/>
                </a:solidFill>
                <a:latin typeface="Arial MT"/>
                <a:cs typeface="Tahoma"/>
              </a:rPr>
              <a:t> </a:t>
            </a:r>
            <a:r>
              <a:rPr sz="2000" spc="-60" dirty="0">
                <a:solidFill>
                  <a:srgbClr val="BD2C00"/>
                </a:solidFill>
                <a:latin typeface="Arial MT"/>
                <a:cs typeface="Tahoma"/>
              </a:rPr>
              <a:t>f,</a:t>
            </a:r>
            <a:r>
              <a:rPr sz="2000" spc="-15" dirty="0">
                <a:solidFill>
                  <a:srgbClr val="BD2C00"/>
                </a:solidFill>
                <a:latin typeface="Arial MT"/>
                <a:cs typeface="Tahoma"/>
              </a:rPr>
              <a:t> </a:t>
            </a:r>
            <a:r>
              <a:rPr sz="2000" spc="-114" dirty="0">
                <a:solidFill>
                  <a:srgbClr val="BD2C00"/>
                </a:solidFill>
                <a:latin typeface="Arial MT"/>
                <a:cs typeface="Tahoma"/>
              </a:rPr>
              <a:t>W,</a:t>
            </a:r>
            <a:r>
              <a:rPr sz="2000" spc="-5" dirty="0">
                <a:solidFill>
                  <a:srgbClr val="BD2C00"/>
                </a:solidFill>
                <a:latin typeface="Arial MT"/>
                <a:cs typeface="Tahoma"/>
              </a:rPr>
              <a:t> c,</a:t>
            </a:r>
            <a:r>
              <a:rPr sz="2000" spc="-15" dirty="0">
                <a:solidFill>
                  <a:srgbClr val="BD2C00"/>
                </a:solidFill>
                <a:latin typeface="Arial MT"/>
                <a:cs typeface="Tahoma"/>
              </a:rPr>
              <a:t> </a:t>
            </a:r>
            <a:r>
              <a:rPr sz="2000" spc="-5" dirty="0">
                <a:solidFill>
                  <a:srgbClr val="BD2C00"/>
                </a:solidFill>
                <a:latin typeface="Arial MT"/>
                <a:cs typeface="Tahoma"/>
              </a:rPr>
              <a:t>U,</a:t>
            </a:r>
            <a:r>
              <a:rPr sz="2000" spc="5" dirty="0">
                <a:solidFill>
                  <a:srgbClr val="BD2C00"/>
                </a:solidFill>
                <a:latin typeface="Arial MT"/>
                <a:cs typeface="Tahoma"/>
              </a:rPr>
              <a:t> </a:t>
            </a:r>
            <a:r>
              <a:rPr sz="2000" spc="-5" dirty="0">
                <a:solidFill>
                  <a:srgbClr val="BD2C00"/>
                </a:solidFill>
                <a:latin typeface="Arial MT"/>
                <a:cs typeface="Tahoma"/>
              </a:rPr>
              <a:t>a, V)</a:t>
            </a:r>
            <a:endParaRPr sz="2000" dirty="0">
              <a:latin typeface="Arial MT"/>
              <a:cs typeface="Tahoma"/>
            </a:endParaRPr>
          </a:p>
          <a:p>
            <a:pPr marL="1090930">
              <a:lnSpc>
                <a:spcPct val="100000"/>
              </a:lnSpc>
              <a:spcBef>
                <a:spcPts val="95"/>
              </a:spcBef>
            </a:pPr>
            <a:r>
              <a:rPr sz="2000" dirty="0">
                <a:latin typeface="Arial MT"/>
                <a:cs typeface="Tahoma"/>
              </a:rPr>
              <a:t>is</a:t>
            </a:r>
            <a:r>
              <a:rPr sz="2000" spc="-15" dirty="0">
                <a:latin typeface="Arial MT"/>
                <a:cs typeface="Tahoma"/>
              </a:rPr>
              <a:t> </a:t>
            </a:r>
            <a:r>
              <a:rPr sz="2000" dirty="0">
                <a:latin typeface="Arial MT"/>
                <a:cs typeface="Tahoma"/>
              </a:rPr>
              <a:t>a</a:t>
            </a:r>
            <a:r>
              <a:rPr sz="2000" spc="-20" dirty="0">
                <a:latin typeface="Arial MT"/>
                <a:cs typeface="Tahoma"/>
              </a:rPr>
              <a:t> </a:t>
            </a:r>
            <a:r>
              <a:rPr sz="2000" spc="-5" dirty="0">
                <a:latin typeface="Arial MT"/>
                <a:cs typeface="Tahoma"/>
              </a:rPr>
              <a:t>simple</a:t>
            </a:r>
            <a:r>
              <a:rPr sz="2000" spc="-100" dirty="0">
                <a:latin typeface="Arial MT"/>
                <a:cs typeface="Tahoma"/>
              </a:rPr>
              <a:t> </a:t>
            </a:r>
            <a:r>
              <a:rPr sz="2000" spc="-10" dirty="0">
                <a:latin typeface="Arial MT"/>
                <a:cs typeface="Tahoma"/>
              </a:rPr>
              <a:t>cycle</a:t>
            </a:r>
            <a:endParaRPr sz="2000" dirty="0">
              <a:latin typeface="Arial MT"/>
              <a:cs typeface="Tahoma"/>
            </a:endParaRPr>
          </a:p>
          <a:p>
            <a:pPr marL="721360" lvl="1" indent="-143510">
              <a:lnSpc>
                <a:spcPct val="100000"/>
              </a:lnSpc>
              <a:spcBef>
                <a:spcPts val="265"/>
              </a:spcBef>
              <a:buClr>
                <a:srgbClr val="3F448B"/>
              </a:buClr>
              <a:buSzPct val="62500"/>
              <a:buFont typeface="Wingdings"/>
              <a:buChar char=""/>
              <a:tabLst>
                <a:tab pos="721360" algn="l"/>
              </a:tabLst>
            </a:pPr>
            <a:r>
              <a:rPr sz="2000" spc="-45" dirty="0">
                <a:solidFill>
                  <a:srgbClr val="566F51"/>
                </a:solidFill>
                <a:latin typeface="Arial MT"/>
                <a:cs typeface="Tahoma"/>
              </a:rPr>
              <a:t>C</a:t>
            </a:r>
            <a:r>
              <a:rPr sz="2000" spc="-67" baseline="-10101" dirty="0">
                <a:solidFill>
                  <a:srgbClr val="566F51"/>
                </a:solidFill>
                <a:latin typeface="Arial MT"/>
                <a:cs typeface="Tahoma"/>
              </a:rPr>
              <a:t>2</a:t>
            </a:r>
            <a:r>
              <a:rPr sz="2000" spc="-45" dirty="0">
                <a:solidFill>
                  <a:srgbClr val="566F51"/>
                </a:solidFill>
                <a:latin typeface="Arial MT"/>
                <a:cs typeface="Tahoma"/>
              </a:rPr>
              <a:t>=(U,c,W,e,X,g,Y,f,W,d,V,a,U)</a:t>
            </a:r>
            <a:endParaRPr sz="2000" dirty="0">
              <a:latin typeface="Arial MT"/>
              <a:cs typeface="Tahoma"/>
            </a:endParaRPr>
          </a:p>
          <a:p>
            <a:pPr marL="1080770">
              <a:lnSpc>
                <a:spcPct val="100000"/>
              </a:lnSpc>
              <a:spcBef>
                <a:spcPts val="285"/>
              </a:spcBef>
            </a:pPr>
            <a:r>
              <a:rPr sz="2000" dirty="0">
                <a:latin typeface="Arial MT"/>
                <a:cs typeface="Tahoma"/>
              </a:rPr>
              <a:t>is</a:t>
            </a:r>
            <a:r>
              <a:rPr sz="2000" spc="-110" dirty="0">
                <a:latin typeface="Arial MT"/>
                <a:cs typeface="Tahoma"/>
              </a:rPr>
              <a:t> </a:t>
            </a:r>
            <a:r>
              <a:rPr sz="2000" dirty="0">
                <a:latin typeface="Arial MT"/>
                <a:cs typeface="Tahoma"/>
              </a:rPr>
              <a:t>a</a:t>
            </a:r>
            <a:r>
              <a:rPr sz="2000" spc="-10" dirty="0">
                <a:latin typeface="Arial MT"/>
                <a:cs typeface="Tahoma"/>
              </a:rPr>
              <a:t> cycle</a:t>
            </a:r>
            <a:r>
              <a:rPr sz="2000" spc="-15" dirty="0">
                <a:latin typeface="Arial MT"/>
                <a:cs typeface="Tahoma"/>
              </a:rPr>
              <a:t> </a:t>
            </a:r>
            <a:r>
              <a:rPr sz="2000" spc="-10" dirty="0">
                <a:latin typeface="Arial MT"/>
                <a:cs typeface="Tahoma"/>
              </a:rPr>
              <a:t>that</a:t>
            </a:r>
            <a:r>
              <a:rPr sz="2000" spc="-15" dirty="0">
                <a:latin typeface="Arial MT"/>
                <a:cs typeface="Tahoma"/>
              </a:rPr>
              <a:t> </a:t>
            </a:r>
            <a:r>
              <a:rPr sz="2000" dirty="0">
                <a:latin typeface="Arial MT"/>
                <a:cs typeface="Tahoma"/>
              </a:rPr>
              <a:t>is</a:t>
            </a:r>
            <a:r>
              <a:rPr sz="2000" spc="-5" dirty="0">
                <a:latin typeface="Arial MT"/>
                <a:cs typeface="Tahoma"/>
              </a:rPr>
              <a:t> </a:t>
            </a:r>
            <a:r>
              <a:rPr sz="2000" dirty="0">
                <a:latin typeface="Arial MT"/>
                <a:cs typeface="Tahoma"/>
              </a:rPr>
              <a:t>not</a:t>
            </a:r>
            <a:r>
              <a:rPr sz="2000" spc="-80" dirty="0">
                <a:latin typeface="Arial MT"/>
                <a:cs typeface="Tahoma"/>
              </a:rPr>
              <a:t> </a:t>
            </a:r>
            <a:r>
              <a:rPr sz="2000" spc="-5" dirty="0">
                <a:latin typeface="Arial MT"/>
                <a:cs typeface="Tahoma"/>
              </a:rPr>
              <a:t>simple</a:t>
            </a:r>
            <a:endParaRPr sz="2000" dirty="0">
              <a:latin typeface="Arial MT"/>
              <a:cs typeface="Tahoma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077200" y="2667000"/>
            <a:ext cx="3568040" cy="3661322"/>
          </a:xfrm>
          <a:prstGeom prst="rect">
            <a:avLst/>
          </a:prstGeom>
        </p:spPr>
      </p:pic>
      <p:sp>
        <p:nvSpPr>
          <p:cNvPr id="5" name="Slide Number Placeholder 4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38099">
              <a:lnSpc>
                <a:spcPts val="1535"/>
              </a:lnSpc>
            </a:pPr>
            <a:fld id="{81D60167-4931-47E6-BA6A-407CBD079E47}" type="slidenum">
              <a:rPr lang="en-US" smtClean="0"/>
              <a:pPr marL="38099">
                <a:lnSpc>
                  <a:spcPts val="1535"/>
                </a:lnSpc>
              </a:pPr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447543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30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31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2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33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4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35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6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37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48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49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0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51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2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53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4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55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611124"/>
            <a:ext cx="2785110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40" dirty="0"/>
              <a:t>Terminology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12800" y="1808793"/>
            <a:ext cx="10845800" cy="2391039"/>
          </a:xfrm>
          <a:prstGeom prst="rect">
            <a:avLst/>
          </a:prstGeom>
        </p:spPr>
        <p:txBody>
          <a:bodyPr vert="horz" wrap="square" lIns="0" tIns="33655" rIns="0" bIns="0" rtlCol="0">
            <a:spAutoFit/>
          </a:bodyPr>
          <a:lstStyle/>
          <a:p>
            <a:pPr marL="254000" indent="-228600">
              <a:lnSpc>
                <a:spcPct val="100000"/>
              </a:lnSpc>
              <a:spcBef>
                <a:spcPts val="265"/>
              </a:spcBef>
              <a:buSzPct val="95238"/>
              <a:buFont typeface="Arial MT"/>
              <a:buChar char="•"/>
              <a:tabLst>
                <a:tab pos="253365" algn="l"/>
                <a:tab pos="254000" algn="l"/>
              </a:tabLst>
            </a:pPr>
            <a:r>
              <a:rPr sz="2400" spc="-90" dirty="0">
                <a:solidFill>
                  <a:srgbClr val="C00000"/>
                </a:solidFill>
                <a:latin typeface="Arial MT"/>
                <a:cs typeface="Tahoma"/>
              </a:rPr>
              <a:t>D</a:t>
            </a:r>
            <a:r>
              <a:rPr sz="2400" spc="-85" dirty="0">
                <a:solidFill>
                  <a:srgbClr val="C00000"/>
                </a:solidFill>
                <a:latin typeface="Arial MT"/>
                <a:cs typeface="Tahoma"/>
              </a:rPr>
              <a:t>en</a:t>
            </a:r>
            <a:r>
              <a:rPr sz="2400" spc="-80" dirty="0">
                <a:solidFill>
                  <a:srgbClr val="C00000"/>
                </a:solidFill>
                <a:latin typeface="Arial MT"/>
                <a:cs typeface="Tahoma"/>
              </a:rPr>
              <a:t>s</a:t>
            </a:r>
            <a:r>
              <a:rPr sz="2400" spc="-55" dirty="0">
                <a:solidFill>
                  <a:srgbClr val="C00000"/>
                </a:solidFill>
                <a:latin typeface="Arial MT"/>
                <a:cs typeface="Tahoma"/>
              </a:rPr>
              <a:t>e</a:t>
            </a:r>
            <a:r>
              <a:rPr sz="2400" spc="-85" dirty="0">
                <a:solidFill>
                  <a:srgbClr val="C00000"/>
                </a:solidFill>
                <a:latin typeface="Arial MT"/>
                <a:cs typeface="Tahoma"/>
              </a:rPr>
              <a:t> </a:t>
            </a:r>
            <a:r>
              <a:rPr sz="2400" spc="-15" dirty="0">
                <a:solidFill>
                  <a:srgbClr val="C00000"/>
                </a:solidFill>
                <a:latin typeface="Arial MT"/>
                <a:cs typeface="Tahoma"/>
              </a:rPr>
              <a:t>g</a:t>
            </a:r>
            <a:r>
              <a:rPr sz="2400" spc="-35" dirty="0">
                <a:solidFill>
                  <a:srgbClr val="C00000"/>
                </a:solidFill>
                <a:latin typeface="Arial MT"/>
                <a:cs typeface="Tahoma"/>
              </a:rPr>
              <a:t>r</a:t>
            </a:r>
            <a:r>
              <a:rPr sz="2400" spc="-5" dirty="0">
                <a:solidFill>
                  <a:srgbClr val="C00000"/>
                </a:solidFill>
                <a:latin typeface="Arial MT"/>
                <a:cs typeface="Tahoma"/>
              </a:rPr>
              <a:t>a</a:t>
            </a:r>
            <a:r>
              <a:rPr sz="2400" spc="-15" dirty="0">
                <a:solidFill>
                  <a:srgbClr val="C00000"/>
                </a:solidFill>
                <a:latin typeface="Arial MT"/>
                <a:cs typeface="Tahoma"/>
              </a:rPr>
              <a:t>p</a:t>
            </a:r>
            <a:r>
              <a:rPr sz="2400" spc="-10" dirty="0">
                <a:solidFill>
                  <a:srgbClr val="C00000"/>
                </a:solidFill>
                <a:latin typeface="Arial MT"/>
                <a:cs typeface="Tahoma"/>
              </a:rPr>
              <a:t>h</a:t>
            </a:r>
            <a:r>
              <a:rPr sz="2400" dirty="0">
                <a:latin typeface="Arial MT"/>
                <a:cs typeface="Tahoma"/>
              </a:rPr>
              <a:t>:</a:t>
            </a:r>
            <a:r>
              <a:rPr sz="2400" spc="-5" dirty="0">
                <a:latin typeface="Arial MT"/>
                <a:cs typeface="Tahoma"/>
              </a:rPr>
              <a:t> |</a:t>
            </a:r>
            <a:r>
              <a:rPr sz="2400" dirty="0">
                <a:latin typeface="Arial MT"/>
                <a:cs typeface="Tahoma"/>
              </a:rPr>
              <a:t>E|</a:t>
            </a:r>
            <a:r>
              <a:rPr sz="2400" spc="-5" dirty="0">
                <a:latin typeface="Arial MT"/>
                <a:cs typeface="Tahoma"/>
              </a:rPr>
              <a:t> </a:t>
            </a:r>
            <a:r>
              <a:rPr lang="en-US" sz="2400" dirty="0" smtClean="0">
                <a:latin typeface="Symbol"/>
                <a:cs typeface="Symbol"/>
              </a:rPr>
              <a:t></a:t>
            </a:r>
            <a:r>
              <a:rPr sz="2400" dirty="0" smtClean="0">
                <a:latin typeface="Arial MT"/>
                <a:cs typeface="Times New Roman"/>
              </a:rPr>
              <a:t> </a:t>
            </a:r>
            <a:r>
              <a:rPr sz="2400" spc="-5" dirty="0">
                <a:latin typeface="Arial MT"/>
                <a:cs typeface="Tahoma"/>
              </a:rPr>
              <a:t>|</a:t>
            </a:r>
            <a:r>
              <a:rPr sz="2400" spc="-10" dirty="0">
                <a:latin typeface="Arial MT"/>
                <a:cs typeface="Tahoma"/>
              </a:rPr>
              <a:t>V</a:t>
            </a:r>
            <a:r>
              <a:rPr sz="2400" spc="-5" dirty="0">
                <a:latin typeface="Arial MT"/>
                <a:cs typeface="Tahoma"/>
              </a:rPr>
              <a:t>|</a:t>
            </a:r>
            <a:r>
              <a:rPr sz="2000" spc="22" baseline="21367" dirty="0">
                <a:latin typeface="Arial MT"/>
                <a:cs typeface="Tahoma"/>
              </a:rPr>
              <a:t>2</a:t>
            </a:r>
            <a:r>
              <a:rPr sz="2400" dirty="0">
                <a:latin typeface="Arial MT"/>
                <a:cs typeface="Tahoma"/>
              </a:rPr>
              <a:t>;</a:t>
            </a:r>
            <a:r>
              <a:rPr sz="2400" spc="5" dirty="0">
                <a:latin typeface="Arial MT"/>
                <a:cs typeface="Tahoma"/>
              </a:rPr>
              <a:t> </a:t>
            </a:r>
            <a:r>
              <a:rPr sz="2400" spc="-90" dirty="0">
                <a:solidFill>
                  <a:srgbClr val="C00000"/>
                </a:solidFill>
                <a:latin typeface="Arial MT"/>
                <a:cs typeface="Tahoma"/>
              </a:rPr>
              <a:t>S</a:t>
            </a:r>
            <a:r>
              <a:rPr sz="2400" spc="-95" dirty="0">
                <a:solidFill>
                  <a:srgbClr val="C00000"/>
                </a:solidFill>
                <a:latin typeface="Arial MT"/>
                <a:cs typeface="Tahoma"/>
              </a:rPr>
              <a:t>p</a:t>
            </a:r>
            <a:r>
              <a:rPr sz="2400" spc="-70" dirty="0">
                <a:solidFill>
                  <a:srgbClr val="C00000"/>
                </a:solidFill>
                <a:latin typeface="Arial MT"/>
                <a:cs typeface="Tahoma"/>
              </a:rPr>
              <a:t>ar</a:t>
            </a:r>
            <a:r>
              <a:rPr sz="2400" spc="-80" dirty="0">
                <a:solidFill>
                  <a:srgbClr val="C00000"/>
                </a:solidFill>
                <a:latin typeface="Arial MT"/>
                <a:cs typeface="Tahoma"/>
              </a:rPr>
              <a:t>s</a:t>
            </a:r>
            <a:r>
              <a:rPr sz="2400" spc="-55" dirty="0">
                <a:solidFill>
                  <a:srgbClr val="C00000"/>
                </a:solidFill>
                <a:latin typeface="Arial MT"/>
                <a:cs typeface="Tahoma"/>
              </a:rPr>
              <a:t>e</a:t>
            </a:r>
            <a:r>
              <a:rPr sz="2400" spc="-85" dirty="0">
                <a:solidFill>
                  <a:srgbClr val="C00000"/>
                </a:solidFill>
                <a:latin typeface="Arial MT"/>
                <a:cs typeface="Tahoma"/>
              </a:rPr>
              <a:t> </a:t>
            </a:r>
            <a:r>
              <a:rPr sz="2400" spc="-15" dirty="0">
                <a:solidFill>
                  <a:srgbClr val="C00000"/>
                </a:solidFill>
                <a:latin typeface="Arial MT"/>
                <a:cs typeface="Tahoma"/>
              </a:rPr>
              <a:t>g</a:t>
            </a:r>
            <a:r>
              <a:rPr sz="2400" spc="-35" dirty="0">
                <a:solidFill>
                  <a:srgbClr val="C00000"/>
                </a:solidFill>
                <a:latin typeface="Arial MT"/>
                <a:cs typeface="Tahoma"/>
              </a:rPr>
              <a:t>r</a:t>
            </a:r>
            <a:r>
              <a:rPr sz="2400" spc="-5" dirty="0">
                <a:solidFill>
                  <a:srgbClr val="C00000"/>
                </a:solidFill>
                <a:latin typeface="Arial MT"/>
                <a:cs typeface="Tahoma"/>
              </a:rPr>
              <a:t>a</a:t>
            </a:r>
            <a:r>
              <a:rPr sz="2400" spc="-15" dirty="0">
                <a:solidFill>
                  <a:srgbClr val="C00000"/>
                </a:solidFill>
                <a:latin typeface="Arial MT"/>
                <a:cs typeface="Tahoma"/>
              </a:rPr>
              <a:t>p</a:t>
            </a:r>
            <a:r>
              <a:rPr sz="2400" spc="-10" dirty="0">
                <a:solidFill>
                  <a:srgbClr val="C00000"/>
                </a:solidFill>
                <a:latin typeface="Arial MT"/>
                <a:cs typeface="Tahoma"/>
              </a:rPr>
              <a:t>h</a:t>
            </a:r>
            <a:r>
              <a:rPr sz="2400" dirty="0">
                <a:latin typeface="Arial MT"/>
                <a:cs typeface="Tahoma"/>
              </a:rPr>
              <a:t>:</a:t>
            </a:r>
            <a:r>
              <a:rPr sz="2400" spc="-5" dirty="0">
                <a:latin typeface="Arial MT"/>
                <a:cs typeface="Tahoma"/>
              </a:rPr>
              <a:t> |</a:t>
            </a:r>
            <a:r>
              <a:rPr sz="2400" dirty="0">
                <a:latin typeface="Arial MT"/>
                <a:cs typeface="Tahoma"/>
              </a:rPr>
              <a:t>E|</a:t>
            </a:r>
            <a:r>
              <a:rPr sz="2400" spc="-5" dirty="0">
                <a:latin typeface="Arial MT"/>
                <a:cs typeface="Tahoma"/>
              </a:rPr>
              <a:t> </a:t>
            </a:r>
            <a:r>
              <a:rPr lang="en-US" sz="2400" dirty="0" smtClean="0">
                <a:latin typeface="Symbol"/>
                <a:cs typeface="Symbol"/>
              </a:rPr>
              <a:t></a:t>
            </a:r>
            <a:r>
              <a:rPr sz="2400" spc="-30" dirty="0" smtClean="0">
                <a:latin typeface="Arial MT"/>
                <a:cs typeface="Times New Roman"/>
              </a:rPr>
              <a:t> </a:t>
            </a:r>
            <a:r>
              <a:rPr sz="2400" spc="-10" dirty="0">
                <a:latin typeface="Arial MT"/>
                <a:cs typeface="Tahoma"/>
              </a:rPr>
              <a:t>|</a:t>
            </a:r>
            <a:r>
              <a:rPr sz="2400" spc="-15" dirty="0">
                <a:latin typeface="Arial MT"/>
                <a:cs typeface="Tahoma"/>
              </a:rPr>
              <a:t>V</a:t>
            </a:r>
            <a:r>
              <a:rPr sz="2400" dirty="0">
                <a:latin typeface="Arial MT"/>
                <a:cs typeface="Tahoma"/>
              </a:rPr>
              <a:t>|</a:t>
            </a:r>
          </a:p>
          <a:p>
            <a:pPr marL="254000" indent="-228600">
              <a:lnSpc>
                <a:spcPct val="100000"/>
              </a:lnSpc>
              <a:spcBef>
                <a:spcPts val="165"/>
              </a:spcBef>
              <a:buFont typeface="Arial MT"/>
              <a:buChar char="•"/>
              <a:tabLst>
                <a:tab pos="253365" algn="l"/>
                <a:tab pos="254000" algn="l"/>
              </a:tabLst>
            </a:pPr>
            <a:r>
              <a:rPr sz="2400" dirty="0">
                <a:latin typeface="Arial MT"/>
                <a:cs typeface="Tahoma"/>
              </a:rPr>
              <a:t>A </a:t>
            </a:r>
            <a:r>
              <a:rPr sz="2400" spc="-80" dirty="0">
                <a:solidFill>
                  <a:srgbClr val="C00000"/>
                </a:solidFill>
                <a:latin typeface="Arial MT"/>
                <a:cs typeface="Tahoma"/>
              </a:rPr>
              <a:t>weighted</a:t>
            </a:r>
            <a:r>
              <a:rPr sz="2400" spc="-100" dirty="0">
                <a:solidFill>
                  <a:srgbClr val="C00000"/>
                </a:solidFill>
                <a:latin typeface="Arial MT"/>
                <a:cs typeface="Tahoma"/>
              </a:rPr>
              <a:t> </a:t>
            </a:r>
            <a:r>
              <a:rPr sz="2400" spc="-90" dirty="0">
                <a:solidFill>
                  <a:srgbClr val="C00000"/>
                </a:solidFill>
                <a:latin typeface="Arial MT"/>
                <a:cs typeface="Tahoma"/>
              </a:rPr>
              <a:t>graph </a:t>
            </a:r>
            <a:r>
              <a:rPr sz="2400" spc="-5" dirty="0">
                <a:latin typeface="Arial MT"/>
                <a:cs typeface="Tahoma"/>
              </a:rPr>
              <a:t>associates</a:t>
            </a:r>
            <a:r>
              <a:rPr sz="2400" spc="-10" dirty="0">
                <a:latin typeface="Arial MT"/>
                <a:cs typeface="Tahoma"/>
              </a:rPr>
              <a:t> weights </a:t>
            </a:r>
            <a:r>
              <a:rPr sz="2400" dirty="0">
                <a:latin typeface="Arial MT"/>
                <a:cs typeface="Tahoma"/>
              </a:rPr>
              <a:t>with</a:t>
            </a:r>
            <a:r>
              <a:rPr sz="2400" spc="-5" dirty="0">
                <a:latin typeface="Arial MT"/>
                <a:cs typeface="Tahoma"/>
              </a:rPr>
              <a:t> </a:t>
            </a:r>
            <a:r>
              <a:rPr sz="2400" dirty="0">
                <a:latin typeface="Arial MT"/>
                <a:cs typeface="Tahoma"/>
              </a:rPr>
              <a:t>either</a:t>
            </a:r>
            <a:r>
              <a:rPr sz="2400" spc="10" dirty="0">
                <a:latin typeface="Arial MT"/>
                <a:cs typeface="Tahoma"/>
              </a:rPr>
              <a:t> </a:t>
            </a:r>
            <a:r>
              <a:rPr sz="2400" dirty="0">
                <a:latin typeface="Arial MT"/>
                <a:cs typeface="Tahoma"/>
              </a:rPr>
              <a:t>the</a:t>
            </a:r>
            <a:r>
              <a:rPr sz="2400" spc="-5" dirty="0">
                <a:latin typeface="Arial MT"/>
                <a:cs typeface="Tahoma"/>
              </a:rPr>
              <a:t> </a:t>
            </a:r>
            <a:r>
              <a:rPr sz="2400" spc="-10" dirty="0">
                <a:latin typeface="Arial MT"/>
                <a:cs typeface="Tahoma"/>
              </a:rPr>
              <a:t>edges </a:t>
            </a:r>
            <a:r>
              <a:rPr sz="2400" dirty="0">
                <a:latin typeface="Arial MT"/>
                <a:cs typeface="Tahoma"/>
              </a:rPr>
              <a:t>or</a:t>
            </a:r>
            <a:r>
              <a:rPr sz="2400" spc="5" dirty="0">
                <a:latin typeface="Arial MT"/>
                <a:cs typeface="Tahoma"/>
              </a:rPr>
              <a:t> </a:t>
            </a:r>
            <a:r>
              <a:rPr sz="2400" dirty="0">
                <a:latin typeface="Arial MT"/>
                <a:cs typeface="Tahoma"/>
              </a:rPr>
              <a:t>the</a:t>
            </a:r>
            <a:r>
              <a:rPr sz="2400" spc="-20" dirty="0">
                <a:latin typeface="Arial MT"/>
                <a:cs typeface="Tahoma"/>
              </a:rPr>
              <a:t> </a:t>
            </a:r>
            <a:r>
              <a:rPr sz="2400" spc="-5" dirty="0">
                <a:latin typeface="Arial MT"/>
                <a:cs typeface="Tahoma"/>
              </a:rPr>
              <a:t>vertices</a:t>
            </a:r>
            <a:endParaRPr sz="2400" dirty="0">
              <a:latin typeface="Arial MT"/>
              <a:cs typeface="Tahoma"/>
            </a:endParaRPr>
          </a:p>
          <a:p>
            <a:pPr marL="254000" indent="-228600">
              <a:lnSpc>
                <a:spcPct val="100000"/>
              </a:lnSpc>
              <a:spcBef>
                <a:spcPts val="295"/>
              </a:spcBef>
              <a:buFont typeface="Arial MT"/>
              <a:buChar char="•"/>
              <a:tabLst>
                <a:tab pos="253365" algn="l"/>
                <a:tab pos="254000" algn="l"/>
              </a:tabLst>
            </a:pPr>
            <a:r>
              <a:rPr sz="2400" dirty="0">
                <a:latin typeface="Arial MT"/>
                <a:cs typeface="Tahoma"/>
              </a:rPr>
              <a:t>A</a:t>
            </a:r>
            <a:r>
              <a:rPr sz="2400" spc="-5" dirty="0">
                <a:latin typeface="Arial MT"/>
                <a:cs typeface="Tahoma"/>
              </a:rPr>
              <a:t> </a:t>
            </a:r>
            <a:r>
              <a:rPr sz="2400" spc="-5" dirty="0">
                <a:solidFill>
                  <a:srgbClr val="C00000"/>
                </a:solidFill>
                <a:latin typeface="Arial MT"/>
                <a:cs typeface="Tahoma"/>
              </a:rPr>
              <a:t>complete</a:t>
            </a:r>
            <a:r>
              <a:rPr sz="2400" dirty="0">
                <a:solidFill>
                  <a:srgbClr val="C00000"/>
                </a:solidFill>
                <a:latin typeface="Arial MT"/>
                <a:cs typeface="Tahoma"/>
              </a:rPr>
              <a:t> </a:t>
            </a:r>
            <a:r>
              <a:rPr sz="2400" spc="-15" dirty="0">
                <a:solidFill>
                  <a:srgbClr val="C00000"/>
                </a:solidFill>
                <a:latin typeface="Arial MT"/>
                <a:cs typeface="Tahoma"/>
              </a:rPr>
              <a:t>graph </a:t>
            </a:r>
            <a:r>
              <a:rPr sz="2400" spc="5" dirty="0">
                <a:latin typeface="Arial MT"/>
                <a:cs typeface="Tahoma"/>
              </a:rPr>
              <a:t>is </a:t>
            </a:r>
            <a:r>
              <a:rPr sz="2400" dirty="0">
                <a:latin typeface="Arial MT"/>
                <a:cs typeface="Tahoma"/>
              </a:rPr>
              <a:t>a </a:t>
            </a:r>
            <a:r>
              <a:rPr sz="2400" spc="-15" dirty="0">
                <a:latin typeface="Arial MT"/>
                <a:cs typeface="Tahoma"/>
              </a:rPr>
              <a:t>graph </a:t>
            </a:r>
            <a:r>
              <a:rPr sz="2400" spc="-5" dirty="0">
                <a:latin typeface="Arial MT"/>
                <a:cs typeface="Tahoma"/>
              </a:rPr>
              <a:t>that</a:t>
            </a:r>
            <a:r>
              <a:rPr sz="2400" spc="-10" dirty="0">
                <a:latin typeface="Arial MT"/>
                <a:cs typeface="Tahoma"/>
              </a:rPr>
              <a:t> </a:t>
            </a:r>
            <a:r>
              <a:rPr sz="2400" spc="-5" dirty="0">
                <a:latin typeface="Arial MT"/>
                <a:cs typeface="Tahoma"/>
              </a:rPr>
              <a:t>has </a:t>
            </a:r>
            <a:r>
              <a:rPr sz="2400" dirty="0">
                <a:latin typeface="Arial MT"/>
                <a:cs typeface="Tahoma"/>
              </a:rPr>
              <a:t>the</a:t>
            </a:r>
            <a:r>
              <a:rPr sz="2400" spc="-130" dirty="0">
                <a:latin typeface="Arial MT"/>
                <a:cs typeface="Tahoma"/>
              </a:rPr>
              <a:t> </a:t>
            </a:r>
            <a:r>
              <a:rPr sz="2400" dirty="0">
                <a:latin typeface="Arial MT"/>
                <a:cs typeface="Tahoma"/>
              </a:rPr>
              <a:t>maximum</a:t>
            </a:r>
            <a:r>
              <a:rPr sz="2400" spc="5" dirty="0">
                <a:latin typeface="Arial MT"/>
                <a:cs typeface="Tahoma"/>
              </a:rPr>
              <a:t> </a:t>
            </a:r>
            <a:r>
              <a:rPr sz="2400" spc="-5" dirty="0">
                <a:latin typeface="Arial MT"/>
                <a:cs typeface="Tahoma"/>
              </a:rPr>
              <a:t>number</a:t>
            </a:r>
            <a:r>
              <a:rPr sz="2400" dirty="0">
                <a:latin typeface="Arial MT"/>
                <a:cs typeface="Tahoma"/>
              </a:rPr>
              <a:t> of</a:t>
            </a:r>
            <a:r>
              <a:rPr sz="2400" spc="-60" dirty="0">
                <a:latin typeface="Arial MT"/>
                <a:cs typeface="Tahoma"/>
              </a:rPr>
              <a:t> </a:t>
            </a:r>
            <a:r>
              <a:rPr sz="2400" spc="-15" dirty="0">
                <a:latin typeface="Arial MT"/>
                <a:cs typeface="Tahoma"/>
              </a:rPr>
              <a:t>edges</a:t>
            </a:r>
            <a:endParaRPr sz="2400" dirty="0">
              <a:latin typeface="Arial MT"/>
              <a:cs typeface="Tahoma"/>
            </a:endParaRPr>
          </a:p>
          <a:p>
            <a:pPr marL="721360" lvl="1" indent="-143510">
              <a:lnSpc>
                <a:spcPct val="100000"/>
              </a:lnSpc>
              <a:spcBef>
                <a:spcPts val="190"/>
              </a:spcBef>
              <a:buSzPct val="60000"/>
              <a:buFont typeface="Wingdings"/>
              <a:buChar char=""/>
              <a:tabLst>
                <a:tab pos="721360" algn="l"/>
              </a:tabLst>
            </a:pPr>
            <a:r>
              <a:rPr sz="2400" spc="-10" dirty="0">
                <a:latin typeface="Arial MT"/>
                <a:cs typeface="Tahoma"/>
              </a:rPr>
              <a:t>for</a:t>
            </a:r>
            <a:r>
              <a:rPr sz="2400" dirty="0">
                <a:latin typeface="Arial MT"/>
                <a:cs typeface="Tahoma"/>
              </a:rPr>
              <a:t> </a:t>
            </a:r>
            <a:r>
              <a:rPr sz="2400" spc="-10" dirty="0">
                <a:solidFill>
                  <a:srgbClr val="C00000"/>
                </a:solidFill>
                <a:latin typeface="Arial MT"/>
                <a:cs typeface="Tahoma"/>
              </a:rPr>
              <a:t>undirected</a:t>
            </a:r>
            <a:r>
              <a:rPr sz="2400" spc="-15" dirty="0">
                <a:solidFill>
                  <a:srgbClr val="C00000"/>
                </a:solidFill>
                <a:latin typeface="Arial MT"/>
                <a:cs typeface="Tahoma"/>
              </a:rPr>
              <a:t> graph</a:t>
            </a:r>
            <a:r>
              <a:rPr sz="2400" spc="-20" dirty="0">
                <a:solidFill>
                  <a:srgbClr val="C00000"/>
                </a:solidFill>
                <a:latin typeface="Arial MT"/>
                <a:cs typeface="Tahoma"/>
              </a:rPr>
              <a:t> </a:t>
            </a:r>
            <a:r>
              <a:rPr sz="2400" dirty="0">
                <a:latin typeface="Arial MT"/>
                <a:cs typeface="Tahoma"/>
              </a:rPr>
              <a:t>with </a:t>
            </a:r>
            <a:r>
              <a:rPr sz="2400" dirty="0">
                <a:solidFill>
                  <a:srgbClr val="C00000"/>
                </a:solidFill>
                <a:latin typeface="Arial MT"/>
                <a:cs typeface="Tahoma"/>
              </a:rPr>
              <a:t>n</a:t>
            </a:r>
            <a:r>
              <a:rPr sz="2400" dirty="0">
                <a:latin typeface="Arial MT"/>
                <a:cs typeface="Tahoma"/>
              </a:rPr>
              <a:t> </a:t>
            </a:r>
            <a:r>
              <a:rPr sz="2400" spc="-5" dirty="0">
                <a:latin typeface="Arial MT"/>
                <a:cs typeface="Tahoma"/>
              </a:rPr>
              <a:t>vertices,</a:t>
            </a:r>
            <a:r>
              <a:rPr sz="2400" spc="-10" dirty="0">
                <a:latin typeface="Arial MT"/>
                <a:cs typeface="Tahoma"/>
              </a:rPr>
              <a:t> </a:t>
            </a:r>
            <a:r>
              <a:rPr sz="2400" spc="-5" dirty="0">
                <a:latin typeface="Arial MT"/>
                <a:cs typeface="Tahoma"/>
              </a:rPr>
              <a:t>the</a:t>
            </a:r>
            <a:r>
              <a:rPr sz="2400" spc="-10" dirty="0">
                <a:latin typeface="Arial MT"/>
                <a:cs typeface="Tahoma"/>
              </a:rPr>
              <a:t> </a:t>
            </a:r>
            <a:r>
              <a:rPr sz="2400" spc="-5" dirty="0">
                <a:latin typeface="Arial MT"/>
                <a:cs typeface="Tahoma"/>
              </a:rPr>
              <a:t>maximum</a:t>
            </a:r>
            <a:r>
              <a:rPr sz="2400" dirty="0">
                <a:latin typeface="Arial MT"/>
                <a:cs typeface="Tahoma"/>
              </a:rPr>
              <a:t> </a:t>
            </a:r>
            <a:r>
              <a:rPr sz="2400" spc="-10" dirty="0">
                <a:latin typeface="Arial MT"/>
                <a:cs typeface="Tahoma"/>
              </a:rPr>
              <a:t>number </a:t>
            </a:r>
            <a:r>
              <a:rPr sz="2400" dirty="0">
                <a:latin typeface="Arial MT"/>
                <a:cs typeface="Tahoma"/>
              </a:rPr>
              <a:t>of</a:t>
            </a:r>
            <a:r>
              <a:rPr sz="2400" spc="5" dirty="0">
                <a:latin typeface="Arial MT"/>
                <a:cs typeface="Tahoma"/>
              </a:rPr>
              <a:t> </a:t>
            </a:r>
            <a:r>
              <a:rPr sz="2400" spc="-10" dirty="0">
                <a:latin typeface="Arial MT"/>
                <a:cs typeface="Tahoma"/>
              </a:rPr>
              <a:t>edges</a:t>
            </a:r>
            <a:r>
              <a:rPr sz="2400" spc="-5" dirty="0">
                <a:latin typeface="Arial MT"/>
                <a:cs typeface="Tahoma"/>
              </a:rPr>
              <a:t> </a:t>
            </a:r>
            <a:r>
              <a:rPr sz="2400" spc="5" dirty="0">
                <a:latin typeface="Arial MT"/>
                <a:cs typeface="Tahoma"/>
              </a:rPr>
              <a:t>is</a:t>
            </a:r>
            <a:r>
              <a:rPr sz="2400" spc="-80" dirty="0">
                <a:latin typeface="Arial MT"/>
                <a:cs typeface="Tahoma"/>
              </a:rPr>
              <a:t> </a:t>
            </a:r>
            <a:endParaRPr lang="en-US" sz="2400" spc="-80" dirty="0" smtClean="0">
              <a:latin typeface="Arial MT"/>
              <a:cs typeface="Tahoma"/>
            </a:endParaRPr>
          </a:p>
          <a:p>
            <a:pPr marL="577850" lvl="1">
              <a:lnSpc>
                <a:spcPct val="100000"/>
              </a:lnSpc>
              <a:spcBef>
                <a:spcPts val="190"/>
              </a:spcBef>
              <a:buSzPct val="60000"/>
              <a:tabLst>
                <a:tab pos="721360" algn="l"/>
              </a:tabLst>
            </a:pPr>
            <a:r>
              <a:rPr sz="2400" i="1" spc="-10" dirty="0" smtClean="0">
                <a:solidFill>
                  <a:srgbClr val="00B050"/>
                </a:solidFill>
                <a:latin typeface="Arial MT"/>
                <a:cs typeface="Tahoma"/>
              </a:rPr>
              <a:t>n(n-1</a:t>
            </a:r>
            <a:r>
              <a:rPr sz="2400" i="1" spc="-10" dirty="0">
                <a:solidFill>
                  <a:srgbClr val="00B050"/>
                </a:solidFill>
                <a:latin typeface="Arial MT"/>
                <a:cs typeface="Tahoma"/>
              </a:rPr>
              <a:t>)/2</a:t>
            </a:r>
            <a:endParaRPr sz="2400" i="1" dirty="0">
              <a:solidFill>
                <a:srgbClr val="00B050"/>
              </a:solidFill>
              <a:latin typeface="Arial MT"/>
              <a:cs typeface="Tahoma"/>
            </a:endParaRPr>
          </a:p>
          <a:p>
            <a:pPr marL="721360" lvl="1" indent="-143510">
              <a:lnSpc>
                <a:spcPct val="100000"/>
              </a:lnSpc>
              <a:spcBef>
                <a:spcPts val="215"/>
              </a:spcBef>
              <a:buSzPct val="60000"/>
              <a:buFont typeface="Wingdings"/>
              <a:buChar char=""/>
              <a:tabLst>
                <a:tab pos="721360" algn="l"/>
              </a:tabLst>
            </a:pPr>
            <a:r>
              <a:rPr sz="2400" spc="-10" dirty="0">
                <a:latin typeface="Arial MT"/>
                <a:cs typeface="Tahoma"/>
              </a:rPr>
              <a:t>for</a:t>
            </a:r>
            <a:r>
              <a:rPr sz="2400" dirty="0">
                <a:latin typeface="Arial MT"/>
                <a:cs typeface="Tahoma"/>
              </a:rPr>
              <a:t> </a:t>
            </a:r>
            <a:r>
              <a:rPr sz="2400" spc="-10" dirty="0">
                <a:solidFill>
                  <a:srgbClr val="C00000"/>
                </a:solidFill>
                <a:latin typeface="Arial MT"/>
                <a:cs typeface="Tahoma"/>
              </a:rPr>
              <a:t>directed</a:t>
            </a:r>
            <a:r>
              <a:rPr sz="2400" spc="-15" dirty="0">
                <a:solidFill>
                  <a:srgbClr val="C00000"/>
                </a:solidFill>
                <a:latin typeface="Arial MT"/>
                <a:cs typeface="Tahoma"/>
              </a:rPr>
              <a:t> graph</a:t>
            </a:r>
            <a:r>
              <a:rPr sz="2400" spc="-20" dirty="0">
                <a:solidFill>
                  <a:srgbClr val="C00000"/>
                </a:solidFill>
                <a:latin typeface="Arial MT"/>
                <a:cs typeface="Tahoma"/>
              </a:rPr>
              <a:t> </a:t>
            </a:r>
            <a:r>
              <a:rPr sz="2400" dirty="0">
                <a:latin typeface="Arial MT"/>
                <a:cs typeface="Tahoma"/>
              </a:rPr>
              <a:t>with </a:t>
            </a:r>
            <a:r>
              <a:rPr sz="2400" dirty="0">
                <a:solidFill>
                  <a:srgbClr val="C00000"/>
                </a:solidFill>
                <a:latin typeface="Arial MT"/>
                <a:cs typeface="Tahoma"/>
              </a:rPr>
              <a:t>n</a:t>
            </a:r>
            <a:r>
              <a:rPr sz="2400" spc="-5" dirty="0">
                <a:latin typeface="Arial MT"/>
                <a:cs typeface="Tahoma"/>
              </a:rPr>
              <a:t> vertices,</a:t>
            </a:r>
            <a:r>
              <a:rPr sz="2400" spc="-10" dirty="0">
                <a:latin typeface="Arial MT"/>
                <a:cs typeface="Tahoma"/>
              </a:rPr>
              <a:t> </a:t>
            </a:r>
            <a:r>
              <a:rPr sz="2400" spc="-5" dirty="0">
                <a:latin typeface="Arial MT"/>
                <a:cs typeface="Tahoma"/>
              </a:rPr>
              <a:t>the</a:t>
            </a:r>
            <a:r>
              <a:rPr sz="2400" spc="-10" dirty="0">
                <a:latin typeface="Arial MT"/>
                <a:cs typeface="Tahoma"/>
              </a:rPr>
              <a:t> </a:t>
            </a:r>
            <a:r>
              <a:rPr sz="2400" spc="-5" dirty="0">
                <a:latin typeface="Arial MT"/>
                <a:cs typeface="Tahoma"/>
              </a:rPr>
              <a:t>maximum </a:t>
            </a:r>
            <a:r>
              <a:rPr sz="2400" spc="-10" dirty="0">
                <a:latin typeface="Arial MT"/>
                <a:cs typeface="Tahoma"/>
              </a:rPr>
              <a:t>number </a:t>
            </a:r>
            <a:r>
              <a:rPr sz="2400" dirty="0">
                <a:latin typeface="Arial MT"/>
                <a:cs typeface="Tahoma"/>
              </a:rPr>
              <a:t>of</a:t>
            </a:r>
            <a:r>
              <a:rPr sz="2400" spc="5" dirty="0">
                <a:latin typeface="Arial MT"/>
                <a:cs typeface="Tahoma"/>
              </a:rPr>
              <a:t> </a:t>
            </a:r>
            <a:r>
              <a:rPr sz="2400" spc="-10" dirty="0">
                <a:latin typeface="Arial MT"/>
                <a:cs typeface="Tahoma"/>
              </a:rPr>
              <a:t>edges </a:t>
            </a:r>
            <a:r>
              <a:rPr sz="2400" spc="5" dirty="0">
                <a:latin typeface="Arial MT"/>
                <a:cs typeface="Tahoma"/>
              </a:rPr>
              <a:t>is</a:t>
            </a:r>
            <a:r>
              <a:rPr sz="2400" spc="-70" dirty="0">
                <a:latin typeface="Arial MT"/>
                <a:cs typeface="Tahoma"/>
              </a:rPr>
              <a:t> </a:t>
            </a:r>
            <a:r>
              <a:rPr sz="2400" i="1" spc="-10" dirty="0">
                <a:solidFill>
                  <a:srgbClr val="00B050"/>
                </a:solidFill>
                <a:latin typeface="Arial MT"/>
                <a:cs typeface="Tahoma"/>
              </a:rPr>
              <a:t>n(n-1)</a:t>
            </a:r>
            <a:endParaRPr sz="2000" i="1" dirty="0">
              <a:solidFill>
                <a:srgbClr val="00B050"/>
              </a:solidFill>
              <a:latin typeface="Arial MT"/>
              <a:cs typeface="Tahoma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38099">
              <a:lnSpc>
                <a:spcPts val="1535"/>
              </a:lnSpc>
            </a:pPr>
            <a:fld id="{81D60167-4931-47E6-BA6A-407CBD079E47}" type="slidenum">
              <a:rPr lang="en-US" smtClean="0"/>
              <a:pPr marL="38099">
                <a:lnSpc>
                  <a:spcPts val="1535"/>
                </a:lnSpc>
              </a:pPr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254487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611124"/>
            <a:ext cx="2785110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40" dirty="0"/>
              <a:t>Terminology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25500" y="1821688"/>
            <a:ext cx="10262235" cy="2905760"/>
          </a:xfrm>
          <a:prstGeom prst="rect">
            <a:avLst/>
          </a:prstGeom>
        </p:spPr>
        <p:txBody>
          <a:bodyPr vert="horz" wrap="square" lIns="0" tIns="45719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359"/>
              </a:spcBef>
              <a:buFont typeface="Arial MT"/>
              <a:buChar char="•"/>
              <a:tabLst>
                <a:tab pos="240665" algn="l"/>
                <a:tab pos="241300" algn="l"/>
              </a:tabLst>
            </a:pPr>
            <a:r>
              <a:rPr sz="2000" dirty="0">
                <a:latin typeface="Arial MT"/>
                <a:cs typeface="Tahoma"/>
              </a:rPr>
              <a:t>A </a:t>
            </a:r>
            <a:r>
              <a:rPr sz="2000" spc="-10" dirty="0">
                <a:solidFill>
                  <a:srgbClr val="C00000"/>
                </a:solidFill>
                <a:latin typeface="Arial MT"/>
                <a:cs typeface="Tahoma"/>
              </a:rPr>
              <a:t>s</a:t>
            </a:r>
            <a:r>
              <a:rPr sz="2000" spc="-5" dirty="0">
                <a:solidFill>
                  <a:srgbClr val="C00000"/>
                </a:solidFill>
                <a:latin typeface="Arial MT"/>
                <a:cs typeface="Tahoma"/>
              </a:rPr>
              <a:t>u</a:t>
            </a:r>
            <a:r>
              <a:rPr sz="2000" spc="-10" dirty="0">
                <a:solidFill>
                  <a:srgbClr val="C00000"/>
                </a:solidFill>
                <a:latin typeface="Arial MT"/>
                <a:cs typeface="Tahoma"/>
              </a:rPr>
              <a:t>bg</a:t>
            </a:r>
            <a:r>
              <a:rPr sz="2000" spc="-30" dirty="0">
                <a:solidFill>
                  <a:srgbClr val="C00000"/>
                </a:solidFill>
                <a:latin typeface="Arial MT"/>
                <a:cs typeface="Tahoma"/>
              </a:rPr>
              <a:t>r</a:t>
            </a:r>
            <a:r>
              <a:rPr sz="2000" dirty="0">
                <a:solidFill>
                  <a:srgbClr val="C00000"/>
                </a:solidFill>
                <a:latin typeface="Arial MT"/>
                <a:cs typeface="Tahoma"/>
              </a:rPr>
              <a:t>a</a:t>
            </a:r>
            <a:r>
              <a:rPr sz="2000" spc="-10" dirty="0">
                <a:solidFill>
                  <a:srgbClr val="C00000"/>
                </a:solidFill>
                <a:latin typeface="Arial MT"/>
                <a:cs typeface="Tahoma"/>
              </a:rPr>
              <a:t>p</a:t>
            </a:r>
            <a:r>
              <a:rPr sz="2000" dirty="0">
                <a:solidFill>
                  <a:srgbClr val="C00000"/>
                </a:solidFill>
                <a:latin typeface="Arial MT"/>
                <a:cs typeface="Tahoma"/>
              </a:rPr>
              <a:t>h</a:t>
            </a:r>
            <a:r>
              <a:rPr sz="2000" spc="-5" dirty="0">
                <a:latin typeface="Arial MT"/>
                <a:cs typeface="Tahoma"/>
              </a:rPr>
              <a:t> </a:t>
            </a:r>
            <a:r>
              <a:rPr sz="2000" dirty="0">
                <a:latin typeface="Arial MT"/>
                <a:cs typeface="Tahoma"/>
              </a:rPr>
              <a:t>of G</a:t>
            </a:r>
            <a:r>
              <a:rPr sz="2000" spc="10" dirty="0">
                <a:latin typeface="Arial MT"/>
                <a:cs typeface="Tahoma"/>
              </a:rPr>
              <a:t> i</a:t>
            </a:r>
            <a:r>
              <a:rPr sz="2000" dirty="0">
                <a:latin typeface="Arial MT"/>
                <a:cs typeface="Tahoma"/>
              </a:rPr>
              <a:t>s a </a:t>
            </a:r>
            <a:r>
              <a:rPr sz="2000" spc="-15" dirty="0">
                <a:latin typeface="Arial MT"/>
                <a:cs typeface="Tahoma"/>
              </a:rPr>
              <a:t>g</a:t>
            </a:r>
            <a:r>
              <a:rPr sz="2000" spc="-35" dirty="0">
                <a:latin typeface="Arial MT"/>
                <a:cs typeface="Tahoma"/>
              </a:rPr>
              <a:t>r</a:t>
            </a:r>
            <a:r>
              <a:rPr sz="2000" spc="-5" dirty="0">
                <a:latin typeface="Arial MT"/>
                <a:cs typeface="Tahoma"/>
              </a:rPr>
              <a:t>a</a:t>
            </a:r>
            <a:r>
              <a:rPr sz="2000" spc="-15" dirty="0">
                <a:latin typeface="Arial MT"/>
                <a:cs typeface="Tahoma"/>
              </a:rPr>
              <a:t>p</a:t>
            </a:r>
            <a:r>
              <a:rPr sz="2000" dirty="0">
                <a:latin typeface="Arial MT"/>
                <a:cs typeface="Tahoma"/>
              </a:rPr>
              <a:t>h</a:t>
            </a:r>
            <a:r>
              <a:rPr sz="2000" spc="-15" dirty="0">
                <a:latin typeface="Arial MT"/>
                <a:cs typeface="Tahoma"/>
              </a:rPr>
              <a:t> </a:t>
            </a:r>
            <a:r>
              <a:rPr sz="2000" dirty="0">
                <a:latin typeface="Arial MT"/>
                <a:cs typeface="Tahoma"/>
              </a:rPr>
              <a:t>G’ </a:t>
            </a:r>
            <a:r>
              <a:rPr sz="2000" spc="-5" dirty="0">
                <a:latin typeface="Arial MT"/>
                <a:cs typeface="Tahoma"/>
              </a:rPr>
              <a:t>su</a:t>
            </a:r>
            <a:r>
              <a:rPr sz="2000" dirty="0">
                <a:latin typeface="Arial MT"/>
                <a:cs typeface="Tahoma"/>
              </a:rPr>
              <a:t>ch</a:t>
            </a:r>
            <a:r>
              <a:rPr sz="2000" spc="-155" dirty="0">
                <a:latin typeface="Arial MT"/>
                <a:cs typeface="Tahoma"/>
              </a:rPr>
              <a:t> </a:t>
            </a:r>
            <a:r>
              <a:rPr sz="2000" dirty="0">
                <a:latin typeface="Arial MT"/>
                <a:cs typeface="Tahoma"/>
              </a:rPr>
              <a:t>t</a:t>
            </a:r>
            <a:r>
              <a:rPr sz="2000" spc="-10" dirty="0">
                <a:latin typeface="Arial MT"/>
                <a:cs typeface="Tahoma"/>
              </a:rPr>
              <a:t>ha</a:t>
            </a:r>
            <a:r>
              <a:rPr sz="2000" dirty="0">
                <a:latin typeface="Arial MT"/>
                <a:cs typeface="Tahoma"/>
              </a:rPr>
              <a:t>t</a:t>
            </a:r>
          </a:p>
          <a:p>
            <a:pPr marL="683260" lvl="1" indent="-143510">
              <a:lnSpc>
                <a:spcPct val="100000"/>
              </a:lnSpc>
              <a:spcBef>
                <a:spcPts val="204"/>
              </a:spcBef>
              <a:buSzPct val="62500"/>
              <a:buFont typeface="Wingdings"/>
              <a:buChar char=""/>
              <a:tabLst>
                <a:tab pos="683260" algn="l"/>
              </a:tabLst>
            </a:pPr>
            <a:r>
              <a:rPr sz="1600" spc="-5" dirty="0">
                <a:latin typeface="Arial MT"/>
                <a:cs typeface="Tahoma"/>
              </a:rPr>
              <a:t>V</a:t>
            </a:r>
            <a:r>
              <a:rPr sz="1600" dirty="0">
                <a:latin typeface="Arial MT"/>
                <a:cs typeface="Tahoma"/>
              </a:rPr>
              <a:t>(</a:t>
            </a:r>
            <a:r>
              <a:rPr sz="1600" spc="-10" dirty="0">
                <a:latin typeface="Arial MT"/>
                <a:cs typeface="Tahoma"/>
              </a:rPr>
              <a:t>G</a:t>
            </a:r>
            <a:r>
              <a:rPr sz="1600" spc="-5" dirty="0">
                <a:latin typeface="Arial MT"/>
                <a:cs typeface="Tahoma"/>
              </a:rPr>
              <a:t>’</a:t>
            </a:r>
            <a:r>
              <a:rPr sz="1600" dirty="0">
                <a:latin typeface="Arial MT"/>
                <a:cs typeface="Tahoma"/>
              </a:rPr>
              <a:t>) is</a:t>
            </a:r>
            <a:r>
              <a:rPr sz="1600" spc="5" dirty="0">
                <a:latin typeface="Arial MT"/>
                <a:cs typeface="Tahoma"/>
              </a:rPr>
              <a:t> </a:t>
            </a:r>
            <a:r>
              <a:rPr sz="1600" dirty="0">
                <a:latin typeface="Arial MT"/>
                <a:cs typeface="Tahoma"/>
              </a:rPr>
              <a:t>a</a:t>
            </a:r>
            <a:r>
              <a:rPr sz="1600" spc="-5" dirty="0">
                <a:latin typeface="Arial MT"/>
                <a:cs typeface="Tahoma"/>
              </a:rPr>
              <a:t> s</a:t>
            </a:r>
            <a:r>
              <a:rPr sz="1600" spc="-10" dirty="0">
                <a:latin typeface="Arial MT"/>
                <a:cs typeface="Tahoma"/>
              </a:rPr>
              <a:t>u</a:t>
            </a:r>
            <a:r>
              <a:rPr sz="1600" dirty="0">
                <a:latin typeface="Arial MT"/>
                <a:cs typeface="Tahoma"/>
              </a:rPr>
              <a:t>b</a:t>
            </a:r>
            <a:r>
              <a:rPr sz="1600" spc="-5" dirty="0">
                <a:latin typeface="Arial MT"/>
                <a:cs typeface="Tahoma"/>
              </a:rPr>
              <a:t>se</a:t>
            </a:r>
            <a:r>
              <a:rPr sz="1600" dirty="0">
                <a:latin typeface="Arial MT"/>
                <a:cs typeface="Tahoma"/>
              </a:rPr>
              <a:t>t </a:t>
            </a:r>
            <a:r>
              <a:rPr sz="1600" spc="5" dirty="0">
                <a:latin typeface="Arial MT"/>
                <a:cs typeface="Tahoma"/>
              </a:rPr>
              <a:t>o</a:t>
            </a:r>
            <a:r>
              <a:rPr sz="1600" dirty="0">
                <a:latin typeface="Arial MT"/>
                <a:cs typeface="Tahoma"/>
              </a:rPr>
              <a:t>f </a:t>
            </a:r>
            <a:r>
              <a:rPr sz="1600" spc="-10" dirty="0">
                <a:latin typeface="Arial MT"/>
                <a:cs typeface="Tahoma"/>
              </a:rPr>
              <a:t>V</a:t>
            </a:r>
            <a:r>
              <a:rPr sz="1600" spc="-5" dirty="0">
                <a:latin typeface="Arial MT"/>
                <a:cs typeface="Tahoma"/>
              </a:rPr>
              <a:t>(G</a:t>
            </a:r>
            <a:r>
              <a:rPr sz="1600" dirty="0">
                <a:latin typeface="Arial MT"/>
                <a:cs typeface="Tahoma"/>
              </a:rPr>
              <a:t>)</a:t>
            </a:r>
            <a:r>
              <a:rPr sz="1600" spc="-5" dirty="0">
                <a:latin typeface="Arial MT"/>
                <a:cs typeface="Tahoma"/>
              </a:rPr>
              <a:t> [</a:t>
            </a:r>
            <a:r>
              <a:rPr sz="1600" spc="-10" dirty="0">
                <a:latin typeface="Arial MT"/>
                <a:cs typeface="Tahoma"/>
              </a:rPr>
              <a:t>V</a:t>
            </a:r>
            <a:r>
              <a:rPr sz="1600" spc="-5" dirty="0">
                <a:latin typeface="Arial MT"/>
                <a:cs typeface="Tahoma"/>
              </a:rPr>
              <a:t>(G</a:t>
            </a:r>
            <a:r>
              <a:rPr sz="1600" dirty="0">
                <a:latin typeface="Arial MT"/>
                <a:cs typeface="Tahoma"/>
              </a:rPr>
              <a:t>’) </a:t>
            </a:r>
            <a:r>
              <a:rPr lang="en-US" sz="1600" dirty="0" smtClean="0">
                <a:latin typeface="Symbol"/>
                <a:cs typeface="Symbol"/>
              </a:rPr>
              <a:t></a:t>
            </a:r>
            <a:r>
              <a:rPr lang="en-US" sz="1600" spc="5" dirty="0" smtClean="0">
                <a:latin typeface="Times New Roman"/>
                <a:cs typeface="Times New Roman"/>
              </a:rPr>
              <a:t> </a:t>
            </a:r>
            <a:r>
              <a:rPr sz="1600" spc="5" dirty="0" smtClean="0">
                <a:latin typeface="Arial MT"/>
                <a:cs typeface="Times New Roman"/>
              </a:rPr>
              <a:t> </a:t>
            </a:r>
            <a:r>
              <a:rPr sz="1600" spc="-10" dirty="0">
                <a:latin typeface="Arial MT"/>
                <a:cs typeface="Tahoma"/>
              </a:rPr>
              <a:t>V</a:t>
            </a:r>
            <a:r>
              <a:rPr sz="1600" spc="-5" dirty="0">
                <a:latin typeface="Arial MT"/>
                <a:cs typeface="Tahoma"/>
              </a:rPr>
              <a:t>(</a:t>
            </a:r>
            <a:r>
              <a:rPr sz="1600" spc="-15" dirty="0">
                <a:latin typeface="Arial MT"/>
                <a:cs typeface="Tahoma"/>
              </a:rPr>
              <a:t>G</a:t>
            </a:r>
            <a:r>
              <a:rPr sz="1600" spc="-10" dirty="0">
                <a:latin typeface="Arial MT"/>
                <a:cs typeface="Tahoma"/>
              </a:rPr>
              <a:t>)</a:t>
            </a:r>
            <a:r>
              <a:rPr sz="1600" dirty="0">
                <a:latin typeface="Arial MT"/>
                <a:cs typeface="Tahoma"/>
              </a:rPr>
              <a:t>]</a:t>
            </a:r>
            <a:r>
              <a:rPr sz="1600" spc="-160" dirty="0">
                <a:latin typeface="Arial MT"/>
                <a:cs typeface="Tahoma"/>
              </a:rPr>
              <a:t> </a:t>
            </a:r>
            <a:r>
              <a:rPr sz="1600" spc="-10" dirty="0">
                <a:latin typeface="Arial MT"/>
                <a:cs typeface="Tahoma"/>
              </a:rPr>
              <a:t>a</a:t>
            </a:r>
            <a:r>
              <a:rPr sz="1600" spc="-15" dirty="0">
                <a:latin typeface="Arial MT"/>
                <a:cs typeface="Tahoma"/>
              </a:rPr>
              <a:t>n</a:t>
            </a:r>
            <a:r>
              <a:rPr sz="1600" dirty="0">
                <a:latin typeface="Arial MT"/>
                <a:cs typeface="Tahoma"/>
              </a:rPr>
              <a:t>d</a:t>
            </a:r>
          </a:p>
          <a:p>
            <a:pPr marL="683260" lvl="1" indent="-143510">
              <a:lnSpc>
                <a:spcPct val="100000"/>
              </a:lnSpc>
              <a:spcBef>
                <a:spcPts val="170"/>
              </a:spcBef>
              <a:buSzPct val="62500"/>
              <a:buFont typeface="Wingdings"/>
              <a:buChar char=""/>
              <a:tabLst>
                <a:tab pos="683260" algn="l"/>
              </a:tabLst>
            </a:pPr>
            <a:r>
              <a:rPr sz="1600" dirty="0">
                <a:latin typeface="Arial MT"/>
                <a:cs typeface="Tahoma"/>
              </a:rPr>
              <a:t>E</a:t>
            </a:r>
            <a:r>
              <a:rPr sz="1600" spc="-5" dirty="0">
                <a:latin typeface="Arial MT"/>
                <a:cs typeface="Tahoma"/>
              </a:rPr>
              <a:t>(G’</a:t>
            </a:r>
            <a:r>
              <a:rPr sz="1600" dirty="0">
                <a:latin typeface="Arial MT"/>
                <a:cs typeface="Tahoma"/>
              </a:rPr>
              <a:t>) is</a:t>
            </a:r>
            <a:r>
              <a:rPr sz="1600" spc="5" dirty="0">
                <a:latin typeface="Arial MT"/>
                <a:cs typeface="Tahoma"/>
              </a:rPr>
              <a:t> </a:t>
            </a:r>
            <a:r>
              <a:rPr sz="1600" dirty="0">
                <a:latin typeface="Arial MT"/>
                <a:cs typeface="Tahoma"/>
              </a:rPr>
              <a:t>a</a:t>
            </a:r>
            <a:r>
              <a:rPr sz="1600" spc="-5" dirty="0">
                <a:latin typeface="Arial MT"/>
                <a:cs typeface="Tahoma"/>
              </a:rPr>
              <a:t> s</a:t>
            </a:r>
            <a:r>
              <a:rPr sz="1600" spc="-10" dirty="0">
                <a:latin typeface="Arial MT"/>
                <a:cs typeface="Tahoma"/>
              </a:rPr>
              <a:t>u</a:t>
            </a:r>
            <a:r>
              <a:rPr sz="1600" dirty="0">
                <a:latin typeface="Arial MT"/>
                <a:cs typeface="Tahoma"/>
              </a:rPr>
              <a:t>b</a:t>
            </a:r>
            <a:r>
              <a:rPr sz="1600" spc="-5" dirty="0">
                <a:latin typeface="Arial MT"/>
                <a:cs typeface="Tahoma"/>
              </a:rPr>
              <a:t>se</a:t>
            </a:r>
            <a:r>
              <a:rPr sz="1600" dirty="0">
                <a:latin typeface="Arial MT"/>
                <a:cs typeface="Tahoma"/>
              </a:rPr>
              <a:t>t </a:t>
            </a:r>
            <a:r>
              <a:rPr sz="1600" spc="5" dirty="0">
                <a:latin typeface="Arial MT"/>
                <a:cs typeface="Tahoma"/>
              </a:rPr>
              <a:t>o</a:t>
            </a:r>
            <a:r>
              <a:rPr sz="1600" dirty="0">
                <a:latin typeface="Arial MT"/>
                <a:cs typeface="Tahoma"/>
              </a:rPr>
              <a:t>f E</a:t>
            </a:r>
            <a:r>
              <a:rPr sz="1600" spc="-5" dirty="0">
                <a:latin typeface="Arial MT"/>
                <a:cs typeface="Tahoma"/>
              </a:rPr>
              <a:t>(G</a:t>
            </a:r>
            <a:r>
              <a:rPr sz="1600" dirty="0">
                <a:latin typeface="Arial MT"/>
                <a:cs typeface="Tahoma"/>
              </a:rPr>
              <a:t>)</a:t>
            </a:r>
            <a:r>
              <a:rPr sz="1600" spc="-5" dirty="0">
                <a:latin typeface="Arial MT"/>
                <a:cs typeface="Tahoma"/>
              </a:rPr>
              <a:t> [</a:t>
            </a:r>
            <a:r>
              <a:rPr sz="1600" dirty="0">
                <a:latin typeface="Arial MT"/>
                <a:cs typeface="Tahoma"/>
              </a:rPr>
              <a:t>E</a:t>
            </a:r>
            <a:r>
              <a:rPr sz="1600" spc="-5" dirty="0">
                <a:latin typeface="Arial MT"/>
                <a:cs typeface="Tahoma"/>
              </a:rPr>
              <a:t>(G</a:t>
            </a:r>
            <a:r>
              <a:rPr sz="1600" dirty="0">
                <a:latin typeface="Arial MT"/>
                <a:cs typeface="Tahoma"/>
              </a:rPr>
              <a:t>’) </a:t>
            </a:r>
            <a:r>
              <a:rPr lang="en-US" sz="1600" dirty="0" smtClean="0">
                <a:latin typeface="Symbol"/>
                <a:cs typeface="Symbol"/>
              </a:rPr>
              <a:t></a:t>
            </a:r>
            <a:r>
              <a:rPr lang="en-US" sz="1600" spc="5" dirty="0" smtClean="0">
                <a:latin typeface="Times New Roman"/>
                <a:cs typeface="Times New Roman"/>
              </a:rPr>
              <a:t> </a:t>
            </a:r>
            <a:r>
              <a:rPr sz="1600" spc="-120" dirty="0" smtClean="0">
                <a:latin typeface="Arial MT"/>
                <a:cs typeface="Times New Roman"/>
              </a:rPr>
              <a:t> </a:t>
            </a:r>
            <a:r>
              <a:rPr sz="1600" dirty="0">
                <a:latin typeface="Arial MT"/>
                <a:cs typeface="Tahoma"/>
              </a:rPr>
              <a:t>E</a:t>
            </a:r>
            <a:r>
              <a:rPr sz="1600" spc="-5" dirty="0">
                <a:latin typeface="Arial MT"/>
                <a:cs typeface="Tahoma"/>
              </a:rPr>
              <a:t>(G)</a:t>
            </a:r>
            <a:r>
              <a:rPr sz="1600" dirty="0">
                <a:latin typeface="Arial MT"/>
                <a:cs typeface="Tahoma"/>
              </a:rPr>
              <a:t>]</a:t>
            </a:r>
          </a:p>
          <a:p>
            <a:pPr marL="241300" indent="-228600">
              <a:lnSpc>
                <a:spcPct val="100000"/>
              </a:lnSpc>
              <a:spcBef>
                <a:spcPts val="200"/>
              </a:spcBef>
              <a:buFont typeface="Arial MT"/>
              <a:buChar char="•"/>
              <a:tabLst>
                <a:tab pos="240665" algn="l"/>
                <a:tab pos="241300" algn="l"/>
                <a:tab pos="5705475" algn="l"/>
              </a:tabLst>
            </a:pPr>
            <a:r>
              <a:rPr sz="2000" dirty="0">
                <a:latin typeface="Arial MT"/>
                <a:cs typeface="Tahoma"/>
              </a:rPr>
              <a:t>A </a:t>
            </a:r>
            <a:r>
              <a:rPr sz="2000" spc="-10" dirty="0">
                <a:solidFill>
                  <a:srgbClr val="C00000"/>
                </a:solidFill>
                <a:latin typeface="Arial MT"/>
                <a:cs typeface="Tahoma"/>
              </a:rPr>
              <a:t>spanning</a:t>
            </a:r>
            <a:r>
              <a:rPr sz="2000" spc="-20" dirty="0">
                <a:solidFill>
                  <a:srgbClr val="C00000"/>
                </a:solidFill>
                <a:latin typeface="Arial MT"/>
                <a:cs typeface="Tahoma"/>
              </a:rPr>
              <a:t> </a:t>
            </a:r>
            <a:r>
              <a:rPr sz="2000" spc="-10" dirty="0">
                <a:solidFill>
                  <a:srgbClr val="C00000"/>
                </a:solidFill>
                <a:latin typeface="Arial MT"/>
                <a:cs typeface="Tahoma"/>
              </a:rPr>
              <a:t>subgraph</a:t>
            </a:r>
            <a:r>
              <a:rPr sz="2000" dirty="0">
                <a:latin typeface="Arial MT"/>
                <a:cs typeface="Tahoma"/>
              </a:rPr>
              <a:t> G’ of</a:t>
            </a:r>
            <a:r>
              <a:rPr sz="2000" spc="5" dirty="0">
                <a:latin typeface="Arial MT"/>
                <a:cs typeface="Tahoma"/>
              </a:rPr>
              <a:t> </a:t>
            </a:r>
            <a:r>
              <a:rPr sz="2000" dirty="0">
                <a:latin typeface="Arial MT"/>
                <a:cs typeface="Tahoma"/>
              </a:rPr>
              <a:t>G</a:t>
            </a:r>
            <a:r>
              <a:rPr sz="2000" spc="10" dirty="0">
                <a:latin typeface="Arial MT"/>
                <a:cs typeface="Tahoma"/>
              </a:rPr>
              <a:t> </a:t>
            </a:r>
            <a:r>
              <a:rPr sz="2000" spc="5" dirty="0">
                <a:latin typeface="Arial MT"/>
                <a:cs typeface="Tahoma"/>
              </a:rPr>
              <a:t>is </a:t>
            </a:r>
            <a:r>
              <a:rPr sz="2000" dirty="0">
                <a:latin typeface="Arial MT"/>
                <a:cs typeface="Tahoma"/>
              </a:rPr>
              <a:t>a </a:t>
            </a:r>
            <a:r>
              <a:rPr sz="2000" spc="-10" dirty="0">
                <a:latin typeface="Arial MT"/>
                <a:cs typeface="Tahoma"/>
              </a:rPr>
              <a:t>subgraph</a:t>
            </a:r>
            <a:r>
              <a:rPr sz="2000" spc="-5" dirty="0">
                <a:latin typeface="Arial MT"/>
                <a:cs typeface="Tahoma"/>
              </a:rPr>
              <a:t> </a:t>
            </a:r>
            <a:r>
              <a:rPr sz="2000" dirty="0">
                <a:latin typeface="Arial MT"/>
                <a:cs typeface="Tahoma"/>
              </a:rPr>
              <a:t>of</a:t>
            </a:r>
            <a:r>
              <a:rPr sz="2000" spc="-195" dirty="0">
                <a:latin typeface="Arial MT"/>
                <a:cs typeface="Tahoma"/>
              </a:rPr>
              <a:t> </a:t>
            </a:r>
            <a:r>
              <a:rPr sz="2000" dirty="0">
                <a:latin typeface="Arial MT"/>
                <a:cs typeface="Tahoma"/>
              </a:rPr>
              <a:t>G	</a:t>
            </a:r>
            <a:r>
              <a:rPr sz="2000" spc="-5" dirty="0">
                <a:latin typeface="Arial MT"/>
                <a:cs typeface="Tahoma"/>
              </a:rPr>
              <a:t>that</a:t>
            </a:r>
            <a:r>
              <a:rPr sz="2000" spc="-15" dirty="0">
                <a:latin typeface="Arial MT"/>
                <a:cs typeface="Tahoma"/>
              </a:rPr>
              <a:t> </a:t>
            </a:r>
            <a:r>
              <a:rPr sz="2000" spc="-5" dirty="0">
                <a:latin typeface="Arial MT"/>
                <a:cs typeface="Tahoma"/>
              </a:rPr>
              <a:t>contains</a:t>
            </a:r>
            <a:r>
              <a:rPr sz="2000" spc="-20" dirty="0">
                <a:latin typeface="Arial MT"/>
                <a:cs typeface="Tahoma"/>
              </a:rPr>
              <a:t> </a:t>
            </a:r>
            <a:r>
              <a:rPr sz="2000" dirty="0">
                <a:latin typeface="Arial MT"/>
                <a:cs typeface="Tahoma"/>
              </a:rPr>
              <a:t>all</a:t>
            </a:r>
            <a:r>
              <a:rPr sz="2000" spc="-5" dirty="0">
                <a:latin typeface="Arial MT"/>
                <a:cs typeface="Tahoma"/>
              </a:rPr>
              <a:t> the</a:t>
            </a:r>
            <a:r>
              <a:rPr sz="2000" spc="-20" dirty="0">
                <a:latin typeface="Arial MT"/>
                <a:cs typeface="Tahoma"/>
              </a:rPr>
              <a:t> </a:t>
            </a:r>
            <a:r>
              <a:rPr sz="2000" spc="-5" dirty="0">
                <a:latin typeface="Arial MT"/>
                <a:cs typeface="Tahoma"/>
              </a:rPr>
              <a:t>vertices</a:t>
            </a:r>
            <a:r>
              <a:rPr sz="2000" spc="-15" dirty="0">
                <a:latin typeface="Arial MT"/>
                <a:cs typeface="Tahoma"/>
              </a:rPr>
              <a:t> </a:t>
            </a:r>
            <a:r>
              <a:rPr sz="2000" dirty="0">
                <a:latin typeface="Arial MT"/>
                <a:cs typeface="Tahoma"/>
              </a:rPr>
              <a:t>of</a:t>
            </a:r>
            <a:r>
              <a:rPr sz="2000" spc="-5" dirty="0">
                <a:latin typeface="Arial MT"/>
                <a:cs typeface="Tahoma"/>
              </a:rPr>
              <a:t> </a:t>
            </a:r>
            <a:r>
              <a:rPr sz="2000" dirty="0">
                <a:latin typeface="Arial MT"/>
                <a:cs typeface="Tahoma"/>
              </a:rPr>
              <a:t>G,</a:t>
            </a:r>
            <a:r>
              <a:rPr sz="2000" spc="-20" dirty="0">
                <a:latin typeface="Arial MT"/>
                <a:cs typeface="Tahoma"/>
              </a:rPr>
              <a:t> </a:t>
            </a:r>
            <a:r>
              <a:rPr sz="2000" spc="-5" dirty="0">
                <a:latin typeface="Arial MT"/>
                <a:cs typeface="Tahoma"/>
              </a:rPr>
              <a:t>that</a:t>
            </a:r>
            <a:r>
              <a:rPr sz="2000" spc="-70" dirty="0">
                <a:latin typeface="Arial MT"/>
                <a:cs typeface="Tahoma"/>
              </a:rPr>
              <a:t> </a:t>
            </a:r>
            <a:r>
              <a:rPr sz="2000" spc="10" dirty="0">
                <a:latin typeface="Arial MT"/>
                <a:cs typeface="Tahoma"/>
              </a:rPr>
              <a:t>is</a:t>
            </a:r>
            <a:endParaRPr sz="2000" dirty="0">
              <a:latin typeface="Arial MT"/>
              <a:cs typeface="Tahoma"/>
            </a:endParaRPr>
          </a:p>
          <a:p>
            <a:pPr marL="683260" lvl="1" indent="-143510">
              <a:lnSpc>
                <a:spcPct val="100000"/>
              </a:lnSpc>
              <a:spcBef>
                <a:spcPts val="185"/>
              </a:spcBef>
              <a:buSzPct val="62500"/>
              <a:buFont typeface="Wingdings"/>
              <a:buChar char=""/>
              <a:tabLst>
                <a:tab pos="683260" algn="l"/>
              </a:tabLst>
            </a:pPr>
            <a:r>
              <a:rPr sz="1600" spc="-5" dirty="0">
                <a:latin typeface="Arial MT"/>
                <a:cs typeface="Tahoma"/>
              </a:rPr>
              <a:t>V</a:t>
            </a:r>
            <a:r>
              <a:rPr sz="1600" dirty="0">
                <a:latin typeface="Arial MT"/>
                <a:cs typeface="Tahoma"/>
              </a:rPr>
              <a:t>(</a:t>
            </a:r>
            <a:r>
              <a:rPr sz="1600" spc="-10" dirty="0">
                <a:latin typeface="Arial MT"/>
                <a:cs typeface="Tahoma"/>
              </a:rPr>
              <a:t>G</a:t>
            </a:r>
            <a:r>
              <a:rPr sz="1600" spc="-5" dirty="0">
                <a:latin typeface="Arial MT"/>
                <a:cs typeface="Tahoma"/>
              </a:rPr>
              <a:t>’</a:t>
            </a:r>
            <a:r>
              <a:rPr sz="1600" dirty="0">
                <a:latin typeface="Arial MT"/>
                <a:cs typeface="Tahoma"/>
              </a:rPr>
              <a:t>) is</a:t>
            </a:r>
            <a:r>
              <a:rPr sz="1600" spc="5" dirty="0">
                <a:latin typeface="Arial MT"/>
                <a:cs typeface="Tahoma"/>
              </a:rPr>
              <a:t> </a:t>
            </a:r>
            <a:r>
              <a:rPr sz="1600" spc="-10" dirty="0">
                <a:latin typeface="Arial MT"/>
                <a:cs typeface="Tahoma"/>
              </a:rPr>
              <a:t>e</a:t>
            </a:r>
            <a:r>
              <a:rPr sz="1600" spc="-5" dirty="0">
                <a:latin typeface="Arial MT"/>
                <a:cs typeface="Tahoma"/>
              </a:rPr>
              <a:t>q</a:t>
            </a:r>
            <a:r>
              <a:rPr sz="1600" spc="-15" dirty="0">
                <a:latin typeface="Arial MT"/>
                <a:cs typeface="Tahoma"/>
              </a:rPr>
              <a:t>u</a:t>
            </a:r>
            <a:r>
              <a:rPr sz="1600" spc="-10" dirty="0">
                <a:latin typeface="Arial MT"/>
                <a:cs typeface="Tahoma"/>
              </a:rPr>
              <a:t>a</a:t>
            </a:r>
            <a:r>
              <a:rPr sz="1600" dirty="0">
                <a:latin typeface="Arial MT"/>
                <a:cs typeface="Tahoma"/>
              </a:rPr>
              <a:t>l</a:t>
            </a:r>
            <a:r>
              <a:rPr sz="1600" spc="-15" dirty="0">
                <a:latin typeface="Arial MT"/>
                <a:cs typeface="Tahoma"/>
              </a:rPr>
              <a:t> </a:t>
            </a:r>
            <a:r>
              <a:rPr sz="1600" dirty="0">
                <a:latin typeface="Arial MT"/>
                <a:cs typeface="Tahoma"/>
              </a:rPr>
              <a:t>to</a:t>
            </a:r>
            <a:r>
              <a:rPr sz="1600" spc="5" dirty="0">
                <a:latin typeface="Arial MT"/>
                <a:cs typeface="Tahoma"/>
              </a:rPr>
              <a:t> </a:t>
            </a:r>
            <a:r>
              <a:rPr sz="1600" spc="-5" dirty="0">
                <a:latin typeface="Arial MT"/>
                <a:cs typeface="Tahoma"/>
              </a:rPr>
              <a:t>V</a:t>
            </a:r>
            <a:r>
              <a:rPr sz="1600" dirty="0">
                <a:latin typeface="Arial MT"/>
                <a:cs typeface="Tahoma"/>
              </a:rPr>
              <a:t>(</a:t>
            </a:r>
            <a:r>
              <a:rPr sz="1600" spc="-10" dirty="0">
                <a:latin typeface="Arial MT"/>
                <a:cs typeface="Tahoma"/>
              </a:rPr>
              <a:t>G</a:t>
            </a:r>
            <a:r>
              <a:rPr sz="1600" dirty="0">
                <a:latin typeface="Arial MT"/>
                <a:cs typeface="Tahoma"/>
              </a:rPr>
              <a:t>) [</a:t>
            </a:r>
            <a:r>
              <a:rPr sz="1600" spc="-5" dirty="0">
                <a:latin typeface="Arial MT"/>
                <a:cs typeface="Tahoma"/>
              </a:rPr>
              <a:t>V</a:t>
            </a:r>
            <a:r>
              <a:rPr sz="1600" dirty="0">
                <a:latin typeface="Arial MT"/>
                <a:cs typeface="Tahoma"/>
              </a:rPr>
              <a:t>(</a:t>
            </a:r>
            <a:r>
              <a:rPr sz="1600" spc="-10" dirty="0">
                <a:latin typeface="Arial MT"/>
                <a:cs typeface="Tahoma"/>
              </a:rPr>
              <a:t>G</a:t>
            </a:r>
            <a:r>
              <a:rPr sz="1600" spc="-5" dirty="0">
                <a:latin typeface="Arial MT"/>
                <a:cs typeface="Tahoma"/>
              </a:rPr>
              <a:t>’</a:t>
            </a:r>
            <a:r>
              <a:rPr sz="1600" dirty="0">
                <a:latin typeface="Arial MT"/>
                <a:cs typeface="Tahoma"/>
              </a:rPr>
              <a:t>)</a:t>
            </a:r>
            <a:r>
              <a:rPr sz="1600" spc="-5" dirty="0">
                <a:latin typeface="Arial MT"/>
                <a:cs typeface="Tahoma"/>
              </a:rPr>
              <a:t> </a:t>
            </a:r>
            <a:r>
              <a:rPr sz="1600" dirty="0">
                <a:latin typeface="Arial MT"/>
                <a:cs typeface="Tahoma"/>
              </a:rPr>
              <a:t>=</a:t>
            </a:r>
            <a:r>
              <a:rPr sz="1600" spc="5" dirty="0">
                <a:latin typeface="Arial MT"/>
                <a:cs typeface="Tahoma"/>
              </a:rPr>
              <a:t> </a:t>
            </a:r>
            <a:r>
              <a:rPr sz="1600" spc="-10" dirty="0">
                <a:latin typeface="Arial MT"/>
                <a:cs typeface="Tahoma"/>
              </a:rPr>
              <a:t>V</a:t>
            </a:r>
            <a:r>
              <a:rPr sz="1600" spc="-5" dirty="0">
                <a:latin typeface="Arial MT"/>
                <a:cs typeface="Tahoma"/>
              </a:rPr>
              <a:t>(</a:t>
            </a:r>
            <a:r>
              <a:rPr sz="1600" spc="-15" dirty="0">
                <a:latin typeface="Arial MT"/>
                <a:cs typeface="Tahoma"/>
              </a:rPr>
              <a:t>G</a:t>
            </a:r>
            <a:r>
              <a:rPr sz="1600" spc="-10" dirty="0">
                <a:latin typeface="Arial MT"/>
                <a:cs typeface="Tahoma"/>
              </a:rPr>
              <a:t>)</a:t>
            </a:r>
            <a:r>
              <a:rPr sz="1600" dirty="0">
                <a:latin typeface="Arial MT"/>
                <a:cs typeface="Tahoma"/>
              </a:rPr>
              <a:t>]</a:t>
            </a:r>
            <a:r>
              <a:rPr sz="1600" spc="-175" dirty="0">
                <a:latin typeface="Arial MT"/>
                <a:cs typeface="Tahoma"/>
              </a:rPr>
              <a:t> </a:t>
            </a:r>
            <a:r>
              <a:rPr sz="1600" spc="-10" dirty="0">
                <a:latin typeface="Arial MT"/>
                <a:cs typeface="Tahoma"/>
              </a:rPr>
              <a:t>a</a:t>
            </a:r>
            <a:r>
              <a:rPr sz="1600" spc="-15" dirty="0">
                <a:latin typeface="Arial MT"/>
                <a:cs typeface="Tahoma"/>
              </a:rPr>
              <a:t>n</a:t>
            </a:r>
            <a:r>
              <a:rPr sz="1600" dirty="0">
                <a:latin typeface="Arial MT"/>
                <a:cs typeface="Tahoma"/>
              </a:rPr>
              <a:t>d</a:t>
            </a:r>
          </a:p>
          <a:p>
            <a:pPr marL="577850" indent="-95885">
              <a:lnSpc>
                <a:spcPct val="100000"/>
              </a:lnSpc>
              <a:spcBef>
                <a:spcPts val="480"/>
              </a:spcBef>
              <a:buSzPct val="56250"/>
              <a:buFont typeface="Wingdings"/>
              <a:buChar char=""/>
              <a:tabLst>
                <a:tab pos="578485" algn="l"/>
              </a:tabLst>
            </a:pPr>
            <a:r>
              <a:rPr sz="1600" dirty="0">
                <a:latin typeface="Arial MT"/>
                <a:cs typeface="Tahoma"/>
              </a:rPr>
              <a:t>E</a:t>
            </a:r>
            <a:r>
              <a:rPr sz="1600" spc="-5" dirty="0">
                <a:latin typeface="Arial MT"/>
                <a:cs typeface="Tahoma"/>
              </a:rPr>
              <a:t>(G’</a:t>
            </a:r>
            <a:r>
              <a:rPr sz="1600" dirty="0">
                <a:latin typeface="Arial MT"/>
                <a:cs typeface="Tahoma"/>
              </a:rPr>
              <a:t>) is</a:t>
            </a:r>
            <a:r>
              <a:rPr sz="1600" spc="5" dirty="0">
                <a:latin typeface="Arial MT"/>
                <a:cs typeface="Tahoma"/>
              </a:rPr>
              <a:t> </a:t>
            </a:r>
            <a:r>
              <a:rPr sz="1600" dirty="0">
                <a:latin typeface="Arial MT"/>
                <a:cs typeface="Tahoma"/>
              </a:rPr>
              <a:t>a</a:t>
            </a:r>
            <a:r>
              <a:rPr sz="1600" spc="-5" dirty="0">
                <a:latin typeface="Arial MT"/>
                <a:cs typeface="Tahoma"/>
              </a:rPr>
              <a:t> s</a:t>
            </a:r>
            <a:r>
              <a:rPr sz="1600" spc="-10" dirty="0">
                <a:latin typeface="Arial MT"/>
                <a:cs typeface="Tahoma"/>
              </a:rPr>
              <a:t>u</a:t>
            </a:r>
            <a:r>
              <a:rPr sz="1600" dirty="0">
                <a:latin typeface="Arial MT"/>
                <a:cs typeface="Tahoma"/>
              </a:rPr>
              <a:t>b</a:t>
            </a:r>
            <a:r>
              <a:rPr sz="1600" spc="-5" dirty="0">
                <a:latin typeface="Arial MT"/>
                <a:cs typeface="Tahoma"/>
              </a:rPr>
              <a:t>se</a:t>
            </a:r>
            <a:r>
              <a:rPr sz="1600" dirty="0">
                <a:latin typeface="Arial MT"/>
                <a:cs typeface="Tahoma"/>
              </a:rPr>
              <a:t>t </a:t>
            </a:r>
            <a:r>
              <a:rPr sz="1600" spc="5" dirty="0">
                <a:latin typeface="Arial MT"/>
                <a:cs typeface="Tahoma"/>
              </a:rPr>
              <a:t>o</a:t>
            </a:r>
            <a:r>
              <a:rPr sz="1600" dirty="0">
                <a:latin typeface="Arial MT"/>
                <a:cs typeface="Tahoma"/>
              </a:rPr>
              <a:t>f E</a:t>
            </a:r>
            <a:r>
              <a:rPr sz="1600" spc="-5" dirty="0">
                <a:latin typeface="Arial MT"/>
                <a:cs typeface="Tahoma"/>
              </a:rPr>
              <a:t>(G</a:t>
            </a:r>
            <a:r>
              <a:rPr sz="1600" dirty="0">
                <a:latin typeface="Arial MT"/>
                <a:cs typeface="Tahoma"/>
              </a:rPr>
              <a:t>)</a:t>
            </a:r>
            <a:r>
              <a:rPr sz="1600" spc="-5" dirty="0">
                <a:latin typeface="Arial MT"/>
                <a:cs typeface="Tahoma"/>
              </a:rPr>
              <a:t> [</a:t>
            </a:r>
            <a:r>
              <a:rPr sz="1600" dirty="0">
                <a:latin typeface="Arial MT"/>
                <a:cs typeface="Tahoma"/>
              </a:rPr>
              <a:t>E</a:t>
            </a:r>
            <a:r>
              <a:rPr sz="1600" spc="-5" dirty="0">
                <a:latin typeface="Arial MT"/>
                <a:cs typeface="Tahoma"/>
              </a:rPr>
              <a:t>(G</a:t>
            </a:r>
            <a:r>
              <a:rPr sz="1600" dirty="0">
                <a:latin typeface="Arial MT"/>
                <a:cs typeface="Tahoma"/>
              </a:rPr>
              <a:t>’) </a:t>
            </a:r>
            <a:r>
              <a:rPr lang="en-US" sz="1600" dirty="0" smtClean="0">
                <a:latin typeface="Symbol"/>
                <a:cs typeface="Symbol"/>
              </a:rPr>
              <a:t></a:t>
            </a:r>
            <a:r>
              <a:rPr lang="en-US" sz="1600" spc="5" dirty="0" smtClean="0">
                <a:latin typeface="Times New Roman"/>
                <a:cs typeface="Times New Roman"/>
              </a:rPr>
              <a:t> </a:t>
            </a:r>
            <a:r>
              <a:rPr sz="1600" spc="-125" dirty="0" smtClean="0">
                <a:latin typeface="Arial MT"/>
                <a:cs typeface="Times New Roman"/>
              </a:rPr>
              <a:t> </a:t>
            </a:r>
            <a:r>
              <a:rPr sz="1600" dirty="0">
                <a:latin typeface="Arial MT"/>
                <a:cs typeface="Tahoma"/>
              </a:rPr>
              <a:t>E</a:t>
            </a:r>
            <a:r>
              <a:rPr sz="1600" spc="-5" dirty="0">
                <a:latin typeface="Arial MT"/>
                <a:cs typeface="Tahoma"/>
              </a:rPr>
              <a:t>(G)</a:t>
            </a:r>
            <a:r>
              <a:rPr sz="1600" dirty="0">
                <a:latin typeface="Arial MT"/>
                <a:cs typeface="Tahoma"/>
              </a:rPr>
              <a:t>]</a:t>
            </a:r>
          </a:p>
          <a:p>
            <a:pPr marL="368300" indent="-342900">
              <a:lnSpc>
                <a:spcPct val="100000"/>
              </a:lnSpc>
              <a:spcBef>
                <a:spcPts val="1085"/>
              </a:spcBef>
              <a:buFont typeface="Arial MT"/>
              <a:buChar char="•"/>
              <a:tabLst>
                <a:tab pos="367665" algn="l"/>
                <a:tab pos="368300" algn="l"/>
              </a:tabLst>
            </a:pPr>
            <a:r>
              <a:rPr sz="2000" dirty="0">
                <a:latin typeface="Arial MT"/>
                <a:cs typeface="Tahoma"/>
              </a:rPr>
              <a:t>A</a:t>
            </a:r>
            <a:r>
              <a:rPr sz="2000" spc="-10" dirty="0">
                <a:latin typeface="Arial MT"/>
                <a:cs typeface="Tahoma"/>
              </a:rPr>
              <a:t> </a:t>
            </a:r>
            <a:r>
              <a:rPr sz="2000" spc="-10" dirty="0">
                <a:solidFill>
                  <a:srgbClr val="C00000"/>
                </a:solidFill>
                <a:latin typeface="Arial MT"/>
                <a:cs typeface="Tahoma"/>
              </a:rPr>
              <a:t>forest</a:t>
            </a:r>
            <a:r>
              <a:rPr sz="2000" spc="-10" dirty="0">
                <a:latin typeface="Arial MT"/>
                <a:cs typeface="Tahoma"/>
              </a:rPr>
              <a:t> </a:t>
            </a:r>
            <a:r>
              <a:rPr sz="2000" spc="5" dirty="0">
                <a:latin typeface="Arial MT"/>
                <a:cs typeface="Tahoma"/>
              </a:rPr>
              <a:t>is</a:t>
            </a:r>
            <a:r>
              <a:rPr sz="2000" spc="-5" dirty="0">
                <a:latin typeface="Arial MT"/>
                <a:cs typeface="Tahoma"/>
              </a:rPr>
              <a:t> </a:t>
            </a:r>
            <a:r>
              <a:rPr sz="2000" dirty="0">
                <a:latin typeface="Arial MT"/>
                <a:cs typeface="Tahoma"/>
              </a:rPr>
              <a:t>a</a:t>
            </a:r>
            <a:r>
              <a:rPr sz="2000" spc="-5" dirty="0">
                <a:latin typeface="Arial MT"/>
                <a:cs typeface="Tahoma"/>
              </a:rPr>
              <a:t> </a:t>
            </a:r>
            <a:r>
              <a:rPr sz="2000" spc="-15" dirty="0">
                <a:latin typeface="Arial MT"/>
                <a:cs typeface="Tahoma"/>
              </a:rPr>
              <a:t>graph</a:t>
            </a:r>
            <a:r>
              <a:rPr sz="2000" spc="-25" dirty="0">
                <a:latin typeface="Arial MT"/>
                <a:cs typeface="Tahoma"/>
              </a:rPr>
              <a:t> </a:t>
            </a:r>
            <a:r>
              <a:rPr sz="2000" spc="-5" dirty="0">
                <a:latin typeface="Arial MT"/>
                <a:cs typeface="Tahoma"/>
              </a:rPr>
              <a:t>without</a:t>
            </a:r>
            <a:r>
              <a:rPr sz="2000" spc="-114" dirty="0">
                <a:latin typeface="Arial MT"/>
                <a:cs typeface="Tahoma"/>
              </a:rPr>
              <a:t> </a:t>
            </a:r>
            <a:r>
              <a:rPr sz="2000" spc="-5" dirty="0">
                <a:latin typeface="Arial MT"/>
                <a:cs typeface="Tahoma"/>
              </a:rPr>
              <a:t>cycles.</a:t>
            </a:r>
            <a:endParaRPr sz="2000" dirty="0">
              <a:latin typeface="Arial MT"/>
              <a:cs typeface="Tahoma"/>
            </a:endParaRPr>
          </a:p>
          <a:p>
            <a:pPr marL="241300" indent="-228600">
              <a:lnSpc>
                <a:spcPct val="100000"/>
              </a:lnSpc>
              <a:spcBef>
                <a:spcPts val="195"/>
              </a:spcBef>
              <a:buFont typeface="Arial MT"/>
              <a:buChar char="•"/>
              <a:tabLst>
                <a:tab pos="240665" algn="l"/>
                <a:tab pos="241300" algn="l"/>
              </a:tabLst>
            </a:pPr>
            <a:r>
              <a:rPr lang="en-US" sz="2000" dirty="0" smtClean="0">
                <a:latin typeface="Arial MT"/>
                <a:cs typeface="Tahoma"/>
              </a:rPr>
              <a:t>  </a:t>
            </a:r>
            <a:r>
              <a:rPr sz="2000" dirty="0" smtClean="0">
                <a:latin typeface="Arial MT"/>
                <a:cs typeface="Tahoma"/>
              </a:rPr>
              <a:t>A</a:t>
            </a:r>
            <a:r>
              <a:rPr sz="2000" spc="-15" dirty="0" smtClean="0">
                <a:latin typeface="Arial MT"/>
                <a:cs typeface="Tahoma"/>
              </a:rPr>
              <a:t> </a:t>
            </a:r>
            <a:r>
              <a:rPr sz="2000" spc="-5" dirty="0">
                <a:solidFill>
                  <a:srgbClr val="C00000"/>
                </a:solidFill>
                <a:latin typeface="Arial MT"/>
                <a:cs typeface="Tahoma"/>
              </a:rPr>
              <a:t>tree</a:t>
            </a:r>
            <a:r>
              <a:rPr sz="2000" spc="-5" dirty="0">
                <a:latin typeface="Arial MT"/>
                <a:cs typeface="Tahoma"/>
              </a:rPr>
              <a:t> </a:t>
            </a:r>
            <a:r>
              <a:rPr sz="2000" spc="5" dirty="0">
                <a:latin typeface="Arial MT"/>
                <a:cs typeface="Tahoma"/>
              </a:rPr>
              <a:t>is </a:t>
            </a:r>
            <a:r>
              <a:rPr sz="2000" dirty="0">
                <a:latin typeface="Arial MT"/>
                <a:cs typeface="Tahoma"/>
              </a:rPr>
              <a:t>a </a:t>
            </a:r>
            <a:r>
              <a:rPr sz="2000" spc="-10" dirty="0">
                <a:latin typeface="Arial MT"/>
                <a:cs typeface="Tahoma"/>
              </a:rPr>
              <a:t>connected</a:t>
            </a:r>
            <a:r>
              <a:rPr sz="2000" spc="-15" dirty="0">
                <a:latin typeface="Arial MT"/>
                <a:cs typeface="Tahoma"/>
              </a:rPr>
              <a:t> </a:t>
            </a:r>
            <a:r>
              <a:rPr sz="2000" spc="-5" dirty="0">
                <a:latin typeface="Arial MT"/>
                <a:cs typeface="Tahoma"/>
              </a:rPr>
              <a:t>forest,</a:t>
            </a:r>
            <a:r>
              <a:rPr sz="2000" spc="-10" dirty="0">
                <a:latin typeface="Arial MT"/>
                <a:cs typeface="Tahoma"/>
              </a:rPr>
              <a:t> </a:t>
            </a:r>
            <a:r>
              <a:rPr sz="2000" spc="-5" dirty="0">
                <a:latin typeface="Arial MT"/>
                <a:cs typeface="Tahoma"/>
              </a:rPr>
              <a:t>that </a:t>
            </a:r>
            <a:r>
              <a:rPr sz="2000" dirty="0">
                <a:latin typeface="Arial MT"/>
                <a:cs typeface="Tahoma"/>
              </a:rPr>
              <a:t>is,</a:t>
            </a:r>
            <a:r>
              <a:rPr sz="2000" spc="-130" dirty="0">
                <a:latin typeface="Arial MT"/>
                <a:cs typeface="Tahoma"/>
              </a:rPr>
              <a:t> </a:t>
            </a:r>
            <a:r>
              <a:rPr sz="2000" dirty="0">
                <a:latin typeface="Arial MT"/>
                <a:cs typeface="Tahoma"/>
              </a:rPr>
              <a:t>a </a:t>
            </a:r>
            <a:r>
              <a:rPr sz="2000" spc="-10" dirty="0">
                <a:latin typeface="Arial MT"/>
                <a:cs typeface="Tahoma"/>
              </a:rPr>
              <a:t>connected</a:t>
            </a:r>
            <a:r>
              <a:rPr sz="2000" spc="-20" dirty="0">
                <a:latin typeface="Arial MT"/>
                <a:cs typeface="Tahoma"/>
              </a:rPr>
              <a:t> </a:t>
            </a:r>
            <a:r>
              <a:rPr sz="2000" spc="-15" dirty="0">
                <a:latin typeface="Arial MT"/>
                <a:cs typeface="Tahoma"/>
              </a:rPr>
              <a:t>graph </a:t>
            </a:r>
            <a:r>
              <a:rPr sz="2000" spc="-5" dirty="0">
                <a:latin typeface="Arial MT"/>
                <a:cs typeface="Tahoma"/>
              </a:rPr>
              <a:t>without</a:t>
            </a:r>
            <a:r>
              <a:rPr sz="2000" spc="-35" dirty="0">
                <a:latin typeface="Arial MT"/>
                <a:cs typeface="Tahoma"/>
              </a:rPr>
              <a:t> </a:t>
            </a:r>
            <a:r>
              <a:rPr sz="2000" spc="-5" dirty="0">
                <a:latin typeface="Arial MT"/>
                <a:cs typeface="Tahoma"/>
              </a:rPr>
              <a:t>cycles.</a:t>
            </a:r>
            <a:endParaRPr sz="2000" dirty="0">
              <a:latin typeface="Arial MT"/>
              <a:cs typeface="Tahoma"/>
            </a:endParaRPr>
          </a:p>
          <a:p>
            <a:pPr marL="241300" indent="-228600">
              <a:lnSpc>
                <a:spcPct val="100000"/>
              </a:lnSpc>
              <a:spcBef>
                <a:spcPts val="215"/>
              </a:spcBef>
              <a:buFont typeface="Arial MT"/>
              <a:buChar char="•"/>
              <a:tabLst>
                <a:tab pos="240665" algn="l"/>
                <a:tab pos="241300" algn="l"/>
              </a:tabLst>
            </a:pPr>
            <a:r>
              <a:rPr lang="en-US" sz="2000" dirty="0" smtClean="0">
                <a:latin typeface="Arial MT"/>
                <a:cs typeface="Tahoma"/>
              </a:rPr>
              <a:t>  </a:t>
            </a:r>
            <a:r>
              <a:rPr sz="2000" dirty="0" smtClean="0">
                <a:latin typeface="Arial MT"/>
                <a:cs typeface="Tahoma"/>
              </a:rPr>
              <a:t>A</a:t>
            </a:r>
            <a:r>
              <a:rPr sz="2000" spc="-5" dirty="0" smtClean="0">
                <a:latin typeface="Arial MT"/>
                <a:cs typeface="Tahoma"/>
              </a:rPr>
              <a:t> </a:t>
            </a:r>
            <a:r>
              <a:rPr sz="2000" spc="-10" dirty="0">
                <a:solidFill>
                  <a:srgbClr val="C00000"/>
                </a:solidFill>
                <a:latin typeface="Arial MT"/>
                <a:cs typeface="Tahoma"/>
              </a:rPr>
              <a:t>spanning</a:t>
            </a:r>
            <a:r>
              <a:rPr sz="2000" spc="-20" dirty="0">
                <a:solidFill>
                  <a:srgbClr val="C00000"/>
                </a:solidFill>
                <a:latin typeface="Arial MT"/>
                <a:cs typeface="Tahoma"/>
              </a:rPr>
              <a:t> </a:t>
            </a:r>
            <a:r>
              <a:rPr sz="2000" spc="-5" dirty="0">
                <a:solidFill>
                  <a:srgbClr val="C00000"/>
                </a:solidFill>
                <a:latin typeface="Arial MT"/>
                <a:cs typeface="Tahoma"/>
              </a:rPr>
              <a:t>tree</a:t>
            </a:r>
            <a:r>
              <a:rPr sz="2000" spc="-10" dirty="0">
                <a:latin typeface="Arial MT"/>
                <a:cs typeface="Tahoma"/>
              </a:rPr>
              <a:t> </a:t>
            </a:r>
            <a:r>
              <a:rPr sz="2000" dirty="0">
                <a:latin typeface="Arial MT"/>
                <a:cs typeface="Tahoma"/>
              </a:rPr>
              <a:t>of a</a:t>
            </a:r>
            <a:r>
              <a:rPr sz="2000" spc="-5" dirty="0">
                <a:latin typeface="Arial MT"/>
                <a:cs typeface="Tahoma"/>
              </a:rPr>
              <a:t> </a:t>
            </a:r>
            <a:r>
              <a:rPr sz="2000" spc="-15" dirty="0">
                <a:latin typeface="Arial MT"/>
                <a:cs typeface="Tahoma"/>
              </a:rPr>
              <a:t>graph </a:t>
            </a:r>
            <a:r>
              <a:rPr sz="2000" dirty="0">
                <a:latin typeface="Arial MT"/>
                <a:cs typeface="Tahoma"/>
              </a:rPr>
              <a:t>G</a:t>
            </a:r>
            <a:r>
              <a:rPr sz="2000" spc="5" dirty="0">
                <a:latin typeface="Arial MT"/>
                <a:cs typeface="Tahoma"/>
              </a:rPr>
              <a:t> is</a:t>
            </a:r>
            <a:r>
              <a:rPr sz="2000" dirty="0">
                <a:latin typeface="Arial MT"/>
                <a:cs typeface="Tahoma"/>
              </a:rPr>
              <a:t> a</a:t>
            </a:r>
            <a:r>
              <a:rPr sz="2000" spc="-105" dirty="0">
                <a:latin typeface="Arial MT"/>
                <a:cs typeface="Tahoma"/>
              </a:rPr>
              <a:t> </a:t>
            </a:r>
            <a:r>
              <a:rPr sz="2000" spc="-10" dirty="0">
                <a:latin typeface="Arial MT"/>
                <a:cs typeface="Tahoma"/>
              </a:rPr>
              <a:t>spanning</a:t>
            </a:r>
            <a:r>
              <a:rPr sz="2000" spc="-25" dirty="0">
                <a:latin typeface="Arial MT"/>
                <a:cs typeface="Tahoma"/>
              </a:rPr>
              <a:t> </a:t>
            </a:r>
            <a:r>
              <a:rPr sz="2000" spc="-10" dirty="0">
                <a:latin typeface="Arial MT"/>
                <a:cs typeface="Tahoma"/>
              </a:rPr>
              <a:t>subgraph</a:t>
            </a:r>
            <a:r>
              <a:rPr sz="2000" spc="-5" dirty="0">
                <a:latin typeface="Arial MT"/>
                <a:cs typeface="Tahoma"/>
              </a:rPr>
              <a:t> that</a:t>
            </a:r>
            <a:r>
              <a:rPr sz="2000" spc="-10" dirty="0">
                <a:latin typeface="Arial MT"/>
                <a:cs typeface="Tahoma"/>
              </a:rPr>
              <a:t> </a:t>
            </a:r>
            <a:r>
              <a:rPr sz="2000" spc="5" dirty="0">
                <a:latin typeface="Arial MT"/>
                <a:cs typeface="Tahoma"/>
              </a:rPr>
              <a:t>is </a:t>
            </a:r>
            <a:r>
              <a:rPr sz="2000" dirty="0">
                <a:latin typeface="Arial MT"/>
                <a:cs typeface="Tahoma"/>
              </a:rPr>
              <a:t>a</a:t>
            </a:r>
            <a:r>
              <a:rPr sz="2000" spc="-5" dirty="0">
                <a:latin typeface="Arial MT"/>
                <a:cs typeface="Tahoma"/>
              </a:rPr>
              <a:t> </a:t>
            </a:r>
            <a:r>
              <a:rPr sz="2000" spc="-10" dirty="0">
                <a:latin typeface="Arial MT"/>
                <a:cs typeface="Tahoma"/>
              </a:rPr>
              <a:t>(free)</a:t>
            </a:r>
            <a:r>
              <a:rPr sz="2000" spc="-90" dirty="0">
                <a:latin typeface="Arial MT"/>
                <a:cs typeface="Tahoma"/>
              </a:rPr>
              <a:t> </a:t>
            </a:r>
            <a:r>
              <a:rPr sz="2000" spc="-10" dirty="0">
                <a:latin typeface="Arial MT"/>
                <a:cs typeface="Tahoma"/>
              </a:rPr>
              <a:t>tree.</a:t>
            </a:r>
            <a:endParaRPr sz="2000" dirty="0">
              <a:latin typeface="Arial MT"/>
              <a:cs typeface="Tahoma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95161" y="4873539"/>
            <a:ext cx="1578960" cy="1457501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038160" y="4886869"/>
            <a:ext cx="1578960" cy="1444171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547942" y="4746073"/>
            <a:ext cx="2158781" cy="1746800"/>
          </a:xfrm>
          <a:prstGeom prst="rect">
            <a:avLst/>
          </a:prstGeom>
        </p:spPr>
      </p:pic>
      <p:sp>
        <p:nvSpPr>
          <p:cNvPr id="7" name="Slide Number Placeholder 6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38099">
              <a:lnSpc>
                <a:spcPts val="1535"/>
              </a:lnSpc>
            </a:pPr>
            <a:fld id="{81D60167-4931-47E6-BA6A-407CBD079E47}" type="slidenum">
              <a:rPr lang="en-US" smtClean="0"/>
              <a:pPr marL="38099">
                <a:lnSpc>
                  <a:spcPts val="1535"/>
                </a:lnSpc>
              </a:pPr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498768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611124"/>
            <a:ext cx="2785110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40" dirty="0"/>
              <a:t>Terminology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12800" y="1824228"/>
            <a:ext cx="9093200" cy="468333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63500" marR="124460" indent="-38100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253365" algn="l"/>
                <a:tab pos="254000" algn="l"/>
              </a:tabLst>
            </a:pPr>
            <a:r>
              <a:rPr sz="2000" spc="-10" dirty="0">
                <a:solidFill>
                  <a:srgbClr val="3F448B"/>
                </a:solidFill>
                <a:latin typeface="Arial MT"/>
                <a:cs typeface="Tahoma"/>
              </a:rPr>
              <a:t>In </a:t>
            </a:r>
            <a:r>
              <a:rPr sz="2000" dirty="0">
                <a:solidFill>
                  <a:srgbClr val="3F448B"/>
                </a:solidFill>
                <a:latin typeface="Arial MT"/>
                <a:cs typeface="Tahoma"/>
              </a:rPr>
              <a:t>a </a:t>
            </a:r>
            <a:r>
              <a:rPr sz="2000" spc="-15" dirty="0">
                <a:solidFill>
                  <a:srgbClr val="3F448B"/>
                </a:solidFill>
                <a:latin typeface="Arial MT"/>
                <a:cs typeface="Tahoma"/>
              </a:rPr>
              <a:t>graph </a:t>
            </a:r>
            <a:r>
              <a:rPr sz="2000" dirty="0">
                <a:solidFill>
                  <a:srgbClr val="3F448B"/>
                </a:solidFill>
                <a:latin typeface="Arial MT"/>
                <a:cs typeface="Tahoma"/>
              </a:rPr>
              <a:t>G, </a:t>
            </a:r>
            <a:r>
              <a:rPr sz="2000" spc="-5" dirty="0">
                <a:solidFill>
                  <a:srgbClr val="3F448B"/>
                </a:solidFill>
                <a:latin typeface="Arial MT"/>
                <a:cs typeface="Tahoma"/>
              </a:rPr>
              <a:t>two vertices, v</a:t>
            </a:r>
            <a:r>
              <a:rPr sz="1950" spc="-7" baseline="-12820" dirty="0">
                <a:solidFill>
                  <a:srgbClr val="3F448B"/>
                </a:solidFill>
                <a:latin typeface="Arial MT"/>
                <a:cs typeface="Tahoma"/>
              </a:rPr>
              <a:t>0 </a:t>
            </a:r>
            <a:r>
              <a:rPr sz="2000" spc="-5" dirty="0">
                <a:solidFill>
                  <a:srgbClr val="3F448B"/>
                </a:solidFill>
                <a:latin typeface="Arial MT"/>
                <a:cs typeface="Tahoma"/>
              </a:rPr>
              <a:t>and </a:t>
            </a:r>
            <a:r>
              <a:rPr sz="2000" dirty="0">
                <a:solidFill>
                  <a:srgbClr val="3F448B"/>
                </a:solidFill>
                <a:latin typeface="Arial MT"/>
                <a:cs typeface="Tahoma"/>
              </a:rPr>
              <a:t>v</a:t>
            </a:r>
            <a:r>
              <a:rPr sz="1950" baseline="-12820" dirty="0">
                <a:solidFill>
                  <a:srgbClr val="3F448B"/>
                </a:solidFill>
                <a:latin typeface="Arial MT"/>
                <a:cs typeface="Tahoma"/>
              </a:rPr>
              <a:t>1</a:t>
            </a:r>
            <a:r>
              <a:rPr sz="2000" dirty="0">
                <a:solidFill>
                  <a:srgbClr val="3F448B"/>
                </a:solidFill>
                <a:latin typeface="Arial MT"/>
                <a:cs typeface="Tahoma"/>
              </a:rPr>
              <a:t>, </a:t>
            </a:r>
            <a:r>
              <a:rPr sz="2000" spc="-5" dirty="0">
                <a:solidFill>
                  <a:srgbClr val="3F448B"/>
                </a:solidFill>
                <a:latin typeface="Arial MT"/>
                <a:cs typeface="Tahoma"/>
              </a:rPr>
              <a:t>are </a:t>
            </a:r>
            <a:r>
              <a:rPr sz="2000" spc="-10" dirty="0">
                <a:solidFill>
                  <a:srgbClr val="CC3300"/>
                </a:solidFill>
                <a:latin typeface="Arial MT"/>
                <a:cs typeface="Tahoma"/>
              </a:rPr>
              <a:t>connected </a:t>
            </a:r>
            <a:r>
              <a:rPr sz="2000" spc="5" dirty="0">
                <a:solidFill>
                  <a:srgbClr val="3F448B"/>
                </a:solidFill>
                <a:latin typeface="Arial MT"/>
                <a:cs typeface="Tahoma"/>
              </a:rPr>
              <a:t>if </a:t>
            </a:r>
            <a:r>
              <a:rPr sz="2000" spc="-5" dirty="0">
                <a:solidFill>
                  <a:srgbClr val="3F448B"/>
                </a:solidFill>
                <a:latin typeface="Arial MT"/>
                <a:cs typeface="Tahoma"/>
              </a:rPr>
              <a:t>there </a:t>
            </a:r>
            <a:r>
              <a:rPr sz="2000" spc="-610" dirty="0">
                <a:solidFill>
                  <a:srgbClr val="3F448B"/>
                </a:solidFill>
                <a:latin typeface="Arial MT"/>
                <a:cs typeface="Tahoma"/>
              </a:rPr>
              <a:t> </a:t>
            </a:r>
            <a:r>
              <a:rPr sz="2000" spc="5" dirty="0">
                <a:solidFill>
                  <a:srgbClr val="3F448B"/>
                </a:solidFill>
                <a:latin typeface="Arial MT"/>
                <a:cs typeface="Tahoma"/>
              </a:rPr>
              <a:t>is</a:t>
            </a:r>
            <a:r>
              <a:rPr sz="2000" dirty="0">
                <a:solidFill>
                  <a:srgbClr val="3F448B"/>
                </a:solidFill>
                <a:latin typeface="Arial MT"/>
                <a:cs typeface="Tahoma"/>
              </a:rPr>
              <a:t> a </a:t>
            </a:r>
            <a:r>
              <a:rPr sz="2000" spc="-5" dirty="0">
                <a:solidFill>
                  <a:srgbClr val="3F448B"/>
                </a:solidFill>
                <a:latin typeface="Arial MT"/>
                <a:cs typeface="Tahoma"/>
              </a:rPr>
              <a:t>path</a:t>
            </a:r>
            <a:r>
              <a:rPr sz="2000" spc="-15" dirty="0">
                <a:solidFill>
                  <a:srgbClr val="3F448B"/>
                </a:solidFill>
                <a:latin typeface="Arial MT"/>
                <a:cs typeface="Tahoma"/>
              </a:rPr>
              <a:t> </a:t>
            </a:r>
            <a:r>
              <a:rPr sz="2000" spc="5" dirty="0">
                <a:solidFill>
                  <a:srgbClr val="3F448B"/>
                </a:solidFill>
                <a:latin typeface="Arial MT"/>
                <a:cs typeface="Tahoma"/>
              </a:rPr>
              <a:t>in</a:t>
            </a:r>
            <a:r>
              <a:rPr sz="2000" dirty="0">
                <a:solidFill>
                  <a:srgbClr val="3F448B"/>
                </a:solidFill>
                <a:latin typeface="Arial MT"/>
                <a:cs typeface="Tahoma"/>
              </a:rPr>
              <a:t> G </a:t>
            </a:r>
            <a:r>
              <a:rPr sz="2000" spc="-5" dirty="0">
                <a:solidFill>
                  <a:srgbClr val="3F448B"/>
                </a:solidFill>
                <a:latin typeface="Arial MT"/>
                <a:cs typeface="Tahoma"/>
              </a:rPr>
              <a:t>from</a:t>
            </a:r>
            <a:r>
              <a:rPr sz="2000" spc="-10" dirty="0">
                <a:solidFill>
                  <a:srgbClr val="3F448B"/>
                </a:solidFill>
                <a:latin typeface="Arial MT"/>
                <a:cs typeface="Tahoma"/>
              </a:rPr>
              <a:t> </a:t>
            </a:r>
            <a:r>
              <a:rPr sz="2000" spc="-5" dirty="0">
                <a:solidFill>
                  <a:srgbClr val="3F448B"/>
                </a:solidFill>
                <a:latin typeface="Arial MT"/>
                <a:cs typeface="Tahoma"/>
              </a:rPr>
              <a:t>v</a:t>
            </a:r>
            <a:r>
              <a:rPr sz="1950" spc="-7" baseline="-12820" dirty="0">
                <a:solidFill>
                  <a:srgbClr val="3F448B"/>
                </a:solidFill>
                <a:latin typeface="Arial MT"/>
                <a:cs typeface="Tahoma"/>
              </a:rPr>
              <a:t>0</a:t>
            </a:r>
            <a:r>
              <a:rPr sz="1950" spc="7" baseline="-12820" dirty="0">
                <a:solidFill>
                  <a:srgbClr val="3F448B"/>
                </a:solidFill>
                <a:latin typeface="Arial MT"/>
                <a:cs typeface="Tahoma"/>
              </a:rPr>
              <a:t> </a:t>
            </a:r>
            <a:r>
              <a:rPr sz="2000" dirty="0">
                <a:solidFill>
                  <a:srgbClr val="3F448B"/>
                </a:solidFill>
                <a:latin typeface="Arial MT"/>
                <a:cs typeface="Tahoma"/>
              </a:rPr>
              <a:t>to</a:t>
            </a:r>
            <a:r>
              <a:rPr sz="2000" spc="-10" dirty="0">
                <a:solidFill>
                  <a:srgbClr val="3F448B"/>
                </a:solidFill>
                <a:latin typeface="Arial MT"/>
                <a:cs typeface="Tahoma"/>
              </a:rPr>
              <a:t> </a:t>
            </a:r>
            <a:r>
              <a:rPr sz="2000" dirty="0" smtClean="0">
                <a:solidFill>
                  <a:srgbClr val="3F448B"/>
                </a:solidFill>
                <a:latin typeface="Arial MT"/>
                <a:cs typeface="Tahoma"/>
              </a:rPr>
              <a:t>v</a:t>
            </a:r>
            <a:r>
              <a:rPr sz="1950" baseline="-12820" dirty="0" smtClean="0">
                <a:solidFill>
                  <a:srgbClr val="3F448B"/>
                </a:solidFill>
                <a:latin typeface="Arial MT"/>
                <a:cs typeface="Tahoma"/>
              </a:rPr>
              <a:t>1</a:t>
            </a:r>
            <a:endParaRPr lang="en-US" sz="1950" baseline="-12820" dirty="0" smtClean="0">
              <a:solidFill>
                <a:srgbClr val="3F448B"/>
              </a:solidFill>
              <a:latin typeface="Arial MT"/>
              <a:cs typeface="Tahoma"/>
            </a:endParaRPr>
          </a:p>
          <a:p>
            <a:pPr marL="63500" marR="124460" indent="-38100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253365" algn="l"/>
                <a:tab pos="254000" algn="l"/>
              </a:tabLst>
            </a:pPr>
            <a:endParaRPr sz="1950" baseline="-12820" dirty="0">
              <a:latin typeface="Arial MT"/>
              <a:cs typeface="Tahoma"/>
            </a:endParaRPr>
          </a:p>
          <a:p>
            <a:pPr marL="63500" marR="250825" indent="-38100">
              <a:lnSpc>
                <a:spcPct val="100000"/>
              </a:lnSpc>
              <a:spcBef>
                <a:spcPts val="120"/>
              </a:spcBef>
              <a:buFont typeface="Arial MT"/>
              <a:buChar char="•"/>
              <a:tabLst>
                <a:tab pos="253365" algn="l"/>
                <a:tab pos="254000" algn="l"/>
                <a:tab pos="3272790" algn="l"/>
              </a:tabLst>
            </a:pPr>
            <a:r>
              <a:rPr sz="2000" dirty="0">
                <a:solidFill>
                  <a:srgbClr val="3F448B"/>
                </a:solidFill>
                <a:latin typeface="Arial MT"/>
                <a:cs typeface="Tahoma"/>
              </a:rPr>
              <a:t>A </a:t>
            </a:r>
            <a:r>
              <a:rPr sz="2000" spc="-15" dirty="0">
                <a:solidFill>
                  <a:srgbClr val="3F448B"/>
                </a:solidFill>
                <a:latin typeface="Arial MT"/>
                <a:cs typeface="Tahoma"/>
              </a:rPr>
              <a:t>graph </a:t>
            </a:r>
            <a:r>
              <a:rPr sz="2000" spc="5" dirty="0">
                <a:solidFill>
                  <a:srgbClr val="3F448B"/>
                </a:solidFill>
                <a:latin typeface="Arial MT"/>
                <a:cs typeface="Tahoma"/>
              </a:rPr>
              <a:t>is </a:t>
            </a:r>
            <a:r>
              <a:rPr sz="2000" spc="-10" dirty="0">
                <a:solidFill>
                  <a:srgbClr val="CC3300"/>
                </a:solidFill>
                <a:latin typeface="Arial MT"/>
                <a:cs typeface="Tahoma"/>
              </a:rPr>
              <a:t>connected </a:t>
            </a:r>
            <a:r>
              <a:rPr sz="2000" spc="-45" dirty="0">
                <a:solidFill>
                  <a:srgbClr val="3F448B"/>
                </a:solidFill>
                <a:latin typeface="Arial MT"/>
                <a:cs typeface="Tahoma"/>
              </a:rPr>
              <a:t>if, </a:t>
            </a:r>
            <a:r>
              <a:rPr sz="2000" spc="-10" dirty="0">
                <a:solidFill>
                  <a:srgbClr val="3F448B"/>
                </a:solidFill>
                <a:latin typeface="Arial MT"/>
                <a:cs typeface="Tahoma"/>
              </a:rPr>
              <a:t>for </a:t>
            </a:r>
            <a:r>
              <a:rPr sz="2000" spc="-5" dirty="0">
                <a:solidFill>
                  <a:srgbClr val="3F448B"/>
                </a:solidFill>
                <a:latin typeface="Arial MT"/>
                <a:cs typeface="Tahoma"/>
              </a:rPr>
              <a:t>every pair </a:t>
            </a:r>
            <a:r>
              <a:rPr sz="2000" dirty="0">
                <a:solidFill>
                  <a:srgbClr val="3F448B"/>
                </a:solidFill>
                <a:latin typeface="Arial MT"/>
                <a:cs typeface="Tahoma"/>
              </a:rPr>
              <a:t>of </a:t>
            </a:r>
            <a:r>
              <a:rPr sz="2000" spc="-5" dirty="0">
                <a:solidFill>
                  <a:srgbClr val="3F448B"/>
                </a:solidFill>
                <a:latin typeface="Arial MT"/>
                <a:cs typeface="Tahoma"/>
              </a:rPr>
              <a:t>distinct vertices v</a:t>
            </a:r>
            <a:r>
              <a:rPr sz="1950" spc="-7" baseline="-12820" dirty="0">
                <a:solidFill>
                  <a:srgbClr val="3F448B"/>
                </a:solidFill>
                <a:latin typeface="Arial MT"/>
                <a:cs typeface="Tahoma"/>
              </a:rPr>
              <a:t>i </a:t>
            </a:r>
            <a:r>
              <a:rPr sz="1950" spc="-592" baseline="-12820" dirty="0">
                <a:solidFill>
                  <a:srgbClr val="3F448B"/>
                </a:solidFill>
                <a:latin typeface="Arial MT"/>
                <a:cs typeface="Tahoma"/>
              </a:rPr>
              <a:t> </a:t>
            </a:r>
            <a:r>
              <a:rPr sz="2000" spc="-5" dirty="0">
                <a:solidFill>
                  <a:srgbClr val="3F448B"/>
                </a:solidFill>
                <a:latin typeface="Arial MT"/>
                <a:cs typeface="Tahoma"/>
              </a:rPr>
              <a:t>and</a:t>
            </a:r>
            <a:r>
              <a:rPr sz="2000" spc="-10" dirty="0">
                <a:solidFill>
                  <a:srgbClr val="3F448B"/>
                </a:solidFill>
                <a:latin typeface="Arial MT"/>
                <a:cs typeface="Tahoma"/>
              </a:rPr>
              <a:t> </a:t>
            </a:r>
            <a:r>
              <a:rPr sz="2000" dirty="0">
                <a:solidFill>
                  <a:srgbClr val="3F448B"/>
                </a:solidFill>
                <a:latin typeface="Arial MT"/>
                <a:cs typeface="Tahoma"/>
              </a:rPr>
              <a:t>v</a:t>
            </a:r>
            <a:r>
              <a:rPr sz="1950" baseline="-12820" dirty="0">
                <a:solidFill>
                  <a:srgbClr val="3F448B"/>
                </a:solidFill>
                <a:latin typeface="Arial MT"/>
                <a:cs typeface="Tahoma"/>
              </a:rPr>
              <a:t>j</a:t>
            </a:r>
            <a:r>
              <a:rPr sz="2000" dirty="0">
                <a:solidFill>
                  <a:srgbClr val="3F448B"/>
                </a:solidFill>
                <a:latin typeface="Arial MT"/>
                <a:cs typeface="Tahoma"/>
              </a:rPr>
              <a:t>, </a:t>
            </a:r>
            <a:r>
              <a:rPr sz="2000" spc="-5" dirty="0">
                <a:solidFill>
                  <a:srgbClr val="3F448B"/>
                </a:solidFill>
                <a:latin typeface="Arial MT"/>
                <a:cs typeface="Tahoma"/>
              </a:rPr>
              <a:t>there </a:t>
            </a:r>
            <a:r>
              <a:rPr sz="2000" spc="5" dirty="0">
                <a:solidFill>
                  <a:srgbClr val="3F448B"/>
                </a:solidFill>
                <a:latin typeface="Arial MT"/>
                <a:cs typeface="Tahoma"/>
              </a:rPr>
              <a:t>is</a:t>
            </a:r>
            <a:r>
              <a:rPr sz="2000" spc="10" dirty="0">
                <a:solidFill>
                  <a:srgbClr val="3F448B"/>
                </a:solidFill>
                <a:latin typeface="Arial MT"/>
                <a:cs typeface="Tahoma"/>
              </a:rPr>
              <a:t> </a:t>
            </a:r>
            <a:r>
              <a:rPr sz="2000" dirty="0">
                <a:solidFill>
                  <a:srgbClr val="3F448B"/>
                </a:solidFill>
                <a:latin typeface="Arial MT"/>
                <a:cs typeface="Tahoma"/>
              </a:rPr>
              <a:t>a </a:t>
            </a:r>
            <a:r>
              <a:rPr sz="2000" spc="-5" dirty="0">
                <a:solidFill>
                  <a:srgbClr val="3F448B"/>
                </a:solidFill>
                <a:latin typeface="Arial MT"/>
                <a:cs typeface="Tahoma"/>
              </a:rPr>
              <a:t>path</a:t>
            </a:r>
            <a:r>
              <a:rPr sz="2000" spc="-10" dirty="0">
                <a:solidFill>
                  <a:srgbClr val="3F448B"/>
                </a:solidFill>
                <a:latin typeface="Arial MT"/>
                <a:cs typeface="Tahoma"/>
              </a:rPr>
              <a:t> </a:t>
            </a:r>
            <a:r>
              <a:rPr sz="2000" spc="-5" dirty="0" smtClean="0">
                <a:solidFill>
                  <a:srgbClr val="3F448B"/>
                </a:solidFill>
                <a:latin typeface="Arial MT"/>
                <a:cs typeface="Tahoma"/>
              </a:rPr>
              <a:t>from</a:t>
            </a:r>
            <a:r>
              <a:rPr lang="en-US" sz="2000" spc="-5" dirty="0" smtClean="0">
                <a:solidFill>
                  <a:srgbClr val="3F448B"/>
                </a:solidFill>
                <a:latin typeface="Arial MT"/>
                <a:cs typeface="Tahoma"/>
              </a:rPr>
              <a:t> </a:t>
            </a:r>
            <a:r>
              <a:rPr sz="2000" dirty="0" smtClean="0">
                <a:solidFill>
                  <a:srgbClr val="3F448B"/>
                </a:solidFill>
                <a:latin typeface="Arial MT"/>
                <a:cs typeface="Tahoma"/>
              </a:rPr>
              <a:t>v</a:t>
            </a:r>
            <a:r>
              <a:rPr sz="1950" baseline="-12820" dirty="0" smtClean="0">
                <a:solidFill>
                  <a:srgbClr val="3F448B"/>
                </a:solidFill>
                <a:latin typeface="Arial MT"/>
                <a:cs typeface="Tahoma"/>
              </a:rPr>
              <a:t>i</a:t>
            </a:r>
            <a:r>
              <a:rPr sz="1950" spc="7" baseline="-12820" dirty="0" smtClean="0">
                <a:solidFill>
                  <a:srgbClr val="3F448B"/>
                </a:solidFill>
                <a:latin typeface="Arial MT"/>
                <a:cs typeface="Tahoma"/>
              </a:rPr>
              <a:t> </a:t>
            </a:r>
            <a:r>
              <a:rPr sz="2000" dirty="0">
                <a:solidFill>
                  <a:srgbClr val="3F448B"/>
                </a:solidFill>
                <a:latin typeface="Arial MT"/>
                <a:cs typeface="Tahoma"/>
              </a:rPr>
              <a:t>to</a:t>
            </a:r>
            <a:r>
              <a:rPr sz="2000" spc="75" dirty="0">
                <a:solidFill>
                  <a:srgbClr val="3F448B"/>
                </a:solidFill>
                <a:latin typeface="Arial MT"/>
                <a:cs typeface="Tahoma"/>
              </a:rPr>
              <a:t> </a:t>
            </a:r>
            <a:r>
              <a:rPr sz="2000" dirty="0" err="1" smtClean="0">
                <a:solidFill>
                  <a:srgbClr val="3F448B"/>
                </a:solidFill>
                <a:latin typeface="Arial MT"/>
                <a:cs typeface="Tahoma"/>
              </a:rPr>
              <a:t>v</a:t>
            </a:r>
            <a:r>
              <a:rPr sz="1950" baseline="-12820" dirty="0" err="1" smtClean="0">
                <a:solidFill>
                  <a:srgbClr val="3F448B"/>
                </a:solidFill>
                <a:latin typeface="Arial MT"/>
                <a:cs typeface="Tahoma"/>
              </a:rPr>
              <a:t>j</a:t>
            </a:r>
            <a:endParaRPr lang="en-US" sz="1950" baseline="-12820" dirty="0" smtClean="0">
              <a:solidFill>
                <a:srgbClr val="3F448B"/>
              </a:solidFill>
              <a:latin typeface="Arial MT"/>
              <a:cs typeface="Tahoma"/>
            </a:endParaRPr>
          </a:p>
          <a:p>
            <a:pPr marL="25400" marR="250825">
              <a:lnSpc>
                <a:spcPct val="100000"/>
              </a:lnSpc>
              <a:spcBef>
                <a:spcPts val="120"/>
              </a:spcBef>
              <a:tabLst>
                <a:tab pos="253365" algn="l"/>
                <a:tab pos="254000" algn="l"/>
                <a:tab pos="3272790" algn="l"/>
              </a:tabLst>
            </a:pPr>
            <a:endParaRPr sz="1950" baseline="-12820" dirty="0">
              <a:latin typeface="Arial MT"/>
              <a:cs typeface="Tahoma"/>
            </a:endParaRPr>
          </a:p>
          <a:p>
            <a:pPr marL="63500" marR="931544" indent="-38100">
              <a:lnSpc>
                <a:spcPct val="100000"/>
              </a:lnSpc>
              <a:spcBef>
                <a:spcPts val="285"/>
              </a:spcBef>
              <a:buFont typeface="Arial MT"/>
              <a:buChar char="•"/>
              <a:tabLst>
                <a:tab pos="253365" algn="l"/>
                <a:tab pos="254000" algn="l"/>
                <a:tab pos="5014595" algn="l"/>
              </a:tabLst>
            </a:pPr>
            <a:r>
              <a:rPr sz="2000" dirty="0">
                <a:solidFill>
                  <a:srgbClr val="3F448B"/>
                </a:solidFill>
                <a:latin typeface="Arial MT"/>
                <a:cs typeface="Tahoma"/>
              </a:rPr>
              <a:t>A</a:t>
            </a:r>
            <a:r>
              <a:rPr sz="2000" spc="10" dirty="0">
                <a:solidFill>
                  <a:srgbClr val="3F448B"/>
                </a:solidFill>
                <a:latin typeface="Arial MT"/>
                <a:cs typeface="Tahoma"/>
              </a:rPr>
              <a:t> </a:t>
            </a:r>
            <a:r>
              <a:rPr sz="2000" spc="-10" dirty="0">
                <a:solidFill>
                  <a:srgbClr val="BD2C00"/>
                </a:solidFill>
                <a:latin typeface="Arial MT"/>
                <a:cs typeface="Tahoma"/>
              </a:rPr>
              <a:t>connected</a:t>
            </a:r>
            <a:r>
              <a:rPr sz="2000" spc="-5" dirty="0">
                <a:solidFill>
                  <a:srgbClr val="BD2C00"/>
                </a:solidFill>
                <a:latin typeface="Arial MT"/>
                <a:cs typeface="Tahoma"/>
              </a:rPr>
              <a:t> component</a:t>
            </a:r>
            <a:r>
              <a:rPr sz="2000" spc="20" dirty="0">
                <a:solidFill>
                  <a:srgbClr val="BD2C00"/>
                </a:solidFill>
                <a:latin typeface="Arial MT"/>
                <a:cs typeface="Tahoma"/>
              </a:rPr>
              <a:t> </a:t>
            </a:r>
            <a:r>
              <a:rPr sz="2000" dirty="0">
                <a:solidFill>
                  <a:srgbClr val="3F448B"/>
                </a:solidFill>
                <a:latin typeface="Arial MT"/>
                <a:cs typeface="Tahoma"/>
              </a:rPr>
              <a:t>of</a:t>
            </a:r>
            <a:r>
              <a:rPr sz="2000" spc="10" dirty="0">
                <a:solidFill>
                  <a:srgbClr val="3F448B"/>
                </a:solidFill>
                <a:latin typeface="Arial MT"/>
                <a:cs typeface="Tahoma"/>
              </a:rPr>
              <a:t> </a:t>
            </a:r>
            <a:r>
              <a:rPr sz="2000" spc="-5" dirty="0">
                <a:solidFill>
                  <a:srgbClr val="3F448B"/>
                </a:solidFill>
                <a:latin typeface="Arial MT"/>
                <a:cs typeface="Tahoma"/>
              </a:rPr>
              <a:t>an</a:t>
            </a:r>
            <a:r>
              <a:rPr sz="2000" spc="-80" dirty="0">
                <a:solidFill>
                  <a:srgbClr val="3F448B"/>
                </a:solidFill>
                <a:latin typeface="Arial MT"/>
                <a:cs typeface="Tahoma"/>
              </a:rPr>
              <a:t> </a:t>
            </a:r>
            <a:r>
              <a:rPr sz="2000" spc="-5" dirty="0" smtClean="0">
                <a:solidFill>
                  <a:srgbClr val="3F448B"/>
                </a:solidFill>
                <a:latin typeface="Arial MT"/>
                <a:cs typeface="Tahoma"/>
              </a:rPr>
              <a:t>undirected</a:t>
            </a:r>
            <a:r>
              <a:rPr lang="en-US" sz="2000" spc="-5" dirty="0" smtClean="0">
                <a:solidFill>
                  <a:srgbClr val="3F448B"/>
                </a:solidFill>
                <a:latin typeface="Arial MT"/>
                <a:cs typeface="Tahoma"/>
              </a:rPr>
              <a:t> </a:t>
            </a:r>
            <a:r>
              <a:rPr sz="2000" spc="-15" dirty="0" smtClean="0">
                <a:solidFill>
                  <a:srgbClr val="3F448B"/>
                </a:solidFill>
                <a:latin typeface="Arial MT"/>
                <a:cs typeface="Tahoma"/>
              </a:rPr>
              <a:t>graph</a:t>
            </a:r>
            <a:r>
              <a:rPr sz="2000" spc="-60" dirty="0" smtClean="0">
                <a:solidFill>
                  <a:srgbClr val="3F448B"/>
                </a:solidFill>
                <a:latin typeface="Arial MT"/>
                <a:cs typeface="Tahoma"/>
              </a:rPr>
              <a:t> </a:t>
            </a:r>
            <a:r>
              <a:rPr sz="2000" spc="5" dirty="0">
                <a:solidFill>
                  <a:srgbClr val="3F448B"/>
                </a:solidFill>
                <a:latin typeface="Arial MT"/>
                <a:cs typeface="Tahoma"/>
              </a:rPr>
              <a:t>is</a:t>
            </a:r>
            <a:r>
              <a:rPr sz="2000" spc="-45" dirty="0">
                <a:solidFill>
                  <a:srgbClr val="3F448B"/>
                </a:solidFill>
                <a:latin typeface="Arial MT"/>
                <a:cs typeface="Tahoma"/>
              </a:rPr>
              <a:t> </a:t>
            </a:r>
            <a:r>
              <a:rPr sz="2000" dirty="0">
                <a:solidFill>
                  <a:srgbClr val="3F448B"/>
                </a:solidFill>
                <a:latin typeface="Arial MT"/>
                <a:cs typeface="Tahoma"/>
              </a:rPr>
              <a:t>a </a:t>
            </a:r>
            <a:r>
              <a:rPr sz="2000" spc="-610" dirty="0">
                <a:solidFill>
                  <a:srgbClr val="3F448B"/>
                </a:solidFill>
                <a:latin typeface="Arial MT"/>
                <a:cs typeface="Tahoma"/>
              </a:rPr>
              <a:t> </a:t>
            </a:r>
            <a:r>
              <a:rPr sz="2000" spc="-5" dirty="0">
                <a:solidFill>
                  <a:srgbClr val="3F448B"/>
                </a:solidFill>
                <a:latin typeface="Arial MT"/>
                <a:cs typeface="Tahoma"/>
              </a:rPr>
              <a:t>maximal</a:t>
            </a:r>
            <a:r>
              <a:rPr sz="2000" dirty="0">
                <a:solidFill>
                  <a:srgbClr val="3F448B"/>
                </a:solidFill>
                <a:latin typeface="Arial MT"/>
                <a:cs typeface="Tahoma"/>
              </a:rPr>
              <a:t> </a:t>
            </a:r>
            <a:r>
              <a:rPr sz="2000" spc="-10" dirty="0">
                <a:solidFill>
                  <a:srgbClr val="3F448B"/>
                </a:solidFill>
                <a:latin typeface="Arial MT"/>
                <a:cs typeface="Tahoma"/>
              </a:rPr>
              <a:t>connected</a:t>
            </a:r>
            <a:r>
              <a:rPr sz="2000" spc="-114" dirty="0">
                <a:solidFill>
                  <a:srgbClr val="3F448B"/>
                </a:solidFill>
                <a:latin typeface="Arial MT"/>
                <a:cs typeface="Tahoma"/>
              </a:rPr>
              <a:t> </a:t>
            </a:r>
            <a:r>
              <a:rPr sz="2000" spc="-10" dirty="0">
                <a:solidFill>
                  <a:srgbClr val="3F448B"/>
                </a:solidFill>
                <a:latin typeface="Arial MT"/>
                <a:cs typeface="Tahoma"/>
              </a:rPr>
              <a:t>subgraph</a:t>
            </a:r>
            <a:r>
              <a:rPr sz="2000" spc="-10" dirty="0" smtClean="0">
                <a:solidFill>
                  <a:srgbClr val="3F448B"/>
                </a:solidFill>
                <a:latin typeface="Arial MT"/>
                <a:cs typeface="Tahoma"/>
              </a:rPr>
              <a:t>.</a:t>
            </a:r>
            <a:endParaRPr lang="en-US" sz="2000" spc="-10" dirty="0" smtClean="0">
              <a:solidFill>
                <a:srgbClr val="3F448B"/>
              </a:solidFill>
              <a:latin typeface="Arial MT"/>
              <a:cs typeface="Tahoma"/>
            </a:endParaRPr>
          </a:p>
          <a:p>
            <a:pPr marL="25400" marR="931544">
              <a:lnSpc>
                <a:spcPct val="100000"/>
              </a:lnSpc>
              <a:spcBef>
                <a:spcPts val="285"/>
              </a:spcBef>
              <a:tabLst>
                <a:tab pos="253365" algn="l"/>
                <a:tab pos="254000" algn="l"/>
                <a:tab pos="5014595" algn="l"/>
              </a:tabLst>
            </a:pPr>
            <a:endParaRPr sz="2000" dirty="0">
              <a:latin typeface="Arial MT"/>
              <a:cs typeface="Tahoma"/>
            </a:endParaRPr>
          </a:p>
          <a:p>
            <a:pPr marL="254000" indent="-228600">
              <a:lnSpc>
                <a:spcPct val="100000"/>
              </a:lnSpc>
              <a:spcBef>
                <a:spcPts val="315"/>
              </a:spcBef>
              <a:buFont typeface="Arial MT"/>
              <a:buChar char="•"/>
              <a:tabLst>
                <a:tab pos="253365" algn="l"/>
                <a:tab pos="254000" algn="l"/>
              </a:tabLst>
            </a:pPr>
            <a:r>
              <a:rPr sz="2000" dirty="0">
                <a:solidFill>
                  <a:srgbClr val="3F448B"/>
                </a:solidFill>
                <a:latin typeface="Arial MT"/>
                <a:cs typeface="Tahoma"/>
              </a:rPr>
              <a:t>A </a:t>
            </a:r>
            <a:r>
              <a:rPr sz="2000" spc="-10" dirty="0">
                <a:solidFill>
                  <a:srgbClr val="BD2C00"/>
                </a:solidFill>
                <a:latin typeface="Arial MT"/>
                <a:cs typeface="Tahoma"/>
              </a:rPr>
              <a:t>tree</a:t>
            </a:r>
            <a:r>
              <a:rPr sz="2000" spc="-15" dirty="0">
                <a:solidFill>
                  <a:srgbClr val="BD2C00"/>
                </a:solidFill>
                <a:latin typeface="Arial MT"/>
                <a:cs typeface="Tahoma"/>
              </a:rPr>
              <a:t> </a:t>
            </a:r>
            <a:r>
              <a:rPr sz="2000" spc="5" dirty="0">
                <a:solidFill>
                  <a:srgbClr val="3F448B"/>
                </a:solidFill>
                <a:latin typeface="Arial MT"/>
                <a:cs typeface="Tahoma"/>
              </a:rPr>
              <a:t>is </a:t>
            </a:r>
            <a:r>
              <a:rPr sz="2000" dirty="0">
                <a:solidFill>
                  <a:srgbClr val="3F448B"/>
                </a:solidFill>
                <a:latin typeface="Arial MT"/>
                <a:cs typeface="Tahoma"/>
              </a:rPr>
              <a:t>a </a:t>
            </a:r>
            <a:r>
              <a:rPr sz="2000" spc="-15" dirty="0">
                <a:solidFill>
                  <a:srgbClr val="3F448B"/>
                </a:solidFill>
                <a:latin typeface="Arial MT"/>
                <a:cs typeface="Tahoma"/>
              </a:rPr>
              <a:t>graph </a:t>
            </a:r>
            <a:r>
              <a:rPr sz="2000" spc="-5" dirty="0">
                <a:solidFill>
                  <a:srgbClr val="3F448B"/>
                </a:solidFill>
                <a:latin typeface="Arial MT"/>
                <a:cs typeface="Tahoma"/>
              </a:rPr>
              <a:t>that </a:t>
            </a:r>
            <a:r>
              <a:rPr sz="2000" spc="5" dirty="0">
                <a:solidFill>
                  <a:srgbClr val="3F448B"/>
                </a:solidFill>
                <a:latin typeface="Arial MT"/>
                <a:cs typeface="Tahoma"/>
              </a:rPr>
              <a:t>is </a:t>
            </a:r>
            <a:r>
              <a:rPr sz="2000" spc="-10" dirty="0">
                <a:solidFill>
                  <a:srgbClr val="3F448B"/>
                </a:solidFill>
                <a:latin typeface="Arial MT"/>
                <a:cs typeface="Tahoma"/>
              </a:rPr>
              <a:t>connected</a:t>
            </a:r>
            <a:r>
              <a:rPr sz="2000" spc="-85" dirty="0">
                <a:solidFill>
                  <a:srgbClr val="3F448B"/>
                </a:solidFill>
                <a:latin typeface="Arial MT"/>
                <a:cs typeface="Tahoma"/>
              </a:rPr>
              <a:t> </a:t>
            </a:r>
            <a:r>
              <a:rPr sz="2000" spc="-5" dirty="0">
                <a:solidFill>
                  <a:srgbClr val="3F448B"/>
                </a:solidFill>
                <a:latin typeface="Arial MT"/>
                <a:cs typeface="Tahoma"/>
              </a:rPr>
              <a:t>and</a:t>
            </a:r>
            <a:r>
              <a:rPr sz="2000" spc="-10" dirty="0">
                <a:solidFill>
                  <a:srgbClr val="3F448B"/>
                </a:solidFill>
                <a:latin typeface="Arial MT"/>
                <a:cs typeface="Tahoma"/>
              </a:rPr>
              <a:t> </a:t>
            </a:r>
            <a:r>
              <a:rPr sz="2000" spc="-5" dirty="0">
                <a:solidFill>
                  <a:srgbClr val="3F448B"/>
                </a:solidFill>
                <a:latin typeface="Arial MT"/>
                <a:cs typeface="Tahoma"/>
              </a:rPr>
              <a:t>acyclic</a:t>
            </a:r>
            <a:r>
              <a:rPr sz="2000" spc="-5" dirty="0" smtClean="0">
                <a:solidFill>
                  <a:srgbClr val="3F448B"/>
                </a:solidFill>
                <a:latin typeface="Arial MT"/>
                <a:cs typeface="Tahoma"/>
              </a:rPr>
              <a:t>.</a:t>
            </a:r>
            <a:endParaRPr lang="en-US" sz="2000" spc="-5" dirty="0" smtClean="0">
              <a:solidFill>
                <a:srgbClr val="3F448B"/>
              </a:solidFill>
              <a:latin typeface="Arial MT"/>
              <a:cs typeface="Tahoma"/>
            </a:endParaRPr>
          </a:p>
          <a:p>
            <a:pPr marL="25400">
              <a:lnSpc>
                <a:spcPct val="100000"/>
              </a:lnSpc>
              <a:spcBef>
                <a:spcPts val="315"/>
              </a:spcBef>
              <a:tabLst>
                <a:tab pos="253365" algn="l"/>
                <a:tab pos="254000" algn="l"/>
              </a:tabLst>
            </a:pPr>
            <a:endParaRPr sz="2000" dirty="0">
              <a:latin typeface="Arial MT"/>
              <a:cs typeface="Tahoma"/>
            </a:endParaRPr>
          </a:p>
          <a:p>
            <a:pPr marL="63500" marR="192405" indent="-38100">
              <a:lnSpc>
                <a:spcPct val="100000"/>
              </a:lnSpc>
              <a:spcBef>
                <a:spcPts val="285"/>
              </a:spcBef>
              <a:buFont typeface="Arial MT"/>
              <a:buChar char="•"/>
              <a:tabLst>
                <a:tab pos="253365" algn="l"/>
                <a:tab pos="254000" algn="l"/>
              </a:tabLst>
            </a:pPr>
            <a:r>
              <a:rPr sz="2000" dirty="0">
                <a:solidFill>
                  <a:srgbClr val="3F448B"/>
                </a:solidFill>
                <a:latin typeface="Arial MT"/>
                <a:cs typeface="Tahoma"/>
              </a:rPr>
              <a:t>A </a:t>
            </a:r>
            <a:r>
              <a:rPr sz="2000" spc="-10" dirty="0">
                <a:solidFill>
                  <a:srgbClr val="3F448B"/>
                </a:solidFill>
                <a:latin typeface="Arial MT"/>
                <a:cs typeface="Tahoma"/>
              </a:rPr>
              <a:t>directed </a:t>
            </a:r>
            <a:r>
              <a:rPr sz="2000" spc="-15" dirty="0">
                <a:solidFill>
                  <a:srgbClr val="3F448B"/>
                </a:solidFill>
                <a:latin typeface="Arial MT"/>
                <a:cs typeface="Tahoma"/>
              </a:rPr>
              <a:t>graph </a:t>
            </a:r>
            <a:r>
              <a:rPr sz="2000" spc="5" dirty="0">
                <a:solidFill>
                  <a:srgbClr val="3F448B"/>
                </a:solidFill>
                <a:latin typeface="Arial MT"/>
                <a:cs typeface="Tahoma"/>
              </a:rPr>
              <a:t>is </a:t>
            </a:r>
            <a:r>
              <a:rPr sz="2000" spc="-5" dirty="0">
                <a:solidFill>
                  <a:srgbClr val="BD2C00"/>
                </a:solidFill>
                <a:latin typeface="Arial MT"/>
                <a:cs typeface="Tahoma"/>
              </a:rPr>
              <a:t>strongly </a:t>
            </a:r>
            <a:r>
              <a:rPr sz="2000" spc="-10" dirty="0">
                <a:solidFill>
                  <a:srgbClr val="BD2C00"/>
                </a:solidFill>
                <a:latin typeface="Arial MT"/>
                <a:cs typeface="Tahoma"/>
              </a:rPr>
              <a:t>connected </a:t>
            </a:r>
            <a:r>
              <a:rPr sz="2000" spc="5" dirty="0">
                <a:solidFill>
                  <a:srgbClr val="3F448B"/>
                </a:solidFill>
                <a:latin typeface="Arial MT"/>
                <a:cs typeface="Tahoma"/>
              </a:rPr>
              <a:t>if </a:t>
            </a:r>
            <a:r>
              <a:rPr sz="2000" spc="-5" dirty="0">
                <a:solidFill>
                  <a:srgbClr val="3F448B"/>
                </a:solidFill>
                <a:latin typeface="Arial MT"/>
                <a:cs typeface="Tahoma"/>
              </a:rPr>
              <a:t>there </a:t>
            </a:r>
            <a:r>
              <a:rPr sz="2000" spc="5" dirty="0">
                <a:solidFill>
                  <a:srgbClr val="3F448B"/>
                </a:solidFill>
                <a:latin typeface="Arial MT"/>
                <a:cs typeface="Tahoma"/>
              </a:rPr>
              <a:t>is </a:t>
            </a:r>
            <a:r>
              <a:rPr sz="2000" dirty="0">
                <a:solidFill>
                  <a:srgbClr val="3F448B"/>
                </a:solidFill>
                <a:latin typeface="Arial MT"/>
                <a:cs typeface="Tahoma"/>
              </a:rPr>
              <a:t>a </a:t>
            </a:r>
            <a:r>
              <a:rPr sz="2000" spc="-10" dirty="0">
                <a:solidFill>
                  <a:srgbClr val="3F448B"/>
                </a:solidFill>
                <a:latin typeface="Arial MT"/>
                <a:cs typeface="Tahoma"/>
              </a:rPr>
              <a:t>directed </a:t>
            </a:r>
            <a:r>
              <a:rPr sz="2000" spc="-610" dirty="0">
                <a:solidFill>
                  <a:srgbClr val="3F448B"/>
                </a:solidFill>
                <a:latin typeface="Arial MT"/>
                <a:cs typeface="Tahoma"/>
              </a:rPr>
              <a:t> </a:t>
            </a:r>
            <a:r>
              <a:rPr sz="2000" spc="-5" dirty="0">
                <a:solidFill>
                  <a:srgbClr val="3F448B"/>
                </a:solidFill>
                <a:latin typeface="Arial MT"/>
                <a:cs typeface="Tahoma"/>
              </a:rPr>
              <a:t>path</a:t>
            </a:r>
            <a:r>
              <a:rPr sz="2000" spc="-20" dirty="0">
                <a:solidFill>
                  <a:srgbClr val="3F448B"/>
                </a:solidFill>
                <a:latin typeface="Arial MT"/>
                <a:cs typeface="Tahoma"/>
              </a:rPr>
              <a:t> </a:t>
            </a:r>
            <a:r>
              <a:rPr sz="2000" spc="-5" dirty="0">
                <a:solidFill>
                  <a:srgbClr val="3F448B"/>
                </a:solidFill>
                <a:latin typeface="Arial MT"/>
                <a:cs typeface="Tahoma"/>
              </a:rPr>
              <a:t>from </a:t>
            </a:r>
            <a:r>
              <a:rPr sz="2000" dirty="0">
                <a:solidFill>
                  <a:srgbClr val="3F448B"/>
                </a:solidFill>
                <a:latin typeface="Arial MT"/>
                <a:cs typeface="Tahoma"/>
              </a:rPr>
              <a:t>v</a:t>
            </a:r>
            <a:r>
              <a:rPr sz="1950" baseline="-12820" dirty="0">
                <a:solidFill>
                  <a:srgbClr val="3F448B"/>
                </a:solidFill>
                <a:latin typeface="Arial MT"/>
                <a:cs typeface="Tahoma"/>
              </a:rPr>
              <a:t>i</a:t>
            </a:r>
            <a:r>
              <a:rPr sz="1950" spc="7" baseline="-12820" dirty="0">
                <a:solidFill>
                  <a:srgbClr val="3F448B"/>
                </a:solidFill>
                <a:latin typeface="Arial MT"/>
                <a:cs typeface="Tahoma"/>
              </a:rPr>
              <a:t> </a:t>
            </a:r>
            <a:r>
              <a:rPr sz="2000" dirty="0">
                <a:solidFill>
                  <a:srgbClr val="3F448B"/>
                </a:solidFill>
                <a:latin typeface="Arial MT"/>
                <a:cs typeface="Tahoma"/>
              </a:rPr>
              <a:t>to</a:t>
            </a:r>
            <a:r>
              <a:rPr sz="2000" spc="-15" dirty="0">
                <a:solidFill>
                  <a:srgbClr val="3F448B"/>
                </a:solidFill>
                <a:latin typeface="Arial MT"/>
                <a:cs typeface="Tahoma"/>
              </a:rPr>
              <a:t> </a:t>
            </a:r>
            <a:r>
              <a:rPr sz="2000" dirty="0">
                <a:solidFill>
                  <a:srgbClr val="3F448B"/>
                </a:solidFill>
                <a:latin typeface="Arial MT"/>
                <a:cs typeface="Tahoma"/>
              </a:rPr>
              <a:t>v</a:t>
            </a:r>
            <a:r>
              <a:rPr sz="1950" baseline="-12820" dirty="0">
                <a:solidFill>
                  <a:srgbClr val="3F448B"/>
                </a:solidFill>
                <a:latin typeface="Arial MT"/>
                <a:cs typeface="Tahoma"/>
              </a:rPr>
              <a:t>j</a:t>
            </a:r>
            <a:r>
              <a:rPr sz="1950" spc="22" baseline="-12820" dirty="0">
                <a:solidFill>
                  <a:srgbClr val="3F448B"/>
                </a:solidFill>
                <a:latin typeface="Arial MT"/>
                <a:cs typeface="Tahoma"/>
              </a:rPr>
              <a:t> </a:t>
            </a:r>
            <a:r>
              <a:rPr sz="2000" spc="-5" dirty="0">
                <a:solidFill>
                  <a:srgbClr val="3F448B"/>
                </a:solidFill>
                <a:latin typeface="Arial MT"/>
                <a:cs typeface="Tahoma"/>
              </a:rPr>
              <a:t>and </a:t>
            </a:r>
            <a:r>
              <a:rPr sz="2000" dirty="0">
                <a:solidFill>
                  <a:srgbClr val="3F448B"/>
                </a:solidFill>
                <a:latin typeface="Arial MT"/>
                <a:cs typeface="Tahoma"/>
              </a:rPr>
              <a:t>also</a:t>
            </a:r>
            <a:r>
              <a:rPr sz="2000" spc="5" dirty="0">
                <a:solidFill>
                  <a:srgbClr val="3F448B"/>
                </a:solidFill>
                <a:latin typeface="Arial MT"/>
                <a:cs typeface="Tahoma"/>
              </a:rPr>
              <a:t> </a:t>
            </a:r>
            <a:r>
              <a:rPr sz="2000" spc="-5" dirty="0">
                <a:solidFill>
                  <a:srgbClr val="3F448B"/>
                </a:solidFill>
                <a:latin typeface="Arial MT"/>
                <a:cs typeface="Tahoma"/>
              </a:rPr>
              <a:t>from</a:t>
            </a:r>
            <a:r>
              <a:rPr sz="2000" spc="-10" dirty="0">
                <a:solidFill>
                  <a:srgbClr val="3F448B"/>
                </a:solidFill>
                <a:latin typeface="Arial MT"/>
                <a:cs typeface="Tahoma"/>
              </a:rPr>
              <a:t> </a:t>
            </a:r>
            <a:r>
              <a:rPr sz="2000" dirty="0">
                <a:solidFill>
                  <a:srgbClr val="3F448B"/>
                </a:solidFill>
                <a:latin typeface="Arial MT"/>
                <a:cs typeface="Tahoma"/>
              </a:rPr>
              <a:t>v</a:t>
            </a:r>
            <a:r>
              <a:rPr sz="1950" baseline="-12820" dirty="0">
                <a:solidFill>
                  <a:srgbClr val="3F448B"/>
                </a:solidFill>
                <a:latin typeface="Arial MT"/>
                <a:cs typeface="Tahoma"/>
              </a:rPr>
              <a:t>j</a:t>
            </a:r>
            <a:r>
              <a:rPr sz="1950" spc="22" baseline="-12820" dirty="0">
                <a:solidFill>
                  <a:srgbClr val="3F448B"/>
                </a:solidFill>
                <a:latin typeface="Arial MT"/>
                <a:cs typeface="Tahoma"/>
              </a:rPr>
              <a:t> </a:t>
            </a:r>
            <a:r>
              <a:rPr sz="2000" dirty="0">
                <a:solidFill>
                  <a:srgbClr val="3F448B"/>
                </a:solidFill>
                <a:latin typeface="Arial MT"/>
                <a:cs typeface="Tahoma"/>
              </a:rPr>
              <a:t>to</a:t>
            </a:r>
            <a:r>
              <a:rPr sz="2000" spc="80" dirty="0">
                <a:solidFill>
                  <a:srgbClr val="3F448B"/>
                </a:solidFill>
                <a:latin typeface="Arial MT"/>
                <a:cs typeface="Tahoma"/>
              </a:rPr>
              <a:t> </a:t>
            </a:r>
            <a:r>
              <a:rPr sz="2000" spc="-5" dirty="0">
                <a:solidFill>
                  <a:srgbClr val="3F448B"/>
                </a:solidFill>
                <a:latin typeface="Arial MT"/>
                <a:cs typeface="Tahoma"/>
              </a:rPr>
              <a:t>v</a:t>
            </a:r>
            <a:r>
              <a:rPr sz="1950" spc="-7" baseline="-12820" dirty="0">
                <a:solidFill>
                  <a:srgbClr val="3F448B"/>
                </a:solidFill>
                <a:latin typeface="Arial MT"/>
                <a:cs typeface="Tahoma"/>
              </a:rPr>
              <a:t>i</a:t>
            </a:r>
            <a:r>
              <a:rPr sz="2000" spc="-5" dirty="0">
                <a:solidFill>
                  <a:srgbClr val="3F448B"/>
                </a:solidFill>
                <a:latin typeface="Arial MT"/>
                <a:cs typeface="Tahoma"/>
              </a:rPr>
              <a:t>.</a:t>
            </a:r>
            <a:endParaRPr sz="2000" dirty="0">
              <a:latin typeface="Arial MT"/>
              <a:cs typeface="Tahoma"/>
            </a:endParaRPr>
          </a:p>
          <a:p>
            <a:pPr marL="63500" marR="17780" indent="-38100">
              <a:lnSpc>
                <a:spcPct val="100000"/>
              </a:lnSpc>
              <a:spcBef>
                <a:spcPts val="315"/>
              </a:spcBef>
              <a:buFont typeface="Arial MT"/>
              <a:buChar char="•"/>
              <a:tabLst>
                <a:tab pos="253365" algn="l"/>
                <a:tab pos="254000" algn="l"/>
              </a:tabLst>
            </a:pPr>
            <a:r>
              <a:rPr sz="2000" dirty="0">
                <a:solidFill>
                  <a:srgbClr val="3F448B"/>
                </a:solidFill>
                <a:latin typeface="Arial MT"/>
                <a:cs typeface="Tahoma"/>
              </a:rPr>
              <a:t>A </a:t>
            </a:r>
            <a:r>
              <a:rPr sz="2000" spc="-5" dirty="0">
                <a:solidFill>
                  <a:srgbClr val="BD2C00"/>
                </a:solidFill>
                <a:latin typeface="Arial MT"/>
                <a:cs typeface="Tahoma"/>
              </a:rPr>
              <a:t>strongly </a:t>
            </a:r>
            <a:r>
              <a:rPr sz="2000" spc="-10" dirty="0">
                <a:solidFill>
                  <a:srgbClr val="BD2C00"/>
                </a:solidFill>
                <a:latin typeface="Arial MT"/>
                <a:cs typeface="Tahoma"/>
              </a:rPr>
              <a:t>connected </a:t>
            </a:r>
            <a:r>
              <a:rPr sz="2000" spc="-5" dirty="0">
                <a:solidFill>
                  <a:srgbClr val="BD2C00"/>
                </a:solidFill>
                <a:latin typeface="Arial MT"/>
                <a:cs typeface="Tahoma"/>
              </a:rPr>
              <a:t>component </a:t>
            </a:r>
            <a:r>
              <a:rPr sz="2000" spc="5" dirty="0">
                <a:solidFill>
                  <a:srgbClr val="3F448B"/>
                </a:solidFill>
                <a:latin typeface="Arial MT"/>
                <a:cs typeface="Tahoma"/>
              </a:rPr>
              <a:t>is </a:t>
            </a:r>
            <a:r>
              <a:rPr sz="2000" dirty="0">
                <a:solidFill>
                  <a:srgbClr val="3F448B"/>
                </a:solidFill>
                <a:latin typeface="Arial MT"/>
                <a:cs typeface="Tahoma"/>
              </a:rPr>
              <a:t>a </a:t>
            </a:r>
            <a:r>
              <a:rPr sz="2000" spc="-5" dirty="0">
                <a:solidFill>
                  <a:srgbClr val="3F448B"/>
                </a:solidFill>
                <a:latin typeface="Arial MT"/>
                <a:cs typeface="Tahoma"/>
              </a:rPr>
              <a:t>maximal </a:t>
            </a:r>
            <a:r>
              <a:rPr sz="2000" spc="-10" dirty="0">
                <a:solidFill>
                  <a:srgbClr val="3F448B"/>
                </a:solidFill>
                <a:latin typeface="Arial MT"/>
                <a:cs typeface="Tahoma"/>
              </a:rPr>
              <a:t>subgraph </a:t>
            </a:r>
            <a:r>
              <a:rPr sz="2000" spc="-5" dirty="0">
                <a:solidFill>
                  <a:srgbClr val="3F448B"/>
                </a:solidFill>
                <a:latin typeface="Arial MT"/>
                <a:cs typeface="Tahoma"/>
              </a:rPr>
              <a:t>that </a:t>
            </a:r>
            <a:r>
              <a:rPr sz="2000" spc="-610" dirty="0">
                <a:solidFill>
                  <a:srgbClr val="3F448B"/>
                </a:solidFill>
                <a:latin typeface="Arial MT"/>
                <a:cs typeface="Tahoma"/>
              </a:rPr>
              <a:t> </a:t>
            </a:r>
            <a:r>
              <a:rPr sz="2000" spc="5" dirty="0">
                <a:solidFill>
                  <a:srgbClr val="3F448B"/>
                </a:solidFill>
                <a:latin typeface="Arial MT"/>
                <a:cs typeface="Tahoma"/>
              </a:rPr>
              <a:t>is</a:t>
            </a:r>
            <a:r>
              <a:rPr sz="2000" dirty="0">
                <a:solidFill>
                  <a:srgbClr val="3F448B"/>
                </a:solidFill>
                <a:latin typeface="Arial MT"/>
                <a:cs typeface="Tahoma"/>
              </a:rPr>
              <a:t> </a:t>
            </a:r>
            <a:r>
              <a:rPr sz="2000" spc="-5" dirty="0">
                <a:solidFill>
                  <a:srgbClr val="3F448B"/>
                </a:solidFill>
                <a:latin typeface="Arial MT"/>
                <a:cs typeface="Tahoma"/>
              </a:rPr>
              <a:t>strongly</a:t>
            </a:r>
            <a:r>
              <a:rPr sz="2000" spc="-105" dirty="0">
                <a:solidFill>
                  <a:srgbClr val="3F448B"/>
                </a:solidFill>
                <a:latin typeface="Arial MT"/>
                <a:cs typeface="Tahoma"/>
              </a:rPr>
              <a:t> </a:t>
            </a:r>
            <a:r>
              <a:rPr sz="2000" spc="-10" dirty="0">
                <a:solidFill>
                  <a:srgbClr val="3F448B"/>
                </a:solidFill>
                <a:latin typeface="Arial MT"/>
                <a:cs typeface="Tahoma"/>
              </a:rPr>
              <a:t>connected.</a:t>
            </a:r>
            <a:endParaRPr sz="2000" dirty="0">
              <a:latin typeface="Arial MT"/>
              <a:cs typeface="Tahoma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058400" y="1752600"/>
            <a:ext cx="1723039" cy="4948216"/>
          </a:xfrm>
          <a:prstGeom prst="rect">
            <a:avLst/>
          </a:prstGeom>
        </p:spPr>
      </p:pic>
      <p:sp>
        <p:nvSpPr>
          <p:cNvPr id="5" name="Slide Number Placeholder 4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38099">
              <a:lnSpc>
                <a:spcPts val="1535"/>
              </a:lnSpc>
            </a:pPr>
            <a:fld id="{81D60167-4931-47E6-BA6A-407CBD079E47}" type="slidenum">
              <a:rPr lang="en-US" smtClean="0"/>
              <a:pPr marL="38099">
                <a:lnSpc>
                  <a:spcPts val="1535"/>
                </a:lnSpc>
              </a:pPr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235847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611124"/>
            <a:ext cx="2336800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45" dirty="0"/>
              <a:t>P</a:t>
            </a:r>
            <a:r>
              <a:rPr spc="-95" dirty="0"/>
              <a:t>r</a:t>
            </a:r>
            <a:r>
              <a:rPr spc="5" dirty="0"/>
              <a:t>o</a:t>
            </a:r>
            <a:r>
              <a:rPr dirty="0"/>
              <a:t>pe</a:t>
            </a:r>
            <a:r>
              <a:rPr spc="-5" dirty="0"/>
              <a:t>r</a:t>
            </a:r>
            <a:r>
              <a:rPr dirty="0"/>
              <a:t>ties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12800" y="1741932"/>
            <a:ext cx="5283200" cy="154144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solidFill>
                  <a:srgbClr val="BD2C00"/>
                </a:solidFill>
                <a:latin typeface="Arial MT"/>
                <a:cs typeface="Tahoma"/>
              </a:rPr>
              <a:t>Property</a:t>
            </a:r>
            <a:r>
              <a:rPr sz="2400" spc="-125" dirty="0">
                <a:solidFill>
                  <a:srgbClr val="BD2C00"/>
                </a:solidFill>
                <a:latin typeface="Arial MT"/>
                <a:cs typeface="Tahoma"/>
              </a:rPr>
              <a:t> </a:t>
            </a:r>
            <a:r>
              <a:rPr sz="2400" dirty="0">
                <a:solidFill>
                  <a:srgbClr val="BD2C00"/>
                </a:solidFill>
                <a:latin typeface="Arial MT"/>
                <a:cs typeface="Tahoma"/>
              </a:rPr>
              <a:t>1</a:t>
            </a:r>
            <a:endParaRPr sz="2400" dirty="0">
              <a:latin typeface="Arial MT"/>
              <a:cs typeface="Tahoma"/>
            </a:endParaRPr>
          </a:p>
          <a:p>
            <a:pPr marL="25400">
              <a:lnSpc>
                <a:spcPct val="100000"/>
              </a:lnSpc>
              <a:spcBef>
                <a:spcPts val="95"/>
              </a:spcBef>
            </a:pPr>
            <a:r>
              <a:rPr sz="2400" spc="-50" dirty="0">
                <a:solidFill>
                  <a:srgbClr val="3F448B"/>
                </a:solidFill>
                <a:latin typeface="Arial MT"/>
                <a:cs typeface="Tahoma"/>
              </a:rPr>
              <a:t>F</a:t>
            </a:r>
            <a:r>
              <a:rPr sz="2400" spc="5" dirty="0">
                <a:solidFill>
                  <a:srgbClr val="3F448B"/>
                </a:solidFill>
                <a:latin typeface="Arial MT"/>
                <a:cs typeface="Tahoma"/>
              </a:rPr>
              <a:t>o</a:t>
            </a:r>
            <a:r>
              <a:rPr sz="2400" dirty="0">
                <a:solidFill>
                  <a:srgbClr val="3F448B"/>
                </a:solidFill>
                <a:latin typeface="Arial MT"/>
                <a:cs typeface="Tahoma"/>
              </a:rPr>
              <a:t>r</a:t>
            </a:r>
            <a:r>
              <a:rPr sz="2400" spc="10" dirty="0">
                <a:solidFill>
                  <a:srgbClr val="3F448B"/>
                </a:solidFill>
                <a:latin typeface="Arial MT"/>
                <a:cs typeface="Tahoma"/>
              </a:rPr>
              <a:t> </a:t>
            </a:r>
            <a:r>
              <a:rPr sz="2400" spc="5" dirty="0">
                <a:solidFill>
                  <a:srgbClr val="3F448B"/>
                </a:solidFill>
                <a:latin typeface="Arial MT"/>
                <a:cs typeface="Tahoma"/>
              </a:rPr>
              <a:t>a</a:t>
            </a:r>
            <a:r>
              <a:rPr sz="2400" dirty="0">
                <a:solidFill>
                  <a:srgbClr val="3F448B"/>
                </a:solidFill>
                <a:latin typeface="Arial MT"/>
                <a:cs typeface="Tahoma"/>
              </a:rPr>
              <a:t>n</a:t>
            </a:r>
            <a:r>
              <a:rPr sz="2400" spc="5" dirty="0">
                <a:solidFill>
                  <a:srgbClr val="3F448B"/>
                </a:solidFill>
                <a:latin typeface="Arial MT"/>
                <a:cs typeface="Tahoma"/>
              </a:rPr>
              <a:t> </a:t>
            </a:r>
            <a:r>
              <a:rPr sz="2400" dirty="0">
                <a:solidFill>
                  <a:srgbClr val="3F448B"/>
                </a:solidFill>
                <a:latin typeface="Arial MT"/>
                <a:cs typeface="Tahoma"/>
              </a:rPr>
              <a:t>un</a:t>
            </a:r>
            <a:r>
              <a:rPr sz="2400" spc="-5" dirty="0">
                <a:solidFill>
                  <a:srgbClr val="3F448B"/>
                </a:solidFill>
                <a:latin typeface="Arial MT"/>
                <a:cs typeface="Tahoma"/>
              </a:rPr>
              <a:t>d</a:t>
            </a:r>
            <a:r>
              <a:rPr sz="2400" spc="10" dirty="0">
                <a:solidFill>
                  <a:srgbClr val="3F448B"/>
                </a:solidFill>
                <a:latin typeface="Arial MT"/>
                <a:cs typeface="Tahoma"/>
              </a:rPr>
              <a:t>i</a:t>
            </a:r>
            <a:r>
              <a:rPr sz="2400" spc="-5" dirty="0">
                <a:solidFill>
                  <a:srgbClr val="3F448B"/>
                </a:solidFill>
                <a:latin typeface="Arial MT"/>
                <a:cs typeface="Tahoma"/>
              </a:rPr>
              <a:t>r</a:t>
            </a:r>
            <a:r>
              <a:rPr sz="2400" dirty="0">
                <a:solidFill>
                  <a:srgbClr val="3F448B"/>
                </a:solidFill>
                <a:latin typeface="Arial MT"/>
                <a:cs typeface="Tahoma"/>
              </a:rPr>
              <a:t>e</a:t>
            </a:r>
            <a:r>
              <a:rPr sz="2400" spc="5" dirty="0">
                <a:solidFill>
                  <a:srgbClr val="3F448B"/>
                </a:solidFill>
                <a:latin typeface="Arial MT"/>
                <a:cs typeface="Tahoma"/>
              </a:rPr>
              <a:t>c</a:t>
            </a:r>
            <a:r>
              <a:rPr sz="2400" spc="10" dirty="0">
                <a:solidFill>
                  <a:srgbClr val="3F448B"/>
                </a:solidFill>
                <a:latin typeface="Arial MT"/>
                <a:cs typeface="Tahoma"/>
              </a:rPr>
              <a:t>t</a:t>
            </a:r>
            <a:r>
              <a:rPr sz="2400" dirty="0">
                <a:solidFill>
                  <a:srgbClr val="3F448B"/>
                </a:solidFill>
                <a:latin typeface="Arial MT"/>
                <a:cs typeface="Tahoma"/>
              </a:rPr>
              <a:t>ed</a:t>
            </a:r>
            <a:r>
              <a:rPr sz="2400" spc="-180" dirty="0">
                <a:solidFill>
                  <a:srgbClr val="3F448B"/>
                </a:solidFill>
                <a:latin typeface="Arial MT"/>
                <a:cs typeface="Tahoma"/>
              </a:rPr>
              <a:t> </a:t>
            </a:r>
            <a:r>
              <a:rPr sz="2400" spc="-5" dirty="0">
                <a:solidFill>
                  <a:srgbClr val="3F448B"/>
                </a:solidFill>
                <a:latin typeface="Arial MT"/>
                <a:cs typeface="Tahoma"/>
              </a:rPr>
              <a:t>g</a:t>
            </a:r>
            <a:r>
              <a:rPr sz="2400" spc="-25" dirty="0">
                <a:solidFill>
                  <a:srgbClr val="3F448B"/>
                </a:solidFill>
                <a:latin typeface="Arial MT"/>
                <a:cs typeface="Tahoma"/>
              </a:rPr>
              <a:t>r</a:t>
            </a:r>
            <a:r>
              <a:rPr sz="2400" spc="5" dirty="0">
                <a:solidFill>
                  <a:srgbClr val="3F448B"/>
                </a:solidFill>
                <a:latin typeface="Arial MT"/>
                <a:cs typeface="Tahoma"/>
              </a:rPr>
              <a:t>a</a:t>
            </a:r>
            <a:r>
              <a:rPr sz="2400" spc="-5" dirty="0">
                <a:solidFill>
                  <a:srgbClr val="3F448B"/>
                </a:solidFill>
                <a:latin typeface="Arial MT"/>
                <a:cs typeface="Tahoma"/>
              </a:rPr>
              <a:t>ph</a:t>
            </a:r>
            <a:endParaRPr sz="2400" dirty="0">
              <a:latin typeface="Arial MT"/>
              <a:cs typeface="Tahoma"/>
            </a:endParaRPr>
          </a:p>
          <a:p>
            <a:pPr marL="442595">
              <a:lnSpc>
                <a:spcPct val="100000"/>
              </a:lnSpc>
            </a:pPr>
            <a:r>
              <a:rPr sz="2400" b="1" i="1" spc="-15" dirty="0">
                <a:solidFill>
                  <a:srgbClr val="3F448B"/>
                </a:solidFill>
                <a:latin typeface="Arial MT"/>
                <a:cs typeface="Verdana"/>
              </a:rPr>
              <a:t>S</a:t>
            </a:r>
            <a:r>
              <a:rPr sz="2000" b="1" i="1" spc="-22" baseline="-8547" dirty="0">
                <a:solidFill>
                  <a:srgbClr val="3F448B"/>
                </a:solidFill>
                <a:latin typeface="Arial MT"/>
                <a:cs typeface="Times New Roman"/>
              </a:rPr>
              <a:t>v</a:t>
            </a:r>
            <a:r>
              <a:rPr sz="2000" b="1" i="1" spc="-82" baseline="-8547" dirty="0">
                <a:solidFill>
                  <a:srgbClr val="3F448B"/>
                </a:solidFill>
                <a:latin typeface="Arial MT"/>
                <a:cs typeface="Times New Roman"/>
              </a:rPr>
              <a:t> </a:t>
            </a:r>
            <a:r>
              <a:rPr sz="2400" spc="-5" dirty="0">
                <a:solidFill>
                  <a:srgbClr val="3F448B"/>
                </a:solidFill>
                <a:latin typeface="Arial MT"/>
                <a:cs typeface="Times New Roman"/>
              </a:rPr>
              <a:t>deg(</a:t>
            </a:r>
            <a:r>
              <a:rPr sz="2400" b="1" i="1" spc="-5" dirty="0">
                <a:solidFill>
                  <a:srgbClr val="3F448B"/>
                </a:solidFill>
                <a:latin typeface="Arial MT"/>
                <a:cs typeface="Times New Roman"/>
              </a:rPr>
              <a:t>v</a:t>
            </a:r>
            <a:r>
              <a:rPr sz="2400" spc="-5" dirty="0">
                <a:solidFill>
                  <a:srgbClr val="3F448B"/>
                </a:solidFill>
                <a:latin typeface="Arial MT"/>
                <a:cs typeface="Times New Roman"/>
              </a:rPr>
              <a:t>)</a:t>
            </a:r>
            <a:r>
              <a:rPr sz="2400" spc="-25" dirty="0">
                <a:solidFill>
                  <a:srgbClr val="3F448B"/>
                </a:solidFill>
                <a:latin typeface="Arial MT"/>
                <a:cs typeface="Times New Roman"/>
              </a:rPr>
              <a:t> </a:t>
            </a:r>
            <a:r>
              <a:rPr lang="en-US" sz="2400" dirty="0">
                <a:solidFill>
                  <a:srgbClr val="3F448B"/>
                </a:solidFill>
                <a:latin typeface="Arial MT"/>
                <a:cs typeface="Times New Roman"/>
              </a:rPr>
              <a:t>=</a:t>
            </a:r>
            <a:r>
              <a:rPr sz="2400" spc="-105" dirty="0" smtClean="0">
                <a:solidFill>
                  <a:srgbClr val="3F448B"/>
                </a:solidFill>
                <a:latin typeface="Arial MT"/>
                <a:cs typeface="Times New Roman"/>
              </a:rPr>
              <a:t> </a:t>
            </a:r>
            <a:r>
              <a:rPr sz="2400" dirty="0">
                <a:solidFill>
                  <a:srgbClr val="3F448B"/>
                </a:solidFill>
                <a:latin typeface="Arial MT"/>
                <a:cs typeface="Times New Roman"/>
              </a:rPr>
              <a:t>2</a:t>
            </a:r>
            <a:r>
              <a:rPr sz="2400" b="1" i="1" dirty="0">
                <a:solidFill>
                  <a:srgbClr val="3F448B"/>
                </a:solidFill>
                <a:latin typeface="Arial MT"/>
                <a:cs typeface="Times New Roman"/>
              </a:rPr>
              <a:t>m</a:t>
            </a:r>
            <a:endParaRPr sz="2400" dirty="0">
              <a:latin typeface="Arial MT"/>
              <a:cs typeface="Times New Roman"/>
            </a:endParaRPr>
          </a:p>
          <a:p>
            <a:pPr marL="25400">
              <a:lnSpc>
                <a:spcPct val="100000"/>
              </a:lnSpc>
              <a:spcBef>
                <a:spcPts val="310"/>
              </a:spcBef>
            </a:pPr>
            <a:r>
              <a:rPr sz="2400" dirty="0">
                <a:latin typeface="Arial MT"/>
                <a:cs typeface="Tahoma"/>
              </a:rPr>
              <a:t>Proof:</a:t>
            </a:r>
            <a:r>
              <a:rPr sz="2400" spc="-80" dirty="0">
                <a:latin typeface="Arial MT"/>
                <a:cs typeface="Tahoma"/>
              </a:rPr>
              <a:t> </a:t>
            </a:r>
            <a:r>
              <a:rPr sz="2400" dirty="0">
                <a:solidFill>
                  <a:srgbClr val="3F448B"/>
                </a:solidFill>
                <a:latin typeface="Arial MT"/>
                <a:cs typeface="Tahoma"/>
              </a:rPr>
              <a:t>each</a:t>
            </a:r>
            <a:r>
              <a:rPr sz="2400" spc="-60" dirty="0">
                <a:solidFill>
                  <a:srgbClr val="3F448B"/>
                </a:solidFill>
                <a:latin typeface="Arial MT"/>
                <a:cs typeface="Tahoma"/>
              </a:rPr>
              <a:t> </a:t>
            </a:r>
            <a:r>
              <a:rPr sz="2400" spc="-10" dirty="0">
                <a:solidFill>
                  <a:srgbClr val="3F448B"/>
                </a:solidFill>
                <a:latin typeface="Arial MT"/>
                <a:cs typeface="Tahoma"/>
              </a:rPr>
              <a:t>edge</a:t>
            </a:r>
            <a:r>
              <a:rPr sz="2400" spc="-35" dirty="0">
                <a:solidFill>
                  <a:srgbClr val="3F448B"/>
                </a:solidFill>
                <a:latin typeface="Arial MT"/>
                <a:cs typeface="Tahoma"/>
              </a:rPr>
              <a:t> </a:t>
            </a:r>
            <a:r>
              <a:rPr sz="2400" spc="5" dirty="0">
                <a:solidFill>
                  <a:srgbClr val="3F448B"/>
                </a:solidFill>
                <a:latin typeface="Arial MT"/>
                <a:cs typeface="Tahoma"/>
              </a:rPr>
              <a:t>is</a:t>
            </a:r>
            <a:r>
              <a:rPr sz="2400" spc="-40" dirty="0">
                <a:solidFill>
                  <a:srgbClr val="3F448B"/>
                </a:solidFill>
                <a:latin typeface="Arial MT"/>
                <a:cs typeface="Tahoma"/>
              </a:rPr>
              <a:t> </a:t>
            </a:r>
            <a:r>
              <a:rPr sz="2400" dirty="0">
                <a:solidFill>
                  <a:srgbClr val="3F448B"/>
                </a:solidFill>
                <a:latin typeface="Arial MT"/>
                <a:cs typeface="Tahoma"/>
              </a:rPr>
              <a:t>counted</a:t>
            </a:r>
            <a:r>
              <a:rPr sz="2400" spc="-80" dirty="0">
                <a:solidFill>
                  <a:srgbClr val="3F448B"/>
                </a:solidFill>
                <a:latin typeface="Arial MT"/>
                <a:cs typeface="Tahoma"/>
              </a:rPr>
              <a:t> </a:t>
            </a:r>
            <a:r>
              <a:rPr sz="2400" spc="5" dirty="0">
                <a:solidFill>
                  <a:srgbClr val="3F448B"/>
                </a:solidFill>
                <a:latin typeface="Arial MT"/>
                <a:cs typeface="Tahoma"/>
              </a:rPr>
              <a:t>twice</a:t>
            </a:r>
            <a:endParaRPr sz="2400" dirty="0">
              <a:latin typeface="Arial MT"/>
              <a:cs typeface="Tahom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12800" y="3685571"/>
            <a:ext cx="4902200" cy="1149033"/>
          </a:xfrm>
          <a:prstGeom prst="rect">
            <a:avLst/>
          </a:prstGeom>
        </p:spPr>
        <p:txBody>
          <a:bodyPr vert="horz" wrap="square" lIns="0" tIns="2794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220"/>
              </a:spcBef>
            </a:pPr>
            <a:r>
              <a:rPr sz="2400" spc="-5" dirty="0">
                <a:solidFill>
                  <a:srgbClr val="BD2C00"/>
                </a:solidFill>
                <a:latin typeface="Arial MT"/>
                <a:cs typeface="Tahoma"/>
              </a:rPr>
              <a:t>Property</a:t>
            </a:r>
            <a:r>
              <a:rPr sz="2400" spc="-125" dirty="0">
                <a:solidFill>
                  <a:srgbClr val="BD2C00"/>
                </a:solidFill>
                <a:latin typeface="Arial MT"/>
                <a:cs typeface="Tahoma"/>
              </a:rPr>
              <a:t> </a:t>
            </a:r>
            <a:r>
              <a:rPr sz="2400" dirty="0">
                <a:solidFill>
                  <a:srgbClr val="BD2C00"/>
                </a:solidFill>
                <a:latin typeface="Arial MT"/>
                <a:cs typeface="Tahoma"/>
              </a:rPr>
              <a:t>2</a:t>
            </a:r>
            <a:endParaRPr sz="2400" dirty="0">
              <a:latin typeface="Arial MT"/>
              <a:cs typeface="Tahoma"/>
            </a:endParaRPr>
          </a:p>
          <a:p>
            <a:pPr marL="38100">
              <a:lnSpc>
                <a:spcPct val="100000"/>
              </a:lnSpc>
              <a:spcBef>
                <a:spcPts val="120"/>
              </a:spcBef>
            </a:pPr>
            <a:r>
              <a:rPr sz="2400" spc="-50" dirty="0">
                <a:solidFill>
                  <a:srgbClr val="3F448B"/>
                </a:solidFill>
                <a:latin typeface="Arial MT"/>
                <a:cs typeface="Tahoma"/>
              </a:rPr>
              <a:t>F</a:t>
            </a:r>
            <a:r>
              <a:rPr sz="2400" spc="5" dirty="0">
                <a:solidFill>
                  <a:srgbClr val="3F448B"/>
                </a:solidFill>
                <a:latin typeface="Arial MT"/>
                <a:cs typeface="Tahoma"/>
              </a:rPr>
              <a:t>o</a:t>
            </a:r>
            <a:r>
              <a:rPr sz="2400" dirty="0">
                <a:solidFill>
                  <a:srgbClr val="3F448B"/>
                </a:solidFill>
                <a:latin typeface="Arial MT"/>
                <a:cs typeface="Tahoma"/>
              </a:rPr>
              <a:t>r</a:t>
            </a:r>
            <a:r>
              <a:rPr sz="2400" spc="10" dirty="0">
                <a:solidFill>
                  <a:srgbClr val="3F448B"/>
                </a:solidFill>
                <a:latin typeface="Arial MT"/>
                <a:cs typeface="Tahoma"/>
              </a:rPr>
              <a:t> </a:t>
            </a:r>
            <a:r>
              <a:rPr sz="2400" dirty="0">
                <a:solidFill>
                  <a:srgbClr val="3F448B"/>
                </a:solidFill>
                <a:latin typeface="Arial MT"/>
                <a:cs typeface="Tahoma"/>
              </a:rPr>
              <a:t>a</a:t>
            </a:r>
            <a:r>
              <a:rPr sz="2400" spc="10" dirty="0">
                <a:solidFill>
                  <a:srgbClr val="3F448B"/>
                </a:solidFill>
                <a:latin typeface="Arial MT"/>
                <a:cs typeface="Tahoma"/>
              </a:rPr>
              <a:t> </a:t>
            </a:r>
            <a:r>
              <a:rPr sz="2400" spc="-5" dirty="0">
                <a:solidFill>
                  <a:srgbClr val="3F448B"/>
                </a:solidFill>
                <a:latin typeface="Arial MT"/>
                <a:cs typeface="Tahoma"/>
              </a:rPr>
              <a:t>d</a:t>
            </a:r>
            <a:r>
              <a:rPr sz="2400" spc="10" dirty="0">
                <a:solidFill>
                  <a:srgbClr val="3F448B"/>
                </a:solidFill>
                <a:latin typeface="Arial MT"/>
                <a:cs typeface="Tahoma"/>
              </a:rPr>
              <a:t>i</a:t>
            </a:r>
            <a:r>
              <a:rPr sz="2400" spc="-5" dirty="0">
                <a:solidFill>
                  <a:srgbClr val="3F448B"/>
                </a:solidFill>
                <a:latin typeface="Arial MT"/>
                <a:cs typeface="Tahoma"/>
              </a:rPr>
              <a:t>r</a:t>
            </a:r>
            <a:r>
              <a:rPr sz="2400" dirty="0">
                <a:solidFill>
                  <a:srgbClr val="3F448B"/>
                </a:solidFill>
                <a:latin typeface="Arial MT"/>
                <a:cs typeface="Tahoma"/>
              </a:rPr>
              <a:t>e</a:t>
            </a:r>
            <a:r>
              <a:rPr sz="2400" spc="5" dirty="0">
                <a:solidFill>
                  <a:srgbClr val="3F448B"/>
                </a:solidFill>
                <a:latin typeface="Arial MT"/>
                <a:cs typeface="Tahoma"/>
              </a:rPr>
              <a:t>c</a:t>
            </a:r>
            <a:r>
              <a:rPr sz="2400" spc="10" dirty="0">
                <a:solidFill>
                  <a:srgbClr val="3F448B"/>
                </a:solidFill>
                <a:latin typeface="Arial MT"/>
                <a:cs typeface="Tahoma"/>
              </a:rPr>
              <a:t>t</a:t>
            </a:r>
            <a:r>
              <a:rPr sz="2400" dirty="0">
                <a:solidFill>
                  <a:srgbClr val="3F448B"/>
                </a:solidFill>
                <a:latin typeface="Arial MT"/>
                <a:cs typeface="Tahoma"/>
              </a:rPr>
              <a:t>ed</a:t>
            </a:r>
            <a:r>
              <a:rPr sz="2400" spc="-165" dirty="0">
                <a:solidFill>
                  <a:srgbClr val="3F448B"/>
                </a:solidFill>
                <a:latin typeface="Arial MT"/>
                <a:cs typeface="Tahoma"/>
              </a:rPr>
              <a:t> </a:t>
            </a:r>
            <a:r>
              <a:rPr sz="2400" spc="-5" dirty="0">
                <a:solidFill>
                  <a:srgbClr val="3F448B"/>
                </a:solidFill>
                <a:latin typeface="Arial MT"/>
                <a:cs typeface="Tahoma"/>
              </a:rPr>
              <a:t>g</a:t>
            </a:r>
            <a:r>
              <a:rPr sz="2400" spc="-25" dirty="0">
                <a:solidFill>
                  <a:srgbClr val="3F448B"/>
                </a:solidFill>
                <a:latin typeface="Arial MT"/>
                <a:cs typeface="Tahoma"/>
              </a:rPr>
              <a:t>r</a:t>
            </a:r>
            <a:r>
              <a:rPr sz="2400" spc="5" dirty="0">
                <a:solidFill>
                  <a:srgbClr val="3F448B"/>
                </a:solidFill>
                <a:latin typeface="Arial MT"/>
                <a:cs typeface="Tahoma"/>
              </a:rPr>
              <a:t>a</a:t>
            </a:r>
            <a:r>
              <a:rPr sz="2400" spc="-5" dirty="0">
                <a:solidFill>
                  <a:srgbClr val="3F448B"/>
                </a:solidFill>
                <a:latin typeface="Arial MT"/>
                <a:cs typeface="Tahoma"/>
              </a:rPr>
              <a:t>ph</a:t>
            </a:r>
            <a:endParaRPr sz="2400" dirty="0">
              <a:latin typeface="Arial MT"/>
              <a:cs typeface="Tahoma"/>
            </a:endParaRPr>
          </a:p>
          <a:p>
            <a:pPr marL="207645">
              <a:lnSpc>
                <a:spcPct val="100000"/>
              </a:lnSpc>
            </a:pPr>
            <a:r>
              <a:rPr sz="2400" b="1" i="1" spc="-30" dirty="0">
                <a:solidFill>
                  <a:srgbClr val="3F448B"/>
                </a:solidFill>
                <a:latin typeface="Arial MT"/>
                <a:cs typeface="Verdana"/>
              </a:rPr>
              <a:t>S</a:t>
            </a:r>
            <a:r>
              <a:rPr sz="2000" b="1" i="1" baseline="-8547" dirty="0">
                <a:solidFill>
                  <a:srgbClr val="3F448B"/>
                </a:solidFill>
                <a:latin typeface="Arial MT"/>
                <a:cs typeface="Times New Roman"/>
              </a:rPr>
              <a:t>v</a:t>
            </a:r>
            <a:r>
              <a:rPr sz="2000" b="1" i="1" spc="-60" baseline="-8547" dirty="0">
                <a:solidFill>
                  <a:srgbClr val="3F448B"/>
                </a:solidFill>
                <a:latin typeface="Arial MT"/>
                <a:cs typeface="Times New Roman"/>
              </a:rPr>
              <a:t> </a:t>
            </a:r>
            <a:r>
              <a:rPr sz="2400" spc="-10" dirty="0">
                <a:solidFill>
                  <a:srgbClr val="3F448B"/>
                </a:solidFill>
                <a:latin typeface="Arial MT"/>
                <a:cs typeface="Times New Roman"/>
              </a:rPr>
              <a:t>i</a:t>
            </a:r>
            <a:r>
              <a:rPr sz="2400" dirty="0">
                <a:solidFill>
                  <a:srgbClr val="3F448B"/>
                </a:solidFill>
                <a:latin typeface="Arial MT"/>
                <a:cs typeface="Times New Roman"/>
              </a:rPr>
              <a:t>nd</a:t>
            </a:r>
            <a:r>
              <a:rPr sz="2400" spc="-5" dirty="0">
                <a:solidFill>
                  <a:srgbClr val="3F448B"/>
                </a:solidFill>
                <a:latin typeface="Arial MT"/>
                <a:cs typeface="Times New Roman"/>
              </a:rPr>
              <a:t>e</a:t>
            </a:r>
            <a:r>
              <a:rPr sz="2400" dirty="0">
                <a:solidFill>
                  <a:srgbClr val="3F448B"/>
                </a:solidFill>
                <a:latin typeface="Arial MT"/>
                <a:cs typeface="Times New Roman"/>
              </a:rPr>
              <a:t>g</a:t>
            </a:r>
            <a:r>
              <a:rPr sz="2400" spc="-5" dirty="0">
                <a:solidFill>
                  <a:srgbClr val="3F448B"/>
                </a:solidFill>
                <a:latin typeface="Arial MT"/>
                <a:cs typeface="Times New Roman"/>
              </a:rPr>
              <a:t>(</a:t>
            </a:r>
            <a:r>
              <a:rPr sz="2400" b="1" i="1" spc="-5" dirty="0">
                <a:solidFill>
                  <a:srgbClr val="3F448B"/>
                </a:solidFill>
                <a:latin typeface="Arial MT"/>
                <a:cs typeface="Times New Roman"/>
              </a:rPr>
              <a:t>v</a:t>
            </a:r>
            <a:r>
              <a:rPr sz="2400" dirty="0">
                <a:solidFill>
                  <a:srgbClr val="3F448B"/>
                </a:solidFill>
                <a:latin typeface="Arial MT"/>
                <a:cs typeface="Times New Roman"/>
              </a:rPr>
              <a:t>)</a:t>
            </a:r>
            <a:r>
              <a:rPr sz="2400" spc="-5" dirty="0">
                <a:solidFill>
                  <a:srgbClr val="3F448B"/>
                </a:solidFill>
                <a:latin typeface="Arial MT"/>
                <a:cs typeface="Times New Roman"/>
              </a:rPr>
              <a:t> </a:t>
            </a:r>
            <a:r>
              <a:rPr lang="en-US" sz="2400" dirty="0">
                <a:solidFill>
                  <a:srgbClr val="3F448B"/>
                </a:solidFill>
                <a:latin typeface="Arial MT"/>
                <a:cs typeface="Times New Roman"/>
              </a:rPr>
              <a:t>=</a:t>
            </a:r>
            <a:r>
              <a:rPr sz="2400" dirty="0" smtClean="0">
                <a:solidFill>
                  <a:srgbClr val="3F448B"/>
                </a:solidFill>
                <a:latin typeface="Arial MT"/>
                <a:cs typeface="Times New Roman"/>
              </a:rPr>
              <a:t> </a:t>
            </a:r>
            <a:r>
              <a:rPr sz="2400" b="1" i="1" spc="-30" dirty="0">
                <a:solidFill>
                  <a:srgbClr val="3F448B"/>
                </a:solidFill>
                <a:latin typeface="Arial MT"/>
                <a:cs typeface="Verdana"/>
              </a:rPr>
              <a:t>S</a:t>
            </a:r>
            <a:r>
              <a:rPr sz="2000" b="1" i="1" baseline="-8547" dirty="0">
                <a:solidFill>
                  <a:srgbClr val="3F448B"/>
                </a:solidFill>
                <a:latin typeface="Arial MT"/>
                <a:cs typeface="Times New Roman"/>
              </a:rPr>
              <a:t>v</a:t>
            </a:r>
            <a:r>
              <a:rPr sz="2000" b="1" i="1" spc="-60" baseline="-8547" dirty="0">
                <a:solidFill>
                  <a:srgbClr val="3F448B"/>
                </a:solidFill>
                <a:latin typeface="Arial MT"/>
                <a:cs typeface="Times New Roman"/>
              </a:rPr>
              <a:t> </a:t>
            </a:r>
            <a:r>
              <a:rPr sz="2400" spc="-5" dirty="0">
                <a:solidFill>
                  <a:srgbClr val="3F448B"/>
                </a:solidFill>
                <a:latin typeface="Arial MT"/>
                <a:cs typeface="Times New Roman"/>
              </a:rPr>
              <a:t>ou</a:t>
            </a:r>
            <a:r>
              <a:rPr sz="2400" spc="-15" dirty="0">
                <a:solidFill>
                  <a:srgbClr val="3F448B"/>
                </a:solidFill>
                <a:latin typeface="Arial MT"/>
                <a:cs typeface="Times New Roman"/>
              </a:rPr>
              <a:t>t</a:t>
            </a:r>
            <a:r>
              <a:rPr sz="2400" spc="-5" dirty="0">
                <a:solidFill>
                  <a:srgbClr val="3F448B"/>
                </a:solidFill>
                <a:latin typeface="Arial MT"/>
                <a:cs typeface="Times New Roman"/>
              </a:rPr>
              <a:t>deg</a:t>
            </a:r>
            <a:r>
              <a:rPr sz="2400" spc="-10" dirty="0">
                <a:solidFill>
                  <a:srgbClr val="3F448B"/>
                </a:solidFill>
                <a:latin typeface="Arial MT"/>
                <a:cs typeface="Times New Roman"/>
              </a:rPr>
              <a:t>(</a:t>
            </a:r>
            <a:r>
              <a:rPr sz="2400" b="1" i="1" spc="-10" dirty="0">
                <a:solidFill>
                  <a:srgbClr val="3F448B"/>
                </a:solidFill>
                <a:latin typeface="Arial MT"/>
                <a:cs typeface="Times New Roman"/>
              </a:rPr>
              <a:t>v</a:t>
            </a:r>
            <a:r>
              <a:rPr sz="2400" dirty="0">
                <a:solidFill>
                  <a:srgbClr val="3F448B"/>
                </a:solidFill>
                <a:latin typeface="Arial MT"/>
                <a:cs typeface="Times New Roman"/>
              </a:rPr>
              <a:t>)</a:t>
            </a:r>
            <a:r>
              <a:rPr sz="2400" spc="-15" dirty="0">
                <a:solidFill>
                  <a:srgbClr val="3F448B"/>
                </a:solidFill>
                <a:latin typeface="Arial MT"/>
                <a:cs typeface="Times New Roman"/>
              </a:rPr>
              <a:t> </a:t>
            </a:r>
            <a:r>
              <a:rPr lang="en-US" sz="2400" dirty="0">
                <a:solidFill>
                  <a:srgbClr val="3F448B"/>
                </a:solidFill>
                <a:latin typeface="Arial MT"/>
                <a:cs typeface="Times New Roman"/>
              </a:rPr>
              <a:t>=</a:t>
            </a:r>
            <a:r>
              <a:rPr sz="2400" spc="-175" dirty="0" smtClean="0">
                <a:solidFill>
                  <a:srgbClr val="3F448B"/>
                </a:solidFill>
                <a:latin typeface="Arial MT"/>
                <a:cs typeface="Times New Roman"/>
              </a:rPr>
              <a:t> </a:t>
            </a:r>
            <a:r>
              <a:rPr sz="2400" b="1" i="1" dirty="0">
                <a:solidFill>
                  <a:srgbClr val="3F448B"/>
                </a:solidFill>
                <a:latin typeface="Arial MT"/>
                <a:cs typeface="Times New Roman"/>
              </a:rPr>
              <a:t>m</a:t>
            </a:r>
            <a:endParaRPr sz="2400" dirty="0">
              <a:latin typeface="Arial MT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83253" y="5061993"/>
            <a:ext cx="5744210" cy="75148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60045" marR="5080" indent="-34798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Arial MT"/>
                <a:cs typeface="Tahoma"/>
              </a:rPr>
              <a:t>Proof:</a:t>
            </a:r>
            <a:r>
              <a:rPr sz="2400" spc="-75" dirty="0">
                <a:latin typeface="Arial MT"/>
                <a:cs typeface="Tahoma"/>
              </a:rPr>
              <a:t> </a:t>
            </a:r>
            <a:r>
              <a:rPr sz="2400" dirty="0">
                <a:solidFill>
                  <a:srgbClr val="3F448B"/>
                </a:solidFill>
                <a:latin typeface="Arial MT"/>
                <a:cs typeface="Tahoma"/>
              </a:rPr>
              <a:t>each</a:t>
            </a:r>
            <a:r>
              <a:rPr sz="2400" spc="-55" dirty="0">
                <a:solidFill>
                  <a:srgbClr val="3F448B"/>
                </a:solidFill>
                <a:latin typeface="Arial MT"/>
                <a:cs typeface="Tahoma"/>
              </a:rPr>
              <a:t> </a:t>
            </a:r>
            <a:r>
              <a:rPr sz="2400" spc="-5" dirty="0">
                <a:solidFill>
                  <a:srgbClr val="3F448B"/>
                </a:solidFill>
                <a:latin typeface="Arial MT"/>
                <a:cs typeface="Tahoma"/>
              </a:rPr>
              <a:t>for</a:t>
            </a:r>
            <a:r>
              <a:rPr sz="2400" spc="-15" dirty="0">
                <a:solidFill>
                  <a:srgbClr val="3F448B"/>
                </a:solidFill>
                <a:latin typeface="Arial MT"/>
                <a:cs typeface="Tahoma"/>
              </a:rPr>
              <a:t> </a:t>
            </a:r>
            <a:r>
              <a:rPr sz="2400" spc="-5" dirty="0">
                <a:solidFill>
                  <a:srgbClr val="3F448B"/>
                </a:solidFill>
                <a:latin typeface="Arial MT"/>
                <a:cs typeface="Tahoma"/>
              </a:rPr>
              <a:t>out-degreeedge</a:t>
            </a:r>
            <a:r>
              <a:rPr sz="2400" spc="-114" dirty="0">
                <a:solidFill>
                  <a:srgbClr val="3F448B"/>
                </a:solidFill>
                <a:latin typeface="Arial MT"/>
                <a:cs typeface="Tahoma"/>
              </a:rPr>
              <a:t> </a:t>
            </a:r>
            <a:r>
              <a:rPr sz="2400" spc="5" dirty="0">
                <a:solidFill>
                  <a:srgbClr val="3F448B"/>
                </a:solidFill>
                <a:latin typeface="Arial MT"/>
                <a:cs typeface="Tahoma"/>
              </a:rPr>
              <a:t>is</a:t>
            </a:r>
            <a:r>
              <a:rPr sz="2400" spc="-30" dirty="0">
                <a:solidFill>
                  <a:srgbClr val="3F448B"/>
                </a:solidFill>
                <a:latin typeface="Arial MT"/>
                <a:cs typeface="Tahoma"/>
              </a:rPr>
              <a:t> </a:t>
            </a:r>
            <a:r>
              <a:rPr sz="2400" dirty="0">
                <a:solidFill>
                  <a:srgbClr val="3F448B"/>
                </a:solidFill>
                <a:latin typeface="Arial MT"/>
                <a:cs typeface="Tahoma"/>
              </a:rPr>
              <a:t>counted</a:t>
            </a:r>
            <a:r>
              <a:rPr sz="2400" spc="-80" dirty="0">
                <a:solidFill>
                  <a:srgbClr val="3F448B"/>
                </a:solidFill>
                <a:latin typeface="Arial MT"/>
                <a:cs typeface="Tahoma"/>
              </a:rPr>
              <a:t> </a:t>
            </a:r>
            <a:r>
              <a:rPr sz="2400" dirty="0">
                <a:solidFill>
                  <a:srgbClr val="3F448B"/>
                </a:solidFill>
                <a:latin typeface="Arial MT"/>
                <a:cs typeface="Tahoma"/>
              </a:rPr>
              <a:t>once</a:t>
            </a:r>
            <a:r>
              <a:rPr sz="2400" spc="-45" dirty="0">
                <a:solidFill>
                  <a:srgbClr val="3F448B"/>
                </a:solidFill>
                <a:latin typeface="Arial MT"/>
                <a:cs typeface="Tahoma"/>
              </a:rPr>
              <a:t> </a:t>
            </a:r>
            <a:r>
              <a:rPr sz="2400" spc="-5" dirty="0">
                <a:solidFill>
                  <a:srgbClr val="3F448B"/>
                </a:solidFill>
                <a:latin typeface="Arial MT"/>
                <a:cs typeface="Tahoma"/>
              </a:rPr>
              <a:t>for </a:t>
            </a:r>
            <a:r>
              <a:rPr sz="2400" spc="-610" dirty="0">
                <a:solidFill>
                  <a:srgbClr val="3F448B"/>
                </a:solidFill>
                <a:latin typeface="Arial MT"/>
                <a:cs typeface="Tahoma"/>
              </a:rPr>
              <a:t> </a:t>
            </a:r>
            <a:r>
              <a:rPr sz="2400" spc="-5" dirty="0">
                <a:solidFill>
                  <a:srgbClr val="3F448B"/>
                </a:solidFill>
                <a:latin typeface="Arial MT"/>
                <a:cs typeface="Tahoma"/>
              </a:rPr>
              <a:t>in-degree</a:t>
            </a:r>
            <a:r>
              <a:rPr sz="2400" dirty="0">
                <a:solidFill>
                  <a:srgbClr val="3F448B"/>
                </a:solidFill>
                <a:latin typeface="Arial MT"/>
                <a:cs typeface="Tahoma"/>
              </a:rPr>
              <a:t> </a:t>
            </a:r>
            <a:r>
              <a:rPr sz="2400" spc="-5" dirty="0">
                <a:solidFill>
                  <a:srgbClr val="3F448B"/>
                </a:solidFill>
                <a:latin typeface="Arial MT"/>
                <a:cs typeface="Tahoma"/>
              </a:rPr>
              <a:t>and</a:t>
            </a:r>
            <a:r>
              <a:rPr sz="2400" spc="-105" dirty="0">
                <a:solidFill>
                  <a:srgbClr val="3F448B"/>
                </a:solidFill>
                <a:latin typeface="Arial MT"/>
                <a:cs typeface="Tahoma"/>
              </a:rPr>
              <a:t> </a:t>
            </a:r>
            <a:r>
              <a:rPr sz="2400" dirty="0">
                <a:solidFill>
                  <a:srgbClr val="3F448B"/>
                </a:solidFill>
                <a:latin typeface="Arial MT"/>
                <a:cs typeface="Tahoma"/>
              </a:rPr>
              <a:t>once</a:t>
            </a:r>
            <a:endParaRPr sz="2400" dirty="0">
              <a:latin typeface="Arial MT"/>
              <a:cs typeface="Tahoma"/>
            </a:endParaRPr>
          </a:p>
        </p:txBody>
      </p:sp>
      <p:sp>
        <p:nvSpPr>
          <p:cNvPr id="7" name="object 3"/>
          <p:cNvSpPr txBox="1"/>
          <p:nvPr/>
        </p:nvSpPr>
        <p:spPr>
          <a:xfrm>
            <a:off x="6172200" y="1741932"/>
            <a:ext cx="5486400" cy="30187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00"/>
              </a:spcBef>
            </a:pPr>
            <a:r>
              <a:rPr lang="en-US" sz="2400" spc="-5" dirty="0">
                <a:solidFill>
                  <a:srgbClr val="BD2C00"/>
                </a:solidFill>
                <a:latin typeface="Arial MT"/>
                <a:cs typeface="Tahoma"/>
              </a:rPr>
              <a:t>Property 3</a:t>
            </a:r>
          </a:p>
          <a:p>
            <a:pPr marL="25400">
              <a:lnSpc>
                <a:spcPct val="100000"/>
              </a:lnSpc>
              <a:spcBef>
                <a:spcPts val="100"/>
              </a:spcBef>
            </a:pPr>
            <a:r>
              <a:rPr lang="en-US" sz="2400" spc="-5" dirty="0">
                <a:solidFill>
                  <a:srgbClr val="002060"/>
                </a:solidFill>
                <a:latin typeface="Arial MT"/>
                <a:cs typeface="Tahoma"/>
              </a:rPr>
              <a:t>If G is a simple undirected </a:t>
            </a:r>
            <a:r>
              <a:rPr lang="en-US" sz="2400" spc="-5" dirty="0" smtClean="0">
                <a:solidFill>
                  <a:srgbClr val="002060"/>
                </a:solidFill>
                <a:latin typeface="Arial MT"/>
                <a:cs typeface="Tahoma"/>
              </a:rPr>
              <a:t>graph,</a:t>
            </a:r>
          </a:p>
          <a:p>
            <a:pPr marL="25400">
              <a:lnSpc>
                <a:spcPct val="100000"/>
              </a:lnSpc>
              <a:spcBef>
                <a:spcPts val="100"/>
              </a:spcBef>
            </a:pPr>
            <a:r>
              <a:rPr lang="en-US" sz="2400" spc="-5" dirty="0" smtClean="0">
                <a:solidFill>
                  <a:srgbClr val="002060"/>
                </a:solidFill>
                <a:latin typeface="Arial MT"/>
                <a:cs typeface="Tahoma"/>
              </a:rPr>
              <a:t>then </a:t>
            </a:r>
            <a:r>
              <a:rPr lang="en-US" sz="2400" spc="-5" dirty="0">
                <a:solidFill>
                  <a:srgbClr val="002060"/>
                </a:solidFill>
                <a:latin typeface="Arial MT"/>
                <a:cs typeface="Tahoma"/>
              </a:rPr>
              <a:t>m ≤ </a:t>
            </a:r>
            <a:r>
              <a:rPr lang="en-US" sz="2400" spc="-5" dirty="0" smtClean="0">
                <a:solidFill>
                  <a:srgbClr val="002060"/>
                </a:solidFill>
                <a:latin typeface="Arial MT"/>
                <a:cs typeface="Tahoma"/>
              </a:rPr>
              <a:t>n(n </a:t>
            </a:r>
            <a:r>
              <a:rPr lang="en-US" sz="2400" spc="-5" dirty="0">
                <a:solidFill>
                  <a:srgbClr val="002060"/>
                </a:solidFill>
                <a:latin typeface="Arial MT"/>
                <a:cs typeface="Tahoma"/>
              </a:rPr>
              <a:t>- 1)/</a:t>
            </a:r>
            <a:r>
              <a:rPr lang="en-US" sz="2400" spc="-5" dirty="0" smtClean="0">
                <a:solidFill>
                  <a:srgbClr val="002060"/>
                </a:solidFill>
                <a:latin typeface="Arial MT"/>
                <a:cs typeface="Tahoma"/>
              </a:rPr>
              <a:t>2, and </a:t>
            </a:r>
            <a:r>
              <a:rPr lang="en-US" sz="2400" spc="-5" dirty="0">
                <a:solidFill>
                  <a:srgbClr val="002060"/>
                </a:solidFill>
                <a:latin typeface="Arial MT"/>
                <a:cs typeface="Tahoma"/>
              </a:rPr>
              <a:t>if G is a simple directed </a:t>
            </a:r>
            <a:r>
              <a:rPr lang="en-US" sz="2400" spc="-5" dirty="0" smtClean="0">
                <a:solidFill>
                  <a:srgbClr val="002060"/>
                </a:solidFill>
                <a:latin typeface="Arial MT"/>
                <a:cs typeface="Tahoma"/>
              </a:rPr>
              <a:t>graph, then </a:t>
            </a:r>
            <a:r>
              <a:rPr lang="en-US" sz="2400" spc="-5" dirty="0">
                <a:solidFill>
                  <a:srgbClr val="002060"/>
                </a:solidFill>
                <a:latin typeface="Arial MT"/>
                <a:cs typeface="Tahoma"/>
              </a:rPr>
              <a:t>m ≤ 𝒏(n - 1</a:t>
            </a:r>
            <a:r>
              <a:rPr lang="en-US" sz="2400" spc="-5" dirty="0" smtClean="0">
                <a:solidFill>
                  <a:srgbClr val="002060"/>
                </a:solidFill>
                <a:latin typeface="Arial MT"/>
                <a:cs typeface="Tahoma"/>
              </a:rPr>
              <a:t>).</a:t>
            </a:r>
          </a:p>
          <a:p>
            <a:pPr marL="25400">
              <a:lnSpc>
                <a:spcPct val="100000"/>
              </a:lnSpc>
              <a:spcBef>
                <a:spcPts val="100"/>
              </a:spcBef>
            </a:pPr>
            <a:endParaRPr lang="en-US" sz="2400" spc="-5" dirty="0">
              <a:solidFill>
                <a:srgbClr val="002060"/>
              </a:solidFill>
              <a:latin typeface="Arial MT"/>
              <a:cs typeface="Tahoma"/>
            </a:endParaRPr>
          </a:p>
          <a:p>
            <a:pPr marL="25400">
              <a:lnSpc>
                <a:spcPct val="100000"/>
              </a:lnSpc>
              <a:spcBef>
                <a:spcPts val="100"/>
              </a:spcBef>
            </a:pPr>
            <a:r>
              <a:rPr lang="en-US" sz="2400" spc="-5" dirty="0">
                <a:latin typeface="Arial MT"/>
                <a:cs typeface="Tahoma"/>
              </a:rPr>
              <a:t>Proof: </a:t>
            </a:r>
            <a:r>
              <a:rPr lang="en-US" sz="2400" spc="-5" dirty="0">
                <a:solidFill>
                  <a:srgbClr val="002060"/>
                </a:solidFill>
                <a:latin typeface="Arial MT"/>
                <a:cs typeface="Tahoma"/>
              </a:rPr>
              <a:t>each vertex has degree at most (n - 1). Then use </a:t>
            </a:r>
            <a:r>
              <a:rPr lang="en-US" sz="2400" spc="-5" dirty="0" smtClean="0">
                <a:solidFill>
                  <a:srgbClr val="002060"/>
                </a:solidFill>
                <a:latin typeface="Arial MT"/>
                <a:cs typeface="Tahoma"/>
              </a:rPr>
              <a:t>Property </a:t>
            </a:r>
            <a:r>
              <a:rPr lang="en-US" sz="2400" spc="-5" dirty="0">
                <a:solidFill>
                  <a:srgbClr val="002060"/>
                </a:solidFill>
                <a:latin typeface="Arial MT"/>
                <a:cs typeface="Tahoma"/>
              </a:rPr>
              <a:t>1 and Property 2.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38099">
              <a:lnSpc>
                <a:spcPts val="1535"/>
              </a:lnSpc>
            </a:pPr>
            <a:fld id="{81D60167-4931-47E6-BA6A-407CBD079E47}" type="slidenum">
              <a:rPr lang="en-US" smtClean="0"/>
              <a:pPr marL="38099">
                <a:lnSpc>
                  <a:spcPts val="1535"/>
                </a:lnSpc>
              </a:pPr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333397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685800" y="3200400"/>
            <a:ext cx="10778067" cy="553998"/>
          </a:xfrm>
        </p:spPr>
        <p:txBody>
          <a:bodyPr/>
          <a:lstStyle/>
          <a:p>
            <a:r>
              <a:rPr lang="en-US" dirty="0" smtClean="0"/>
              <a:t>Graph Representation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38099">
              <a:lnSpc>
                <a:spcPts val="1535"/>
              </a:lnSpc>
            </a:pPr>
            <a:fld id="{81D60167-4931-47E6-BA6A-407CBD079E47}" type="slidenum">
              <a:rPr lang="en-US" smtClean="0"/>
              <a:pPr marL="38099">
                <a:lnSpc>
                  <a:spcPts val="1535"/>
                </a:lnSpc>
              </a:pPr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2215810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8" y="679195"/>
            <a:ext cx="6474461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15" dirty="0"/>
              <a:t>Graph</a:t>
            </a:r>
            <a:r>
              <a:rPr sz="3600" spc="-55" dirty="0"/>
              <a:t> </a:t>
            </a:r>
            <a:r>
              <a:rPr sz="3600" spc="-20" dirty="0"/>
              <a:t>Representations</a:t>
            </a:r>
            <a:endParaRPr sz="3600" dirty="0"/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dirty="0"/>
              <a:t>15</a:t>
            </a:fld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916939" y="1859788"/>
            <a:ext cx="8855710" cy="1919115"/>
          </a:xfrm>
          <a:prstGeom prst="rect">
            <a:avLst/>
          </a:prstGeom>
        </p:spPr>
        <p:txBody>
          <a:bodyPr vert="horz" wrap="square" lIns="0" tIns="28575" rIns="0" bIns="0" rtlCol="0">
            <a:spAutoFit/>
          </a:bodyPr>
          <a:lstStyle/>
          <a:p>
            <a:pPr marL="25400" marR="5080" indent="-12700">
              <a:lnSpc>
                <a:spcPts val="2590"/>
              </a:lnSpc>
              <a:spcBef>
                <a:spcPts val="225"/>
              </a:spcBef>
              <a:buFont typeface="Arial MT"/>
              <a:buChar char="•"/>
              <a:tabLst>
                <a:tab pos="240665" algn="l"/>
                <a:tab pos="241300" algn="l"/>
                <a:tab pos="1964055" algn="l"/>
                <a:tab pos="5938520" algn="l"/>
              </a:tabLst>
            </a:pPr>
            <a:r>
              <a:rPr sz="2400" spc="-25" dirty="0">
                <a:latin typeface="Arial MT"/>
                <a:cs typeface="Tahoma"/>
              </a:rPr>
              <a:t>For</a:t>
            </a:r>
            <a:r>
              <a:rPr sz="2400" spc="-15" dirty="0">
                <a:latin typeface="Arial MT"/>
                <a:cs typeface="Tahoma"/>
              </a:rPr>
              <a:t> </a:t>
            </a:r>
            <a:r>
              <a:rPr sz="2400" spc="-25" dirty="0">
                <a:latin typeface="Arial MT"/>
                <a:cs typeface="Tahoma"/>
              </a:rPr>
              <a:t>graphs</a:t>
            </a:r>
            <a:r>
              <a:rPr sz="2400" spc="-20" dirty="0">
                <a:latin typeface="Arial MT"/>
                <a:cs typeface="Tahoma"/>
              </a:rPr>
              <a:t> </a:t>
            </a:r>
            <a:r>
              <a:rPr sz="2400" spc="-5" dirty="0">
                <a:latin typeface="Arial MT"/>
                <a:cs typeface="Tahoma"/>
              </a:rPr>
              <a:t>to </a:t>
            </a:r>
            <a:r>
              <a:rPr sz="2400" spc="-10" dirty="0">
                <a:latin typeface="Arial MT"/>
                <a:cs typeface="Tahoma"/>
              </a:rPr>
              <a:t>be </a:t>
            </a:r>
            <a:r>
              <a:rPr sz="2400" spc="-15" dirty="0">
                <a:latin typeface="Arial MT"/>
                <a:cs typeface="Tahoma"/>
              </a:rPr>
              <a:t>computationally</a:t>
            </a:r>
            <a:r>
              <a:rPr sz="2400" dirty="0">
                <a:latin typeface="Arial MT"/>
                <a:cs typeface="Tahoma"/>
              </a:rPr>
              <a:t> </a:t>
            </a:r>
            <a:r>
              <a:rPr sz="2400" spc="-20" dirty="0">
                <a:latin typeface="Arial MT"/>
                <a:cs typeface="Tahoma"/>
              </a:rPr>
              <a:t>useful,</a:t>
            </a:r>
            <a:r>
              <a:rPr sz="2400" spc="-25" dirty="0">
                <a:latin typeface="Arial MT"/>
                <a:cs typeface="Tahoma"/>
              </a:rPr>
              <a:t> </a:t>
            </a:r>
            <a:r>
              <a:rPr sz="2400" spc="-10" dirty="0">
                <a:latin typeface="Arial MT"/>
                <a:cs typeface="Tahoma"/>
              </a:rPr>
              <a:t>they	</a:t>
            </a:r>
            <a:r>
              <a:rPr sz="2400" spc="-20" dirty="0">
                <a:latin typeface="Arial MT"/>
                <a:cs typeface="Tahoma"/>
              </a:rPr>
              <a:t>have</a:t>
            </a:r>
            <a:r>
              <a:rPr sz="2400" spc="-45" dirty="0">
                <a:latin typeface="Arial MT"/>
                <a:cs typeface="Tahoma"/>
              </a:rPr>
              <a:t> </a:t>
            </a:r>
            <a:r>
              <a:rPr sz="2400" spc="-5" dirty="0">
                <a:latin typeface="Arial MT"/>
                <a:cs typeface="Tahoma"/>
              </a:rPr>
              <a:t>to</a:t>
            </a:r>
            <a:r>
              <a:rPr sz="2400" spc="-45" dirty="0">
                <a:latin typeface="Arial MT"/>
                <a:cs typeface="Tahoma"/>
              </a:rPr>
              <a:t> </a:t>
            </a:r>
            <a:r>
              <a:rPr sz="2400" spc="-10" dirty="0">
                <a:latin typeface="Arial MT"/>
                <a:cs typeface="Tahoma"/>
              </a:rPr>
              <a:t>be</a:t>
            </a:r>
            <a:r>
              <a:rPr sz="2400" spc="-45" dirty="0">
                <a:latin typeface="Arial MT"/>
                <a:cs typeface="Tahoma"/>
              </a:rPr>
              <a:t> </a:t>
            </a:r>
            <a:r>
              <a:rPr sz="2400" spc="-15" dirty="0">
                <a:latin typeface="Arial MT"/>
                <a:cs typeface="Tahoma"/>
              </a:rPr>
              <a:t>conveniently </a:t>
            </a:r>
            <a:r>
              <a:rPr sz="2400" spc="-670" dirty="0">
                <a:latin typeface="Arial MT"/>
                <a:cs typeface="Tahoma"/>
              </a:rPr>
              <a:t> </a:t>
            </a:r>
            <a:r>
              <a:rPr sz="2400" spc="-10" dirty="0">
                <a:latin typeface="Arial MT"/>
                <a:cs typeface="Tahoma"/>
              </a:rPr>
              <a:t>represented </a:t>
            </a:r>
            <a:r>
              <a:rPr sz="2400" spc="-10" dirty="0" smtClean="0">
                <a:latin typeface="Arial MT"/>
                <a:cs typeface="Tahoma"/>
              </a:rPr>
              <a:t>in</a:t>
            </a:r>
            <a:r>
              <a:rPr lang="en-US" sz="2400" spc="-10" dirty="0" smtClean="0">
                <a:latin typeface="Arial MT"/>
                <a:cs typeface="Tahoma"/>
              </a:rPr>
              <a:t> </a:t>
            </a:r>
            <a:r>
              <a:rPr sz="2400" spc="-20" dirty="0" smtClean="0">
                <a:latin typeface="Arial MT"/>
                <a:cs typeface="Tahoma"/>
              </a:rPr>
              <a:t>programs</a:t>
            </a:r>
            <a:endParaRPr sz="2400" dirty="0">
              <a:latin typeface="Arial MT"/>
              <a:cs typeface="Tahoma"/>
            </a:endParaRPr>
          </a:p>
          <a:p>
            <a:pPr marL="241300" indent="-228600">
              <a:lnSpc>
                <a:spcPct val="100000"/>
              </a:lnSpc>
              <a:spcBef>
                <a:spcPts val="285"/>
              </a:spcBef>
              <a:buFont typeface="Arial MT"/>
              <a:buChar char="•"/>
              <a:tabLst>
                <a:tab pos="240665" algn="l"/>
                <a:tab pos="241300" algn="l"/>
                <a:tab pos="5695315" algn="l"/>
              </a:tabLst>
            </a:pPr>
            <a:r>
              <a:rPr sz="2400" spc="-10" dirty="0">
                <a:latin typeface="Arial MT"/>
                <a:cs typeface="Tahoma"/>
              </a:rPr>
              <a:t>There</a:t>
            </a:r>
            <a:r>
              <a:rPr sz="2400" dirty="0">
                <a:latin typeface="Arial MT"/>
                <a:cs typeface="Tahoma"/>
              </a:rPr>
              <a:t> </a:t>
            </a:r>
            <a:r>
              <a:rPr sz="2400" spc="-15" dirty="0">
                <a:latin typeface="Arial MT"/>
                <a:cs typeface="Tahoma"/>
              </a:rPr>
              <a:t>are</a:t>
            </a:r>
            <a:r>
              <a:rPr sz="2400" spc="-5" dirty="0">
                <a:latin typeface="Arial MT"/>
                <a:cs typeface="Tahoma"/>
              </a:rPr>
              <a:t> two</a:t>
            </a:r>
            <a:r>
              <a:rPr sz="2400" spc="-10" dirty="0">
                <a:latin typeface="Arial MT"/>
                <a:cs typeface="Tahoma"/>
              </a:rPr>
              <a:t> computer</a:t>
            </a:r>
            <a:r>
              <a:rPr sz="2400" spc="-15" dirty="0">
                <a:latin typeface="Arial MT"/>
                <a:cs typeface="Tahoma"/>
              </a:rPr>
              <a:t> </a:t>
            </a:r>
            <a:r>
              <a:rPr sz="2400" spc="-10" dirty="0">
                <a:latin typeface="Arial MT"/>
                <a:cs typeface="Tahoma"/>
              </a:rPr>
              <a:t>representations</a:t>
            </a:r>
            <a:r>
              <a:rPr sz="2400" spc="10" dirty="0">
                <a:latin typeface="Arial MT"/>
                <a:cs typeface="Tahoma"/>
              </a:rPr>
              <a:t> </a:t>
            </a:r>
            <a:r>
              <a:rPr sz="2400" dirty="0" smtClean="0">
                <a:latin typeface="Arial MT"/>
                <a:cs typeface="Tahoma"/>
              </a:rPr>
              <a:t>of</a:t>
            </a:r>
            <a:r>
              <a:rPr lang="en-US" sz="2400" dirty="0" smtClean="0">
                <a:latin typeface="Arial MT"/>
                <a:cs typeface="Tahoma"/>
              </a:rPr>
              <a:t> </a:t>
            </a:r>
            <a:r>
              <a:rPr sz="2400" spc="-25" dirty="0" smtClean="0">
                <a:latin typeface="Arial MT"/>
                <a:cs typeface="Tahoma"/>
              </a:rPr>
              <a:t>graphs</a:t>
            </a:r>
            <a:r>
              <a:rPr sz="2400" spc="-25" dirty="0">
                <a:latin typeface="Arial MT"/>
                <a:cs typeface="Tahoma"/>
              </a:rPr>
              <a:t>:</a:t>
            </a:r>
            <a:endParaRPr sz="2400" dirty="0">
              <a:latin typeface="Arial MT"/>
              <a:cs typeface="Tahoma"/>
            </a:endParaRPr>
          </a:p>
          <a:p>
            <a:pPr marL="744220" lvl="1" indent="-143510">
              <a:lnSpc>
                <a:spcPct val="100000"/>
              </a:lnSpc>
              <a:spcBef>
                <a:spcPts val="265"/>
              </a:spcBef>
              <a:buSzPct val="59090"/>
              <a:buFont typeface="Wingdings"/>
              <a:buChar char=""/>
              <a:tabLst>
                <a:tab pos="744220" algn="l"/>
              </a:tabLst>
            </a:pPr>
            <a:r>
              <a:rPr sz="2400" spc="-10" dirty="0">
                <a:solidFill>
                  <a:srgbClr val="C00000"/>
                </a:solidFill>
                <a:latin typeface="Arial MT"/>
                <a:cs typeface="Tahoma"/>
              </a:rPr>
              <a:t>Adjacency</a:t>
            </a:r>
            <a:r>
              <a:rPr sz="2400" spc="-20" dirty="0">
                <a:solidFill>
                  <a:srgbClr val="C00000"/>
                </a:solidFill>
                <a:latin typeface="Arial MT"/>
                <a:cs typeface="Tahoma"/>
              </a:rPr>
              <a:t> </a:t>
            </a:r>
            <a:r>
              <a:rPr sz="2400" spc="-10" dirty="0">
                <a:solidFill>
                  <a:srgbClr val="C00000"/>
                </a:solidFill>
                <a:latin typeface="Arial MT"/>
                <a:cs typeface="Tahoma"/>
              </a:rPr>
              <a:t>matrix</a:t>
            </a:r>
            <a:r>
              <a:rPr sz="2400" spc="-20" dirty="0">
                <a:solidFill>
                  <a:srgbClr val="C00000"/>
                </a:solidFill>
                <a:latin typeface="Arial MT"/>
                <a:cs typeface="Tahoma"/>
              </a:rPr>
              <a:t> </a:t>
            </a:r>
            <a:r>
              <a:rPr sz="2400" spc="-10" dirty="0">
                <a:latin typeface="Arial MT"/>
                <a:cs typeface="Tahoma"/>
              </a:rPr>
              <a:t>representation</a:t>
            </a:r>
            <a:endParaRPr sz="2400" dirty="0">
              <a:latin typeface="Arial MT"/>
              <a:cs typeface="Tahoma"/>
            </a:endParaRPr>
          </a:p>
          <a:p>
            <a:pPr marL="744220" lvl="1" indent="-143510">
              <a:lnSpc>
                <a:spcPct val="100000"/>
              </a:lnSpc>
              <a:spcBef>
                <a:spcPts val="265"/>
              </a:spcBef>
              <a:buSzPct val="59090"/>
              <a:buFont typeface="Wingdings"/>
              <a:buChar char=""/>
              <a:tabLst>
                <a:tab pos="744220" algn="l"/>
              </a:tabLst>
            </a:pPr>
            <a:r>
              <a:rPr sz="2400" spc="-10" dirty="0">
                <a:solidFill>
                  <a:srgbClr val="C00000"/>
                </a:solidFill>
                <a:latin typeface="Arial MT"/>
                <a:cs typeface="Tahoma"/>
              </a:rPr>
              <a:t>Adjacency</a:t>
            </a:r>
            <a:r>
              <a:rPr sz="2400" spc="-25" dirty="0">
                <a:solidFill>
                  <a:srgbClr val="C00000"/>
                </a:solidFill>
                <a:latin typeface="Arial MT"/>
                <a:cs typeface="Tahoma"/>
              </a:rPr>
              <a:t> </a:t>
            </a:r>
            <a:r>
              <a:rPr sz="2400" spc="-10" dirty="0">
                <a:solidFill>
                  <a:srgbClr val="C00000"/>
                </a:solidFill>
                <a:latin typeface="Arial MT"/>
                <a:cs typeface="Tahoma"/>
              </a:rPr>
              <a:t>lists </a:t>
            </a:r>
            <a:r>
              <a:rPr sz="2400" spc="-10" dirty="0">
                <a:latin typeface="Arial MT"/>
                <a:cs typeface="Tahoma"/>
              </a:rPr>
              <a:t>representation</a:t>
            </a:r>
            <a:endParaRPr sz="2400" dirty="0">
              <a:latin typeface="Arial MT"/>
              <a:cs typeface="Tahoma"/>
            </a:endParaRPr>
          </a:p>
        </p:txBody>
      </p:sp>
    </p:spTree>
    <p:extLst>
      <p:ext uri="{BB962C8B-B14F-4D97-AF65-F5344CB8AC3E}">
        <p14:creationId xmlns:p14="http://schemas.microsoft.com/office/powerpoint/2010/main" val="25429448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8" y="611124"/>
            <a:ext cx="9446261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Adjacency </a:t>
            </a:r>
            <a:r>
              <a:rPr spc="-15" dirty="0"/>
              <a:t>Matrix</a:t>
            </a:r>
            <a:r>
              <a:rPr spc="-5" dirty="0"/>
              <a:t> </a:t>
            </a:r>
            <a:r>
              <a:rPr spc="-25" dirty="0"/>
              <a:t>Representation</a:t>
            </a:r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916939" y="1844094"/>
            <a:ext cx="7749540" cy="73342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120"/>
              </a:spcBef>
              <a:buFont typeface="Arial MT"/>
              <a:buChar char="•"/>
              <a:tabLst>
                <a:tab pos="240665" algn="l"/>
                <a:tab pos="241300" algn="l"/>
              </a:tabLst>
            </a:pPr>
            <a:r>
              <a:rPr sz="2200" spc="-5" dirty="0">
                <a:latin typeface="Tahoma"/>
                <a:cs typeface="Tahoma"/>
              </a:rPr>
              <a:t>Assume</a:t>
            </a:r>
            <a:r>
              <a:rPr sz="2200" spc="-20" dirty="0">
                <a:latin typeface="Tahoma"/>
                <a:cs typeface="Tahoma"/>
              </a:rPr>
              <a:t> </a:t>
            </a:r>
            <a:r>
              <a:rPr sz="2200" dirty="0">
                <a:latin typeface="Tahoma"/>
                <a:cs typeface="Tahoma"/>
              </a:rPr>
              <a:t>V</a:t>
            </a:r>
            <a:r>
              <a:rPr sz="2200" spc="-25" dirty="0">
                <a:latin typeface="Tahoma"/>
                <a:cs typeface="Tahoma"/>
              </a:rPr>
              <a:t> </a:t>
            </a:r>
            <a:r>
              <a:rPr sz="2200" dirty="0">
                <a:latin typeface="Tahoma"/>
                <a:cs typeface="Tahoma"/>
              </a:rPr>
              <a:t>=</a:t>
            </a:r>
            <a:r>
              <a:rPr sz="2200" spc="-25" dirty="0">
                <a:latin typeface="Tahoma"/>
                <a:cs typeface="Tahoma"/>
              </a:rPr>
              <a:t> </a:t>
            </a:r>
            <a:r>
              <a:rPr sz="2200" spc="-5" dirty="0">
                <a:latin typeface="Tahoma"/>
                <a:cs typeface="Tahoma"/>
              </a:rPr>
              <a:t>{1,</a:t>
            </a:r>
            <a:r>
              <a:rPr sz="2200" spc="-25" dirty="0">
                <a:latin typeface="Tahoma"/>
                <a:cs typeface="Tahoma"/>
              </a:rPr>
              <a:t> </a:t>
            </a:r>
            <a:r>
              <a:rPr sz="2200" spc="-10" dirty="0">
                <a:latin typeface="Tahoma"/>
                <a:cs typeface="Tahoma"/>
              </a:rPr>
              <a:t>2,</a:t>
            </a:r>
            <a:r>
              <a:rPr sz="2200" spc="-35" dirty="0">
                <a:latin typeface="Tahoma"/>
                <a:cs typeface="Tahoma"/>
              </a:rPr>
              <a:t> </a:t>
            </a:r>
            <a:r>
              <a:rPr sz="2200" dirty="0">
                <a:latin typeface="Tahoma"/>
                <a:cs typeface="Tahoma"/>
              </a:rPr>
              <a:t>…, </a:t>
            </a:r>
            <a:r>
              <a:rPr sz="2300" spc="-40" dirty="0">
                <a:latin typeface="Tahoma"/>
                <a:cs typeface="Tahoma"/>
              </a:rPr>
              <a:t>n</a:t>
            </a:r>
            <a:r>
              <a:rPr sz="2200" spc="-40" dirty="0">
                <a:latin typeface="Tahoma"/>
                <a:cs typeface="Tahoma"/>
              </a:rPr>
              <a:t>}</a:t>
            </a:r>
            <a:endParaRPr sz="2200" dirty="0">
              <a:latin typeface="Tahoma"/>
              <a:cs typeface="Tahoma"/>
            </a:endParaRPr>
          </a:p>
          <a:p>
            <a:pPr marL="241300" indent="-228600">
              <a:lnSpc>
                <a:spcPct val="100000"/>
              </a:lnSpc>
              <a:spcBef>
                <a:spcPts val="25"/>
              </a:spcBef>
              <a:buFont typeface="Arial MT"/>
              <a:buChar char="•"/>
              <a:tabLst>
                <a:tab pos="240665" algn="l"/>
                <a:tab pos="241300" algn="l"/>
              </a:tabLst>
            </a:pPr>
            <a:r>
              <a:rPr sz="2200" dirty="0">
                <a:latin typeface="Tahoma"/>
                <a:cs typeface="Tahoma"/>
              </a:rPr>
              <a:t>An</a:t>
            </a:r>
            <a:r>
              <a:rPr sz="2200" spc="-20" dirty="0">
                <a:latin typeface="Tahoma"/>
                <a:cs typeface="Tahoma"/>
              </a:rPr>
              <a:t> </a:t>
            </a:r>
            <a:r>
              <a:rPr sz="2300" spc="-80" dirty="0">
                <a:latin typeface="Tahoma"/>
                <a:cs typeface="Tahoma"/>
              </a:rPr>
              <a:t>adjacency</a:t>
            </a:r>
            <a:r>
              <a:rPr sz="2300" spc="-90" dirty="0">
                <a:latin typeface="Tahoma"/>
                <a:cs typeface="Tahoma"/>
              </a:rPr>
              <a:t> </a:t>
            </a:r>
            <a:r>
              <a:rPr sz="2300" spc="-75" dirty="0">
                <a:latin typeface="Tahoma"/>
                <a:cs typeface="Tahoma"/>
              </a:rPr>
              <a:t>matrix</a:t>
            </a:r>
            <a:r>
              <a:rPr sz="2300" spc="-100" dirty="0">
                <a:latin typeface="Tahoma"/>
                <a:cs typeface="Tahoma"/>
              </a:rPr>
              <a:t> </a:t>
            </a:r>
            <a:r>
              <a:rPr sz="2200" spc="-10" dirty="0">
                <a:latin typeface="Tahoma"/>
                <a:cs typeface="Tahoma"/>
              </a:rPr>
              <a:t>represents</a:t>
            </a:r>
            <a:r>
              <a:rPr sz="2200" spc="-5" dirty="0">
                <a:latin typeface="Tahoma"/>
                <a:cs typeface="Tahoma"/>
              </a:rPr>
              <a:t> the</a:t>
            </a:r>
            <a:r>
              <a:rPr sz="2200" dirty="0">
                <a:latin typeface="Tahoma"/>
                <a:cs typeface="Tahoma"/>
              </a:rPr>
              <a:t> </a:t>
            </a:r>
            <a:r>
              <a:rPr sz="2200" spc="-20" dirty="0">
                <a:latin typeface="Tahoma"/>
                <a:cs typeface="Tahoma"/>
              </a:rPr>
              <a:t>graph</a:t>
            </a:r>
            <a:r>
              <a:rPr sz="2200" spc="-15" dirty="0">
                <a:latin typeface="Tahoma"/>
                <a:cs typeface="Tahoma"/>
              </a:rPr>
              <a:t> </a:t>
            </a:r>
            <a:r>
              <a:rPr sz="2200" spc="-5" dirty="0">
                <a:latin typeface="Tahoma"/>
                <a:cs typeface="Tahoma"/>
              </a:rPr>
              <a:t>as</a:t>
            </a:r>
            <a:r>
              <a:rPr sz="2200" spc="-10" dirty="0">
                <a:latin typeface="Tahoma"/>
                <a:cs typeface="Tahoma"/>
              </a:rPr>
              <a:t> </a:t>
            </a:r>
            <a:r>
              <a:rPr sz="2200" dirty="0">
                <a:latin typeface="Tahoma"/>
                <a:cs typeface="Tahoma"/>
              </a:rPr>
              <a:t>a</a:t>
            </a:r>
            <a:r>
              <a:rPr sz="2200" spc="-5" dirty="0">
                <a:latin typeface="Tahoma"/>
                <a:cs typeface="Tahoma"/>
              </a:rPr>
              <a:t> </a:t>
            </a:r>
            <a:r>
              <a:rPr sz="2300" spc="-60" dirty="0">
                <a:latin typeface="Tahoma"/>
                <a:cs typeface="Tahoma"/>
              </a:rPr>
              <a:t>n</a:t>
            </a:r>
            <a:r>
              <a:rPr sz="2300" spc="-100" dirty="0">
                <a:latin typeface="Tahoma"/>
                <a:cs typeface="Tahoma"/>
              </a:rPr>
              <a:t> </a:t>
            </a:r>
            <a:r>
              <a:rPr sz="2200" spc="-35" dirty="0">
                <a:latin typeface="Tahoma"/>
                <a:cs typeface="Tahoma"/>
              </a:rPr>
              <a:t>x</a:t>
            </a:r>
            <a:r>
              <a:rPr sz="2300" spc="-35" dirty="0">
                <a:latin typeface="Tahoma"/>
                <a:cs typeface="Tahoma"/>
              </a:rPr>
              <a:t>n</a:t>
            </a:r>
            <a:r>
              <a:rPr sz="2300" spc="-65" dirty="0">
                <a:latin typeface="Tahoma"/>
                <a:cs typeface="Tahoma"/>
              </a:rPr>
              <a:t> </a:t>
            </a:r>
            <a:r>
              <a:rPr sz="2200" spc="-10" dirty="0">
                <a:latin typeface="Tahoma"/>
                <a:cs typeface="Tahoma"/>
              </a:rPr>
              <a:t>matrix</a:t>
            </a:r>
            <a:r>
              <a:rPr sz="2200" spc="-20" dirty="0">
                <a:latin typeface="Tahoma"/>
                <a:cs typeface="Tahoma"/>
              </a:rPr>
              <a:t> </a:t>
            </a:r>
            <a:r>
              <a:rPr sz="2200" dirty="0">
                <a:latin typeface="Tahoma"/>
                <a:cs typeface="Tahoma"/>
              </a:rPr>
              <a:t>A: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5488940" y="2569971"/>
            <a:ext cx="2409190" cy="360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200" dirty="0">
                <a:latin typeface="Tahoma"/>
                <a:cs typeface="Tahoma"/>
              </a:rPr>
              <a:t>(or</a:t>
            </a:r>
            <a:r>
              <a:rPr sz="2200" spc="-30" dirty="0">
                <a:latin typeface="Tahoma"/>
                <a:cs typeface="Tahoma"/>
              </a:rPr>
              <a:t> </a:t>
            </a:r>
            <a:r>
              <a:rPr sz="2200" spc="-5" dirty="0">
                <a:latin typeface="Tahoma"/>
                <a:cs typeface="Tahoma"/>
              </a:rPr>
              <a:t>weight</a:t>
            </a:r>
            <a:r>
              <a:rPr sz="2200" spc="-20" dirty="0">
                <a:latin typeface="Tahoma"/>
                <a:cs typeface="Tahoma"/>
              </a:rPr>
              <a:t> </a:t>
            </a:r>
            <a:r>
              <a:rPr sz="2200" dirty="0">
                <a:latin typeface="Tahoma"/>
                <a:cs typeface="Tahoma"/>
              </a:rPr>
              <a:t>of</a:t>
            </a:r>
            <a:r>
              <a:rPr sz="2200" spc="-85" dirty="0">
                <a:latin typeface="Tahoma"/>
                <a:cs typeface="Tahoma"/>
              </a:rPr>
              <a:t> </a:t>
            </a:r>
            <a:r>
              <a:rPr sz="2200" spc="-10" dirty="0">
                <a:latin typeface="Tahoma"/>
                <a:cs typeface="Tahoma"/>
              </a:rPr>
              <a:t>edge)</a:t>
            </a:r>
            <a:endParaRPr sz="2200">
              <a:latin typeface="Tahoma"/>
              <a:cs typeface="Tahom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099185" y="2438998"/>
            <a:ext cx="3530600" cy="964565"/>
          </a:xfrm>
          <a:prstGeom prst="rect">
            <a:avLst/>
          </a:prstGeom>
        </p:spPr>
        <p:txBody>
          <a:bodyPr vert="horz" wrap="square" lIns="0" tIns="130810" rIns="0" bIns="0" rtlCol="0">
            <a:spAutoFit/>
          </a:bodyPr>
          <a:lstStyle/>
          <a:p>
            <a:pPr marL="144145" marR="5080" indent="-144145" algn="r">
              <a:lnSpc>
                <a:spcPct val="100000"/>
              </a:lnSpc>
              <a:spcBef>
                <a:spcPts val="1030"/>
              </a:spcBef>
              <a:buSzPct val="59090"/>
              <a:buFont typeface="Wingdings"/>
              <a:buChar char=""/>
              <a:tabLst>
                <a:tab pos="144145" algn="l"/>
              </a:tabLst>
            </a:pPr>
            <a:r>
              <a:rPr sz="2200" spc="-10" dirty="0">
                <a:latin typeface="Tahoma"/>
                <a:cs typeface="Tahoma"/>
              </a:rPr>
              <a:t>A[</a:t>
            </a:r>
            <a:r>
              <a:rPr sz="2300" spc="-10" dirty="0">
                <a:latin typeface="Tahoma"/>
                <a:cs typeface="Tahoma"/>
              </a:rPr>
              <a:t>i</a:t>
            </a:r>
            <a:r>
              <a:rPr sz="2200" spc="-10" dirty="0">
                <a:latin typeface="Tahoma"/>
                <a:cs typeface="Tahoma"/>
              </a:rPr>
              <a:t>,</a:t>
            </a:r>
            <a:r>
              <a:rPr sz="2200" spc="-5" dirty="0">
                <a:latin typeface="Tahoma"/>
                <a:cs typeface="Tahoma"/>
              </a:rPr>
              <a:t> </a:t>
            </a:r>
            <a:r>
              <a:rPr sz="2300" spc="-30" dirty="0">
                <a:latin typeface="Tahoma"/>
                <a:cs typeface="Tahoma"/>
              </a:rPr>
              <a:t>j</a:t>
            </a:r>
            <a:r>
              <a:rPr sz="2300" spc="-60" dirty="0">
                <a:latin typeface="Tahoma"/>
                <a:cs typeface="Tahoma"/>
              </a:rPr>
              <a:t> </a:t>
            </a:r>
            <a:r>
              <a:rPr sz="2200" dirty="0">
                <a:latin typeface="Tahoma"/>
                <a:cs typeface="Tahoma"/>
              </a:rPr>
              <a:t>]</a:t>
            </a:r>
            <a:r>
              <a:rPr sz="2200" spc="-5" dirty="0">
                <a:latin typeface="Tahoma"/>
                <a:cs typeface="Tahoma"/>
              </a:rPr>
              <a:t> </a:t>
            </a:r>
            <a:r>
              <a:rPr sz="2200" dirty="0">
                <a:latin typeface="Tahoma"/>
                <a:cs typeface="Tahoma"/>
              </a:rPr>
              <a:t>= 1</a:t>
            </a:r>
            <a:r>
              <a:rPr sz="2200" spc="-5" dirty="0">
                <a:latin typeface="Tahoma"/>
                <a:cs typeface="Tahoma"/>
              </a:rPr>
              <a:t> </a:t>
            </a:r>
            <a:r>
              <a:rPr sz="2200" dirty="0">
                <a:latin typeface="Tahoma"/>
                <a:cs typeface="Tahoma"/>
              </a:rPr>
              <a:t>if</a:t>
            </a:r>
            <a:r>
              <a:rPr sz="2200" spc="5" dirty="0">
                <a:latin typeface="Tahoma"/>
                <a:cs typeface="Tahoma"/>
              </a:rPr>
              <a:t> </a:t>
            </a:r>
            <a:r>
              <a:rPr sz="2200" spc="-10" dirty="0">
                <a:latin typeface="Tahoma"/>
                <a:cs typeface="Tahoma"/>
              </a:rPr>
              <a:t>edge </a:t>
            </a:r>
            <a:r>
              <a:rPr sz="2200" spc="-15" dirty="0">
                <a:latin typeface="Tahoma"/>
                <a:cs typeface="Tahoma"/>
              </a:rPr>
              <a:t>(</a:t>
            </a:r>
            <a:r>
              <a:rPr sz="2300" spc="-15" dirty="0">
                <a:latin typeface="Tahoma"/>
                <a:cs typeface="Tahoma"/>
              </a:rPr>
              <a:t>i</a:t>
            </a:r>
            <a:r>
              <a:rPr sz="2200" spc="-15" dirty="0">
                <a:latin typeface="Tahoma"/>
                <a:cs typeface="Tahoma"/>
              </a:rPr>
              <a:t>,</a:t>
            </a:r>
            <a:r>
              <a:rPr sz="2200" spc="-5" dirty="0">
                <a:latin typeface="Tahoma"/>
                <a:cs typeface="Tahoma"/>
              </a:rPr>
              <a:t> </a:t>
            </a:r>
            <a:r>
              <a:rPr sz="2300" spc="-20" dirty="0">
                <a:latin typeface="Tahoma"/>
                <a:cs typeface="Tahoma"/>
              </a:rPr>
              <a:t>j</a:t>
            </a:r>
            <a:r>
              <a:rPr sz="2200" spc="-20" dirty="0">
                <a:latin typeface="Tahoma"/>
                <a:cs typeface="Tahoma"/>
              </a:rPr>
              <a:t>)</a:t>
            </a:r>
            <a:r>
              <a:rPr sz="2200" spc="-95" dirty="0">
                <a:latin typeface="Tahoma"/>
                <a:cs typeface="Tahoma"/>
              </a:rPr>
              <a:t> </a:t>
            </a:r>
            <a:r>
              <a:rPr sz="2200" dirty="0">
                <a:latin typeface="Symbol"/>
                <a:cs typeface="Symbol"/>
              </a:rPr>
              <a:t></a:t>
            </a:r>
            <a:r>
              <a:rPr sz="2200" spc="5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ahoma"/>
                <a:cs typeface="Tahoma"/>
              </a:rPr>
              <a:t>E</a:t>
            </a:r>
          </a:p>
          <a:p>
            <a:pPr marR="59690" algn="r">
              <a:lnSpc>
                <a:spcPct val="100000"/>
              </a:lnSpc>
              <a:spcBef>
                <a:spcPts val="935"/>
              </a:spcBef>
            </a:pPr>
            <a:r>
              <a:rPr sz="2200" dirty="0">
                <a:latin typeface="Tahoma"/>
                <a:cs typeface="Tahoma"/>
              </a:rPr>
              <a:t>=</a:t>
            </a:r>
            <a:r>
              <a:rPr sz="2200" spc="-10" dirty="0">
                <a:latin typeface="Tahoma"/>
                <a:cs typeface="Tahoma"/>
              </a:rPr>
              <a:t> </a:t>
            </a:r>
            <a:r>
              <a:rPr sz="2200" dirty="0">
                <a:latin typeface="Tahoma"/>
                <a:cs typeface="Tahoma"/>
              </a:rPr>
              <a:t>0</a:t>
            </a:r>
            <a:r>
              <a:rPr sz="2200" spc="-15" dirty="0">
                <a:latin typeface="Tahoma"/>
                <a:cs typeface="Tahoma"/>
              </a:rPr>
              <a:t> </a:t>
            </a:r>
            <a:r>
              <a:rPr sz="2200" dirty="0">
                <a:latin typeface="Tahoma"/>
                <a:cs typeface="Tahoma"/>
              </a:rPr>
              <a:t>if </a:t>
            </a:r>
            <a:r>
              <a:rPr sz="2200" spc="-10" dirty="0">
                <a:latin typeface="Tahoma"/>
                <a:cs typeface="Tahoma"/>
              </a:rPr>
              <a:t>edge</a:t>
            </a:r>
            <a:r>
              <a:rPr sz="2200" spc="-20" dirty="0">
                <a:latin typeface="Tahoma"/>
                <a:cs typeface="Tahoma"/>
              </a:rPr>
              <a:t> </a:t>
            </a:r>
            <a:r>
              <a:rPr sz="2200" spc="-15" dirty="0">
                <a:latin typeface="Tahoma"/>
                <a:cs typeface="Tahoma"/>
              </a:rPr>
              <a:t>(</a:t>
            </a:r>
            <a:r>
              <a:rPr sz="2300" spc="-15" dirty="0">
                <a:latin typeface="Tahoma"/>
                <a:cs typeface="Tahoma"/>
              </a:rPr>
              <a:t>i</a:t>
            </a:r>
            <a:r>
              <a:rPr sz="2200" spc="-15" dirty="0">
                <a:latin typeface="Tahoma"/>
                <a:cs typeface="Tahoma"/>
              </a:rPr>
              <a:t>,</a:t>
            </a:r>
            <a:r>
              <a:rPr sz="2200" spc="-10" dirty="0">
                <a:latin typeface="Tahoma"/>
                <a:cs typeface="Tahoma"/>
              </a:rPr>
              <a:t> </a:t>
            </a:r>
            <a:r>
              <a:rPr sz="2300" spc="-20" dirty="0">
                <a:latin typeface="Tahoma"/>
                <a:cs typeface="Tahoma"/>
              </a:rPr>
              <a:t>j</a:t>
            </a:r>
            <a:r>
              <a:rPr sz="2200" spc="-20" dirty="0">
                <a:latin typeface="Tahoma"/>
                <a:cs typeface="Tahoma"/>
              </a:rPr>
              <a:t>)</a:t>
            </a:r>
            <a:r>
              <a:rPr sz="2200" spc="-35" dirty="0">
                <a:latin typeface="Tahoma"/>
                <a:cs typeface="Tahoma"/>
              </a:rPr>
              <a:t> </a:t>
            </a:r>
            <a:r>
              <a:rPr sz="2200" dirty="0">
                <a:latin typeface="Symbol"/>
                <a:cs typeface="Symbol"/>
              </a:rPr>
              <a:t></a:t>
            </a:r>
            <a:r>
              <a:rPr sz="2200" spc="-3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ahoma"/>
                <a:cs typeface="Tahoma"/>
              </a:rPr>
              <a:t>E</a:t>
            </a: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460859" y="3649719"/>
            <a:ext cx="5270280" cy="2152649"/>
          </a:xfrm>
          <a:prstGeom prst="rect">
            <a:avLst/>
          </a:prstGeom>
        </p:spPr>
      </p:pic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xfrm>
            <a:off x="11730776" y="6491807"/>
            <a:ext cx="347133" cy="205184"/>
          </a:xfrm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dirty="0">
                <a:solidFill>
                  <a:schemeClr val="tx1"/>
                </a:solidFill>
              </a:rPr>
              <a:t>16</a:t>
            </a:fld>
            <a:endParaRPr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518865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8" y="611124"/>
            <a:ext cx="9293861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Adjacency </a:t>
            </a:r>
            <a:r>
              <a:rPr spc="-15" dirty="0"/>
              <a:t>Matrix</a:t>
            </a:r>
            <a:r>
              <a:rPr dirty="0"/>
              <a:t> </a:t>
            </a:r>
            <a:r>
              <a:rPr spc="-25" dirty="0"/>
              <a:t>Representation</a:t>
            </a:r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916939" y="1844094"/>
            <a:ext cx="7749540" cy="73342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120"/>
              </a:spcBef>
              <a:buFont typeface="Arial MT"/>
              <a:buChar char="•"/>
              <a:tabLst>
                <a:tab pos="240665" algn="l"/>
                <a:tab pos="241300" algn="l"/>
              </a:tabLst>
            </a:pPr>
            <a:r>
              <a:rPr sz="2200" spc="-5" dirty="0">
                <a:latin typeface="Tahoma"/>
                <a:cs typeface="Tahoma"/>
              </a:rPr>
              <a:t>Assume</a:t>
            </a:r>
            <a:r>
              <a:rPr sz="2200" spc="-20" dirty="0">
                <a:latin typeface="Tahoma"/>
                <a:cs typeface="Tahoma"/>
              </a:rPr>
              <a:t> </a:t>
            </a:r>
            <a:r>
              <a:rPr sz="2200" dirty="0">
                <a:latin typeface="Tahoma"/>
                <a:cs typeface="Tahoma"/>
              </a:rPr>
              <a:t>V</a:t>
            </a:r>
            <a:r>
              <a:rPr sz="2200" spc="-25" dirty="0">
                <a:latin typeface="Tahoma"/>
                <a:cs typeface="Tahoma"/>
              </a:rPr>
              <a:t> </a:t>
            </a:r>
            <a:r>
              <a:rPr sz="2200" dirty="0">
                <a:latin typeface="Tahoma"/>
                <a:cs typeface="Tahoma"/>
              </a:rPr>
              <a:t>=</a:t>
            </a:r>
            <a:r>
              <a:rPr sz="2200" spc="-25" dirty="0">
                <a:latin typeface="Tahoma"/>
                <a:cs typeface="Tahoma"/>
              </a:rPr>
              <a:t> </a:t>
            </a:r>
            <a:r>
              <a:rPr sz="2200" spc="-5" dirty="0">
                <a:latin typeface="Tahoma"/>
                <a:cs typeface="Tahoma"/>
              </a:rPr>
              <a:t>{1,</a:t>
            </a:r>
            <a:r>
              <a:rPr sz="2200" spc="-25" dirty="0">
                <a:latin typeface="Tahoma"/>
                <a:cs typeface="Tahoma"/>
              </a:rPr>
              <a:t> </a:t>
            </a:r>
            <a:r>
              <a:rPr sz="2200" spc="-10" dirty="0">
                <a:latin typeface="Tahoma"/>
                <a:cs typeface="Tahoma"/>
              </a:rPr>
              <a:t>2,</a:t>
            </a:r>
            <a:r>
              <a:rPr sz="2200" spc="-35" dirty="0">
                <a:latin typeface="Tahoma"/>
                <a:cs typeface="Tahoma"/>
              </a:rPr>
              <a:t> </a:t>
            </a:r>
            <a:r>
              <a:rPr sz="2200" dirty="0">
                <a:latin typeface="Tahoma"/>
                <a:cs typeface="Tahoma"/>
              </a:rPr>
              <a:t>…, </a:t>
            </a:r>
            <a:r>
              <a:rPr sz="2300" spc="-40" dirty="0">
                <a:latin typeface="Tahoma"/>
                <a:cs typeface="Tahoma"/>
              </a:rPr>
              <a:t>n</a:t>
            </a:r>
            <a:r>
              <a:rPr sz="2200" spc="-40" dirty="0">
                <a:latin typeface="Tahoma"/>
                <a:cs typeface="Tahoma"/>
              </a:rPr>
              <a:t>}</a:t>
            </a:r>
            <a:endParaRPr sz="2200" dirty="0">
              <a:latin typeface="Tahoma"/>
              <a:cs typeface="Tahoma"/>
            </a:endParaRPr>
          </a:p>
          <a:p>
            <a:pPr marL="241300" indent="-228600">
              <a:lnSpc>
                <a:spcPct val="100000"/>
              </a:lnSpc>
              <a:spcBef>
                <a:spcPts val="25"/>
              </a:spcBef>
              <a:buFont typeface="Arial MT"/>
              <a:buChar char="•"/>
              <a:tabLst>
                <a:tab pos="240665" algn="l"/>
                <a:tab pos="241300" algn="l"/>
              </a:tabLst>
            </a:pPr>
            <a:r>
              <a:rPr sz="2200" dirty="0">
                <a:latin typeface="Tahoma"/>
                <a:cs typeface="Tahoma"/>
              </a:rPr>
              <a:t>An</a:t>
            </a:r>
            <a:r>
              <a:rPr sz="2200" spc="-20" dirty="0">
                <a:latin typeface="Tahoma"/>
                <a:cs typeface="Tahoma"/>
              </a:rPr>
              <a:t> </a:t>
            </a:r>
            <a:r>
              <a:rPr sz="2300" spc="-80" dirty="0">
                <a:latin typeface="Tahoma"/>
                <a:cs typeface="Tahoma"/>
              </a:rPr>
              <a:t>adjacency</a:t>
            </a:r>
            <a:r>
              <a:rPr sz="2300" spc="-90" dirty="0">
                <a:latin typeface="Tahoma"/>
                <a:cs typeface="Tahoma"/>
              </a:rPr>
              <a:t> </a:t>
            </a:r>
            <a:r>
              <a:rPr sz="2300" spc="-75" dirty="0">
                <a:latin typeface="Tahoma"/>
                <a:cs typeface="Tahoma"/>
              </a:rPr>
              <a:t>matrix</a:t>
            </a:r>
            <a:r>
              <a:rPr sz="2300" spc="-100" dirty="0">
                <a:latin typeface="Tahoma"/>
                <a:cs typeface="Tahoma"/>
              </a:rPr>
              <a:t> </a:t>
            </a:r>
            <a:r>
              <a:rPr sz="2200" spc="-10" dirty="0">
                <a:latin typeface="Tahoma"/>
                <a:cs typeface="Tahoma"/>
              </a:rPr>
              <a:t>represents</a:t>
            </a:r>
            <a:r>
              <a:rPr sz="2200" spc="-5" dirty="0">
                <a:latin typeface="Tahoma"/>
                <a:cs typeface="Tahoma"/>
              </a:rPr>
              <a:t> the</a:t>
            </a:r>
            <a:r>
              <a:rPr sz="2200" dirty="0">
                <a:latin typeface="Tahoma"/>
                <a:cs typeface="Tahoma"/>
              </a:rPr>
              <a:t> </a:t>
            </a:r>
            <a:r>
              <a:rPr sz="2200" spc="-20" dirty="0">
                <a:latin typeface="Tahoma"/>
                <a:cs typeface="Tahoma"/>
              </a:rPr>
              <a:t>graph</a:t>
            </a:r>
            <a:r>
              <a:rPr sz="2200" spc="-15" dirty="0">
                <a:latin typeface="Tahoma"/>
                <a:cs typeface="Tahoma"/>
              </a:rPr>
              <a:t> </a:t>
            </a:r>
            <a:r>
              <a:rPr sz="2200" spc="-5" dirty="0">
                <a:latin typeface="Tahoma"/>
                <a:cs typeface="Tahoma"/>
              </a:rPr>
              <a:t>as</a:t>
            </a:r>
            <a:r>
              <a:rPr sz="2200" spc="-10" dirty="0">
                <a:latin typeface="Tahoma"/>
                <a:cs typeface="Tahoma"/>
              </a:rPr>
              <a:t> </a:t>
            </a:r>
            <a:r>
              <a:rPr sz="2200" dirty="0">
                <a:latin typeface="Tahoma"/>
                <a:cs typeface="Tahoma"/>
              </a:rPr>
              <a:t>a</a:t>
            </a:r>
            <a:r>
              <a:rPr sz="2200" spc="-5" dirty="0">
                <a:latin typeface="Tahoma"/>
                <a:cs typeface="Tahoma"/>
              </a:rPr>
              <a:t> </a:t>
            </a:r>
            <a:r>
              <a:rPr sz="2300" spc="-60" dirty="0" err="1" smtClean="0">
                <a:latin typeface="Tahoma"/>
                <a:cs typeface="Tahoma"/>
              </a:rPr>
              <a:t>n</a:t>
            </a:r>
            <a:r>
              <a:rPr sz="2200" spc="-35" dirty="0" err="1" smtClean="0">
                <a:latin typeface="Tahoma"/>
                <a:cs typeface="Tahoma"/>
              </a:rPr>
              <a:t>x</a:t>
            </a:r>
            <a:r>
              <a:rPr sz="2300" spc="-35" dirty="0" err="1" smtClean="0">
                <a:latin typeface="Tahoma"/>
                <a:cs typeface="Tahoma"/>
              </a:rPr>
              <a:t>n</a:t>
            </a:r>
            <a:r>
              <a:rPr sz="2300" spc="-65" dirty="0" smtClean="0">
                <a:latin typeface="Tahoma"/>
                <a:cs typeface="Tahoma"/>
              </a:rPr>
              <a:t> </a:t>
            </a:r>
            <a:r>
              <a:rPr sz="2200" spc="-10" dirty="0">
                <a:latin typeface="Tahoma"/>
                <a:cs typeface="Tahoma"/>
              </a:rPr>
              <a:t>matrix</a:t>
            </a:r>
            <a:r>
              <a:rPr sz="2200" spc="-20" dirty="0">
                <a:latin typeface="Tahoma"/>
                <a:cs typeface="Tahoma"/>
              </a:rPr>
              <a:t> </a:t>
            </a:r>
            <a:r>
              <a:rPr sz="2200" dirty="0">
                <a:latin typeface="Tahoma"/>
                <a:cs typeface="Tahoma"/>
              </a:rPr>
              <a:t>A: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5488940" y="2569971"/>
            <a:ext cx="2409190" cy="360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200" dirty="0">
                <a:latin typeface="Tahoma"/>
                <a:cs typeface="Tahoma"/>
              </a:rPr>
              <a:t>(or</a:t>
            </a:r>
            <a:r>
              <a:rPr sz="2200" spc="-30" dirty="0">
                <a:latin typeface="Tahoma"/>
                <a:cs typeface="Tahoma"/>
              </a:rPr>
              <a:t> </a:t>
            </a:r>
            <a:r>
              <a:rPr sz="2200" spc="-5" dirty="0">
                <a:latin typeface="Tahoma"/>
                <a:cs typeface="Tahoma"/>
              </a:rPr>
              <a:t>weight</a:t>
            </a:r>
            <a:r>
              <a:rPr sz="2200" spc="-20" dirty="0">
                <a:latin typeface="Tahoma"/>
                <a:cs typeface="Tahoma"/>
              </a:rPr>
              <a:t> </a:t>
            </a:r>
            <a:r>
              <a:rPr sz="2200" dirty="0">
                <a:latin typeface="Tahoma"/>
                <a:cs typeface="Tahoma"/>
              </a:rPr>
              <a:t>of</a:t>
            </a:r>
            <a:r>
              <a:rPr sz="2200" spc="-85" dirty="0">
                <a:latin typeface="Tahoma"/>
                <a:cs typeface="Tahoma"/>
              </a:rPr>
              <a:t> </a:t>
            </a:r>
            <a:r>
              <a:rPr sz="2200" spc="-10" dirty="0">
                <a:latin typeface="Tahoma"/>
                <a:cs typeface="Tahoma"/>
              </a:rPr>
              <a:t>edge)</a:t>
            </a:r>
            <a:endParaRPr sz="2200">
              <a:latin typeface="Tahoma"/>
              <a:cs typeface="Tahom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099185" y="2438998"/>
            <a:ext cx="3530600" cy="964565"/>
          </a:xfrm>
          <a:prstGeom prst="rect">
            <a:avLst/>
          </a:prstGeom>
        </p:spPr>
        <p:txBody>
          <a:bodyPr vert="horz" wrap="square" lIns="0" tIns="130810" rIns="0" bIns="0" rtlCol="0">
            <a:spAutoFit/>
          </a:bodyPr>
          <a:lstStyle/>
          <a:p>
            <a:pPr marL="144145" marR="5080" indent="-144145" algn="r">
              <a:lnSpc>
                <a:spcPct val="100000"/>
              </a:lnSpc>
              <a:spcBef>
                <a:spcPts val="1030"/>
              </a:spcBef>
              <a:buSzPct val="59090"/>
              <a:buFont typeface="Wingdings"/>
              <a:buChar char=""/>
              <a:tabLst>
                <a:tab pos="144145" algn="l"/>
              </a:tabLst>
            </a:pPr>
            <a:r>
              <a:rPr sz="2200" spc="-10" dirty="0">
                <a:latin typeface="Tahoma"/>
                <a:cs typeface="Tahoma"/>
              </a:rPr>
              <a:t>A[</a:t>
            </a:r>
            <a:r>
              <a:rPr sz="2300" spc="-10" dirty="0">
                <a:latin typeface="Tahoma"/>
                <a:cs typeface="Tahoma"/>
              </a:rPr>
              <a:t>i</a:t>
            </a:r>
            <a:r>
              <a:rPr sz="2200" spc="-10" dirty="0">
                <a:latin typeface="Tahoma"/>
                <a:cs typeface="Tahoma"/>
              </a:rPr>
              <a:t>,</a:t>
            </a:r>
            <a:r>
              <a:rPr sz="2200" spc="-5" dirty="0">
                <a:latin typeface="Tahoma"/>
                <a:cs typeface="Tahoma"/>
              </a:rPr>
              <a:t> </a:t>
            </a:r>
            <a:r>
              <a:rPr sz="2300" spc="-30" dirty="0">
                <a:latin typeface="Tahoma"/>
                <a:cs typeface="Tahoma"/>
              </a:rPr>
              <a:t>j</a:t>
            </a:r>
            <a:r>
              <a:rPr sz="2300" spc="-60" dirty="0">
                <a:latin typeface="Tahoma"/>
                <a:cs typeface="Tahoma"/>
              </a:rPr>
              <a:t> </a:t>
            </a:r>
            <a:r>
              <a:rPr sz="2200" dirty="0">
                <a:latin typeface="Tahoma"/>
                <a:cs typeface="Tahoma"/>
              </a:rPr>
              <a:t>]</a:t>
            </a:r>
            <a:r>
              <a:rPr sz="2200" spc="-5" dirty="0">
                <a:latin typeface="Tahoma"/>
                <a:cs typeface="Tahoma"/>
              </a:rPr>
              <a:t> </a:t>
            </a:r>
            <a:r>
              <a:rPr sz="2200" dirty="0">
                <a:latin typeface="Tahoma"/>
                <a:cs typeface="Tahoma"/>
              </a:rPr>
              <a:t>= 1</a:t>
            </a:r>
            <a:r>
              <a:rPr sz="2200" spc="-5" dirty="0">
                <a:latin typeface="Tahoma"/>
                <a:cs typeface="Tahoma"/>
              </a:rPr>
              <a:t> </a:t>
            </a:r>
            <a:r>
              <a:rPr sz="2200" dirty="0">
                <a:latin typeface="Tahoma"/>
                <a:cs typeface="Tahoma"/>
              </a:rPr>
              <a:t>if</a:t>
            </a:r>
            <a:r>
              <a:rPr sz="2200" spc="5" dirty="0">
                <a:latin typeface="Tahoma"/>
                <a:cs typeface="Tahoma"/>
              </a:rPr>
              <a:t> </a:t>
            </a:r>
            <a:r>
              <a:rPr sz="2200" spc="-10" dirty="0">
                <a:latin typeface="Tahoma"/>
                <a:cs typeface="Tahoma"/>
              </a:rPr>
              <a:t>edge </a:t>
            </a:r>
            <a:r>
              <a:rPr sz="2200" spc="-15" dirty="0">
                <a:latin typeface="Tahoma"/>
                <a:cs typeface="Tahoma"/>
              </a:rPr>
              <a:t>(</a:t>
            </a:r>
            <a:r>
              <a:rPr sz="2300" spc="-15" dirty="0">
                <a:latin typeface="Tahoma"/>
                <a:cs typeface="Tahoma"/>
              </a:rPr>
              <a:t>i</a:t>
            </a:r>
            <a:r>
              <a:rPr sz="2200" spc="-15" dirty="0">
                <a:latin typeface="Tahoma"/>
                <a:cs typeface="Tahoma"/>
              </a:rPr>
              <a:t>,</a:t>
            </a:r>
            <a:r>
              <a:rPr sz="2200" spc="-5" dirty="0">
                <a:latin typeface="Tahoma"/>
                <a:cs typeface="Tahoma"/>
              </a:rPr>
              <a:t> </a:t>
            </a:r>
            <a:r>
              <a:rPr sz="2300" spc="-20" dirty="0">
                <a:latin typeface="Tahoma"/>
                <a:cs typeface="Tahoma"/>
              </a:rPr>
              <a:t>j</a:t>
            </a:r>
            <a:r>
              <a:rPr sz="2200" spc="-20" dirty="0">
                <a:latin typeface="Tahoma"/>
                <a:cs typeface="Tahoma"/>
              </a:rPr>
              <a:t>)</a:t>
            </a:r>
            <a:r>
              <a:rPr sz="2200" spc="-95" dirty="0">
                <a:latin typeface="Tahoma"/>
                <a:cs typeface="Tahoma"/>
              </a:rPr>
              <a:t> </a:t>
            </a:r>
            <a:r>
              <a:rPr sz="2200" dirty="0">
                <a:latin typeface="Symbol"/>
                <a:cs typeface="Symbol"/>
              </a:rPr>
              <a:t></a:t>
            </a:r>
            <a:r>
              <a:rPr sz="2200" spc="5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ahoma"/>
                <a:cs typeface="Tahoma"/>
              </a:rPr>
              <a:t>E</a:t>
            </a:r>
          </a:p>
          <a:p>
            <a:pPr marR="59690" algn="r">
              <a:lnSpc>
                <a:spcPct val="100000"/>
              </a:lnSpc>
              <a:spcBef>
                <a:spcPts val="935"/>
              </a:spcBef>
            </a:pPr>
            <a:r>
              <a:rPr sz="2200" dirty="0">
                <a:latin typeface="Tahoma"/>
                <a:cs typeface="Tahoma"/>
              </a:rPr>
              <a:t>=</a:t>
            </a:r>
            <a:r>
              <a:rPr sz="2200" spc="-10" dirty="0">
                <a:latin typeface="Tahoma"/>
                <a:cs typeface="Tahoma"/>
              </a:rPr>
              <a:t> </a:t>
            </a:r>
            <a:r>
              <a:rPr sz="2200" dirty="0">
                <a:latin typeface="Tahoma"/>
                <a:cs typeface="Tahoma"/>
              </a:rPr>
              <a:t>0</a:t>
            </a:r>
            <a:r>
              <a:rPr sz="2200" spc="-15" dirty="0">
                <a:latin typeface="Tahoma"/>
                <a:cs typeface="Tahoma"/>
              </a:rPr>
              <a:t> </a:t>
            </a:r>
            <a:r>
              <a:rPr sz="2200" dirty="0">
                <a:latin typeface="Tahoma"/>
                <a:cs typeface="Tahoma"/>
              </a:rPr>
              <a:t>if </a:t>
            </a:r>
            <a:r>
              <a:rPr sz="2200" spc="-10" dirty="0">
                <a:latin typeface="Tahoma"/>
                <a:cs typeface="Tahoma"/>
              </a:rPr>
              <a:t>edge</a:t>
            </a:r>
            <a:r>
              <a:rPr sz="2200" spc="-20" dirty="0">
                <a:latin typeface="Tahoma"/>
                <a:cs typeface="Tahoma"/>
              </a:rPr>
              <a:t> </a:t>
            </a:r>
            <a:r>
              <a:rPr sz="2200" spc="-15" dirty="0">
                <a:latin typeface="Tahoma"/>
                <a:cs typeface="Tahoma"/>
              </a:rPr>
              <a:t>(</a:t>
            </a:r>
            <a:r>
              <a:rPr sz="2300" spc="-15" dirty="0">
                <a:latin typeface="Tahoma"/>
                <a:cs typeface="Tahoma"/>
              </a:rPr>
              <a:t>i</a:t>
            </a:r>
            <a:r>
              <a:rPr sz="2200" spc="-15" dirty="0">
                <a:latin typeface="Tahoma"/>
                <a:cs typeface="Tahoma"/>
              </a:rPr>
              <a:t>,</a:t>
            </a:r>
            <a:r>
              <a:rPr sz="2200" spc="-10" dirty="0">
                <a:latin typeface="Tahoma"/>
                <a:cs typeface="Tahoma"/>
              </a:rPr>
              <a:t> </a:t>
            </a:r>
            <a:r>
              <a:rPr sz="2300" spc="-20" dirty="0">
                <a:latin typeface="Tahoma"/>
                <a:cs typeface="Tahoma"/>
              </a:rPr>
              <a:t>j</a:t>
            </a:r>
            <a:r>
              <a:rPr sz="2200" spc="-20" dirty="0">
                <a:latin typeface="Tahoma"/>
                <a:cs typeface="Tahoma"/>
              </a:rPr>
              <a:t>)</a:t>
            </a:r>
            <a:r>
              <a:rPr sz="2200" spc="-35" dirty="0">
                <a:latin typeface="Tahoma"/>
                <a:cs typeface="Tahoma"/>
              </a:rPr>
              <a:t> </a:t>
            </a:r>
            <a:r>
              <a:rPr sz="2200" dirty="0">
                <a:latin typeface="Symbol"/>
                <a:cs typeface="Symbol"/>
              </a:rPr>
              <a:t></a:t>
            </a:r>
            <a:r>
              <a:rPr sz="2200" spc="-3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ahoma"/>
                <a:cs typeface="Tahoma"/>
              </a:rPr>
              <a:t>E</a:t>
            </a: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505200" y="3733800"/>
            <a:ext cx="5343024" cy="2188341"/>
          </a:xfrm>
          <a:prstGeom prst="rect">
            <a:avLst/>
          </a:prstGeom>
        </p:spPr>
      </p:pic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xfrm>
            <a:off x="11730776" y="6491807"/>
            <a:ext cx="347133" cy="205184"/>
          </a:xfrm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dirty="0">
                <a:solidFill>
                  <a:schemeClr val="tx1"/>
                </a:solidFill>
              </a:rPr>
              <a:t>17</a:t>
            </a:fld>
            <a:endParaRPr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304814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953382" y="1945686"/>
            <a:ext cx="2433012" cy="1436031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953382" y="4149458"/>
            <a:ext cx="2965213" cy="1476520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916939" y="611124"/>
            <a:ext cx="7442834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Adjacency </a:t>
            </a:r>
            <a:r>
              <a:rPr spc="-15" dirty="0"/>
              <a:t>Matrix</a:t>
            </a:r>
            <a:r>
              <a:rPr spc="-5" dirty="0"/>
              <a:t> </a:t>
            </a:r>
            <a:r>
              <a:rPr spc="-25" dirty="0"/>
              <a:t>Representation</a:t>
            </a:r>
            <a:endParaRPr dirty="0"/>
          </a:p>
        </p:txBody>
      </p:sp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772400" y="1626954"/>
            <a:ext cx="2366769" cy="1805770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7354614" y="3881732"/>
            <a:ext cx="3528873" cy="1816518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1883980" y="5771388"/>
            <a:ext cx="9546020" cy="635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2000" spc="-5" dirty="0">
                <a:solidFill>
                  <a:srgbClr val="009900"/>
                </a:solidFill>
                <a:latin typeface="Tahoma"/>
                <a:cs typeface="Tahoma"/>
              </a:rPr>
              <a:t>The </a:t>
            </a:r>
            <a:r>
              <a:rPr sz="2000" spc="-10" dirty="0">
                <a:solidFill>
                  <a:srgbClr val="009900"/>
                </a:solidFill>
                <a:latin typeface="Tahoma"/>
                <a:cs typeface="Tahoma"/>
              </a:rPr>
              <a:t>adjacency </a:t>
            </a:r>
            <a:r>
              <a:rPr sz="2000" dirty="0">
                <a:solidFill>
                  <a:srgbClr val="009900"/>
                </a:solidFill>
                <a:latin typeface="Tahoma"/>
                <a:cs typeface="Tahoma"/>
              </a:rPr>
              <a:t>matrix </a:t>
            </a:r>
            <a:r>
              <a:rPr sz="2000" spc="-10" dirty="0">
                <a:solidFill>
                  <a:srgbClr val="009900"/>
                </a:solidFill>
                <a:latin typeface="Tahoma"/>
                <a:cs typeface="Tahoma"/>
              </a:rPr>
              <a:t>for</a:t>
            </a:r>
            <a:r>
              <a:rPr sz="2000" dirty="0">
                <a:solidFill>
                  <a:srgbClr val="009900"/>
                </a:solidFill>
                <a:latin typeface="Tahoma"/>
                <a:cs typeface="Tahoma"/>
              </a:rPr>
              <a:t> </a:t>
            </a:r>
            <a:r>
              <a:rPr sz="2000" spc="-5" dirty="0">
                <a:solidFill>
                  <a:srgbClr val="009900"/>
                </a:solidFill>
                <a:latin typeface="Tahoma"/>
                <a:cs typeface="Tahoma"/>
              </a:rPr>
              <a:t>an</a:t>
            </a:r>
            <a:r>
              <a:rPr sz="2000" spc="-15" dirty="0">
                <a:solidFill>
                  <a:srgbClr val="009900"/>
                </a:solidFill>
                <a:latin typeface="Tahoma"/>
                <a:cs typeface="Tahoma"/>
              </a:rPr>
              <a:t> </a:t>
            </a:r>
            <a:r>
              <a:rPr sz="2000" spc="-5" dirty="0">
                <a:solidFill>
                  <a:srgbClr val="009900"/>
                </a:solidFill>
                <a:latin typeface="Tahoma"/>
                <a:cs typeface="Tahoma"/>
              </a:rPr>
              <a:t>undirected </a:t>
            </a:r>
            <a:r>
              <a:rPr sz="2000" spc="-20" dirty="0">
                <a:solidFill>
                  <a:srgbClr val="009900"/>
                </a:solidFill>
                <a:latin typeface="Tahoma"/>
                <a:cs typeface="Tahoma"/>
              </a:rPr>
              <a:t>graph</a:t>
            </a:r>
            <a:r>
              <a:rPr sz="2000" spc="-25" dirty="0">
                <a:solidFill>
                  <a:srgbClr val="009900"/>
                </a:solidFill>
                <a:latin typeface="Tahoma"/>
                <a:cs typeface="Tahoma"/>
              </a:rPr>
              <a:t> </a:t>
            </a:r>
            <a:r>
              <a:rPr sz="2000" spc="5" dirty="0">
                <a:solidFill>
                  <a:srgbClr val="009900"/>
                </a:solidFill>
                <a:latin typeface="Tahoma"/>
                <a:cs typeface="Tahoma"/>
              </a:rPr>
              <a:t>is</a:t>
            </a:r>
            <a:r>
              <a:rPr sz="2000" spc="-110" dirty="0">
                <a:solidFill>
                  <a:srgbClr val="009900"/>
                </a:solidFill>
                <a:latin typeface="Tahoma"/>
                <a:cs typeface="Tahoma"/>
              </a:rPr>
              <a:t> </a:t>
            </a:r>
            <a:r>
              <a:rPr sz="2000" spc="-5" dirty="0">
                <a:solidFill>
                  <a:srgbClr val="009900"/>
                </a:solidFill>
                <a:latin typeface="Tahoma"/>
                <a:cs typeface="Tahoma"/>
              </a:rPr>
              <a:t>symmetric; </a:t>
            </a:r>
            <a:r>
              <a:rPr sz="2000" spc="-610" dirty="0">
                <a:solidFill>
                  <a:srgbClr val="009900"/>
                </a:solidFill>
                <a:latin typeface="Tahoma"/>
                <a:cs typeface="Tahoma"/>
              </a:rPr>
              <a:t> </a:t>
            </a:r>
            <a:endParaRPr lang="en-US" sz="2000" spc="-610" dirty="0" smtClean="0">
              <a:solidFill>
                <a:srgbClr val="009900"/>
              </a:solidFill>
              <a:latin typeface="Tahoma"/>
              <a:cs typeface="Tahoma"/>
            </a:endParaRPr>
          </a:p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lang="en-US" sz="2000" dirty="0">
                <a:solidFill>
                  <a:srgbClr val="009900"/>
                </a:solidFill>
                <a:latin typeface="Tahoma"/>
                <a:cs typeface="Tahoma"/>
              </a:rPr>
              <a:t>T</a:t>
            </a:r>
            <a:r>
              <a:rPr sz="2000" dirty="0" smtClean="0">
                <a:solidFill>
                  <a:srgbClr val="009900"/>
                </a:solidFill>
                <a:latin typeface="Tahoma"/>
                <a:cs typeface="Tahoma"/>
              </a:rPr>
              <a:t>he</a:t>
            </a:r>
            <a:r>
              <a:rPr sz="2000" spc="-5" dirty="0" smtClean="0">
                <a:solidFill>
                  <a:srgbClr val="009900"/>
                </a:solidFill>
                <a:latin typeface="Tahoma"/>
                <a:cs typeface="Tahoma"/>
              </a:rPr>
              <a:t> </a:t>
            </a:r>
            <a:r>
              <a:rPr sz="2000" spc="-10" dirty="0">
                <a:solidFill>
                  <a:srgbClr val="009900"/>
                </a:solidFill>
                <a:latin typeface="Tahoma"/>
                <a:cs typeface="Tahoma"/>
              </a:rPr>
              <a:t>adjacency </a:t>
            </a:r>
            <a:r>
              <a:rPr sz="2000" dirty="0">
                <a:solidFill>
                  <a:srgbClr val="009900"/>
                </a:solidFill>
                <a:latin typeface="Tahoma"/>
                <a:cs typeface="Tahoma"/>
              </a:rPr>
              <a:t>matrix</a:t>
            </a:r>
            <a:r>
              <a:rPr sz="2000" spc="-5" dirty="0">
                <a:solidFill>
                  <a:srgbClr val="009900"/>
                </a:solidFill>
                <a:latin typeface="Tahoma"/>
                <a:cs typeface="Tahoma"/>
              </a:rPr>
              <a:t> </a:t>
            </a:r>
            <a:r>
              <a:rPr sz="2000" spc="-10" dirty="0">
                <a:solidFill>
                  <a:srgbClr val="009900"/>
                </a:solidFill>
                <a:latin typeface="Tahoma"/>
                <a:cs typeface="Tahoma"/>
              </a:rPr>
              <a:t>for</a:t>
            </a:r>
            <a:r>
              <a:rPr sz="2000" dirty="0">
                <a:solidFill>
                  <a:srgbClr val="009900"/>
                </a:solidFill>
                <a:latin typeface="Tahoma"/>
                <a:cs typeface="Tahoma"/>
              </a:rPr>
              <a:t> a</a:t>
            </a:r>
            <a:r>
              <a:rPr sz="2000" spc="-5" dirty="0">
                <a:solidFill>
                  <a:srgbClr val="009900"/>
                </a:solidFill>
                <a:latin typeface="Tahoma"/>
                <a:cs typeface="Tahoma"/>
              </a:rPr>
              <a:t> </a:t>
            </a:r>
            <a:r>
              <a:rPr sz="2000" spc="-15" dirty="0">
                <a:solidFill>
                  <a:srgbClr val="009900"/>
                </a:solidFill>
                <a:latin typeface="Tahoma"/>
                <a:cs typeface="Tahoma"/>
              </a:rPr>
              <a:t>digr</a:t>
            </a:r>
            <a:r>
              <a:rPr sz="2000" u="sng" spc="-15" dirty="0">
                <a:solidFill>
                  <a:srgbClr val="009900"/>
                </a:solidFill>
                <a:uFill>
                  <a:solidFill>
                    <a:srgbClr val="BF0000"/>
                  </a:solidFill>
                </a:uFill>
                <a:latin typeface="Tahoma"/>
                <a:cs typeface="Tahoma"/>
              </a:rPr>
              <a:t>ap</a:t>
            </a:r>
            <a:r>
              <a:rPr sz="2000" spc="-15" dirty="0">
                <a:solidFill>
                  <a:srgbClr val="009900"/>
                </a:solidFill>
                <a:latin typeface="Tahoma"/>
                <a:cs typeface="Tahoma"/>
              </a:rPr>
              <a:t>h </a:t>
            </a:r>
            <a:r>
              <a:rPr sz="2000" spc="-5" dirty="0">
                <a:solidFill>
                  <a:srgbClr val="009900"/>
                </a:solidFill>
                <a:latin typeface="Tahoma"/>
                <a:cs typeface="Tahoma"/>
              </a:rPr>
              <a:t>need</a:t>
            </a:r>
            <a:r>
              <a:rPr sz="2000" spc="-10" dirty="0">
                <a:solidFill>
                  <a:srgbClr val="009900"/>
                </a:solidFill>
                <a:latin typeface="Tahoma"/>
                <a:cs typeface="Tahoma"/>
              </a:rPr>
              <a:t> </a:t>
            </a:r>
            <a:r>
              <a:rPr sz="2000" spc="-5" dirty="0">
                <a:solidFill>
                  <a:srgbClr val="009900"/>
                </a:solidFill>
                <a:latin typeface="Tahoma"/>
                <a:cs typeface="Tahoma"/>
              </a:rPr>
              <a:t>not</a:t>
            </a:r>
            <a:r>
              <a:rPr sz="2000" dirty="0">
                <a:solidFill>
                  <a:srgbClr val="009900"/>
                </a:solidFill>
                <a:latin typeface="Tahoma"/>
                <a:cs typeface="Tahoma"/>
              </a:rPr>
              <a:t> </a:t>
            </a:r>
            <a:r>
              <a:rPr sz="2000" spc="-10" dirty="0">
                <a:solidFill>
                  <a:srgbClr val="009900"/>
                </a:solidFill>
                <a:latin typeface="Tahoma"/>
                <a:cs typeface="Tahoma"/>
              </a:rPr>
              <a:t>be</a:t>
            </a:r>
            <a:r>
              <a:rPr sz="2000" spc="-100" dirty="0">
                <a:solidFill>
                  <a:srgbClr val="009900"/>
                </a:solidFill>
                <a:latin typeface="Tahoma"/>
                <a:cs typeface="Tahoma"/>
              </a:rPr>
              <a:t> </a:t>
            </a:r>
            <a:r>
              <a:rPr sz="2000" spc="-5" dirty="0">
                <a:solidFill>
                  <a:srgbClr val="009900"/>
                </a:solidFill>
                <a:latin typeface="Tahoma"/>
                <a:cs typeface="Tahoma"/>
              </a:rPr>
              <a:t>symmetric</a:t>
            </a:r>
            <a:endParaRPr sz="2000" dirty="0">
              <a:latin typeface="Tahoma"/>
              <a:cs typeface="Tahoma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dirty="0"/>
              <a:t>18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7612223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611124"/>
            <a:ext cx="7442834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Adjacency </a:t>
            </a:r>
            <a:r>
              <a:rPr spc="-15" dirty="0"/>
              <a:t>Matrix</a:t>
            </a:r>
            <a:r>
              <a:rPr spc="-5" dirty="0"/>
              <a:t> </a:t>
            </a:r>
            <a:r>
              <a:rPr spc="-25" dirty="0"/>
              <a:t>Representation</a:t>
            </a:r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904239" y="1805940"/>
            <a:ext cx="7455534" cy="3314369"/>
          </a:xfrm>
          <a:prstGeom prst="rect">
            <a:avLst/>
          </a:prstGeom>
        </p:spPr>
        <p:txBody>
          <a:bodyPr vert="horz" wrap="square" lIns="0" tIns="64135" rIns="0" bIns="0" rtlCol="0">
            <a:spAutoFit/>
          </a:bodyPr>
          <a:lstStyle/>
          <a:p>
            <a:pPr marL="133350">
              <a:lnSpc>
                <a:spcPct val="100000"/>
              </a:lnSpc>
              <a:spcBef>
                <a:spcPts val="505"/>
              </a:spcBef>
            </a:pPr>
            <a:r>
              <a:rPr sz="2400" spc="-10" dirty="0">
                <a:solidFill>
                  <a:srgbClr val="C00000"/>
                </a:solidFill>
                <a:latin typeface="Arial MT"/>
                <a:cs typeface="Tahoma"/>
              </a:rPr>
              <a:t>Pros:</a:t>
            </a:r>
            <a:endParaRPr sz="2400" dirty="0">
              <a:latin typeface="Arial MT"/>
              <a:cs typeface="Tahoma"/>
            </a:endParaRPr>
          </a:p>
          <a:p>
            <a:pPr marL="276860" indent="-143510">
              <a:lnSpc>
                <a:spcPct val="100000"/>
              </a:lnSpc>
              <a:spcBef>
                <a:spcPts val="409"/>
              </a:spcBef>
              <a:buSzPct val="60000"/>
              <a:buFont typeface="Wingdings"/>
              <a:buChar char=""/>
              <a:tabLst>
                <a:tab pos="276860" algn="l"/>
              </a:tabLst>
            </a:pPr>
            <a:r>
              <a:rPr sz="2400" spc="-10" dirty="0">
                <a:latin typeface="Arial MT"/>
                <a:cs typeface="Tahoma"/>
              </a:rPr>
              <a:t>Simple</a:t>
            </a:r>
            <a:r>
              <a:rPr sz="2400" spc="-35" dirty="0">
                <a:latin typeface="Arial MT"/>
                <a:cs typeface="Tahoma"/>
              </a:rPr>
              <a:t> </a:t>
            </a:r>
            <a:r>
              <a:rPr sz="2400" dirty="0">
                <a:latin typeface="Arial MT"/>
                <a:cs typeface="Tahoma"/>
              </a:rPr>
              <a:t>to</a:t>
            </a:r>
            <a:r>
              <a:rPr sz="2400" spc="-40" dirty="0">
                <a:latin typeface="Arial MT"/>
                <a:cs typeface="Tahoma"/>
              </a:rPr>
              <a:t> </a:t>
            </a:r>
            <a:r>
              <a:rPr sz="2400" spc="-10" dirty="0">
                <a:latin typeface="Arial MT"/>
                <a:cs typeface="Tahoma"/>
              </a:rPr>
              <a:t>implement</a:t>
            </a:r>
            <a:endParaRPr sz="2400" dirty="0">
              <a:latin typeface="Arial MT"/>
              <a:cs typeface="Tahoma"/>
            </a:endParaRPr>
          </a:p>
          <a:p>
            <a:pPr marL="276225" marR="314960" indent="-143510">
              <a:lnSpc>
                <a:spcPct val="100000"/>
              </a:lnSpc>
              <a:spcBef>
                <a:spcPts val="285"/>
              </a:spcBef>
              <a:buSzPct val="60000"/>
              <a:buFont typeface="Wingdings"/>
              <a:buChar char=""/>
              <a:tabLst>
                <a:tab pos="276860" algn="l"/>
                <a:tab pos="1067435" algn="l"/>
              </a:tabLst>
            </a:pPr>
            <a:r>
              <a:rPr sz="2400" spc="-10" dirty="0">
                <a:latin typeface="Arial MT"/>
                <a:cs typeface="Tahoma"/>
              </a:rPr>
              <a:t>Easy</a:t>
            </a:r>
            <a:r>
              <a:rPr sz="2400" spc="-15" dirty="0">
                <a:latin typeface="Arial MT"/>
                <a:cs typeface="Tahoma"/>
              </a:rPr>
              <a:t> </a:t>
            </a:r>
            <a:r>
              <a:rPr sz="2400" spc="-10" dirty="0">
                <a:latin typeface="Arial MT"/>
                <a:cs typeface="Tahoma"/>
              </a:rPr>
              <a:t>and</a:t>
            </a:r>
            <a:r>
              <a:rPr sz="2400" spc="-20" dirty="0">
                <a:latin typeface="Arial MT"/>
                <a:cs typeface="Tahoma"/>
              </a:rPr>
              <a:t> fast</a:t>
            </a:r>
            <a:r>
              <a:rPr sz="2400" spc="-30" dirty="0">
                <a:latin typeface="Arial MT"/>
                <a:cs typeface="Tahoma"/>
              </a:rPr>
              <a:t> </a:t>
            </a:r>
            <a:r>
              <a:rPr sz="2400" dirty="0">
                <a:latin typeface="Arial MT"/>
                <a:cs typeface="Tahoma"/>
              </a:rPr>
              <a:t>to </a:t>
            </a:r>
            <a:r>
              <a:rPr sz="2400" spc="-5" dirty="0">
                <a:latin typeface="Arial MT"/>
                <a:cs typeface="Tahoma"/>
              </a:rPr>
              <a:t>tell</a:t>
            </a:r>
            <a:r>
              <a:rPr sz="2400" spc="-10" dirty="0">
                <a:latin typeface="Arial MT"/>
                <a:cs typeface="Tahoma"/>
              </a:rPr>
              <a:t> </a:t>
            </a:r>
            <a:r>
              <a:rPr sz="2400" spc="-5" dirty="0">
                <a:latin typeface="Arial MT"/>
                <a:cs typeface="Tahoma"/>
              </a:rPr>
              <a:t>if</a:t>
            </a:r>
            <a:r>
              <a:rPr sz="2400" spc="-25" dirty="0">
                <a:latin typeface="Arial MT"/>
                <a:cs typeface="Tahoma"/>
              </a:rPr>
              <a:t> </a:t>
            </a:r>
            <a:r>
              <a:rPr sz="2400" dirty="0">
                <a:latin typeface="Arial MT"/>
                <a:cs typeface="Tahoma"/>
              </a:rPr>
              <a:t>a</a:t>
            </a:r>
            <a:r>
              <a:rPr sz="2400" spc="-5" dirty="0">
                <a:latin typeface="Arial MT"/>
                <a:cs typeface="Tahoma"/>
              </a:rPr>
              <a:t> pair</a:t>
            </a:r>
            <a:r>
              <a:rPr sz="2400" spc="-10" dirty="0">
                <a:latin typeface="Arial MT"/>
                <a:cs typeface="Tahoma"/>
              </a:rPr>
              <a:t> (i,</a:t>
            </a:r>
            <a:r>
              <a:rPr sz="2400" spc="-35" dirty="0">
                <a:latin typeface="Arial MT"/>
                <a:cs typeface="Tahoma"/>
              </a:rPr>
              <a:t> </a:t>
            </a:r>
            <a:r>
              <a:rPr sz="2400" spc="-5" dirty="0">
                <a:latin typeface="Arial MT"/>
                <a:cs typeface="Tahoma"/>
              </a:rPr>
              <a:t>j)</a:t>
            </a:r>
            <a:r>
              <a:rPr sz="2400" spc="-20" dirty="0">
                <a:latin typeface="Arial MT"/>
                <a:cs typeface="Tahoma"/>
              </a:rPr>
              <a:t> </a:t>
            </a:r>
            <a:r>
              <a:rPr sz="2400" spc="-5" dirty="0">
                <a:latin typeface="Arial MT"/>
                <a:cs typeface="Tahoma"/>
              </a:rPr>
              <a:t>is</a:t>
            </a:r>
            <a:r>
              <a:rPr sz="2400" spc="-30" dirty="0">
                <a:latin typeface="Arial MT"/>
                <a:cs typeface="Tahoma"/>
              </a:rPr>
              <a:t> </a:t>
            </a:r>
            <a:r>
              <a:rPr sz="2400" spc="-5" dirty="0">
                <a:latin typeface="Arial MT"/>
                <a:cs typeface="Tahoma"/>
              </a:rPr>
              <a:t>an </a:t>
            </a:r>
            <a:r>
              <a:rPr sz="2400" spc="-610" dirty="0">
                <a:latin typeface="Arial MT"/>
                <a:cs typeface="Tahoma"/>
              </a:rPr>
              <a:t> </a:t>
            </a:r>
            <a:r>
              <a:rPr sz="2400" spc="-10" dirty="0">
                <a:latin typeface="Arial MT"/>
                <a:cs typeface="Tahoma"/>
              </a:rPr>
              <a:t>edge:	</a:t>
            </a:r>
            <a:r>
              <a:rPr sz="2400" spc="-15" dirty="0">
                <a:latin typeface="Arial MT"/>
                <a:cs typeface="Tahoma"/>
              </a:rPr>
              <a:t>simply</a:t>
            </a:r>
            <a:r>
              <a:rPr sz="2400" spc="-25" dirty="0">
                <a:latin typeface="Arial MT"/>
                <a:cs typeface="Tahoma"/>
              </a:rPr>
              <a:t> </a:t>
            </a:r>
            <a:r>
              <a:rPr sz="2400" spc="-10" dirty="0">
                <a:latin typeface="Arial MT"/>
                <a:cs typeface="Tahoma"/>
              </a:rPr>
              <a:t>check </a:t>
            </a:r>
            <a:r>
              <a:rPr sz="2400" spc="-5" dirty="0">
                <a:latin typeface="Arial MT"/>
                <a:cs typeface="Tahoma"/>
              </a:rPr>
              <a:t>if</a:t>
            </a:r>
            <a:r>
              <a:rPr sz="2400" spc="-25" dirty="0">
                <a:latin typeface="Arial MT"/>
                <a:cs typeface="Tahoma"/>
              </a:rPr>
              <a:t> </a:t>
            </a:r>
            <a:r>
              <a:rPr sz="2400" spc="-10" dirty="0">
                <a:latin typeface="Arial MT"/>
                <a:cs typeface="Tahoma"/>
              </a:rPr>
              <a:t>A[i,</a:t>
            </a:r>
            <a:r>
              <a:rPr sz="2400" spc="-35" dirty="0">
                <a:latin typeface="Arial MT"/>
                <a:cs typeface="Tahoma"/>
              </a:rPr>
              <a:t> </a:t>
            </a:r>
            <a:r>
              <a:rPr sz="2400" spc="-5" dirty="0">
                <a:latin typeface="Arial MT"/>
                <a:cs typeface="Tahoma"/>
              </a:rPr>
              <a:t>j]</a:t>
            </a:r>
            <a:r>
              <a:rPr sz="2400" spc="-20" dirty="0">
                <a:latin typeface="Arial MT"/>
                <a:cs typeface="Tahoma"/>
              </a:rPr>
              <a:t> </a:t>
            </a:r>
            <a:r>
              <a:rPr sz="2400" dirty="0">
                <a:latin typeface="Arial MT"/>
                <a:cs typeface="Tahoma"/>
              </a:rPr>
              <a:t>is</a:t>
            </a:r>
            <a:r>
              <a:rPr sz="2400" spc="-20" dirty="0">
                <a:latin typeface="Arial MT"/>
                <a:cs typeface="Tahoma"/>
              </a:rPr>
              <a:t> </a:t>
            </a:r>
            <a:r>
              <a:rPr sz="2400" dirty="0">
                <a:latin typeface="Arial MT"/>
                <a:cs typeface="Tahoma"/>
              </a:rPr>
              <a:t>1</a:t>
            </a:r>
            <a:r>
              <a:rPr sz="2400" spc="-10" dirty="0">
                <a:latin typeface="Arial MT"/>
                <a:cs typeface="Tahoma"/>
              </a:rPr>
              <a:t> </a:t>
            </a:r>
            <a:r>
              <a:rPr sz="2400" spc="-5" dirty="0">
                <a:latin typeface="Arial MT"/>
                <a:cs typeface="Tahoma"/>
              </a:rPr>
              <a:t>or</a:t>
            </a:r>
            <a:r>
              <a:rPr sz="2400" spc="70" dirty="0">
                <a:latin typeface="Arial MT"/>
                <a:cs typeface="Tahoma"/>
              </a:rPr>
              <a:t> </a:t>
            </a:r>
            <a:r>
              <a:rPr sz="2400" dirty="0">
                <a:latin typeface="Arial MT"/>
                <a:cs typeface="Tahoma"/>
              </a:rPr>
              <a:t>0</a:t>
            </a:r>
          </a:p>
          <a:p>
            <a:pPr marL="276860" indent="-143510">
              <a:lnSpc>
                <a:spcPct val="100000"/>
              </a:lnSpc>
              <a:spcBef>
                <a:spcPts val="315"/>
              </a:spcBef>
              <a:buSzPct val="60000"/>
              <a:buFont typeface="Wingdings"/>
              <a:buChar char=""/>
              <a:tabLst>
                <a:tab pos="276860" algn="l"/>
              </a:tabLst>
            </a:pPr>
            <a:r>
              <a:rPr sz="2400" spc="-5" dirty="0">
                <a:latin typeface="Arial MT"/>
                <a:cs typeface="Tahoma"/>
              </a:rPr>
              <a:t>Can</a:t>
            </a:r>
            <a:r>
              <a:rPr sz="2400" spc="-20" dirty="0">
                <a:latin typeface="Arial MT"/>
                <a:cs typeface="Tahoma"/>
              </a:rPr>
              <a:t> </a:t>
            </a:r>
            <a:r>
              <a:rPr sz="2400" spc="-5" dirty="0">
                <a:latin typeface="Arial MT"/>
                <a:cs typeface="Tahoma"/>
              </a:rPr>
              <a:t>be</a:t>
            </a:r>
            <a:r>
              <a:rPr sz="2400" spc="-10" dirty="0">
                <a:latin typeface="Arial MT"/>
                <a:cs typeface="Tahoma"/>
              </a:rPr>
              <a:t> very</a:t>
            </a:r>
            <a:r>
              <a:rPr sz="2400" spc="-15" dirty="0">
                <a:latin typeface="Arial MT"/>
                <a:cs typeface="Tahoma"/>
              </a:rPr>
              <a:t> efficient</a:t>
            </a:r>
            <a:r>
              <a:rPr sz="2400" spc="-20" dirty="0">
                <a:latin typeface="Arial MT"/>
                <a:cs typeface="Tahoma"/>
              </a:rPr>
              <a:t> </a:t>
            </a:r>
            <a:r>
              <a:rPr sz="2400" spc="-10" dirty="0">
                <a:latin typeface="Arial MT"/>
                <a:cs typeface="Tahoma"/>
              </a:rPr>
              <a:t>for</a:t>
            </a:r>
            <a:r>
              <a:rPr sz="2400" spc="-15" dirty="0">
                <a:latin typeface="Arial MT"/>
                <a:cs typeface="Tahoma"/>
              </a:rPr>
              <a:t> small</a:t>
            </a:r>
            <a:r>
              <a:rPr sz="2400" dirty="0">
                <a:latin typeface="Arial MT"/>
                <a:cs typeface="Tahoma"/>
              </a:rPr>
              <a:t> </a:t>
            </a:r>
            <a:r>
              <a:rPr sz="2400" spc="-15" dirty="0">
                <a:latin typeface="Arial MT"/>
                <a:cs typeface="Tahoma"/>
              </a:rPr>
              <a:t>graphs</a:t>
            </a:r>
            <a:endParaRPr sz="2400" dirty="0">
              <a:latin typeface="Arial MT"/>
              <a:cs typeface="Tahoma"/>
            </a:endParaRPr>
          </a:p>
          <a:p>
            <a:pPr marL="25400">
              <a:lnSpc>
                <a:spcPct val="100000"/>
              </a:lnSpc>
              <a:spcBef>
                <a:spcPts val="1005"/>
              </a:spcBef>
            </a:pPr>
            <a:r>
              <a:rPr sz="2400" spc="-10" dirty="0">
                <a:solidFill>
                  <a:srgbClr val="BD2C00"/>
                </a:solidFill>
                <a:latin typeface="Arial MT"/>
                <a:cs typeface="Tahoma"/>
              </a:rPr>
              <a:t>Cons:</a:t>
            </a:r>
            <a:endParaRPr sz="2400" dirty="0">
              <a:latin typeface="Arial MT"/>
              <a:cs typeface="Tahoma"/>
            </a:endParaRPr>
          </a:p>
          <a:p>
            <a:pPr marL="276225" marR="17780" indent="-143510">
              <a:lnSpc>
                <a:spcPct val="100000"/>
              </a:lnSpc>
              <a:spcBef>
                <a:spcPts val="290"/>
              </a:spcBef>
              <a:buSzPct val="60000"/>
              <a:buFont typeface="Wingdings"/>
              <a:buChar char=""/>
              <a:tabLst>
                <a:tab pos="276860" algn="l"/>
                <a:tab pos="795655" algn="l"/>
              </a:tabLst>
            </a:pPr>
            <a:r>
              <a:rPr sz="2400" spc="-5" dirty="0">
                <a:latin typeface="Arial MT"/>
                <a:cs typeface="Tahoma"/>
              </a:rPr>
              <a:t>No </a:t>
            </a:r>
            <a:r>
              <a:rPr sz="2400" spc="-10" dirty="0">
                <a:latin typeface="Arial MT"/>
                <a:cs typeface="Tahoma"/>
              </a:rPr>
              <a:t>matter </a:t>
            </a:r>
            <a:r>
              <a:rPr sz="2400" spc="-5" dirty="0">
                <a:latin typeface="Arial MT"/>
                <a:cs typeface="Tahoma"/>
              </a:rPr>
              <a:t>how </a:t>
            </a:r>
            <a:r>
              <a:rPr sz="2400" spc="-15" dirty="0">
                <a:latin typeface="Arial MT"/>
                <a:cs typeface="Tahoma"/>
              </a:rPr>
              <a:t>few </a:t>
            </a:r>
            <a:r>
              <a:rPr sz="2400" spc="-10" dirty="0">
                <a:latin typeface="Arial MT"/>
                <a:cs typeface="Tahoma"/>
              </a:rPr>
              <a:t>edges </a:t>
            </a:r>
            <a:r>
              <a:rPr sz="2400" dirty="0">
                <a:latin typeface="Arial MT"/>
                <a:cs typeface="Tahoma"/>
              </a:rPr>
              <a:t>the </a:t>
            </a:r>
            <a:r>
              <a:rPr sz="2400" spc="-15" dirty="0">
                <a:latin typeface="Arial MT"/>
                <a:cs typeface="Tahoma"/>
              </a:rPr>
              <a:t>graph </a:t>
            </a:r>
            <a:r>
              <a:rPr sz="2400" spc="-10" dirty="0">
                <a:latin typeface="Arial MT"/>
                <a:cs typeface="Tahoma"/>
              </a:rPr>
              <a:t>has, </a:t>
            </a:r>
            <a:r>
              <a:rPr sz="2400" spc="-615" dirty="0">
                <a:latin typeface="Arial MT"/>
                <a:cs typeface="Tahoma"/>
              </a:rPr>
              <a:t> </a:t>
            </a:r>
            <a:r>
              <a:rPr sz="2400" dirty="0">
                <a:latin typeface="Arial MT"/>
                <a:cs typeface="Tahoma"/>
              </a:rPr>
              <a:t>the	</a:t>
            </a:r>
            <a:r>
              <a:rPr sz="2400" spc="-5" dirty="0">
                <a:latin typeface="Arial MT"/>
                <a:cs typeface="Tahoma"/>
              </a:rPr>
              <a:t>matrix</a:t>
            </a:r>
            <a:r>
              <a:rPr sz="2400" spc="-20" dirty="0">
                <a:latin typeface="Arial MT"/>
                <a:cs typeface="Tahoma"/>
              </a:rPr>
              <a:t> </a:t>
            </a:r>
            <a:r>
              <a:rPr sz="2400" spc="-10" dirty="0">
                <a:latin typeface="Arial MT"/>
                <a:cs typeface="Tahoma"/>
              </a:rPr>
              <a:t>takes</a:t>
            </a:r>
            <a:r>
              <a:rPr sz="2400" spc="-20" dirty="0">
                <a:latin typeface="Arial MT"/>
                <a:cs typeface="Tahoma"/>
              </a:rPr>
              <a:t> </a:t>
            </a:r>
            <a:r>
              <a:rPr sz="2400" spc="-10" dirty="0">
                <a:latin typeface="Arial MT"/>
                <a:cs typeface="Tahoma"/>
              </a:rPr>
              <a:t>O(n</a:t>
            </a:r>
            <a:r>
              <a:rPr sz="2000" spc="-15" baseline="21367" dirty="0">
                <a:latin typeface="Arial MT"/>
                <a:cs typeface="Tahoma"/>
              </a:rPr>
              <a:t>2</a:t>
            </a:r>
            <a:r>
              <a:rPr sz="2400" spc="-10" dirty="0">
                <a:latin typeface="Arial MT"/>
                <a:cs typeface="Tahoma"/>
              </a:rPr>
              <a:t>)</a:t>
            </a:r>
            <a:r>
              <a:rPr sz="2400" spc="-30" dirty="0">
                <a:latin typeface="Arial MT"/>
                <a:cs typeface="Tahoma"/>
              </a:rPr>
              <a:t> </a:t>
            </a:r>
            <a:r>
              <a:rPr sz="2400" spc="-5" dirty="0">
                <a:latin typeface="Arial MT"/>
                <a:cs typeface="Tahoma"/>
              </a:rPr>
              <a:t>in</a:t>
            </a:r>
            <a:r>
              <a:rPr sz="2400" dirty="0">
                <a:latin typeface="Arial MT"/>
                <a:cs typeface="Tahoma"/>
              </a:rPr>
              <a:t> </a:t>
            </a:r>
            <a:r>
              <a:rPr sz="2400" spc="-10" dirty="0">
                <a:latin typeface="Arial MT"/>
                <a:cs typeface="Tahoma"/>
              </a:rPr>
              <a:t>memory</a:t>
            </a:r>
            <a:endParaRPr sz="2400" dirty="0">
              <a:latin typeface="Arial MT"/>
              <a:cs typeface="Tahoma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650323" y="1812711"/>
            <a:ext cx="2193202" cy="1325562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375324" y="3953660"/>
            <a:ext cx="2743200" cy="2333297"/>
          </a:xfrm>
          <a:prstGeom prst="rect">
            <a:avLst/>
          </a:prstGeom>
        </p:spPr>
      </p:pic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dirty="0"/>
              <a:t>19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2786594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611124"/>
            <a:ext cx="6731000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Adjacency</a:t>
            </a:r>
            <a:r>
              <a:rPr spc="-10" dirty="0"/>
              <a:t> </a:t>
            </a:r>
            <a:r>
              <a:rPr spc="-20" dirty="0"/>
              <a:t>List</a:t>
            </a:r>
            <a:r>
              <a:rPr dirty="0"/>
              <a:t> </a:t>
            </a:r>
            <a:r>
              <a:rPr spc="-25" dirty="0"/>
              <a:t>Representation</a:t>
            </a:r>
            <a:endParaRPr dirty="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62200" y="3007228"/>
            <a:ext cx="2040637" cy="1353231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254973" y="4671753"/>
            <a:ext cx="2451051" cy="1370108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511728" y="2869323"/>
            <a:ext cx="2755483" cy="1403972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6460274" y="4697767"/>
            <a:ext cx="1913105" cy="1408320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963802" y="1788668"/>
            <a:ext cx="9982835" cy="729615"/>
          </a:xfrm>
          <a:prstGeom prst="rect">
            <a:avLst/>
          </a:prstGeom>
        </p:spPr>
        <p:txBody>
          <a:bodyPr vert="horz" wrap="square" lIns="0" tIns="488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85"/>
              </a:spcBef>
              <a:tabLst>
                <a:tab pos="7570470" algn="l"/>
              </a:tabLst>
            </a:pPr>
            <a:r>
              <a:rPr sz="2400" dirty="0">
                <a:latin typeface="Tahoma"/>
                <a:cs typeface="Tahoma"/>
              </a:rPr>
              <a:t>A</a:t>
            </a:r>
            <a:r>
              <a:rPr sz="2400" spc="5" dirty="0">
                <a:latin typeface="Tahoma"/>
                <a:cs typeface="Tahoma"/>
              </a:rPr>
              <a:t> </a:t>
            </a:r>
            <a:r>
              <a:rPr sz="2400" spc="-20" dirty="0">
                <a:latin typeface="Tahoma"/>
                <a:cs typeface="Tahoma"/>
              </a:rPr>
              <a:t>graph</a:t>
            </a:r>
            <a:r>
              <a:rPr sz="2400" spc="-15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is</a:t>
            </a:r>
            <a:r>
              <a:rPr sz="2400" spc="20" dirty="0">
                <a:latin typeface="Tahoma"/>
                <a:cs typeface="Tahoma"/>
              </a:rPr>
              <a:t> </a:t>
            </a:r>
            <a:r>
              <a:rPr sz="2400" spc="-10" dirty="0">
                <a:latin typeface="Tahoma"/>
                <a:cs typeface="Tahoma"/>
              </a:rPr>
              <a:t>represented</a:t>
            </a:r>
            <a:r>
              <a:rPr sz="2400" spc="10" dirty="0">
                <a:latin typeface="Tahoma"/>
                <a:cs typeface="Tahoma"/>
              </a:rPr>
              <a:t> </a:t>
            </a:r>
            <a:r>
              <a:rPr sz="2400" spc="-10" dirty="0">
                <a:latin typeface="Tahoma"/>
                <a:cs typeface="Tahoma"/>
              </a:rPr>
              <a:t>by</a:t>
            </a:r>
            <a:r>
              <a:rPr sz="2400" dirty="0">
                <a:latin typeface="Tahoma"/>
                <a:cs typeface="Tahoma"/>
              </a:rPr>
              <a:t> a</a:t>
            </a:r>
            <a:r>
              <a:rPr sz="2400" spc="10" dirty="0">
                <a:latin typeface="Tahoma"/>
                <a:cs typeface="Tahoma"/>
              </a:rPr>
              <a:t> </a:t>
            </a:r>
            <a:r>
              <a:rPr sz="2400" spc="-5" dirty="0">
                <a:latin typeface="Tahoma"/>
                <a:cs typeface="Tahoma"/>
              </a:rPr>
              <a:t>one-dimensional</a:t>
            </a:r>
            <a:r>
              <a:rPr sz="2400" spc="15" dirty="0">
                <a:latin typeface="Tahoma"/>
                <a:cs typeface="Tahoma"/>
              </a:rPr>
              <a:t> </a:t>
            </a:r>
            <a:r>
              <a:rPr sz="2400" spc="-20" dirty="0">
                <a:latin typeface="Tahoma"/>
                <a:cs typeface="Tahoma"/>
              </a:rPr>
              <a:t>array</a:t>
            </a:r>
            <a:r>
              <a:rPr sz="2400" dirty="0">
                <a:latin typeface="Tahoma"/>
                <a:cs typeface="Tahoma"/>
              </a:rPr>
              <a:t> L</a:t>
            </a:r>
            <a:r>
              <a:rPr sz="2400" spc="-160" dirty="0">
                <a:latin typeface="Tahoma"/>
                <a:cs typeface="Tahoma"/>
              </a:rPr>
              <a:t> </a:t>
            </a:r>
            <a:r>
              <a:rPr sz="2400" spc="-5" dirty="0" smtClean="0">
                <a:latin typeface="Tahoma"/>
                <a:cs typeface="Tahoma"/>
              </a:rPr>
              <a:t>of</a:t>
            </a:r>
            <a:r>
              <a:rPr lang="en-US" sz="2400" spc="-5" dirty="0" smtClean="0">
                <a:latin typeface="Tahoma"/>
                <a:cs typeface="Tahoma"/>
              </a:rPr>
              <a:t> </a:t>
            </a:r>
            <a:r>
              <a:rPr sz="2400" spc="-5" dirty="0" smtClean="0">
                <a:latin typeface="Tahoma"/>
                <a:cs typeface="Tahoma"/>
              </a:rPr>
              <a:t>linked</a:t>
            </a:r>
            <a:r>
              <a:rPr sz="2400" spc="-40" dirty="0" smtClean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lists,</a:t>
            </a:r>
            <a:r>
              <a:rPr sz="2400" spc="-155" dirty="0">
                <a:latin typeface="Tahoma"/>
                <a:cs typeface="Tahoma"/>
              </a:rPr>
              <a:t> </a:t>
            </a:r>
            <a:r>
              <a:rPr sz="2400" spc="-5" dirty="0">
                <a:latin typeface="Tahoma"/>
                <a:cs typeface="Tahoma"/>
              </a:rPr>
              <a:t>where</a:t>
            </a:r>
            <a:endParaRPr sz="2400" dirty="0">
              <a:latin typeface="Tahoma"/>
              <a:cs typeface="Tahoma"/>
            </a:endParaRPr>
          </a:p>
          <a:p>
            <a:pPr marL="213360" indent="-143510">
              <a:lnSpc>
                <a:spcPct val="100000"/>
              </a:lnSpc>
              <a:spcBef>
                <a:spcPts val="215"/>
              </a:spcBef>
              <a:buSzPct val="61111"/>
              <a:buFont typeface="Wingdings"/>
              <a:buChar char=""/>
              <a:tabLst>
                <a:tab pos="213360" algn="l"/>
              </a:tabLst>
            </a:pPr>
            <a:r>
              <a:rPr sz="1800" spc="-5" dirty="0">
                <a:latin typeface="Tahoma"/>
                <a:cs typeface="Tahoma"/>
              </a:rPr>
              <a:t>L[i] </a:t>
            </a:r>
            <a:r>
              <a:rPr sz="1800" dirty="0">
                <a:latin typeface="Tahoma"/>
                <a:cs typeface="Tahoma"/>
              </a:rPr>
              <a:t>is</a:t>
            </a:r>
            <a:r>
              <a:rPr sz="1800" spc="5" dirty="0">
                <a:latin typeface="Tahoma"/>
                <a:cs typeface="Tahoma"/>
              </a:rPr>
              <a:t> </a:t>
            </a:r>
            <a:r>
              <a:rPr sz="1800" spc="-10" dirty="0">
                <a:latin typeface="Tahoma"/>
                <a:cs typeface="Tahoma"/>
              </a:rPr>
              <a:t>the</a:t>
            </a:r>
            <a:r>
              <a:rPr sz="1800" spc="-5" dirty="0">
                <a:latin typeface="Tahoma"/>
                <a:cs typeface="Tahoma"/>
              </a:rPr>
              <a:t> linked</a:t>
            </a:r>
            <a:r>
              <a:rPr sz="1800" dirty="0">
                <a:latin typeface="Tahoma"/>
                <a:cs typeface="Tahoma"/>
              </a:rPr>
              <a:t> list</a:t>
            </a:r>
            <a:r>
              <a:rPr sz="1800" spc="10" dirty="0">
                <a:latin typeface="Tahoma"/>
                <a:cs typeface="Tahoma"/>
              </a:rPr>
              <a:t> </a:t>
            </a:r>
            <a:r>
              <a:rPr sz="1800" spc="-10" dirty="0">
                <a:latin typeface="Tahoma"/>
                <a:cs typeface="Tahoma"/>
              </a:rPr>
              <a:t>containing</a:t>
            </a:r>
            <a:r>
              <a:rPr sz="1800" spc="-5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all</a:t>
            </a:r>
            <a:r>
              <a:rPr sz="1800" spc="5" dirty="0">
                <a:latin typeface="Tahoma"/>
                <a:cs typeface="Tahoma"/>
              </a:rPr>
              <a:t> </a:t>
            </a:r>
            <a:r>
              <a:rPr sz="1800" spc="-10" dirty="0">
                <a:latin typeface="Tahoma"/>
                <a:cs typeface="Tahoma"/>
              </a:rPr>
              <a:t>the </a:t>
            </a:r>
            <a:r>
              <a:rPr sz="1800" spc="-5" dirty="0">
                <a:latin typeface="Tahoma"/>
                <a:cs typeface="Tahoma"/>
              </a:rPr>
              <a:t>nodes</a:t>
            </a:r>
            <a:r>
              <a:rPr sz="1800" dirty="0">
                <a:latin typeface="Tahoma"/>
                <a:cs typeface="Tahoma"/>
              </a:rPr>
              <a:t> </a:t>
            </a:r>
            <a:r>
              <a:rPr sz="1800" spc="-5" dirty="0">
                <a:latin typeface="Tahoma"/>
                <a:cs typeface="Tahoma"/>
              </a:rPr>
              <a:t>adjacent</a:t>
            </a:r>
            <a:r>
              <a:rPr sz="1800" spc="-15" dirty="0">
                <a:latin typeface="Tahoma"/>
                <a:cs typeface="Tahoma"/>
              </a:rPr>
              <a:t> </a:t>
            </a:r>
            <a:r>
              <a:rPr sz="1800" spc="-5" dirty="0">
                <a:latin typeface="Tahoma"/>
                <a:cs typeface="Tahoma"/>
              </a:rPr>
              <a:t>to</a:t>
            </a:r>
            <a:r>
              <a:rPr sz="1800" dirty="0">
                <a:latin typeface="Tahoma"/>
                <a:cs typeface="Tahoma"/>
              </a:rPr>
              <a:t> </a:t>
            </a:r>
            <a:r>
              <a:rPr sz="1800" spc="-5" dirty="0">
                <a:latin typeface="Tahoma"/>
                <a:cs typeface="Tahoma"/>
              </a:rPr>
              <a:t>node</a:t>
            </a:r>
            <a:r>
              <a:rPr sz="1800" spc="-135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i.</a:t>
            </a:r>
          </a:p>
        </p:txBody>
      </p:sp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dirty="0"/>
              <a:t>20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8830157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dirty="0"/>
              <a:t>21</a:t>
            </a:fld>
            <a:endParaRPr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611124"/>
            <a:ext cx="6731000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Adjacency</a:t>
            </a:r>
            <a:r>
              <a:rPr spc="-10" dirty="0"/>
              <a:t> </a:t>
            </a:r>
            <a:r>
              <a:rPr spc="-20" dirty="0"/>
              <a:t>List</a:t>
            </a:r>
            <a:r>
              <a:rPr dirty="0"/>
              <a:t> </a:t>
            </a:r>
            <a:r>
              <a:rPr spc="-25" dirty="0"/>
              <a:t>Representation</a:t>
            </a:r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929639" y="1688084"/>
            <a:ext cx="9746615" cy="3158236"/>
          </a:xfrm>
          <a:prstGeom prst="rect">
            <a:avLst/>
          </a:prstGeom>
        </p:spPr>
        <p:txBody>
          <a:bodyPr vert="horz" wrap="square" lIns="0" tIns="5524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34"/>
              </a:spcBef>
            </a:pPr>
            <a:r>
              <a:rPr sz="2400" spc="-10" dirty="0">
                <a:solidFill>
                  <a:srgbClr val="C00000"/>
                </a:solidFill>
                <a:latin typeface="Arial MT"/>
                <a:cs typeface="Tahoma"/>
              </a:rPr>
              <a:t>Pros:</a:t>
            </a:r>
            <a:endParaRPr sz="2400" dirty="0">
              <a:solidFill>
                <a:srgbClr val="C00000"/>
              </a:solidFill>
              <a:latin typeface="Arial MT"/>
              <a:cs typeface="Tahoma"/>
            </a:endParaRPr>
          </a:p>
          <a:p>
            <a:pPr marL="213360" indent="-143510">
              <a:lnSpc>
                <a:spcPct val="100000"/>
              </a:lnSpc>
              <a:spcBef>
                <a:spcPts val="335"/>
              </a:spcBef>
              <a:buSzPct val="55555"/>
              <a:buFont typeface="Wingdings"/>
              <a:buChar char=""/>
              <a:tabLst>
                <a:tab pos="213360" algn="l"/>
                <a:tab pos="4954905" algn="l"/>
              </a:tabLst>
            </a:pPr>
            <a:r>
              <a:rPr sz="2400" spc="-10" dirty="0">
                <a:latin typeface="Arial MT"/>
                <a:cs typeface="Tahoma"/>
              </a:rPr>
              <a:t>Saves</a:t>
            </a:r>
            <a:r>
              <a:rPr sz="2400" spc="-5" dirty="0">
                <a:latin typeface="Arial MT"/>
                <a:cs typeface="Tahoma"/>
              </a:rPr>
              <a:t> on space</a:t>
            </a:r>
            <a:r>
              <a:rPr sz="2400" dirty="0">
                <a:latin typeface="Arial MT"/>
                <a:cs typeface="Tahoma"/>
              </a:rPr>
              <a:t> </a:t>
            </a:r>
            <a:r>
              <a:rPr sz="2400" spc="-10" dirty="0">
                <a:latin typeface="Arial MT"/>
                <a:cs typeface="Tahoma"/>
              </a:rPr>
              <a:t>(memory):</a:t>
            </a:r>
            <a:r>
              <a:rPr sz="2400" spc="5" dirty="0">
                <a:latin typeface="Arial MT"/>
                <a:cs typeface="Tahoma"/>
              </a:rPr>
              <a:t> </a:t>
            </a:r>
            <a:r>
              <a:rPr sz="2400" spc="-5" dirty="0">
                <a:latin typeface="Arial MT"/>
                <a:cs typeface="Tahoma"/>
              </a:rPr>
              <a:t>the</a:t>
            </a:r>
            <a:r>
              <a:rPr sz="2400" spc="10" dirty="0">
                <a:latin typeface="Arial MT"/>
                <a:cs typeface="Tahoma"/>
              </a:rPr>
              <a:t> </a:t>
            </a:r>
            <a:r>
              <a:rPr sz="2400" spc="-10" dirty="0">
                <a:latin typeface="Arial MT"/>
                <a:cs typeface="Tahoma"/>
              </a:rPr>
              <a:t>representation	takes</a:t>
            </a:r>
            <a:r>
              <a:rPr sz="2400" spc="-35" dirty="0">
                <a:latin typeface="Arial MT"/>
                <a:cs typeface="Tahoma"/>
              </a:rPr>
              <a:t> </a:t>
            </a:r>
            <a:r>
              <a:rPr sz="2400" spc="-10" dirty="0">
                <a:latin typeface="Arial MT"/>
                <a:cs typeface="Tahoma"/>
              </a:rPr>
              <a:t>O(|V|+|E|)</a:t>
            </a:r>
            <a:r>
              <a:rPr sz="2400" spc="-20" dirty="0">
                <a:latin typeface="Arial MT"/>
                <a:cs typeface="Tahoma"/>
              </a:rPr>
              <a:t> </a:t>
            </a:r>
            <a:r>
              <a:rPr sz="2400" spc="-40" dirty="0">
                <a:latin typeface="Arial MT"/>
                <a:cs typeface="Tahoma"/>
              </a:rPr>
              <a:t>memory.</a:t>
            </a:r>
            <a:endParaRPr sz="2400" dirty="0">
              <a:latin typeface="Arial MT"/>
              <a:cs typeface="Tahoma"/>
            </a:endParaRPr>
          </a:p>
          <a:p>
            <a:pPr marL="213360" indent="-143510">
              <a:lnSpc>
                <a:spcPct val="100000"/>
              </a:lnSpc>
              <a:spcBef>
                <a:spcPts val="25"/>
              </a:spcBef>
              <a:buSzPct val="55555"/>
              <a:buFont typeface="Wingdings"/>
              <a:buChar char=""/>
              <a:tabLst>
                <a:tab pos="213360" algn="l"/>
              </a:tabLst>
            </a:pPr>
            <a:r>
              <a:rPr sz="2400" spc="-10" dirty="0">
                <a:latin typeface="Arial MT"/>
                <a:cs typeface="Tahoma"/>
              </a:rPr>
              <a:t>Good </a:t>
            </a:r>
            <a:r>
              <a:rPr sz="2400" spc="-15" dirty="0">
                <a:latin typeface="Arial MT"/>
                <a:cs typeface="Tahoma"/>
              </a:rPr>
              <a:t>for </a:t>
            </a:r>
            <a:r>
              <a:rPr sz="2400" spc="-10" dirty="0">
                <a:latin typeface="Arial MT"/>
                <a:cs typeface="Tahoma"/>
              </a:rPr>
              <a:t>large,</a:t>
            </a:r>
            <a:r>
              <a:rPr sz="2400" spc="-25" dirty="0">
                <a:latin typeface="Arial MT"/>
                <a:cs typeface="Tahoma"/>
              </a:rPr>
              <a:t> </a:t>
            </a:r>
            <a:r>
              <a:rPr sz="2400" spc="-5" dirty="0">
                <a:latin typeface="Arial MT"/>
                <a:cs typeface="Tahoma"/>
              </a:rPr>
              <a:t>sparse</a:t>
            </a:r>
            <a:r>
              <a:rPr sz="2400" spc="-15" dirty="0">
                <a:latin typeface="Arial MT"/>
                <a:cs typeface="Tahoma"/>
              </a:rPr>
              <a:t> </a:t>
            </a:r>
            <a:r>
              <a:rPr sz="2400" spc="-10" dirty="0">
                <a:latin typeface="Arial MT"/>
                <a:cs typeface="Tahoma"/>
              </a:rPr>
              <a:t>graphs</a:t>
            </a:r>
            <a:r>
              <a:rPr sz="2400" spc="-20" dirty="0">
                <a:latin typeface="Arial MT"/>
                <a:cs typeface="Tahoma"/>
              </a:rPr>
              <a:t> </a:t>
            </a:r>
            <a:r>
              <a:rPr sz="2400" spc="-35" dirty="0">
                <a:latin typeface="Arial MT"/>
                <a:cs typeface="Tahoma"/>
              </a:rPr>
              <a:t>(e.g.,</a:t>
            </a:r>
            <a:r>
              <a:rPr sz="2400" spc="-45" dirty="0">
                <a:latin typeface="Arial MT"/>
                <a:cs typeface="Tahoma"/>
              </a:rPr>
              <a:t> </a:t>
            </a:r>
            <a:r>
              <a:rPr sz="2400" spc="-5" dirty="0">
                <a:latin typeface="Arial MT"/>
                <a:cs typeface="Tahoma"/>
              </a:rPr>
              <a:t>planar</a:t>
            </a:r>
            <a:r>
              <a:rPr sz="2400" spc="20" dirty="0">
                <a:latin typeface="Arial MT"/>
                <a:cs typeface="Tahoma"/>
              </a:rPr>
              <a:t> </a:t>
            </a:r>
            <a:r>
              <a:rPr sz="2400" spc="-5" dirty="0">
                <a:latin typeface="Arial MT"/>
                <a:cs typeface="Tahoma"/>
              </a:rPr>
              <a:t>maps)</a:t>
            </a:r>
            <a:endParaRPr sz="2400" dirty="0">
              <a:latin typeface="Arial MT"/>
              <a:cs typeface="Tahoma"/>
            </a:endParaRPr>
          </a:p>
          <a:p>
            <a:pPr>
              <a:lnSpc>
                <a:spcPct val="100000"/>
              </a:lnSpc>
              <a:spcBef>
                <a:spcPts val="30"/>
              </a:spcBef>
              <a:buClr>
                <a:srgbClr val="3F448B"/>
              </a:buClr>
              <a:buFont typeface="Wingdings"/>
              <a:buChar char=""/>
            </a:pPr>
            <a:endParaRPr sz="2800" dirty="0">
              <a:latin typeface="Arial MT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2400" spc="-10" dirty="0">
                <a:solidFill>
                  <a:srgbClr val="C00000"/>
                </a:solidFill>
                <a:latin typeface="Arial MT"/>
                <a:cs typeface="Tahoma"/>
              </a:rPr>
              <a:t>Cons:</a:t>
            </a:r>
            <a:endParaRPr sz="2400" dirty="0">
              <a:solidFill>
                <a:srgbClr val="C00000"/>
              </a:solidFill>
              <a:latin typeface="Arial MT"/>
              <a:cs typeface="Tahoma"/>
            </a:endParaRPr>
          </a:p>
          <a:p>
            <a:pPr marL="212725" marR="5080" indent="-143510">
              <a:lnSpc>
                <a:spcPct val="102200"/>
              </a:lnSpc>
              <a:spcBef>
                <a:spcPts val="190"/>
              </a:spcBef>
              <a:buSzPct val="55555"/>
              <a:buFont typeface="Wingdings"/>
              <a:buChar char=""/>
              <a:tabLst>
                <a:tab pos="213360" algn="l"/>
                <a:tab pos="4628515" algn="l"/>
                <a:tab pos="5266690" algn="l"/>
              </a:tabLst>
            </a:pPr>
            <a:r>
              <a:rPr sz="2400" dirty="0">
                <a:latin typeface="Arial MT"/>
                <a:cs typeface="Tahoma"/>
              </a:rPr>
              <a:t>It</a:t>
            </a:r>
            <a:r>
              <a:rPr sz="2400" spc="-5" dirty="0">
                <a:latin typeface="Arial MT"/>
                <a:cs typeface="Tahoma"/>
              </a:rPr>
              <a:t> can</a:t>
            </a:r>
            <a:r>
              <a:rPr sz="2400" spc="-10" dirty="0">
                <a:latin typeface="Arial MT"/>
                <a:cs typeface="Tahoma"/>
              </a:rPr>
              <a:t> take</a:t>
            </a:r>
            <a:r>
              <a:rPr sz="2400" spc="-5" dirty="0">
                <a:latin typeface="Arial MT"/>
                <a:cs typeface="Tahoma"/>
              </a:rPr>
              <a:t> up</a:t>
            </a:r>
            <a:r>
              <a:rPr sz="2400" dirty="0">
                <a:latin typeface="Arial MT"/>
                <a:cs typeface="Tahoma"/>
              </a:rPr>
              <a:t> </a:t>
            </a:r>
            <a:r>
              <a:rPr sz="2400" spc="-5" dirty="0">
                <a:latin typeface="Arial MT"/>
                <a:cs typeface="Tahoma"/>
              </a:rPr>
              <a:t>to </a:t>
            </a:r>
            <a:r>
              <a:rPr sz="2400" spc="-10" dirty="0">
                <a:latin typeface="Arial MT"/>
                <a:cs typeface="Tahoma"/>
              </a:rPr>
              <a:t>O(n) </a:t>
            </a:r>
            <a:r>
              <a:rPr sz="2400" spc="-5" dirty="0">
                <a:latin typeface="Arial MT"/>
                <a:cs typeface="Tahoma"/>
              </a:rPr>
              <a:t>time</a:t>
            </a:r>
            <a:r>
              <a:rPr sz="2400" spc="-10" dirty="0">
                <a:latin typeface="Arial MT"/>
                <a:cs typeface="Tahoma"/>
              </a:rPr>
              <a:t> </a:t>
            </a:r>
            <a:r>
              <a:rPr sz="2400" spc="-5" dirty="0">
                <a:latin typeface="Arial MT"/>
                <a:cs typeface="Tahoma"/>
              </a:rPr>
              <a:t>to</a:t>
            </a:r>
            <a:r>
              <a:rPr sz="2400" dirty="0">
                <a:latin typeface="Arial MT"/>
                <a:cs typeface="Tahoma"/>
              </a:rPr>
              <a:t> </a:t>
            </a:r>
            <a:r>
              <a:rPr sz="2400" spc="-5" dirty="0">
                <a:latin typeface="Arial MT"/>
                <a:cs typeface="Tahoma"/>
              </a:rPr>
              <a:t>determine</a:t>
            </a:r>
            <a:r>
              <a:rPr sz="2400" spc="-10" dirty="0">
                <a:latin typeface="Arial MT"/>
                <a:cs typeface="Tahoma"/>
              </a:rPr>
              <a:t> </a:t>
            </a:r>
            <a:r>
              <a:rPr sz="2400" dirty="0">
                <a:latin typeface="Arial MT"/>
                <a:cs typeface="Tahoma"/>
              </a:rPr>
              <a:t>if</a:t>
            </a:r>
            <a:r>
              <a:rPr sz="2400" spc="-5" dirty="0">
                <a:latin typeface="Arial MT"/>
                <a:cs typeface="Tahoma"/>
              </a:rPr>
              <a:t> </a:t>
            </a:r>
            <a:r>
              <a:rPr sz="2400" dirty="0">
                <a:latin typeface="Arial MT"/>
                <a:cs typeface="Tahoma"/>
              </a:rPr>
              <a:t>a</a:t>
            </a:r>
            <a:r>
              <a:rPr sz="2400" spc="10" dirty="0">
                <a:latin typeface="Arial MT"/>
                <a:cs typeface="Tahoma"/>
              </a:rPr>
              <a:t> </a:t>
            </a:r>
            <a:r>
              <a:rPr sz="2400" spc="-5" dirty="0" smtClean="0">
                <a:latin typeface="Arial MT"/>
                <a:cs typeface="Tahoma"/>
              </a:rPr>
              <a:t>pair</a:t>
            </a:r>
            <a:r>
              <a:rPr lang="en-US" sz="2400" spc="-5" dirty="0" smtClean="0">
                <a:latin typeface="Arial MT"/>
                <a:cs typeface="Tahoma"/>
              </a:rPr>
              <a:t> </a:t>
            </a:r>
            <a:r>
              <a:rPr sz="2400" spc="-5" dirty="0" smtClean="0">
                <a:latin typeface="Arial MT"/>
                <a:cs typeface="Tahoma"/>
              </a:rPr>
              <a:t>of</a:t>
            </a:r>
            <a:r>
              <a:rPr sz="2400" spc="-15" dirty="0" smtClean="0">
                <a:latin typeface="Arial MT"/>
                <a:cs typeface="Tahoma"/>
              </a:rPr>
              <a:t> </a:t>
            </a:r>
            <a:r>
              <a:rPr sz="2400" spc="-5" dirty="0">
                <a:latin typeface="Arial MT"/>
                <a:cs typeface="Tahoma"/>
              </a:rPr>
              <a:t>nodes</a:t>
            </a:r>
            <a:r>
              <a:rPr sz="2400" spc="-25" dirty="0">
                <a:latin typeface="Arial MT"/>
                <a:cs typeface="Tahoma"/>
              </a:rPr>
              <a:t> </a:t>
            </a:r>
            <a:r>
              <a:rPr sz="2400" spc="-10" dirty="0">
                <a:latin typeface="Arial MT"/>
                <a:cs typeface="Tahoma"/>
              </a:rPr>
              <a:t>(i,</a:t>
            </a:r>
            <a:r>
              <a:rPr sz="2400" spc="-20" dirty="0">
                <a:latin typeface="Arial MT"/>
                <a:cs typeface="Tahoma"/>
              </a:rPr>
              <a:t> </a:t>
            </a:r>
            <a:r>
              <a:rPr sz="2400" dirty="0">
                <a:latin typeface="Arial MT"/>
                <a:cs typeface="Tahoma"/>
              </a:rPr>
              <a:t>j)</a:t>
            </a:r>
            <a:r>
              <a:rPr sz="2400" spc="-25" dirty="0">
                <a:latin typeface="Arial MT"/>
                <a:cs typeface="Tahoma"/>
              </a:rPr>
              <a:t> </a:t>
            </a:r>
            <a:r>
              <a:rPr sz="2400" spc="-5" dirty="0">
                <a:latin typeface="Arial MT"/>
                <a:cs typeface="Tahoma"/>
              </a:rPr>
              <a:t>is</a:t>
            </a:r>
            <a:r>
              <a:rPr sz="2400" spc="-30" dirty="0">
                <a:latin typeface="Arial MT"/>
                <a:cs typeface="Tahoma"/>
              </a:rPr>
              <a:t> </a:t>
            </a:r>
            <a:r>
              <a:rPr sz="2400" dirty="0">
                <a:latin typeface="Arial MT"/>
                <a:cs typeface="Tahoma"/>
              </a:rPr>
              <a:t>an</a:t>
            </a:r>
            <a:r>
              <a:rPr sz="2400" spc="-20" dirty="0">
                <a:latin typeface="Arial MT"/>
                <a:cs typeface="Tahoma"/>
              </a:rPr>
              <a:t> </a:t>
            </a:r>
            <a:r>
              <a:rPr sz="2400" spc="-5" dirty="0">
                <a:latin typeface="Arial MT"/>
                <a:cs typeface="Tahoma"/>
              </a:rPr>
              <a:t>edge:</a:t>
            </a:r>
            <a:r>
              <a:rPr sz="2400" spc="-20" dirty="0">
                <a:latin typeface="Arial MT"/>
                <a:cs typeface="Tahoma"/>
              </a:rPr>
              <a:t> </a:t>
            </a:r>
            <a:r>
              <a:rPr sz="2400" spc="-10" dirty="0">
                <a:latin typeface="Arial MT"/>
                <a:cs typeface="Tahoma"/>
              </a:rPr>
              <a:t>one</a:t>
            </a:r>
            <a:r>
              <a:rPr sz="2400" spc="-15" dirty="0">
                <a:latin typeface="Arial MT"/>
                <a:cs typeface="Tahoma"/>
              </a:rPr>
              <a:t> </a:t>
            </a:r>
            <a:r>
              <a:rPr sz="2400" spc="-10" dirty="0">
                <a:latin typeface="Arial MT"/>
                <a:cs typeface="Tahoma"/>
              </a:rPr>
              <a:t>would</a:t>
            </a:r>
            <a:r>
              <a:rPr sz="2400" spc="-20" dirty="0">
                <a:latin typeface="Arial MT"/>
                <a:cs typeface="Tahoma"/>
              </a:rPr>
              <a:t> </a:t>
            </a:r>
            <a:r>
              <a:rPr sz="2400" spc="-10" dirty="0">
                <a:latin typeface="Arial MT"/>
                <a:cs typeface="Tahoma"/>
              </a:rPr>
              <a:t>have</a:t>
            </a:r>
            <a:r>
              <a:rPr sz="2400" spc="-20" dirty="0">
                <a:latin typeface="Arial MT"/>
                <a:cs typeface="Tahoma"/>
              </a:rPr>
              <a:t> </a:t>
            </a:r>
            <a:r>
              <a:rPr sz="2400" spc="-5" dirty="0">
                <a:latin typeface="Arial MT"/>
                <a:cs typeface="Tahoma"/>
              </a:rPr>
              <a:t>to </a:t>
            </a:r>
            <a:r>
              <a:rPr sz="2400" spc="-545" dirty="0">
                <a:latin typeface="Arial MT"/>
                <a:cs typeface="Tahoma"/>
              </a:rPr>
              <a:t> </a:t>
            </a:r>
            <a:r>
              <a:rPr sz="2400" spc="-15" dirty="0">
                <a:latin typeface="Arial MT"/>
                <a:cs typeface="Tahoma"/>
              </a:rPr>
              <a:t>search</a:t>
            </a:r>
            <a:r>
              <a:rPr sz="2400" spc="-20" dirty="0">
                <a:latin typeface="Arial MT"/>
                <a:cs typeface="Tahoma"/>
              </a:rPr>
              <a:t> </a:t>
            </a:r>
            <a:r>
              <a:rPr sz="2400" spc="-5" dirty="0">
                <a:latin typeface="Arial MT"/>
                <a:cs typeface="Tahoma"/>
              </a:rPr>
              <a:t>the</a:t>
            </a:r>
            <a:r>
              <a:rPr sz="2400" spc="10" dirty="0">
                <a:latin typeface="Arial MT"/>
                <a:cs typeface="Tahoma"/>
              </a:rPr>
              <a:t> </a:t>
            </a:r>
            <a:r>
              <a:rPr sz="2400" spc="-15" dirty="0">
                <a:latin typeface="Arial MT"/>
                <a:cs typeface="Tahoma"/>
              </a:rPr>
              <a:t>linked</a:t>
            </a:r>
            <a:r>
              <a:rPr sz="2400" spc="-10" dirty="0">
                <a:latin typeface="Arial MT"/>
                <a:cs typeface="Tahoma"/>
              </a:rPr>
              <a:t> list</a:t>
            </a:r>
            <a:r>
              <a:rPr sz="2400" spc="-20" dirty="0">
                <a:latin typeface="Arial MT"/>
                <a:cs typeface="Tahoma"/>
              </a:rPr>
              <a:t> </a:t>
            </a:r>
            <a:r>
              <a:rPr sz="2400" spc="-10" dirty="0">
                <a:latin typeface="Arial MT"/>
                <a:cs typeface="Tahoma"/>
              </a:rPr>
              <a:t>L[i],</a:t>
            </a:r>
            <a:r>
              <a:rPr sz="2400" spc="-5" dirty="0">
                <a:latin typeface="Arial MT"/>
                <a:cs typeface="Tahoma"/>
              </a:rPr>
              <a:t> </a:t>
            </a:r>
            <a:r>
              <a:rPr sz="2400" spc="-15" dirty="0">
                <a:latin typeface="Arial MT"/>
                <a:cs typeface="Tahoma"/>
              </a:rPr>
              <a:t>which </a:t>
            </a:r>
            <a:r>
              <a:rPr sz="2400" spc="-10" dirty="0">
                <a:latin typeface="Arial MT"/>
                <a:cs typeface="Tahoma"/>
              </a:rPr>
              <a:t>takes </a:t>
            </a:r>
            <a:r>
              <a:rPr sz="2400" spc="-5" dirty="0" smtClean="0">
                <a:latin typeface="Arial MT"/>
                <a:cs typeface="Tahoma"/>
              </a:rPr>
              <a:t>time</a:t>
            </a:r>
            <a:r>
              <a:rPr lang="en-US" sz="2400" spc="-5" dirty="0" smtClean="0">
                <a:latin typeface="Arial MT"/>
                <a:cs typeface="Tahoma"/>
              </a:rPr>
              <a:t> </a:t>
            </a:r>
            <a:r>
              <a:rPr sz="2400" spc="-10" dirty="0" smtClean="0">
                <a:latin typeface="Arial MT"/>
                <a:cs typeface="Tahoma"/>
              </a:rPr>
              <a:t>proportional </a:t>
            </a:r>
            <a:r>
              <a:rPr sz="2400" spc="-5" dirty="0">
                <a:latin typeface="Arial MT"/>
                <a:cs typeface="Tahoma"/>
              </a:rPr>
              <a:t>to the</a:t>
            </a:r>
            <a:r>
              <a:rPr sz="2400" spc="5" dirty="0">
                <a:latin typeface="Arial MT"/>
                <a:cs typeface="Tahoma"/>
              </a:rPr>
              <a:t> </a:t>
            </a:r>
            <a:r>
              <a:rPr sz="2400" spc="-10" dirty="0">
                <a:latin typeface="Arial MT"/>
                <a:cs typeface="Tahoma"/>
              </a:rPr>
              <a:t>length</a:t>
            </a:r>
            <a:r>
              <a:rPr sz="2400" spc="-15" dirty="0">
                <a:latin typeface="Arial MT"/>
                <a:cs typeface="Tahoma"/>
              </a:rPr>
              <a:t> </a:t>
            </a:r>
            <a:r>
              <a:rPr sz="2400" spc="-5" dirty="0">
                <a:latin typeface="Arial MT"/>
                <a:cs typeface="Tahoma"/>
              </a:rPr>
              <a:t>of</a:t>
            </a:r>
            <a:r>
              <a:rPr sz="2400" spc="-70" dirty="0">
                <a:latin typeface="Arial MT"/>
                <a:cs typeface="Tahoma"/>
              </a:rPr>
              <a:t> </a:t>
            </a:r>
            <a:r>
              <a:rPr sz="2400" spc="-15" dirty="0">
                <a:latin typeface="Arial MT"/>
                <a:cs typeface="Tahoma"/>
              </a:rPr>
              <a:t>L[i].</a:t>
            </a:r>
            <a:endParaRPr sz="2400" dirty="0">
              <a:latin typeface="Arial MT"/>
              <a:cs typeface="Tahoma"/>
            </a:endParaRPr>
          </a:p>
        </p:txBody>
      </p:sp>
    </p:spTree>
    <p:extLst>
      <p:ext uri="{BB962C8B-B14F-4D97-AF65-F5344CB8AC3E}">
        <p14:creationId xmlns:p14="http://schemas.microsoft.com/office/powerpoint/2010/main" val="2444625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06969" y="196324"/>
            <a:ext cx="10778067" cy="68993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400" spc="-20" dirty="0"/>
              <a:t>Asymptotic</a:t>
            </a:r>
            <a:r>
              <a:rPr sz="4400" spc="-55" dirty="0"/>
              <a:t> </a:t>
            </a:r>
            <a:r>
              <a:rPr sz="4400" spc="-20" dirty="0" err="1" smtClean="0"/>
              <a:t>Perfromanc</a:t>
            </a:r>
            <a:r>
              <a:rPr lang="en-US" sz="4400" spc="-20" dirty="0" err="1" smtClean="0"/>
              <a:t>e</a:t>
            </a:r>
            <a:endParaRPr sz="4400" dirty="0"/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dirty="0"/>
              <a:t>22</a:t>
            </a:fld>
            <a:endParaRPr dirty="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754805" y="2101330"/>
            <a:ext cx="6193388" cy="37999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9610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1A4A546C-FFF8-027D-C16D-33B0687CFB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54225" y="3152001"/>
            <a:ext cx="8083550" cy="553998"/>
          </a:xfrm>
        </p:spPr>
        <p:txBody>
          <a:bodyPr/>
          <a:lstStyle/>
          <a:p>
            <a:pPr algn="ctr"/>
            <a:r>
              <a:rPr lang="en-US" dirty="0"/>
              <a:t>Thank You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38099">
              <a:lnSpc>
                <a:spcPts val="1535"/>
              </a:lnSpc>
            </a:pPr>
            <a:fld id="{81D60167-4931-47E6-BA6A-407CBD079E47}" type="slidenum">
              <a:rPr lang="en-US" smtClean="0"/>
              <a:pPr marL="38099">
                <a:lnSpc>
                  <a:spcPts val="1535"/>
                </a:lnSpc>
              </a:pPr>
              <a:t>23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631301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185DA2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1172</TotalTime>
  <Words>1112</Words>
  <Application>Microsoft Office PowerPoint</Application>
  <PresentationFormat>Widescreen</PresentationFormat>
  <Paragraphs>209</Paragraphs>
  <Slides>23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32" baseType="lpstr">
      <vt:lpstr>Arial</vt:lpstr>
      <vt:lpstr>Arial MT</vt:lpstr>
      <vt:lpstr>Calibri</vt:lpstr>
      <vt:lpstr>Symbol</vt:lpstr>
      <vt:lpstr>Tahoma</vt:lpstr>
      <vt:lpstr>Times New Roman</vt:lpstr>
      <vt:lpstr>Verdana</vt:lpstr>
      <vt:lpstr>Wingdings</vt:lpstr>
      <vt:lpstr>Office Theme</vt:lpstr>
      <vt:lpstr>PowerPoint Presentation</vt:lpstr>
      <vt:lpstr>What is a Graph?</vt:lpstr>
      <vt:lpstr>Applications</vt:lpstr>
      <vt:lpstr>What can we do with graph?</vt:lpstr>
      <vt:lpstr>Edge and Graph Types</vt:lpstr>
      <vt:lpstr>Terminology</vt:lpstr>
      <vt:lpstr>Terminology</vt:lpstr>
      <vt:lpstr>Terminology</vt:lpstr>
      <vt:lpstr>Terminology</vt:lpstr>
      <vt:lpstr>Terminology</vt:lpstr>
      <vt:lpstr>Terminology</vt:lpstr>
      <vt:lpstr>Terminology</vt:lpstr>
      <vt:lpstr>Properties</vt:lpstr>
      <vt:lpstr>Graph Representation</vt:lpstr>
      <vt:lpstr>Graph Representations</vt:lpstr>
      <vt:lpstr>Adjacency Matrix Representation</vt:lpstr>
      <vt:lpstr>Adjacency Matrix Representation</vt:lpstr>
      <vt:lpstr>Adjacency Matrix Representation</vt:lpstr>
      <vt:lpstr>Adjacency Matrix Representation</vt:lpstr>
      <vt:lpstr>Adjacency List Representation</vt:lpstr>
      <vt:lpstr>Adjacency List Representation</vt:lpstr>
      <vt:lpstr>Asymptotic Perfromance</vt:lpstr>
      <vt:lpstr>Thank You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cp:lastModifiedBy>FAHMID</cp:lastModifiedBy>
  <cp:revision>382</cp:revision>
  <dcterms:created xsi:type="dcterms:W3CDTF">2022-06-16T11:58:56Z</dcterms:created>
  <dcterms:modified xsi:type="dcterms:W3CDTF">2024-01-25T08:54:17Z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or">
    <vt:lpwstr>Google</vt:lpwstr>
  </property>
</Properties>
</file>