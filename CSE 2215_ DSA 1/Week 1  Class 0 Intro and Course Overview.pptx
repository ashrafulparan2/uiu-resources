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dWZjSUpTocEBTAaxZtI6AgrbY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Tahoma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917cb89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9917cb892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917cb892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917cb8923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917cb8923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9917cb8923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917cb89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9917cb89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1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13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3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3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1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1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1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1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32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6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asifabrar@cse.uiu.ac.b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Mh8NhI7yqxuIIyToEKlV-D1xXdbjHPMQ/view?usp=drive_link" TargetMode="External"/><Relationship Id="rId4" Type="http://schemas.openxmlformats.org/officeDocument/2006/relationships/hyperlink" Target="https://docs.google.com/spreadsheets/d/1E5sHVyS62kynE8UhaUnKAg2Yv9gHByNEDDZh5q6olKY/edit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61081"/>
            <a:ext cx="99354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Special gratitude for the course slides and materials: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Shadman Aadeeb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Lecturer, Dept. of CSE, UIU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Lecturer Introduction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38200" y="2842675"/>
            <a:ext cx="10972800" cy="3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Lecturer:</a:t>
            </a:r>
            <a:endParaRPr sz="3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Asif Abrar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(BSc in CSE, IUT)</a:t>
            </a:r>
            <a:endParaRPr sz="32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Dept. of CSE, UIU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</a:t>
            </a:r>
            <a:r>
              <a:rPr lang="en-US" sz="3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asifabrar@cse.uiu.ac.bd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Room: 933D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01552375341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(Use only in case of emergencies)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917cb8923_0_0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Text Books</a:t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Introduction to Algorithms (Third edition)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Cormen, Leiserson, Rivest, and Stein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 excellent reference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you should own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in C++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Goodrich, Tamassia, and Mount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3" name="Google Shape;123;g39917cb8923_0_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4" name="Google Shape;124;g39917cb8923_0_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5" name="Google Shape;125;g39917cb8923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9917cb8923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Course</a:t>
            </a:r>
            <a:endParaRPr/>
          </a:p>
        </p:txBody>
      </p:sp>
      <p:pic>
        <p:nvPicPr>
          <p:cNvPr id="127" name="Google Shape;127;g39917cb892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136" y="1463590"/>
            <a:ext cx="1762125" cy="207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Structures and Algorithms in C++, 2nd Edition | Wiley" id="128" name="Google Shape;128;g39917cb892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1136" y="4018348"/>
            <a:ext cx="1762125" cy="20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Don’t be afraid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Ask questions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Consultation hours are walk-in but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pre-appointments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are appreciated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Be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 class :) and be on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valid excuses, send me an email with the documents and proofs :)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Lastly, NO ONE KNOWS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EVERYTHING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TEACH ME TO TEACH YOU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5" name="Google Shape;135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6" name="Google Shape;136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General Guidelines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917cb8923_0_11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Your name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Your school &amp; college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Your passion/hobbies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What made you choose UIU?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Your expectations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9917cb8923_0_1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4" name="Google Shape;144;g39917cb8923_0_1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5" name="Google Shape;145;g39917cb8923_0_1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g39917cb8923_0_11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get Introduced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917cb8923_0_29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Let’s look at our contents for the semester now!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quizzes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will be taken throughout the trimester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before mid and 2 after mid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(NO QUIZ IN THE LAST WEEK)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marks per quiz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(Syllabus- only 1 topic or 2 slides max)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One Instruction: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			              </a:t>
            </a:r>
            <a:r>
              <a:rPr lang="en-US">
                <a:highlight>
                  <a:srgbClr val="FF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 NOT CHEAT! :)</a:t>
            </a:r>
            <a:endParaRPr>
              <a:highlight>
                <a:srgbClr val="FF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		write what you can and I’ll be as just as possible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39917cb8923_0_2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3" name="Google Shape;153;g39917cb8923_0_2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4" name="Google Shape;154;g39917cb8923_0_2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g39917cb8923_0_29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Little Bit of Highlight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917cb8923_0_21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 to Data Structures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 to Algorithms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Analysis of Algorithms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Course Outline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Click me!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Section-wise Progress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Click me!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9917cb8923_0_2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2" name="Google Shape;162;g39917cb8923_0_2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3" name="Google Shape;163;g39917cb8923_0_2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g39917cb8923_0_21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Contents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INTRODUCTION TO DATA STRUCTURES</a:t>
            </a:r>
            <a:endParaRPr/>
          </a:p>
        </p:txBody>
      </p:sp>
      <p:sp>
        <p:nvSpPr>
          <p:cNvPr id="170" name="Google Shape;17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2" name="Google Shape;172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3" name="Google Shape;173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is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collection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facts, such as values, numbers, words, measurements, or observations.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Structure means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set of rules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that holds the data together.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data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structure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particular way of storing and organizing data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 a computer so that it can be used efficiently. 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Different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kinds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data structures are suited to different kinds of applications, and some are highly specialized to specific tasks. 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Data structures provide a means to manage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huge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amount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data efficiently. </a:t>
            </a:r>
            <a:endParaRPr/>
          </a:p>
        </p:txBody>
      </p:sp>
      <p:sp>
        <p:nvSpPr>
          <p:cNvPr id="179" name="Google Shape;179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0" name="Google Shape;180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1" name="Google Shape;181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Data Structure?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are classified as either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(e.g, arrays, linked lists), or 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(e.g, trees, graphs, etc.) </a:t>
            </a:r>
            <a:endParaRPr/>
          </a:p>
          <a:p>
            <a:pPr indent="-351409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 structure is said to be linear if it satisfies the following four conditions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unique element called the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unique element called the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element, except the last, has a unique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element, except the first, has a unique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predecessor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51409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ways of representing a linear data structure in memory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means of sequential memory locations (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means of pointers or links (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lists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</p:txBody>
      </p:sp>
      <p:sp>
        <p:nvSpPr>
          <p:cNvPr id="188" name="Google Shape;188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9" name="Google Shape;189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0" name="Google Shape;190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Types of Data Structures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INTRODUCTION TO ALGORITHMS</a:t>
            </a:r>
            <a:endParaRPr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9" name="Google Shape;199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0" name="Google Shape;200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is a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computational steps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transform the input into the output.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is a tool for solving a well-specified computational problem.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is said to be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if, for every input instance, it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correct output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incorrect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 might not halt at all on some input instances, or it might halt with other than the desired output.</a:t>
            </a:r>
            <a:endParaRPr/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algorithms existed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before the invention of computers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380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7" name="Google Shape;207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8" name="Google Shape;208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an Algorithm?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is the expression of an algorithm in a programming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of instructions which the computer will follow to solve a problem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6" name="Google Shape;216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7" name="Google Shape;217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Program?</a:t>
            </a:r>
            <a:endParaRPr/>
          </a:p>
        </p:txBody>
      </p:sp>
      <p:graphicFrame>
        <p:nvGraphicFramePr>
          <p:cNvPr id="219" name="Google Shape;219;p9"/>
          <p:cNvGraphicFramePr/>
          <p:nvPr/>
        </p:nvGraphicFramePr>
        <p:xfrm>
          <a:off x="4783931" y="3169171"/>
          <a:ext cx="2624138" cy="2819400"/>
        </p:xfrm>
        <a:graphic>
          <a:graphicData uri="http://schemas.openxmlformats.org/presentationml/2006/ole">
            <mc:AlternateContent>
              <mc:Choice Requires="v">
                <p:oleObj r:id="rId4" imgH="2819400" imgW="2624138" progId="MS_ClipArt_Gallery.2" spid="_x0000_s1">
                  <p:embed/>
                </p:oleObj>
              </mc:Choice>
              <mc:Fallback>
                <p:oleObj r:id="rId5" imgH="2819400" imgW="2624138" progId="MS_ClipArt_Gallery.2">
                  <p:embed/>
                  <p:pic>
                    <p:nvPicPr>
                      <p:cNvPr id="219" name="Google Shape;219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783931" y="3169171"/>
                        <a:ext cx="2624138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6" name="Google Shape;226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7" name="Google Shape;227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Algorithm vs Program</a:t>
            </a:r>
            <a:endParaRPr/>
          </a:p>
        </p:txBody>
      </p:sp>
      <p:pic>
        <p:nvPicPr>
          <p:cNvPr descr="Insertion Sort in C++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4884"/>
          <a:stretch/>
        </p:blipFill>
        <p:spPr>
          <a:xfrm>
            <a:off x="6169702" y="1458156"/>
            <a:ext cx="4888317" cy="455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82" y="2588557"/>
            <a:ext cx="5374517" cy="244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/>
          <p:nvPr>
            <p:ph idx="1" type="body"/>
          </p:nvPr>
        </p:nvSpPr>
        <p:spPr>
          <a:xfrm>
            <a:off x="838200" y="1227909"/>
            <a:ext cx="10515600" cy="12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i="0" lang="en-US" sz="3200"/>
              <a:t>Problem:</a:t>
            </a:r>
            <a:r>
              <a:rPr i="0" lang="en-US" sz="3200"/>
              <a:t>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None/>
            </a:pPr>
            <a:r>
              <a:rPr i="1" lang="en-US" sz="3200">
                <a:solidFill>
                  <a:schemeClr val="accent1"/>
                </a:solidFill>
              </a:rPr>
              <a:t>Input</a:t>
            </a:r>
            <a:r>
              <a:rPr i="0" lang="en-US" sz="3200"/>
              <a:t> is a sequence of integers stored in an array.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None/>
            </a:pPr>
            <a:r>
              <a:rPr i="1" lang="en-US" sz="3200">
                <a:solidFill>
                  <a:schemeClr val="accent1"/>
                </a:solidFill>
              </a:rPr>
              <a:t>Output</a:t>
            </a:r>
            <a:r>
              <a:rPr i="0" lang="en-US" sz="3200"/>
              <a:t> the minimum.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7" name="Google Shape;237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8" name="Google Shape;238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Big Picture</a:t>
            </a:r>
            <a:endParaRPr/>
          </a:p>
        </p:txBody>
      </p:sp>
      <p:cxnSp>
        <p:nvCxnSpPr>
          <p:cNvPr id="240" name="Google Shape;240;p11"/>
          <p:cNvCxnSpPr/>
          <p:nvPr/>
        </p:nvCxnSpPr>
        <p:spPr>
          <a:xfrm>
            <a:off x="4556125" y="3970769"/>
            <a:ext cx="685800" cy="0"/>
          </a:xfrm>
          <a:prstGeom prst="straightConnector1">
            <a:avLst/>
          </a:prstGeom>
          <a:noFill/>
          <a:ln cap="flat" cmpd="sng" w="28575">
            <a:solidFill>
              <a:srgbClr val="1716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11"/>
          <p:cNvCxnSpPr/>
          <p:nvPr/>
        </p:nvCxnSpPr>
        <p:spPr>
          <a:xfrm>
            <a:off x="7283450" y="3970769"/>
            <a:ext cx="762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11"/>
          <p:cNvSpPr txBox="1"/>
          <p:nvPr/>
        </p:nvSpPr>
        <p:spPr>
          <a:xfrm>
            <a:off x="1949450" y="3770744"/>
            <a:ext cx="234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25, 90, 53, 23, 11, 34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2711450" y="2780144"/>
            <a:ext cx="869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893050" y="3161144"/>
            <a:ext cx="1123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8156575" y="3754869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5530850" y="2678544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5205413" y="4269219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5276850" y="3394506"/>
            <a:ext cx="1981200" cy="1165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m:= a[1];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I:=2 to size of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if  m &gt; a[i] 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m:=a[I];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5510213" y="5107419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7077075" y="5482069"/>
            <a:ext cx="178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988050" y="4551794"/>
            <a:ext cx="635000" cy="685800"/>
          </a:xfrm>
          <a:custGeom>
            <a:rect b="b" l="l" r="r" t="t"/>
            <a:pathLst>
              <a:path extrusionOk="0" h="432" w="400">
                <a:moveTo>
                  <a:pt x="176" y="0"/>
                </a:moveTo>
                <a:cubicBezTo>
                  <a:pt x="88" y="72"/>
                  <a:pt x="0" y="144"/>
                  <a:pt x="32" y="192"/>
                </a:cubicBezTo>
                <a:cubicBezTo>
                  <a:pt x="64" y="240"/>
                  <a:pt x="336" y="248"/>
                  <a:pt x="368" y="288"/>
                </a:cubicBezTo>
                <a:cubicBezTo>
                  <a:pt x="400" y="328"/>
                  <a:pt x="248" y="408"/>
                  <a:pt x="224" y="432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5607050" y="5451906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m, a[i]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302250" y="5223306"/>
            <a:ext cx="1600200" cy="8382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1350963" y="3676615"/>
            <a:ext cx="6758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a[]: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NEXT CLASS</a:t>
            </a:r>
            <a:endParaRPr/>
          </a:p>
        </p:txBody>
      </p:sp>
      <p:sp>
        <p:nvSpPr>
          <p:cNvPr id="260" name="Google Shape;260;p1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Analysis of Algorithm and Asymptotic Notations</a:t>
            </a:r>
            <a:endParaRPr/>
          </a:p>
        </p:txBody>
      </p:sp>
      <p:sp>
        <p:nvSpPr>
          <p:cNvPr id="261" name="Google Shape;261;p1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2" name="Google Shape;262;p1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3" name="Google Shape;263;p1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69" name="Google Shape;269;p1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0" name="Google Shape;270;p126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1" name="Google Shape;271;p126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2" name="Google Shape;272;p126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